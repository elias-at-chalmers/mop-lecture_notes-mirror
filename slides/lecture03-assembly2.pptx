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73" r:id="rId5"/>
    <p:sldId id="274" r:id="rId6"/>
    <p:sldId id="275" r:id="rId7"/>
    <p:sldId id="276" r:id="rId8"/>
    <p:sldId id="277" r:id="rId9"/>
    <p:sldId id="260" r:id="rId10"/>
    <p:sldId id="258" r:id="rId11"/>
    <p:sldId id="261" r:id="rId12"/>
    <p:sldId id="262" r:id="rId13"/>
    <p:sldId id="263" r:id="rId14"/>
    <p:sldId id="264" r:id="rId15"/>
    <p:sldId id="270" r:id="rId16"/>
    <p:sldId id="265" r:id="rId17"/>
    <p:sldId id="266" r:id="rId18"/>
    <p:sldId id="267" r:id="rId19"/>
    <p:sldId id="268" r:id="rId20"/>
    <p:sldId id="269" r:id="rId21"/>
    <p:sldId id="271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3" autoAdjust="0"/>
    <p:restoredTop sz="86416" autoAdjust="0"/>
  </p:normalViewPr>
  <p:slideViewPr>
    <p:cSldViewPr snapToGrid="0">
      <p:cViewPr varScale="1">
        <p:scale>
          <a:sx n="143" d="100"/>
          <a:sy n="143" d="100"/>
        </p:scale>
        <p:origin x="120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</a:t>
            </a:r>
            <a:r>
              <a:rPr lang="en-US" dirty="0" err="1"/>
              <a:t>skall</a:t>
            </a:r>
            <a:r>
              <a:rPr lang="en-US" dirty="0"/>
              <a:t> prata om </a:t>
            </a:r>
            <a:r>
              <a:rPr lang="en-US" dirty="0" err="1"/>
              <a:t>funktioner</a:t>
            </a:r>
            <a:r>
              <a:rPr lang="en-US" dirty="0"/>
              <a:t>.</a:t>
            </a:r>
          </a:p>
          <a:p>
            <a:r>
              <a:rPr lang="en-US" dirty="0"/>
              <a:t>Prata </a:t>
            </a:r>
            <a:r>
              <a:rPr lang="en-US" dirty="0" err="1"/>
              <a:t>igenom</a:t>
            </a:r>
            <a:r>
              <a:rPr lang="en-US" dirty="0"/>
              <a:t> </a:t>
            </a:r>
            <a:r>
              <a:rPr lang="en-US" dirty="0" err="1"/>
              <a:t>grundexemplet</a:t>
            </a:r>
            <a:r>
              <a:rPr lang="en-US" dirty="0"/>
              <a:t>. main l</a:t>
            </a:r>
            <a:r>
              <a:rPr lang="sv-SE" dirty="0" err="1"/>
              <a:t>äser</a:t>
            </a:r>
            <a:r>
              <a:rPr lang="sv-SE" dirty="0"/>
              <a:t> två värden från minnet och behöver köra en funktion för att få reda på det minsta. </a:t>
            </a:r>
          </a:p>
          <a:p>
            <a:r>
              <a:rPr lang="sv-SE" dirty="0"/>
              <a:t>Varför kan vi inte bara säga BRA? (</a:t>
            </a:r>
            <a:r>
              <a:rPr lang="sv-SE" dirty="0" err="1"/>
              <a:t>returaddress</a:t>
            </a:r>
            <a:r>
              <a:rPr lang="sv-SE" dirty="0"/>
              <a:t>)</a:t>
            </a:r>
          </a:p>
          <a:p>
            <a:r>
              <a:rPr lang="en-US" dirty="0"/>
              <a:t>&lt;click&gt; Vi </a:t>
            </a:r>
            <a:r>
              <a:rPr lang="en-US" dirty="0" err="1"/>
              <a:t>kollar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quickguiden</a:t>
            </a:r>
            <a:r>
              <a:rPr lang="en-US" dirty="0"/>
              <a:t> och </a:t>
            </a:r>
            <a:r>
              <a:rPr lang="en-US" dirty="0" err="1"/>
              <a:t>hittar</a:t>
            </a:r>
            <a:r>
              <a:rPr lang="en-US" dirty="0"/>
              <a:t> den h</a:t>
            </a:r>
            <a:r>
              <a:rPr lang="sv-SE" dirty="0"/>
              <a:t>är instruktionen (</a:t>
            </a:r>
            <a:r>
              <a:rPr lang="sv-SE" dirty="0" err="1"/>
              <a:t>jump</a:t>
            </a:r>
            <a:r>
              <a:rPr lang="sv-SE" dirty="0"/>
              <a:t> an </a:t>
            </a:r>
            <a:r>
              <a:rPr lang="sv-SE" dirty="0" err="1"/>
              <a:t>link</a:t>
            </a:r>
            <a:r>
              <a:rPr lang="sv-SE" dirty="0"/>
              <a:t>)</a:t>
            </a:r>
          </a:p>
          <a:p>
            <a:r>
              <a:rPr lang="sv-SE" dirty="0"/>
              <a:t>"Link" betyder spara </a:t>
            </a:r>
            <a:r>
              <a:rPr lang="sv-SE" dirty="0" err="1"/>
              <a:t>returaddress</a:t>
            </a:r>
            <a:r>
              <a:rPr lang="sv-SE" dirty="0"/>
              <a:t>. </a:t>
            </a:r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1683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C0536-50E3-FF99-786A-093B3A0A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AF551-D738-65B4-97AD-CC4C94BB5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85874-2B36-6910-E8AF-3F3D3C794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Vi </a:t>
            </a:r>
            <a:r>
              <a:rPr lang="sv-SE" i="1" dirty="0"/>
              <a:t>kan</a:t>
            </a:r>
            <a:r>
              <a:rPr lang="sv-SE" i="0" dirty="0"/>
              <a:t> spara </a:t>
            </a:r>
            <a:r>
              <a:rPr lang="sv-SE" i="0" dirty="0" err="1"/>
              <a:t>returaddressen</a:t>
            </a:r>
            <a:r>
              <a:rPr lang="sv-SE" i="0" dirty="0"/>
              <a:t> var vi vill, men </a:t>
            </a:r>
            <a:r>
              <a:rPr lang="sv-SE" i="0" dirty="0" err="1"/>
              <a:t>ABI:n</a:t>
            </a:r>
            <a:r>
              <a:rPr lang="sv-SE" i="0" dirty="0"/>
              <a:t> säger att vi skall använda register </a:t>
            </a:r>
            <a:r>
              <a:rPr lang="sv-SE" b="1" i="0" dirty="0" err="1"/>
              <a:t>ra</a:t>
            </a:r>
            <a:r>
              <a:rPr lang="sv-SE" i="0" dirty="0"/>
              <a:t>.</a:t>
            </a:r>
          </a:p>
          <a:p>
            <a:r>
              <a:rPr lang="sv-SE" i="1" dirty="0"/>
              <a:t>offset</a:t>
            </a:r>
            <a:r>
              <a:rPr lang="sv-SE" i="0" dirty="0"/>
              <a:t> räknar </a:t>
            </a:r>
            <a:r>
              <a:rPr lang="sv-SE" i="0" dirty="0" err="1"/>
              <a:t>assemblatorn</a:t>
            </a:r>
            <a:r>
              <a:rPr lang="sv-SE" i="0" dirty="0"/>
              <a:t> ut åt oss. </a:t>
            </a:r>
          </a:p>
          <a:p>
            <a:r>
              <a:rPr lang="sv-SE" i="0" dirty="0"/>
              <a:t>offset är 20 bitar (</a:t>
            </a:r>
            <a:r>
              <a:rPr lang="sv-SE" i="0" dirty="0" err="1"/>
              <a:t>signed</a:t>
            </a:r>
            <a:r>
              <a:rPr lang="sv-SE" i="0" dirty="0"/>
              <a:t>) så tillåter ett hopp +/- 1MB. </a:t>
            </a:r>
          </a:p>
          <a:p>
            <a:r>
              <a:rPr lang="sv-SE" i="0" dirty="0"/>
              <a:t>På vår maskin är det nästan alltid tillräckligt, men vad gör vi annars? </a:t>
            </a:r>
          </a:p>
          <a:p>
            <a:r>
              <a:rPr lang="sv-SE" i="0" dirty="0"/>
              <a:t>Och hur hoppar vi tillbaka efter min? </a:t>
            </a:r>
          </a:p>
          <a:p>
            <a:endParaRPr lang="LID4096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908E0-C914-9891-C434-2085E044E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0088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9935-E98B-F061-CFBE-26C13D4E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1F9F9-4A94-3F29-962D-91197DEAF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404FC-AA44-BF8A-9586-B7798BEC1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 dirty="0"/>
              <a:t>Lösningen på båda problemen: </a:t>
            </a:r>
            <a:r>
              <a:rPr lang="sv-SE" i="0" dirty="0" err="1"/>
              <a:t>jalr</a:t>
            </a:r>
            <a:endParaRPr lang="sv-SE" i="0" dirty="0"/>
          </a:p>
          <a:p>
            <a:r>
              <a:rPr lang="sv-SE" i="0" dirty="0"/>
              <a:t>Den låter oss ange en direkt </a:t>
            </a:r>
            <a:r>
              <a:rPr lang="sv-SE" i="0" dirty="0" err="1"/>
              <a:t>address</a:t>
            </a:r>
            <a:r>
              <a:rPr lang="sv-SE" i="0" dirty="0"/>
              <a:t> att hoppa till (</a:t>
            </a:r>
            <a:r>
              <a:rPr lang="sv-SE" i="0" dirty="0" err="1"/>
              <a:t>ra</a:t>
            </a:r>
            <a:r>
              <a:rPr lang="sv-SE" i="0" dirty="0"/>
              <a:t>) +/- ett litet offset. </a:t>
            </a:r>
          </a:p>
          <a:p>
            <a:r>
              <a:rPr lang="sv-SE" i="0" dirty="0"/>
              <a:t>I det här fallet behöver vi inget </a:t>
            </a:r>
            <a:r>
              <a:rPr lang="sv-SE" i="0" dirty="0" err="1"/>
              <a:t>återhoppsaddress</a:t>
            </a:r>
            <a:r>
              <a:rPr lang="sv-SE" i="0" dirty="0"/>
              <a:t>, så vi skriver den till </a:t>
            </a:r>
            <a:r>
              <a:rPr lang="sv-SE" i="0" dirty="0" err="1"/>
              <a:t>zero</a:t>
            </a:r>
            <a:r>
              <a:rPr lang="sv-SE" i="0" dirty="0"/>
              <a:t>. </a:t>
            </a:r>
          </a:p>
          <a:p>
            <a:endParaRPr lang="sv-SE" i="0" dirty="0"/>
          </a:p>
          <a:p>
            <a:r>
              <a:rPr lang="sv-SE" i="0" dirty="0"/>
              <a:t>Varför behövs då JAL? (en instruktion och oftast tillräcklig)</a:t>
            </a:r>
            <a:endParaRPr lang="LID4096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4F128-85FC-1687-2FB2-984058D99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72064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1CBE-B964-01AB-4AF6-C86E741D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E654A-8B92-6B34-AB46-EE5E5F912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E3B03-FC69-B866-77BF-3FDB841FF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 dirty="0"/>
              <a:t>På större problem blir det väldigt jobbigt att hålla koll på om funktionen vi hoppar till ligger "nära nog". </a:t>
            </a:r>
          </a:p>
          <a:p>
            <a:r>
              <a:rPr lang="sv-SE" i="0" dirty="0"/>
              <a:t>Därför finns en </a:t>
            </a:r>
            <a:r>
              <a:rPr lang="sv-SE" i="0" dirty="0" err="1"/>
              <a:t>pseudoinstruktion</a:t>
            </a:r>
            <a:r>
              <a:rPr lang="sv-SE" i="0" dirty="0"/>
              <a:t> "call" där </a:t>
            </a:r>
            <a:r>
              <a:rPr lang="sv-SE" i="0" dirty="0" err="1"/>
              <a:t>assemblatorn</a:t>
            </a:r>
            <a:r>
              <a:rPr lang="sv-SE" i="0" dirty="0"/>
              <a:t> bestämmer om vi skall använda JAL eller JALR</a:t>
            </a:r>
          </a:p>
          <a:p>
            <a:r>
              <a:rPr lang="en-US" i="0" dirty="0"/>
              <a:t>&lt;click&gt;</a:t>
            </a:r>
          </a:p>
          <a:p>
            <a:r>
              <a:rPr lang="en-US" i="0" dirty="0"/>
              <a:t>Och </a:t>
            </a:r>
            <a:r>
              <a:rPr lang="en-US" i="0" dirty="0" err="1"/>
              <a:t>syntaxen</a:t>
            </a:r>
            <a:r>
              <a:rPr lang="en-US" i="0" dirty="0"/>
              <a:t> f</a:t>
            </a:r>
            <a:r>
              <a:rPr lang="sv-SE" i="0" dirty="0"/>
              <a:t>ör </a:t>
            </a:r>
            <a:r>
              <a:rPr lang="sv-SE" i="0" dirty="0" err="1"/>
              <a:t>return</a:t>
            </a:r>
            <a:r>
              <a:rPr lang="sv-SE" i="0" dirty="0"/>
              <a:t> är knölig och otydlig. Svårt att läsa om det här är en </a:t>
            </a:r>
            <a:r>
              <a:rPr lang="sv-SE" i="0" dirty="0" err="1"/>
              <a:t>return</a:t>
            </a:r>
            <a:r>
              <a:rPr lang="sv-SE" i="0" dirty="0"/>
              <a:t> eller bara ett krångligt hopp. Därför finns </a:t>
            </a:r>
            <a:r>
              <a:rPr lang="sv-SE" i="0" dirty="0" err="1"/>
              <a:t>pseudoinstruktionen</a:t>
            </a:r>
            <a:r>
              <a:rPr lang="sv-SE" i="0" dirty="0"/>
              <a:t> "</a:t>
            </a:r>
            <a:r>
              <a:rPr lang="sv-SE" i="0" dirty="0" err="1"/>
              <a:t>ret</a:t>
            </a:r>
            <a:r>
              <a:rPr lang="sv-SE" i="0" dirty="0"/>
              <a:t>"</a:t>
            </a:r>
          </a:p>
          <a:p>
            <a:r>
              <a:rPr lang="en-US" i="0" dirty="0"/>
              <a:t>&lt;click&gt;</a:t>
            </a:r>
            <a:endParaRPr lang="LID4096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7B048-E2BC-B623-B545-BE36FD659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7617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8290-85B4-3522-9841-D82274523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AF592-74EC-6FE7-06CB-DBB8F5AB5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CA4C9-32B3-D44A-8162-77570D8E4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S</a:t>
            </a:r>
            <a:r>
              <a:rPr lang="sv-SE" i="0" dirty="0"/>
              <a:t>å, nu kan vi kalla en funktion, och returnera från den. </a:t>
            </a:r>
          </a:p>
          <a:p>
            <a:r>
              <a:rPr lang="sv-SE" i="0" dirty="0"/>
              <a:t>Men en funktion är inte mycket utan parametrar. </a:t>
            </a:r>
          </a:p>
          <a:p>
            <a:r>
              <a:rPr lang="sv-SE" i="0" dirty="0"/>
              <a:t>I det här fallet vet vi ju att våra parametrar ligger i t0 och t1, men det är ju slump. </a:t>
            </a:r>
          </a:p>
          <a:p>
            <a:r>
              <a:rPr lang="sv-SE" i="0" dirty="0"/>
              <a:t>Den som skriver min funktionen har ju ingen aning om var vi har dem. </a:t>
            </a:r>
          </a:p>
          <a:p>
            <a:r>
              <a:rPr lang="sv-SE" i="0" dirty="0" err="1"/>
              <a:t>ABI:n</a:t>
            </a:r>
            <a:r>
              <a:rPr lang="sv-SE" i="0" dirty="0"/>
              <a:t> säger att vi skall lägga våra parametrar, i ordning, i </a:t>
            </a:r>
            <a:r>
              <a:rPr lang="sv-SE" i="0" dirty="0" err="1"/>
              <a:t>registrena</a:t>
            </a:r>
            <a:r>
              <a:rPr lang="sv-SE" i="0" dirty="0"/>
              <a:t> a0-a6.</a:t>
            </a:r>
          </a:p>
          <a:p>
            <a:r>
              <a:rPr lang="en-US" i="0" dirty="0"/>
              <a:t>&lt;click&gt;</a:t>
            </a:r>
          </a:p>
          <a:p>
            <a:r>
              <a:rPr lang="en-US" i="0" dirty="0"/>
              <a:t>Nu </a:t>
            </a:r>
            <a:r>
              <a:rPr lang="en-US" i="0" dirty="0" err="1"/>
              <a:t>kan</a:t>
            </a:r>
            <a:r>
              <a:rPr lang="en-US" i="0" dirty="0"/>
              <a:t> vi </a:t>
            </a:r>
            <a:r>
              <a:rPr lang="en-US" i="0" dirty="0" err="1"/>
              <a:t>skriva</a:t>
            </a:r>
            <a:r>
              <a:rPr lang="en-US" i="0" dirty="0"/>
              <a:t> </a:t>
            </a:r>
            <a:r>
              <a:rPr lang="en-US" i="0" dirty="0" err="1"/>
              <a:t>vår</a:t>
            </a:r>
            <a:r>
              <a:rPr lang="en-US" i="0" dirty="0"/>
              <a:t> min function. </a:t>
            </a:r>
          </a:p>
          <a:p>
            <a:r>
              <a:rPr lang="en-US" i="0" dirty="0" err="1"/>
              <a:t>ABI:n</a:t>
            </a:r>
            <a:r>
              <a:rPr lang="en-US" i="0" dirty="0"/>
              <a:t> sager </a:t>
            </a:r>
            <a:r>
              <a:rPr lang="en-US" i="0" dirty="0" err="1"/>
              <a:t>att</a:t>
            </a:r>
            <a:r>
              <a:rPr lang="en-US" i="0" dirty="0"/>
              <a:t> vi </a:t>
            </a:r>
            <a:r>
              <a:rPr lang="en-US" i="0" dirty="0" err="1"/>
              <a:t>lägger</a:t>
            </a:r>
            <a:r>
              <a:rPr lang="en-US" i="0" dirty="0"/>
              <a:t> </a:t>
            </a:r>
            <a:r>
              <a:rPr lang="en-US" i="0" dirty="0" err="1"/>
              <a:t>returvärdet</a:t>
            </a:r>
            <a:r>
              <a:rPr lang="en-US" i="0" dirty="0"/>
              <a:t> </a:t>
            </a:r>
            <a:r>
              <a:rPr lang="en-US" i="0" dirty="0" err="1"/>
              <a:t>i</a:t>
            </a:r>
            <a:r>
              <a:rPr lang="en-US" i="0" dirty="0"/>
              <a:t> a0.</a:t>
            </a:r>
          </a:p>
          <a:p>
            <a:r>
              <a:rPr lang="en-US" i="0" dirty="0"/>
              <a:t>&lt;click&gt;</a:t>
            </a:r>
          </a:p>
          <a:p>
            <a:r>
              <a:rPr lang="en-US" i="0" dirty="0" err="1"/>
              <a:t>Så</a:t>
            </a:r>
            <a:r>
              <a:rPr lang="en-US" i="0" dirty="0"/>
              <a:t>! Nu </a:t>
            </a:r>
            <a:r>
              <a:rPr lang="en-US" i="0" dirty="0" err="1"/>
              <a:t>kommer</a:t>
            </a:r>
            <a:r>
              <a:rPr lang="en-US" i="0" dirty="0"/>
              <a:t> vi </a:t>
            </a:r>
            <a:r>
              <a:rPr lang="en-US" i="0" dirty="0" err="1"/>
              <a:t>tillbaka</a:t>
            </a:r>
            <a:r>
              <a:rPr lang="en-US" i="0" dirty="0"/>
              <a:t> </a:t>
            </a:r>
            <a:r>
              <a:rPr lang="en-US" i="0" dirty="0" err="1"/>
              <a:t>från</a:t>
            </a:r>
            <a:r>
              <a:rPr lang="en-US" i="0" dirty="0"/>
              <a:t> </a:t>
            </a:r>
            <a:r>
              <a:rPr lang="en-US" i="0" dirty="0" err="1"/>
              <a:t>funktionen</a:t>
            </a:r>
            <a:r>
              <a:rPr lang="en-US" i="0" dirty="0"/>
              <a:t> min och det </a:t>
            </a:r>
            <a:r>
              <a:rPr lang="en-US" i="0" dirty="0" err="1"/>
              <a:t>lägsta</a:t>
            </a:r>
            <a:r>
              <a:rPr lang="en-US" i="0" dirty="0"/>
              <a:t> </a:t>
            </a:r>
            <a:r>
              <a:rPr lang="en-US" i="0" dirty="0" err="1"/>
              <a:t>värdet</a:t>
            </a:r>
            <a:r>
              <a:rPr lang="en-US" i="0" dirty="0"/>
              <a:t> ligger </a:t>
            </a:r>
            <a:r>
              <a:rPr lang="en-US" i="0" dirty="0" err="1"/>
              <a:t>i</a:t>
            </a:r>
            <a:r>
              <a:rPr lang="en-US" i="0" dirty="0"/>
              <a:t> a0.</a:t>
            </a:r>
          </a:p>
          <a:p>
            <a:endParaRPr lang="en-US" i="0" dirty="0"/>
          </a:p>
          <a:p>
            <a:r>
              <a:rPr lang="en-US" i="0" dirty="0"/>
              <a:t>Innan vi </a:t>
            </a:r>
            <a:r>
              <a:rPr lang="en-US" i="0" dirty="0" err="1"/>
              <a:t>fortsätter</a:t>
            </a:r>
            <a:r>
              <a:rPr lang="en-US" i="0" dirty="0"/>
              <a:t> </a:t>
            </a:r>
            <a:r>
              <a:rPr lang="en-US" i="0" dirty="0" err="1"/>
              <a:t>snyggar</a:t>
            </a:r>
            <a:r>
              <a:rPr lang="en-US" i="0" dirty="0"/>
              <a:t> vi till min </a:t>
            </a:r>
            <a:r>
              <a:rPr lang="en-US" i="0" dirty="0" err="1"/>
              <a:t>funktionen</a:t>
            </a:r>
            <a:r>
              <a:rPr lang="en-US" i="0" dirty="0"/>
              <a:t> (bara för </a:t>
            </a:r>
            <a:r>
              <a:rPr lang="en-US" i="0" dirty="0" err="1"/>
              <a:t>att</a:t>
            </a:r>
            <a:r>
              <a:rPr lang="en-US" i="0" dirty="0"/>
              <a:t> vi </a:t>
            </a:r>
            <a:r>
              <a:rPr lang="en-US" i="0" dirty="0" err="1"/>
              <a:t>vill</a:t>
            </a:r>
            <a:r>
              <a:rPr lang="en-US" i="0" dirty="0"/>
              <a:t>)</a:t>
            </a:r>
          </a:p>
          <a:p>
            <a:endParaRPr lang="sv-SE" i="0" dirty="0"/>
          </a:p>
          <a:p>
            <a:endParaRPr lang="sv-SE" i="0" dirty="0"/>
          </a:p>
          <a:p>
            <a:endParaRPr lang="LID4096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28C1E-984E-992F-3951-944F74D17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6599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6570-5CAC-CA9F-4110-67B6A05A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7D423-8F88-0D63-0512-606908A6F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A644C-0F20-8CC2-5A77-33AD947B9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i="0" dirty="0"/>
          </a:p>
          <a:p>
            <a:endParaRPr lang="sv-SE" i="0" dirty="0"/>
          </a:p>
          <a:p>
            <a:endParaRPr lang="LID4096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FE299-20C2-1B52-F602-E9623C48A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0089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3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Mer assembler på RISC-V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A84019-4B33-655E-4D2A-E72271095E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6650893" y="1719069"/>
            <a:ext cx="5541108" cy="513893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7F8499-24AC-AFDF-B7BF-7C81D7DA659D}"/>
              </a:ext>
            </a:extLst>
          </p:cNvPr>
          <p:cNvSpPr/>
          <p:nvPr/>
        </p:nvSpPr>
        <p:spPr>
          <a:xfrm rot="18721477">
            <a:off x="5634723" y="1518235"/>
            <a:ext cx="922554" cy="922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7E668-4960-2AAB-B13E-FD6363A8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Branches</a:t>
            </a:r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CE2A3-9259-728D-E6CB-2B582D4FAFF6}"/>
              </a:ext>
            </a:extLst>
          </p:cNvPr>
          <p:cNvSpPr txBox="1"/>
          <p:nvPr/>
        </p:nvSpPr>
        <p:spPr>
          <a:xfrm>
            <a:off x="5579766" y="179484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t0 &lt; t1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185CF-8280-1EA3-118A-E0161293E824}"/>
              </a:ext>
            </a:extLst>
          </p:cNvPr>
          <p:cNvSpPr txBox="1"/>
          <p:nvPr/>
        </p:nvSpPr>
        <p:spPr>
          <a:xfrm>
            <a:off x="6470759" y="2630975"/>
            <a:ext cx="91518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 that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47C8B-1910-2C20-D979-3BEE359E2D3F}"/>
              </a:ext>
            </a:extLst>
          </p:cNvPr>
          <p:cNvSpPr txBox="1"/>
          <p:nvPr/>
        </p:nvSpPr>
        <p:spPr>
          <a:xfrm>
            <a:off x="4846987" y="2647445"/>
            <a:ext cx="885179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 this</a:t>
            </a:r>
            <a:endParaRPr lang="LID4096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26C67E0-53AD-A717-2BD6-04FB808ABF1F}"/>
              </a:ext>
            </a:extLst>
          </p:cNvPr>
          <p:cNvSpPr/>
          <p:nvPr/>
        </p:nvSpPr>
        <p:spPr>
          <a:xfrm>
            <a:off x="5205834" y="2006416"/>
            <a:ext cx="230245" cy="638106"/>
          </a:xfrm>
          <a:custGeom>
            <a:avLst/>
            <a:gdLst>
              <a:gd name="csX0" fmla="*/ 230245 w 230245"/>
              <a:gd name="csY0" fmla="*/ 0 h 638106"/>
              <a:gd name="csX1" fmla="*/ 0 w 230245"/>
              <a:gd name="csY1" fmla="*/ 0 h 638106"/>
              <a:gd name="csX2" fmla="*/ 0 w 230245"/>
              <a:gd name="csY2" fmla="*/ 638106 h 638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0245" h="638106">
                <a:moveTo>
                  <a:pt x="230245" y="0"/>
                </a:moveTo>
                <a:lnTo>
                  <a:pt x="0" y="0"/>
                </a:lnTo>
                <a:lnTo>
                  <a:pt x="0" y="63810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3287BDF-84AA-7F5B-1BBD-FA5D6A792A73}"/>
              </a:ext>
            </a:extLst>
          </p:cNvPr>
          <p:cNvSpPr/>
          <p:nvPr/>
        </p:nvSpPr>
        <p:spPr>
          <a:xfrm>
            <a:off x="6758340" y="1934053"/>
            <a:ext cx="223667" cy="690734"/>
          </a:xfrm>
          <a:custGeom>
            <a:avLst/>
            <a:gdLst>
              <a:gd name="csX0" fmla="*/ 0 w 223667"/>
              <a:gd name="csY0" fmla="*/ 0 h 690734"/>
              <a:gd name="csX1" fmla="*/ 223667 w 223667"/>
              <a:gd name="csY1" fmla="*/ 0 h 690734"/>
              <a:gd name="csX2" fmla="*/ 223667 w 223667"/>
              <a:gd name="csY2" fmla="*/ 690734 h 690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667" h="690734">
                <a:moveTo>
                  <a:pt x="0" y="0"/>
                </a:moveTo>
                <a:lnTo>
                  <a:pt x="223667" y="0"/>
                </a:lnTo>
                <a:lnTo>
                  <a:pt x="223667" y="69073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01EC48-0838-521E-2A28-50A93AEE0388}"/>
              </a:ext>
            </a:extLst>
          </p:cNvPr>
          <p:cNvSpPr txBox="1"/>
          <p:nvPr/>
        </p:nvSpPr>
        <p:spPr>
          <a:xfrm>
            <a:off x="5018162" y="1783335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Consolas" panose="020B0609020204030204" pitchFamily="49" charset="0"/>
              </a:rPr>
              <a:t>yes</a:t>
            </a:r>
            <a:endParaRPr lang="LID4096" sz="1050" b="1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D4A6F0-E61D-5D07-3F56-057AC94C3429}"/>
              </a:ext>
            </a:extLst>
          </p:cNvPr>
          <p:cNvSpPr txBox="1"/>
          <p:nvPr/>
        </p:nvSpPr>
        <p:spPr>
          <a:xfrm>
            <a:off x="6747465" y="1717901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Consolas" panose="020B0609020204030204" pitchFamily="49" charset="0"/>
              </a:rPr>
              <a:t>no</a:t>
            </a:r>
            <a:endParaRPr lang="LID4096" sz="1050" b="1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3C137E-2D2C-90BA-F2BD-E47401B2DB2C}"/>
              </a:ext>
            </a:extLst>
          </p:cNvPr>
          <p:cNvSpPr txBox="1"/>
          <p:nvPr/>
        </p:nvSpPr>
        <p:spPr>
          <a:xfrm>
            <a:off x="1152751" y="3249738"/>
            <a:ext cx="3039229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b="1" dirty="0"/>
              <a:t>FLISP</a:t>
            </a:r>
            <a:r>
              <a:rPr lang="sv-SE" dirty="0"/>
              <a:t> (and x86, ARM):</a:t>
            </a:r>
          </a:p>
          <a:p>
            <a:endParaRPr lang="sv-SE" dirty="0"/>
          </a:p>
          <a:p>
            <a:r>
              <a:rPr lang="sv-SE" dirty="0">
                <a:latin typeface="Consolas" panose="020B0609020204030204" pitchFamily="49" charset="0"/>
              </a:rPr>
              <a:t>CMP X, Y</a:t>
            </a:r>
          </a:p>
          <a:p>
            <a:r>
              <a:rPr lang="sv-SE" dirty="0">
                <a:latin typeface="Consolas" panose="020B0609020204030204" pitchFamily="49" charset="0"/>
              </a:rPr>
              <a:t>BLT </a:t>
            </a:r>
            <a:r>
              <a:rPr lang="sv-SE" dirty="0" err="1">
                <a:latin typeface="Consolas" panose="020B0609020204030204" pitchFamily="49" charset="0"/>
              </a:rPr>
              <a:t>this</a:t>
            </a:r>
            <a:endParaRPr lang="sv-SE" dirty="0">
              <a:latin typeface="Consolas" panose="020B0609020204030204" pitchFamily="49" charset="0"/>
            </a:endParaRPr>
          </a:p>
          <a:p>
            <a:r>
              <a:rPr lang="sv-SE" dirty="0" err="1">
                <a:latin typeface="Consolas" panose="020B0609020204030204" pitchFamily="49" charset="0"/>
              </a:rPr>
              <a:t>that</a:t>
            </a:r>
            <a:r>
              <a:rPr lang="sv-SE" dirty="0">
                <a:latin typeface="Consolas" panose="020B0609020204030204" pitchFamily="49" charset="0"/>
              </a:rPr>
              <a:t>:</a:t>
            </a:r>
          </a:p>
          <a:p>
            <a:r>
              <a:rPr lang="sv-SE" dirty="0">
                <a:latin typeface="Consolas" panose="020B0609020204030204" pitchFamily="49" charset="0"/>
              </a:rPr>
              <a:t>  ...</a:t>
            </a:r>
          </a:p>
          <a:p>
            <a:r>
              <a:rPr lang="sv-SE" dirty="0">
                <a:latin typeface="Consolas" panose="020B0609020204030204" pitchFamily="49" charset="0"/>
              </a:rPr>
              <a:t>  JMP </a:t>
            </a:r>
            <a:r>
              <a:rPr lang="sv-SE" dirty="0" err="1">
                <a:latin typeface="Consolas" panose="020B0609020204030204" pitchFamily="49" charset="0"/>
              </a:rPr>
              <a:t>done</a:t>
            </a:r>
            <a:endParaRPr lang="sv-SE" dirty="0">
              <a:latin typeface="Consolas" panose="020B0609020204030204" pitchFamily="49" charset="0"/>
            </a:endParaRPr>
          </a:p>
          <a:p>
            <a:r>
              <a:rPr lang="sv-SE" dirty="0" err="1">
                <a:latin typeface="Consolas" panose="020B0609020204030204" pitchFamily="49" charset="0"/>
              </a:rPr>
              <a:t>this</a:t>
            </a:r>
            <a:r>
              <a:rPr lang="sv-SE" dirty="0">
                <a:latin typeface="Consolas" panose="020B0609020204030204" pitchFamily="49" charset="0"/>
              </a:rPr>
              <a:t>:</a:t>
            </a:r>
          </a:p>
          <a:p>
            <a:r>
              <a:rPr lang="sv-SE" dirty="0">
                <a:latin typeface="Consolas" panose="020B0609020204030204" pitchFamily="49" charset="0"/>
              </a:rPr>
              <a:t>  ...</a:t>
            </a:r>
          </a:p>
          <a:p>
            <a:r>
              <a:rPr lang="sv-SE" dirty="0" err="1">
                <a:latin typeface="Consolas" panose="020B0609020204030204" pitchFamily="49" charset="0"/>
              </a:rPr>
              <a:t>done</a:t>
            </a:r>
            <a:r>
              <a:rPr lang="sv-SE" dirty="0">
                <a:latin typeface="Consolas" panose="020B0609020204030204" pitchFamily="49" charset="0"/>
              </a:rPr>
              <a:t>: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9916E4-F0C2-68C3-41AA-3F814DAE3893}"/>
              </a:ext>
            </a:extLst>
          </p:cNvPr>
          <p:cNvSpPr txBox="1"/>
          <p:nvPr/>
        </p:nvSpPr>
        <p:spPr>
          <a:xfrm>
            <a:off x="8295679" y="3249738"/>
            <a:ext cx="3143506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b="1" dirty="0"/>
              <a:t>RISC-V:</a:t>
            </a:r>
          </a:p>
          <a:p>
            <a:endParaRPr lang="sv-SE" dirty="0"/>
          </a:p>
          <a:p>
            <a:r>
              <a:rPr lang="en-US" dirty="0" err="1">
                <a:latin typeface="Consolas" panose="020B0609020204030204" pitchFamily="49" charset="0"/>
              </a:rPr>
              <a:t>blt</a:t>
            </a:r>
            <a:r>
              <a:rPr lang="en-US" dirty="0">
                <a:latin typeface="Consolas" panose="020B0609020204030204" pitchFamily="49" charset="0"/>
              </a:rPr>
              <a:t>   t0, t1, this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j     that</a:t>
            </a:r>
          </a:p>
          <a:p>
            <a:r>
              <a:rPr lang="en-US" dirty="0">
                <a:latin typeface="Consolas" panose="020B0609020204030204" pitchFamily="49" charset="0"/>
              </a:rPr>
              <a:t>that: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  j done</a:t>
            </a:r>
          </a:p>
          <a:p>
            <a:r>
              <a:rPr lang="en-US" dirty="0">
                <a:latin typeface="Consolas" panose="020B0609020204030204" pitchFamily="49" charset="0"/>
              </a:rPr>
              <a:t>this: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done: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1428DC-FE0A-397F-8A0C-D95FBFF5DEA8}"/>
              </a:ext>
            </a:extLst>
          </p:cNvPr>
          <p:cNvSpPr txBox="1"/>
          <p:nvPr/>
        </p:nvSpPr>
        <p:spPr>
          <a:xfrm>
            <a:off x="2743200" y="3618130"/>
            <a:ext cx="190571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/>
              <a:t>"Compare" two values</a:t>
            </a:r>
            <a:br>
              <a:rPr lang="en-US" sz="1400" dirty="0"/>
            </a:br>
            <a:r>
              <a:rPr lang="en-US" sz="1400" dirty="0"/>
              <a:t>in the ALU. Set flags.</a:t>
            </a:r>
            <a:endParaRPr lang="LID4096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C4C9C4-D87E-9489-D4F4-B9361F28BE60}"/>
              </a:ext>
            </a:extLst>
          </p:cNvPr>
          <p:cNvSpPr txBox="1"/>
          <p:nvPr/>
        </p:nvSpPr>
        <p:spPr>
          <a:xfrm>
            <a:off x="2743200" y="4248132"/>
            <a:ext cx="189616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/>
              <a:t>Branch based on flags</a:t>
            </a:r>
            <a:endParaRPr lang="LID4096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A86938-A227-083F-CCED-C62E94111C5C}"/>
              </a:ext>
            </a:extLst>
          </p:cNvPr>
          <p:cNvSpPr txBox="1"/>
          <p:nvPr/>
        </p:nvSpPr>
        <p:spPr>
          <a:xfrm>
            <a:off x="6082945" y="3659465"/>
            <a:ext cx="177535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/>
              <a:t>Always compare in a</a:t>
            </a:r>
            <a:br>
              <a:rPr lang="en-US" sz="1400" dirty="0"/>
            </a:br>
            <a:r>
              <a:rPr lang="en-US" sz="1400" dirty="0"/>
              <a:t>branch instruction</a:t>
            </a:r>
            <a:endParaRPr lang="LID4096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4D1CC4-A972-CA2E-F5DC-97C3843EF9A6}"/>
              </a:ext>
            </a:extLst>
          </p:cNvPr>
          <p:cNvSpPr txBox="1"/>
          <p:nvPr/>
        </p:nvSpPr>
        <p:spPr>
          <a:xfrm>
            <a:off x="5816943" y="4211066"/>
            <a:ext cx="20389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/>
              <a:t>There </a:t>
            </a:r>
            <a:r>
              <a:rPr lang="en-US" sz="1400" b="1" dirty="0"/>
              <a:t>is no flag register</a:t>
            </a:r>
            <a:endParaRPr lang="LID4096" sz="1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EBBBB-0048-6975-413B-8C79F262FD6C}"/>
              </a:ext>
            </a:extLst>
          </p:cNvPr>
          <p:cNvSpPr txBox="1"/>
          <p:nvPr/>
        </p:nvSpPr>
        <p:spPr>
          <a:xfrm>
            <a:off x="2756366" y="5914903"/>
            <a:ext cx="239475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/>
              <a:t>+ Allows some optimizations</a:t>
            </a:r>
            <a:endParaRPr lang="LID4096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8AB1E0-19FF-BE88-1FE6-B24939D932AB}"/>
              </a:ext>
            </a:extLst>
          </p:cNvPr>
          <p:cNvSpPr txBox="1"/>
          <p:nvPr/>
        </p:nvSpPr>
        <p:spPr>
          <a:xfrm>
            <a:off x="6534225" y="6134442"/>
            <a:ext cx="334277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/>
              <a:t>+ Avoiding "hidden state"</a:t>
            </a:r>
            <a:br>
              <a:rPr lang="en-US" sz="1400" dirty="0"/>
            </a:br>
            <a:r>
              <a:rPr lang="en-US" sz="1400" dirty="0"/>
              <a:t>+ Much easier for hardware </a:t>
            </a:r>
            <a:r>
              <a:rPr lang="en-US" sz="1400" i="1" dirty="0"/>
              <a:t>and</a:t>
            </a:r>
            <a:r>
              <a:rPr lang="en-US" sz="1400" dirty="0"/>
              <a:t> compiler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51424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9C5A-EAC0-F668-9A81-BFB49078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 (subrutiner)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4F3A5-876C-10DA-599B-5FDEC685F45A}"/>
              </a:ext>
            </a:extLst>
          </p:cNvPr>
          <p:cNvSpPr txBox="1"/>
          <p:nvPr/>
        </p:nvSpPr>
        <p:spPr>
          <a:xfrm>
            <a:off x="838200" y="2157721"/>
            <a:ext cx="3143506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main:</a:t>
            </a:r>
          </a:p>
          <a:p>
            <a:r>
              <a:rPr lang="en-US" dirty="0">
                <a:latin typeface="Consolas" panose="020B0609020204030204" pitchFamily="49" charset="0"/>
              </a:rPr>
              <a:t>  la t0, x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t0, 0(t0)</a:t>
            </a:r>
          </a:p>
          <a:p>
            <a:r>
              <a:rPr lang="en-US" dirty="0">
                <a:latin typeface="Consolas" panose="020B0609020204030204" pitchFamily="49" charset="0"/>
              </a:rPr>
              <a:t>  la t1, y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t1, 0(t1)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need t0 = min(x, y)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# use smallest value</a:t>
            </a:r>
          </a:p>
          <a:p>
            <a:r>
              <a:rPr lang="en-US" dirty="0">
                <a:latin typeface="Consolas" panose="020B0609020204030204" pitchFamily="49" charset="0"/>
              </a:rPr>
              <a:t>  ... 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x: .word 10</a:t>
            </a:r>
          </a:p>
          <a:p>
            <a:r>
              <a:rPr lang="en-US" dirty="0">
                <a:latin typeface="Consolas" panose="020B0609020204030204" pitchFamily="49" charset="0"/>
              </a:rPr>
              <a:t>y: .word 20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D4010-A184-3FBA-705E-B4F67C280D06}"/>
              </a:ext>
            </a:extLst>
          </p:cNvPr>
          <p:cNvSpPr txBox="1"/>
          <p:nvPr/>
        </p:nvSpPr>
        <p:spPr>
          <a:xfrm>
            <a:off x="8674191" y="3308943"/>
            <a:ext cx="3143506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min: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return smallest of</a:t>
            </a:r>
          </a:p>
          <a:p>
            <a:r>
              <a:rPr lang="en-US" dirty="0">
                <a:latin typeface="Consolas" panose="020B0609020204030204" pitchFamily="49" charset="0"/>
              </a:rPr>
              <a:t>  # two parameters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D85BC1-B875-CBD8-4FB6-F118A5034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30" y="1892223"/>
            <a:ext cx="8697539" cy="1105054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828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365D-D28C-C831-5F0B-F908F8D3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5643-5A36-7F2E-C717-F1954459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 (subrutiner)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554DA-9C6C-4577-A6FC-83F72E88EB55}"/>
              </a:ext>
            </a:extLst>
          </p:cNvPr>
          <p:cNvSpPr txBox="1"/>
          <p:nvPr/>
        </p:nvSpPr>
        <p:spPr>
          <a:xfrm>
            <a:off x="838200" y="2157721"/>
            <a:ext cx="3143506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main:</a:t>
            </a:r>
          </a:p>
          <a:p>
            <a:r>
              <a:rPr lang="en-US" dirty="0">
                <a:latin typeface="Consolas" panose="020B0609020204030204" pitchFamily="49" charset="0"/>
              </a:rPr>
              <a:t>  la t0, x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t0, 0(t0)</a:t>
            </a:r>
          </a:p>
          <a:p>
            <a:r>
              <a:rPr lang="en-US" dirty="0">
                <a:latin typeface="Consolas" panose="020B0609020204030204" pitchFamily="49" charset="0"/>
              </a:rPr>
              <a:t>  la t1, y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t1, 0(t1)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need t0 = min(x, y)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jal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ra</a:t>
            </a:r>
            <a:r>
              <a:rPr lang="en-US" b="1" dirty="0">
                <a:latin typeface="Consolas" panose="020B0609020204030204" pitchFamily="49" charset="0"/>
              </a:rPr>
              <a:t>, min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# use smallest value</a:t>
            </a:r>
          </a:p>
          <a:p>
            <a:r>
              <a:rPr lang="en-US" dirty="0">
                <a:latin typeface="Consolas" panose="020B0609020204030204" pitchFamily="49" charset="0"/>
              </a:rPr>
              <a:t>  ... 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x: .word 10</a:t>
            </a:r>
          </a:p>
          <a:p>
            <a:r>
              <a:rPr lang="en-US" dirty="0">
                <a:latin typeface="Consolas" panose="020B0609020204030204" pitchFamily="49" charset="0"/>
              </a:rPr>
              <a:t>y: .word 20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504A6-91AB-E790-0F12-C1B6A2ACEF30}"/>
              </a:ext>
            </a:extLst>
          </p:cNvPr>
          <p:cNvSpPr txBox="1"/>
          <p:nvPr/>
        </p:nvSpPr>
        <p:spPr>
          <a:xfrm>
            <a:off x="8674191" y="3308943"/>
            <a:ext cx="3143506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min: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return smallest of</a:t>
            </a:r>
          </a:p>
          <a:p>
            <a:r>
              <a:rPr lang="en-US" dirty="0">
                <a:latin typeface="Consolas" panose="020B0609020204030204" pitchFamily="49" charset="0"/>
              </a:rPr>
              <a:t>  # two parameters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00E10-BA44-0DC0-1CCE-C22259B15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30" y="1892223"/>
            <a:ext cx="8697539" cy="1105054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49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12EE-54A5-6F67-2D76-ABAD8776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536C-250C-8E63-6FE9-5BFD00F5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 (subrutiner)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E9B9F-5446-6D45-9E93-4423D6708A54}"/>
              </a:ext>
            </a:extLst>
          </p:cNvPr>
          <p:cNvSpPr txBox="1"/>
          <p:nvPr/>
        </p:nvSpPr>
        <p:spPr>
          <a:xfrm>
            <a:off x="838200" y="2157721"/>
            <a:ext cx="3143506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main:</a:t>
            </a:r>
          </a:p>
          <a:p>
            <a:r>
              <a:rPr lang="en-US" dirty="0">
                <a:latin typeface="Consolas" panose="020B0609020204030204" pitchFamily="49" charset="0"/>
              </a:rPr>
              <a:t>  la t0, x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t0, 0(t0)</a:t>
            </a:r>
          </a:p>
          <a:p>
            <a:r>
              <a:rPr lang="en-US" dirty="0">
                <a:latin typeface="Consolas" panose="020B0609020204030204" pitchFamily="49" charset="0"/>
              </a:rPr>
              <a:t>  la t1, y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t1, 0(t1)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need t0 = min(x, y)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jal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ra</a:t>
            </a:r>
            <a:r>
              <a:rPr lang="en-US" b="1" dirty="0">
                <a:latin typeface="Consolas" panose="020B0609020204030204" pitchFamily="49" charset="0"/>
              </a:rPr>
              <a:t>, min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# use smallest value</a:t>
            </a:r>
          </a:p>
          <a:p>
            <a:r>
              <a:rPr lang="en-US" dirty="0">
                <a:latin typeface="Consolas" panose="020B0609020204030204" pitchFamily="49" charset="0"/>
              </a:rPr>
              <a:t>  ... 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x: .word 10</a:t>
            </a:r>
          </a:p>
          <a:p>
            <a:r>
              <a:rPr lang="en-US" dirty="0">
                <a:latin typeface="Consolas" panose="020B0609020204030204" pitchFamily="49" charset="0"/>
              </a:rPr>
              <a:t>y: .word 20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1E47F-E80D-104F-0ED0-7010FF3E7E05}"/>
              </a:ext>
            </a:extLst>
          </p:cNvPr>
          <p:cNvSpPr txBox="1"/>
          <p:nvPr/>
        </p:nvSpPr>
        <p:spPr>
          <a:xfrm>
            <a:off x="8674191" y="3308943"/>
            <a:ext cx="3143506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min: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return smallest of</a:t>
            </a:r>
          </a:p>
          <a:p>
            <a:r>
              <a:rPr lang="en-US" dirty="0">
                <a:latin typeface="Consolas" panose="020B0609020204030204" pitchFamily="49" charset="0"/>
              </a:rPr>
              <a:t>  # two parameters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jalr</a:t>
            </a:r>
            <a:r>
              <a:rPr lang="en-US" b="1" dirty="0">
                <a:latin typeface="Consolas" panose="020B0609020204030204" pitchFamily="49" charset="0"/>
              </a:rPr>
              <a:t> zero, 0(</a:t>
            </a:r>
            <a:r>
              <a:rPr lang="en-US" b="1" dirty="0" err="1">
                <a:latin typeface="Consolas" panose="020B0609020204030204" pitchFamily="49" charset="0"/>
              </a:rPr>
              <a:t>ra</a:t>
            </a:r>
            <a:r>
              <a:rPr lang="en-US" b="1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73DEA-C3F6-F5A5-EC73-0C518746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305" y="1875841"/>
            <a:ext cx="8621328" cy="124794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4436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17EB-57DE-DFB0-5B8C-7C7C088E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F0124-1665-1A40-3A49-8D8EDE3C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 (call och </a:t>
            </a:r>
            <a:r>
              <a:rPr lang="sv-SE" dirty="0" err="1"/>
              <a:t>return</a:t>
            </a:r>
            <a:r>
              <a:rPr lang="sv-SE" dirty="0"/>
              <a:t>)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F08E5-3A0E-9F91-7552-8511BD25D567}"/>
              </a:ext>
            </a:extLst>
          </p:cNvPr>
          <p:cNvSpPr txBox="1"/>
          <p:nvPr/>
        </p:nvSpPr>
        <p:spPr>
          <a:xfrm>
            <a:off x="838200" y="1844022"/>
            <a:ext cx="3873964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main:</a:t>
            </a:r>
          </a:p>
          <a:p>
            <a:r>
              <a:rPr lang="en-US" dirty="0">
                <a:latin typeface="Consolas" panose="020B0609020204030204" pitchFamily="49" charset="0"/>
              </a:rPr>
              <a:t>  la t0, x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t0, 0(t0)</a:t>
            </a:r>
          </a:p>
          <a:p>
            <a:r>
              <a:rPr lang="en-US" dirty="0">
                <a:latin typeface="Consolas" panose="020B0609020204030204" pitchFamily="49" charset="0"/>
              </a:rPr>
              <a:t>  la t1, y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t1, 0(t1)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need t0 = min(x, y)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jal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ra</a:t>
            </a:r>
            <a:r>
              <a:rPr lang="en-US" b="1" dirty="0">
                <a:latin typeface="Consolas" panose="020B0609020204030204" pitchFamily="49" charset="0"/>
              </a:rPr>
              <a:t>, min</a:t>
            </a:r>
          </a:p>
          <a:p>
            <a:r>
              <a:rPr lang="en-US" b="1" dirty="0">
                <a:latin typeface="Consolas" panose="020B0609020204030204" pitchFamily="49" charset="0"/>
              </a:rPr>
              <a:t>  call min # </a:t>
            </a:r>
            <a:r>
              <a:rPr lang="en-US" b="1" dirty="0" err="1">
                <a:latin typeface="Consolas" panose="020B0609020204030204" pitchFamily="49" charset="0"/>
              </a:rPr>
              <a:t>Ekvivalent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# use smallest value</a:t>
            </a:r>
          </a:p>
          <a:p>
            <a:r>
              <a:rPr lang="en-US" dirty="0">
                <a:latin typeface="Consolas" panose="020B0609020204030204" pitchFamily="49" charset="0"/>
              </a:rPr>
              <a:t>  ... 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x: .word 10</a:t>
            </a:r>
          </a:p>
          <a:p>
            <a:r>
              <a:rPr lang="en-US" dirty="0">
                <a:latin typeface="Consolas" panose="020B0609020204030204" pitchFamily="49" charset="0"/>
              </a:rPr>
              <a:t>y: .word 20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E8DD7-4C43-EFDA-14CA-2F313ADDF422}"/>
              </a:ext>
            </a:extLst>
          </p:cNvPr>
          <p:cNvSpPr txBox="1"/>
          <p:nvPr/>
        </p:nvSpPr>
        <p:spPr>
          <a:xfrm>
            <a:off x="8674191" y="3308943"/>
            <a:ext cx="314350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min: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return smallest of</a:t>
            </a:r>
          </a:p>
          <a:p>
            <a:r>
              <a:rPr lang="en-US" dirty="0">
                <a:latin typeface="Consolas" panose="020B0609020204030204" pitchFamily="49" charset="0"/>
              </a:rPr>
              <a:t>  # two parameters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jalr</a:t>
            </a:r>
            <a:r>
              <a:rPr lang="en-US" b="1" dirty="0">
                <a:latin typeface="Consolas" panose="020B0609020204030204" pitchFamily="49" charset="0"/>
              </a:rPr>
              <a:t> zero, 0(</a:t>
            </a:r>
            <a:r>
              <a:rPr lang="en-US" b="1" dirty="0" err="1">
                <a:latin typeface="Consolas" panose="020B0609020204030204" pitchFamily="49" charset="0"/>
              </a:rPr>
              <a:t>ra</a:t>
            </a:r>
            <a:r>
              <a:rPr lang="en-US" b="1" dirty="0"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latin typeface="Consolas" panose="020B0609020204030204" pitchFamily="49" charset="0"/>
              </a:rPr>
              <a:t>  ret  # </a:t>
            </a:r>
            <a:r>
              <a:rPr lang="en-US" b="1" dirty="0" err="1">
                <a:latin typeface="Consolas" panose="020B0609020204030204" pitchFamily="49" charset="0"/>
              </a:rPr>
              <a:t>Ekvivalent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589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3108-666A-FAAD-935E-93E6E335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944E-13BE-25A3-8420-9F215D6E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 (parametrar)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AD3DF-872C-A327-5924-F29ED1C42883}"/>
              </a:ext>
            </a:extLst>
          </p:cNvPr>
          <p:cNvSpPr txBox="1"/>
          <p:nvPr/>
        </p:nvSpPr>
        <p:spPr>
          <a:xfrm>
            <a:off x="838199" y="1844022"/>
            <a:ext cx="5043791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main:</a:t>
            </a:r>
          </a:p>
          <a:p>
            <a:r>
              <a:rPr lang="en-US" dirty="0">
                <a:latin typeface="Consolas" panose="020B0609020204030204" pitchFamily="49" charset="0"/>
              </a:rPr>
              <a:t>  la t0, x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t0, 0(t0)</a:t>
            </a:r>
          </a:p>
          <a:p>
            <a:r>
              <a:rPr lang="en-US" dirty="0">
                <a:latin typeface="Consolas" panose="020B0609020204030204" pitchFamily="49" charset="0"/>
              </a:rPr>
              <a:t>  la t1, y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t1, 0(t1)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need t0 = min(x, y)</a:t>
            </a:r>
          </a:p>
          <a:p>
            <a:r>
              <a:rPr lang="en-US" b="1" dirty="0">
                <a:latin typeface="Consolas" panose="020B0609020204030204" pitchFamily="49" charset="0"/>
              </a:rPr>
              <a:t>  mv a0, t0  # </a:t>
            </a:r>
            <a:r>
              <a:rPr lang="en-US" b="1" dirty="0" err="1">
                <a:latin typeface="Consolas" panose="020B0609020204030204" pitchFamily="49" charset="0"/>
              </a:rPr>
              <a:t>Första</a:t>
            </a:r>
            <a:r>
              <a:rPr lang="en-US" b="1" dirty="0">
                <a:latin typeface="Consolas" panose="020B0609020204030204" pitchFamily="49" charset="0"/>
              </a:rPr>
              <a:t> parameter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a0</a:t>
            </a:r>
          </a:p>
          <a:p>
            <a:r>
              <a:rPr lang="en-US" b="1" dirty="0">
                <a:latin typeface="Consolas" panose="020B0609020204030204" pitchFamily="49" charset="0"/>
              </a:rPr>
              <a:t>  mv a1, t1  # Andra parameter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a1</a:t>
            </a:r>
          </a:p>
          <a:p>
            <a:r>
              <a:rPr lang="en-US" dirty="0">
                <a:latin typeface="Consolas" panose="020B0609020204030204" pitchFamily="49" charset="0"/>
              </a:rPr>
              <a:t>  call min 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latin typeface="Consolas" panose="020B0609020204030204" pitchFamily="49" charset="0"/>
              </a:rPr>
              <a:t># Smallest of x and y is now in a0</a:t>
            </a:r>
          </a:p>
          <a:p>
            <a:r>
              <a:rPr lang="en-US" dirty="0">
                <a:latin typeface="Consolas" panose="020B0609020204030204" pitchFamily="49" charset="0"/>
              </a:rPr>
              <a:t>  ... </a:t>
            </a:r>
          </a:p>
          <a:p>
            <a:r>
              <a:rPr lang="en-US" dirty="0">
                <a:latin typeface="Consolas" panose="020B0609020204030204" pitchFamily="49" charset="0"/>
              </a:rPr>
              <a:t>x: .word 10</a:t>
            </a:r>
          </a:p>
          <a:p>
            <a:r>
              <a:rPr lang="en-US" dirty="0">
                <a:latin typeface="Consolas" panose="020B0609020204030204" pitchFamily="49" charset="0"/>
              </a:rPr>
              <a:t>y: .word 20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6720B-6C11-B3FD-7513-52D6E044FFF9}"/>
              </a:ext>
            </a:extLst>
          </p:cNvPr>
          <p:cNvSpPr txBox="1"/>
          <p:nvPr/>
        </p:nvSpPr>
        <p:spPr>
          <a:xfrm>
            <a:off x="7328170" y="2522557"/>
            <a:ext cx="445061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min: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blt</a:t>
            </a:r>
            <a:r>
              <a:rPr lang="en-US" dirty="0">
                <a:latin typeface="Consolas" panose="020B0609020204030204" pitchFamily="49" charset="0"/>
              </a:rPr>
              <a:t>   a0, a1, </a:t>
            </a:r>
            <a:r>
              <a:rPr lang="en-US" dirty="0" err="1">
                <a:latin typeface="Consolas" panose="020B0609020204030204" pitchFamily="49" charset="0"/>
              </a:rPr>
              <a:t>first_is_smallest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j     </a:t>
            </a:r>
            <a:r>
              <a:rPr lang="en-US" dirty="0" err="1">
                <a:latin typeface="Consolas" panose="020B0609020204030204" pitchFamily="49" charset="0"/>
              </a:rPr>
              <a:t>second_is_smallest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first_is_smallest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sv-SE" b="1" dirty="0">
                <a:latin typeface="Consolas" panose="020B0609020204030204" pitchFamily="49" charset="0"/>
              </a:rPr>
              <a:t>mv a0, a0   # Lite fånigt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ret</a:t>
            </a:r>
          </a:p>
          <a:p>
            <a:r>
              <a:rPr lang="en-US" dirty="0" err="1">
                <a:latin typeface="Consolas" panose="020B0609020204030204" pitchFamily="49" charset="0"/>
              </a:rPr>
              <a:t>second_is_smallest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b="1" dirty="0">
                <a:latin typeface="Consolas" panose="020B0609020204030204" pitchFamily="49" charset="0"/>
              </a:rPr>
              <a:t>  mv a0, a1</a:t>
            </a:r>
          </a:p>
          <a:p>
            <a:r>
              <a:rPr lang="en-US" dirty="0">
                <a:latin typeface="Consolas" panose="020B0609020204030204" pitchFamily="49" charset="0"/>
              </a:rPr>
              <a:t>  ret</a:t>
            </a:r>
            <a:endParaRPr lang="LID4096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74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381AA-6C7F-3FA9-9FE6-60A71114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24E8-49A7-D5C6-C16B-CACBDF8D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 (parametrar)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ED252-8794-00A1-86C6-9E1016FD7916}"/>
              </a:ext>
            </a:extLst>
          </p:cNvPr>
          <p:cNvSpPr txBox="1"/>
          <p:nvPr/>
        </p:nvSpPr>
        <p:spPr>
          <a:xfrm>
            <a:off x="838199" y="1844022"/>
            <a:ext cx="5043791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main:</a:t>
            </a:r>
          </a:p>
          <a:p>
            <a:r>
              <a:rPr lang="en-US" dirty="0">
                <a:latin typeface="Consolas" panose="020B0609020204030204" pitchFamily="49" charset="0"/>
              </a:rPr>
              <a:t>  la t0, x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t0, 0(t0)</a:t>
            </a:r>
          </a:p>
          <a:p>
            <a:r>
              <a:rPr lang="en-US" dirty="0">
                <a:latin typeface="Consolas" panose="020B0609020204030204" pitchFamily="49" charset="0"/>
              </a:rPr>
              <a:t>  la t1, y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</a:rPr>
              <a:t> t1, 0(t1)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# need t0 = min(x, y)</a:t>
            </a:r>
          </a:p>
          <a:p>
            <a:r>
              <a:rPr lang="en-US" b="1" dirty="0">
                <a:latin typeface="Consolas" panose="020B0609020204030204" pitchFamily="49" charset="0"/>
              </a:rPr>
              <a:t>  mv a0, t0  # </a:t>
            </a:r>
            <a:r>
              <a:rPr lang="en-US" b="1" dirty="0" err="1">
                <a:latin typeface="Consolas" panose="020B0609020204030204" pitchFamily="49" charset="0"/>
              </a:rPr>
              <a:t>Första</a:t>
            </a:r>
            <a:r>
              <a:rPr lang="en-US" b="1" dirty="0">
                <a:latin typeface="Consolas" panose="020B0609020204030204" pitchFamily="49" charset="0"/>
              </a:rPr>
              <a:t> parameter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a0</a:t>
            </a:r>
          </a:p>
          <a:p>
            <a:r>
              <a:rPr lang="en-US" b="1" dirty="0">
                <a:latin typeface="Consolas" panose="020B0609020204030204" pitchFamily="49" charset="0"/>
              </a:rPr>
              <a:t>  mv a1, t1  # Andra parameter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a1</a:t>
            </a:r>
          </a:p>
          <a:p>
            <a:r>
              <a:rPr lang="en-US" dirty="0">
                <a:latin typeface="Consolas" panose="020B0609020204030204" pitchFamily="49" charset="0"/>
              </a:rPr>
              <a:t>  call min 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latin typeface="Consolas" panose="020B0609020204030204" pitchFamily="49" charset="0"/>
              </a:rPr>
              <a:t># Smallest of x and y is now in a0</a:t>
            </a:r>
          </a:p>
          <a:p>
            <a:r>
              <a:rPr lang="en-US" dirty="0">
                <a:latin typeface="Consolas" panose="020B0609020204030204" pitchFamily="49" charset="0"/>
              </a:rPr>
              <a:t>  ... </a:t>
            </a:r>
          </a:p>
          <a:p>
            <a:r>
              <a:rPr lang="en-US" dirty="0">
                <a:latin typeface="Consolas" panose="020B0609020204030204" pitchFamily="49" charset="0"/>
              </a:rPr>
              <a:t>x: .word 10</a:t>
            </a:r>
          </a:p>
          <a:p>
            <a:r>
              <a:rPr lang="en-US" dirty="0">
                <a:latin typeface="Consolas" panose="020B0609020204030204" pitchFamily="49" charset="0"/>
              </a:rPr>
              <a:t>y: .word 20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CD4CE-5FF1-C24D-DE74-B5D19DD1C869}"/>
              </a:ext>
            </a:extLst>
          </p:cNvPr>
          <p:cNvSpPr txBox="1"/>
          <p:nvPr/>
        </p:nvSpPr>
        <p:spPr>
          <a:xfrm>
            <a:off x="7204953" y="843677"/>
            <a:ext cx="445061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min: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blt</a:t>
            </a:r>
            <a:r>
              <a:rPr lang="en-US" dirty="0">
                <a:latin typeface="Consolas" panose="020B0609020204030204" pitchFamily="49" charset="0"/>
              </a:rPr>
              <a:t>   a0, a1, </a:t>
            </a:r>
            <a:r>
              <a:rPr lang="en-US" dirty="0" err="1">
                <a:latin typeface="Consolas" panose="020B0609020204030204" pitchFamily="49" charset="0"/>
              </a:rPr>
              <a:t>first_is_smallest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j     </a:t>
            </a:r>
            <a:r>
              <a:rPr lang="en-US" dirty="0" err="1">
                <a:latin typeface="Consolas" panose="020B0609020204030204" pitchFamily="49" charset="0"/>
              </a:rPr>
              <a:t>second_is_smallest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first_is_smallest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sv-SE" b="1" dirty="0">
                <a:latin typeface="Consolas" panose="020B0609020204030204" pitchFamily="49" charset="0"/>
              </a:rPr>
              <a:t>mv a0, a0   # Lite fånigt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ret</a:t>
            </a:r>
          </a:p>
          <a:p>
            <a:r>
              <a:rPr lang="en-US" dirty="0" err="1">
                <a:latin typeface="Consolas" panose="020B0609020204030204" pitchFamily="49" charset="0"/>
              </a:rPr>
              <a:t>second_is_smallest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b="1" dirty="0">
                <a:latin typeface="Consolas" panose="020B0609020204030204" pitchFamily="49" charset="0"/>
              </a:rPr>
              <a:t>  mv a0, a1</a:t>
            </a:r>
          </a:p>
          <a:p>
            <a:r>
              <a:rPr lang="en-US" dirty="0">
                <a:latin typeface="Consolas" panose="020B0609020204030204" pitchFamily="49" charset="0"/>
              </a:rPr>
              <a:t>  ret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02704-2F0C-F3CD-9D93-8AA1121CDAB9}"/>
              </a:ext>
            </a:extLst>
          </p:cNvPr>
          <p:cNvSpPr txBox="1"/>
          <p:nvPr/>
        </p:nvSpPr>
        <p:spPr>
          <a:xfrm>
            <a:off x="7204953" y="3635515"/>
            <a:ext cx="4450616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min: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bge</a:t>
            </a:r>
            <a:r>
              <a:rPr lang="en-US" dirty="0">
                <a:latin typeface="Consolas" panose="020B0609020204030204" pitchFamily="49" charset="0"/>
              </a:rPr>
              <a:t>   a0, a1, </a:t>
            </a:r>
            <a:r>
              <a:rPr lang="en-US" dirty="0" err="1">
                <a:latin typeface="Consolas" panose="020B0609020204030204" pitchFamily="49" charset="0"/>
              </a:rPr>
              <a:t>second_is_smallest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ret</a:t>
            </a:r>
          </a:p>
          <a:p>
            <a:r>
              <a:rPr lang="en-US" dirty="0" err="1">
                <a:latin typeface="Consolas" panose="020B0609020204030204" pitchFamily="49" charset="0"/>
              </a:rPr>
              <a:t>second_is_smallest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b="1" dirty="0">
                <a:latin typeface="Consolas" panose="020B0609020204030204" pitchFamily="49" charset="0"/>
              </a:rPr>
              <a:t>  mv a0, a1</a:t>
            </a:r>
          </a:p>
          <a:p>
            <a:r>
              <a:rPr lang="en-US" dirty="0">
                <a:latin typeface="Consolas" panose="020B0609020204030204" pitchFamily="49" charset="0"/>
              </a:rPr>
              <a:t>  ret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8CB26-BEC1-D7F6-7FFD-4E5C92839C26}"/>
              </a:ext>
            </a:extLst>
          </p:cNvPr>
          <p:cNvSpPr/>
          <p:nvPr/>
        </p:nvSpPr>
        <p:spPr>
          <a:xfrm>
            <a:off x="7204953" y="830094"/>
            <a:ext cx="4450616" cy="2598906"/>
          </a:xfrm>
          <a:prstGeom prst="rect">
            <a:avLst/>
          </a:prstGeom>
          <a:solidFill>
            <a:schemeClr val="tx1">
              <a:alpha val="24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75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F6DF7-8245-4515-D1C6-324C7599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925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02AFE-405E-BC06-4384-BFD3BD60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Stacken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5B9B8-F988-19DA-03CB-0FB1F22F9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Visa bild på stackens plats i minnet</a:t>
            </a:r>
          </a:p>
          <a:p>
            <a:r>
              <a:rPr lang="sv-SE"/>
              <a:t>Inga push och pop. Vi håller själva koll på stackpekaren. </a:t>
            </a:r>
          </a:p>
          <a:p>
            <a:r>
              <a:rPr lang="sv-SE"/>
              <a:t>Gör ett exempel (Låtsas att vi bara har litet antal register)</a:t>
            </a:r>
          </a:p>
          <a:p>
            <a:pPr lvl="1"/>
            <a:r>
              <a:rPr lang="sv-SE"/>
              <a:t>Samma sak händer i verkligheten, fast i mycket mer komplicerade program</a:t>
            </a:r>
          </a:p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2440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BB50-CF68-B019-C880-D01EB750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Register Saving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1E298-03AE-7576-04AA-8BB3BE2BF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Gör exemplet där vi vill skriva min(x, y, z) genom att kalla min.</a:t>
            </a:r>
          </a:p>
          <a:p>
            <a:r>
              <a:rPr lang="sv-SE"/>
              <a:t>Kan dom se problemet? </a:t>
            </a:r>
          </a:p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C5942-CF83-05B1-2698-171934D12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34" y="3292330"/>
            <a:ext cx="1043133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68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B6DF-2E34-9694-7818-8ACDECBC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Register Saving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6E6C2-0DC3-4D26-184A-F0BF515D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Skall vi bara spara alla register vi använder innan vi kallar en funktion? </a:t>
            </a:r>
          </a:p>
          <a:p>
            <a:pPr lvl="1"/>
            <a:r>
              <a:rPr lang="sv-SE"/>
              <a:t>Om funktionen bara använder ett register så blir ju det fånigt</a:t>
            </a:r>
          </a:p>
          <a:p>
            <a:r>
              <a:rPr lang="sv-SE"/>
              <a:t>Skall vi då låta funktionen som blir kallad spara alla register den tänker skriva över? </a:t>
            </a:r>
          </a:p>
          <a:p>
            <a:pPr lvl="1"/>
            <a:r>
              <a:rPr lang="sv-SE"/>
              <a:t>Men om funktionen vi kallar behöver massor med register, och vi bara ett, blir det ju lika löjligt. </a:t>
            </a:r>
          </a:p>
        </p:txBody>
      </p:sp>
    </p:spTree>
    <p:extLst>
      <p:ext uri="{BB962C8B-B14F-4D97-AF65-F5344CB8AC3E}">
        <p14:creationId xmlns:p14="http://schemas.microsoft.com/office/powerpoint/2010/main" val="3460264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27D8-3ED7-38D5-4231-2A5D1AD9F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Register Saving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7C576-7072-68EC-5F4D-1936ABA02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ABI Konvention (kompromiss): </a:t>
            </a:r>
            <a:endParaRPr lang="LID4096"/>
          </a:p>
          <a:p>
            <a:pPr lvl="1"/>
            <a:r>
              <a:rPr lang="sv-SE"/>
              <a:t>Den kallande funktionen sparar t (temp) registrena, a (argument registrena), och ra (om den behöver dem).</a:t>
            </a:r>
          </a:p>
          <a:p>
            <a:pPr lvl="1"/>
            <a:r>
              <a:rPr lang="sv-SE"/>
              <a:t>Den kallade funktionen sparar alla andra register om den skriver över dem.</a:t>
            </a:r>
          </a:p>
          <a:p>
            <a:pPr lvl="1"/>
            <a:endParaRPr lang="sv-SE"/>
          </a:p>
          <a:p>
            <a:pPr lvl="1"/>
            <a:r>
              <a:rPr lang="sv-SE"/>
              <a:t>Vi kan ju fortfarande hamna i situationer där register blir sparade som inte egentligen behövde sparas: </a:t>
            </a:r>
          </a:p>
          <a:p>
            <a:pPr lvl="2"/>
            <a:r>
              <a:rPr lang="sv-SE"/>
              <a:t>a sparar argumentregister, men dom skrivs aldrig över av b, </a:t>
            </a:r>
          </a:p>
          <a:p>
            <a:pPr lvl="2"/>
            <a:r>
              <a:rPr lang="sv-SE"/>
              <a:t>eller b sparar s registrena, men dom behövs inte av a</a:t>
            </a:r>
          </a:p>
          <a:p>
            <a:pPr lvl="2"/>
            <a:r>
              <a:rPr lang="sv-SE"/>
              <a:t>En optimerare kan oftast hitta sådana fall och ta bort dem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9282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DA21-300C-43E3-3FC0-40EADD2B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Register saving, nästade funktionsanrop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8312-15BF-1B93-E97F-041D6E40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En funktion är ofta både callee och caller (visa exempel med min(x, y, z))</a:t>
            </a:r>
          </a:p>
          <a:p>
            <a:r>
              <a:rPr lang="sv-SE"/>
              <a:t>Best practice: </a:t>
            </a:r>
          </a:p>
          <a:p>
            <a:pPr lvl="1"/>
            <a:r>
              <a:rPr lang="sv-SE"/>
              <a:t>Gör allt du kan i t registrena (du behöver inte spara dem)</a:t>
            </a:r>
          </a:p>
          <a:p>
            <a:pPr lvl="1"/>
            <a:r>
              <a:rPr lang="sv-SE"/>
              <a:t>Om du behöver spara ett värde, använd s registren</a:t>
            </a:r>
          </a:p>
          <a:p>
            <a:pPr lvl="1"/>
            <a:r>
              <a:rPr lang="sv-SE"/>
              <a:t>Ha koll på alla s register du använder, och spara/restora dem i en prolog/epilog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391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F3C1-E18A-20E7-894E-E0521936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Example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B6AA2-6CB2-F305-0610-FBFDB6050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rand and putchar coding example? 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5628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08AE2-2115-6850-8CE0-B9CFE803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Arrays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0AC0-66F8-0CC2-5CD0-54649900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Vad är arrays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25463-2779-B641-4479-2F8554E34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2509709"/>
            <a:ext cx="9269119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8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5BEE-B0F7-60DD-3EE5-996ECF63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Arrays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9C3FC-6170-57D2-8C86-9AD690798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Visa en array i assembler och hur vi kan accessa den</a:t>
            </a:r>
          </a:p>
          <a:p>
            <a:r>
              <a:rPr lang="sv-SE"/>
              <a:t>Visa .space direktivet</a:t>
            </a:r>
          </a:p>
          <a:p>
            <a:r>
              <a:rPr lang="sv-SE"/>
              <a:t>Visa med halfword (align och .space igen)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8702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3EBD-DCAC-F2A4-A314-969FE541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Iterera över en array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4E475-56FE-7E08-94B4-F52D4616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889" y="1906206"/>
            <a:ext cx="6114222" cy="445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91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8934-DA57-B8F3-DFB5-63AB034BF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Lokala arrayer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C4A39-A9D3-3122-4AF0-12FF95D2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1" y="2118868"/>
            <a:ext cx="8133540" cy="415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21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00FA-96A0-F0AE-8C3E-79831B77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Arrays som funktionsparametrar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E16D-FE23-695E-443D-E2EB6B84F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Gör en min(short * numbers) funktion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9438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E40A-0791-23EB-2804-6CAC680E3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Example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817EA-065D-43C9-FF89-E12D7584F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sort is not part of standard C. </a:t>
            </a:r>
          </a:p>
          <a:p>
            <a:r>
              <a:rPr lang="sv-SE"/>
              <a:t>I could write a sorting function myself and call it from assembly.</a:t>
            </a:r>
          </a:p>
          <a:p>
            <a:r>
              <a:rPr lang="sv-SE"/>
              <a:t>Or go for strings. to_upper, for example. 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639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1560</Words>
  <Application>Microsoft Office PowerPoint</Application>
  <PresentationFormat>Widescreen</PresentationFormat>
  <Paragraphs>256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Office Theme</vt:lpstr>
      <vt:lpstr>Lektion 3</vt:lpstr>
      <vt:lpstr>Branches</vt:lpstr>
      <vt:lpstr>Funktioner (subrutiner)</vt:lpstr>
      <vt:lpstr>Funktioner (subrutiner)</vt:lpstr>
      <vt:lpstr>Funktioner (subrutiner)</vt:lpstr>
      <vt:lpstr>Funktioner (call och return)</vt:lpstr>
      <vt:lpstr>Funktioner (parametrar)</vt:lpstr>
      <vt:lpstr>Funktioner (parametrar)</vt:lpstr>
      <vt:lpstr>PowerPoint Presentation</vt:lpstr>
      <vt:lpstr>Stacken</vt:lpstr>
      <vt:lpstr>Register Saving</vt:lpstr>
      <vt:lpstr>Register Saving</vt:lpstr>
      <vt:lpstr>Register Saving</vt:lpstr>
      <vt:lpstr>Register saving, nästade funktionsanrop</vt:lpstr>
      <vt:lpstr>Example</vt:lpstr>
      <vt:lpstr>Arrays</vt:lpstr>
      <vt:lpstr>Arrays</vt:lpstr>
      <vt:lpstr>Iterera över en array</vt:lpstr>
      <vt:lpstr>Lokala arrayer</vt:lpstr>
      <vt:lpstr>Arrays som funktionsparametrar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23</cp:revision>
  <dcterms:created xsi:type="dcterms:W3CDTF">2026-01-14T14:09:03Z</dcterms:created>
  <dcterms:modified xsi:type="dcterms:W3CDTF">2026-01-26T11:39:20Z</dcterms:modified>
</cp:coreProperties>
</file>