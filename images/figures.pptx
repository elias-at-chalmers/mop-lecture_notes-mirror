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  <p:sldId id="457" r:id="rId21"/>
    <p:sldId id="458" r:id="rId2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8" d="100"/>
          <a:sy n="228" d="100"/>
        </p:scale>
        <p:origin x="216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12/30/2025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12/30/2025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12/30/2025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12/30/2025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12/30/2025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12/30/2025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12/30/2025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12/30/2025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80FAA9-A24C-C468-3EC4-7DB868E7A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100922" y="2083300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6EE29-2F5A-812D-EA9A-4F717999981A}"/>
              </a:ext>
            </a:extLst>
          </p:cNvPr>
          <p:cNvSpPr txBox="1"/>
          <p:nvPr/>
        </p:nvSpPr>
        <p:spPr>
          <a:xfrm>
            <a:off x="2547629" y="2484582"/>
            <a:ext cx="1005108" cy="84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600"/>
              <a:t>CPU</a:t>
            </a:r>
          </a:p>
          <a:p>
            <a:pPr algn="ctr"/>
            <a:r>
              <a:rPr lang="en-US" sz="500"/>
              <a:t>Qingke V4</a:t>
            </a:r>
            <a:endParaRPr lang="LID4096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B6941-7883-BA95-2956-4543D7A08387}"/>
              </a:ext>
            </a:extLst>
          </p:cNvPr>
          <p:cNvSpPr txBox="1"/>
          <p:nvPr/>
        </p:nvSpPr>
        <p:spPr>
          <a:xfrm>
            <a:off x="3554546" y="3843120"/>
            <a:ext cx="673132" cy="3231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EXTI</a:t>
            </a:r>
            <a:br>
              <a:rPr lang="en-US" sz="1000"/>
            </a:br>
            <a:r>
              <a:rPr lang="en-US" sz="500"/>
              <a:t>(GPIO Interrupts)</a:t>
            </a:r>
            <a:endParaRPr lang="LID4096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88216-66CB-4345-02D8-38B63C47FB18}"/>
              </a:ext>
            </a:extLst>
          </p:cNvPr>
          <p:cNvSpPr txBox="1"/>
          <p:nvPr/>
        </p:nvSpPr>
        <p:spPr>
          <a:xfrm>
            <a:off x="3007453" y="3032605"/>
            <a:ext cx="487960" cy="2462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PFIC</a:t>
            </a:r>
            <a:endParaRPr lang="LID4096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1B074-C575-9C5D-5147-E78EC26CF6DE}"/>
              </a:ext>
            </a:extLst>
          </p:cNvPr>
          <p:cNvSpPr txBox="1"/>
          <p:nvPr/>
        </p:nvSpPr>
        <p:spPr>
          <a:xfrm rot="16200000">
            <a:off x="2471897" y="2966624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SysTick</a:t>
            </a:r>
            <a:endParaRPr lang="LID4096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0544E-D789-7ABF-C059-1013ECAD8BDB}"/>
              </a:ext>
            </a:extLst>
          </p:cNvPr>
          <p:cNvSpPr txBox="1"/>
          <p:nvPr/>
        </p:nvSpPr>
        <p:spPr>
          <a:xfrm rot="16200000">
            <a:off x="3893492" y="3376315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USB</a:t>
            </a:r>
            <a:endParaRPr lang="LID4096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B76B3-89F1-4C1D-29A7-158B6448534F}"/>
              </a:ext>
            </a:extLst>
          </p:cNvPr>
          <p:cNvSpPr txBox="1"/>
          <p:nvPr/>
        </p:nvSpPr>
        <p:spPr>
          <a:xfrm rot="16200000">
            <a:off x="3893492" y="2763826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ETH</a:t>
            </a:r>
            <a:endParaRPr lang="LID4096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533F6-2D85-A4E7-5879-DB283E3A97A0}"/>
              </a:ext>
            </a:extLst>
          </p:cNvPr>
          <p:cNvSpPr txBox="1"/>
          <p:nvPr/>
        </p:nvSpPr>
        <p:spPr>
          <a:xfrm>
            <a:off x="2547629" y="3503285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TIMER6</a:t>
            </a:r>
            <a:endParaRPr lang="LID4096" sz="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33CD7-5E6B-0A76-D69E-6CF4CF0BAA43}"/>
              </a:ext>
            </a:extLst>
          </p:cNvPr>
          <p:cNvSpPr txBox="1"/>
          <p:nvPr/>
        </p:nvSpPr>
        <p:spPr>
          <a:xfrm>
            <a:off x="2547629" y="3750787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TIMER7</a:t>
            </a:r>
            <a:endParaRPr lang="LID4096" sz="6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AA77620-B14B-E634-D00E-58386B5F1859}"/>
              </a:ext>
            </a:extLst>
          </p:cNvPr>
          <p:cNvCxnSpPr>
            <a:stCxn id="16" idx="3"/>
          </p:cNvCxnSpPr>
          <p:nvPr/>
        </p:nvCxnSpPr>
        <p:spPr>
          <a:xfrm flipV="1">
            <a:off x="2987367" y="3250406"/>
            <a:ext cx="108258" cy="34521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82C28D66-0A91-C64C-D83E-81285C459FD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2987367" y="3250406"/>
            <a:ext cx="179696" cy="592714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135E5DD6-AC53-33A4-AB50-CD4DF3BA26DA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3243264" y="3252789"/>
            <a:ext cx="311283" cy="751915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2CB9ACF9-7EC1-D72E-6C2F-BDEA9BA7F19A}"/>
              </a:ext>
            </a:extLst>
          </p:cNvPr>
          <p:cNvCxnSpPr>
            <a:cxnSpLocks/>
            <a:stCxn id="14" idx="0"/>
          </p:cNvCxnSpPr>
          <p:nvPr/>
        </p:nvCxnSpPr>
        <p:spPr>
          <a:xfrm rot="10800000">
            <a:off x="3495675" y="3219450"/>
            <a:ext cx="485782" cy="2799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FCDA21D-8743-5B7C-4B47-7B57B0E6811C}"/>
              </a:ext>
            </a:extLst>
          </p:cNvPr>
          <p:cNvCxnSpPr>
            <a:cxnSpLocks/>
            <a:stCxn id="15" idx="0"/>
            <a:endCxn id="12" idx="3"/>
          </p:cNvCxnSpPr>
          <p:nvPr/>
        </p:nvCxnSpPr>
        <p:spPr>
          <a:xfrm rot="10800000" flipV="1">
            <a:off x="3495413" y="2886936"/>
            <a:ext cx="486044" cy="26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7A7BCD2-1043-D58D-BBAE-0641B7702119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2784099" y="3058957"/>
            <a:ext cx="223354" cy="96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407A79B-9B47-7591-3900-FAC9B2B77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362" y="2063919"/>
            <a:ext cx="6314136" cy="2512569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F7D953-AFFB-97BD-B7F3-2529F2C0883C}"/>
              </a:ext>
            </a:extLst>
          </p:cNvPr>
          <p:cNvSpPr/>
          <p:nvPr/>
        </p:nvSpPr>
        <p:spPr>
          <a:xfrm>
            <a:off x="5961185" y="2414954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E910420-4271-7A14-C9A6-FCFF3B4E2E83}"/>
              </a:ext>
            </a:extLst>
          </p:cNvPr>
          <p:cNvSpPr/>
          <p:nvPr/>
        </p:nvSpPr>
        <p:spPr>
          <a:xfrm>
            <a:off x="6205683" y="4151573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84899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A5F216-7911-D4E9-8D51-0125B0F8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85" y="2812732"/>
            <a:ext cx="5596066" cy="103735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97C682F-2DE7-F536-6371-E6DE9413A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18" y="2391646"/>
            <a:ext cx="1954823" cy="187952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82F8D00-11C4-E14F-A59D-A46E70AEA722}"/>
              </a:ext>
            </a:extLst>
          </p:cNvPr>
          <p:cNvSpPr/>
          <p:nvPr/>
        </p:nvSpPr>
        <p:spPr>
          <a:xfrm>
            <a:off x="2562675" y="32663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CAC7D2-5EAA-CA59-D12B-A37A8024C2B4}"/>
              </a:ext>
            </a:extLst>
          </p:cNvPr>
          <p:cNvSpPr/>
          <p:nvPr/>
        </p:nvSpPr>
        <p:spPr>
          <a:xfrm>
            <a:off x="2564082" y="3418721"/>
            <a:ext cx="5525644" cy="144037"/>
          </a:xfrm>
          <a:prstGeom prst="rect">
            <a:avLst/>
          </a:prstGeom>
          <a:solidFill>
            <a:schemeClr val="accent6">
              <a:lumMod val="75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FCDF1E-78A2-2726-A0A8-BA1F06CB5B12}"/>
              </a:ext>
            </a:extLst>
          </p:cNvPr>
          <p:cNvSpPr txBox="1"/>
          <p:nvPr/>
        </p:nvSpPr>
        <p:spPr>
          <a:xfrm>
            <a:off x="8243959" y="1644058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BD5B913-C381-F90F-19B7-18B4A1DDA19B}"/>
              </a:ext>
            </a:extLst>
          </p:cNvPr>
          <p:cNvSpPr/>
          <p:nvPr/>
        </p:nvSpPr>
        <p:spPr>
          <a:xfrm>
            <a:off x="6149130" y="1992460"/>
            <a:ext cx="2051109" cy="12750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2051109"/>
              <a:gd name="csY0" fmla="*/ 1270932 h 1270932"/>
              <a:gd name="csX1" fmla="*/ 322976 w 2051109"/>
              <a:gd name="csY1" fmla="*/ 398477 h 1270932"/>
              <a:gd name="csX2" fmla="*/ 2051109 w 2051109"/>
              <a:gd name="csY2" fmla="*/ 0 h 1270932"/>
              <a:gd name="csX0" fmla="*/ 0 w 2051109"/>
              <a:gd name="csY0" fmla="*/ 1275051 h 1275051"/>
              <a:gd name="csX1" fmla="*/ 322976 w 2051109"/>
              <a:gd name="csY1" fmla="*/ 402596 h 1275051"/>
              <a:gd name="csX2" fmla="*/ 2051109 w 2051109"/>
              <a:gd name="csY2" fmla="*/ 4119 h 1275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51109" h="1275051">
                <a:moveTo>
                  <a:pt x="0" y="1275051"/>
                </a:moveTo>
                <a:cubicBezTo>
                  <a:pt x="61519" y="929005"/>
                  <a:pt x="123038" y="582959"/>
                  <a:pt x="322976" y="402596"/>
                </a:cubicBezTo>
                <a:cubicBezTo>
                  <a:pt x="522914" y="222233"/>
                  <a:pt x="1276525" y="-35729"/>
                  <a:pt x="2051109" y="4119"/>
                </a:cubicBezTo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8FA132-A679-4420-9109-5D83D4726056}"/>
              </a:ext>
            </a:extLst>
          </p:cNvPr>
          <p:cNvSpPr txBox="1"/>
          <p:nvPr/>
        </p:nvSpPr>
        <p:spPr>
          <a:xfrm>
            <a:off x="5741708" y="1773872"/>
            <a:ext cx="1704313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0: 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4E77FBD-D9F3-E428-AA90-C15919A5FADA}"/>
              </a:ext>
            </a:extLst>
          </p:cNvPr>
          <p:cNvSpPr/>
          <p:nvPr/>
        </p:nvSpPr>
        <p:spPr>
          <a:xfrm>
            <a:off x="3231157" y="3547963"/>
            <a:ext cx="1707161" cy="17747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1421935"/>
              <a:gd name="csY0" fmla="*/ 56753 h 903857"/>
              <a:gd name="csX1" fmla="*/ 545285 w 1421935"/>
              <a:gd name="csY1" fmla="*/ 887263 h 903857"/>
              <a:gd name="csX2" fmla="*/ 1421935 w 1421935"/>
              <a:gd name="csY2" fmla="*/ 677538 h 903857"/>
              <a:gd name="csX0" fmla="*/ 0 w 1421935"/>
              <a:gd name="csY0" fmla="*/ 0 h 872637"/>
              <a:gd name="csX1" fmla="*/ 545285 w 1421935"/>
              <a:gd name="csY1" fmla="*/ 830510 h 872637"/>
              <a:gd name="csX2" fmla="*/ 1421935 w 1421935"/>
              <a:gd name="csY2" fmla="*/ 620785 h 872637"/>
              <a:gd name="csX0" fmla="*/ 0 w 1421935"/>
              <a:gd name="csY0" fmla="*/ 0 h 963973"/>
              <a:gd name="csX1" fmla="*/ 545285 w 1421935"/>
              <a:gd name="csY1" fmla="*/ 830510 h 963973"/>
              <a:gd name="csX2" fmla="*/ 1421935 w 1421935"/>
              <a:gd name="csY2" fmla="*/ 620785 h 963973"/>
              <a:gd name="csX0" fmla="*/ 0 w 1421935"/>
              <a:gd name="csY0" fmla="*/ 0 h 2100598"/>
              <a:gd name="csX1" fmla="*/ 692092 w 1421935"/>
              <a:gd name="csY1" fmla="*/ 2080470 h 2100598"/>
              <a:gd name="csX2" fmla="*/ 1421935 w 1421935"/>
              <a:gd name="csY2" fmla="*/ 620785 h 2100598"/>
              <a:gd name="csX0" fmla="*/ 0 w 1707161"/>
              <a:gd name="csY0" fmla="*/ 0 h 2100598"/>
              <a:gd name="csX1" fmla="*/ 692092 w 1707161"/>
              <a:gd name="csY1" fmla="*/ 2080470 h 2100598"/>
              <a:gd name="csX2" fmla="*/ 1707161 w 1707161"/>
              <a:gd name="csY2" fmla="*/ 1774272 h 2100598"/>
              <a:gd name="csX0" fmla="*/ 0 w 1707161"/>
              <a:gd name="csY0" fmla="*/ 0 h 1774818"/>
              <a:gd name="csX1" fmla="*/ 440423 w 1707161"/>
              <a:gd name="csY1" fmla="*/ 1681993 h 1774818"/>
              <a:gd name="csX2" fmla="*/ 1707161 w 1707161"/>
              <a:gd name="csY2" fmla="*/ 1774272 h 1774818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880"/>
              <a:gd name="csX1" fmla="*/ 440423 w 1707161"/>
              <a:gd name="csY1" fmla="*/ 1681993 h 1775880"/>
              <a:gd name="csX2" fmla="*/ 1707161 w 1707161"/>
              <a:gd name="csY2" fmla="*/ 1774272 h 1775880"/>
              <a:gd name="csX0" fmla="*/ 0 w 1707161"/>
              <a:gd name="csY0" fmla="*/ 0 h 1774751"/>
              <a:gd name="csX1" fmla="*/ 440423 w 1707161"/>
              <a:gd name="csY1" fmla="*/ 1681993 h 1774751"/>
              <a:gd name="csX2" fmla="*/ 1707161 w 1707161"/>
              <a:gd name="csY2" fmla="*/ 1774272 h 17747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07161" h="1774751">
                <a:moveTo>
                  <a:pt x="0" y="0"/>
                </a:moveTo>
                <a:cubicBezTo>
                  <a:pt x="137020" y="1201723"/>
                  <a:pt x="60122" y="1652631"/>
                  <a:pt x="440423" y="1681993"/>
                </a:cubicBezTo>
                <a:cubicBezTo>
                  <a:pt x="1055616" y="1459686"/>
                  <a:pt x="1368805" y="1788953"/>
                  <a:pt x="1707161" y="177427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D4680A-CE37-FEA2-970A-CCFD326B07DD}"/>
              </a:ext>
            </a:extLst>
          </p:cNvPr>
          <p:cNvSpPr txBox="1"/>
          <p:nvPr/>
        </p:nvSpPr>
        <p:spPr>
          <a:xfrm>
            <a:off x="1824605" y="4308643"/>
            <a:ext cx="2999539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1: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r>
              <a:rPr lang="en-GB"/>
              <a:t> + </a:t>
            </a:r>
            <a:r>
              <a:rPr lang="en-GB">
                <a:latin typeface="Consolas" panose="020B0609020204030204" pitchFamily="49" charset="0"/>
              </a:rPr>
              <a:t>mcause</a:t>
            </a:r>
            <a:r>
              <a:rPr lang="en-GB"/>
              <a:t> x 4</a:t>
            </a:r>
            <a:endParaRPr lang="LID4096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E9FA26BC-874A-32B5-FBBE-7A628F4F13BF}"/>
              </a:ext>
            </a:extLst>
          </p:cNvPr>
          <p:cNvSpPr/>
          <p:nvPr/>
        </p:nvSpPr>
        <p:spPr>
          <a:xfrm>
            <a:off x="1107347" y="2014251"/>
            <a:ext cx="1858297" cy="804449"/>
          </a:xfrm>
          <a:custGeom>
            <a:avLst/>
            <a:gdLst>
              <a:gd name="csX0" fmla="*/ 0 w 1832994"/>
              <a:gd name="csY0" fmla="*/ 0 h 427838"/>
              <a:gd name="csX1" fmla="*/ 1832994 w 1832994"/>
              <a:gd name="csY1" fmla="*/ 427838 h 427838"/>
              <a:gd name="csX0" fmla="*/ 0 w 1858161"/>
              <a:gd name="csY0" fmla="*/ 0 h 423644"/>
              <a:gd name="csX1" fmla="*/ 1858161 w 1858161"/>
              <a:gd name="csY1" fmla="*/ 423644 h 423644"/>
              <a:gd name="csX0" fmla="*/ 0 w 1858356"/>
              <a:gd name="csY0" fmla="*/ 0 h 423644"/>
              <a:gd name="csX1" fmla="*/ 1858161 w 1858356"/>
              <a:gd name="csY1" fmla="*/ 423644 h 423644"/>
              <a:gd name="csX0" fmla="*/ 0 w 1858297"/>
              <a:gd name="csY0" fmla="*/ 380805 h 804449"/>
              <a:gd name="csX1" fmla="*/ 1858161 w 1858297"/>
              <a:gd name="csY1" fmla="*/ 804449 h 804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8297" h="804449">
                <a:moveTo>
                  <a:pt x="0" y="380805"/>
                </a:moveTo>
                <a:cubicBezTo>
                  <a:pt x="74103" y="-430130"/>
                  <a:pt x="1876338" y="218618"/>
                  <a:pt x="1858161" y="804449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1EA0A9-FD6B-6059-F42D-E692E2623342}"/>
              </a:ext>
            </a:extLst>
          </p:cNvPr>
          <p:cNvSpPr txBox="1"/>
          <p:nvPr/>
        </p:nvSpPr>
        <p:spPr>
          <a:xfrm>
            <a:off x="1400710" y="1620859"/>
            <a:ext cx="3927807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+mj-lt"/>
              </a:rPr>
              <a:t>When an interrupt occurs, the processor</a:t>
            </a:r>
            <a:br>
              <a:rPr lang="en-GB">
                <a:latin typeface="+mj-lt"/>
              </a:rPr>
            </a:br>
            <a:r>
              <a:rPr lang="en-GB">
                <a:latin typeface="+mj-lt"/>
              </a:rPr>
              <a:t>checks </a:t>
            </a:r>
            <a:r>
              <a:rPr lang="en-GB" b="1">
                <a:latin typeface="Consolas" panose="020B0609020204030204" pitchFamily="49" charset="0"/>
              </a:rPr>
              <a:t>mtvec</a:t>
            </a:r>
            <a:r>
              <a:rPr lang="en-GB">
                <a:latin typeface="+mj-lt"/>
              </a:rPr>
              <a:t> to see where to jump</a:t>
            </a:r>
            <a:endParaRPr lang="LID4096">
              <a:latin typeface="+mj-lt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62632C-6344-EEFE-6DBA-0298D0378F0F}"/>
              </a:ext>
            </a:extLst>
          </p:cNvPr>
          <p:cNvSpPr txBox="1"/>
          <p:nvPr/>
        </p:nvSpPr>
        <p:spPr>
          <a:xfrm>
            <a:off x="8773863" y="3885316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SysTick_Handler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ACC3523-14C0-9FDB-534F-367A7BB81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163" y="4271172"/>
            <a:ext cx="2901194" cy="1170047"/>
          </a:xfrm>
          <a:prstGeom prst="rect">
            <a:avLst/>
          </a:pr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52AACA5-2E97-B6D8-3D81-9B9A16AC0812}"/>
              </a:ext>
            </a:extLst>
          </p:cNvPr>
          <p:cNvSpPr/>
          <p:nvPr/>
        </p:nvSpPr>
        <p:spPr>
          <a:xfrm>
            <a:off x="7789178" y="4215406"/>
            <a:ext cx="973123" cy="1166132"/>
          </a:xfrm>
          <a:custGeom>
            <a:avLst/>
            <a:gdLst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132 h 1166132"/>
              <a:gd name="csX1" fmla="*/ 973123 w 973123"/>
              <a:gd name="csY1" fmla="*/ 62 h 116613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73123" h="1166132">
                <a:moveTo>
                  <a:pt x="0" y="1166132"/>
                </a:moveTo>
                <a:cubicBezTo>
                  <a:pt x="399875" y="1142363"/>
                  <a:pt x="409663" y="-9725"/>
                  <a:pt x="973123" y="6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15655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1656</TotalTime>
  <Words>802</Words>
  <Application>Microsoft Office PowerPoint</Application>
  <PresentationFormat>Widescreen</PresentationFormat>
  <Paragraphs>339</Paragraphs>
  <Slides>21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Agency FB</vt:lpstr>
      <vt:lpstr>Aptos</vt:lpstr>
      <vt:lpstr>Aptos Display</vt:lpstr>
      <vt:lpstr>Arial</vt:lpstr>
      <vt:lpstr>Calibri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28</cp:revision>
  <dcterms:created xsi:type="dcterms:W3CDTF">2025-09-03T07:58:20Z</dcterms:created>
  <dcterms:modified xsi:type="dcterms:W3CDTF">2025-12-30T12:27:35Z</dcterms:modified>
</cp:coreProperties>
</file>