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56" r:id="rId3"/>
    <p:sldId id="371" r:id="rId4"/>
    <p:sldId id="372" r:id="rId5"/>
    <p:sldId id="373" r:id="rId6"/>
    <p:sldId id="374" r:id="rId7"/>
    <p:sldId id="270" r:id="rId8"/>
    <p:sldId id="375" r:id="rId9"/>
    <p:sldId id="376" r:id="rId10"/>
    <p:sldId id="377" r:id="rId11"/>
    <p:sldId id="379" r:id="rId12"/>
    <p:sldId id="380" r:id="rId13"/>
    <p:sldId id="378" r:id="rId14"/>
    <p:sldId id="385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  <p:sldId id="396" r:id="rId24"/>
    <p:sldId id="397" r:id="rId25"/>
    <p:sldId id="398" r:id="rId26"/>
    <p:sldId id="399" r:id="rId2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7"/>
            <p14:sldId id="256"/>
            <p14:sldId id="371"/>
            <p14:sldId id="372"/>
            <p14:sldId id="373"/>
            <p14:sldId id="374"/>
            <p14:sldId id="270"/>
            <p14:sldId id="375"/>
            <p14:sldId id="376"/>
            <p14:sldId id="377"/>
            <p14:sldId id="379"/>
            <p14:sldId id="380"/>
            <p14:sldId id="378"/>
            <p14:sldId id="385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69391" autoAdjust="0"/>
  </p:normalViewPr>
  <p:slideViewPr>
    <p:cSldViewPr snapToGrid="0">
      <p:cViewPr varScale="1">
        <p:scale>
          <a:sx n="178" d="100"/>
          <a:sy n="178" d="100"/>
        </p:scale>
        <p:origin x="2334" y="1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0"/>
              <a:t>Lab preparation 2 ligger uppe p</a:t>
            </a:r>
            <a:r>
              <a:rPr lang="sv-SE" i="0"/>
              <a:t>å Canvas. </a:t>
            </a:r>
          </a:p>
          <a:p>
            <a:r>
              <a:rPr lang="sv-SE" i="0"/>
              <a:t>Vår mjuka deadline är på söndag. </a:t>
            </a:r>
          </a:p>
          <a:p>
            <a:r>
              <a:rPr lang="sv-SE" i="0"/>
              <a:t>Se till att ni har bokat ett labbpass i nästa vecka. </a:t>
            </a:r>
          </a:p>
          <a:p>
            <a:endParaRPr lang="sv-SE" i="0"/>
          </a:p>
          <a:p>
            <a:r>
              <a:rPr lang="sv-SE" i="0"/>
              <a:t>Idag skall vi lära oss om mer avancerade typer i C. </a:t>
            </a:r>
          </a:p>
          <a:p>
            <a:r>
              <a:rPr lang="sv-SE" i="0"/>
              <a:t>Framförallt kommer vi lära oss om structures, och hur dom ger oss ett mycket trevligare sätt att arbeta med peripherals. </a:t>
            </a:r>
          </a:p>
          <a:p>
            <a:endParaRPr lang="LID4096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Eller när man är osäker på vilken typ man vill använda och inte vill gå in och ändra på tusen ställen</a:t>
            </a:r>
          </a:p>
          <a:p>
            <a:endParaRPr lang="sv-SE" dirty="0"/>
          </a:p>
          <a:p>
            <a:r>
              <a:rPr lang="sv-SE" dirty="0"/>
              <a:t>Detta skiljer sig från #define, på så vis att kompilatorn känner till vad som har hänt och kan skriva mycket mer hjälpsam debug info. </a:t>
            </a:r>
          </a:p>
          <a:p>
            <a:endParaRPr lang="sv-SE" dirty="0"/>
          </a:p>
          <a:p>
            <a:r>
              <a:rPr lang="sv-SE" dirty="0"/>
              <a:t>Vi kommer se fler användningsområden om en liten stund. 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34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 igenom vad koden gör</a:t>
            </a:r>
          </a:p>
          <a:p>
            <a:r>
              <a:rPr lang="en-GB"/>
              <a:t>&lt;click&gt;</a:t>
            </a:r>
          </a:p>
          <a:p>
            <a:r>
              <a:rPr lang="en-GB"/>
              <a:t>J</a:t>
            </a:r>
            <a:r>
              <a:rPr lang="sv-SE"/>
              <a:t>ämför med klasser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3412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233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6AD3-2931-990B-5DE9-6F38E9C3A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983EE-14A5-69FC-F2C4-5DE01FE23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73D68-9D52-B162-1FEF-346BB6FBE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FB718-D462-5399-876E-2FFC69614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5481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ED868-5FF3-EF67-A041-A8761DBF4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292ED-4670-FF25-E754-76C111A15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93857-0753-9FA1-3FBC-2F775408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693F-55BE-9BD1-4F21-42B36394E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6217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 igenom koden. Någon som ser ett eventuellt problem med den? </a:t>
            </a:r>
          </a:p>
          <a:p>
            <a:endParaRPr lang="sv-SE"/>
          </a:p>
          <a:p>
            <a:r>
              <a:rPr lang="sv-SE"/>
              <a:t>Det här är </a:t>
            </a:r>
            <a:r>
              <a:rPr lang="sv-SE" i="1"/>
              <a:t>oftast</a:t>
            </a:r>
            <a:r>
              <a:rPr lang="sv-SE" i="0"/>
              <a:t> inte vad man vill göra. </a:t>
            </a:r>
            <a:endParaRPr lang="sv-SE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7215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3CEA-ACA8-3365-7828-C6E1C191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C0171-6437-E159-4DD9-2B1E22A57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A631B-AA7C-9F71-495D-9D589544B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Gå igenom koden. Någon som ser ett eventuellt problem med den? 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117C0-8908-8EDC-CD55-FE1485AB9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6C796-BAB8-4B04-BD32-E3AC4AD1DCA6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1444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would work.</a:t>
            </a:r>
          </a:p>
          <a:p>
            <a:r>
              <a:rPr lang="en-GB"/>
              <a:t>Explain how this maps.</a:t>
            </a:r>
          </a:p>
          <a:p>
            <a:r>
              <a:rPr lang="en-GB"/>
              <a:t>But all the registers are 16 bits!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1342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5630-EDF3-FA40-2776-CF4A7BD4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68D58-A1BD-430E-C9FA-A3E9C7886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F2C85-145C-8E8C-7C83-812B33624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Så blir det här bra? </a:t>
            </a:r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5418A-C303-AED0-842C-571A4B0B6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265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CAA3-90EC-2B65-6B7B-167513F8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DE7F6-E9C9-DDDC-5B40-C73F8D929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381CE-5C59-61AA-BE7D-DB136A987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Nu är det rätt.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54802-AEBF-BABC-6D7F-5CDDC27AF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8644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</a:t>
            </a:r>
            <a:r>
              <a:rPr lang="sv-SE"/>
              <a:t>ågot om funktioner som tar en struct istället för metoder.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749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43F1B-5C31-8357-7C5B-028155F6D0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1688" y="1333500"/>
            <a:ext cx="10552112" cy="4702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83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C8C8-25EF-88DC-16E7-E04ABB8AD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6200" y="0"/>
            <a:ext cx="7741920" cy="773430"/>
          </a:xfrm>
          <a:prstGeom prst="rect">
            <a:avLst/>
          </a:prstGeom>
        </p:spPr>
        <p:txBody>
          <a:bodyPr anchor="ctr"/>
          <a:lstStyle>
            <a:lvl1pPr algn="r">
              <a:defRPr sz="3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6048A-1475-BECA-0D5C-B57BA73C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96A6-8AEA-8E00-82FA-0D02CDA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1CFA3-5459-CB23-2E6A-37FD4074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452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02/10/2026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276E-9F85-B144-AA57-AFF07C74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Tråkigt att vänta på att lektionen skall börja?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277A2-55DC-F3EF-D81C-BFD63651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2228682"/>
            <a:ext cx="11965070" cy="240063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E5E4A7-1573-2138-49BD-9210007CA9BB}"/>
              </a:ext>
            </a:extLst>
          </p:cNvPr>
          <p:cNvSpPr/>
          <p:nvPr/>
        </p:nvSpPr>
        <p:spPr>
          <a:xfrm>
            <a:off x="489473" y="3700631"/>
            <a:ext cx="11236362" cy="720762"/>
          </a:xfrm>
          <a:custGeom>
            <a:avLst/>
            <a:gdLst>
              <a:gd name="csX0" fmla="*/ 0 w 11236362"/>
              <a:gd name="csY0" fmla="*/ 120129 h 720762"/>
              <a:gd name="csX1" fmla="*/ 120129 w 11236362"/>
              <a:gd name="csY1" fmla="*/ 0 h 720762"/>
              <a:gd name="csX2" fmla="*/ 1027308 w 11236362"/>
              <a:gd name="csY2" fmla="*/ 0 h 720762"/>
              <a:gd name="csX3" fmla="*/ 1604603 w 11236362"/>
              <a:gd name="csY3" fmla="*/ 0 h 720762"/>
              <a:gd name="csX4" fmla="*/ 2071937 w 11236362"/>
              <a:gd name="csY4" fmla="*/ 0 h 720762"/>
              <a:gd name="csX5" fmla="*/ 2869155 w 11236362"/>
              <a:gd name="csY5" fmla="*/ 0 h 720762"/>
              <a:gd name="csX6" fmla="*/ 3446450 w 11236362"/>
              <a:gd name="csY6" fmla="*/ 0 h 720762"/>
              <a:gd name="csX7" fmla="*/ 4353629 w 11236362"/>
              <a:gd name="csY7" fmla="*/ 0 h 720762"/>
              <a:gd name="csX8" fmla="*/ 4820963 w 11236362"/>
              <a:gd name="csY8" fmla="*/ 0 h 720762"/>
              <a:gd name="csX9" fmla="*/ 5728142 w 11236362"/>
              <a:gd name="csY9" fmla="*/ 0 h 720762"/>
              <a:gd name="csX10" fmla="*/ 6085515 w 11236362"/>
              <a:gd name="csY10" fmla="*/ 0 h 720762"/>
              <a:gd name="csX11" fmla="*/ 6772772 w 11236362"/>
              <a:gd name="csY11" fmla="*/ 0 h 720762"/>
              <a:gd name="csX12" fmla="*/ 7460028 w 11236362"/>
              <a:gd name="csY12" fmla="*/ 0 h 720762"/>
              <a:gd name="csX13" fmla="*/ 8037324 w 11236362"/>
              <a:gd name="csY13" fmla="*/ 0 h 720762"/>
              <a:gd name="csX14" fmla="*/ 8944502 w 11236362"/>
              <a:gd name="csY14" fmla="*/ 0 h 720762"/>
              <a:gd name="csX15" fmla="*/ 9851681 w 11236362"/>
              <a:gd name="csY15" fmla="*/ 0 h 720762"/>
              <a:gd name="csX16" fmla="*/ 10319015 w 11236362"/>
              <a:gd name="csY16" fmla="*/ 0 h 720762"/>
              <a:gd name="csX17" fmla="*/ 11116233 w 11236362"/>
              <a:gd name="csY17" fmla="*/ 0 h 720762"/>
              <a:gd name="csX18" fmla="*/ 11236362 w 11236362"/>
              <a:gd name="csY18" fmla="*/ 120129 h 720762"/>
              <a:gd name="csX19" fmla="*/ 11236362 w 11236362"/>
              <a:gd name="csY19" fmla="*/ 600633 h 720762"/>
              <a:gd name="csX20" fmla="*/ 11116233 w 11236362"/>
              <a:gd name="csY20" fmla="*/ 720762 h 720762"/>
              <a:gd name="csX21" fmla="*/ 10319015 w 11236362"/>
              <a:gd name="csY21" fmla="*/ 720762 h 720762"/>
              <a:gd name="csX22" fmla="*/ 9851681 w 11236362"/>
              <a:gd name="csY22" fmla="*/ 720762 h 720762"/>
              <a:gd name="csX23" fmla="*/ 9164425 w 11236362"/>
              <a:gd name="csY23" fmla="*/ 720762 h 720762"/>
              <a:gd name="csX24" fmla="*/ 8807051 w 11236362"/>
              <a:gd name="csY24" fmla="*/ 720762 h 720762"/>
              <a:gd name="csX25" fmla="*/ 8449678 w 11236362"/>
              <a:gd name="csY25" fmla="*/ 720762 h 720762"/>
              <a:gd name="csX26" fmla="*/ 7762421 w 11236362"/>
              <a:gd name="csY26" fmla="*/ 720762 h 720762"/>
              <a:gd name="csX27" fmla="*/ 7295087 w 11236362"/>
              <a:gd name="csY27" fmla="*/ 720762 h 720762"/>
              <a:gd name="csX28" fmla="*/ 6497869 w 11236362"/>
              <a:gd name="csY28" fmla="*/ 720762 h 720762"/>
              <a:gd name="csX29" fmla="*/ 6030535 w 11236362"/>
              <a:gd name="csY29" fmla="*/ 720762 h 720762"/>
              <a:gd name="csX30" fmla="*/ 5233317 w 11236362"/>
              <a:gd name="csY30" fmla="*/ 720762 h 720762"/>
              <a:gd name="csX31" fmla="*/ 4875944 w 11236362"/>
              <a:gd name="csY31" fmla="*/ 720762 h 720762"/>
              <a:gd name="csX32" fmla="*/ 4078726 w 11236362"/>
              <a:gd name="csY32" fmla="*/ 720762 h 720762"/>
              <a:gd name="csX33" fmla="*/ 3611392 w 11236362"/>
              <a:gd name="csY33" fmla="*/ 720762 h 720762"/>
              <a:gd name="csX34" fmla="*/ 3254019 w 11236362"/>
              <a:gd name="csY34" fmla="*/ 720762 h 720762"/>
              <a:gd name="csX35" fmla="*/ 2786684 w 11236362"/>
              <a:gd name="csY35" fmla="*/ 720762 h 720762"/>
              <a:gd name="csX36" fmla="*/ 1989467 w 11236362"/>
              <a:gd name="csY36" fmla="*/ 720762 h 720762"/>
              <a:gd name="csX37" fmla="*/ 1522132 w 11236362"/>
              <a:gd name="csY37" fmla="*/ 720762 h 720762"/>
              <a:gd name="csX38" fmla="*/ 1164759 w 11236362"/>
              <a:gd name="csY38" fmla="*/ 720762 h 720762"/>
              <a:gd name="csX39" fmla="*/ 120129 w 11236362"/>
              <a:gd name="csY39" fmla="*/ 720762 h 720762"/>
              <a:gd name="csX40" fmla="*/ 0 w 11236362"/>
              <a:gd name="csY40" fmla="*/ 600633 h 720762"/>
              <a:gd name="csX41" fmla="*/ 0 w 11236362"/>
              <a:gd name="csY41" fmla="*/ 120129 h 720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1236362" h="720762" extrusionOk="0">
                <a:moveTo>
                  <a:pt x="0" y="120129"/>
                </a:moveTo>
                <a:cubicBezTo>
                  <a:pt x="-12297" y="46199"/>
                  <a:pt x="42381" y="4280"/>
                  <a:pt x="120129" y="0"/>
                </a:cubicBezTo>
                <a:cubicBezTo>
                  <a:pt x="360653" y="18518"/>
                  <a:pt x="843036" y="-42653"/>
                  <a:pt x="1027308" y="0"/>
                </a:cubicBezTo>
                <a:cubicBezTo>
                  <a:pt x="1211580" y="42653"/>
                  <a:pt x="1415798" y="16005"/>
                  <a:pt x="1604603" y="0"/>
                </a:cubicBezTo>
                <a:cubicBezTo>
                  <a:pt x="1793409" y="-16005"/>
                  <a:pt x="1872792" y="794"/>
                  <a:pt x="2071937" y="0"/>
                </a:cubicBezTo>
                <a:cubicBezTo>
                  <a:pt x="2271082" y="-794"/>
                  <a:pt x="2484661" y="7247"/>
                  <a:pt x="2869155" y="0"/>
                </a:cubicBezTo>
                <a:cubicBezTo>
                  <a:pt x="3253649" y="-7247"/>
                  <a:pt x="3290875" y="-3974"/>
                  <a:pt x="3446450" y="0"/>
                </a:cubicBezTo>
                <a:cubicBezTo>
                  <a:pt x="3602025" y="3974"/>
                  <a:pt x="4106828" y="2496"/>
                  <a:pt x="4353629" y="0"/>
                </a:cubicBezTo>
                <a:cubicBezTo>
                  <a:pt x="4600430" y="-2496"/>
                  <a:pt x="4712209" y="3885"/>
                  <a:pt x="4820963" y="0"/>
                </a:cubicBezTo>
                <a:cubicBezTo>
                  <a:pt x="4929717" y="-3885"/>
                  <a:pt x="5324798" y="-12099"/>
                  <a:pt x="5728142" y="0"/>
                </a:cubicBezTo>
                <a:cubicBezTo>
                  <a:pt x="6131486" y="12099"/>
                  <a:pt x="5965988" y="8470"/>
                  <a:pt x="6085515" y="0"/>
                </a:cubicBezTo>
                <a:cubicBezTo>
                  <a:pt x="6205042" y="-8470"/>
                  <a:pt x="6493833" y="29736"/>
                  <a:pt x="6772772" y="0"/>
                </a:cubicBezTo>
                <a:cubicBezTo>
                  <a:pt x="7051711" y="-29736"/>
                  <a:pt x="7313427" y="8275"/>
                  <a:pt x="7460028" y="0"/>
                </a:cubicBezTo>
                <a:cubicBezTo>
                  <a:pt x="7606629" y="-8275"/>
                  <a:pt x="7908783" y="-3880"/>
                  <a:pt x="8037324" y="0"/>
                </a:cubicBezTo>
                <a:cubicBezTo>
                  <a:pt x="8165865" y="3880"/>
                  <a:pt x="8713910" y="-28367"/>
                  <a:pt x="8944502" y="0"/>
                </a:cubicBezTo>
                <a:cubicBezTo>
                  <a:pt x="9175094" y="28367"/>
                  <a:pt x="9582067" y="-39337"/>
                  <a:pt x="9851681" y="0"/>
                </a:cubicBezTo>
                <a:cubicBezTo>
                  <a:pt x="10121295" y="39337"/>
                  <a:pt x="10111807" y="-4033"/>
                  <a:pt x="10319015" y="0"/>
                </a:cubicBezTo>
                <a:cubicBezTo>
                  <a:pt x="10526223" y="4033"/>
                  <a:pt x="10791082" y="-32762"/>
                  <a:pt x="11116233" y="0"/>
                </a:cubicBezTo>
                <a:cubicBezTo>
                  <a:pt x="11176094" y="-13218"/>
                  <a:pt x="11236726" y="48859"/>
                  <a:pt x="11236362" y="120129"/>
                </a:cubicBezTo>
                <a:cubicBezTo>
                  <a:pt x="11248802" y="267189"/>
                  <a:pt x="11219158" y="496395"/>
                  <a:pt x="11236362" y="600633"/>
                </a:cubicBezTo>
                <a:cubicBezTo>
                  <a:pt x="11224389" y="667471"/>
                  <a:pt x="11186081" y="714447"/>
                  <a:pt x="11116233" y="720762"/>
                </a:cubicBezTo>
                <a:cubicBezTo>
                  <a:pt x="10814959" y="731314"/>
                  <a:pt x="10478490" y="735716"/>
                  <a:pt x="10319015" y="720762"/>
                </a:cubicBezTo>
                <a:cubicBezTo>
                  <a:pt x="10159540" y="705808"/>
                  <a:pt x="10001408" y="712113"/>
                  <a:pt x="9851681" y="720762"/>
                </a:cubicBezTo>
                <a:cubicBezTo>
                  <a:pt x="9701954" y="729411"/>
                  <a:pt x="9451742" y="735844"/>
                  <a:pt x="9164425" y="720762"/>
                </a:cubicBezTo>
                <a:cubicBezTo>
                  <a:pt x="8877108" y="705680"/>
                  <a:pt x="8909206" y="720333"/>
                  <a:pt x="8807051" y="720762"/>
                </a:cubicBezTo>
                <a:cubicBezTo>
                  <a:pt x="8704896" y="721191"/>
                  <a:pt x="8611461" y="736980"/>
                  <a:pt x="8449678" y="720762"/>
                </a:cubicBezTo>
                <a:cubicBezTo>
                  <a:pt x="8287895" y="704544"/>
                  <a:pt x="8012623" y="741560"/>
                  <a:pt x="7762421" y="720762"/>
                </a:cubicBezTo>
                <a:cubicBezTo>
                  <a:pt x="7512219" y="699964"/>
                  <a:pt x="7421464" y="699616"/>
                  <a:pt x="7295087" y="720762"/>
                </a:cubicBezTo>
                <a:cubicBezTo>
                  <a:pt x="7168710" y="741908"/>
                  <a:pt x="6663445" y="716263"/>
                  <a:pt x="6497869" y="720762"/>
                </a:cubicBezTo>
                <a:cubicBezTo>
                  <a:pt x="6332293" y="725261"/>
                  <a:pt x="6261192" y="727329"/>
                  <a:pt x="6030535" y="720762"/>
                </a:cubicBezTo>
                <a:cubicBezTo>
                  <a:pt x="5799878" y="714195"/>
                  <a:pt x="5398071" y="745167"/>
                  <a:pt x="5233317" y="720762"/>
                </a:cubicBezTo>
                <a:cubicBezTo>
                  <a:pt x="5068563" y="696357"/>
                  <a:pt x="4987264" y="734381"/>
                  <a:pt x="4875944" y="720762"/>
                </a:cubicBezTo>
                <a:cubicBezTo>
                  <a:pt x="4764624" y="707143"/>
                  <a:pt x="4276045" y="692846"/>
                  <a:pt x="4078726" y="720762"/>
                </a:cubicBezTo>
                <a:cubicBezTo>
                  <a:pt x="3881407" y="748678"/>
                  <a:pt x="3784433" y="733359"/>
                  <a:pt x="3611392" y="720762"/>
                </a:cubicBezTo>
                <a:cubicBezTo>
                  <a:pt x="3438351" y="708165"/>
                  <a:pt x="3386343" y="709318"/>
                  <a:pt x="3254019" y="720762"/>
                </a:cubicBezTo>
                <a:cubicBezTo>
                  <a:pt x="3121695" y="732206"/>
                  <a:pt x="3019307" y="711358"/>
                  <a:pt x="2786684" y="720762"/>
                </a:cubicBezTo>
                <a:cubicBezTo>
                  <a:pt x="2554062" y="730166"/>
                  <a:pt x="2253431" y="752546"/>
                  <a:pt x="1989467" y="720762"/>
                </a:cubicBezTo>
                <a:cubicBezTo>
                  <a:pt x="1725503" y="688978"/>
                  <a:pt x="1715815" y="709752"/>
                  <a:pt x="1522132" y="720762"/>
                </a:cubicBezTo>
                <a:cubicBezTo>
                  <a:pt x="1328450" y="731772"/>
                  <a:pt x="1257813" y="724636"/>
                  <a:pt x="1164759" y="720762"/>
                </a:cubicBezTo>
                <a:cubicBezTo>
                  <a:pt x="1071705" y="716888"/>
                  <a:pt x="371999" y="719237"/>
                  <a:pt x="120129" y="720762"/>
                </a:cubicBezTo>
                <a:cubicBezTo>
                  <a:pt x="57493" y="729828"/>
                  <a:pt x="3497" y="670438"/>
                  <a:pt x="0" y="600633"/>
                </a:cubicBezTo>
                <a:cubicBezTo>
                  <a:pt x="16248" y="453011"/>
                  <a:pt x="-10846" y="241063"/>
                  <a:pt x="0" y="120129"/>
                </a:cubicBezTo>
                <a:close/>
              </a:path>
            </a:pathLst>
          </a:custGeom>
          <a:noFill/>
          <a:ln w="25400">
            <a:solidFill>
              <a:srgbClr val="FFFF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7B0DA-0741-E469-10A5-453BED525034}"/>
              </a:ext>
            </a:extLst>
          </p:cNvPr>
          <p:cNvSpPr txBox="1"/>
          <p:nvPr/>
        </p:nvSpPr>
        <p:spPr>
          <a:xfrm rot="19595072">
            <a:off x="5993423" y="3977783"/>
            <a:ext cx="308956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Tar 3 </a:t>
            </a:r>
            <a:r>
              <a:rPr lang="en-US" dirty="0" err="1"/>
              <a:t>Minuter</a:t>
            </a:r>
            <a:r>
              <a:rPr lang="en-US" dirty="0"/>
              <a:t>, Pretty Please!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8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7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Sammansatta Datatyper</a:t>
            </a:r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41CF-5B97-9F22-FA32-09BC4F85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typedef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F89116-9988-A646-E48B-4E6213238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3200"/>
              <a:t>Sätt eget namn på existerande type med </a:t>
            </a:r>
            <a:r>
              <a:rPr lang="sv-SE" sz="3200">
                <a:latin typeface="Consolas" panose="020B0609020204030204" pitchFamily="49" charset="0"/>
              </a:rPr>
              <a:t>typedef</a:t>
            </a:r>
          </a:p>
          <a:p>
            <a:pPr marL="0" indent="0">
              <a:buNone/>
            </a:pPr>
            <a:br>
              <a:rPr lang="sv-SE" sz="1600">
                <a:latin typeface="Consolas" panose="020B0609020204030204" pitchFamily="49" charset="0"/>
              </a:rPr>
            </a:br>
            <a:r>
              <a:rPr lang="sv-SE" sz="1600">
                <a:latin typeface="Consolas" panose="020B0609020204030204" pitchFamily="49" charset="0"/>
              </a:rPr>
              <a:t>typedef </a:t>
            </a:r>
            <a:r>
              <a:rPr lang="sv-SE" sz="16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&lt;existing type&gt; </a:t>
            </a:r>
            <a:r>
              <a:rPr lang="sv-SE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&lt;name of alias&gt;;</a:t>
            </a:r>
          </a:p>
          <a:p>
            <a:pPr marL="0" indent="0">
              <a:buNone/>
            </a:pPr>
            <a:endParaRPr lang="sv-SE" sz="1800"/>
          </a:p>
          <a:p>
            <a:pPr marL="0" indent="0">
              <a:buNone/>
            </a:pPr>
            <a:r>
              <a:rPr lang="sv-SE" sz="1800"/>
              <a:t>Vi har redan nämnt att typedef används i stdint.h för att ge </a:t>
            </a:r>
            <a:br>
              <a:rPr lang="sv-SE" sz="1800"/>
            </a:br>
            <a:r>
              <a:rPr lang="sv-SE" sz="1800"/>
              <a:t>lättlästare alias åt integer typer: 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unsigned char</a:t>
            </a:r>
            <a:r>
              <a:rPr lang="sv-SE" sz="1800">
                <a:latin typeface="Consolas" panose="020B0609020204030204" pitchFamily="49" charset="0"/>
              </a:rPr>
              <a:t> 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uint8_t;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signed char   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int8_t;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unsigned short</a:t>
            </a:r>
            <a:r>
              <a:rPr lang="sv-SE" sz="1800">
                <a:latin typeface="Consolas" panose="020B0609020204030204" pitchFamily="49" charset="0"/>
              </a:rPr>
              <a:t>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uint16_t;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signed short  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int16_t;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unsigned int  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uint32_t;</a:t>
            </a:r>
          </a:p>
          <a:p>
            <a:pPr marL="0" indent="0">
              <a:buNone/>
            </a:pPr>
            <a:r>
              <a:rPr lang="sv-SE" sz="1800">
                <a:latin typeface="Consolas" panose="020B0609020204030204" pitchFamily="49" charset="0"/>
              </a:rPr>
              <a:t>typedef </a:t>
            </a:r>
            <a:r>
              <a:rPr lang="sv-SE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signed int     </a:t>
            </a:r>
            <a:r>
              <a:rPr lang="sv-SE" sz="1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int32_t;</a:t>
            </a:r>
          </a:p>
          <a:p>
            <a:pPr marL="0" indent="0">
              <a:buNone/>
            </a:pPr>
            <a:endParaRPr lang="sv-SE" sz="180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v-SE" sz="180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v-SE" sz="160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CB2DB-75C9-0CFC-EF73-837A25DD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AF945-DD24-11E1-AE0E-B8529FEF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A939A-F711-501B-3439-83D5C281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3</a:t>
            </a:fld>
            <a:endParaRPr lang="LID4096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AA89B5C-E93E-BC1A-D4A9-80BBDF79A5FD}"/>
              </a:ext>
            </a:extLst>
          </p:cNvPr>
          <p:cNvSpPr txBox="1">
            <a:spLocks/>
          </p:cNvSpPr>
          <p:nvPr/>
        </p:nvSpPr>
        <p:spPr>
          <a:xfrm>
            <a:off x="6625360" y="3592063"/>
            <a:ext cx="5078222" cy="306908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800"/>
              <a:t>Kan också användas för att anpassa koden: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sv-SE" sz="1800"/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800">
                <a:latin typeface="Consolas" panose="020B0609020204030204" pitchFamily="49" charset="0"/>
              </a:rPr>
              <a:t>#ifdef REALLY_GOOD_PRECISION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800">
                <a:latin typeface="Consolas" panose="020B0609020204030204" pitchFamily="49" charset="0"/>
              </a:rPr>
              <a:t>typedef double HighPrecisionFloat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800">
                <a:latin typeface="Consolas" panose="020B0609020204030204" pitchFamily="49" charset="0"/>
              </a:rPr>
              <a:t>#else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800">
                <a:latin typeface="Consolas" panose="020B0609020204030204" pitchFamily="49" charset="0"/>
              </a:rPr>
              <a:t>typedef float HighPrecisionFloat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800">
                <a:latin typeface="Consolas" panose="020B0609020204030204" pitchFamily="49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35677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99CB-8678-35ED-A391-1723DCF6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Structures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AD439F-BDE3-56A0-4D2F-8F4CB4682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sv-SE" sz="1600">
                <a:latin typeface="Consolas" panose="020B0609020204030204" pitchFamily="49" charset="0"/>
              </a:rPr>
            </a:br>
            <a:r>
              <a:rPr lang="sv-SE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sv-SE" sz="1600">
                <a:latin typeface="Consolas" panose="020B0609020204030204" pitchFamily="49" charset="0"/>
              </a:rPr>
              <a:t> Player </a:t>
            </a:r>
            <a:r>
              <a:rPr lang="en-GB" sz="16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GB" sz="1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GB" sz="1600"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en-GB" sz="1600">
                <a:latin typeface="Consolas" panose="020B0609020204030204" pitchFamily="49" charset="0"/>
              </a:rPr>
              <a:t> Player player_one; 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  player_one.score = 0; 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  player_one.health = 100;</a:t>
            </a:r>
          </a:p>
          <a:p>
            <a:pPr marL="0" indent="0">
              <a:buNone/>
            </a:pPr>
            <a:r>
              <a:rPr lang="en-GB" sz="1600">
                <a:latin typeface="Consolas" panose="020B0609020204030204" pitchFamily="49" charset="0"/>
              </a:rPr>
              <a:t>}</a:t>
            </a:r>
            <a:endParaRPr lang="LID4096" sz="1600"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3F354-E670-922B-FABD-790E22EE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38C64-79A6-76FA-718F-097800EC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37B51-BB72-E239-DB3B-0D2C0297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4</a:t>
            </a:fld>
            <a:endParaRPr lang="LID4096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AABF43D-0901-BA05-2A9A-06FDD58F0191}"/>
              </a:ext>
            </a:extLst>
          </p:cNvPr>
          <p:cNvSpPr txBox="1">
            <a:spLocks/>
          </p:cNvSpPr>
          <p:nvPr/>
        </p:nvSpPr>
        <p:spPr>
          <a:xfrm>
            <a:off x="6115844" y="1333501"/>
            <a:ext cx="4989512" cy="413925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Liknar </a:t>
            </a:r>
            <a:r>
              <a:rPr lang="en-GB" sz="2400" i="1"/>
              <a:t>klasser</a:t>
            </a:r>
            <a:r>
              <a:rPr lang="en-GB" sz="2400"/>
              <a:t> i Java? Men inte samma sak: </a:t>
            </a:r>
          </a:p>
          <a:p>
            <a:pPr lvl="1"/>
            <a:r>
              <a:rPr lang="en-GB" sz="2000"/>
              <a:t>Structures har </a:t>
            </a:r>
            <a:r>
              <a:rPr lang="en-GB" sz="2000" i="1"/>
              <a:t>inga metoder</a:t>
            </a:r>
          </a:p>
          <a:p>
            <a:pPr lvl="1"/>
            <a:r>
              <a:rPr lang="en-GB" sz="2000"/>
              <a:t>Inga </a:t>
            </a:r>
            <a:r>
              <a:rPr lang="en-GB" sz="2000" i="1"/>
              <a:t>konstruktorer </a:t>
            </a:r>
            <a:r>
              <a:rPr lang="en-GB" sz="2000"/>
              <a:t>eller </a:t>
            </a:r>
            <a:r>
              <a:rPr lang="en-GB" sz="2000" i="1"/>
              <a:t>destruktorer</a:t>
            </a:r>
          </a:p>
          <a:p>
            <a:pPr lvl="1"/>
            <a:r>
              <a:rPr lang="en-GB" sz="2000"/>
              <a:t>Inga </a:t>
            </a:r>
            <a:r>
              <a:rPr lang="en-GB" sz="2000" i="1"/>
              <a:t>public, private, </a:t>
            </a:r>
            <a:r>
              <a:rPr lang="en-GB" sz="2000"/>
              <a:t>o.s.v.</a:t>
            </a:r>
          </a:p>
          <a:p>
            <a:pPr lvl="1"/>
            <a:r>
              <a:rPr lang="en-GB" sz="2000"/>
              <a:t>Absolut ingen </a:t>
            </a:r>
            <a:r>
              <a:rPr lang="en-GB" sz="2000" i="1"/>
              <a:t>inheritance</a:t>
            </a:r>
          </a:p>
          <a:p>
            <a:r>
              <a:rPr lang="en-GB" sz="2400"/>
              <a:t>Structures </a:t>
            </a:r>
            <a:r>
              <a:rPr lang="sv-SE" sz="2400"/>
              <a:t>är bara en sammansättning av existerande datatyper</a:t>
            </a:r>
          </a:p>
          <a:p>
            <a:r>
              <a:rPr lang="sv-SE" sz="2400"/>
              <a:t>Vi vet exakt hur dom mappar till minnet.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01425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5B7CAA-3E39-2389-4AE3-84B9838E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Structures - Syntax</a:t>
            </a:r>
            <a:endParaRPr lang="LID4096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372426-AA00-E658-E066-24D11000E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276" y="1325319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endParaRPr lang="sv-SE"/>
          </a:p>
          <a:p>
            <a:pPr marL="0" indent="0">
              <a:buNone/>
            </a:pPr>
            <a: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sv-SE" sz="1200">
                <a:latin typeface="Consolas" panose="020B0609020204030204" pitchFamily="49" charset="0"/>
              </a:rPr>
              <a:t> Player </a:t>
            </a: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 player_one, player_two;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en-GB" sz="1200">
                <a:latin typeface="Consolas" panose="020B0609020204030204" pitchFamily="49" charset="0"/>
              </a:rPr>
              <a:t> Player player_three; </a:t>
            </a:r>
          </a:p>
          <a:p>
            <a:pPr marL="0" indent="0">
              <a:buNone/>
            </a:pP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6EF49A-93E3-8D35-6FD5-4ADCE1CE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C2D56-5A15-2746-B3AB-68EAFA36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87A96-896B-5BCA-0754-CCE600C5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5</a:t>
            </a:fld>
            <a:endParaRPr lang="LID4096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0C034-B6CC-3833-35AD-14FDFF127F55}"/>
              </a:ext>
            </a:extLst>
          </p:cNvPr>
          <p:cNvGrpSpPr/>
          <p:nvPr/>
        </p:nvGrpSpPr>
        <p:grpSpPr>
          <a:xfrm>
            <a:off x="1433015" y="2006220"/>
            <a:ext cx="2824346" cy="564108"/>
            <a:chOff x="1433015" y="2006220"/>
            <a:chExt cx="2824346" cy="56410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724534-5CE7-68C0-8D72-0D30A1501354}"/>
                </a:ext>
              </a:extLst>
            </p:cNvPr>
            <p:cNvSpPr txBox="1"/>
            <p:nvPr/>
          </p:nvSpPr>
          <p:spPr>
            <a:xfrm>
              <a:off x="2615821" y="2006220"/>
              <a:ext cx="164154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/>
                <a:t>structens namn</a:t>
              </a:r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61E92F-7CAB-5B07-57AB-CFA961E5C8D6}"/>
                </a:ext>
              </a:extLst>
            </p:cNvPr>
            <p:cNvSpPr/>
            <p:nvPr/>
          </p:nvSpPr>
          <p:spPr>
            <a:xfrm>
              <a:off x="1433015" y="2379260"/>
              <a:ext cx="586855" cy="1910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A5042E7-1E26-8238-6343-3318E092004B}"/>
                </a:ext>
              </a:extLst>
            </p:cNvPr>
            <p:cNvCxnSpPr>
              <a:cxnSpLocks/>
              <a:stCxn id="7" idx="1"/>
              <a:endCxn id="9" idx="0"/>
            </p:cNvCxnSpPr>
            <p:nvPr/>
          </p:nvCxnSpPr>
          <p:spPr>
            <a:xfrm flipH="1">
              <a:off x="1726443" y="2190886"/>
              <a:ext cx="889378" cy="1883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3B060A-99A8-072D-61F9-2D666749CDB1}"/>
              </a:ext>
            </a:extLst>
          </p:cNvPr>
          <p:cNvGrpSpPr/>
          <p:nvPr/>
        </p:nvGrpSpPr>
        <p:grpSpPr>
          <a:xfrm>
            <a:off x="1012209" y="3256130"/>
            <a:ext cx="4093397" cy="891189"/>
            <a:chOff x="-696036" y="2115404"/>
            <a:chExt cx="4093397" cy="89118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CF22DD-3BF9-E8AC-AC8A-29B71F4DE3A6}"/>
                </a:ext>
              </a:extLst>
            </p:cNvPr>
            <p:cNvSpPr txBox="1"/>
            <p:nvPr/>
          </p:nvSpPr>
          <p:spPr>
            <a:xfrm>
              <a:off x="1700871" y="2360262"/>
              <a:ext cx="169649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/>
                <a:t>två instanser av </a:t>
              </a:r>
            </a:p>
            <a:p>
              <a:r>
                <a:rPr lang="sv-SE"/>
                <a:t>struct Player</a:t>
              </a:r>
              <a:endParaRPr lang="LID409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5E34C4F-9C20-EB60-E134-D884AD7A3AC6}"/>
                </a:ext>
              </a:extLst>
            </p:cNvPr>
            <p:cNvSpPr/>
            <p:nvPr/>
          </p:nvSpPr>
          <p:spPr>
            <a:xfrm>
              <a:off x="-696036" y="2115404"/>
              <a:ext cx="907576" cy="1910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925183B-C5C4-D785-1848-3AFA32AE4C8A}"/>
                </a:ext>
              </a:extLst>
            </p:cNvPr>
            <p:cNvCxnSpPr>
              <a:cxnSpLocks/>
              <a:stCxn id="15" idx="1"/>
              <a:endCxn id="16" idx="2"/>
            </p:cNvCxnSpPr>
            <p:nvPr/>
          </p:nvCxnSpPr>
          <p:spPr>
            <a:xfrm flipH="1" flipV="1">
              <a:off x="-242248" y="2306472"/>
              <a:ext cx="1943119" cy="3769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37C72B-1A52-2EEE-4056-56EFC69D4E60}"/>
                </a:ext>
              </a:extLst>
            </p:cNvPr>
            <p:cNvSpPr/>
            <p:nvPr/>
          </p:nvSpPr>
          <p:spPr>
            <a:xfrm>
              <a:off x="311625" y="2119112"/>
              <a:ext cx="907576" cy="1910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B1B1982-C46E-E3DF-E1FD-E9205729AD79}"/>
                </a:ext>
              </a:extLst>
            </p:cNvPr>
            <p:cNvCxnSpPr>
              <a:cxnSpLocks/>
              <a:stCxn id="15" idx="1"/>
              <a:endCxn id="22" idx="2"/>
            </p:cNvCxnSpPr>
            <p:nvPr/>
          </p:nvCxnSpPr>
          <p:spPr>
            <a:xfrm flipH="1" flipV="1">
              <a:off x="765413" y="2310180"/>
              <a:ext cx="935458" cy="3732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3D3CAB-F87D-0BDC-9005-D4085E45886E}"/>
              </a:ext>
            </a:extLst>
          </p:cNvPr>
          <p:cNvGrpSpPr/>
          <p:nvPr/>
        </p:nvGrpSpPr>
        <p:grpSpPr>
          <a:xfrm>
            <a:off x="838200" y="3820445"/>
            <a:ext cx="4017819" cy="1713212"/>
            <a:chOff x="-999028" y="1171523"/>
            <a:chExt cx="4017819" cy="171321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D6331F5-2DE9-23E1-707F-4038CAB688ED}"/>
                </a:ext>
              </a:extLst>
            </p:cNvPr>
            <p:cNvSpPr txBox="1"/>
            <p:nvPr/>
          </p:nvSpPr>
          <p:spPr>
            <a:xfrm>
              <a:off x="-838355" y="1961405"/>
              <a:ext cx="3857146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sv-SE"/>
                <a:t>En ny instans måste deklareras</a:t>
              </a:r>
            </a:p>
            <a:p>
              <a:r>
                <a:rPr lang="sv-SE"/>
                <a:t>som: </a:t>
              </a:r>
            </a:p>
            <a:p>
              <a:r>
                <a:rPr lang="sv-SE">
                  <a:latin typeface="Consolas" panose="020B0609020204030204" pitchFamily="49" charset="0"/>
                </a:rPr>
                <a:t>struct </a:t>
              </a:r>
              <a:r>
                <a:rPr lang="en-GB">
                  <a:latin typeface="Consolas" panose="020B0609020204030204" pitchFamily="49" charset="0"/>
                </a:rPr>
                <a:t>&lt;name&gt; &lt;instance name&gt;</a:t>
              </a:r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D4680B-380E-8F55-653F-4DF01B930489}"/>
                </a:ext>
              </a:extLst>
            </p:cNvPr>
            <p:cNvSpPr/>
            <p:nvPr/>
          </p:nvSpPr>
          <p:spPr>
            <a:xfrm>
              <a:off x="-999028" y="1171523"/>
              <a:ext cx="2246194" cy="2329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8740689-56D3-F8AD-2E45-DD3D60A7909C}"/>
                </a:ext>
              </a:extLst>
            </p:cNvPr>
            <p:cNvCxnSpPr>
              <a:cxnSpLocks/>
              <a:stCxn id="29" idx="0"/>
              <a:endCxn id="30" idx="2"/>
            </p:cNvCxnSpPr>
            <p:nvPr/>
          </p:nvCxnSpPr>
          <p:spPr>
            <a:xfrm flipH="1" flipV="1">
              <a:off x="124069" y="1404462"/>
              <a:ext cx="966149" cy="5569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58A0C93A-38A5-EB45-759F-6B9FD12841B9}"/>
              </a:ext>
            </a:extLst>
          </p:cNvPr>
          <p:cNvSpPr txBox="1">
            <a:spLocks/>
          </p:cNvSpPr>
          <p:nvPr/>
        </p:nvSpPr>
        <p:spPr>
          <a:xfrm>
            <a:off x="5223249" y="1324343"/>
            <a:ext cx="2806184" cy="376627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2400" b="1" dirty="0">
                <a:latin typeface="+mj-lt"/>
              </a:rPr>
              <a:t>Namnlös struct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200" b="1" dirty="0">
                <a:latin typeface="+mj-lt"/>
              </a:rPr>
              <a:t>Vi kan skapa instanser av en strukt utan att ange struktens namn. Användbart när den bara behövs på ett ställe. 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sv-SE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struct</a:t>
            </a:r>
            <a:r>
              <a:rPr lang="sv-SE" sz="1200" dirty="0">
                <a:latin typeface="Consolas" panose="020B0609020204030204" pitchFamily="49" charset="0"/>
              </a:rPr>
              <a:t> </a:t>
            </a:r>
            <a:r>
              <a:rPr lang="en-GB" sz="12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 dirty="0">
                <a:latin typeface="Consolas" panose="020B0609020204030204" pitchFamily="49" charset="0"/>
              </a:rPr>
              <a:t> score;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 dirty="0">
                <a:latin typeface="Consolas" panose="020B0609020204030204" pitchFamily="49" charset="0"/>
              </a:rPr>
              <a:t> health;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} </a:t>
            </a:r>
            <a:r>
              <a:rPr lang="en-GB" sz="1200" dirty="0" err="1">
                <a:latin typeface="Consolas" panose="020B0609020204030204" pitchFamily="49" charset="0"/>
              </a:rPr>
              <a:t>player_one</a:t>
            </a:r>
            <a:r>
              <a:rPr lang="en-GB" sz="1200" dirty="0">
                <a:latin typeface="Consolas" panose="020B0609020204030204" pitchFamily="49" charset="0"/>
              </a:rPr>
              <a:t>, </a:t>
            </a:r>
            <a:r>
              <a:rPr lang="en-GB" sz="1200" dirty="0" err="1">
                <a:latin typeface="Consolas" panose="020B0609020204030204" pitchFamily="49" charset="0"/>
              </a:rPr>
              <a:t>player_two</a:t>
            </a:r>
            <a:r>
              <a:rPr lang="en-GB" sz="1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void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  </a:t>
            </a:r>
            <a:r>
              <a:rPr lang="en-GB" sz="1200" dirty="0" err="1">
                <a:latin typeface="Consolas" panose="020B0609020204030204" pitchFamily="49" charset="0"/>
              </a:rPr>
              <a:t>player_one.health</a:t>
            </a:r>
            <a:r>
              <a:rPr lang="en-GB" sz="1200" dirty="0">
                <a:latin typeface="Consolas" panose="020B0609020204030204" pitchFamily="49" charset="0"/>
              </a:rPr>
              <a:t> = 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sv-SE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8C0648D5-35A7-59B8-0F5D-3470EEAC0D50}"/>
              </a:ext>
            </a:extLst>
          </p:cNvPr>
          <p:cNvSpPr txBox="1">
            <a:spLocks/>
          </p:cNvSpPr>
          <p:nvPr/>
        </p:nvSpPr>
        <p:spPr>
          <a:xfrm>
            <a:off x="8274454" y="1579160"/>
            <a:ext cx="3626393" cy="460327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2400" b="1">
                <a:latin typeface="+mj-lt"/>
              </a:rPr>
              <a:t>Namnlös struct med alias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v-SE" sz="1200" b="1">
                <a:latin typeface="+mj-lt"/>
              </a:rPr>
              <a:t>Vi kan använda typedef för att ge ett alias till en namnlös struct, för att få en syntax vi är mer vana vid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200">
                <a:latin typeface="Consolas" panose="020B0609020204030204" pitchFamily="49" charset="0"/>
              </a:rPr>
              <a:t> </a:t>
            </a: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score;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} Player;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void main()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  Player player_one;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  player_one.health = 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544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720BB2-3DA6-C2EA-A7EA-F9B026FA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Structures - Initialisering</a:t>
            </a:r>
            <a:endParaRPr lang="LID4096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0DBFD4-4ECB-FD93-0D8D-C3DD3BC8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200">
                <a:latin typeface="Consolas" panose="020B0609020204030204" pitchFamily="49" charset="0"/>
              </a:rPr>
              <a:t> </a:t>
            </a: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 Player;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Player player_one;    // Initialiseras till 0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                    // (hela uninitialized data arean)</a:t>
            </a:r>
            <a:endParaRPr lang="en-GB" sz="120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en-GB" sz="1200">
                <a:latin typeface="Consolas" panose="020B0609020204030204" pitchFamily="49" charset="0"/>
              </a:rPr>
              <a:t>main() 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Player player_two;                   // Initialiseras </a:t>
            </a:r>
            <a:r>
              <a:rPr lang="en-GB" sz="1200" i="1">
                <a:latin typeface="Consolas" panose="020B0609020204030204" pitchFamily="49" charset="0"/>
              </a:rPr>
              <a:t>inte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Player player_three = {0, 100};      // score 0, health 100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Player player_four = {5};            // score 5, health 0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Player player_five = {};             // score 0, health 0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Player player_six = {.health = 57}; // score 0, health 57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FD628-3C14-4A2C-88F1-10C81C7C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7E34D-FD32-9383-F852-18B8982D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C729D-B301-D24D-7B72-7A23C6B4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429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C6476B-9468-981C-6026-3BF4D1B3AA6A}"/>
              </a:ext>
            </a:extLst>
          </p:cNvPr>
          <p:cNvCxnSpPr/>
          <p:nvPr/>
        </p:nvCxnSpPr>
        <p:spPr>
          <a:xfrm>
            <a:off x="9629486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72F0D-54A4-9619-D6C0-F792CFA75DF4}"/>
              </a:ext>
            </a:extLst>
          </p:cNvPr>
          <p:cNvCxnSpPr/>
          <p:nvPr/>
        </p:nvCxnSpPr>
        <p:spPr>
          <a:xfrm>
            <a:off x="9692841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52DAA16-B176-34E7-4AAC-3FC5FB383875}"/>
              </a:ext>
            </a:extLst>
          </p:cNvPr>
          <p:cNvCxnSpPr/>
          <p:nvPr/>
        </p:nvCxnSpPr>
        <p:spPr>
          <a:xfrm>
            <a:off x="9764849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0140DF5-E73A-E117-B4B8-9547AD809C66}"/>
              </a:ext>
            </a:extLst>
          </p:cNvPr>
          <p:cNvCxnSpPr/>
          <p:nvPr/>
        </p:nvCxnSpPr>
        <p:spPr>
          <a:xfrm>
            <a:off x="9836857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Bent 69">
            <a:extLst>
              <a:ext uri="{FF2B5EF4-FFF2-40B4-BE49-F238E27FC236}">
                <a16:creationId xmlns:a16="http://schemas.microsoft.com/office/drawing/2014/main" id="{1EF57EDB-54B5-EFBA-8367-966BE8B1AC3A}"/>
              </a:ext>
            </a:extLst>
          </p:cNvPr>
          <p:cNvSpPr/>
          <p:nvPr/>
        </p:nvSpPr>
        <p:spPr>
          <a:xfrm>
            <a:off x="1987986" y="2295330"/>
            <a:ext cx="2503901" cy="921367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>
                <a:solidFill>
                  <a:schemeClr val="tx1"/>
                </a:solidFill>
              </a:rPr>
              <a:t>Addressbuss (32 bitar)</a:t>
            </a:r>
            <a:endParaRPr lang="en-SE" sz="1400">
              <a:solidFill>
                <a:schemeClr val="tx1"/>
              </a:solidFill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AC6C511-23FD-7DC9-E1CA-E7029DAC0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81" y="3217986"/>
            <a:ext cx="1676634" cy="1467055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2F36583-A6A2-9015-E655-3586D669F60A}"/>
              </a:ext>
            </a:extLst>
          </p:cNvPr>
          <p:cNvCxnSpPr/>
          <p:nvPr/>
        </p:nvCxnSpPr>
        <p:spPr>
          <a:xfrm>
            <a:off x="7685270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F0D35E7-8332-B085-7FB2-AFE97D203E60}"/>
              </a:ext>
            </a:extLst>
          </p:cNvPr>
          <p:cNvCxnSpPr/>
          <p:nvPr/>
        </p:nvCxnSpPr>
        <p:spPr>
          <a:xfrm>
            <a:off x="7757278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665E65D-4FA6-30AA-B69A-083CE0698F70}"/>
              </a:ext>
            </a:extLst>
          </p:cNvPr>
          <p:cNvCxnSpPr/>
          <p:nvPr/>
        </p:nvCxnSpPr>
        <p:spPr>
          <a:xfrm>
            <a:off x="7829286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E52384B-10F3-39CA-F62E-F689A1B232F7}"/>
              </a:ext>
            </a:extLst>
          </p:cNvPr>
          <p:cNvCxnSpPr/>
          <p:nvPr/>
        </p:nvCxnSpPr>
        <p:spPr>
          <a:xfrm>
            <a:off x="7901294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CFC7DBE-979D-C90E-07A3-38AAA1D5D466}"/>
              </a:ext>
            </a:extLst>
          </p:cNvPr>
          <p:cNvCxnSpPr/>
          <p:nvPr/>
        </p:nvCxnSpPr>
        <p:spPr>
          <a:xfrm>
            <a:off x="7973302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4AA44B-509E-3A17-2EB9-2D5C54CB90E7}"/>
              </a:ext>
            </a:extLst>
          </p:cNvPr>
          <p:cNvCxnSpPr/>
          <p:nvPr/>
        </p:nvCxnSpPr>
        <p:spPr>
          <a:xfrm>
            <a:off x="8045310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1B8719C-1D49-6815-918D-997752BA24DE}"/>
              </a:ext>
            </a:extLst>
          </p:cNvPr>
          <p:cNvCxnSpPr/>
          <p:nvPr/>
        </p:nvCxnSpPr>
        <p:spPr>
          <a:xfrm>
            <a:off x="8117318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1880750-DC5F-7A17-8FF8-95A7EFFA4963}"/>
              </a:ext>
            </a:extLst>
          </p:cNvPr>
          <p:cNvCxnSpPr/>
          <p:nvPr/>
        </p:nvCxnSpPr>
        <p:spPr>
          <a:xfrm>
            <a:off x="8189326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FA97B7-7D24-CBD1-243C-8939786E2E0C}"/>
              </a:ext>
            </a:extLst>
          </p:cNvPr>
          <p:cNvSpPr txBox="1"/>
          <p:nvPr/>
        </p:nvSpPr>
        <p:spPr>
          <a:xfrm>
            <a:off x="9720227" y="359686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D9862F3B-E418-3C85-50A3-7B2D1B36F653}"/>
              </a:ext>
            </a:extLst>
          </p:cNvPr>
          <p:cNvCxnSpPr>
            <a:cxnSpLocks/>
          </p:cNvCxnSpPr>
          <p:nvPr/>
        </p:nvCxnSpPr>
        <p:spPr>
          <a:xfrm>
            <a:off x="5948421" y="2570305"/>
            <a:ext cx="1520361" cy="943281"/>
          </a:xfrm>
          <a:prstGeom prst="bentConnector3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rrow: Bent 81">
            <a:extLst>
              <a:ext uri="{FF2B5EF4-FFF2-40B4-BE49-F238E27FC236}">
                <a16:creationId xmlns:a16="http://schemas.microsoft.com/office/drawing/2014/main" id="{0F56FF66-3FCB-9EEB-8BA4-4EBB9CC51F00}"/>
              </a:ext>
            </a:extLst>
          </p:cNvPr>
          <p:cNvSpPr/>
          <p:nvPr/>
        </p:nvSpPr>
        <p:spPr>
          <a:xfrm rot="5400000" flipH="1" flipV="1">
            <a:off x="3959035" y="2696218"/>
            <a:ext cx="1242470" cy="5625270"/>
          </a:xfrm>
          <a:prstGeom prst="bentArrow">
            <a:avLst>
              <a:gd name="adj1" fmla="val 21049"/>
              <a:gd name="adj2" fmla="val 18162"/>
              <a:gd name="adj3" fmla="val 27566"/>
              <a:gd name="adj4" fmla="val 430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34D61C-B882-3BAF-09DF-5F70AD95D55C}"/>
              </a:ext>
            </a:extLst>
          </p:cNvPr>
          <p:cNvSpPr txBox="1"/>
          <p:nvPr/>
        </p:nvSpPr>
        <p:spPr>
          <a:xfrm>
            <a:off x="4292241" y="5529449"/>
            <a:ext cx="157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/>
              <a:t>Databuss (32 bitar)</a:t>
            </a:r>
            <a:endParaRPr lang="en-SE" sz="140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E2EE41F-C01F-7D58-F4EC-13A5974D0914}"/>
              </a:ext>
            </a:extLst>
          </p:cNvPr>
          <p:cNvCxnSpPr/>
          <p:nvPr/>
        </p:nvCxnSpPr>
        <p:spPr>
          <a:xfrm>
            <a:off x="8252681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6A1B45B-1E7D-836F-E9E8-35AE7FC16169}"/>
              </a:ext>
            </a:extLst>
          </p:cNvPr>
          <p:cNvCxnSpPr/>
          <p:nvPr/>
        </p:nvCxnSpPr>
        <p:spPr>
          <a:xfrm>
            <a:off x="8324689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E7E06F-FF1F-0F11-535C-F8C138B0849A}"/>
              </a:ext>
            </a:extLst>
          </p:cNvPr>
          <p:cNvCxnSpPr/>
          <p:nvPr/>
        </p:nvCxnSpPr>
        <p:spPr>
          <a:xfrm>
            <a:off x="8396697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1930B7-3FDD-6E41-AC0D-CA2F3BCD42F8}"/>
              </a:ext>
            </a:extLst>
          </p:cNvPr>
          <p:cNvCxnSpPr/>
          <p:nvPr/>
        </p:nvCxnSpPr>
        <p:spPr>
          <a:xfrm>
            <a:off x="8468705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E6A979A-1FEA-3DBD-6FD5-5125532FFA33}"/>
              </a:ext>
            </a:extLst>
          </p:cNvPr>
          <p:cNvCxnSpPr/>
          <p:nvPr/>
        </p:nvCxnSpPr>
        <p:spPr>
          <a:xfrm>
            <a:off x="8540713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1B1E822-340C-1CC1-CD83-DDAB475C0E1F}"/>
              </a:ext>
            </a:extLst>
          </p:cNvPr>
          <p:cNvCxnSpPr/>
          <p:nvPr/>
        </p:nvCxnSpPr>
        <p:spPr>
          <a:xfrm>
            <a:off x="8612721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4B8709-4CD8-0274-4116-09B5221E33B3}"/>
              </a:ext>
            </a:extLst>
          </p:cNvPr>
          <p:cNvCxnSpPr/>
          <p:nvPr/>
        </p:nvCxnSpPr>
        <p:spPr>
          <a:xfrm>
            <a:off x="8684729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D045F8B-C731-24FC-D07E-FF152521CEAA}"/>
              </a:ext>
            </a:extLst>
          </p:cNvPr>
          <p:cNvCxnSpPr/>
          <p:nvPr/>
        </p:nvCxnSpPr>
        <p:spPr>
          <a:xfrm>
            <a:off x="8756737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D3AAF54-74C1-CA82-1457-6E7602762875}"/>
              </a:ext>
            </a:extLst>
          </p:cNvPr>
          <p:cNvCxnSpPr/>
          <p:nvPr/>
        </p:nvCxnSpPr>
        <p:spPr>
          <a:xfrm>
            <a:off x="8837398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1F3987B-07D2-C6ED-CF98-3FA7B2A81E4E}"/>
              </a:ext>
            </a:extLst>
          </p:cNvPr>
          <p:cNvCxnSpPr/>
          <p:nvPr/>
        </p:nvCxnSpPr>
        <p:spPr>
          <a:xfrm>
            <a:off x="8909406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27C233B-83BA-73A5-7558-167DFE02AF60}"/>
              </a:ext>
            </a:extLst>
          </p:cNvPr>
          <p:cNvCxnSpPr/>
          <p:nvPr/>
        </p:nvCxnSpPr>
        <p:spPr>
          <a:xfrm>
            <a:off x="8981414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2356709-2124-F9D4-BEED-C92D534F0672}"/>
              </a:ext>
            </a:extLst>
          </p:cNvPr>
          <p:cNvCxnSpPr/>
          <p:nvPr/>
        </p:nvCxnSpPr>
        <p:spPr>
          <a:xfrm>
            <a:off x="9053422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D8EE98C-D3FD-5DE5-5825-355B5A944B8B}"/>
              </a:ext>
            </a:extLst>
          </p:cNvPr>
          <p:cNvCxnSpPr/>
          <p:nvPr/>
        </p:nvCxnSpPr>
        <p:spPr>
          <a:xfrm>
            <a:off x="9125430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92814E4-9CB4-F5E4-CAC8-746A2BE88AE0}"/>
              </a:ext>
            </a:extLst>
          </p:cNvPr>
          <p:cNvCxnSpPr/>
          <p:nvPr/>
        </p:nvCxnSpPr>
        <p:spPr>
          <a:xfrm>
            <a:off x="9197438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4BD4BCB-912D-6A0C-24E0-D68E4FCC425D}"/>
              </a:ext>
            </a:extLst>
          </p:cNvPr>
          <p:cNvCxnSpPr/>
          <p:nvPr/>
        </p:nvCxnSpPr>
        <p:spPr>
          <a:xfrm>
            <a:off x="9269446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FF2B716-B38E-1ED2-46AA-8F08420CCCAA}"/>
              </a:ext>
            </a:extLst>
          </p:cNvPr>
          <p:cNvCxnSpPr/>
          <p:nvPr/>
        </p:nvCxnSpPr>
        <p:spPr>
          <a:xfrm>
            <a:off x="9341454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87C6D2E-7E4D-6E05-40CA-C8F08E07240E}"/>
              </a:ext>
            </a:extLst>
          </p:cNvPr>
          <p:cNvCxnSpPr/>
          <p:nvPr/>
        </p:nvCxnSpPr>
        <p:spPr>
          <a:xfrm>
            <a:off x="9404809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608A87E-6458-0A14-6AF4-0F779A312D86}"/>
              </a:ext>
            </a:extLst>
          </p:cNvPr>
          <p:cNvCxnSpPr/>
          <p:nvPr/>
        </p:nvCxnSpPr>
        <p:spPr>
          <a:xfrm>
            <a:off x="9476817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423F3C4-5665-3C45-D61B-06A76F874576}"/>
              </a:ext>
            </a:extLst>
          </p:cNvPr>
          <p:cNvCxnSpPr/>
          <p:nvPr/>
        </p:nvCxnSpPr>
        <p:spPr>
          <a:xfrm>
            <a:off x="9548825" y="1948583"/>
            <a:ext cx="0" cy="3888432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B29CE5F-394C-B7A2-256A-EFCB648E04D3}"/>
              </a:ext>
            </a:extLst>
          </p:cNvPr>
          <p:cNvSpPr/>
          <p:nvPr/>
        </p:nvSpPr>
        <p:spPr>
          <a:xfrm>
            <a:off x="7596890" y="2267234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0xABCDEF00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8CB4F2-C44F-EFB4-8550-9F34AC768BE1}"/>
              </a:ext>
            </a:extLst>
          </p:cNvPr>
          <p:cNvSpPr/>
          <p:nvPr/>
        </p:nvSpPr>
        <p:spPr>
          <a:xfrm>
            <a:off x="7596887" y="2702961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0xABCDEF11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6FFDE57-8585-1774-2C6E-594108456BCF}"/>
              </a:ext>
            </a:extLst>
          </p:cNvPr>
          <p:cNvSpPr/>
          <p:nvPr/>
        </p:nvSpPr>
        <p:spPr>
          <a:xfrm>
            <a:off x="7596884" y="3138688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0xABCDEF22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1A1893A-79F8-49FE-DEA9-671E5CE02B65}"/>
              </a:ext>
            </a:extLst>
          </p:cNvPr>
          <p:cNvSpPr/>
          <p:nvPr/>
        </p:nvSpPr>
        <p:spPr>
          <a:xfrm>
            <a:off x="7596881" y="3574415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0xABCDEF33</a:t>
            </a:r>
            <a:endParaRPr lang="en-SE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AE251B7-EC73-534E-424F-7BCE3FE80E20}"/>
              </a:ext>
            </a:extLst>
          </p:cNvPr>
          <p:cNvSpPr/>
          <p:nvPr/>
        </p:nvSpPr>
        <p:spPr>
          <a:xfrm>
            <a:off x="7596878" y="4010142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0xABCDEF44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7E41305-E4DE-D91C-F1E0-03ACD947C528}"/>
              </a:ext>
            </a:extLst>
          </p:cNvPr>
          <p:cNvSpPr/>
          <p:nvPr/>
        </p:nvSpPr>
        <p:spPr>
          <a:xfrm>
            <a:off x="7596875" y="4445869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0xABCDEF55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179E5F5-36F0-B0B6-997B-66652B59773D}"/>
              </a:ext>
            </a:extLst>
          </p:cNvPr>
          <p:cNvSpPr/>
          <p:nvPr/>
        </p:nvSpPr>
        <p:spPr>
          <a:xfrm>
            <a:off x="7596872" y="4881596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0xABCDEF66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0BF8209-2090-7F28-94C4-C6CFABE26ED5}"/>
              </a:ext>
            </a:extLst>
          </p:cNvPr>
          <p:cNvSpPr/>
          <p:nvPr/>
        </p:nvSpPr>
        <p:spPr>
          <a:xfrm>
            <a:off x="7596869" y="5317323"/>
            <a:ext cx="2383981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0xABCDEF77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56BAB03-FB4B-E454-BE73-365DEA8C4DA5}"/>
              </a:ext>
            </a:extLst>
          </p:cNvPr>
          <p:cNvSpPr/>
          <p:nvPr/>
        </p:nvSpPr>
        <p:spPr>
          <a:xfrm>
            <a:off x="7596141" y="5847081"/>
            <a:ext cx="2383981" cy="360040"/>
          </a:xfrm>
          <a:prstGeom prst="rect">
            <a:avLst/>
          </a:prstGeom>
          <a:solidFill>
            <a:schemeClr val="bg1">
              <a:lumMod val="50000"/>
            </a:scheme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rgbClr val="C00000"/>
                </a:solidFill>
              </a:rPr>
              <a:t>0x????????</a:t>
            </a:r>
            <a:endParaRPr lang="en-SE">
              <a:solidFill>
                <a:srgbClr val="C0000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AD46AD-D3A1-E34A-0135-9ABE695CD5C6}"/>
              </a:ext>
            </a:extLst>
          </p:cNvPr>
          <p:cNvSpPr txBox="1"/>
          <p:nvPr/>
        </p:nvSpPr>
        <p:spPr>
          <a:xfrm>
            <a:off x="9720227" y="4051662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5BC758D-8652-72AA-C694-385E8F973FA9}"/>
              </a:ext>
            </a:extLst>
          </p:cNvPr>
          <p:cNvSpPr txBox="1"/>
          <p:nvPr/>
        </p:nvSpPr>
        <p:spPr>
          <a:xfrm>
            <a:off x="9720227" y="4506456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C48E9F2-3350-51A9-83AB-5F0BF03D5A29}"/>
              </a:ext>
            </a:extLst>
          </p:cNvPr>
          <p:cNvSpPr txBox="1"/>
          <p:nvPr/>
        </p:nvSpPr>
        <p:spPr>
          <a:xfrm>
            <a:off x="9720227" y="4896188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DF48DD5-A01D-8502-41D3-6C3EB264CC21}"/>
              </a:ext>
            </a:extLst>
          </p:cNvPr>
          <p:cNvSpPr txBox="1"/>
          <p:nvPr/>
        </p:nvSpPr>
        <p:spPr>
          <a:xfrm>
            <a:off x="9720227" y="5331915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0x20000018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E072C1-297B-A9D5-9F04-D138629B1508}"/>
              </a:ext>
            </a:extLst>
          </p:cNvPr>
          <p:cNvSpPr txBox="1"/>
          <p:nvPr/>
        </p:nvSpPr>
        <p:spPr>
          <a:xfrm>
            <a:off x="9720227" y="3202911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0x20000004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10C2E6F-65EA-D7D8-10B7-DB5F37BDD73E}"/>
              </a:ext>
            </a:extLst>
          </p:cNvPr>
          <p:cNvSpPr txBox="1"/>
          <p:nvPr/>
        </p:nvSpPr>
        <p:spPr>
          <a:xfrm>
            <a:off x="9720227" y="2758070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0x20000000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B70DAE2-CBCD-04E9-3D26-1DEE2A4DC08A}"/>
              </a:ext>
            </a:extLst>
          </p:cNvPr>
          <p:cNvSpPr txBox="1"/>
          <p:nvPr/>
        </p:nvSpPr>
        <p:spPr>
          <a:xfrm>
            <a:off x="9720227" y="2313229"/>
            <a:ext cx="15603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200">
                <a:solidFill>
                  <a:schemeClr val="bg1">
                    <a:lumMod val="65000"/>
                  </a:schemeClr>
                </a:solidFill>
              </a:rPr>
              <a:t>0x1FFFFFFC</a:t>
            </a:r>
            <a:endParaRPr lang="en-SE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0B0DE4B-A6D2-40E6-B105-817EE251B1C7}"/>
              </a:ext>
            </a:extLst>
          </p:cNvPr>
          <p:cNvSpPr txBox="1"/>
          <p:nvPr/>
        </p:nvSpPr>
        <p:spPr>
          <a:xfrm>
            <a:off x="2805757" y="2367338"/>
            <a:ext cx="1085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>
                <a:solidFill>
                  <a:srgbClr val="C00000"/>
                </a:solidFill>
              </a:rPr>
              <a:t>0x20000006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0FC5A9B-1237-E0AE-2827-D320B3C8437E}"/>
              </a:ext>
            </a:extLst>
          </p:cNvPr>
          <p:cNvSpPr txBox="1"/>
          <p:nvPr/>
        </p:nvSpPr>
        <p:spPr>
          <a:xfrm>
            <a:off x="1620366" y="5838515"/>
            <a:ext cx="613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1400">
                <a:solidFill>
                  <a:srgbClr val="C00000"/>
                </a:solidFill>
              </a:rPr>
              <a:t>0x????????</a:t>
            </a:r>
            <a:endParaRPr lang="en-SE" sz="1400">
              <a:solidFill>
                <a:srgbClr val="C00000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CABB0C-0C86-534C-44BD-4F22AD38C4C8}"/>
              </a:ext>
            </a:extLst>
          </p:cNvPr>
          <p:cNvSpPr/>
          <p:nvPr/>
        </p:nvSpPr>
        <p:spPr>
          <a:xfrm>
            <a:off x="4580270" y="2367338"/>
            <a:ext cx="1368151" cy="36004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Addresslogik</a:t>
            </a:r>
            <a:endParaRPr lang="en-SE">
              <a:solidFill>
                <a:schemeClr val="tx1"/>
              </a:solidFill>
            </a:endParaRP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3018F8AF-6FD5-1756-172A-C490573B222E}"/>
              </a:ext>
            </a:extLst>
          </p:cNvPr>
          <p:cNvSpPr/>
          <p:nvPr/>
        </p:nvSpPr>
        <p:spPr>
          <a:xfrm>
            <a:off x="8784554" y="3565808"/>
            <a:ext cx="1215109" cy="368214"/>
          </a:xfrm>
          <a:custGeom>
            <a:avLst/>
            <a:gdLst>
              <a:gd name="csX0" fmla="*/ 1215109 w 1215109"/>
              <a:gd name="csY0" fmla="*/ 0 h 368214"/>
              <a:gd name="csX1" fmla="*/ 822224 w 1215109"/>
              <a:gd name="csY1" fmla="*/ 1984 h 368214"/>
              <a:gd name="csX2" fmla="*/ 453641 w 1215109"/>
              <a:gd name="csY2" fmla="*/ 3846 h 368214"/>
              <a:gd name="csX3" fmla="*/ 0 w 1215109"/>
              <a:gd name="csY3" fmla="*/ 6137 h 368214"/>
              <a:gd name="csX4" fmla="*/ 6137 w 1215109"/>
              <a:gd name="csY4" fmla="*/ 368214 h 368214"/>
              <a:gd name="csX5" fmla="*/ 384948 w 1215109"/>
              <a:gd name="csY5" fmla="*/ 366291 h 368214"/>
              <a:gd name="csX6" fmla="*/ 812118 w 1215109"/>
              <a:gd name="csY6" fmla="*/ 364123 h 368214"/>
              <a:gd name="csX7" fmla="*/ 1215109 w 1215109"/>
              <a:gd name="csY7" fmla="*/ 362078 h 368214"/>
              <a:gd name="csX8" fmla="*/ 1215109 w 1215109"/>
              <a:gd name="csY8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5109" h="368214" extrusionOk="0">
                <a:moveTo>
                  <a:pt x="1215109" y="0"/>
                </a:moveTo>
                <a:cubicBezTo>
                  <a:pt x="1020858" y="32652"/>
                  <a:pt x="1000259" y="-13616"/>
                  <a:pt x="822224" y="1984"/>
                </a:cubicBezTo>
                <a:cubicBezTo>
                  <a:pt x="644189" y="17585"/>
                  <a:pt x="545076" y="-27752"/>
                  <a:pt x="453641" y="3846"/>
                </a:cubicBezTo>
                <a:cubicBezTo>
                  <a:pt x="362206" y="35444"/>
                  <a:pt x="172220" y="-7782"/>
                  <a:pt x="0" y="6137"/>
                </a:cubicBezTo>
                <a:cubicBezTo>
                  <a:pt x="1621" y="87890"/>
                  <a:pt x="-39792" y="216906"/>
                  <a:pt x="6137" y="368214"/>
                </a:cubicBezTo>
                <a:cubicBezTo>
                  <a:pt x="134178" y="326547"/>
                  <a:pt x="235903" y="378445"/>
                  <a:pt x="384948" y="366291"/>
                </a:cubicBezTo>
                <a:cubicBezTo>
                  <a:pt x="533993" y="354137"/>
                  <a:pt x="599210" y="371812"/>
                  <a:pt x="812118" y="364123"/>
                </a:cubicBezTo>
                <a:cubicBezTo>
                  <a:pt x="1025026" y="356435"/>
                  <a:pt x="1054891" y="402912"/>
                  <a:pt x="1215109" y="362078"/>
                </a:cubicBezTo>
                <a:lnTo>
                  <a:pt x="1215109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B6B1CCA8-881C-8A6A-BE8C-DB31C8A5C62C}"/>
              </a:ext>
            </a:extLst>
          </p:cNvPr>
          <p:cNvSpPr/>
          <p:nvPr/>
        </p:nvSpPr>
        <p:spPr>
          <a:xfrm flipH="1">
            <a:off x="7618624" y="3159382"/>
            <a:ext cx="1191389" cy="368214"/>
          </a:xfrm>
          <a:custGeom>
            <a:avLst/>
            <a:gdLst>
              <a:gd name="csX0" fmla="*/ 1191389 w 1191389"/>
              <a:gd name="csY0" fmla="*/ 0 h 368214"/>
              <a:gd name="csX1" fmla="*/ 607608 w 1191389"/>
              <a:gd name="csY1" fmla="*/ 3007 h 368214"/>
              <a:gd name="csX2" fmla="*/ 0 w 1191389"/>
              <a:gd name="csY2" fmla="*/ 6137 h 368214"/>
              <a:gd name="csX3" fmla="*/ 6017 w 1191389"/>
              <a:gd name="csY3" fmla="*/ 368214 h 368214"/>
              <a:gd name="csX4" fmla="*/ 598703 w 1191389"/>
              <a:gd name="csY4" fmla="*/ 365146 h 368214"/>
              <a:gd name="csX5" fmla="*/ 1191389 w 1191389"/>
              <a:gd name="csY5" fmla="*/ 362078 h 368214"/>
              <a:gd name="csX6" fmla="*/ 1191389 w 1191389"/>
              <a:gd name="csY6" fmla="*/ 362078 h 368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1389" h="368214" extrusionOk="0">
                <a:moveTo>
                  <a:pt x="1191389" y="0"/>
                </a:moveTo>
                <a:cubicBezTo>
                  <a:pt x="1006698" y="55467"/>
                  <a:pt x="824956" y="-31230"/>
                  <a:pt x="607608" y="3007"/>
                </a:cubicBezTo>
                <a:cubicBezTo>
                  <a:pt x="390260" y="37244"/>
                  <a:pt x="196911" y="-2435"/>
                  <a:pt x="0" y="6137"/>
                </a:cubicBezTo>
                <a:cubicBezTo>
                  <a:pt x="26430" y="177301"/>
                  <a:pt x="-4453" y="268659"/>
                  <a:pt x="6017" y="368214"/>
                </a:cubicBezTo>
                <a:cubicBezTo>
                  <a:pt x="200404" y="343406"/>
                  <a:pt x="451516" y="407754"/>
                  <a:pt x="598703" y="365146"/>
                </a:cubicBezTo>
                <a:cubicBezTo>
                  <a:pt x="745890" y="322538"/>
                  <a:pt x="999899" y="370518"/>
                  <a:pt x="1191389" y="362078"/>
                </a:cubicBezTo>
                <a:lnTo>
                  <a:pt x="1191389" y="362078"/>
                </a:lnTo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215109 w 1215109"/>
                      <a:gd name="connsiteY0" fmla="*/ 0 h 368214"/>
                      <a:gd name="connsiteX1" fmla="*/ 0 w 1215109"/>
                      <a:gd name="connsiteY1" fmla="*/ 6137 h 368214"/>
                      <a:gd name="connsiteX2" fmla="*/ 6137 w 1215109"/>
                      <a:gd name="connsiteY2" fmla="*/ 368214 h 368214"/>
                      <a:gd name="connsiteX3" fmla="*/ 1215109 w 1215109"/>
                      <a:gd name="connsiteY3" fmla="*/ 362078 h 368214"/>
                      <a:gd name="connsiteX4" fmla="*/ 1215109 w 1215109"/>
                      <a:gd name="connsiteY4" fmla="*/ 362078 h 3682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5109" h="368214">
                        <a:moveTo>
                          <a:pt x="1215109" y="0"/>
                        </a:moveTo>
                        <a:lnTo>
                          <a:pt x="0" y="6137"/>
                        </a:lnTo>
                        <a:lnTo>
                          <a:pt x="6137" y="368214"/>
                        </a:lnTo>
                        <a:lnTo>
                          <a:pt x="1215109" y="362078"/>
                        </a:lnTo>
                        <a:lnTo>
                          <a:pt x="1215109" y="362078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5BE10ED-BF28-B2A1-FA68-E3E5D972A64B}"/>
              </a:ext>
            </a:extLst>
          </p:cNvPr>
          <p:cNvSpPr txBox="1"/>
          <p:nvPr/>
        </p:nvSpPr>
        <p:spPr>
          <a:xfrm>
            <a:off x="3045497" y="3780068"/>
            <a:ext cx="207300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1400">
                <a:latin typeface="Consolas" panose="020B0609020204030204" pitchFamily="49" charset="0"/>
              </a:rPr>
              <a:t>LDR r0, </a:t>
            </a:r>
            <a:r>
              <a:rPr lang="en-GB" sz="1400">
                <a:latin typeface="Consolas" panose="020B0609020204030204" pitchFamily="49" charset="0"/>
              </a:rPr>
              <a:t>=0x20000006</a:t>
            </a:r>
          </a:p>
          <a:p>
            <a:r>
              <a:rPr lang="en-GB" sz="1400">
                <a:solidFill>
                  <a:srgbClr val="C00000"/>
                </a:solidFill>
                <a:latin typeface="Consolas" panose="020B0609020204030204" pitchFamily="49" charset="0"/>
              </a:rPr>
              <a:t>LDR r0, </a:t>
            </a:r>
            <a:r>
              <a:rPr lang="en-US" sz="1400">
                <a:solidFill>
                  <a:srgbClr val="C00000"/>
                </a:solidFill>
                <a:latin typeface="Consolas" panose="020B0609020204030204" pitchFamily="49" charset="0"/>
              </a:rPr>
              <a:t>[r0]</a:t>
            </a:r>
            <a:endParaRPr lang="en-SE" sz="140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A6D938-6FD8-4CFA-397F-62651371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Alignment (repetition)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867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E920C08-FFD1-F38E-9E1B-9ECACB9D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Structures i minnet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CAA80-17D4-95C1-B041-6C8881865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3E2A1-95B2-774D-D3A4-71748DEE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ECDDF-7581-322D-65B5-B36FAF50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8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80F4BA6-CC38-0E8F-348F-CF0CA5BC75AE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120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200">
                <a:latin typeface="Consolas" panose="020B0609020204030204" pitchFamily="49" charset="0"/>
              </a:rPr>
              <a:t> </a:t>
            </a: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short</a:t>
            </a:r>
            <a:r>
              <a:rPr lang="en-GB" sz="12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 Player;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Player player_one = {0, 100};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Player player_two = {10, 200};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en-GB" sz="1200">
                <a:latin typeface="Consolas" panose="020B0609020204030204" pitchFamily="49" charset="0"/>
              </a:rPr>
              <a:t>main()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B3BCD-AC9F-78C8-62D4-A411A0B739E3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77E41-FCC3-E578-20DF-D53828E16AC3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226401-C00E-8B8B-C72F-D815332151F1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66D607-0E0E-62EF-1934-C6D1A4C73107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8FD70D-5005-08D0-B1CF-65DCD60DC40E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FDDA135-C277-E18B-8CCC-94D730696024}"/>
              </a:ext>
            </a:extLst>
          </p:cNvPr>
          <p:cNvSpPr/>
          <p:nvPr/>
        </p:nvSpPr>
        <p:spPr>
          <a:xfrm>
            <a:off x="9753600" y="3345103"/>
            <a:ext cx="68123" cy="10522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D15C0-C2BA-27AC-630F-E3474E0F4C87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F8E2E-0F2A-33B5-C5BA-B288F3C2B0BC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CEDFC-22DA-B240-88E4-1C75AA41BFAB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EC34AA-F29C-BB30-B339-F82D0C6B4282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E51169-E97E-106F-A3BE-D5AEE62B4B28}"/>
              </a:ext>
            </a:extLst>
          </p:cNvPr>
          <p:cNvSpPr txBox="1"/>
          <p:nvPr/>
        </p:nvSpPr>
        <p:spPr>
          <a:xfrm>
            <a:off x="5659272" y="4147254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&amp;player_one: </a:t>
            </a:r>
            <a:r>
              <a:rPr lang="sv-SE" sz="1100"/>
              <a:t>0x21000100</a:t>
            </a:r>
            <a:endParaRPr lang="LID4096" sz="11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A96C9A-A1C2-ABFE-680A-5CEE51FD3F22}"/>
              </a:ext>
            </a:extLst>
          </p:cNvPr>
          <p:cNvSpPr/>
          <p:nvPr/>
        </p:nvSpPr>
        <p:spPr>
          <a:xfrm>
            <a:off x="8014480" y="4127166"/>
            <a:ext cx="1669576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8B7EDD-15FC-5944-0E54-453292B15433}"/>
              </a:ext>
            </a:extLst>
          </p:cNvPr>
          <p:cNvSpPr txBox="1"/>
          <p:nvPr/>
        </p:nvSpPr>
        <p:spPr>
          <a:xfrm>
            <a:off x="8403182" y="4135768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>
                <a:latin typeface="Consolas" panose="020B0609020204030204" pitchFamily="49" charset="0"/>
              </a:rPr>
              <a:t>score = 0</a:t>
            </a:r>
            <a:endParaRPr lang="LID4096" sz="105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9AF917-3E19-3E4B-31DD-1DAAF9267368}"/>
              </a:ext>
            </a:extLst>
          </p:cNvPr>
          <p:cNvSpPr/>
          <p:nvPr/>
        </p:nvSpPr>
        <p:spPr>
          <a:xfrm>
            <a:off x="8834650" y="3864648"/>
            <a:ext cx="849405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206C0-FB46-1806-7A3F-3F019AD90240}"/>
              </a:ext>
            </a:extLst>
          </p:cNvPr>
          <p:cNvSpPr txBox="1"/>
          <p:nvPr/>
        </p:nvSpPr>
        <p:spPr>
          <a:xfrm>
            <a:off x="8795330" y="389350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900">
                <a:latin typeface="Consolas" panose="020B0609020204030204" pitchFamily="49" charset="0"/>
              </a:rPr>
              <a:t>health = 100</a:t>
            </a:r>
            <a:endParaRPr lang="LID4096" sz="9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FB6A7B-512E-0EB9-2FEF-3CE1C26137B0}"/>
              </a:ext>
            </a:extLst>
          </p:cNvPr>
          <p:cNvSpPr txBox="1"/>
          <p:nvPr/>
        </p:nvSpPr>
        <p:spPr>
          <a:xfrm>
            <a:off x="5659609" y="3885190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/>
              <a:t>0x21000104</a:t>
            </a:r>
            <a:endParaRPr lang="LID4096" sz="11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FE82248-D22C-2E8C-582A-89FCE83DCB13}"/>
              </a:ext>
            </a:extLst>
          </p:cNvPr>
          <p:cNvSpPr txBox="1">
            <a:spLocks/>
          </p:cNvSpPr>
          <p:nvPr/>
        </p:nvSpPr>
        <p:spPr>
          <a:xfrm>
            <a:off x="3292734" y="5064912"/>
            <a:ext cx="3235445" cy="89741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600" b="1">
                <a:latin typeface="+mj-lt"/>
              </a:rPr>
              <a:t>Structens startaddress alignas så att den är jämnt delbar med storleken på den </a:t>
            </a:r>
            <a:r>
              <a:rPr lang="sv-SE" sz="1600" b="1" i="1">
                <a:latin typeface="+mj-lt"/>
              </a:rPr>
              <a:t>största ingående typen </a:t>
            </a:r>
            <a:r>
              <a:rPr lang="sv-SE" sz="1600" b="1">
                <a:latin typeface="+mj-lt"/>
              </a:rPr>
              <a:t>(int här).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20F95D-3A5A-D2C3-30E2-B09375A2140B}"/>
              </a:ext>
            </a:extLst>
          </p:cNvPr>
          <p:cNvSpPr/>
          <p:nvPr/>
        </p:nvSpPr>
        <p:spPr>
          <a:xfrm>
            <a:off x="8024748" y="3876134"/>
            <a:ext cx="805740" cy="2482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8491EE-D059-0DEB-ECC5-FDCA8EA3F901}"/>
              </a:ext>
            </a:extLst>
          </p:cNvPr>
          <p:cNvGrpSpPr/>
          <p:nvPr/>
        </p:nvGrpSpPr>
        <p:grpSpPr>
          <a:xfrm>
            <a:off x="5663435" y="3359333"/>
            <a:ext cx="4280664" cy="529986"/>
            <a:chOff x="5663435" y="3359333"/>
            <a:chExt cx="4280664" cy="52998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E46B3E6-C3A0-A57E-7787-2FAAF59F96BA}"/>
                </a:ext>
              </a:extLst>
            </p:cNvPr>
            <p:cNvSpPr/>
            <p:nvPr/>
          </p:nvSpPr>
          <p:spPr>
            <a:xfrm>
              <a:off x="8825308" y="3359333"/>
              <a:ext cx="864947" cy="24820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F9A779-3EDE-6B66-3A97-787D7D6E8847}"/>
                </a:ext>
              </a:extLst>
            </p:cNvPr>
            <p:cNvSpPr txBox="1"/>
            <p:nvPr/>
          </p:nvSpPr>
          <p:spPr>
            <a:xfrm>
              <a:off x="5663435" y="3627709"/>
              <a:ext cx="2390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&amp;player_two: </a:t>
              </a:r>
              <a:r>
                <a:rPr lang="sv-SE" sz="1100"/>
                <a:t>0x21000108</a:t>
              </a:r>
              <a:endParaRPr lang="LID4096" sz="11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D374889-7496-C91A-8A00-57828C9C4D3A}"/>
                </a:ext>
              </a:extLst>
            </p:cNvPr>
            <p:cNvSpPr/>
            <p:nvPr/>
          </p:nvSpPr>
          <p:spPr>
            <a:xfrm>
              <a:off x="8018643" y="3607621"/>
              <a:ext cx="1669576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3E6341-2A0D-AF46-C3B7-2A6847FBAE85}"/>
                </a:ext>
              </a:extLst>
            </p:cNvPr>
            <p:cNvSpPr txBox="1"/>
            <p:nvPr/>
          </p:nvSpPr>
          <p:spPr>
            <a:xfrm>
              <a:off x="8407345" y="3616223"/>
              <a:ext cx="9220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>
                  <a:latin typeface="Consolas" panose="020B0609020204030204" pitchFamily="49" charset="0"/>
                </a:rPr>
                <a:t>score = 10</a:t>
              </a:r>
              <a:endParaRPr lang="LID4096" sz="1050">
                <a:latin typeface="Consolas" panose="020B06090202040302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A640CB-799C-8D4C-A98F-B61CFFBA8081}"/>
                </a:ext>
              </a:extLst>
            </p:cNvPr>
            <p:cNvSpPr txBox="1"/>
            <p:nvPr/>
          </p:nvSpPr>
          <p:spPr>
            <a:xfrm>
              <a:off x="5663772" y="3365645"/>
              <a:ext cx="2390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/>
                <a:t>0x2100010C</a:t>
              </a:r>
              <a:endParaRPr lang="LID4096" sz="11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CA28DCB-AAB7-F037-3B6C-0921087BDB79}"/>
                </a:ext>
              </a:extLst>
            </p:cNvPr>
            <p:cNvSpPr txBox="1"/>
            <p:nvPr/>
          </p:nvSpPr>
          <p:spPr>
            <a:xfrm>
              <a:off x="8789152" y="3377431"/>
              <a:ext cx="115494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900">
                  <a:latin typeface="Consolas" panose="020B0609020204030204" pitchFamily="49" charset="0"/>
                </a:rPr>
                <a:t>health = 200</a:t>
              </a:r>
              <a:endParaRPr lang="LID4096" sz="900">
                <a:latin typeface="Consolas" panose="020B0609020204030204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BE1B4A-BFD5-29DF-BBC2-4F19165B0F8D}"/>
                </a:ext>
              </a:extLst>
            </p:cNvPr>
            <p:cNvSpPr/>
            <p:nvPr/>
          </p:nvSpPr>
          <p:spPr>
            <a:xfrm>
              <a:off x="8018570" y="3360059"/>
              <a:ext cx="805740" cy="2482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88510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54B1-468F-98DE-3488-84DC930F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AC11A8A-234E-0951-06C4-6173FF55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Structures i minnet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A364FD-7161-E82A-D43C-A805AFF2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FE9F8-1BB8-270C-6FAF-980B8057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6DACB-8C3F-4CDA-D5B3-28ECCDE5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9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8ECE494-7D7F-77CF-A516-6E3262FC1EE2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120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200">
                <a:latin typeface="Consolas" panose="020B0609020204030204" pitchFamily="49" charset="0"/>
              </a:rPr>
              <a:t> </a:t>
            </a: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2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  </a:t>
            </a: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200">
                <a:latin typeface="Consolas" panose="020B0609020204030204" pitchFamily="49" charset="0"/>
              </a:rPr>
              <a:t> health;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 Player;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Player player_one = {0, 100};</a:t>
            </a:r>
          </a:p>
          <a:p>
            <a:pPr marL="0" indent="0">
              <a:buNone/>
            </a:pPr>
            <a:endParaRPr lang="en-GB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en-GB" sz="1200">
                <a:latin typeface="Consolas" panose="020B0609020204030204" pitchFamily="49" charset="0"/>
              </a:rPr>
              <a:t>main() 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2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3D0C92-A9F1-1991-8781-F8E58900AC0C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B439D-35F9-E393-CF8A-EC245EE004B0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EF05A0-CD93-A6BD-0998-5A91840866C1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AA0259-53AB-1CEA-E112-D6DBA43AE37C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DAC502-061C-8BD1-EC75-BDD906CF0952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2F1E106-E625-59B0-6F52-F3D98559526F}"/>
              </a:ext>
            </a:extLst>
          </p:cNvPr>
          <p:cNvSpPr/>
          <p:nvPr/>
        </p:nvSpPr>
        <p:spPr>
          <a:xfrm>
            <a:off x="9753600" y="3345103"/>
            <a:ext cx="68123" cy="10522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D2C9D1-C935-A95D-BB01-927D283847A3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33A4A-B997-8B86-0371-1E12B054AA17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DECD8C-0356-C3EF-470A-793DF2A45A4E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660D98-59E1-6DF3-60A3-E9B902E055B6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1CF8E3-B390-B74B-E639-C9EC8001007E}"/>
              </a:ext>
            </a:extLst>
          </p:cNvPr>
          <p:cNvSpPr txBox="1"/>
          <p:nvPr/>
        </p:nvSpPr>
        <p:spPr>
          <a:xfrm>
            <a:off x="5659272" y="4147254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&amp;player_one: </a:t>
            </a:r>
            <a:r>
              <a:rPr lang="sv-SE" sz="1100"/>
              <a:t>0x21000100</a:t>
            </a:r>
            <a:endParaRPr lang="LID4096" sz="11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774A35-7FBC-908C-827C-DB792D8FDF07}"/>
              </a:ext>
            </a:extLst>
          </p:cNvPr>
          <p:cNvSpPr/>
          <p:nvPr/>
        </p:nvSpPr>
        <p:spPr>
          <a:xfrm>
            <a:off x="8014480" y="4127166"/>
            <a:ext cx="1669576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C0A0B-FD96-E4C8-A84B-A9A01DF933F6}"/>
              </a:ext>
            </a:extLst>
          </p:cNvPr>
          <p:cNvSpPr txBox="1"/>
          <p:nvPr/>
        </p:nvSpPr>
        <p:spPr>
          <a:xfrm>
            <a:off x="9285229" y="4126008"/>
            <a:ext cx="3930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sv-SE" sz="600">
                <a:latin typeface="Consolas" panose="020B0609020204030204" pitchFamily="49" charset="0"/>
              </a:rPr>
              <a:t>score</a:t>
            </a:r>
          </a:p>
          <a:p>
            <a:r>
              <a:rPr lang="sv-SE" sz="600">
                <a:latin typeface="Consolas" panose="020B0609020204030204" pitchFamily="49" charset="0"/>
              </a:rPr>
              <a:t>= 0</a:t>
            </a:r>
            <a:endParaRPr lang="LID4096" sz="60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1B489-EF83-FE0F-CC95-1A48898BDFCD}"/>
              </a:ext>
            </a:extLst>
          </p:cNvPr>
          <p:cNvSpPr/>
          <p:nvPr/>
        </p:nvSpPr>
        <p:spPr>
          <a:xfrm>
            <a:off x="8013442" y="3864648"/>
            <a:ext cx="1670613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A5FA1-8EC2-5DFC-AF9A-9A86A41CA857}"/>
              </a:ext>
            </a:extLst>
          </p:cNvPr>
          <p:cNvSpPr txBox="1"/>
          <p:nvPr/>
        </p:nvSpPr>
        <p:spPr>
          <a:xfrm>
            <a:off x="8458790" y="3874634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900">
                <a:latin typeface="Consolas" panose="020B0609020204030204" pitchFamily="49" charset="0"/>
              </a:rPr>
              <a:t>health = 100</a:t>
            </a:r>
            <a:endParaRPr lang="LID4096" sz="9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6EAB6-582B-D6F4-8FF3-01477FD22279}"/>
              </a:ext>
            </a:extLst>
          </p:cNvPr>
          <p:cNvSpPr txBox="1"/>
          <p:nvPr/>
        </p:nvSpPr>
        <p:spPr>
          <a:xfrm>
            <a:off x="5659609" y="3885190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/>
              <a:t>0x21000104</a:t>
            </a:r>
            <a:endParaRPr lang="LID4096" sz="11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478D334-2DDB-DC9D-B987-C1F7CF2E0577}"/>
              </a:ext>
            </a:extLst>
          </p:cNvPr>
          <p:cNvSpPr txBox="1">
            <a:spLocks/>
          </p:cNvSpPr>
          <p:nvPr/>
        </p:nvSpPr>
        <p:spPr>
          <a:xfrm>
            <a:off x="3292734" y="5064912"/>
            <a:ext cx="3470016" cy="106205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600" b="1">
                <a:latin typeface="+mj-lt"/>
              </a:rPr>
              <a:t>Structens element kommer i ordning i minnet, men måste alignas för sin datatyp. Detta innebär att vi kommer få </a:t>
            </a:r>
            <a:r>
              <a:rPr lang="sv-SE" sz="1600" b="1" i="1">
                <a:latin typeface="+mj-lt"/>
              </a:rPr>
              <a:t>padding </a:t>
            </a:r>
            <a:r>
              <a:rPr lang="sv-SE" sz="1600" b="1">
                <a:latin typeface="+mj-lt"/>
              </a:rPr>
              <a:t>(tomt utrymme) i minnet.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15C7B3-D727-3AE2-D09A-F144DA54FA08}"/>
              </a:ext>
            </a:extLst>
          </p:cNvPr>
          <p:cNvSpPr/>
          <p:nvPr/>
        </p:nvSpPr>
        <p:spPr>
          <a:xfrm>
            <a:off x="8019628" y="4119285"/>
            <a:ext cx="1252636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701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75A82-7003-AE98-6A4D-F40DA64D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AF08-4CDD-DA4E-9286-153AC387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Nästlade strukturer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5F6BA-877A-3F8C-44E4-28837AC4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DE400-CA82-35B6-410B-90A06727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7D9E63-326D-5ACB-B369-6A222ED7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10</a:t>
            </a:fld>
            <a:endParaRPr lang="LID4096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B5F292C-F9D1-9F32-A657-6F9E23512346}"/>
              </a:ext>
            </a:extLst>
          </p:cNvPr>
          <p:cNvSpPr txBox="1">
            <a:spLocks/>
          </p:cNvSpPr>
          <p:nvPr/>
        </p:nvSpPr>
        <p:spPr>
          <a:xfrm>
            <a:off x="838200" y="1382242"/>
            <a:ext cx="5792859" cy="47447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sv-SE" sz="4000"/>
          </a:p>
          <a:p>
            <a:pPr marL="0" indent="0">
              <a:buNone/>
            </a:pPr>
            <a:br>
              <a:rPr lang="sv-SE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sv-SE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100">
                <a:latin typeface="Consolas" panose="020B0609020204030204" pitchFamily="49" charset="0"/>
              </a:rPr>
              <a:t> </a:t>
            </a:r>
            <a:r>
              <a:rPr lang="en-GB" sz="11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short</a:t>
            </a:r>
            <a:r>
              <a:rPr lang="en-GB" sz="1100">
                <a:latin typeface="Consolas" panose="020B0609020204030204" pitchFamily="49" charset="0"/>
              </a:rPr>
              <a:t> weight;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 </a:t>
            </a:r>
            <a:r>
              <a:rPr lang="en-GB" sz="1100">
                <a:latin typeface="Consolas" panose="020B0609020204030204" pitchFamily="49" charset="0"/>
              </a:rPr>
              <a:t>damage;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} Weapon;</a:t>
            </a:r>
          </a:p>
          <a:p>
            <a:pPr marL="0" indent="0">
              <a:buNone/>
            </a:pPr>
            <a:endParaRPr lang="sv-SE" sz="110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v-SE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sv-SE" sz="1100">
                <a:latin typeface="Consolas" panose="020B0609020204030204" pitchFamily="49" charset="0"/>
              </a:rPr>
              <a:t> </a:t>
            </a:r>
            <a:r>
              <a:rPr lang="en-GB" sz="11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100">
                <a:latin typeface="Consolas" panose="020B0609020204030204" pitchFamily="49" charset="0"/>
              </a:rPr>
              <a:t> score;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  </a:t>
            </a:r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short </a:t>
            </a:r>
            <a:r>
              <a:rPr lang="en-GB" sz="1100">
                <a:latin typeface="Consolas" panose="020B0609020204030204" pitchFamily="49" charset="0"/>
              </a:rPr>
              <a:t>health;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  Weapon weapon;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} Player;</a:t>
            </a:r>
          </a:p>
          <a:p>
            <a:pPr marL="0" indent="0">
              <a:buNone/>
            </a:pPr>
            <a:endParaRPr lang="en-GB" sz="11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Player player_one = {0, 100, {10, 45}};</a:t>
            </a:r>
          </a:p>
          <a:p>
            <a:pPr marL="0" indent="0">
              <a:buNone/>
            </a:pPr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en-GB" sz="1100">
                <a:latin typeface="Consolas" panose="020B0609020204030204" pitchFamily="49" charset="0"/>
              </a:rPr>
              <a:t>main() 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1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8BA470-6FAC-0E7E-74F8-15DF7DD73DCE}"/>
              </a:ext>
            </a:extLst>
          </p:cNvPr>
          <p:cNvSpPr/>
          <p:nvPr/>
        </p:nvSpPr>
        <p:spPr>
          <a:xfrm>
            <a:off x="8017605" y="4397380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FE831-17B7-F2D1-B162-F5AF035965A9}"/>
              </a:ext>
            </a:extLst>
          </p:cNvPr>
          <p:cNvSpPr txBox="1"/>
          <p:nvPr/>
        </p:nvSpPr>
        <p:spPr>
          <a:xfrm>
            <a:off x="7161057" y="5831519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FFF9AA-2024-6427-B8A0-DFB549C716ED}"/>
              </a:ext>
            </a:extLst>
          </p:cNvPr>
          <p:cNvSpPr/>
          <p:nvPr/>
        </p:nvSpPr>
        <p:spPr>
          <a:xfrm>
            <a:off x="8017605" y="2879010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C2054A-0F2C-CD56-D581-1CF09FDF7F15}"/>
              </a:ext>
            </a:extLst>
          </p:cNvPr>
          <p:cNvSpPr/>
          <p:nvPr/>
        </p:nvSpPr>
        <p:spPr>
          <a:xfrm>
            <a:off x="8017605" y="2295624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74563-BC1B-B28A-AED2-A98DCCB28BD7}"/>
              </a:ext>
            </a:extLst>
          </p:cNvPr>
          <p:cNvSpPr/>
          <p:nvPr/>
        </p:nvSpPr>
        <p:spPr>
          <a:xfrm>
            <a:off x="8017605" y="1782660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B14DCD8-BF6E-7398-C3B7-CAA48859B2D3}"/>
              </a:ext>
            </a:extLst>
          </p:cNvPr>
          <p:cNvSpPr/>
          <p:nvPr/>
        </p:nvSpPr>
        <p:spPr>
          <a:xfrm>
            <a:off x="9753600" y="3345103"/>
            <a:ext cx="68123" cy="10522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3BFB9-1E9C-5F7D-5B43-4B51610F5968}"/>
              </a:ext>
            </a:extLst>
          </p:cNvPr>
          <p:cNvSpPr txBox="1"/>
          <p:nvPr/>
        </p:nvSpPr>
        <p:spPr>
          <a:xfrm>
            <a:off x="9849134" y="3699834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14936-0018-D4B2-AF16-112421EE7C3F}"/>
              </a:ext>
            </a:extLst>
          </p:cNvPr>
          <p:cNvSpPr txBox="1"/>
          <p:nvPr/>
        </p:nvSpPr>
        <p:spPr>
          <a:xfrm>
            <a:off x="7184200" y="4332781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DAE979-3477-1DE7-B6F2-F3E2F9C84998}"/>
              </a:ext>
            </a:extLst>
          </p:cNvPr>
          <p:cNvCxnSpPr/>
          <p:nvPr/>
        </p:nvCxnSpPr>
        <p:spPr>
          <a:xfrm>
            <a:off x="8017604" y="1535901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BD6594-5C87-092F-0C16-8617F81AF670}"/>
              </a:ext>
            </a:extLst>
          </p:cNvPr>
          <p:cNvSpPr txBox="1"/>
          <p:nvPr/>
        </p:nvSpPr>
        <p:spPr>
          <a:xfrm>
            <a:off x="8488382" y="1049215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5A843B-1A29-A847-CAAD-F3AB5015231A}"/>
              </a:ext>
            </a:extLst>
          </p:cNvPr>
          <p:cNvSpPr txBox="1"/>
          <p:nvPr/>
        </p:nvSpPr>
        <p:spPr>
          <a:xfrm>
            <a:off x="5659272" y="4147254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 b="1"/>
              <a:t>&amp;player_one: </a:t>
            </a:r>
            <a:r>
              <a:rPr lang="sv-SE" sz="1100"/>
              <a:t>0x21000100</a:t>
            </a:r>
            <a:endParaRPr lang="LID4096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FC9697-8FE4-599E-FE56-E40E2E27A7B9}"/>
              </a:ext>
            </a:extLst>
          </p:cNvPr>
          <p:cNvSpPr txBox="1"/>
          <p:nvPr/>
        </p:nvSpPr>
        <p:spPr>
          <a:xfrm>
            <a:off x="9284892" y="4131747"/>
            <a:ext cx="393393" cy="271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sv-SE" sz="600">
                <a:latin typeface="Consolas" panose="020B0609020204030204" pitchFamily="49" charset="0"/>
              </a:rPr>
              <a:t>score</a:t>
            </a:r>
          </a:p>
          <a:p>
            <a:r>
              <a:rPr lang="sv-SE" sz="600">
                <a:latin typeface="Consolas" panose="020B0609020204030204" pitchFamily="49" charset="0"/>
              </a:rPr>
              <a:t>= 0</a:t>
            </a:r>
            <a:endParaRPr lang="LID4096" sz="6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B114A-BD00-1F36-034C-34051783DC31}"/>
              </a:ext>
            </a:extLst>
          </p:cNvPr>
          <p:cNvSpPr txBox="1"/>
          <p:nvPr/>
        </p:nvSpPr>
        <p:spPr>
          <a:xfrm>
            <a:off x="7956652" y="4139162"/>
            <a:ext cx="10634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900">
                <a:latin typeface="Consolas" panose="020B0609020204030204" pitchFamily="49" charset="0"/>
              </a:rPr>
              <a:t>health = 100</a:t>
            </a:r>
            <a:endParaRPr lang="LID4096" sz="90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F5B51-8A60-7E0E-3857-3C74A3FED934}"/>
              </a:ext>
            </a:extLst>
          </p:cNvPr>
          <p:cNvSpPr txBox="1"/>
          <p:nvPr/>
        </p:nvSpPr>
        <p:spPr>
          <a:xfrm>
            <a:off x="5659609" y="3885190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/>
              <a:t>0x21000104</a:t>
            </a:r>
            <a:endParaRPr lang="LID4096" sz="110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2E1A2E3-09E0-595E-5FEC-9B67A8F8A4CB}"/>
              </a:ext>
            </a:extLst>
          </p:cNvPr>
          <p:cNvSpPr txBox="1">
            <a:spLocks/>
          </p:cNvSpPr>
          <p:nvPr/>
        </p:nvSpPr>
        <p:spPr>
          <a:xfrm>
            <a:off x="3581400" y="5562100"/>
            <a:ext cx="3470016" cy="82809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600" b="1">
                <a:latin typeface="+mj-lt"/>
              </a:rPr>
              <a:t>Elementen i nestade structs placeras precis som om dom vore del av den ”ägande” structen.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475EA2-0E04-D883-B458-F127D3E2CB26}"/>
              </a:ext>
            </a:extLst>
          </p:cNvPr>
          <p:cNvSpPr/>
          <p:nvPr/>
        </p:nvSpPr>
        <p:spPr>
          <a:xfrm>
            <a:off x="8016569" y="4131748"/>
            <a:ext cx="836920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C60F2B-6049-5ABE-3A41-8637D774D26F}"/>
              </a:ext>
            </a:extLst>
          </p:cNvPr>
          <p:cNvSpPr/>
          <p:nvPr/>
        </p:nvSpPr>
        <p:spPr>
          <a:xfrm>
            <a:off x="8852392" y="4131747"/>
            <a:ext cx="432500" cy="2616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3FC99-5D5E-EC22-73A8-B3AED8E165F0}"/>
              </a:ext>
            </a:extLst>
          </p:cNvPr>
          <p:cNvSpPr txBox="1"/>
          <p:nvPr/>
        </p:nvSpPr>
        <p:spPr>
          <a:xfrm>
            <a:off x="8466613" y="3867724"/>
            <a:ext cx="393393" cy="271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sv-SE" sz="500">
                <a:latin typeface="Consolas" panose="020B0609020204030204" pitchFamily="49" charset="0"/>
              </a:rPr>
              <a:t>damage = 45</a:t>
            </a:r>
            <a:endParaRPr lang="LID4096" sz="50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4F9A5B-6A1A-6E04-83C9-78DEC2142F4D}"/>
              </a:ext>
            </a:extLst>
          </p:cNvPr>
          <p:cNvSpPr txBox="1"/>
          <p:nvPr/>
        </p:nvSpPr>
        <p:spPr>
          <a:xfrm>
            <a:off x="8828516" y="3892941"/>
            <a:ext cx="10634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900">
                <a:latin typeface="Consolas" panose="020B0609020204030204" pitchFamily="49" charset="0"/>
              </a:rPr>
              <a:t>weight = 10</a:t>
            </a:r>
            <a:endParaRPr lang="LID4096" sz="900"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0AA0BB-869A-1112-9388-8D0DFA4E84ED}"/>
              </a:ext>
            </a:extLst>
          </p:cNvPr>
          <p:cNvSpPr/>
          <p:nvPr/>
        </p:nvSpPr>
        <p:spPr>
          <a:xfrm>
            <a:off x="8860006" y="3864492"/>
            <a:ext cx="825852" cy="26161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A16CF-14B8-3F75-3748-4D64878593F0}"/>
              </a:ext>
            </a:extLst>
          </p:cNvPr>
          <p:cNvSpPr/>
          <p:nvPr/>
        </p:nvSpPr>
        <p:spPr>
          <a:xfrm>
            <a:off x="8024368" y="3869683"/>
            <a:ext cx="432500" cy="2616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944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ADB3-BA87-03BC-AE9A-A8E2A286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 till strukturer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AFA328-B6B0-8C80-7052-B265D428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en-GB" sz="1600">
                <a:latin typeface="Consolas" panose="020B0609020204030204" pitchFamily="49" charset="0"/>
              </a:rPr>
              <a:t>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{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600">
                <a:latin typeface="Consolas" panose="020B0609020204030204" pitchFamily="49" charset="0"/>
              </a:rPr>
              <a:t> title[100];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600">
                <a:latin typeface="Consolas" panose="020B0609020204030204" pitchFamily="49" charset="0"/>
              </a:rPr>
              <a:t> author[100];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num_pages;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short</a:t>
            </a:r>
            <a:r>
              <a:rPr lang="en-GB" sz="1600">
                <a:latin typeface="Consolas" panose="020B0609020204030204" pitchFamily="49" charset="0"/>
              </a:rPr>
              <a:t> ISBN;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} Book;</a:t>
            </a:r>
            <a:br>
              <a:rPr lang="en-GB" sz="1600">
                <a:latin typeface="Consolas" panose="020B0609020204030204" pitchFamily="49" charset="0"/>
              </a:rPr>
            </a:br>
            <a:endParaRPr lang="en-GB" sz="1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GB" sz="1600">
                <a:latin typeface="Consolas" panose="020B0609020204030204" pitchFamily="49" charset="0"/>
              </a:rPr>
              <a:t> ProcessBook( Book book );</a:t>
            </a:r>
            <a:br>
              <a:rPr lang="en-GB" sz="1600">
                <a:latin typeface="Consolas" panose="020B0609020204030204" pitchFamily="49" charset="0"/>
              </a:rPr>
            </a:b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main() {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Book book = { "Middlemarch",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              "George Elliot",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              370, 1234 };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ProcessBook(book);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LID4096" sz="1600"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F72B2-BBAD-90FC-E133-B2948655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096ED-7E93-00E2-8134-7E427C8F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9D15F-E237-91E4-C6C2-25DB5FEB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11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DD3029-70ED-EA85-5696-723A61962D80}"/>
              </a:ext>
            </a:extLst>
          </p:cNvPr>
          <p:cNvGrpSpPr/>
          <p:nvPr/>
        </p:nvGrpSpPr>
        <p:grpSpPr>
          <a:xfrm>
            <a:off x="2897982" y="2267316"/>
            <a:ext cx="6396036" cy="1936066"/>
            <a:chOff x="-23811" y="905724"/>
            <a:chExt cx="6396036" cy="19360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39AEDD-3FD8-8747-1FDD-4560A145E27B}"/>
                </a:ext>
              </a:extLst>
            </p:cNvPr>
            <p:cNvSpPr txBox="1"/>
            <p:nvPr/>
          </p:nvSpPr>
          <p:spPr>
            <a:xfrm>
              <a:off x="2115758" y="905724"/>
              <a:ext cx="4256467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/>
                <a:t>Funktionen tar som parameter en hel ”book” (208 bytes). Dessa måste då kopieras till stacken (igen) varje gång funktionen kallas. </a:t>
              </a:r>
              <a:endParaRPr lang="LID4096"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F4AB58-3A45-825C-8A28-5A51141E70EC}"/>
                </a:ext>
              </a:extLst>
            </p:cNvPr>
            <p:cNvSpPr/>
            <p:nvPr/>
          </p:nvSpPr>
          <p:spPr>
            <a:xfrm>
              <a:off x="-23811" y="2603666"/>
              <a:ext cx="1162049" cy="2381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C07B8D-8053-DD51-AFB0-2297E58932A1}"/>
                </a:ext>
              </a:extLst>
            </p:cNvPr>
            <p:cNvCxnSpPr>
              <a:cxnSpLocks/>
              <a:stCxn id="10" idx="1"/>
              <a:endCxn id="11" idx="0"/>
            </p:cNvCxnSpPr>
            <p:nvPr/>
          </p:nvCxnSpPr>
          <p:spPr>
            <a:xfrm flipH="1">
              <a:off x="557214" y="1505889"/>
              <a:ext cx="1558544" cy="10977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218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7B14-C783-C541-118F-CF754D54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C1F-89C9-3247-3F4C-5C63A38D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Pekare till strukturer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665B75-02F3-7E7E-C7D6-3F9463E5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typedef struct</a:t>
            </a:r>
            <a:r>
              <a:rPr lang="en-GB" sz="1600">
                <a:latin typeface="Consolas" panose="020B0609020204030204" pitchFamily="49" charset="0"/>
              </a:rPr>
              <a:t>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{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600">
                <a:latin typeface="Consolas" panose="020B0609020204030204" pitchFamily="49" charset="0"/>
              </a:rPr>
              <a:t> title[100];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char</a:t>
            </a:r>
            <a:r>
              <a:rPr lang="en-GB" sz="1600">
                <a:latin typeface="Consolas" panose="020B0609020204030204" pitchFamily="49" charset="0"/>
              </a:rPr>
              <a:t> author[100];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num_pages;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</a:t>
            </a: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short</a:t>
            </a:r>
            <a:r>
              <a:rPr lang="en-GB" sz="1600">
                <a:latin typeface="Consolas" panose="020B0609020204030204" pitchFamily="49" charset="0"/>
              </a:rPr>
              <a:t> ISBN;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} Book;</a:t>
            </a:r>
            <a:br>
              <a:rPr lang="en-GB" sz="1600">
                <a:latin typeface="Consolas" panose="020B0609020204030204" pitchFamily="49" charset="0"/>
              </a:rPr>
            </a:br>
            <a:endParaRPr lang="en-GB" sz="16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GB" sz="1600">
                <a:latin typeface="Consolas" panose="020B0609020204030204" pitchFamily="49" charset="0"/>
              </a:rPr>
              <a:t> ProcessBook( </a:t>
            </a:r>
            <a:r>
              <a:rPr lang="en-GB" sz="160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Book *book</a:t>
            </a:r>
            <a:r>
              <a:rPr lang="en-GB" sz="1600">
                <a:latin typeface="Consolas" panose="020B0609020204030204" pitchFamily="49" charset="0"/>
              </a:rPr>
              <a:t> );</a:t>
            </a:r>
            <a:br>
              <a:rPr lang="en-GB" sz="1600">
                <a:latin typeface="Consolas" panose="020B0609020204030204" pitchFamily="49" charset="0"/>
              </a:rPr>
            </a:b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latin typeface="Consolas" panose="020B0609020204030204" pitchFamily="49" charset="0"/>
              </a:rPr>
              <a:t> main() {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Book book = { "Middlemarch",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              "George Elliot", 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              370, 1234 };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  ProcessBook(</a:t>
            </a:r>
            <a:r>
              <a:rPr lang="en-GB" sz="160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&amp;book</a:t>
            </a:r>
            <a:r>
              <a:rPr lang="en-GB" sz="1600">
                <a:latin typeface="Consolas" panose="020B0609020204030204" pitchFamily="49" charset="0"/>
              </a:rPr>
              <a:t>);</a:t>
            </a:r>
            <a:br>
              <a:rPr lang="en-GB" sz="1600">
                <a:latin typeface="Consolas" panose="020B0609020204030204" pitchFamily="49" charset="0"/>
              </a:rPr>
            </a:br>
            <a:r>
              <a:rPr lang="en-GB" sz="16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LID4096" sz="1600"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3DDB3-6E39-BF31-91E6-821AD15AB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212F-FF82-AD96-4447-F5CC851E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21A9A-54B4-21F1-04A2-F104150B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12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A0529E-00C6-467D-5B26-B18D16494B2D}"/>
              </a:ext>
            </a:extLst>
          </p:cNvPr>
          <p:cNvGrpSpPr/>
          <p:nvPr/>
        </p:nvGrpSpPr>
        <p:grpSpPr>
          <a:xfrm>
            <a:off x="2871789" y="1690688"/>
            <a:ext cx="4367211" cy="2483861"/>
            <a:chOff x="-23811" y="357929"/>
            <a:chExt cx="4367211" cy="24838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CE5489-0620-0A61-6C5E-3188F89DFE1A}"/>
                </a:ext>
              </a:extLst>
            </p:cNvPr>
            <p:cNvSpPr txBox="1"/>
            <p:nvPr/>
          </p:nvSpPr>
          <p:spPr>
            <a:xfrm>
              <a:off x="86933" y="357929"/>
              <a:ext cx="4256467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v-SE"/>
                <a:t>Det är oftast bättre att bara skicka en </a:t>
              </a:r>
              <a:r>
                <a:rPr lang="sv-SE" i="1"/>
                <a:t>pekare</a:t>
              </a:r>
              <a:r>
                <a:rPr lang="sv-SE"/>
                <a:t> (addressen) till en stor structure.</a:t>
              </a:r>
              <a:endParaRPr lang="LID409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97CAEB-CF84-8D1E-A80B-8B0E19FD551B}"/>
                </a:ext>
              </a:extLst>
            </p:cNvPr>
            <p:cNvSpPr/>
            <p:nvPr/>
          </p:nvSpPr>
          <p:spPr>
            <a:xfrm>
              <a:off x="-23811" y="2603666"/>
              <a:ext cx="1276349" cy="2381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B52E8FD-BDDB-0662-CA78-1C34364B9570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 flipH="1">
              <a:off x="614364" y="1004260"/>
              <a:ext cx="1600803" cy="15994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CE290FE-87B1-695B-1631-239EAD6885E9}"/>
              </a:ext>
            </a:extLst>
          </p:cNvPr>
          <p:cNvSpPr txBox="1">
            <a:spLocks/>
          </p:cNvSpPr>
          <p:nvPr/>
        </p:nvSpPr>
        <p:spPr>
          <a:xfrm>
            <a:off x="7629525" y="1120775"/>
            <a:ext cx="4114800" cy="523557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Pilnotation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GB" sz="1600">
                <a:latin typeface="Consolas" panose="020B0609020204030204" pitchFamily="49" charset="0"/>
              </a:rPr>
              <a:t> ProcessBook( Book *book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  if((*book).num_pages &gt; 100)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// Book is too long. Panic!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}</a:t>
            </a:r>
            <a:br>
              <a:rPr lang="en-GB" sz="1600">
                <a:latin typeface="Consolas" panose="020B0609020204030204" pitchFamily="49" charset="0"/>
              </a:rPr>
            </a:br>
            <a:endParaRPr lang="en-GB" sz="160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b="1"/>
              <a:t>Ekvivalent: </a:t>
            </a:r>
            <a:endParaRPr lang="en-GB" sz="160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void</a:t>
            </a:r>
            <a:r>
              <a:rPr lang="en-GB" sz="1600">
                <a:latin typeface="Consolas" panose="020B0609020204030204" pitchFamily="49" charset="0"/>
              </a:rPr>
              <a:t> ProcessBook( Book *book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  if(</a:t>
            </a:r>
            <a:r>
              <a:rPr lang="en-GB" sz="1600" b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book-&gt;num_pages </a:t>
            </a:r>
            <a:r>
              <a:rPr lang="en-GB" sz="1600">
                <a:latin typeface="Consolas" panose="020B0609020204030204" pitchFamily="49" charset="0"/>
              </a:rPr>
              <a:t>&gt; 100)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// Book is too long. Panic!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>
                <a:latin typeface="Consolas" panose="020B0609020204030204" pitchFamily="49" charset="0"/>
              </a:rPr>
              <a:t>}</a:t>
            </a:r>
            <a:br>
              <a:rPr lang="en-GB" sz="1600">
                <a:latin typeface="Consolas" panose="020B0609020204030204" pitchFamily="49" charset="0"/>
              </a:rPr>
            </a:br>
            <a:endParaRPr lang="LID4096" sz="1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6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C630-EE5A-590D-3C43-D95886E4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 (typisk tentafråga)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35985-74CF-E702-6CA1-FF1CBB8B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E148-BD56-4755-B580-741EAF415DA4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0766B-01E1-0121-489F-CA0B5A90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345C0-44D2-4CB2-FC63-C7545486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13</a:t>
            </a:fld>
            <a:endParaRPr lang="LID4096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07886E-B1AB-2EE6-1DFB-95DAF2581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76" y="2485898"/>
            <a:ext cx="5299213" cy="25529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228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D33B-3A68-BFA4-B281-9B251DBB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Unions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8F4A84-6D2B-76FA-72F2-555AB1795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dirty="0"/>
              <a:t>Unions l</a:t>
            </a:r>
            <a:r>
              <a:rPr lang="sv-SE" sz="3200" dirty="0"/>
              <a:t>åter oss ha två eller flera </a:t>
            </a:r>
          </a:p>
          <a:p>
            <a:pPr marL="0" indent="0">
              <a:buNone/>
            </a:pPr>
            <a:r>
              <a:rPr lang="sv-SE" sz="3200" dirty="0"/>
              <a:t>variabler </a:t>
            </a:r>
            <a:r>
              <a:rPr lang="sv-SE" sz="3200" i="1" dirty="0"/>
              <a:t>på samma plats i minnet</a:t>
            </a:r>
          </a:p>
          <a:p>
            <a:pPr marL="0" indent="0">
              <a:buNone/>
            </a:pPr>
            <a:endParaRPr lang="sv-SE" sz="4000" i="1" dirty="0"/>
          </a:p>
          <a:p>
            <a:pPr marL="0" indent="0">
              <a:buNone/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integer;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  float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floating_point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 u;</a:t>
            </a:r>
            <a:endParaRPr lang="en-GB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u.integer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0xAABBCCDD;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u.floating_point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100.0f; 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LID4096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1474C-38AB-4678-AF91-AFBD3375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8064B-8330-9706-CC98-0F2C14DE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DFCB8-D552-419B-D5F7-B6E83D9E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14</a:t>
            </a:fld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F5E19-3407-E119-B0D4-809CBF2F70A1}"/>
              </a:ext>
            </a:extLst>
          </p:cNvPr>
          <p:cNvSpPr/>
          <p:nvPr/>
        </p:nvSpPr>
        <p:spPr>
          <a:xfrm>
            <a:off x="7808339" y="4770419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CEFCD-C1B0-35C9-ACA7-B653DECFAD20}"/>
              </a:ext>
            </a:extLst>
          </p:cNvPr>
          <p:cNvSpPr txBox="1"/>
          <p:nvPr/>
        </p:nvSpPr>
        <p:spPr>
          <a:xfrm>
            <a:off x="6951791" y="6204558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0EA2D5-E612-A271-BEE5-45F23CF8B5E1}"/>
              </a:ext>
            </a:extLst>
          </p:cNvPr>
          <p:cNvSpPr/>
          <p:nvPr/>
        </p:nvSpPr>
        <p:spPr>
          <a:xfrm>
            <a:off x="7808339" y="3252049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23A00-AA74-F39B-2649-8B5D2146CB04}"/>
              </a:ext>
            </a:extLst>
          </p:cNvPr>
          <p:cNvSpPr/>
          <p:nvPr/>
        </p:nvSpPr>
        <p:spPr>
          <a:xfrm>
            <a:off x="7808339" y="2668663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93F35C-15C0-D8A9-CD69-9C4B0D1C99F2}"/>
              </a:ext>
            </a:extLst>
          </p:cNvPr>
          <p:cNvSpPr/>
          <p:nvPr/>
        </p:nvSpPr>
        <p:spPr>
          <a:xfrm>
            <a:off x="7808339" y="2155699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EE9BCEC-3442-2742-04F7-23D963ED9F37}"/>
              </a:ext>
            </a:extLst>
          </p:cNvPr>
          <p:cNvSpPr/>
          <p:nvPr/>
        </p:nvSpPr>
        <p:spPr>
          <a:xfrm>
            <a:off x="9544334" y="3718142"/>
            <a:ext cx="68123" cy="10522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9F66C-682D-3C59-1A91-68EEBD7B743F}"/>
              </a:ext>
            </a:extLst>
          </p:cNvPr>
          <p:cNvSpPr txBox="1"/>
          <p:nvPr/>
        </p:nvSpPr>
        <p:spPr>
          <a:xfrm>
            <a:off x="9639868" y="4072873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909D7D-7354-BBF7-F205-4D168AC56209}"/>
              </a:ext>
            </a:extLst>
          </p:cNvPr>
          <p:cNvSpPr txBox="1"/>
          <p:nvPr/>
        </p:nvSpPr>
        <p:spPr>
          <a:xfrm>
            <a:off x="6974934" y="4705820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AB6A1F-47C4-FD87-0B29-0BD9C2A5FE07}"/>
              </a:ext>
            </a:extLst>
          </p:cNvPr>
          <p:cNvCxnSpPr/>
          <p:nvPr/>
        </p:nvCxnSpPr>
        <p:spPr>
          <a:xfrm>
            <a:off x="7808338" y="1908940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13AFC0F-399F-C1D6-6C43-B029256081B7}"/>
              </a:ext>
            </a:extLst>
          </p:cNvPr>
          <p:cNvSpPr txBox="1"/>
          <p:nvPr/>
        </p:nvSpPr>
        <p:spPr>
          <a:xfrm>
            <a:off x="8279116" y="1422254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97BF6C-ABFF-60B0-69DE-8479B647D97A}"/>
              </a:ext>
            </a:extLst>
          </p:cNvPr>
          <p:cNvGrpSpPr/>
          <p:nvPr/>
        </p:nvGrpSpPr>
        <p:grpSpPr>
          <a:xfrm>
            <a:off x="5450006" y="4508582"/>
            <a:ext cx="4027909" cy="273321"/>
            <a:chOff x="5450006" y="4508582"/>
            <a:chExt cx="4027909" cy="27332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A3B0D8-C40F-1F56-DAF5-B64FE48F7934}"/>
                </a:ext>
              </a:extLst>
            </p:cNvPr>
            <p:cNvSpPr txBox="1"/>
            <p:nvPr/>
          </p:nvSpPr>
          <p:spPr>
            <a:xfrm>
              <a:off x="5450006" y="4520293"/>
              <a:ext cx="2390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&amp;u.integer: </a:t>
              </a:r>
              <a:r>
                <a:rPr lang="sv-SE" sz="1100"/>
                <a:t>0x21000100</a:t>
              </a:r>
              <a:endParaRPr lang="LID4096" sz="11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53EA33-E970-7343-6032-514D7039132E}"/>
                </a:ext>
              </a:extLst>
            </p:cNvPr>
            <p:cNvSpPr/>
            <p:nvPr/>
          </p:nvSpPr>
          <p:spPr>
            <a:xfrm>
              <a:off x="7807302" y="4508582"/>
              <a:ext cx="1670613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65F159-FDC6-93C7-A3C0-E7B8F149DB19}"/>
                </a:ext>
              </a:extLst>
            </p:cNvPr>
            <p:cNvSpPr txBox="1"/>
            <p:nvPr/>
          </p:nvSpPr>
          <p:spPr>
            <a:xfrm>
              <a:off x="8197666" y="4535682"/>
              <a:ext cx="8258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 dirty="0">
                  <a:latin typeface="Consolas" panose="020B0609020204030204" pitchFamily="49" charset="0"/>
                </a:rPr>
                <a:t>0xAABBCCDD</a:t>
              </a:r>
              <a:endParaRPr lang="LID4096" sz="9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1B71C6-B67B-3DB6-A3D6-3F950BAF211E}"/>
              </a:ext>
            </a:extLst>
          </p:cNvPr>
          <p:cNvGrpSpPr/>
          <p:nvPr/>
        </p:nvGrpSpPr>
        <p:grpSpPr>
          <a:xfrm>
            <a:off x="4562901" y="4504549"/>
            <a:ext cx="4915014" cy="273321"/>
            <a:chOff x="4562901" y="4508582"/>
            <a:chExt cx="4915014" cy="27332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C1B4B29-6B0A-E9B4-74D9-E8A03A2A5F2B}"/>
                </a:ext>
              </a:extLst>
            </p:cNvPr>
            <p:cNvSpPr txBox="1"/>
            <p:nvPr/>
          </p:nvSpPr>
          <p:spPr>
            <a:xfrm>
              <a:off x="4562901" y="4520293"/>
              <a:ext cx="32778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 dirty="0">
                  <a:solidFill>
                    <a:srgbClr val="FF0000"/>
                  </a:solidFill>
                </a:rPr>
                <a:t>&amp;u.floating_point </a:t>
              </a:r>
              <a:r>
                <a:rPr lang="sv-SE" sz="1100" b="1" dirty="0"/>
                <a:t>= &amp;u.integer: </a:t>
              </a:r>
              <a:r>
                <a:rPr lang="sv-SE" sz="1100" dirty="0"/>
                <a:t>0x21000100</a:t>
              </a:r>
              <a:endParaRPr lang="LID4096" sz="11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34546B6-F975-9EDD-C167-CD211AAAD075}"/>
                </a:ext>
              </a:extLst>
            </p:cNvPr>
            <p:cNvSpPr/>
            <p:nvPr/>
          </p:nvSpPr>
          <p:spPr>
            <a:xfrm>
              <a:off x="7807302" y="4508582"/>
              <a:ext cx="1670613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088EDD-1B1E-72D9-D049-C548646294BB}"/>
                </a:ext>
              </a:extLst>
            </p:cNvPr>
            <p:cNvSpPr txBox="1"/>
            <p:nvPr/>
          </p:nvSpPr>
          <p:spPr>
            <a:xfrm>
              <a:off x="8197665" y="4533127"/>
              <a:ext cx="8258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0x42c80000</a:t>
              </a:r>
              <a:endParaRPr lang="LID4096" sz="90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1C318B6-729B-464B-EF1D-3DF60AAF3FAB}"/>
              </a:ext>
            </a:extLst>
          </p:cNvPr>
          <p:cNvSpPr txBox="1">
            <a:spLocks/>
          </p:cNvSpPr>
          <p:nvPr/>
        </p:nvSpPr>
        <p:spPr>
          <a:xfrm>
            <a:off x="2954530" y="2926228"/>
            <a:ext cx="4020404" cy="76099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600" b="1">
                <a:latin typeface="+mj-lt"/>
              </a:rPr>
              <a:t>Praktiskt när vi vill kunna tyda samma data på olika sätt, </a:t>
            </a:r>
            <a:r>
              <a:rPr lang="sv-SE" sz="1600" b="1" i="1">
                <a:latin typeface="+mj-lt"/>
              </a:rPr>
              <a:t>eller</a:t>
            </a:r>
            <a:r>
              <a:rPr lang="sv-SE" sz="1600" b="1">
                <a:latin typeface="+mj-lt"/>
              </a:rPr>
              <a:t> när vi vill spara minne och vet att två variabler är mutually exclusive.</a:t>
            </a:r>
          </a:p>
        </p:txBody>
      </p:sp>
    </p:spTree>
    <p:extLst>
      <p:ext uri="{BB962C8B-B14F-4D97-AF65-F5344CB8AC3E}">
        <p14:creationId xmlns:p14="http://schemas.microsoft.com/office/powerpoint/2010/main" val="132005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4E603-29A8-C938-43EC-B38F432A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8A8D-9CC4-804B-56E4-FCD83FB4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Unions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5B3CBD-0BBD-0A44-A74E-02FC680F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/>
              <a:t>Unions l</a:t>
            </a:r>
            <a:r>
              <a:rPr lang="sv-SE" sz="3200"/>
              <a:t>åter oss ha två eller flera </a:t>
            </a:r>
          </a:p>
          <a:p>
            <a:pPr marL="0" indent="0">
              <a:buNone/>
            </a:pPr>
            <a:r>
              <a:rPr lang="sv-SE" sz="3200"/>
              <a:t>variabler </a:t>
            </a:r>
            <a:r>
              <a:rPr lang="sv-SE" sz="3200" i="1"/>
              <a:t>på samma plats i minnet</a:t>
            </a:r>
          </a:p>
          <a:p>
            <a:pPr marL="0" indent="0">
              <a:buNone/>
            </a:pPr>
            <a:endParaRPr lang="sv-SE" sz="4000" i="1"/>
          </a:p>
          <a:p>
            <a:pPr marL="0" indent="0">
              <a:buNone/>
            </a:pPr>
            <a:r>
              <a:rPr lang="en-GB" sz="16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b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>
                <a:solidFill>
                  <a:srgbClr val="0000FF"/>
                </a:solidFill>
                <a:latin typeface="Consolas" panose="020B0609020204030204" pitchFamily="49" charset="0"/>
              </a:rPr>
              <a:t>  union</a:t>
            </a: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integer;</a:t>
            </a:r>
            <a:b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>
                <a:solidFill>
                  <a:srgbClr val="0000FF"/>
                </a:solidFill>
                <a:latin typeface="Consolas" panose="020B0609020204030204" pitchFamily="49" charset="0"/>
              </a:rPr>
              <a:t>    float</a:t>
            </a: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floating_point; </a:t>
            </a:r>
            <a:b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 } u;</a:t>
            </a:r>
          </a:p>
          <a:p>
            <a:pPr marL="0" indent="0">
              <a:buNone/>
            </a:pP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 u.integer = 0x42c40000;</a:t>
            </a:r>
          </a:p>
          <a:p>
            <a:pPr marL="0" indent="0">
              <a:buNone/>
            </a:pP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  u.floating_point = 100.0f; </a:t>
            </a:r>
          </a:p>
          <a:p>
            <a:pPr marL="0" indent="0">
              <a:buNone/>
            </a:pPr>
            <a:r>
              <a:rPr lang="en-GB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LID4096" sz="4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BA2AF-F717-736C-A2C8-5D52B5B4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C77F-D440-48E9-2D5B-F94DB7C4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40371-CE52-072B-4508-86C6FCF2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15</a:t>
            </a:fld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628D48-2335-8107-BA4C-8CE2A1F6EC26}"/>
              </a:ext>
            </a:extLst>
          </p:cNvPr>
          <p:cNvSpPr/>
          <p:nvPr/>
        </p:nvSpPr>
        <p:spPr>
          <a:xfrm>
            <a:off x="7808339" y="4770419"/>
            <a:ext cx="1669576" cy="15649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Program Code</a:t>
            </a:r>
            <a:endParaRPr lang="LID409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03C4E-EA0F-871E-AA96-19DB28772432}"/>
              </a:ext>
            </a:extLst>
          </p:cNvPr>
          <p:cNvSpPr txBox="1"/>
          <p:nvPr/>
        </p:nvSpPr>
        <p:spPr>
          <a:xfrm>
            <a:off x="6951791" y="6204558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0x20000000</a:t>
            </a:r>
            <a:endParaRPr lang="LID4096" sz="1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CBA1CE-DF60-5984-D261-02389E14D67B}"/>
              </a:ext>
            </a:extLst>
          </p:cNvPr>
          <p:cNvSpPr/>
          <p:nvPr/>
        </p:nvSpPr>
        <p:spPr>
          <a:xfrm>
            <a:off x="7808339" y="3252049"/>
            <a:ext cx="1669576" cy="15183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A8A20-4C48-B214-5DE2-4D5EE5BECB9D}"/>
              </a:ext>
            </a:extLst>
          </p:cNvPr>
          <p:cNvSpPr/>
          <p:nvPr/>
        </p:nvSpPr>
        <p:spPr>
          <a:xfrm>
            <a:off x="7808339" y="2668663"/>
            <a:ext cx="1669576" cy="58338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F64B0-B576-1D55-4BD7-7582805D29FB}"/>
              </a:ext>
            </a:extLst>
          </p:cNvPr>
          <p:cNvSpPr/>
          <p:nvPr/>
        </p:nvSpPr>
        <p:spPr>
          <a:xfrm>
            <a:off x="7808339" y="2155699"/>
            <a:ext cx="1669576" cy="5129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/>
              <a:t>Stack</a:t>
            </a:r>
            <a:endParaRPr lang="LID4096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BCFA42A5-9506-DCE2-CBF5-00F46DDF3276}"/>
              </a:ext>
            </a:extLst>
          </p:cNvPr>
          <p:cNvSpPr/>
          <p:nvPr/>
        </p:nvSpPr>
        <p:spPr>
          <a:xfrm>
            <a:off x="9544334" y="3718142"/>
            <a:ext cx="68123" cy="105227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0EE7BB-CA12-B19F-B9DD-D655ED232D4A}"/>
              </a:ext>
            </a:extLst>
          </p:cNvPr>
          <p:cNvSpPr txBox="1"/>
          <p:nvPr/>
        </p:nvSpPr>
        <p:spPr>
          <a:xfrm>
            <a:off x="9639868" y="4072873"/>
            <a:ext cx="20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/>
              <a:t>Initialized data area</a:t>
            </a:r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467B5C-0BBE-7E99-68AF-A42E2B28BA48}"/>
              </a:ext>
            </a:extLst>
          </p:cNvPr>
          <p:cNvSpPr txBox="1"/>
          <p:nvPr/>
        </p:nvSpPr>
        <p:spPr>
          <a:xfrm>
            <a:off x="6974934" y="4705820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100"/>
              <a:t>0x200000FF</a:t>
            </a:r>
            <a:endParaRPr lang="LID4096" sz="11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21FD69-1677-9C22-5B82-651F7B4A6CE3}"/>
              </a:ext>
            </a:extLst>
          </p:cNvPr>
          <p:cNvCxnSpPr/>
          <p:nvPr/>
        </p:nvCxnSpPr>
        <p:spPr>
          <a:xfrm>
            <a:off x="7808338" y="1908940"/>
            <a:ext cx="1669577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EDBB42-D205-FFB8-28E9-650C64821F02}"/>
              </a:ext>
            </a:extLst>
          </p:cNvPr>
          <p:cNvSpPr txBox="1"/>
          <p:nvPr/>
        </p:nvSpPr>
        <p:spPr>
          <a:xfrm>
            <a:off x="8279116" y="1422254"/>
            <a:ext cx="728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200"/>
              <a:t>32 bits</a:t>
            </a:r>
          </a:p>
          <a:p>
            <a:pPr algn="ctr"/>
            <a:r>
              <a:rPr lang="sv-SE" sz="1200"/>
              <a:t>(4 bytes)</a:t>
            </a:r>
            <a:endParaRPr lang="LID4096" sz="12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B874D9-AD65-0B23-7C64-3120C3F89A0C}"/>
              </a:ext>
            </a:extLst>
          </p:cNvPr>
          <p:cNvGrpSpPr/>
          <p:nvPr/>
        </p:nvGrpSpPr>
        <p:grpSpPr>
          <a:xfrm>
            <a:off x="5450006" y="4508582"/>
            <a:ext cx="4027909" cy="273321"/>
            <a:chOff x="5450006" y="4508582"/>
            <a:chExt cx="4027909" cy="27332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9EA56B-B5EF-38F4-D2DC-6C2C240E86C8}"/>
                </a:ext>
              </a:extLst>
            </p:cNvPr>
            <p:cNvSpPr txBox="1"/>
            <p:nvPr/>
          </p:nvSpPr>
          <p:spPr>
            <a:xfrm>
              <a:off x="5450006" y="4520293"/>
              <a:ext cx="23907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/>
                <a:t>&amp;u.integer: </a:t>
              </a:r>
              <a:r>
                <a:rPr lang="sv-SE" sz="1100"/>
                <a:t>0x21000100</a:t>
              </a:r>
              <a:endParaRPr lang="LID4096" sz="11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4FB838-3837-7725-D231-CE4DAD701028}"/>
                </a:ext>
              </a:extLst>
            </p:cNvPr>
            <p:cNvSpPr/>
            <p:nvPr/>
          </p:nvSpPr>
          <p:spPr>
            <a:xfrm>
              <a:off x="7807302" y="4508582"/>
              <a:ext cx="1670613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D9F1BD-A891-F5F7-E439-E224BA989D03}"/>
                </a:ext>
              </a:extLst>
            </p:cNvPr>
            <p:cNvSpPr txBox="1"/>
            <p:nvPr/>
          </p:nvSpPr>
          <p:spPr>
            <a:xfrm>
              <a:off x="8197666" y="4535682"/>
              <a:ext cx="8258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>
                  <a:latin typeface="Consolas" panose="020B0609020204030204" pitchFamily="49" charset="0"/>
                </a:rPr>
                <a:t>0x42c40000</a:t>
              </a:r>
              <a:endParaRPr lang="LID4096" sz="900">
                <a:latin typeface="Consolas" panose="020B0609020204030204" pitchFamily="49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CECF92D-344F-0455-2868-CBF3BD155099}"/>
              </a:ext>
            </a:extLst>
          </p:cNvPr>
          <p:cNvSpPr txBox="1"/>
          <p:nvPr/>
        </p:nvSpPr>
        <p:spPr>
          <a:xfrm>
            <a:off x="5450343" y="4258229"/>
            <a:ext cx="2390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1100"/>
              <a:t>0x21000104</a:t>
            </a:r>
            <a:endParaRPr lang="LID4096" sz="11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136B30-80E8-7733-2AC4-52FD635E89DF}"/>
              </a:ext>
            </a:extLst>
          </p:cNvPr>
          <p:cNvGrpSpPr/>
          <p:nvPr/>
        </p:nvGrpSpPr>
        <p:grpSpPr>
          <a:xfrm>
            <a:off x="4562901" y="4504549"/>
            <a:ext cx="4915014" cy="273321"/>
            <a:chOff x="4562901" y="4508582"/>
            <a:chExt cx="4915014" cy="27332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701BF40-AE5E-3D33-9E99-EC39AE5B1BCD}"/>
                </a:ext>
              </a:extLst>
            </p:cNvPr>
            <p:cNvSpPr txBox="1"/>
            <p:nvPr/>
          </p:nvSpPr>
          <p:spPr>
            <a:xfrm>
              <a:off x="4562901" y="4520293"/>
              <a:ext cx="32778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sv-SE" sz="1100" b="1">
                  <a:solidFill>
                    <a:srgbClr val="FF0000"/>
                  </a:solidFill>
                </a:rPr>
                <a:t>&amp;u.floating_point </a:t>
              </a:r>
              <a:r>
                <a:rPr lang="sv-SE" sz="1100" b="1"/>
                <a:t>= &amp;u.integer: </a:t>
              </a:r>
              <a:r>
                <a:rPr lang="sv-SE" sz="1100"/>
                <a:t>0x21000100</a:t>
              </a:r>
              <a:endParaRPr lang="LID4096" sz="11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6511E3-604A-F319-F35A-AEFF1140C9AF}"/>
                </a:ext>
              </a:extLst>
            </p:cNvPr>
            <p:cNvSpPr/>
            <p:nvPr/>
          </p:nvSpPr>
          <p:spPr>
            <a:xfrm>
              <a:off x="7807302" y="4508582"/>
              <a:ext cx="1670613" cy="261610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66FBCE-180B-814F-B1B6-40BABA3FA4F8}"/>
                </a:ext>
              </a:extLst>
            </p:cNvPr>
            <p:cNvSpPr txBox="1"/>
            <p:nvPr/>
          </p:nvSpPr>
          <p:spPr>
            <a:xfrm>
              <a:off x="8197666" y="4535682"/>
              <a:ext cx="8258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900">
                  <a:solidFill>
                    <a:srgbClr val="FF0000"/>
                  </a:solidFill>
                  <a:latin typeface="Consolas" panose="020B0609020204030204" pitchFamily="49" charset="0"/>
                </a:rPr>
                <a:t>0x42c80000</a:t>
              </a:r>
              <a:endParaRPr lang="LID4096" sz="90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B0784CBB-3DDE-DA30-C156-5B59AF1AB405}"/>
              </a:ext>
            </a:extLst>
          </p:cNvPr>
          <p:cNvSpPr txBox="1">
            <a:spLocks/>
          </p:cNvSpPr>
          <p:nvPr/>
        </p:nvSpPr>
        <p:spPr>
          <a:xfrm>
            <a:off x="3044588" y="2546310"/>
            <a:ext cx="4020404" cy="76099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sv-SE" sz="1600" b="1">
                <a:latin typeface="+mj-lt"/>
              </a:rPr>
              <a:t>Praktiskt när vi vill kunna tyda samma data på olika sätt, </a:t>
            </a:r>
            <a:r>
              <a:rPr lang="sv-SE" sz="1600" b="1" i="1">
                <a:latin typeface="+mj-lt"/>
              </a:rPr>
              <a:t>eller</a:t>
            </a:r>
            <a:r>
              <a:rPr lang="sv-SE" sz="1600" b="1">
                <a:latin typeface="+mj-lt"/>
              </a:rPr>
              <a:t> när vi vill spara minne och vet att två variabler är mutually exclusive.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4F527C-5342-A2C5-D032-9F2EF2CC3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792" y="3126150"/>
            <a:ext cx="8741693" cy="2445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019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D62E-A414-DE5D-A736-EEDB69A9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Enums</a:t>
            </a:r>
            <a:endParaRPr lang="LID4096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91EB92-6AB0-75E3-DDFD-B36F806AB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3600"/>
              <a:t>Enums ger oss uppräkningsbara typer med namn</a:t>
            </a:r>
            <a:endParaRPr lang="LID4096" sz="36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1F771-1690-0D04-9A03-284A56C4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C8C6-7D5A-454E-9AA8-5FD8ED471EB1}" type="datetime1">
              <a:rPr lang="LID4096" smtClean="0"/>
              <a:t>02/10/2026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7DACE-6230-FF6F-EB18-089F9BA3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Maskinorienterad Programmering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29896-FDAC-1D6F-6C84-8715F0B9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09CE-3A1D-43F5-8F4E-45D6477AD820}" type="slidenum">
              <a:rPr lang="LID4096" smtClean="0"/>
              <a:t>16</a:t>
            </a:fld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C2FD67-BE3A-B575-AB55-EE58259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369" y="2588957"/>
            <a:ext cx="8741693" cy="2445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EFED3F-20D6-4BE8-70AE-B4085A59D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89" y="3534585"/>
            <a:ext cx="4375681" cy="26614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516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BEB1-32DC-14F9-A873-EC4345CC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Bitfields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D197-C643-6DF4-1FF6-784506B5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2970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FDE5-22DE-313B-D7BC-98848515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Sneak Peak: Basic Timers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2A4FD-60C4-E047-97A0-E342FB41D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549" y="1693971"/>
            <a:ext cx="4853451" cy="5164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FB6EC7-CA95-71BB-7A36-0BFD6C2FC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21" y="3233426"/>
            <a:ext cx="6583400" cy="129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6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B5F0-F457-A59B-81F5-1E8BC57F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CBFB-00E9-027D-06AB-8891F9B6B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Basic Timers – With struct?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1D7C2-9D66-6ACC-1A35-4351130B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549" y="1693971"/>
            <a:ext cx="4853451" cy="5164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63682-C525-C2AE-5DAE-4E431342E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98" y="1900719"/>
            <a:ext cx="3942254" cy="47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98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C9F0-F186-BDB3-9DC7-4406458D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51BE-0240-EFD0-C9BB-AAA95D1C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Basic Timers – With struct?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CE4DA-8B18-0A39-998A-F3632CE8E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549" y="1693971"/>
            <a:ext cx="4853451" cy="5164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2BF47C-0E1E-2D62-8985-A62789D99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04140"/>
            <a:ext cx="4906060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14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218C-945F-E2EC-B323-8754E3F27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FDE6-5084-0B5D-D39C-06E39ACB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Basic Timers – Padding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BC019-ED1F-EF7C-9B96-56F392C4D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549" y="1693971"/>
            <a:ext cx="4853451" cy="5164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A52972-FDE0-8586-DEA3-18E93A8CF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07654"/>
            <a:ext cx="3629532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61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2214-B006-D5AC-8B52-86993045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Bit access</a:t>
            </a:r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22E975-31D3-051C-ABFA-1420F7E1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2057208"/>
            <a:ext cx="9269119" cy="2743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7F669-A8D5-9827-2601-1C85C54C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497" y="4800791"/>
            <a:ext cx="4525006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0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4812-096C-EB9C-3E3C-FE2A6FAF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231B-E914-B0AD-9D0D-B5507A49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Bit access</a:t>
            </a:r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5B33D-68B2-D218-AAFF-1FDD9AC5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2057208"/>
            <a:ext cx="9269119" cy="2743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525E13-2BD0-4902-8ABD-D6A8E8A3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90" y="3990809"/>
            <a:ext cx="3943900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0CDCC-5879-989F-2067-597EB14C5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562" y="2485739"/>
            <a:ext cx="4191585" cy="4096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81C606-DE09-0696-F6F2-27392754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219" y="5416400"/>
            <a:ext cx="2781688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06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C8E3-208A-E3D4-39FB-E925B828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29E6-95B6-B9DB-8E1B-9870BA50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Bit access</a:t>
            </a:r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2C426-9070-07E2-F68E-D0321E40A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2462948"/>
            <a:ext cx="9831172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5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D7E1-6050-CFC3-C3B8-3CFFBA0B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DF13-9B55-7184-D7E7-DE9895F3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Bit access</a:t>
            </a:r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A3A3C-8A6E-6925-263A-5355C38D9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51" y="2017117"/>
            <a:ext cx="9478698" cy="3982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E4C7F5-77A6-F193-7EB8-3664B5019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74" y="5610146"/>
            <a:ext cx="9831172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82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7A5B-4946-14B1-E04E-E481EE9A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3B47B-531E-AD17-2C85-F3D97633A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133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3857</TotalTime>
  <Words>1676</Words>
  <Application>Microsoft Office PowerPoint</Application>
  <PresentationFormat>Widescreen</PresentationFormat>
  <Paragraphs>356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Wingdings</vt:lpstr>
      <vt:lpstr>Office Theme</vt:lpstr>
      <vt:lpstr>Tråkigt att vänta på att lektionen skall börja?</vt:lpstr>
      <vt:lpstr>Lektion 7</vt:lpstr>
      <vt:lpstr>typedef</vt:lpstr>
      <vt:lpstr>Structures</vt:lpstr>
      <vt:lpstr>Structures - Syntax</vt:lpstr>
      <vt:lpstr>Structures - Initialisering</vt:lpstr>
      <vt:lpstr>Alignment (repetition)</vt:lpstr>
      <vt:lpstr>Structures i minnet</vt:lpstr>
      <vt:lpstr>Structures i minnet</vt:lpstr>
      <vt:lpstr>Nästlade strukturer</vt:lpstr>
      <vt:lpstr>Pekare till strukturer</vt:lpstr>
      <vt:lpstr>Pekare till strukturer</vt:lpstr>
      <vt:lpstr>Exempel (typisk tentafråga)</vt:lpstr>
      <vt:lpstr>Unions</vt:lpstr>
      <vt:lpstr>Unions</vt:lpstr>
      <vt:lpstr>Enums</vt:lpstr>
      <vt:lpstr>Bitfields</vt:lpstr>
      <vt:lpstr>Sneak Peak: Basic Timers</vt:lpstr>
      <vt:lpstr>Basic Timers – With struct?</vt:lpstr>
      <vt:lpstr>Basic Timers – With struct?</vt:lpstr>
      <vt:lpstr>Basic Timers – Padding</vt:lpstr>
      <vt:lpstr>Bit access</vt:lpstr>
      <vt:lpstr>Bit access</vt:lpstr>
      <vt:lpstr>Bit access</vt:lpstr>
      <vt:lpstr>Bit access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66</cp:revision>
  <dcterms:created xsi:type="dcterms:W3CDTF">2026-01-14T14:09:03Z</dcterms:created>
  <dcterms:modified xsi:type="dcterms:W3CDTF">2026-02-10T09:55:56Z</dcterms:modified>
</cp:coreProperties>
</file>