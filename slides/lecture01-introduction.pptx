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>
        <p:scale>
          <a:sx n="200" d="100"/>
          <a:sy n="200" d="100"/>
        </p:scale>
        <p:origin x="1500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657E-FDB3-4206-AA4E-9AE2AAB0A71C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41B-EE32-43AA-BF26-21D12108C6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1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3000/html/lectures/lecture01_introduction.html?serverWindowId=31253021-29e0-4518-8ecd-c6eb68d79c64#fn1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3000/html/lectures/lecture01_introduction.html?serverWindowId=31253021-29e0-4518-8ecd-c6eb68d79c64#fn1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3000/html/lectures/lecture01_introduction.html?serverWindowId=31253021-29e0-4518-8ecd-c6eb68d79c64#fn1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to this course in 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Oriented Programming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In a previous course, you have seen how simple logic gates can be combined to create an ALU, a data path, and finally a complete working tiny processor. In this course you will build on this knowledge and learn how to program a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modern, off-the-shelf 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microcontroller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baseline="300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You will develop programs for this device using assembly and C and you will learn how to communicate with peripheral devices (lights, buttons, displays and a tiny speaker). 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809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to this course in 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Oriented Programming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endParaRPr lang="LID4096"/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53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previous course, you have seen how simple logic gates can be combined to create an ALU, a data path, and finally a complete working tiny processor. In this course you will build on this knowledge and learn how to program a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modern, off-the-shelf 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microcontroller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baseline="300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You will develop programs for this device using assembly and C and you will learn how to communicate with peripheral devices (lights, buttons, displays and a tiny speaker).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illustrated in the image below, the course is also a prerequisite for several upcoming courses.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0148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8A94-7D14-214E-B9D6-8F4EABEF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D009E-3A7E-A67F-123E-F9DCF3A64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5CCD0A-2D7E-C18E-CBE3-8594948C3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to this course in 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Oriented Programming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In a previous course, you have seen how simple logic gates can be combined to create an ALU, a data path, and finally a complete working tiny processor. In this course you will build on this knowledge and learn how to program a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modern, off-the-shelf 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microcontroller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baseline="300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You will develop programs for this device using assembly and C and you will learn how to communicate with peripheral devices (lights, buttons, displays and a tiny speaker).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JOBS!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525D7-EB52-DB7B-1087-3966CB397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85882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AEC-3E6C-4451-F486-87E023A5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3331C-A0B6-0FB2-3F60-753189EC5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49D7-5229-A7AD-747E-E6E2A948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05F1-D570-FD0F-514D-706EC47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2FFF5-DA5D-BE5F-C578-D94F74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2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4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AE1C-835E-4237-40BE-548098F7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726C-642C-40B9-29E4-8CB64383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61FB-8DCF-74EB-CB4F-6C8C5FD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EE97-CCFB-62D1-AD51-EC2640F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895-9CC8-B3E0-C23B-C34A3154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833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12F9C-95D6-9F26-CB8F-4684FA3B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225D4-B7C6-E53C-86CB-746972F8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E4528-78B3-D076-447C-021E6D7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6A9B-7759-36F2-D666-8667C8DE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EAB-5EF1-8A74-8968-8F0DB2B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40A9C-A1CD-86C2-36E4-17DFA2A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13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55E2-B180-DE62-C73A-B825DAA5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A99E-F1A7-2F45-FDF1-5E254A75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4C4-573F-7FAB-48DA-DAF97814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018C2-E8F6-E5E6-79EA-3155C3450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F297-CD62-07D0-9158-3B908BD1C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7138E-77A6-33DA-62AD-A97A7ECC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97087-613E-94E4-030D-9C72E53C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AB01B-9183-BED8-5270-E118181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91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8B82-510D-675C-90C7-E85E633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D4E8-F59F-752C-FE4A-3B1CDA10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05F-55BF-5716-B67E-826F7B5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E29FC-9E20-22D5-23DC-B42B2A2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69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A2B7A-FCD7-89EB-1A96-B7932F9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27F0C-76DF-9396-D50C-E80D75E8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1C10-AF5A-33B6-0088-2D81FA2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24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353D-A96C-86D7-3B51-4AEF89B0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6A3-8A7E-2232-C68D-B497DB40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DFD2-8147-E4EA-30DB-B6EE92AF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C160-1681-9853-0D30-D48019EF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D775-8CC4-1D89-390B-CBE113A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6AE1-23BA-5111-5A0E-06335408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2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FD3-1A53-ADC5-6F25-17D89C1E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64E3-FFB1-8C2C-B98F-A7A970F3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9862-B6A9-674B-99C4-8ABD188F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084A-CEA6-A23A-8D58-A22A15A2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325F-BB03-5E1E-8BBA-77021E9F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E28DD-BD5D-D807-4F41-CEA2BBB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236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E742-C2AD-6643-CED1-AFDDE4FC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C0158-1729-4A7E-7B94-781E31237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7F6-811A-D0A0-06B1-41B03656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2C692-F6C8-CB76-B789-5004D960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7830-571D-5B23-D628-16DCF36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51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0549-8A95-0497-7701-706A861F1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BB1F-4FAC-A79D-8CEF-065067FC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EFF8-EAC7-D303-AE5E-3FC052A5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0B46-B5A1-A5C4-7709-AF9C579E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CE26-1654-5732-2FCC-D9586B0F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779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C8A0-0DE0-C4FC-A8FB-D00A440D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F994-83D9-1216-3BA3-76E9A3D4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F0C-3972-8E81-14A3-E51F0008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B631-5B1A-4879-85E7-A8D4C94FBFC5}" type="datetimeFigureOut">
              <a:rPr lang="LID4096" smtClean="0"/>
              <a:t>01/14/2026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C7A3-C949-61E8-A947-BF7E59CD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1E2F-B9DE-A2C3-9386-5BE1861F0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42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www.allaboutcircuits.com/projects/category/embedded/microcontroller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projecthub.arduino.cc/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www.seeedstudio.com/blog/2021/03/26/10-raspberry-pi-pico-projects/" TargetMode="Externa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D81DEA-581A-EB2C-8A0A-69B5EB5AEA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5DBD27-1B21-BEF6-809C-454216D0054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alpha val="51000"/>
            </a:schemeClr>
          </a:solidFill>
        </p:spPr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Hur m</a:t>
            </a:r>
            <a:r>
              <a:rPr lang="sv-SE">
                <a:solidFill>
                  <a:schemeClr val="bg1"/>
                </a:solidFill>
              </a:rPr>
              <a:t>ånga mikroprocessorer ser vi på bilden? </a:t>
            </a:r>
            <a:endParaRPr lang="LID4096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75F9AAE-5AD8-C9E8-DA4F-584730737B24}"/>
              </a:ext>
            </a:extLst>
          </p:cNvPr>
          <p:cNvSpPr txBox="1">
            <a:spLocks/>
          </p:cNvSpPr>
          <p:nvPr/>
        </p:nvSpPr>
        <p:spPr>
          <a:xfrm>
            <a:off x="1045207" y="4882127"/>
            <a:ext cx="3163866" cy="1407526"/>
          </a:xfrm>
          <a:prstGeom prst="rect">
            <a:avLst/>
          </a:prstGeom>
          <a:solidFill>
            <a:schemeClr val="tx1">
              <a:alpha val="51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sz="1400" b="1">
                <a:solidFill>
                  <a:schemeClr val="bg1"/>
                </a:solidFill>
              </a:rPr>
              <a:t>mikroprocessor</a:t>
            </a:r>
            <a:r>
              <a:rPr lang="sv-SE" sz="1400">
                <a:solidFill>
                  <a:schemeClr val="bg1"/>
                </a:solidFill>
              </a:rPr>
              <a:t>, definition: </a:t>
            </a:r>
          </a:p>
          <a:p>
            <a:r>
              <a:rPr lang="en-US" sz="1400" i="1">
                <a:solidFill>
                  <a:schemeClr val="bg1"/>
                </a:solidFill>
              </a:rPr>
              <a:t>A microprocessor is an integrated circuit that contains a central processing unit, executing instructions to perform arithmetic, logic, control, and input–output operations.</a:t>
            </a:r>
            <a:endParaRPr lang="LID4096" sz="1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883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2D2D8-D710-F1C3-C379-A28F3B656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60A15-B740-5AC2-26C2-3C8FFF0596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Lektion 1 - Introduktion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9270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F902-D3A7-46DA-72EF-93BA0C6B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E4AC9-101E-3D86-EEC4-6CD3F0C4E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6015"/>
            <a:ext cx="12192000" cy="394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37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80883-F4C1-7F2F-9FFF-ACFF158CB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192F57-0B40-72A9-316E-22B86A6940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2DE8E6AC-059C-5E85-D40D-94BB117CED90}"/>
              </a:ext>
            </a:extLst>
          </p:cNvPr>
          <p:cNvGrpSpPr/>
          <p:nvPr/>
        </p:nvGrpSpPr>
        <p:grpSpPr>
          <a:xfrm>
            <a:off x="3963836" y="4868449"/>
            <a:ext cx="2516296" cy="1881927"/>
            <a:chOff x="3963836" y="4868449"/>
            <a:chExt cx="2516296" cy="188192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0705C09-BC48-12A2-B70D-E6E11B9124D3}"/>
                </a:ext>
              </a:extLst>
            </p:cNvPr>
            <p:cNvSpPr/>
            <p:nvPr/>
          </p:nvSpPr>
          <p:spPr>
            <a:xfrm>
              <a:off x="4392460" y="4868449"/>
              <a:ext cx="2087672" cy="1106466"/>
            </a:xfrm>
            <a:custGeom>
              <a:avLst/>
              <a:gdLst>
                <a:gd name="csX0" fmla="*/ 1093940 w 2087672"/>
                <a:gd name="csY0" fmla="*/ 58455 h 1106466"/>
                <a:gd name="csX1" fmla="*/ 0 w 2087672"/>
                <a:gd name="csY1" fmla="*/ 572022 h 1106466"/>
                <a:gd name="csX2" fmla="*/ 4176 w 2087672"/>
                <a:gd name="csY2" fmla="*/ 643003 h 1106466"/>
                <a:gd name="csX3" fmla="*/ 643003 w 2087672"/>
                <a:gd name="csY3" fmla="*/ 1106466 h 1106466"/>
                <a:gd name="csX4" fmla="*/ 2087672 w 2087672"/>
                <a:gd name="csY4" fmla="*/ 329852 h 1106466"/>
                <a:gd name="csX5" fmla="*/ 2050093 w 2087672"/>
                <a:gd name="csY5" fmla="*/ 263047 h 1106466"/>
                <a:gd name="csX6" fmla="*/ 1490598 w 2087672"/>
                <a:gd name="csY6" fmla="*/ 0 h 1106466"/>
                <a:gd name="csX7" fmla="*/ 1453019 w 2087672"/>
                <a:gd name="csY7" fmla="*/ 75156 h 1106466"/>
                <a:gd name="csX8" fmla="*/ 1369513 w 2087672"/>
                <a:gd name="csY8" fmla="*/ 112735 h 1106466"/>
                <a:gd name="csX9" fmla="*/ 1311058 w 2087672"/>
                <a:gd name="csY9" fmla="*/ 112735 h 1106466"/>
                <a:gd name="csX10" fmla="*/ 1198324 w 2087672"/>
                <a:gd name="csY10" fmla="*/ 83507 h 1106466"/>
                <a:gd name="csX11" fmla="*/ 1093940 w 2087672"/>
                <a:gd name="csY11" fmla="*/ 58455 h 1106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087672" h="1106466">
                  <a:moveTo>
                    <a:pt x="1093940" y="58455"/>
                  </a:moveTo>
                  <a:lnTo>
                    <a:pt x="0" y="572022"/>
                  </a:lnTo>
                  <a:lnTo>
                    <a:pt x="4176" y="643003"/>
                  </a:lnTo>
                  <a:lnTo>
                    <a:pt x="643003" y="1106466"/>
                  </a:lnTo>
                  <a:lnTo>
                    <a:pt x="2087672" y="329852"/>
                  </a:lnTo>
                  <a:lnTo>
                    <a:pt x="2050093" y="263047"/>
                  </a:lnTo>
                  <a:lnTo>
                    <a:pt x="1490598" y="0"/>
                  </a:lnTo>
                  <a:lnTo>
                    <a:pt x="1453019" y="75156"/>
                  </a:lnTo>
                  <a:lnTo>
                    <a:pt x="1369513" y="112735"/>
                  </a:lnTo>
                  <a:lnTo>
                    <a:pt x="1311058" y="112735"/>
                  </a:lnTo>
                  <a:lnTo>
                    <a:pt x="1198324" y="83507"/>
                  </a:lnTo>
                  <a:lnTo>
                    <a:pt x="1093940" y="58455"/>
                  </a:lnTo>
                  <a:close/>
                </a:path>
              </a:pathLst>
            </a:custGeom>
            <a:noFill/>
            <a:ln>
              <a:solidFill>
                <a:srgbClr val="92D05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C2EAD6FE-B2CA-80B7-63AA-42E5EDC163DD}"/>
                </a:ext>
              </a:extLst>
            </p:cNvPr>
            <p:cNvSpPr txBox="1">
              <a:spLocks/>
            </p:cNvSpPr>
            <p:nvPr/>
          </p:nvSpPr>
          <p:spPr>
            <a:xfrm>
              <a:off x="3963836" y="5873337"/>
              <a:ext cx="2324621" cy="877039"/>
            </a:xfrm>
            <a:prstGeom prst="rect">
              <a:avLst/>
            </a:prstGeom>
            <a:solidFill>
              <a:schemeClr val="tx1">
                <a:alpha val="51000"/>
              </a:schemeClr>
            </a:solidFill>
            <a:ln>
              <a:solidFill>
                <a:srgbClr val="92D050"/>
              </a:solidFill>
            </a:ln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000" b="1">
                  <a:solidFill>
                    <a:srgbClr val="92D050"/>
                  </a:solidFill>
                </a:rPr>
                <a:t>Laptop ~50 mikroprocessorer</a:t>
              </a:r>
            </a:p>
            <a:p>
              <a:r>
                <a:rPr lang="en-US" sz="700">
                  <a:solidFill>
                    <a:srgbClr val="92D050"/>
                  </a:solidFill>
                </a:rPr>
                <a:t>A </a:t>
              </a:r>
              <a:r>
                <a:rPr lang="en-US" sz="700" b="1">
                  <a:solidFill>
                    <a:srgbClr val="92D050"/>
                  </a:solidFill>
                </a:rPr>
                <a:t>modern laptop</a:t>
              </a:r>
              <a:r>
                <a:rPr lang="en-US" sz="700">
                  <a:solidFill>
                    <a:srgbClr val="92D050"/>
                  </a:solidFill>
                </a:rPr>
                <a:t> typically contains </a:t>
              </a:r>
              <a:r>
                <a:rPr lang="en-US" sz="700" b="1">
                  <a:solidFill>
                    <a:srgbClr val="92D050"/>
                  </a:solidFill>
                </a:rPr>
                <a:t>dozens of microprocessors</a:t>
              </a:r>
              <a:r>
                <a:rPr lang="en-US" sz="700">
                  <a:solidFill>
                    <a:srgbClr val="92D050"/>
                  </a:solidFill>
                </a:rPr>
                <a:t> (often between </a:t>
              </a:r>
              <a:r>
                <a:rPr lang="en-US" sz="700" b="1">
                  <a:solidFill>
                    <a:srgbClr val="92D050"/>
                  </a:solidFill>
                </a:rPr>
                <a:t>30 and 100</a:t>
              </a:r>
              <a:r>
                <a:rPr lang="en-US" sz="700">
                  <a:solidFill>
                    <a:srgbClr val="92D050"/>
                  </a:solidFill>
                </a:rPr>
                <a:t>), most of which are </a:t>
              </a:r>
              <a:r>
                <a:rPr lang="en-US" sz="700" b="1">
                  <a:solidFill>
                    <a:srgbClr val="92D050"/>
                  </a:solidFill>
                </a:rPr>
                <a:t>microcontrollers (MCUs)</a:t>
              </a:r>
              <a:r>
                <a:rPr lang="en-US" sz="700">
                  <a:solidFill>
                    <a:srgbClr val="92D050"/>
                  </a:solidFill>
                </a:rPr>
                <a:t> embedded in subsystems such as power management, battery control, keyboard and touchpad controllers, storage devices, display interfaces, networking hardware, cameras, and security modules.</a:t>
              </a:r>
              <a:endParaRPr lang="LID4096" sz="700" i="1">
                <a:solidFill>
                  <a:srgbClr val="92D050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957E667-9A04-1475-11E1-E2066765B514}"/>
              </a:ext>
            </a:extLst>
          </p:cNvPr>
          <p:cNvGrpSpPr/>
          <p:nvPr/>
        </p:nvGrpSpPr>
        <p:grpSpPr>
          <a:xfrm>
            <a:off x="6721258" y="5123145"/>
            <a:ext cx="1850721" cy="1057406"/>
            <a:chOff x="6721258" y="5123145"/>
            <a:chExt cx="1850721" cy="105740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4FF0ACA-F8F8-0747-901C-01E63A276D2E}"/>
                </a:ext>
              </a:extLst>
            </p:cNvPr>
            <p:cNvSpPr/>
            <p:nvPr/>
          </p:nvSpPr>
          <p:spPr>
            <a:xfrm>
              <a:off x="6972822" y="5123145"/>
              <a:ext cx="530268" cy="488515"/>
            </a:xfrm>
            <a:custGeom>
              <a:avLst/>
              <a:gdLst>
                <a:gd name="csX0" fmla="*/ 471814 w 530268"/>
                <a:gd name="csY0" fmla="*/ 4176 h 488515"/>
                <a:gd name="csX1" fmla="*/ 125260 w 530268"/>
                <a:gd name="csY1" fmla="*/ 0 h 488515"/>
                <a:gd name="csX2" fmla="*/ 75156 w 530268"/>
                <a:gd name="csY2" fmla="*/ 37578 h 488515"/>
                <a:gd name="csX3" fmla="*/ 0 w 530268"/>
                <a:gd name="csY3" fmla="*/ 434236 h 488515"/>
                <a:gd name="csX4" fmla="*/ 37578 w 530268"/>
                <a:gd name="csY4" fmla="*/ 475989 h 488515"/>
                <a:gd name="csX5" fmla="*/ 471814 w 530268"/>
                <a:gd name="csY5" fmla="*/ 488515 h 488515"/>
                <a:gd name="csX6" fmla="*/ 517742 w 530268"/>
                <a:gd name="csY6" fmla="*/ 450937 h 488515"/>
                <a:gd name="csX7" fmla="*/ 530268 w 530268"/>
                <a:gd name="csY7" fmla="*/ 33403 h 488515"/>
                <a:gd name="csX8" fmla="*/ 471814 w 530268"/>
                <a:gd name="csY8" fmla="*/ 4176 h 488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30268" h="488515">
                  <a:moveTo>
                    <a:pt x="471814" y="4176"/>
                  </a:moveTo>
                  <a:lnTo>
                    <a:pt x="125260" y="0"/>
                  </a:lnTo>
                  <a:lnTo>
                    <a:pt x="75156" y="37578"/>
                  </a:lnTo>
                  <a:lnTo>
                    <a:pt x="0" y="434236"/>
                  </a:lnTo>
                  <a:lnTo>
                    <a:pt x="37578" y="475989"/>
                  </a:lnTo>
                  <a:lnTo>
                    <a:pt x="471814" y="488515"/>
                  </a:lnTo>
                  <a:lnTo>
                    <a:pt x="517742" y="450937"/>
                  </a:lnTo>
                  <a:lnTo>
                    <a:pt x="530268" y="33403"/>
                  </a:lnTo>
                  <a:lnTo>
                    <a:pt x="471814" y="4176"/>
                  </a:lnTo>
                  <a:close/>
                </a:path>
              </a:pathLst>
            </a:custGeom>
            <a:noFill/>
            <a:ln>
              <a:solidFill>
                <a:srgbClr val="92D05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890F5E8-2EC0-1C2D-F1A1-0B553A531513}"/>
                </a:ext>
              </a:extLst>
            </p:cNvPr>
            <p:cNvSpPr txBox="1">
              <a:spLocks/>
            </p:cNvSpPr>
            <p:nvPr/>
          </p:nvSpPr>
          <p:spPr>
            <a:xfrm>
              <a:off x="6721258" y="5769279"/>
              <a:ext cx="1850721" cy="411272"/>
            </a:xfrm>
            <a:prstGeom prst="rect">
              <a:avLst/>
            </a:prstGeom>
            <a:solidFill>
              <a:schemeClr val="tx1">
                <a:alpha val="51000"/>
              </a:schemeClr>
            </a:solidFill>
            <a:ln>
              <a:solidFill>
                <a:srgbClr val="92D050"/>
              </a:solidFill>
            </a:ln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000" b="1">
                  <a:solidFill>
                    <a:srgbClr val="92D050"/>
                  </a:solidFill>
                </a:rPr>
                <a:t>Telefon ~30 mikroprocessorer</a:t>
              </a:r>
              <a:br>
                <a:rPr lang="en-US" sz="1000" b="1">
                  <a:solidFill>
                    <a:srgbClr val="92D050"/>
                  </a:solidFill>
                </a:rPr>
              </a:br>
              <a:r>
                <a:rPr lang="en-US" sz="700" b="1">
                  <a:solidFill>
                    <a:srgbClr val="92D050"/>
                  </a:solidFill>
                </a:rPr>
                <a:t>power management, battery charging, touch sensing, cameras, audio, wifi, ...</a:t>
              </a:r>
              <a:endParaRPr lang="en-US" sz="1000" b="1">
                <a:solidFill>
                  <a:srgbClr val="92D050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499DB77-1721-E3FB-F01B-67F5F372C03E}"/>
              </a:ext>
            </a:extLst>
          </p:cNvPr>
          <p:cNvGrpSpPr/>
          <p:nvPr/>
        </p:nvGrpSpPr>
        <p:grpSpPr>
          <a:xfrm>
            <a:off x="5373666" y="4050082"/>
            <a:ext cx="2192055" cy="964504"/>
            <a:chOff x="5373666" y="4050082"/>
            <a:chExt cx="2192055" cy="9645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F17F45E-6684-31E5-5B76-3D6C77338880}"/>
                </a:ext>
              </a:extLst>
            </p:cNvPr>
            <p:cNvSpPr/>
            <p:nvPr/>
          </p:nvSpPr>
          <p:spPr>
            <a:xfrm>
              <a:off x="5373666" y="4521896"/>
              <a:ext cx="1035485" cy="492690"/>
            </a:xfrm>
            <a:custGeom>
              <a:avLst/>
              <a:gdLst>
                <a:gd name="csX0" fmla="*/ 835068 w 1035485"/>
                <a:gd name="csY0" fmla="*/ 492690 h 492690"/>
                <a:gd name="csX1" fmla="*/ 935276 w 1035485"/>
                <a:gd name="csY1" fmla="*/ 475989 h 492690"/>
                <a:gd name="csX2" fmla="*/ 989556 w 1035485"/>
                <a:gd name="csY2" fmla="*/ 430060 h 492690"/>
                <a:gd name="csX3" fmla="*/ 1035485 w 1035485"/>
                <a:gd name="csY3" fmla="*/ 292274 h 492690"/>
                <a:gd name="csX4" fmla="*/ 1006257 w 1035485"/>
                <a:gd name="csY4" fmla="*/ 146137 h 492690"/>
                <a:gd name="csX5" fmla="*/ 910224 w 1035485"/>
                <a:gd name="csY5" fmla="*/ 66805 h 492690"/>
                <a:gd name="csX6" fmla="*/ 810016 w 1035485"/>
                <a:gd name="csY6" fmla="*/ 45929 h 492690"/>
                <a:gd name="csX7" fmla="*/ 739035 w 1035485"/>
                <a:gd name="csY7" fmla="*/ 91857 h 492690"/>
                <a:gd name="csX8" fmla="*/ 676405 w 1035485"/>
                <a:gd name="csY8" fmla="*/ 217118 h 492690"/>
                <a:gd name="csX9" fmla="*/ 534444 w 1035485"/>
                <a:gd name="csY9" fmla="*/ 179540 h 492690"/>
                <a:gd name="csX10" fmla="*/ 526093 w 1035485"/>
                <a:gd name="csY10" fmla="*/ 79331 h 492690"/>
                <a:gd name="csX11" fmla="*/ 409183 w 1035485"/>
                <a:gd name="csY11" fmla="*/ 4175 h 492690"/>
                <a:gd name="csX12" fmla="*/ 229644 w 1035485"/>
                <a:gd name="csY12" fmla="*/ 0 h 492690"/>
                <a:gd name="csX13" fmla="*/ 121085 w 1035485"/>
                <a:gd name="csY13" fmla="*/ 70981 h 492690"/>
                <a:gd name="csX14" fmla="*/ 37578 w 1035485"/>
                <a:gd name="csY14" fmla="*/ 70981 h 492690"/>
                <a:gd name="csX15" fmla="*/ 0 w 1035485"/>
                <a:gd name="csY15" fmla="*/ 229644 h 492690"/>
                <a:gd name="csX16" fmla="*/ 70981 w 1035485"/>
                <a:gd name="csY16" fmla="*/ 275572 h 492690"/>
                <a:gd name="csX17" fmla="*/ 137786 w 1035485"/>
                <a:gd name="csY17" fmla="*/ 409183 h 492690"/>
                <a:gd name="csX18" fmla="*/ 379956 w 1035485"/>
                <a:gd name="csY18" fmla="*/ 475989 h 492690"/>
                <a:gd name="csX19" fmla="*/ 450937 w 1035485"/>
                <a:gd name="csY19" fmla="*/ 438411 h 492690"/>
                <a:gd name="csX20" fmla="*/ 492690 w 1035485"/>
                <a:gd name="csY20" fmla="*/ 409183 h 492690"/>
                <a:gd name="csX21" fmla="*/ 526093 w 1035485"/>
                <a:gd name="csY21" fmla="*/ 321501 h 492690"/>
                <a:gd name="csX22" fmla="*/ 835068 w 1035485"/>
                <a:gd name="csY22" fmla="*/ 492690 h 4926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035485" h="492690">
                  <a:moveTo>
                    <a:pt x="835068" y="492690"/>
                  </a:moveTo>
                  <a:lnTo>
                    <a:pt x="935276" y="475989"/>
                  </a:lnTo>
                  <a:lnTo>
                    <a:pt x="989556" y="430060"/>
                  </a:lnTo>
                  <a:lnTo>
                    <a:pt x="1035485" y="292274"/>
                  </a:lnTo>
                  <a:lnTo>
                    <a:pt x="1006257" y="146137"/>
                  </a:lnTo>
                  <a:lnTo>
                    <a:pt x="910224" y="66805"/>
                  </a:lnTo>
                  <a:lnTo>
                    <a:pt x="810016" y="45929"/>
                  </a:lnTo>
                  <a:lnTo>
                    <a:pt x="739035" y="91857"/>
                  </a:lnTo>
                  <a:lnTo>
                    <a:pt x="676405" y="217118"/>
                  </a:lnTo>
                  <a:lnTo>
                    <a:pt x="534444" y="179540"/>
                  </a:lnTo>
                  <a:lnTo>
                    <a:pt x="526093" y="79331"/>
                  </a:lnTo>
                  <a:lnTo>
                    <a:pt x="409183" y="4175"/>
                  </a:lnTo>
                  <a:lnTo>
                    <a:pt x="229644" y="0"/>
                  </a:lnTo>
                  <a:lnTo>
                    <a:pt x="121085" y="70981"/>
                  </a:lnTo>
                  <a:lnTo>
                    <a:pt x="37578" y="70981"/>
                  </a:lnTo>
                  <a:lnTo>
                    <a:pt x="0" y="229644"/>
                  </a:lnTo>
                  <a:lnTo>
                    <a:pt x="70981" y="275572"/>
                  </a:lnTo>
                  <a:lnTo>
                    <a:pt x="137786" y="409183"/>
                  </a:lnTo>
                  <a:lnTo>
                    <a:pt x="379956" y="475989"/>
                  </a:lnTo>
                  <a:lnTo>
                    <a:pt x="450937" y="438411"/>
                  </a:lnTo>
                  <a:lnTo>
                    <a:pt x="492690" y="409183"/>
                  </a:lnTo>
                  <a:lnTo>
                    <a:pt x="526093" y="321501"/>
                  </a:lnTo>
                  <a:lnTo>
                    <a:pt x="835068" y="492690"/>
                  </a:lnTo>
                  <a:close/>
                </a:path>
              </a:pathLst>
            </a:custGeom>
            <a:noFill/>
            <a:ln>
              <a:solidFill>
                <a:srgbClr val="92D05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9C14883C-8211-F231-F79E-DA401827E9C1}"/>
                </a:ext>
              </a:extLst>
            </p:cNvPr>
            <p:cNvSpPr txBox="1">
              <a:spLocks/>
            </p:cNvSpPr>
            <p:nvPr/>
          </p:nvSpPr>
          <p:spPr>
            <a:xfrm>
              <a:off x="5891408" y="4050082"/>
              <a:ext cx="1674313" cy="411272"/>
            </a:xfrm>
            <a:prstGeom prst="rect">
              <a:avLst/>
            </a:prstGeom>
            <a:solidFill>
              <a:schemeClr val="tx1">
                <a:alpha val="51000"/>
              </a:schemeClr>
            </a:solidFill>
            <a:ln>
              <a:solidFill>
                <a:srgbClr val="92D050"/>
              </a:solidFill>
            </a:ln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000" b="1">
                  <a:solidFill>
                    <a:srgbClr val="92D050"/>
                  </a:solidFill>
                </a:rPr>
                <a:t>Bluetoothlurar ~10? </a:t>
              </a:r>
              <a:br>
                <a:rPr lang="en-US" sz="1000" b="1">
                  <a:solidFill>
                    <a:srgbClr val="92D050"/>
                  </a:solidFill>
                </a:rPr>
              </a:br>
              <a:r>
                <a:rPr lang="en-US" sz="700" b="1">
                  <a:solidFill>
                    <a:srgbClr val="92D050"/>
                  </a:solidFill>
                </a:rPr>
                <a:t>power management, battery charging, audio, Bluetooth, ...</a:t>
              </a:r>
              <a:endParaRPr lang="en-US" sz="1000" b="1">
                <a:solidFill>
                  <a:srgbClr val="92D05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0C8427C-B9BC-E600-381A-4D5E1E33D545}"/>
              </a:ext>
            </a:extLst>
          </p:cNvPr>
          <p:cNvGrpSpPr/>
          <p:nvPr/>
        </p:nvGrpSpPr>
        <p:grpSpPr>
          <a:xfrm>
            <a:off x="0" y="9525"/>
            <a:ext cx="3829050" cy="6848475"/>
            <a:chOff x="0" y="9525"/>
            <a:chExt cx="3829050" cy="6848475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721334D-6498-F606-E8CC-B85E8BBE0282}"/>
                </a:ext>
              </a:extLst>
            </p:cNvPr>
            <p:cNvSpPr/>
            <p:nvPr/>
          </p:nvSpPr>
          <p:spPr>
            <a:xfrm>
              <a:off x="0" y="9525"/>
              <a:ext cx="3829050" cy="6848475"/>
            </a:xfrm>
            <a:custGeom>
              <a:avLst/>
              <a:gdLst>
                <a:gd name="csX0" fmla="*/ 3805238 w 3829050"/>
                <a:gd name="csY0" fmla="*/ 6786563 h 6848475"/>
                <a:gd name="csX1" fmla="*/ 3381375 w 3829050"/>
                <a:gd name="csY1" fmla="*/ 4405313 h 6848475"/>
                <a:gd name="csX2" fmla="*/ 3167063 w 3829050"/>
                <a:gd name="csY2" fmla="*/ 3038475 h 6848475"/>
                <a:gd name="csX3" fmla="*/ 2838450 w 3829050"/>
                <a:gd name="csY3" fmla="*/ 700088 h 6848475"/>
                <a:gd name="csX4" fmla="*/ 2743200 w 3829050"/>
                <a:gd name="csY4" fmla="*/ 4763 h 6848475"/>
                <a:gd name="csX5" fmla="*/ 0 w 3829050"/>
                <a:gd name="csY5" fmla="*/ 0 h 6848475"/>
                <a:gd name="csX6" fmla="*/ 19050 w 3829050"/>
                <a:gd name="csY6" fmla="*/ 6843713 h 6848475"/>
                <a:gd name="csX7" fmla="*/ 3829050 w 3829050"/>
                <a:gd name="csY7" fmla="*/ 6848475 h 6848475"/>
                <a:gd name="csX8" fmla="*/ 3805238 w 3829050"/>
                <a:gd name="csY8" fmla="*/ 6786563 h 6848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29050" h="6848475">
                  <a:moveTo>
                    <a:pt x="3805238" y="6786563"/>
                  </a:moveTo>
                  <a:lnTo>
                    <a:pt x="3381375" y="4405313"/>
                  </a:lnTo>
                  <a:lnTo>
                    <a:pt x="3167063" y="3038475"/>
                  </a:lnTo>
                  <a:lnTo>
                    <a:pt x="2838450" y="700088"/>
                  </a:lnTo>
                  <a:lnTo>
                    <a:pt x="2743200" y="4763"/>
                  </a:lnTo>
                  <a:lnTo>
                    <a:pt x="0" y="0"/>
                  </a:lnTo>
                  <a:lnTo>
                    <a:pt x="19050" y="6843713"/>
                  </a:lnTo>
                  <a:lnTo>
                    <a:pt x="3829050" y="6848475"/>
                  </a:lnTo>
                  <a:lnTo>
                    <a:pt x="3805238" y="6786563"/>
                  </a:lnTo>
                  <a:close/>
                </a:path>
              </a:pathLst>
            </a:custGeom>
            <a:noFill/>
            <a:ln w="38100">
              <a:solidFill>
                <a:srgbClr val="92D05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FEDB4403-08E9-1DEA-8A5B-ECBCBD704AF3}"/>
                </a:ext>
              </a:extLst>
            </p:cNvPr>
            <p:cNvSpPr txBox="1">
              <a:spLocks/>
            </p:cNvSpPr>
            <p:nvPr/>
          </p:nvSpPr>
          <p:spPr>
            <a:xfrm>
              <a:off x="614558" y="3297607"/>
              <a:ext cx="1674313" cy="411272"/>
            </a:xfrm>
            <a:prstGeom prst="rect">
              <a:avLst/>
            </a:prstGeom>
            <a:solidFill>
              <a:schemeClr val="tx1">
                <a:alpha val="51000"/>
              </a:schemeClr>
            </a:solidFill>
            <a:ln>
              <a:solidFill>
                <a:srgbClr val="92D050"/>
              </a:solidFill>
            </a:ln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000" b="1">
                  <a:solidFill>
                    <a:srgbClr val="92D050"/>
                  </a:solidFill>
                </a:rPr>
                <a:t>Frys/Kyl, 20?</a:t>
              </a:r>
              <a:br>
                <a:rPr lang="en-US" sz="1000" b="1">
                  <a:solidFill>
                    <a:srgbClr val="92D050"/>
                  </a:solidFill>
                </a:rPr>
              </a:br>
              <a:r>
                <a:rPr lang="en-US" sz="700" b="1">
                  <a:solidFill>
                    <a:srgbClr val="92D050"/>
                  </a:solidFill>
                </a:rPr>
                <a:t>temperature control, inverter drive, frost cycles, valve actuation, ...</a:t>
              </a:r>
              <a:endParaRPr lang="en-US" sz="1000" b="1">
                <a:solidFill>
                  <a:srgbClr val="92D050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4730397-7717-A3C4-3862-A53B564A83A7}"/>
              </a:ext>
            </a:extLst>
          </p:cNvPr>
          <p:cNvGrpSpPr/>
          <p:nvPr/>
        </p:nvGrpSpPr>
        <p:grpSpPr>
          <a:xfrm>
            <a:off x="9129713" y="4267200"/>
            <a:ext cx="2093608" cy="2391623"/>
            <a:chOff x="9129713" y="4267200"/>
            <a:chExt cx="2093608" cy="239162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908F4C6-76B9-ACC8-39EB-0EECFF9A7D62}"/>
                </a:ext>
              </a:extLst>
            </p:cNvPr>
            <p:cNvSpPr/>
            <p:nvPr/>
          </p:nvSpPr>
          <p:spPr>
            <a:xfrm>
              <a:off x="9129713" y="4267200"/>
              <a:ext cx="2014537" cy="1809750"/>
            </a:xfrm>
            <a:custGeom>
              <a:avLst/>
              <a:gdLst>
                <a:gd name="csX0" fmla="*/ 4762 w 2014537"/>
                <a:gd name="csY0" fmla="*/ 1104900 h 1809750"/>
                <a:gd name="csX1" fmla="*/ 114300 w 2014537"/>
                <a:gd name="csY1" fmla="*/ 1252538 h 1809750"/>
                <a:gd name="csX2" fmla="*/ 442912 w 2014537"/>
                <a:gd name="csY2" fmla="*/ 1495425 h 1809750"/>
                <a:gd name="csX3" fmla="*/ 838200 w 2014537"/>
                <a:gd name="csY3" fmla="*/ 1666875 h 1809750"/>
                <a:gd name="csX4" fmla="*/ 1004887 w 2014537"/>
                <a:gd name="csY4" fmla="*/ 1747838 h 1809750"/>
                <a:gd name="csX5" fmla="*/ 1033462 w 2014537"/>
                <a:gd name="csY5" fmla="*/ 1785938 h 1809750"/>
                <a:gd name="csX6" fmla="*/ 1081087 w 2014537"/>
                <a:gd name="csY6" fmla="*/ 1809750 h 1809750"/>
                <a:gd name="csX7" fmla="*/ 1138237 w 2014537"/>
                <a:gd name="csY7" fmla="*/ 1757363 h 1809750"/>
                <a:gd name="csX8" fmla="*/ 1319212 w 2014537"/>
                <a:gd name="csY8" fmla="*/ 1776413 h 1809750"/>
                <a:gd name="csX9" fmla="*/ 1600200 w 2014537"/>
                <a:gd name="csY9" fmla="*/ 1709738 h 1809750"/>
                <a:gd name="csX10" fmla="*/ 1800225 w 2014537"/>
                <a:gd name="csY10" fmla="*/ 1604963 h 1809750"/>
                <a:gd name="csX11" fmla="*/ 1876425 w 2014537"/>
                <a:gd name="csY11" fmla="*/ 1495425 h 1809750"/>
                <a:gd name="csX12" fmla="*/ 1833562 w 2014537"/>
                <a:gd name="csY12" fmla="*/ 1457325 h 1809750"/>
                <a:gd name="csX13" fmla="*/ 1833562 w 2014537"/>
                <a:gd name="csY13" fmla="*/ 1414463 h 1809750"/>
                <a:gd name="csX14" fmla="*/ 1900237 w 2014537"/>
                <a:gd name="csY14" fmla="*/ 1376363 h 1809750"/>
                <a:gd name="csX15" fmla="*/ 1890712 w 2014537"/>
                <a:gd name="csY15" fmla="*/ 1300163 h 1809750"/>
                <a:gd name="csX16" fmla="*/ 1857375 w 2014537"/>
                <a:gd name="csY16" fmla="*/ 1276350 h 1809750"/>
                <a:gd name="csX17" fmla="*/ 1881187 w 2014537"/>
                <a:gd name="csY17" fmla="*/ 795338 h 1809750"/>
                <a:gd name="csX18" fmla="*/ 1919287 w 2014537"/>
                <a:gd name="csY18" fmla="*/ 823913 h 1809750"/>
                <a:gd name="csX19" fmla="*/ 1995487 w 2014537"/>
                <a:gd name="csY19" fmla="*/ 823913 h 1809750"/>
                <a:gd name="csX20" fmla="*/ 2014537 w 2014537"/>
                <a:gd name="csY20" fmla="*/ 766763 h 1809750"/>
                <a:gd name="csX21" fmla="*/ 1966912 w 2014537"/>
                <a:gd name="csY21" fmla="*/ 714375 h 1809750"/>
                <a:gd name="csX22" fmla="*/ 1924050 w 2014537"/>
                <a:gd name="csY22" fmla="*/ 714375 h 1809750"/>
                <a:gd name="csX23" fmla="*/ 1876425 w 2014537"/>
                <a:gd name="csY23" fmla="*/ 690563 h 1809750"/>
                <a:gd name="csX24" fmla="*/ 1862137 w 2014537"/>
                <a:gd name="csY24" fmla="*/ 523875 h 1809750"/>
                <a:gd name="csX25" fmla="*/ 1747837 w 2014537"/>
                <a:gd name="csY25" fmla="*/ 376238 h 1809750"/>
                <a:gd name="csX26" fmla="*/ 1609725 w 2014537"/>
                <a:gd name="csY26" fmla="*/ 290513 h 1809750"/>
                <a:gd name="csX27" fmla="*/ 804862 w 2014537"/>
                <a:gd name="csY27" fmla="*/ 4763 h 1809750"/>
                <a:gd name="csX28" fmla="*/ 661987 w 2014537"/>
                <a:gd name="csY28" fmla="*/ 0 h 1809750"/>
                <a:gd name="csX29" fmla="*/ 466725 w 2014537"/>
                <a:gd name="csY29" fmla="*/ 28575 h 1809750"/>
                <a:gd name="csX30" fmla="*/ 290512 w 2014537"/>
                <a:gd name="csY30" fmla="*/ 66675 h 1809750"/>
                <a:gd name="csX31" fmla="*/ 185737 w 2014537"/>
                <a:gd name="csY31" fmla="*/ 157163 h 1809750"/>
                <a:gd name="csX32" fmla="*/ 100012 w 2014537"/>
                <a:gd name="csY32" fmla="*/ 276225 h 1809750"/>
                <a:gd name="csX33" fmla="*/ 52387 w 2014537"/>
                <a:gd name="csY33" fmla="*/ 533400 h 1809750"/>
                <a:gd name="csX34" fmla="*/ 14287 w 2014537"/>
                <a:gd name="csY34" fmla="*/ 857250 h 1809750"/>
                <a:gd name="csX35" fmla="*/ 0 w 2014537"/>
                <a:gd name="csY35" fmla="*/ 909638 h 1809750"/>
                <a:gd name="csX36" fmla="*/ 4762 w 2014537"/>
                <a:gd name="csY36" fmla="*/ 1104900 h 1809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014537" h="1809750">
                  <a:moveTo>
                    <a:pt x="4762" y="1104900"/>
                  </a:moveTo>
                  <a:lnTo>
                    <a:pt x="114300" y="1252538"/>
                  </a:lnTo>
                  <a:lnTo>
                    <a:pt x="442912" y="1495425"/>
                  </a:lnTo>
                  <a:lnTo>
                    <a:pt x="838200" y="1666875"/>
                  </a:lnTo>
                  <a:lnTo>
                    <a:pt x="1004887" y="1747838"/>
                  </a:lnTo>
                  <a:lnTo>
                    <a:pt x="1033462" y="1785938"/>
                  </a:lnTo>
                  <a:lnTo>
                    <a:pt x="1081087" y="1809750"/>
                  </a:lnTo>
                  <a:lnTo>
                    <a:pt x="1138237" y="1757363"/>
                  </a:lnTo>
                  <a:lnTo>
                    <a:pt x="1319212" y="1776413"/>
                  </a:lnTo>
                  <a:lnTo>
                    <a:pt x="1600200" y="1709738"/>
                  </a:lnTo>
                  <a:lnTo>
                    <a:pt x="1800225" y="1604963"/>
                  </a:lnTo>
                  <a:lnTo>
                    <a:pt x="1876425" y="1495425"/>
                  </a:lnTo>
                  <a:lnTo>
                    <a:pt x="1833562" y="1457325"/>
                  </a:lnTo>
                  <a:lnTo>
                    <a:pt x="1833562" y="1414463"/>
                  </a:lnTo>
                  <a:lnTo>
                    <a:pt x="1900237" y="1376363"/>
                  </a:lnTo>
                  <a:lnTo>
                    <a:pt x="1890712" y="1300163"/>
                  </a:lnTo>
                  <a:lnTo>
                    <a:pt x="1857375" y="1276350"/>
                  </a:lnTo>
                  <a:lnTo>
                    <a:pt x="1881187" y="795338"/>
                  </a:lnTo>
                  <a:lnTo>
                    <a:pt x="1919287" y="823913"/>
                  </a:lnTo>
                  <a:lnTo>
                    <a:pt x="1995487" y="823913"/>
                  </a:lnTo>
                  <a:lnTo>
                    <a:pt x="2014537" y="766763"/>
                  </a:lnTo>
                  <a:lnTo>
                    <a:pt x="1966912" y="714375"/>
                  </a:lnTo>
                  <a:lnTo>
                    <a:pt x="1924050" y="714375"/>
                  </a:lnTo>
                  <a:lnTo>
                    <a:pt x="1876425" y="690563"/>
                  </a:lnTo>
                  <a:lnTo>
                    <a:pt x="1862137" y="523875"/>
                  </a:lnTo>
                  <a:lnTo>
                    <a:pt x="1747837" y="376238"/>
                  </a:lnTo>
                  <a:lnTo>
                    <a:pt x="1609725" y="290513"/>
                  </a:lnTo>
                  <a:lnTo>
                    <a:pt x="804862" y="4763"/>
                  </a:lnTo>
                  <a:lnTo>
                    <a:pt x="661987" y="0"/>
                  </a:lnTo>
                  <a:lnTo>
                    <a:pt x="466725" y="28575"/>
                  </a:lnTo>
                  <a:lnTo>
                    <a:pt x="290512" y="66675"/>
                  </a:lnTo>
                  <a:lnTo>
                    <a:pt x="185737" y="157163"/>
                  </a:lnTo>
                  <a:lnTo>
                    <a:pt x="100012" y="276225"/>
                  </a:lnTo>
                  <a:lnTo>
                    <a:pt x="52387" y="533400"/>
                  </a:lnTo>
                  <a:lnTo>
                    <a:pt x="14287" y="857250"/>
                  </a:lnTo>
                  <a:lnTo>
                    <a:pt x="0" y="909638"/>
                  </a:lnTo>
                  <a:lnTo>
                    <a:pt x="4762" y="1104900"/>
                  </a:lnTo>
                  <a:close/>
                </a:path>
              </a:pathLst>
            </a:cu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745A5137-C0E2-5CE2-9FB4-D90E1A38F737}"/>
                </a:ext>
              </a:extLst>
            </p:cNvPr>
            <p:cNvSpPr txBox="1">
              <a:spLocks/>
            </p:cNvSpPr>
            <p:nvPr/>
          </p:nvSpPr>
          <p:spPr>
            <a:xfrm>
              <a:off x="9549008" y="6247551"/>
              <a:ext cx="1674313" cy="411272"/>
            </a:xfrm>
            <a:prstGeom prst="rect">
              <a:avLst/>
            </a:prstGeom>
            <a:solidFill>
              <a:schemeClr val="tx1">
                <a:alpha val="51000"/>
              </a:schemeClr>
            </a:solidFill>
            <a:ln>
              <a:solidFill>
                <a:srgbClr val="92D050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000" b="1">
                  <a:solidFill>
                    <a:srgbClr val="92D050"/>
                  </a:solidFill>
                </a:rPr>
                <a:t>Brödrost!? Åtminstone en (timing)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DEF81A7-7FCA-347D-B9D5-573BD945BF77}"/>
              </a:ext>
            </a:extLst>
          </p:cNvPr>
          <p:cNvGrpSpPr/>
          <p:nvPr/>
        </p:nvGrpSpPr>
        <p:grpSpPr>
          <a:xfrm>
            <a:off x="10438030" y="1837476"/>
            <a:ext cx="1570582" cy="910487"/>
            <a:chOff x="10438030" y="1837476"/>
            <a:chExt cx="1570582" cy="910487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31B08F91-9009-1600-9662-E0F9D0BE2B0F}"/>
                </a:ext>
              </a:extLst>
            </p:cNvPr>
            <p:cNvSpPr txBox="1">
              <a:spLocks/>
            </p:cNvSpPr>
            <p:nvPr/>
          </p:nvSpPr>
          <p:spPr>
            <a:xfrm>
              <a:off x="10438030" y="1837476"/>
              <a:ext cx="1570582" cy="411272"/>
            </a:xfrm>
            <a:prstGeom prst="rect">
              <a:avLst/>
            </a:prstGeom>
            <a:solidFill>
              <a:schemeClr val="tx1">
                <a:alpha val="51000"/>
              </a:schemeClr>
            </a:solidFill>
            <a:ln>
              <a:solidFill>
                <a:srgbClr val="92D050"/>
              </a:solidFill>
            </a:ln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000" b="1">
                  <a:solidFill>
                    <a:srgbClr val="92D050"/>
                  </a:solidFill>
                </a:rPr>
                <a:t>USB Laddare: 1-3?</a:t>
              </a:r>
              <a:br>
                <a:rPr lang="en-US" sz="1000" b="1">
                  <a:solidFill>
                    <a:srgbClr val="92D050"/>
                  </a:solidFill>
                </a:rPr>
              </a:br>
              <a:r>
                <a:rPr lang="en-US" sz="600" b="1">
                  <a:solidFill>
                    <a:srgbClr val="92D050"/>
                  </a:solidFill>
                </a:rPr>
                <a:t>manage voltage regulation, current limiting, thermal protection, and fault handling.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1E2942-F40E-B860-AB4C-F7CF784F1996}"/>
                </a:ext>
              </a:extLst>
            </p:cNvPr>
            <p:cNvSpPr/>
            <p:nvPr/>
          </p:nvSpPr>
          <p:spPr>
            <a:xfrm>
              <a:off x="11277600" y="2447925"/>
              <a:ext cx="495300" cy="300038"/>
            </a:xfrm>
            <a:custGeom>
              <a:avLst/>
              <a:gdLst>
                <a:gd name="csX0" fmla="*/ 385763 w 495300"/>
                <a:gd name="csY0" fmla="*/ 0 h 300038"/>
                <a:gd name="csX1" fmla="*/ 38100 w 495300"/>
                <a:gd name="csY1" fmla="*/ 28575 h 300038"/>
                <a:gd name="csX2" fmla="*/ 0 w 495300"/>
                <a:gd name="csY2" fmla="*/ 257175 h 300038"/>
                <a:gd name="csX3" fmla="*/ 47625 w 495300"/>
                <a:gd name="csY3" fmla="*/ 300038 h 300038"/>
                <a:gd name="csX4" fmla="*/ 495300 w 495300"/>
                <a:gd name="csY4" fmla="*/ 290513 h 300038"/>
                <a:gd name="csX5" fmla="*/ 490538 w 495300"/>
                <a:gd name="csY5" fmla="*/ 95250 h 300038"/>
                <a:gd name="csX6" fmla="*/ 385763 w 495300"/>
                <a:gd name="csY6" fmla="*/ 0 h 3000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5300" h="300038">
                  <a:moveTo>
                    <a:pt x="385763" y="0"/>
                  </a:moveTo>
                  <a:lnTo>
                    <a:pt x="38100" y="28575"/>
                  </a:lnTo>
                  <a:lnTo>
                    <a:pt x="0" y="257175"/>
                  </a:lnTo>
                  <a:lnTo>
                    <a:pt x="47625" y="300038"/>
                  </a:lnTo>
                  <a:lnTo>
                    <a:pt x="495300" y="290513"/>
                  </a:lnTo>
                  <a:lnTo>
                    <a:pt x="490538" y="95250"/>
                  </a:lnTo>
                  <a:lnTo>
                    <a:pt x="385763" y="0"/>
                  </a:lnTo>
                  <a:close/>
                </a:path>
              </a:pathLst>
            </a:custGeom>
            <a:noFill/>
            <a:ln>
              <a:solidFill>
                <a:srgbClr val="92D05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C167F1E-AFA1-8DB4-2AF4-FB6B166C5372}"/>
              </a:ext>
            </a:extLst>
          </p:cNvPr>
          <p:cNvGrpSpPr/>
          <p:nvPr/>
        </p:nvGrpSpPr>
        <p:grpSpPr>
          <a:xfrm>
            <a:off x="6858522" y="1319213"/>
            <a:ext cx="3523728" cy="2133600"/>
            <a:chOff x="6858522" y="1319213"/>
            <a:chExt cx="3523728" cy="21336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646F7A6-1FE0-EEDF-136B-6015F4BF3872}"/>
                </a:ext>
              </a:extLst>
            </p:cNvPr>
            <p:cNvSpPr/>
            <p:nvPr/>
          </p:nvSpPr>
          <p:spPr>
            <a:xfrm>
              <a:off x="8539163" y="1319213"/>
              <a:ext cx="1843087" cy="2133600"/>
            </a:xfrm>
            <a:custGeom>
              <a:avLst/>
              <a:gdLst>
                <a:gd name="csX0" fmla="*/ 1843087 w 1843087"/>
                <a:gd name="csY0" fmla="*/ 0 h 2133600"/>
                <a:gd name="csX1" fmla="*/ 623887 w 1843087"/>
                <a:gd name="csY1" fmla="*/ 71437 h 2133600"/>
                <a:gd name="csX2" fmla="*/ 328612 w 1843087"/>
                <a:gd name="csY2" fmla="*/ 190500 h 2133600"/>
                <a:gd name="csX3" fmla="*/ 66675 w 1843087"/>
                <a:gd name="csY3" fmla="*/ 685800 h 2133600"/>
                <a:gd name="csX4" fmla="*/ 0 w 1843087"/>
                <a:gd name="csY4" fmla="*/ 1047750 h 2133600"/>
                <a:gd name="csX5" fmla="*/ 233362 w 1843087"/>
                <a:gd name="csY5" fmla="*/ 1452562 h 2133600"/>
                <a:gd name="csX6" fmla="*/ 219075 w 1843087"/>
                <a:gd name="csY6" fmla="*/ 1538287 h 2133600"/>
                <a:gd name="csX7" fmla="*/ 295275 w 1843087"/>
                <a:gd name="csY7" fmla="*/ 1571625 h 2133600"/>
                <a:gd name="csX8" fmla="*/ 285750 w 1843087"/>
                <a:gd name="csY8" fmla="*/ 1743075 h 2133600"/>
                <a:gd name="csX9" fmla="*/ 347662 w 1843087"/>
                <a:gd name="csY9" fmla="*/ 1947862 h 2133600"/>
                <a:gd name="csX10" fmla="*/ 561975 w 1843087"/>
                <a:gd name="csY10" fmla="*/ 2128837 h 2133600"/>
                <a:gd name="csX11" fmla="*/ 819150 w 1843087"/>
                <a:gd name="csY11" fmla="*/ 2133600 h 2133600"/>
                <a:gd name="csX12" fmla="*/ 1052512 w 1843087"/>
                <a:gd name="csY12" fmla="*/ 2052637 h 2133600"/>
                <a:gd name="csX13" fmla="*/ 1162050 w 1843087"/>
                <a:gd name="csY13" fmla="*/ 1962150 h 2133600"/>
                <a:gd name="csX14" fmla="*/ 1243012 w 1843087"/>
                <a:gd name="csY14" fmla="*/ 1838325 h 2133600"/>
                <a:gd name="csX15" fmla="*/ 1728787 w 1843087"/>
                <a:gd name="csY15" fmla="*/ 1819275 h 2133600"/>
                <a:gd name="csX16" fmla="*/ 1843087 w 1843087"/>
                <a:gd name="csY16" fmla="*/ 0 h 2133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843087" h="2133600">
                  <a:moveTo>
                    <a:pt x="1843087" y="0"/>
                  </a:moveTo>
                  <a:lnTo>
                    <a:pt x="623887" y="71437"/>
                  </a:lnTo>
                  <a:lnTo>
                    <a:pt x="328612" y="190500"/>
                  </a:lnTo>
                  <a:lnTo>
                    <a:pt x="66675" y="685800"/>
                  </a:lnTo>
                  <a:lnTo>
                    <a:pt x="0" y="1047750"/>
                  </a:lnTo>
                  <a:lnTo>
                    <a:pt x="233362" y="1452562"/>
                  </a:lnTo>
                  <a:lnTo>
                    <a:pt x="219075" y="1538287"/>
                  </a:lnTo>
                  <a:lnTo>
                    <a:pt x="295275" y="1571625"/>
                  </a:lnTo>
                  <a:lnTo>
                    <a:pt x="285750" y="1743075"/>
                  </a:lnTo>
                  <a:lnTo>
                    <a:pt x="347662" y="1947862"/>
                  </a:lnTo>
                  <a:lnTo>
                    <a:pt x="561975" y="2128837"/>
                  </a:lnTo>
                  <a:lnTo>
                    <a:pt x="819150" y="2133600"/>
                  </a:lnTo>
                  <a:lnTo>
                    <a:pt x="1052512" y="2052637"/>
                  </a:lnTo>
                  <a:lnTo>
                    <a:pt x="1162050" y="1962150"/>
                  </a:lnTo>
                  <a:lnTo>
                    <a:pt x="1243012" y="1838325"/>
                  </a:lnTo>
                  <a:lnTo>
                    <a:pt x="1728787" y="1819275"/>
                  </a:lnTo>
                  <a:lnTo>
                    <a:pt x="1843087" y="0"/>
                  </a:lnTo>
                  <a:close/>
                </a:path>
              </a:pathLst>
            </a:custGeom>
            <a:noFill/>
            <a:ln w="38100">
              <a:solidFill>
                <a:srgbClr val="92D05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E0170A62-5CBA-4782-8B5D-CCB8BC3A4E9F}"/>
                </a:ext>
              </a:extLst>
            </p:cNvPr>
            <p:cNvSpPr txBox="1">
              <a:spLocks/>
            </p:cNvSpPr>
            <p:nvPr/>
          </p:nvSpPr>
          <p:spPr>
            <a:xfrm>
              <a:off x="6858522" y="1732701"/>
              <a:ext cx="1570582" cy="411272"/>
            </a:xfrm>
            <a:prstGeom prst="rect">
              <a:avLst/>
            </a:prstGeom>
            <a:solidFill>
              <a:schemeClr val="tx1">
                <a:alpha val="51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000" b="1">
                  <a:solidFill>
                    <a:srgbClr val="92D050"/>
                  </a:solidFill>
                </a:rPr>
                <a:t>Min bil? ~100?</a:t>
              </a:r>
            </a:p>
            <a:p>
              <a:r>
                <a:rPr lang="en-US" sz="600" b="1">
                  <a:solidFill>
                    <a:srgbClr val="92D050"/>
                  </a:solidFill>
                </a:rPr>
                <a:t>allt möjligt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550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4F5-E647-DDA3-01A5-8ABA5796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”The Maker Community”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229D0-9BBE-5CA3-77EB-76E6D999B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Efter den här kursen kommer ni kunna programmera en mikrokontroller</a:t>
            </a:r>
          </a:p>
          <a:p>
            <a:r>
              <a:rPr lang="sv-SE"/>
              <a:t>Internet är proppfullt av roliga projekt som folk gör med sina mikrokontrollers: </a:t>
            </a:r>
          </a:p>
          <a:p>
            <a:pPr lvl="1"/>
            <a:r>
              <a:rPr lang="en-GB" sz="2000" u="sng">
                <a:hlinkClick r:id="rId4"/>
              </a:rPr>
              <a:t>https://www.seeedstudio.com/blog/2021/03/26/10-raspberry-pi-pico-projects/</a:t>
            </a:r>
            <a:endParaRPr lang="en-GB" sz="2000"/>
          </a:p>
          <a:p>
            <a:pPr lvl="1"/>
            <a:r>
              <a:rPr lang="en-GB" sz="2000" u="sng">
                <a:hlinkClick r:id="rId5"/>
              </a:rPr>
              <a:t>https://projecthub.arduino.cc/</a:t>
            </a:r>
            <a:endParaRPr lang="en-GB" sz="2000"/>
          </a:p>
          <a:p>
            <a:pPr lvl="1"/>
            <a:r>
              <a:rPr lang="en-GB" sz="2000">
                <a:hlinkClick r:id="rId6"/>
              </a:rPr>
              <a:t>https://www.allaboutcircuits.com/projects/category/embedded/microcontroller/</a:t>
            </a:r>
            <a:endParaRPr lang="en-GB" sz="2000"/>
          </a:p>
          <a:p>
            <a:pPr lvl="1"/>
            <a:r>
              <a:rPr lang="en-GB" sz="2000"/>
              <a:t>...</a:t>
            </a:r>
            <a:endParaRPr lang="LID4096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A08CB-E7DE-9254-E14A-968D1FEEBE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260" y="4601845"/>
            <a:ext cx="3426589" cy="201961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328BE-32DB-086B-E5C7-700C76D4EB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4676" y="4601844"/>
            <a:ext cx="2378193" cy="201961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9F5125-7131-25DE-B2DE-8B1ED4C93F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6159" y="753606"/>
            <a:ext cx="3431707" cy="35032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E12F10-55C9-7154-75D3-FA9121A391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4695" y="4601844"/>
            <a:ext cx="3573171" cy="201961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BAB61A-48FF-48FF-9674-CD57B2603C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0283" y="753606"/>
            <a:ext cx="4049155" cy="35032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20231231_163051">
            <a:hlinkClick r:id="" action="ppaction://media"/>
            <a:extLst>
              <a:ext uri="{FF2B5EF4-FFF2-40B4-BE49-F238E27FC236}">
                <a16:creationId xmlns:a16="http://schemas.microsoft.com/office/drawing/2014/main" id="{384A33C5-2CD2-A6A8-B9FB-B148A379BF7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66260" y="753606"/>
            <a:ext cx="6227913" cy="35032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059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1901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013"/>
                            </p:stCondLst>
                            <p:childTnLst>
                              <p:par>
                                <p:cTn id="38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40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8F9C-8D9F-E247-380B-FA062B500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är en mikrokontroller? 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9AB74-74B3-D465-C702-519C13ED7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658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582</Words>
  <Application>Microsoft Office PowerPoint</Application>
  <PresentationFormat>Widescreen</PresentationFormat>
  <Paragraphs>35</Paragraphs>
  <Slides>6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Hur många mikroprocessorer ser vi på bilden? </vt:lpstr>
      <vt:lpstr>Maskinorienterad Programmering</vt:lpstr>
      <vt:lpstr>Maskinorienterad Programmering</vt:lpstr>
      <vt:lpstr>PowerPoint Presentation</vt:lpstr>
      <vt:lpstr>”The Maker Community”</vt:lpstr>
      <vt:lpstr>Vad är en mikrokontroller?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1</cp:revision>
  <dcterms:created xsi:type="dcterms:W3CDTF">2026-01-14T14:09:03Z</dcterms:created>
  <dcterms:modified xsi:type="dcterms:W3CDTF">2026-01-14T16:09:13Z</dcterms:modified>
</cp:coreProperties>
</file>