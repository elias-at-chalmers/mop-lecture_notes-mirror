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794500" cy="9906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3595" autoAdjust="0"/>
  </p:normalViewPr>
  <p:slideViewPr>
    <p:cSldViewPr snapToGrid="0">
      <p:cViewPr>
        <p:scale>
          <a:sx n="200" d="100"/>
          <a:sy n="200" d="100"/>
        </p:scale>
        <p:origin x="1170" y="4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702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5450" y="1238250"/>
            <a:ext cx="5943600" cy="3343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67262"/>
            <a:ext cx="5435600" cy="39004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5" y="9408981"/>
            <a:ext cx="2944283" cy="49701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Nu när ni fått några dagar att smälta grundläggande interrupts (vi fick maskinen att avbryta vårat program när systick räknat ner till 0)</a:t>
            </a:r>
          </a:p>
          <a:p>
            <a:r>
              <a:rPr lang="sv-SE" i="0"/>
              <a:t>så skall vi gå vidare och lära oss hur man hanterar många interruptkällor på samma gång, och hur man kan hantera interrupts från GPIO pinnarna. </a:t>
            </a:r>
          </a:p>
          <a:p>
            <a:endParaRPr lang="sv-SE" i="0"/>
          </a:p>
          <a:p>
            <a:r>
              <a:rPr lang="sv-SE" i="0"/>
              <a:t>Vi har en del att gå igenom idag, men detta är sista lektionen med saker som dom skall förstå så väl att dom faktiskt kan programmera dem. </a:t>
            </a:r>
          </a:p>
          <a:p>
            <a:endParaRPr lang="sv-SE" i="0"/>
          </a:p>
          <a:p>
            <a:endParaRPr lang="sv-SE" i="0"/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Alla interrupts f</a:t>
            </a:r>
            <a:r>
              <a:rPr lang="sv-SE"/>
              <a:t>rån alla möjliga källor går igenom PFICen</a:t>
            </a:r>
          </a:p>
          <a:p>
            <a:endParaRPr lang="sv-SE"/>
          </a:p>
          <a:p>
            <a:r>
              <a:rPr lang="sv-SE"/>
              <a:t>Varje möjligt interrupt har ett eget hårdkodat nummer IRQ som vi hittar i vector tabellen</a:t>
            </a:r>
          </a:p>
          <a:p>
            <a:endParaRPr lang="sv-SE"/>
          </a:p>
          <a:p>
            <a:r>
              <a:rPr lang="sv-SE"/>
              <a:t>Vi har hittills konfigurerat PFICen bara genom att enabla ett visst interrupt i IENR registret. </a:t>
            </a:r>
          </a:p>
          <a:p>
            <a:endParaRPr lang="sv-SE"/>
          </a:p>
          <a:p>
            <a:r>
              <a:rPr lang="sv-SE"/>
              <a:t>Idag kommer vi lära oss lite mer om några av dessa register.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101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Går att lösa, om man programmerar om systick varje gång man får ett interrupt, </a:t>
            </a:r>
          </a:p>
          <a:p>
            <a:r>
              <a:rPr lang="sv-SE"/>
              <a:t>Men mycket enklare att använda tre olika timers?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67656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koden. </a:t>
            </a:r>
          </a:p>
          <a:p>
            <a:endParaRPr lang="sv-SE"/>
          </a:p>
          <a:p>
            <a:r>
              <a:rPr lang="sv-SE"/>
              <a:t>Vi har sagt åt alla timers att skapa ett interrupt när dom räknat klart, men det betyder bara att det kommer fram ett interrupt till PFIC:en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20595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Sedan måste vi säga till PFIC:en att dessa interrupts skall vara enablade.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742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Förklara mcause</a:t>
            </a:r>
          </a:p>
          <a:p>
            <a:r>
              <a:rPr lang="sv-SE"/>
              <a:t>Förklara koden</a:t>
            </a:r>
          </a:p>
          <a:p>
            <a:r>
              <a:rPr lang="sv-SE"/>
              <a:t>Förklara att vi måste ankowledga interrupten för att kunna få nya. </a:t>
            </a:r>
          </a:p>
          <a:p>
            <a:endParaRPr lang="sv-SE"/>
          </a:p>
          <a:p>
            <a:r>
              <a:rPr lang="sv-SE"/>
              <a:t>Detta funkar, och på dom enklaste RISCV maskinerna är detta allt som behöver finnas. </a:t>
            </a:r>
          </a:p>
          <a:p>
            <a:r>
              <a:rPr lang="sv-SE"/>
              <a:t>Men när allt vi behöver göra är att flippa en bit så är detta ganska ineffektivt.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12234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 riscv processor kan hantera avbrott på olika sätt beroende på hur den är konfigurerad. </a:t>
            </a:r>
          </a:p>
          <a:p>
            <a:r>
              <a:rPr lang="sv-SE"/>
              <a:t>Vilket mode vi skall ha ställs in med dom två nedersta bitarna i mtvec. </a:t>
            </a:r>
          </a:p>
          <a:p>
            <a:r>
              <a:rPr lang="sv-SE"/>
              <a:t>Hittills har vi bara använt mode 0. </a:t>
            </a:r>
          </a:p>
          <a:p>
            <a:r>
              <a:rPr lang="en-GB"/>
              <a:t>&lt;click&gt;</a:t>
            </a:r>
            <a:endParaRPr lang="sv-SE"/>
          </a:p>
          <a:p>
            <a:r>
              <a:rPr lang="sv-SE"/>
              <a:t>Repetera vad mode 0 är. </a:t>
            </a:r>
          </a:p>
          <a:p>
            <a:endParaRPr lang="sv-SE"/>
          </a:p>
          <a:p>
            <a:r>
              <a:rPr lang="sv-SE"/>
              <a:t>men... vi har ju aldrig ändrat dom nedersta två bitarna? Hur har vi kommit undan med detta? </a:t>
            </a:r>
          </a:p>
          <a:p>
            <a:endParaRPr lang="sv-SE"/>
          </a:p>
          <a:p>
            <a:r>
              <a:rPr lang="sv-SE"/>
              <a:t>Idag skall vi lära oss hur man använder vectored mode. </a:t>
            </a:r>
          </a:p>
          <a:p>
            <a:r>
              <a:rPr lang="sv-SE"/>
              <a:t>För att välja detta skriver vi alltså addressen till mtvec, och sedan sätter vi de nedersta två bitarna till 01.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6313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Då fungerar det istället så här. </a:t>
            </a:r>
          </a:p>
          <a:p>
            <a:r>
              <a:rPr lang="sv-SE"/>
              <a:t>mcause pekar alltså nu istället på en lång lista med jump instruktioner.</a:t>
            </a:r>
          </a:p>
          <a:p>
            <a:r>
              <a:rPr lang="sv-SE"/>
              <a:t>Utan att vi behöver göra något speciellt alls så hoppar alltså processorn till den interrupthanterare vi vill. </a:t>
            </a:r>
          </a:p>
          <a:p>
            <a:r>
              <a:rPr lang="sv-SE"/>
              <a:t>Hur får vi en sådan här lista med jump instruktioner någonstans i minnet då?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550859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Enklast (och vanligast) är att vi låter kompilatorn ta hand om det. </a:t>
            </a:r>
          </a:p>
          <a:p>
            <a:r>
              <a:rPr lang="sv-SE"/>
              <a:t>Vi skapar en assembler fil, och skapar våran lista med jump instruktioner på det här viset. </a:t>
            </a:r>
          </a:p>
          <a:p>
            <a:endParaRPr lang="sv-SE"/>
          </a:p>
          <a:p>
            <a:r>
              <a:rPr lang="sv-SE"/>
              <a:t>Gå igenom vad koden gör:</a:t>
            </a:r>
          </a:p>
          <a:p>
            <a:r>
              <a:rPr lang="sv-SE"/>
              <a:t>align</a:t>
            </a:r>
          </a:p>
          <a:p>
            <a:r>
              <a:rPr lang="sv-SE"/>
              <a:t>org</a:t>
            </a:r>
          </a:p>
          <a:p>
            <a:endParaRPr lang="sv-SE"/>
          </a:p>
          <a:p>
            <a:r>
              <a:rPr lang="sv-SE"/>
              <a:t>Påpeka igen att när ett timer6 interrupt kommer så hoppar processorn direkt </a:t>
            </a:r>
            <a:r>
              <a:rPr lang="sv-SE" i="1"/>
              <a:t>hit</a:t>
            </a:r>
            <a:r>
              <a:rPr lang="sv-SE" i="0"/>
              <a:t> vilket i sin tur gör att det hoppas till interrupt handlern. </a:t>
            </a:r>
          </a:p>
          <a:p>
            <a:r>
              <a:rPr lang="en-GB" i="0"/>
              <a:t>&lt;click&gt;</a:t>
            </a:r>
          </a:p>
          <a:p>
            <a:r>
              <a:rPr lang="en-GB" i="0"/>
              <a:t>F</a:t>
            </a:r>
            <a:r>
              <a:rPr lang="sv-SE" i="0"/>
              <a:t>ör att skriva sätt värde till mtvec så använder vi antingen inline asm, eller så skriver vi en liten funktion på det här viset. </a:t>
            </a:r>
          </a:p>
          <a:p>
            <a:endParaRPr lang="sv-SE" i="0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55792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Om jag har tid över här så skulle jag kunna gå igenom ett färdigskrivet program som blinkar de tre lamporna. </a:t>
            </a:r>
          </a:p>
          <a:p>
            <a:r>
              <a:rPr lang="sv-SE"/>
              <a:t>Annars pekar jag bara på den här koden.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67349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D43F1B-5C31-8357-7C5B-028155F6D0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1688" y="1333500"/>
            <a:ext cx="10552112" cy="4702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83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452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9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External Interrupts</a:t>
            </a:r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B3F5-78EF-EAD9-EE87-2B7C973C0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Recap: PFIC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5F34D8-DC02-7938-6265-639246E28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80" y="2357572"/>
            <a:ext cx="11256899" cy="348833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0E9A9E0-4B49-F287-B61D-B2FBDB2DCF03}"/>
              </a:ext>
            </a:extLst>
          </p:cNvPr>
          <p:cNvGrpSpPr/>
          <p:nvPr/>
        </p:nvGrpSpPr>
        <p:grpSpPr>
          <a:xfrm>
            <a:off x="6888801" y="0"/>
            <a:ext cx="5303199" cy="6858000"/>
            <a:chOff x="6888801" y="0"/>
            <a:chExt cx="530319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BB209E1-B318-E95C-8E19-350F8BB3F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88801" y="0"/>
              <a:ext cx="5303199" cy="6858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7BE72CE-CAAC-1FC4-1968-1C5CE330DA2E}"/>
                </a:ext>
              </a:extLst>
            </p:cNvPr>
            <p:cNvSpPr/>
            <p:nvPr/>
          </p:nvSpPr>
          <p:spPr>
            <a:xfrm>
              <a:off x="6954819" y="3313355"/>
              <a:ext cx="5158292" cy="941294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23618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93647-B573-B62A-0E96-00E704AB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Challenge! 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8E1BE-0403-CA40-67C5-68494A503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Få tre led lampor att blinka med tre olika frekvenser (f1, f2, f3)</a:t>
            </a:r>
          </a:p>
          <a:p>
            <a:endParaRPr lang="sv-SE"/>
          </a:p>
          <a:p>
            <a:r>
              <a:rPr lang="sv-SE" sz="2400"/>
              <a:t>f1 = 1Hz, f2 = 2Hz, f3 = 3Hz:</a:t>
            </a:r>
            <a:br>
              <a:rPr lang="sv-SE" sz="2400"/>
            </a:br>
            <a:r>
              <a:rPr lang="sv-SE" sz="2400"/>
              <a:t>Med systick? </a:t>
            </a:r>
          </a:p>
          <a:p>
            <a:endParaRPr lang="sv-SE"/>
          </a:p>
          <a:p>
            <a:endParaRPr lang="sv-SE"/>
          </a:p>
          <a:p>
            <a:endParaRPr lang="sv-SE"/>
          </a:p>
          <a:p>
            <a:r>
              <a:rPr lang="en-US" sz="2400"/>
              <a:t>f1 = 1Hz, f2 = 3, and f3 = 5</a:t>
            </a:r>
          </a:p>
          <a:p>
            <a:pPr lvl="1"/>
            <a:r>
              <a:rPr lang="en-US" sz="2000"/>
              <a:t>systick måste köras i 15Hz, och oftast</a:t>
            </a:r>
            <a:br>
              <a:rPr lang="en-US" sz="2000"/>
            </a:br>
            <a:r>
              <a:rPr lang="en-US" sz="2000"/>
              <a:t>inte göra någonting</a:t>
            </a:r>
            <a:endParaRPr lang="sv-SE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654C14-67A2-11B5-5C82-6D0E28E98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26" y="3708600"/>
            <a:ext cx="6000974" cy="3149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707B04-7022-202E-59C8-A787D9ECFB3A}"/>
              </a:ext>
            </a:extLst>
          </p:cNvPr>
          <p:cNvSpPr txBox="1"/>
          <p:nvPr/>
        </p:nvSpPr>
        <p:spPr>
          <a:xfrm>
            <a:off x="11013140" y="3870489"/>
            <a:ext cx="5997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100">
                <a:latin typeface="Consolas" panose="020B0609020204030204" pitchFamily="49" charset="0"/>
              </a:rPr>
              <a:t>f1</a:t>
            </a:r>
            <a:endParaRPr lang="LID4096" sz="110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30C769-8015-284A-2CA8-050139AD4979}"/>
              </a:ext>
            </a:extLst>
          </p:cNvPr>
          <p:cNvSpPr txBox="1"/>
          <p:nvPr/>
        </p:nvSpPr>
        <p:spPr>
          <a:xfrm>
            <a:off x="10950387" y="4892921"/>
            <a:ext cx="5997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100">
                <a:latin typeface="Consolas" panose="020B0609020204030204" pitchFamily="49" charset="0"/>
              </a:rPr>
              <a:t>f2</a:t>
            </a:r>
            <a:endParaRPr lang="LID4096" sz="110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63B05-D28A-D5E5-CD25-B1FD08880246}"/>
              </a:ext>
            </a:extLst>
          </p:cNvPr>
          <p:cNvSpPr txBox="1"/>
          <p:nvPr/>
        </p:nvSpPr>
        <p:spPr>
          <a:xfrm>
            <a:off x="11802034" y="5093730"/>
            <a:ext cx="5997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1100">
                <a:latin typeface="Consolas" panose="020B0609020204030204" pitchFamily="49" charset="0"/>
              </a:rPr>
              <a:t>f3</a:t>
            </a:r>
            <a:endParaRPr lang="LID4096" sz="1100"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670589-CB8A-2B62-EAA7-CB7024575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01" y="3771411"/>
            <a:ext cx="5243571" cy="143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52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4AEA-50C9-2758-31AF-A6BFAB72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77E876-0CB3-05FA-C6A7-F315124F3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76" y="1893345"/>
            <a:ext cx="4993576" cy="21773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A6EFCB0-9C7F-AF3F-BE3A-E46D993DC142}"/>
              </a:ext>
            </a:extLst>
          </p:cNvPr>
          <p:cNvGrpSpPr/>
          <p:nvPr/>
        </p:nvGrpSpPr>
        <p:grpSpPr>
          <a:xfrm>
            <a:off x="4512833" y="2241185"/>
            <a:ext cx="2959441" cy="426712"/>
            <a:chOff x="4512833" y="2241185"/>
            <a:chExt cx="2959441" cy="42671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8DAC031-A10F-01EA-D5BC-5EE516805303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1664FF-6C5C-62E1-9F28-DBC81673B938}"/>
                </a:ext>
              </a:extLst>
            </p:cNvPr>
            <p:cNvCxnSpPr>
              <a:stCxn id="6" idx="0"/>
            </p:cNvCxnSpPr>
            <p:nvPr/>
          </p:nvCxnSpPr>
          <p:spPr>
            <a:xfrm>
              <a:off x="4577379" y="2463501"/>
              <a:ext cx="2791609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865F1D-43F4-98C4-0E6B-9111E49D1625}"/>
                </a:ext>
              </a:extLst>
            </p:cNvPr>
            <p:cNvSpPr txBox="1"/>
            <p:nvPr/>
          </p:nvSpPr>
          <p:spPr>
            <a:xfrm>
              <a:off x="5859332" y="2241185"/>
              <a:ext cx="16129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Timer</a:t>
              </a:r>
              <a:endParaRPr lang="LID4096" sz="120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E718BF6-8B5E-A696-D4CC-AFCA28287F9C}"/>
              </a:ext>
            </a:extLst>
          </p:cNvPr>
          <p:cNvGrpSpPr/>
          <p:nvPr/>
        </p:nvGrpSpPr>
        <p:grpSpPr>
          <a:xfrm>
            <a:off x="4512833" y="2641969"/>
            <a:ext cx="3240223" cy="426712"/>
            <a:chOff x="4512833" y="2241185"/>
            <a:chExt cx="3240223" cy="42671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8A6331B-7E04-77D2-A9E1-04CD5DF89AC3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E7576B-F0A0-6C40-10B8-D146A68FB8BF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>
              <a:off x="4577379" y="2463501"/>
              <a:ext cx="3087445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716BCA-29F0-C9E5-CB7E-F3A2229AB562}"/>
                </a:ext>
              </a:extLst>
            </p:cNvPr>
            <p:cNvSpPr txBox="1"/>
            <p:nvPr/>
          </p:nvSpPr>
          <p:spPr>
            <a:xfrm>
              <a:off x="5859332" y="2241185"/>
              <a:ext cx="1893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Interrupts</a:t>
              </a:r>
              <a:endParaRPr lang="LID4096" sz="120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02348A-E95A-10F9-0468-03055FDED642}"/>
              </a:ext>
            </a:extLst>
          </p:cNvPr>
          <p:cNvGrpSpPr/>
          <p:nvPr/>
        </p:nvGrpSpPr>
        <p:grpSpPr>
          <a:xfrm>
            <a:off x="2770094" y="3227354"/>
            <a:ext cx="5267142" cy="426712"/>
            <a:chOff x="2770094" y="2241185"/>
            <a:chExt cx="5267142" cy="42671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BE2F79A-192F-FAB5-6E57-0086781BF78F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14CE08C-3939-F8F5-A593-59256A1C165A}"/>
                </a:ext>
              </a:extLst>
            </p:cNvPr>
            <p:cNvCxnSpPr>
              <a:cxnSpLocks/>
              <a:stCxn id="17" idx="0"/>
            </p:cNvCxnSpPr>
            <p:nvPr/>
          </p:nvCxnSpPr>
          <p:spPr>
            <a:xfrm>
              <a:off x="3706010" y="2463501"/>
              <a:ext cx="4249270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F3074B5-38F1-411B-65EE-F256814B18E0}"/>
                </a:ext>
              </a:extLst>
            </p:cNvPr>
            <p:cNvSpPr txBox="1"/>
            <p:nvPr/>
          </p:nvSpPr>
          <p:spPr>
            <a:xfrm>
              <a:off x="5859332" y="2241185"/>
              <a:ext cx="2177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R</a:t>
              </a:r>
              <a:r>
                <a:rPr lang="sv-SE" sz="1200"/>
                <a:t>äknas upp varje klockcykel...</a:t>
              </a:r>
              <a:endParaRPr lang="LID4096" sz="120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24D58B-623C-778F-E321-FA7E7E0414BE}"/>
              </a:ext>
            </a:extLst>
          </p:cNvPr>
          <p:cNvGrpSpPr/>
          <p:nvPr/>
        </p:nvGrpSpPr>
        <p:grpSpPr>
          <a:xfrm>
            <a:off x="2779797" y="3608343"/>
            <a:ext cx="4943528" cy="426712"/>
            <a:chOff x="2770094" y="2241185"/>
            <a:chExt cx="4943528" cy="42671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61B0340-74BB-6B06-5A8F-E4500668EF72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E0E5CB0-7616-AD1A-962B-243F69A67B31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>
              <a:off x="3706010" y="2463501"/>
              <a:ext cx="3879186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B6E81D6-CA5A-1D28-D3E4-FB8F4648392E}"/>
                </a:ext>
              </a:extLst>
            </p:cNvPr>
            <p:cNvSpPr txBox="1"/>
            <p:nvPr/>
          </p:nvSpPr>
          <p:spPr>
            <a:xfrm>
              <a:off x="5859332" y="2241185"/>
              <a:ext cx="18542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/>
                <a:t>tills den är lika med detta</a:t>
              </a:r>
              <a:endParaRPr lang="LID4096" sz="120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54644D7-1BD0-54BE-FAC3-D7A99FDF607E}"/>
              </a:ext>
            </a:extLst>
          </p:cNvPr>
          <p:cNvSpPr txBox="1"/>
          <p:nvPr/>
        </p:nvSpPr>
        <p:spPr>
          <a:xfrm>
            <a:off x="8304903" y="3213062"/>
            <a:ext cx="263623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200"/>
              <a:t>Dessa registrena är bara 16 bitar.</a:t>
            </a:r>
          </a:p>
          <a:p>
            <a:r>
              <a:rPr lang="sv-SE" sz="1200"/>
              <a:t>Kan som max räkna till 65536 cykler!</a:t>
            </a:r>
          </a:p>
          <a:p>
            <a:r>
              <a:rPr lang="sv-SE" sz="1200"/>
              <a:t>(</a:t>
            </a:r>
            <a:r>
              <a:rPr lang="en-GB" sz="1200"/>
              <a:t>&lt;0.5ms i 144MHz</a:t>
            </a:r>
            <a:r>
              <a:rPr lang="sv-SE" sz="1200"/>
              <a:t>)</a:t>
            </a:r>
            <a:endParaRPr lang="LID4096" sz="12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0ECBF4-84A5-6CF2-C01B-80618113B5F0}"/>
              </a:ext>
            </a:extLst>
          </p:cNvPr>
          <p:cNvSpPr txBox="1"/>
          <p:nvPr/>
        </p:nvSpPr>
        <p:spPr>
          <a:xfrm>
            <a:off x="4455833" y="3614772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/>
              <a:t>0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6391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9FCB9-0E93-AFF9-57DE-DAC76D306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55636-387F-F630-DA65-79C75E74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Basic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85B626-C64F-741B-FE93-DD66549D6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76" y="1893345"/>
            <a:ext cx="4993576" cy="21773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872F908-8BA8-9C0D-9B6D-2D49A7149FCC}"/>
              </a:ext>
            </a:extLst>
          </p:cNvPr>
          <p:cNvGrpSpPr/>
          <p:nvPr/>
        </p:nvGrpSpPr>
        <p:grpSpPr>
          <a:xfrm>
            <a:off x="4512833" y="2241185"/>
            <a:ext cx="2959441" cy="426712"/>
            <a:chOff x="4512833" y="2241185"/>
            <a:chExt cx="2959441" cy="42671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446045D-D537-95B6-3499-5A96E915D347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202BB1-78A5-9563-CDB7-1875C844EFF5}"/>
                </a:ext>
              </a:extLst>
            </p:cNvPr>
            <p:cNvCxnSpPr>
              <a:stCxn id="6" idx="0"/>
            </p:cNvCxnSpPr>
            <p:nvPr/>
          </p:nvCxnSpPr>
          <p:spPr>
            <a:xfrm>
              <a:off x="4577379" y="2463501"/>
              <a:ext cx="2791609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DADD6A0-A1E5-A030-F8E8-BEF7D5059F07}"/>
                </a:ext>
              </a:extLst>
            </p:cNvPr>
            <p:cNvSpPr txBox="1"/>
            <p:nvPr/>
          </p:nvSpPr>
          <p:spPr>
            <a:xfrm>
              <a:off x="5859332" y="2241185"/>
              <a:ext cx="16129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Timer</a:t>
              </a:r>
              <a:endParaRPr lang="LID4096" sz="120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70D0C4-8F92-A71B-5AAB-5171E6854805}"/>
              </a:ext>
            </a:extLst>
          </p:cNvPr>
          <p:cNvGrpSpPr/>
          <p:nvPr/>
        </p:nvGrpSpPr>
        <p:grpSpPr>
          <a:xfrm>
            <a:off x="4512833" y="2641969"/>
            <a:ext cx="3240223" cy="426712"/>
            <a:chOff x="4512833" y="2241185"/>
            <a:chExt cx="3240223" cy="42671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985C48F-0284-D9E2-DA78-9C32494FE2EA}"/>
                </a:ext>
              </a:extLst>
            </p:cNvPr>
            <p:cNvSpPr/>
            <p:nvPr/>
          </p:nvSpPr>
          <p:spPr>
            <a:xfrm>
              <a:off x="4512833" y="2463501"/>
              <a:ext cx="129092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41224-5D3B-2E54-D766-537981139537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>
              <a:off x="4577379" y="2463501"/>
              <a:ext cx="3087445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4A31EF-C9A2-ADE9-C745-FEFD577AD8F8}"/>
                </a:ext>
              </a:extLst>
            </p:cNvPr>
            <p:cNvSpPr txBox="1"/>
            <p:nvPr/>
          </p:nvSpPr>
          <p:spPr>
            <a:xfrm>
              <a:off x="5859332" y="2241185"/>
              <a:ext cx="1893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Enable/Disable Interrupts</a:t>
              </a:r>
              <a:endParaRPr lang="LID4096" sz="120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7AB123-B399-D253-74B0-EEEEE29E33FA}"/>
              </a:ext>
            </a:extLst>
          </p:cNvPr>
          <p:cNvGrpSpPr/>
          <p:nvPr/>
        </p:nvGrpSpPr>
        <p:grpSpPr>
          <a:xfrm>
            <a:off x="2770094" y="3227354"/>
            <a:ext cx="5816972" cy="426712"/>
            <a:chOff x="2770094" y="2241185"/>
            <a:chExt cx="5816972" cy="42671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C158401-A120-8853-80CF-E48DDE40FACF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F23E952-DD36-297A-2253-92C214072771}"/>
                </a:ext>
              </a:extLst>
            </p:cNvPr>
            <p:cNvCxnSpPr>
              <a:cxnSpLocks/>
              <a:stCxn id="17" idx="0"/>
            </p:cNvCxnSpPr>
            <p:nvPr/>
          </p:nvCxnSpPr>
          <p:spPr>
            <a:xfrm>
              <a:off x="3706010" y="2463501"/>
              <a:ext cx="4814046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0A20C0-0746-A60E-8653-39E8CBBB6A9D}"/>
                </a:ext>
              </a:extLst>
            </p:cNvPr>
            <p:cNvSpPr txBox="1"/>
            <p:nvPr/>
          </p:nvSpPr>
          <p:spPr>
            <a:xfrm>
              <a:off x="5859332" y="2241185"/>
              <a:ext cx="27277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R</a:t>
              </a:r>
              <a:r>
                <a:rPr lang="sv-SE" sz="1200"/>
                <a:t>äknas upp var </a:t>
              </a:r>
              <a:r>
                <a:rPr lang="sv-SE" sz="1200">
                  <a:solidFill>
                    <a:srgbClr val="C00000"/>
                  </a:solidFill>
                </a:rPr>
                <a:t>(PSC + 1)de </a:t>
              </a:r>
              <a:r>
                <a:rPr lang="sv-SE" sz="1200"/>
                <a:t>klockcykel</a:t>
              </a:r>
              <a:endParaRPr lang="LID4096" sz="120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1DA649-F85D-7532-8529-C8ED906620A5}"/>
              </a:ext>
            </a:extLst>
          </p:cNvPr>
          <p:cNvGrpSpPr/>
          <p:nvPr/>
        </p:nvGrpSpPr>
        <p:grpSpPr>
          <a:xfrm>
            <a:off x="2779797" y="3608343"/>
            <a:ext cx="4943528" cy="426712"/>
            <a:chOff x="2770094" y="2241185"/>
            <a:chExt cx="4943528" cy="42671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482ECD5-95E5-F63A-D7F7-1199B6209D15}"/>
                </a:ext>
              </a:extLst>
            </p:cNvPr>
            <p:cNvSpPr/>
            <p:nvPr/>
          </p:nvSpPr>
          <p:spPr>
            <a:xfrm>
              <a:off x="2770094" y="2463501"/>
              <a:ext cx="1871831" cy="204396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8E93F0F-3D91-315C-0CC9-2785E3A4EC5B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>
              <a:off x="3706010" y="2463501"/>
              <a:ext cx="3879186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3598AD-E0EB-13BF-29D3-7257FBFBAE91}"/>
                </a:ext>
              </a:extLst>
            </p:cNvPr>
            <p:cNvSpPr txBox="1"/>
            <p:nvPr/>
          </p:nvSpPr>
          <p:spPr>
            <a:xfrm>
              <a:off x="5859332" y="2241185"/>
              <a:ext cx="18542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200"/>
                <a:t>tills den är lika med detta</a:t>
              </a:r>
              <a:endParaRPr lang="LID4096" sz="1200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B441A52-65BA-EA71-EC87-5573E15AE156}"/>
              </a:ext>
            </a:extLst>
          </p:cNvPr>
          <p:cNvSpPr txBox="1"/>
          <p:nvPr/>
        </p:nvSpPr>
        <p:spPr>
          <a:xfrm>
            <a:off x="4380493" y="3610330"/>
            <a:ext cx="3353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>
                <a:solidFill>
                  <a:srgbClr val="C00000"/>
                </a:solidFill>
              </a:rPr>
              <a:t>99</a:t>
            </a:r>
            <a:endParaRPr lang="LID4096">
              <a:solidFill>
                <a:srgbClr val="C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CE9AB-8C6E-186C-8F7B-F6BC95B58E41}"/>
              </a:ext>
            </a:extLst>
          </p:cNvPr>
          <p:cNvSpPr txBox="1"/>
          <p:nvPr/>
        </p:nvSpPr>
        <p:spPr>
          <a:xfrm>
            <a:off x="6665803" y="4455634"/>
            <a:ext cx="31892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GB" sz="1200"/>
              <a:t>Vi f</a:t>
            </a:r>
            <a:r>
              <a:rPr lang="sv-SE" sz="1200"/>
              <a:t>år ett interrupt efter (ATRLR + 1) * (PSC + 1)</a:t>
            </a:r>
            <a:br>
              <a:rPr lang="sv-SE" sz="1200"/>
            </a:br>
            <a:r>
              <a:rPr lang="sv-SE" sz="1200"/>
              <a:t>klockcykler</a:t>
            </a:r>
            <a:endParaRPr lang="LID4096" sz="1200"/>
          </a:p>
        </p:txBody>
      </p:sp>
    </p:spTree>
    <p:extLst>
      <p:ext uri="{BB962C8B-B14F-4D97-AF65-F5344CB8AC3E}">
        <p14:creationId xmlns:p14="http://schemas.microsoft.com/office/powerpoint/2010/main" val="10526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5C4D1-4240-D5B0-AFA5-496F403C4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Konfigurera timers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ECDFE-862B-7C00-8688-D3FDDBC3A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8312633" cy="516731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2BF4954-5EDC-F928-3740-08C9A3CD0BA8}"/>
              </a:ext>
            </a:extLst>
          </p:cNvPr>
          <p:cNvGrpSpPr/>
          <p:nvPr/>
        </p:nvGrpSpPr>
        <p:grpSpPr>
          <a:xfrm>
            <a:off x="4362226" y="3130475"/>
            <a:ext cx="7369333" cy="3462169"/>
            <a:chOff x="4362226" y="3130475"/>
            <a:chExt cx="7369333" cy="346216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5BD96E9-6C04-B458-DFBF-635169F6DD55}"/>
                </a:ext>
              </a:extLst>
            </p:cNvPr>
            <p:cNvCxnSpPr/>
            <p:nvPr/>
          </p:nvCxnSpPr>
          <p:spPr>
            <a:xfrm flipH="1">
              <a:off x="4362226" y="3130475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18B029F-34E5-5684-4FD3-95613AA5E9F1}"/>
                </a:ext>
              </a:extLst>
            </p:cNvPr>
            <p:cNvCxnSpPr/>
            <p:nvPr/>
          </p:nvCxnSpPr>
          <p:spPr>
            <a:xfrm flipH="1">
              <a:off x="4665233" y="4982583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D3967B-5B85-2B64-2343-85A0A349A3E1}"/>
                </a:ext>
              </a:extLst>
            </p:cNvPr>
            <p:cNvCxnSpPr/>
            <p:nvPr/>
          </p:nvCxnSpPr>
          <p:spPr>
            <a:xfrm flipH="1">
              <a:off x="4419600" y="6592644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02E204F-F3A0-D067-5983-51005F9C6786}"/>
                </a:ext>
              </a:extLst>
            </p:cNvPr>
            <p:cNvCxnSpPr/>
            <p:nvPr/>
          </p:nvCxnSpPr>
          <p:spPr>
            <a:xfrm>
              <a:off x="8713694" y="3130475"/>
              <a:ext cx="303007" cy="18521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BF774F-97E1-F245-A6CC-42A9FD0453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1068" y="4982583"/>
              <a:ext cx="245633" cy="16100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9D31926-A57D-9753-2FA9-D7F6430C35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16701" y="4982582"/>
              <a:ext cx="45843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C551602-5B0A-09A4-32E5-4A0AF8B6290B}"/>
                </a:ext>
              </a:extLst>
            </p:cNvPr>
            <p:cNvSpPr txBox="1"/>
            <p:nvPr/>
          </p:nvSpPr>
          <p:spPr>
            <a:xfrm>
              <a:off x="9462027" y="4751749"/>
              <a:ext cx="226953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none" rtlCol="0">
              <a:spAutoFit/>
            </a:bodyPr>
            <a:lstStyle/>
            <a:p>
              <a:r>
                <a:rPr lang="sv-SE" sz="1200"/>
                <a:t>Vi säger åt alla timers att skicka</a:t>
              </a:r>
            </a:p>
            <a:p>
              <a:r>
                <a:rPr lang="sv-SE" sz="1200"/>
                <a:t>en interruptrequest till PFIC</a:t>
              </a:r>
              <a:br>
                <a:rPr lang="sv-SE" sz="1200"/>
              </a:br>
              <a:r>
                <a:rPr lang="sv-SE" sz="1200"/>
                <a:t>när dom räknat klart</a:t>
              </a:r>
              <a:endParaRPr lang="LID4096" sz="1200"/>
            </a:p>
          </p:txBody>
        </p:sp>
      </p:grpSp>
    </p:spTree>
    <p:extLst>
      <p:ext uri="{BB962C8B-B14F-4D97-AF65-F5344CB8AC3E}">
        <p14:creationId xmlns:p14="http://schemas.microsoft.com/office/powerpoint/2010/main" val="111521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7338E-07C8-2B1F-C736-DD1B9689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Enabla interrupts i PFIC</a:t>
            </a:r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7ACD8A9-95E5-C067-32A8-FB1621549957}"/>
              </a:ext>
            </a:extLst>
          </p:cNvPr>
          <p:cNvGrpSpPr/>
          <p:nvPr/>
        </p:nvGrpSpPr>
        <p:grpSpPr>
          <a:xfrm>
            <a:off x="6888801" y="0"/>
            <a:ext cx="5303199" cy="6858000"/>
            <a:chOff x="6888801" y="0"/>
            <a:chExt cx="5303199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30705D-5D1F-DCF0-52D7-58B7934496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8801" y="0"/>
              <a:ext cx="5303199" cy="6858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62537D1-3C68-47D6-6897-226D282CFAE7}"/>
                </a:ext>
              </a:extLst>
            </p:cNvPr>
            <p:cNvSpPr/>
            <p:nvPr/>
          </p:nvSpPr>
          <p:spPr>
            <a:xfrm>
              <a:off x="6954819" y="3313355"/>
              <a:ext cx="5158292" cy="941294"/>
            </a:xfrm>
            <a:prstGeom prst="roundRect">
              <a:avLst>
                <a:gd name="adj" fmla="val 8667"/>
              </a:avLst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474705D-7C90-7758-D5C2-906B295EC559}"/>
              </a:ext>
            </a:extLst>
          </p:cNvPr>
          <p:cNvGrpSpPr/>
          <p:nvPr/>
        </p:nvGrpSpPr>
        <p:grpSpPr>
          <a:xfrm>
            <a:off x="435857" y="2055813"/>
            <a:ext cx="2512537" cy="4130935"/>
            <a:chOff x="645407" y="1807285"/>
            <a:chExt cx="2512537" cy="413093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C5608B9-D26A-0B26-EBA5-FA322AAAE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5407" y="4087229"/>
              <a:ext cx="2512537" cy="185099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EF47D9F-17CC-1C83-4972-61DDF9B5A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5407" y="1807285"/>
              <a:ext cx="2512537" cy="2065765"/>
            </a:xfrm>
            <a:prstGeom prst="rect">
              <a:avLst/>
            </a:prstGeom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5345054-1370-6674-76A1-76632B9B92ED}"/>
                </a:ext>
              </a:extLst>
            </p:cNvPr>
            <p:cNvSpPr/>
            <p:nvPr/>
          </p:nvSpPr>
          <p:spPr>
            <a:xfrm>
              <a:off x="671513" y="3890963"/>
              <a:ext cx="2486025" cy="128587"/>
            </a:xfrm>
            <a:custGeom>
              <a:avLst/>
              <a:gdLst>
                <a:gd name="csX0" fmla="*/ 0 w 2486025"/>
                <a:gd name="csY0" fmla="*/ 123825 h 128587"/>
                <a:gd name="csX1" fmla="*/ 209550 w 2486025"/>
                <a:gd name="csY1" fmla="*/ 42862 h 128587"/>
                <a:gd name="csX2" fmla="*/ 200025 w 2486025"/>
                <a:gd name="csY2" fmla="*/ 128587 h 128587"/>
                <a:gd name="csX3" fmla="*/ 466725 w 2486025"/>
                <a:gd name="csY3" fmla="*/ 47625 h 128587"/>
                <a:gd name="csX4" fmla="*/ 461962 w 2486025"/>
                <a:gd name="csY4" fmla="*/ 123825 h 128587"/>
                <a:gd name="csX5" fmla="*/ 714375 w 2486025"/>
                <a:gd name="csY5" fmla="*/ 33337 h 128587"/>
                <a:gd name="csX6" fmla="*/ 723900 w 2486025"/>
                <a:gd name="csY6" fmla="*/ 95250 h 128587"/>
                <a:gd name="csX7" fmla="*/ 933450 w 2486025"/>
                <a:gd name="csY7" fmla="*/ 19050 h 128587"/>
                <a:gd name="csX8" fmla="*/ 933450 w 2486025"/>
                <a:gd name="csY8" fmla="*/ 104775 h 128587"/>
                <a:gd name="csX9" fmla="*/ 1200150 w 2486025"/>
                <a:gd name="csY9" fmla="*/ 28575 h 128587"/>
                <a:gd name="csX10" fmla="*/ 1204912 w 2486025"/>
                <a:gd name="csY10" fmla="*/ 95250 h 128587"/>
                <a:gd name="csX11" fmla="*/ 1533525 w 2486025"/>
                <a:gd name="csY11" fmla="*/ 23812 h 128587"/>
                <a:gd name="csX12" fmla="*/ 1547812 w 2486025"/>
                <a:gd name="csY12" fmla="*/ 80962 h 128587"/>
                <a:gd name="csX13" fmla="*/ 1824037 w 2486025"/>
                <a:gd name="csY13" fmla="*/ 0 h 128587"/>
                <a:gd name="csX14" fmla="*/ 1814512 w 2486025"/>
                <a:gd name="csY14" fmla="*/ 61912 h 128587"/>
                <a:gd name="csX15" fmla="*/ 2128837 w 2486025"/>
                <a:gd name="csY15" fmla="*/ 14287 h 128587"/>
                <a:gd name="csX16" fmla="*/ 2124075 w 2486025"/>
                <a:gd name="csY16" fmla="*/ 95250 h 128587"/>
                <a:gd name="csX17" fmla="*/ 2486025 w 2486025"/>
                <a:gd name="csY17" fmla="*/ 28575 h 128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486025" h="128587">
                  <a:moveTo>
                    <a:pt x="0" y="123825"/>
                  </a:moveTo>
                  <a:lnTo>
                    <a:pt x="209550" y="42862"/>
                  </a:lnTo>
                  <a:lnTo>
                    <a:pt x="200025" y="128587"/>
                  </a:lnTo>
                  <a:lnTo>
                    <a:pt x="466725" y="47625"/>
                  </a:lnTo>
                  <a:lnTo>
                    <a:pt x="461962" y="123825"/>
                  </a:lnTo>
                  <a:lnTo>
                    <a:pt x="714375" y="33337"/>
                  </a:lnTo>
                  <a:lnTo>
                    <a:pt x="723900" y="95250"/>
                  </a:lnTo>
                  <a:lnTo>
                    <a:pt x="933450" y="19050"/>
                  </a:lnTo>
                  <a:lnTo>
                    <a:pt x="933450" y="104775"/>
                  </a:lnTo>
                  <a:lnTo>
                    <a:pt x="1200150" y="28575"/>
                  </a:lnTo>
                  <a:lnTo>
                    <a:pt x="1204912" y="95250"/>
                  </a:lnTo>
                  <a:lnTo>
                    <a:pt x="1533525" y="23812"/>
                  </a:lnTo>
                  <a:lnTo>
                    <a:pt x="1547812" y="80962"/>
                  </a:lnTo>
                  <a:lnTo>
                    <a:pt x="1824037" y="0"/>
                  </a:lnTo>
                  <a:lnTo>
                    <a:pt x="1814512" y="61912"/>
                  </a:lnTo>
                  <a:lnTo>
                    <a:pt x="2128837" y="14287"/>
                  </a:lnTo>
                  <a:lnTo>
                    <a:pt x="2124075" y="95250"/>
                  </a:lnTo>
                  <a:lnTo>
                    <a:pt x="2486025" y="28575"/>
                  </a:lnTo>
                </a:path>
              </a:pathLst>
            </a:custGeom>
            <a:noFill/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49642E2-89A4-AE2E-EF85-AA215BB8CF1F}"/>
                </a:ext>
              </a:extLst>
            </p:cNvPr>
            <p:cNvSpPr/>
            <p:nvPr/>
          </p:nvSpPr>
          <p:spPr>
            <a:xfrm>
              <a:off x="645407" y="3924802"/>
              <a:ext cx="2486025" cy="128587"/>
            </a:xfrm>
            <a:custGeom>
              <a:avLst/>
              <a:gdLst>
                <a:gd name="csX0" fmla="*/ 0 w 2486025"/>
                <a:gd name="csY0" fmla="*/ 123825 h 128587"/>
                <a:gd name="csX1" fmla="*/ 209550 w 2486025"/>
                <a:gd name="csY1" fmla="*/ 42862 h 128587"/>
                <a:gd name="csX2" fmla="*/ 200025 w 2486025"/>
                <a:gd name="csY2" fmla="*/ 128587 h 128587"/>
                <a:gd name="csX3" fmla="*/ 466725 w 2486025"/>
                <a:gd name="csY3" fmla="*/ 47625 h 128587"/>
                <a:gd name="csX4" fmla="*/ 461962 w 2486025"/>
                <a:gd name="csY4" fmla="*/ 123825 h 128587"/>
                <a:gd name="csX5" fmla="*/ 714375 w 2486025"/>
                <a:gd name="csY5" fmla="*/ 33337 h 128587"/>
                <a:gd name="csX6" fmla="*/ 723900 w 2486025"/>
                <a:gd name="csY6" fmla="*/ 95250 h 128587"/>
                <a:gd name="csX7" fmla="*/ 933450 w 2486025"/>
                <a:gd name="csY7" fmla="*/ 19050 h 128587"/>
                <a:gd name="csX8" fmla="*/ 933450 w 2486025"/>
                <a:gd name="csY8" fmla="*/ 104775 h 128587"/>
                <a:gd name="csX9" fmla="*/ 1200150 w 2486025"/>
                <a:gd name="csY9" fmla="*/ 28575 h 128587"/>
                <a:gd name="csX10" fmla="*/ 1204912 w 2486025"/>
                <a:gd name="csY10" fmla="*/ 95250 h 128587"/>
                <a:gd name="csX11" fmla="*/ 1533525 w 2486025"/>
                <a:gd name="csY11" fmla="*/ 23812 h 128587"/>
                <a:gd name="csX12" fmla="*/ 1547812 w 2486025"/>
                <a:gd name="csY12" fmla="*/ 80962 h 128587"/>
                <a:gd name="csX13" fmla="*/ 1824037 w 2486025"/>
                <a:gd name="csY13" fmla="*/ 0 h 128587"/>
                <a:gd name="csX14" fmla="*/ 1814512 w 2486025"/>
                <a:gd name="csY14" fmla="*/ 61912 h 128587"/>
                <a:gd name="csX15" fmla="*/ 2128837 w 2486025"/>
                <a:gd name="csY15" fmla="*/ 14287 h 128587"/>
                <a:gd name="csX16" fmla="*/ 2124075 w 2486025"/>
                <a:gd name="csY16" fmla="*/ 95250 h 128587"/>
                <a:gd name="csX17" fmla="*/ 2486025 w 2486025"/>
                <a:gd name="csY17" fmla="*/ 28575 h 128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486025" h="128587">
                  <a:moveTo>
                    <a:pt x="0" y="123825"/>
                  </a:moveTo>
                  <a:lnTo>
                    <a:pt x="209550" y="42862"/>
                  </a:lnTo>
                  <a:lnTo>
                    <a:pt x="200025" y="128587"/>
                  </a:lnTo>
                  <a:lnTo>
                    <a:pt x="466725" y="47625"/>
                  </a:lnTo>
                  <a:lnTo>
                    <a:pt x="461962" y="123825"/>
                  </a:lnTo>
                  <a:lnTo>
                    <a:pt x="714375" y="33337"/>
                  </a:lnTo>
                  <a:lnTo>
                    <a:pt x="723900" y="95250"/>
                  </a:lnTo>
                  <a:lnTo>
                    <a:pt x="933450" y="19050"/>
                  </a:lnTo>
                  <a:lnTo>
                    <a:pt x="933450" y="104775"/>
                  </a:lnTo>
                  <a:lnTo>
                    <a:pt x="1200150" y="28575"/>
                  </a:lnTo>
                  <a:lnTo>
                    <a:pt x="1204912" y="95250"/>
                  </a:lnTo>
                  <a:lnTo>
                    <a:pt x="1533525" y="23812"/>
                  </a:lnTo>
                  <a:lnTo>
                    <a:pt x="1547812" y="80962"/>
                  </a:lnTo>
                  <a:lnTo>
                    <a:pt x="1824037" y="0"/>
                  </a:lnTo>
                  <a:lnTo>
                    <a:pt x="1814512" y="61912"/>
                  </a:lnTo>
                  <a:lnTo>
                    <a:pt x="2128837" y="14287"/>
                  </a:lnTo>
                  <a:lnTo>
                    <a:pt x="2124075" y="95250"/>
                  </a:lnTo>
                  <a:lnTo>
                    <a:pt x="2486025" y="28575"/>
                  </a:lnTo>
                </a:path>
              </a:pathLst>
            </a:custGeom>
            <a:noFill/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6ABF9D-AC96-B046-518C-A689A5AE8D59}"/>
              </a:ext>
            </a:extLst>
          </p:cNvPr>
          <p:cNvSpPr/>
          <p:nvPr/>
        </p:nvSpPr>
        <p:spPr>
          <a:xfrm>
            <a:off x="461963" y="3143250"/>
            <a:ext cx="2459919" cy="11430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8ECC6B-04D4-3D9E-10DA-5DD7D59B8DD6}"/>
              </a:ext>
            </a:extLst>
          </p:cNvPr>
          <p:cNvSpPr/>
          <p:nvPr/>
        </p:nvSpPr>
        <p:spPr>
          <a:xfrm>
            <a:off x="461963" y="5361415"/>
            <a:ext cx="2459919" cy="114300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077CB81-5DBE-525D-9598-D572FC8C63D9}"/>
              </a:ext>
            </a:extLst>
          </p:cNvPr>
          <p:cNvSpPr/>
          <p:nvPr/>
        </p:nvSpPr>
        <p:spPr>
          <a:xfrm>
            <a:off x="461963" y="5486244"/>
            <a:ext cx="2459919" cy="114300"/>
          </a:xfrm>
          <a:prstGeom prst="round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693C057-A899-30D8-4B31-9D639C4382C8}"/>
              </a:ext>
            </a:extLst>
          </p:cNvPr>
          <p:cNvSpPr/>
          <p:nvPr/>
        </p:nvSpPr>
        <p:spPr>
          <a:xfrm>
            <a:off x="9845200" y="3313355"/>
            <a:ext cx="165575" cy="248996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D121779-EEAF-DD36-3A9D-FE9A1DECBD33}"/>
              </a:ext>
            </a:extLst>
          </p:cNvPr>
          <p:cNvSpPr/>
          <p:nvPr/>
        </p:nvSpPr>
        <p:spPr>
          <a:xfrm>
            <a:off x="10171648" y="3784002"/>
            <a:ext cx="165576" cy="248996"/>
          </a:xfrm>
          <a:prstGeom prst="round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B86E35-8D8C-B923-37A6-8018DE67D140}"/>
              </a:ext>
            </a:extLst>
          </p:cNvPr>
          <p:cNvSpPr/>
          <p:nvPr/>
        </p:nvSpPr>
        <p:spPr>
          <a:xfrm>
            <a:off x="10006073" y="3784001"/>
            <a:ext cx="165576" cy="239247"/>
          </a:xfrm>
          <a:prstGeom prst="round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C5180C-9E49-AEF6-D496-82EE6CF29C9D}"/>
              </a:ext>
            </a:extLst>
          </p:cNvPr>
          <p:cNvSpPr txBox="1"/>
          <p:nvPr/>
        </p:nvSpPr>
        <p:spPr>
          <a:xfrm>
            <a:off x="9797983" y="3313355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1</a:t>
            </a:r>
            <a:endParaRPr lang="LID4096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B6CA9C-F82E-3E98-345A-BA9C69657795}"/>
              </a:ext>
            </a:extLst>
          </p:cNvPr>
          <p:cNvSpPr txBox="1"/>
          <p:nvPr/>
        </p:nvSpPr>
        <p:spPr>
          <a:xfrm>
            <a:off x="10124433" y="3774251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1</a:t>
            </a:r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3C5C95-9E27-FA7C-4189-3B18529D4433}"/>
              </a:ext>
            </a:extLst>
          </p:cNvPr>
          <p:cNvSpPr txBox="1"/>
          <p:nvPr/>
        </p:nvSpPr>
        <p:spPr>
          <a:xfrm>
            <a:off x="9961420" y="3784001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100"/>
              <a:t>1</a:t>
            </a:r>
            <a:endParaRPr lang="LID4096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C9C04E3-F369-2C22-7A32-2935152901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203" y="3679467"/>
            <a:ext cx="3786694" cy="8160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1113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9FF7-0A3C-64FA-D2A6-78190F419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Skriv en interrupt hanterare</a:t>
            </a:r>
            <a:endParaRPr lang="LID4096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B1584C-87D6-BB7D-A4F8-908F837066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2023" y="2115112"/>
            <a:ext cx="6830378" cy="33151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D1C0CF-1BA6-DBF3-E06A-2C1F47E01EFF}"/>
              </a:ext>
            </a:extLst>
          </p:cNvPr>
          <p:cNvSpPr txBox="1"/>
          <p:nvPr/>
        </p:nvSpPr>
        <p:spPr>
          <a:xfrm>
            <a:off x="2103328" y="2991148"/>
            <a:ext cx="2499980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200"/>
              <a:t>Öhmm.... vem var det som avbröt? </a:t>
            </a:r>
            <a:endParaRPr lang="LID4096" sz="1200"/>
          </a:p>
        </p:txBody>
      </p:sp>
    </p:spTree>
    <p:extLst>
      <p:ext uri="{BB962C8B-B14F-4D97-AF65-F5344CB8AC3E}">
        <p14:creationId xmlns:p14="http://schemas.microsoft.com/office/powerpoint/2010/main" val="80688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A6BC-1608-CCFE-4EB9-9D9BA0582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5B713-D2C5-6CDB-06C3-C894F5D4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Skriv en interrupt hanterare</a:t>
            </a:r>
            <a:endParaRPr lang="LID4096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0D7CCC-2E53-1019-3ACC-32E437CD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4482092" cy="51439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A7314A-0E05-CD70-C9B2-A99E2F3DF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232" y="1847792"/>
            <a:ext cx="7211018" cy="10336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A09BC0E-A314-259B-F449-FDB55136A26D}"/>
              </a:ext>
            </a:extLst>
          </p:cNvPr>
          <p:cNvGrpSpPr/>
          <p:nvPr/>
        </p:nvGrpSpPr>
        <p:grpSpPr>
          <a:xfrm>
            <a:off x="2780880" y="3857625"/>
            <a:ext cx="6405982" cy="2514873"/>
            <a:chOff x="1437175" y="3130475"/>
            <a:chExt cx="15058165" cy="5949659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906EF8E-605A-1FCB-A5A5-867696E33F5C}"/>
                </a:ext>
              </a:extLst>
            </p:cNvPr>
            <p:cNvCxnSpPr/>
            <p:nvPr/>
          </p:nvCxnSpPr>
          <p:spPr>
            <a:xfrm flipH="1">
              <a:off x="4362226" y="3130475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0AC429E-BFC9-4935-C4B0-DE9A4B86D750}"/>
                </a:ext>
              </a:extLst>
            </p:cNvPr>
            <p:cNvCxnSpPr/>
            <p:nvPr/>
          </p:nvCxnSpPr>
          <p:spPr>
            <a:xfrm flipH="1">
              <a:off x="4665233" y="4982583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595656B-E325-702C-0E8D-7BE6F89A329F}"/>
                </a:ext>
              </a:extLst>
            </p:cNvPr>
            <p:cNvCxnSpPr/>
            <p:nvPr/>
          </p:nvCxnSpPr>
          <p:spPr>
            <a:xfrm flipH="1">
              <a:off x="4419600" y="6592644"/>
              <a:ext cx="435146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29AD4D4-A888-9AEE-3738-81F7CE7E2047}"/>
                </a:ext>
              </a:extLst>
            </p:cNvPr>
            <p:cNvCxnSpPr/>
            <p:nvPr/>
          </p:nvCxnSpPr>
          <p:spPr>
            <a:xfrm>
              <a:off x="8713694" y="3130475"/>
              <a:ext cx="303007" cy="185210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5A3668-C2F1-5965-D6AB-820400E724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71068" y="4982583"/>
              <a:ext cx="245633" cy="161006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7AB9B11-BFED-33F3-CBAE-BB4DB38FFC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16701" y="4982582"/>
              <a:ext cx="45843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E526D2A-D605-979E-E907-86A18774D736}"/>
                </a:ext>
              </a:extLst>
            </p:cNvPr>
            <p:cNvSpPr txBox="1"/>
            <p:nvPr/>
          </p:nvSpPr>
          <p:spPr>
            <a:xfrm>
              <a:off x="9475134" y="4258531"/>
              <a:ext cx="7020206" cy="152908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/>
                <a:t>Säg åt timern att vi har tagit hand om</a:t>
              </a:r>
            </a:p>
            <a:p>
              <a:r>
                <a:rPr lang="sv-SE" sz="1200"/>
                <a:t>interruptet, så det är fritt fram att skicka </a:t>
              </a:r>
            </a:p>
            <a:p>
              <a:r>
                <a:rPr lang="sv-SE" sz="1200"/>
                <a:t>ett nytt</a:t>
              </a:r>
              <a:endParaRPr lang="LID4096" sz="120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6D39585-D256-0845-892E-9C0A408E8836}"/>
                </a:ext>
              </a:extLst>
            </p:cNvPr>
            <p:cNvSpPr txBox="1"/>
            <p:nvPr/>
          </p:nvSpPr>
          <p:spPr>
            <a:xfrm>
              <a:off x="1437175" y="7987932"/>
              <a:ext cx="7020206" cy="10922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200"/>
                <a:t>Detta är ganska mycket kod, när allt vi ville göra var att flippa en bit.</a:t>
              </a:r>
              <a:endParaRPr lang="LID4096" sz="1200"/>
            </a:p>
          </p:txBody>
        </p:sp>
      </p:grpSp>
    </p:spTree>
    <p:extLst>
      <p:ext uri="{BB962C8B-B14F-4D97-AF65-F5344CB8AC3E}">
        <p14:creationId xmlns:p14="http://schemas.microsoft.com/office/powerpoint/2010/main" val="1282460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59086-43C0-F389-1A84-B1919E40F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Vectored Interrupt Handling</a:t>
            </a:r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75A33D-B8CC-ED86-ECB7-F3A88DAE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472" y="3536632"/>
            <a:ext cx="5596066" cy="103735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62E98A0-EB29-9F0B-C326-EAE12786A36F}"/>
              </a:ext>
            </a:extLst>
          </p:cNvPr>
          <p:cNvSpPr/>
          <p:nvPr/>
        </p:nvSpPr>
        <p:spPr>
          <a:xfrm>
            <a:off x="2843662" y="39902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8399B08-331C-9F25-8CD6-EDD08D34E5F9}"/>
              </a:ext>
            </a:extLst>
          </p:cNvPr>
          <p:cNvGrpSpPr/>
          <p:nvPr/>
        </p:nvGrpSpPr>
        <p:grpSpPr>
          <a:xfrm>
            <a:off x="422905" y="2344759"/>
            <a:ext cx="10951152" cy="2650313"/>
            <a:chOff x="422905" y="2344759"/>
            <a:chExt cx="10951152" cy="265031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EF2E08F-75CE-7004-58FA-42A1A22E31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2905" y="3115546"/>
              <a:ext cx="1954823" cy="18795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638005-336D-8A5A-549A-F0BE61E0EBFF}"/>
                </a:ext>
              </a:extLst>
            </p:cNvPr>
            <p:cNvSpPr txBox="1"/>
            <p:nvPr/>
          </p:nvSpPr>
          <p:spPr>
            <a:xfrm>
              <a:off x="8524946" y="2367958"/>
              <a:ext cx="2849111" cy="136357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__attribute__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((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interrupt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"machine"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)))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Interrupt_Handler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...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  <a:p>
              <a:pPr>
                <a:lnSpc>
                  <a:spcPts val="1425"/>
                </a:lnSpc>
                <a:buNone/>
              </a:pPr>
              <a:b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EE97D96-5BDB-46FC-48B8-A5F857BC011B}"/>
                </a:ext>
              </a:extLst>
            </p:cNvPr>
            <p:cNvSpPr/>
            <p:nvPr/>
          </p:nvSpPr>
          <p:spPr>
            <a:xfrm>
              <a:off x="6430117" y="2716360"/>
              <a:ext cx="2051109" cy="1275051"/>
            </a:xfrm>
            <a:custGeom>
              <a:avLst/>
              <a:gdLst>
                <a:gd name="csX0" fmla="*/ 0 w 1199626"/>
                <a:gd name="csY0" fmla="*/ 1082180 h 1082180"/>
                <a:gd name="csX1" fmla="*/ 322976 w 1199626"/>
                <a:gd name="csY1" fmla="*/ 209725 h 1082180"/>
                <a:gd name="csX2" fmla="*/ 1199626 w 1199626"/>
                <a:gd name="csY2" fmla="*/ 0 h 1082180"/>
                <a:gd name="csX0" fmla="*/ 0 w 2051109"/>
                <a:gd name="csY0" fmla="*/ 1270932 h 1270932"/>
                <a:gd name="csX1" fmla="*/ 322976 w 2051109"/>
                <a:gd name="csY1" fmla="*/ 398477 h 1270932"/>
                <a:gd name="csX2" fmla="*/ 2051109 w 2051109"/>
                <a:gd name="csY2" fmla="*/ 0 h 1270932"/>
                <a:gd name="csX0" fmla="*/ 0 w 2051109"/>
                <a:gd name="csY0" fmla="*/ 1275051 h 1275051"/>
                <a:gd name="csX1" fmla="*/ 322976 w 2051109"/>
                <a:gd name="csY1" fmla="*/ 402596 h 1275051"/>
                <a:gd name="csX2" fmla="*/ 2051109 w 2051109"/>
                <a:gd name="csY2" fmla="*/ 4119 h 1275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51109" h="1275051">
                  <a:moveTo>
                    <a:pt x="0" y="1275051"/>
                  </a:moveTo>
                  <a:cubicBezTo>
                    <a:pt x="61519" y="929005"/>
                    <a:pt x="123038" y="582959"/>
                    <a:pt x="322976" y="402596"/>
                  </a:cubicBezTo>
                  <a:cubicBezTo>
                    <a:pt x="522914" y="222233"/>
                    <a:pt x="1276525" y="-35729"/>
                    <a:pt x="2051109" y="4119"/>
                  </a:cubicBezTo>
                </a:path>
              </a:pathLst>
            </a:custGeom>
            <a:noFill/>
            <a:ln w="635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E3A691-8422-C541-02FC-A4F7FE0C6AFE}"/>
                </a:ext>
              </a:extLst>
            </p:cNvPr>
            <p:cNvSpPr txBox="1"/>
            <p:nvPr/>
          </p:nvSpPr>
          <p:spPr>
            <a:xfrm>
              <a:off x="6022695" y="2497772"/>
              <a:ext cx="1704313" cy="64633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>
                  <a:latin typeface="+mj-lt"/>
                </a:rPr>
                <a:t>mode 0: </a:t>
              </a:r>
            </a:p>
            <a:p>
              <a:r>
                <a:rPr lang="en-GB">
                  <a:latin typeface="Consolas" panose="020B0609020204030204" pitchFamily="49" charset="0"/>
                </a:rPr>
                <a:t>pc = address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C72B1BC-CDFE-98A5-9C51-54BD65450379}"/>
                </a:ext>
              </a:extLst>
            </p:cNvPr>
            <p:cNvSpPr/>
            <p:nvPr/>
          </p:nvSpPr>
          <p:spPr>
            <a:xfrm>
              <a:off x="1388334" y="2738151"/>
              <a:ext cx="1858297" cy="804449"/>
            </a:xfrm>
            <a:custGeom>
              <a:avLst/>
              <a:gdLst>
                <a:gd name="csX0" fmla="*/ 0 w 1832994"/>
                <a:gd name="csY0" fmla="*/ 0 h 427838"/>
                <a:gd name="csX1" fmla="*/ 1832994 w 1832994"/>
                <a:gd name="csY1" fmla="*/ 427838 h 427838"/>
                <a:gd name="csX0" fmla="*/ 0 w 1858161"/>
                <a:gd name="csY0" fmla="*/ 0 h 423644"/>
                <a:gd name="csX1" fmla="*/ 1858161 w 1858161"/>
                <a:gd name="csY1" fmla="*/ 423644 h 423644"/>
                <a:gd name="csX0" fmla="*/ 0 w 1858356"/>
                <a:gd name="csY0" fmla="*/ 0 h 423644"/>
                <a:gd name="csX1" fmla="*/ 1858161 w 1858356"/>
                <a:gd name="csY1" fmla="*/ 423644 h 423644"/>
                <a:gd name="csX0" fmla="*/ 0 w 1858297"/>
                <a:gd name="csY0" fmla="*/ 380805 h 804449"/>
                <a:gd name="csX1" fmla="*/ 1858161 w 1858297"/>
                <a:gd name="csY1" fmla="*/ 804449 h 804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58297" h="804449">
                  <a:moveTo>
                    <a:pt x="0" y="380805"/>
                  </a:moveTo>
                  <a:cubicBezTo>
                    <a:pt x="74103" y="-430130"/>
                    <a:pt x="1876338" y="218618"/>
                    <a:pt x="1858161" y="804449"/>
                  </a:cubicBezTo>
                </a:path>
              </a:pathLst>
            </a:custGeom>
            <a:noFill/>
            <a:ln w="635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7FCD14-CBB5-A50A-777E-94D2585B6645}"/>
                </a:ext>
              </a:extLst>
            </p:cNvPr>
            <p:cNvSpPr txBox="1"/>
            <p:nvPr/>
          </p:nvSpPr>
          <p:spPr>
            <a:xfrm>
              <a:off x="1681697" y="2344759"/>
              <a:ext cx="3927807" cy="64633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When an interrupt occurs, the processor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checks </a:t>
              </a:r>
              <a:r>
                <a:rPr lang="en-GB" b="1">
                  <a:latin typeface="Consolas" panose="020B0609020204030204" pitchFamily="49" charset="0"/>
                </a:rPr>
                <a:t>mtvec</a:t>
              </a:r>
              <a:r>
                <a:rPr lang="en-GB">
                  <a:latin typeface="+mj-lt"/>
                </a:rPr>
                <a:t> to see where to jump</a:t>
              </a:r>
              <a:endParaRPr lang="LID4096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3965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805A7-E985-FA83-E4D2-F0E33E7D3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77DE9-C573-6DA9-9192-860917FD7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Vectored Interrupt Handling</a:t>
            </a:r>
            <a:endParaRPr lang="LID4096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05ED32-9BF3-9B43-45DC-11B16EAC66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472" y="3536632"/>
            <a:ext cx="5596066" cy="103735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772C5D-B588-C86F-A1D9-BF8F4166A9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05" y="3115546"/>
            <a:ext cx="1954823" cy="187952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717C53B-6CC1-8B93-229B-C408F600E8B9}"/>
              </a:ext>
            </a:extLst>
          </p:cNvPr>
          <p:cNvSpPr/>
          <p:nvPr/>
        </p:nvSpPr>
        <p:spPr>
          <a:xfrm>
            <a:off x="2843662" y="39902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A0F73A-05F2-AB0C-185C-647A12554CAD}"/>
              </a:ext>
            </a:extLst>
          </p:cNvPr>
          <p:cNvSpPr/>
          <p:nvPr/>
        </p:nvSpPr>
        <p:spPr>
          <a:xfrm>
            <a:off x="2845069" y="41426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8971A-245A-B7B0-D598-DE0BF6ACE49E}"/>
              </a:ext>
            </a:extLst>
          </p:cNvPr>
          <p:cNvSpPr txBox="1"/>
          <p:nvPr/>
        </p:nvSpPr>
        <p:spPr>
          <a:xfrm>
            <a:off x="8524946" y="23679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C78C2AD-C6B9-ADC7-D545-4A2BC3F6C357}"/>
              </a:ext>
            </a:extLst>
          </p:cNvPr>
          <p:cNvSpPr/>
          <p:nvPr/>
        </p:nvSpPr>
        <p:spPr>
          <a:xfrm>
            <a:off x="6430117" y="27163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A811DE-7C5F-F03F-5FB1-9269232EEDB9}"/>
              </a:ext>
            </a:extLst>
          </p:cNvPr>
          <p:cNvSpPr txBox="1"/>
          <p:nvPr/>
        </p:nvSpPr>
        <p:spPr>
          <a:xfrm>
            <a:off x="6022695" y="24977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F8C41B8-03AA-510F-EF0C-E85F6CF353DA}"/>
              </a:ext>
            </a:extLst>
          </p:cNvPr>
          <p:cNvSpPr/>
          <p:nvPr/>
        </p:nvSpPr>
        <p:spPr>
          <a:xfrm>
            <a:off x="1388334" y="27381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A3266F-85FE-A419-530F-2BF4D38EB225}"/>
              </a:ext>
            </a:extLst>
          </p:cNvPr>
          <p:cNvSpPr txBox="1"/>
          <p:nvPr/>
        </p:nvSpPr>
        <p:spPr>
          <a:xfrm>
            <a:off x="1681697" y="23447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C09114-3605-B3DC-0E9A-CBC42B8CBF3C}"/>
              </a:ext>
            </a:extLst>
          </p:cNvPr>
          <p:cNvGrpSpPr/>
          <p:nvPr/>
        </p:nvGrpSpPr>
        <p:grpSpPr>
          <a:xfrm>
            <a:off x="2105592" y="4271863"/>
            <a:ext cx="9798369" cy="1893256"/>
            <a:chOff x="2105592" y="4271863"/>
            <a:chExt cx="9798369" cy="189325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1DFCCEF-31C0-74A0-0986-354CF6ECC23B}"/>
                </a:ext>
              </a:extLst>
            </p:cNvPr>
            <p:cNvSpPr/>
            <p:nvPr/>
          </p:nvSpPr>
          <p:spPr>
            <a:xfrm>
              <a:off x="3512144" y="4271863"/>
              <a:ext cx="1707161" cy="1774751"/>
            </a:xfrm>
            <a:custGeom>
              <a:avLst/>
              <a:gdLst>
                <a:gd name="csX0" fmla="*/ 0 w 1199626"/>
                <a:gd name="csY0" fmla="*/ 1082180 h 1082180"/>
                <a:gd name="csX1" fmla="*/ 322976 w 1199626"/>
                <a:gd name="csY1" fmla="*/ 209725 h 1082180"/>
                <a:gd name="csX2" fmla="*/ 1199626 w 1199626"/>
                <a:gd name="csY2" fmla="*/ 0 h 1082180"/>
                <a:gd name="csX0" fmla="*/ 0 w 1421935"/>
                <a:gd name="csY0" fmla="*/ 56753 h 903857"/>
                <a:gd name="csX1" fmla="*/ 545285 w 1421935"/>
                <a:gd name="csY1" fmla="*/ 887263 h 903857"/>
                <a:gd name="csX2" fmla="*/ 1421935 w 1421935"/>
                <a:gd name="csY2" fmla="*/ 677538 h 903857"/>
                <a:gd name="csX0" fmla="*/ 0 w 1421935"/>
                <a:gd name="csY0" fmla="*/ 0 h 872637"/>
                <a:gd name="csX1" fmla="*/ 545285 w 1421935"/>
                <a:gd name="csY1" fmla="*/ 830510 h 872637"/>
                <a:gd name="csX2" fmla="*/ 1421935 w 1421935"/>
                <a:gd name="csY2" fmla="*/ 620785 h 872637"/>
                <a:gd name="csX0" fmla="*/ 0 w 1421935"/>
                <a:gd name="csY0" fmla="*/ 0 h 963973"/>
                <a:gd name="csX1" fmla="*/ 545285 w 1421935"/>
                <a:gd name="csY1" fmla="*/ 830510 h 963973"/>
                <a:gd name="csX2" fmla="*/ 1421935 w 1421935"/>
                <a:gd name="csY2" fmla="*/ 620785 h 963973"/>
                <a:gd name="csX0" fmla="*/ 0 w 1421935"/>
                <a:gd name="csY0" fmla="*/ 0 h 2100598"/>
                <a:gd name="csX1" fmla="*/ 692092 w 1421935"/>
                <a:gd name="csY1" fmla="*/ 2080470 h 2100598"/>
                <a:gd name="csX2" fmla="*/ 1421935 w 1421935"/>
                <a:gd name="csY2" fmla="*/ 620785 h 2100598"/>
                <a:gd name="csX0" fmla="*/ 0 w 1707161"/>
                <a:gd name="csY0" fmla="*/ 0 h 2100598"/>
                <a:gd name="csX1" fmla="*/ 692092 w 1707161"/>
                <a:gd name="csY1" fmla="*/ 2080470 h 2100598"/>
                <a:gd name="csX2" fmla="*/ 1707161 w 1707161"/>
                <a:gd name="csY2" fmla="*/ 1774272 h 2100598"/>
                <a:gd name="csX0" fmla="*/ 0 w 1707161"/>
                <a:gd name="csY0" fmla="*/ 0 h 1774818"/>
                <a:gd name="csX1" fmla="*/ 440423 w 1707161"/>
                <a:gd name="csY1" fmla="*/ 1681993 h 1774818"/>
                <a:gd name="csX2" fmla="*/ 1707161 w 1707161"/>
                <a:gd name="csY2" fmla="*/ 1774272 h 1774818"/>
                <a:gd name="csX0" fmla="*/ 0 w 1707161"/>
                <a:gd name="csY0" fmla="*/ 0 h 1775381"/>
                <a:gd name="csX1" fmla="*/ 440423 w 1707161"/>
                <a:gd name="csY1" fmla="*/ 1681993 h 1775381"/>
                <a:gd name="csX2" fmla="*/ 1707161 w 1707161"/>
                <a:gd name="csY2" fmla="*/ 1774272 h 1775381"/>
                <a:gd name="csX0" fmla="*/ 0 w 1707161"/>
                <a:gd name="csY0" fmla="*/ 0 h 1775381"/>
                <a:gd name="csX1" fmla="*/ 440423 w 1707161"/>
                <a:gd name="csY1" fmla="*/ 1681993 h 1775381"/>
                <a:gd name="csX2" fmla="*/ 1707161 w 1707161"/>
                <a:gd name="csY2" fmla="*/ 1774272 h 1775381"/>
                <a:gd name="csX0" fmla="*/ 0 w 1707161"/>
                <a:gd name="csY0" fmla="*/ 0 h 1775880"/>
                <a:gd name="csX1" fmla="*/ 440423 w 1707161"/>
                <a:gd name="csY1" fmla="*/ 1681993 h 1775880"/>
                <a:gd name="csX2" fmla="*/ 1707161 w 1707161"/>
                <a:gd name="csY2" fmla="*/ 1774272 h 1775880"/>
                <a:gd name="csX0" fmla="*/ 0 w 1707161"/>
                <a:gd name="csY0" fmla="*/ 0 h 1774751"/>
                <a:gd name="csX1" fmla="*/ 440423 w 1707161"/>
                <a:gd name="csY1" fmla="*/ 1681993 h 1774751"/>
                <a:gd name="csX2" fmla="*/ 1707161 w 1707161"/>
                <a:gd name="csY2" fmla="*/ 1774272 h 1774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07161" h="1774751">
                  <a:moveTo>
                    <a:pt x="0" y="0"/>
                  </a:moveTo>
                  <a:cubicBezTo>
                    <a:pt x="137020" y="1201723"/>
                    <a:pt x="60122" y="1652631"/>
                    <a:pt x="440423" y="1681993"/>
                  </a:cubicBezTo>
                  <a:cubicBezTo>
                    <a:pt x="1055616" y="1459686"/>
                    <a:pt x="1368805" y="1788953"/>
                    <a:pt x="1707161" y="1774272"/>
                  </a:cubicBezTo>
                </a:path>
              </a:pathLst>
            </a:custGeom>
            <a:noFill/>
            <a:ln w="635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F749C33-BC26-EFF4-944A-647D6ED9715F}"/>
                </a:ext>
              </a:extLst>
            </p:cNvPr>
            <p:cNvSpPr txBox="1"/>
            <p:nvPr/>
          </p:nvSpPr>
          <p:spPr>
            <a:xfrm>
              <a:off x="2105592" y="5032543"/>
              <a:ext cx="2999539" cy="64633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6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>
                  <a:latin typeface="+mj-lt"/>
                </a:rPr>
                <a:t>mode 1:</a:t>
              </a:r>
            </a:p>
            <a:p>
              <a:r>
                <a:rPr lang="en-GB">
                  <a:latin typeface="Consolas" panose="020B0609020204030204" pitchFamily="49" charset="0"/>
                </a:rPr>
                <a:t>pc = address</a:t>
              </a:r>
              <a:r>
                <a:rPr lang="en-GB"/>
                <a:t> + </a:t>
              </a:r>
              <a:r>
                <a:rPr lang="en-GB">
                  <a:latin typeface="Consolas" panose="020B0609020204030204" pitchFamily="49" charset="0"/>
                </a:rPr>
                <a:t>mcause</a:t>
              </a:r>
              <a:r>
                <a:rPr lang="en-GB"/>
                <a:t> x 4</a:t>
              </a:r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463BFA2-180C-3D7E-836A-AD9BE934DCCE}"/>
                </a:ext>
              </a:extLst>
            </p:cNvPr>
            <p:cNvSpPr txBox="1"/>
            <p:nvPr/>
          </p:nvSpPr>
          <p:spPr>
            <a:xfrm>
              <a:off x="9054850" y="4609216"/>
              <a:ext cx="2849111" cy="136357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__attribute__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((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interrupt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"machine"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)))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00" b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SysTick_Handler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GB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    ...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  <a:p>
              <a:pPr>
                <a:lnSpc>
                  <a:spcPts val="1425"/>
                </a:lnSpc>
                <a:buNone/>
              </a:pPr>
              <a:br>
                <a:rPr lang="en-GB" sz="1000" b="0">
                  <a:solidFill>
                    <a:srgbClr val="CCCCCC"/>
                  </a:solidFill>
                  <a:effectLst/>
                  <a:latin typeface="Consolas" panose="020B0609020204030204" pitchFamily="49" charset="0"/>
                </a:rPr>
              </a:br>
              <a:endPara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61AB58D-AF1B-BE72-D0A3-98EB95880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5150" y="4995072"/>
              <a:ext cx="2901194" cy="1170047"/>
            </a:xfrm>
            <a:prstGeom prst="rect">
              <a:avLst/>
            </a:prstGeom>
          </p:spPr>
        </p:pic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E65B2F1-4E61-374C-2F51-F70668BC6558}"/>
                </a:ext>
              </a:extLst>
            </p:cNvPr>
            <p:cNvSpPr/>
            <p:nvPr/>
          </p:nvSpPr>
          <p:spPr>
            <a:xfrm>
              <a:off x="8070165" y="4939306"/>
              <a:ext cx="973123" cy="1166132"/>
            </a:xfrm>
            <a:custGeom>
              <a:avLst/>
              <a:gdLst>
                <a:gd name="csX0" fmla="*/ 0 w 973123"/>
                <a:gd name="csY0" fmla="*/ 1166070 h 1166070"/>
                <a:gd name="csX1" fmla="*/ 478172 w 973123"/>
                <a:gd name="csY1" fmla="*/ 562062 h 1166070"/>
                <a:gd name="csX2" fmla="*/ 973123 w 973123"/>
                <a:gd name="csY2" fmla="*/ 0 h 1166070"/>
                <a:gd name="csX0" fmla="*/ 0 w 973123"/>
                <a:gd name="csY0" fmla="*/ 1166070 h 1166070"/>
                <a:gd name="csX1" fmla="*/ 478172 w 973123"/>
                <a:gd name="csY1" fmla="*/ 562062 h 1166070"/>
                <a:gd name="csX2" fmla="*/ 973123 w 973123"/>
                <a:gd name="csY2" fmla="*/ 0 h 1166070"/>
                <a:gd name="csX0" fmla="*/ 0 w 973123"/>
                <a:gd name="csY0" fmla="*/ 1166070 h 1166070"/>
                <a:gd name="csX1" fmla="*/ 478172 w 973123"/>
                <a:gd name="csY1" fmla="*/ 562062 h 1166070"/>
                <a:gd name="csX2" fmla="*/ 973123 w 973123"/>
                <a:gd name="csY2" fmla="*/ 0 h 1166070"/>
                <a:gd name="csX0" fmla="*/ 0 w 973123"/>
                <a:gd name="csY0" fmla="*/ 1166070 h 1166070"/>
                <a:gd name="csX1" fmla="*/ 973123 w 973123"/>
                <a:gd name="csY1" fmla="*/ 0 h 1166070"/>
                <a:gd name="csX0" fmla="*/ 0 w 973123"/>
                <a:gd name="csY0" fmla="*/ 1166070 h 1166070"/>
                <a:gd name="csX1" fmla="*/ 973123 w 973123"/>
                <a:gd name="csY1" fmla="*/ 0 h 1166070"/>
                <a:gd name="csX0" fmla="*/ 0 w 973123"/>
                <a:gd name="csY0" fmla="*/ 1166132 h 1166132"/>
                <a:gd name="csX1" fmla="*/ 973123 w 973123"/>
                <a:gd name="csY1" fmla="*/ 62 h 1166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73123" h="1166132">
                  <a:moveTo>
                    <a:pt x="0" y="1166132"/>
                  </a:moveTo>
                  <a:cubicBezTo>
                    <a:pt x="399875" y="1142363"/>
                    <a:pt x="409663" y="-9725"/>
                    <a:pt x="973123" y="62"/>
                  </a:cubicBezTo>
                </a:path>
              </a:pathLst>
            </a:custGeom>
            <a:noFill/>
            <a:ln w="635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97751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468131-2775-8ADD-8915-977D618E1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180" y="2252429"/>
            <a:ext cx="9648729" cy="39292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EB8041-3E63-3D1D-C268-09112BFBE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Vector Table</a:t>
            </a:r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B9457A-FAC1-7581-056B-A62F7F0E82FC}"/>
              </a:ext>
            </a:extLst>
          </p:cNvPr>
          <p:cNvGrpSpPr/>
          <p:nvPr/>
        </p:nvGrpSpPr>
        <p:grpSpPr>
          <a:xfrm>
            <a:off x="9344025" y="2085858"/>
            <a:ext cx="2590799" cy="4262438"/>
            <a:chOff x="9039225" y="1952625"/>
            <a:chExt cx="2590799" cy="426243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1327E3-DF45-F693-9EE5-F5DB897A98D5}"/>
                </a:ext>
              </a:extLst>
            </p:cNvPr>
            <p:cNvSpPr/>
            <p:nvPr/>
          </p:nvSpPr>
          <p:spPr>
            <a:xfrm>
              <a:off x="9039225" y="1952625"/>
              <a:ext cx="2590799" cy="4262438"/>
            </a:xfrm>
            <a:prstGeom prst="rect">
              <a:avLst/>
            </a:prstGeom>
            <a:solidFill>
              <a:schemeClr val="bg1"/>
            </a:solidFill>
            <a:ln w="635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2C2178-2874-0C75-F8DC-2E3B0FB20765}"/>
                </a:ext>
              </a:extLst>
            </p:cNvPr>
            <p:cNvGrpSpPr/>
            <p:nvPr/>
          </p:nvGrpSpPr>
          <p:grpSpPr>
            <a:xfrm>
              <a:off x="9078355" y="1990492"/>
              <a:ext cx="2512537" cy="4130935"/>
              <a:chOff x="645407" y="1807285"/>
              <a:chExt cx="2512537" cy="4130935"/>
            </a:xfrm>
            <a:noFill/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A408803-4FDD-EF8F-65B1-AA642827B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5407" y="4087229"/>
                <a:ext cx="2512537" cy="1850991"/>
              </a:xfrm>
              <a:prstGeom prst="rect">
                <a:avLst/>
              </a:prstGeom>
              <a:grpFill/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55331399-587B-ADA2-6A54-A02BE10369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5407" y="1807285"/>
                <a:ext cx="2512537" cy="2065765"/>
              </a:xfrm>
              <a:prstGeom prst="rect">
                <a:avLst/>
              </a:prstGeom>
              <a:grpFill/>
            </p:spPr>
          </p:pic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99D16DC4-0DE4-A0E6-543A-64B467336C9D}"/>
                  </a:ext>
                </a:extLst>
              </p:cNvPr>
              <p:cNvSpPr/>
              <p:nvPr/>
            </p:nvSpPr>
            <p:spPr>
              <a:xfrm>
                <a:off x="671513" y="3890963"/>
                <a:ext cx="2486025" cy="128587"/>
              </a:xfrm>
              <a:custGeom>
                <a:avLst/>
                <a:gdLst>
                  <a:gd name="csX0" fmla="*/ 0 w 2486025"/>
                  <a:gd name="csY0" fmla="*/ 123825 h 128587"/>
                  <a:gd name="csX1" fmla="*/ 209550 w 2486025"/>
                  <a:gd name="csY1" fmla="*/ 42862 h 128587"/>
                  <a:gd name="csX2" fmla="*/ 200025 w 2486025"/>
                  <a:gd name="csY2" fmla="*/ 128587 h 128587"/>
                  <a:gd name="csX3" fmla="*/ 466725 w 2486025"/>
                  <a:gd name="csY3" fmla="*/ 47625 h 128587"/>
                  <a:gd name="csX4" fmla="*/ 461962 w 2486025"/>
                  <a:gd name="csY4" fmla="*/ 123825 h 128587"/>
                  <a:gd name="csX5" fmla="*/ 714375 w 2486025"/>
                  <a:gd name="csY5" fmla="*/ 33337 h 128587"/>
                  <a:gd name="csX6" fmla="*/ 723900 w 2486025"/>
                  <a:gd name="csY6" fmla="*/ 95250 h 128587"/>
                  <a:gd name="csX7" fmla="*/ 933450 w 2486025"/>
                  <a:gd name="csY7" fmla="*/ 19050 h 128587"/>
                  <a:gd name="csX8" fmla="*/ 933450 w 2486025"/>
                  <a:gd name="csY8" fmla="*/ 104775 h 128587"/>
                  <a:gd name="csX9" fmla="*/ 1200150 w 2486025"/>
                  <a:gd name="csY9" fmla="*/ 28575 h 128587"/>
                  <a:gd name="csX10" fmla="*/ 1204912 w 2486025"/>
                  <a:gd name="csY10" fmla="*/ 95250 h 128587"/>
                  <a:gd name="csX11" fmla="*/ 1533525 w 2486025"/>
                  <a:gd name="csY11" fmla="*/ 23812 h 128587"/>
                  <a:gd name="csX12" fmla="*/ 1547812 w 2486025"/>
                  <a:gd name="csY12" fmla="*/ 80962 h 128587"/>
                  <a:gd name="csX13" fmla="*/ 1824037 w 2486025"/>
                  <a:gd name="csY13" fmla="*/ 0 h 128587"/>
                  <a:gd name="csX14" fmla="*/ 1814512 w 2486025"/>
                  <a:gd name="csY14" fmla="*/ 61912 h 128587"/>
                  <a:gd name="csX15" fmla="*/ 2128837 w 2486025"/>
                  <a:gd name="csY15" fmla="*/ 14287 h 128587"/>
                  <a:gd name="csX16" fmla="*/ 2124075 w 2486025"/>
                  <a:gd name="csY16" fmla="*/ 95250 h 128587"/>
                  <a:gd name="csX17" fmla="*/ 2486025 w 2486025"/>
                  <a:gd name="csY17" fmla="*/ 28575 h 128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2486025" h="128587">
                    <a:moveTo>
                      <a:pt x="0" y="123825"/>
                    </a:moveTo>
                    <a:lnTo>
                      <a:pt x="209550" y="42862"/>
                    </a:lnTo>
                    <a:lnTo>
                      <a:pt x="200025" y="128587"/>
                    </a:lnTo>
                    <a:lnTo>
                      <a:pt x="466725" y="47625"/>
                    </a:lnTo>
                    <a:lnTo>
                      <a:pt x="461962" y="123825"/>
                    </a:lnTo>
                    <a:lnTo>
                      <a:pt x="714375" y="33337"/>
                    </a:lnTo>
                    <a:lnTo>
                      <a:pt x="723900" y="95250"/>
                    </a:lnTo>
                    <a:lnTo>
                      <a:pt x="933450" y="19050"/>
                    </a:lnTo>
                    <a:lnTo>
                      <a:pt x="933450" y="104775"/>
                    </a:lnTo>
                    <a:lnTo>
                      <a:pt x="1200150" y="28575"/>
                    </a:lnTo>
                    <a:lnTo>
                      <a:pt x="1204912" y="95250"/>
                    </a:lnTo>
                    <a:lnTo>
                      <a:pt x="1533525" y="23812"/>
                    </a:lnTo>
                    <a:lnTo>
                      <a:pt x="1547812" y="80962"/>
                    </a:lnTo>
                    <a:lnTo>
                      <a:pt x="1824037" y="0"/>
                    </a:lnTo>
                    <a:lnTo>
                      <a:pt x="1814512" y="61912"/>
                    </a:lnTo>
                    <a:lnTo>
                      <a:pt x="2128837" y="14287"/>
                    </a:lnTo>
                    <a:lnTo>
                      <a:pt x="2124075" y="95250"/>
                    </a:lnTo>
                    <a:lnTo>
                      <a:pt x="2486025" y="28575"/>
                    </a:lnTo>
                  </a:path>
                </a:pathLst>
              </a:cu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A293E6F7-3868-AB1F-E4E3-54FCED3C325B}"/>
                  </a:ext>
                </a:extLst>
              </p:cNvPr>
              <p:cNvSpPr/>
              <p:nvPr/>
            </p:nvSpPr>
            <p:spPr>
              <a:xfrm>
                <a:off x="645407" y="3924802"/>
                <a:ext cx="2486025" cy="128587"/>
              </a:xfrm>
              <a:custGeom>
                <a:avLst/>
                <a:gdLst>
                  <a:gd name="csX0" fmla="*/ 0 w 2486025"/>
                  <a:gd name="csY0" fmla="*/ 123825 h 128587"/>
                  <a:gd name="csX1" fmla="*/ 209550 w 2486025"/>
                  <a:gd name="csY1" fmla="*/ 42862 h 128587"/>
                  <a:gd name="csX2" fmla="*/ 200025 w 2486025"/>
                  <a:gd name="csY2" fmla="*/ 128587 h 128587"/>
                  <a:gd name="csX3" fmla="*/ 466725 w 2486025"/>
                  <a:gd name="csY3" fmla="*/ 47625 h 128587"/>
                  <a:gd name="csX4" fmla="*/ 461962 w 2486025"/>
                  <a:gd name="csY4" fmla="*/ 123825 h 128587"/>
                  <a:gd name="csX5" fmla="*/ 714375 w 2486025"/>
                  <a:gd name="csY5" fmla="*/ 33337 h 128587"/>
                  <a:gd name="csX6" fmla="*/ 723900 w 2486025"/>
                  <a:gd name="csY6" fmla="*/ 95250 h 128587"/>
                  <a:gd name="csX7" fmla="*/ 933450 w 2486025"/>
                  <a:gd name="csY7" fmla="*/ 19050 h 128587"/>
                  <a:gd name="csX8" fmla="*/ 933450 w 2486025"/>
                  <a:gd name="csY8" fmla="*/ 104775 h 128587"/>
                  <a:gd name="csX9" fmla="*/ 1200150 w 2486025"/>
                  <a:gd name="csY9" fmla="*/ 28575 h 128587"/>
                  <a:gd name="csX10" fmla="*/ 1204912 w 2486025"/>
                  <a:gd name="csY10" fmla="*/ 95250 h 128587"/>
                  <a:gd name="csX11" fmla="*/ 1533525 w 2486025"/>
                  <a:gd name="csY11" fmla="*/ 23812 h 128587"/>
                  <a:gd name="csX12" fmla="*/ 1547812 w 2486025"/>
                  <a:gd name="csY12" fmla="*/ 80962 h 128587"/>
                  <a:gd name="csX13" fmla="*/ 1824037 w 2486025"/>
                  <a:gd name="csY13" fmla="*/ 0 h 128587"/>
                  <a:gd name="csX14" fmla="*/ 1814512 w 2486025"/>
                  <a:gd name="csY14" fmla="*/ 61912 h 128587"/>
                  <a:gd name="csX15" fmla="*/ 2128837 w 2486025"/>
                  <a:gd name="csY15" fmla="*/ 14287 h 128587"/>
                  <a:gd name="csX16" fmla="*/ 2124075 w 2486025"/>
                  <a:gd name="csY16" fmla="*/ 95250 h 128587"/>
                  <a:gd name="csX17" fmla="*/ 2486025 w 2486025"/>
                  <a:gd name="csY17" fmla="*/ 28575 h 1285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2486025" h="128587">
                    <a:moveTo>
                      <a:pt x="0" y="123825"/>
                    </a:moveTo>
                    <a:lnTo>
                      <a:pt x="209550" y="42862"/>
                    </a:lnTo>
                    <a:lnTo>
                      <a:pt x="200025" y="128587"/>
                    </a:lnTo>
                    <a:lnTo>
                      <a:pt x="466725" y="47625"/>
                    </a:lnTo>
                    <a:lnTo>
                      <a:pt x="461962" y="123825"/>
                    </a:lnTo>
                    <a:lnTo>
                      <a:pt x="714375" y="33337"/>
                    </a:lnTo>
                    <a:lnTo>
                      <a:pt x="723900" y="95250"/>
                    </a:lnTo>
                    <a:lnTo>
                      <a:pt x="933450" y="19050"/>
                    </a:lnTo>
                    <a:lnTo>
                      <a:pt x="933450" y="104775"/>
                    </a:lnTo>
                    <a:lnTo>
                      <a:pt x="1200150" y="28575"/>
                    </a:lnTo>
                    <a:lnTo>
                      <a:pt x="1204912" y="95250"/>
                    </a:lnTo>
                    <a:lnTo>
                      <a:pt x="1533525" y="23812"/>
                    </a:lnTo>
                    <a:lnTo>
                      <a:pt x="1547812" y="80962"/>
                    </a:lnTo>
                    <a:lnTo>
                      <a:pt x="1824037" y="0"/>
                    </a:lnTo>
                    <a:lnTo>
                      <a:pt x="1814512" y="61912"/>
                    </a:lnTo>
                    <a:lnTo>
                      <a:pt x="2128837" y="14287"/>
                    </a:lnTo>
                    <a:lnTo>
                      <a:pt x="2124075" y="95250"/>
                    </a:lnTo>
                    <a:lnTo>
                      <a:pt x="2486025" y="28575"/>
                    </a:lnTo>
                  </a:path>
                </a:pathLst>
              </a:custGeom>
              <a:grpFill/>
              <a:ln w="635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2E4D91E4-0FAD-764A-40EA-4FC2B34BC9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2" y="1908658"/>
            <a:ext cx="5487166" cy="124794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975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4B64B-A15E-D16C-FE62-9EC49ED29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Exempel? 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18F7E-5350-3F1F-4FF9-D162C98D6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865" y="1890398"/>
            <a:ext cx="3896269" cy="450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60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1E085-772C-2D65-70F4-F32411F54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Avbryta interrupthanteraren </a:t>
            </a:r>
            <a:r>
              <a:rPr lang="sv-SE" sz="2800"/>
              <a:t>(nästlade avbrott)</a:t>
            </a:r>
            <a:r>
              <a:rPr lang="sv-SE"/>
              <a:t>? 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31D2D7-0DD7-3821-66A5-424A38801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7550" cy="4351338"/>
          </a:xfrm>
        </p:spPr>
        <p:txBody>
          <a:bodyPr/>
          <a:lstStyle/>
          <a:p>
            <a:r>
              <a:rPr lang="sv-SE"/>
              <a:t>Kan ett avbrott (t.ex. systick) avbryta sig självt? </a:t>
            </a:r>
          </a:p>
          <a:p>
            <a:pPr lvl="1"/>
            <a:r>
              <a:rPr lang="sv-SE" sz="2000"/>
              <a:t>Nope. När processorn börjar ta hand om ett avbrott med IRQ </a:t>
            </a:r>
            <a:r>
              <a:rPr lang="sv-SE" sz="2000" i="1"/>
              <a:t>x</a:t>
            </a:r>
            <a:r>
              <a:rPr lang="sv-SE" sz="2000"/>
              <a:t> så sätter den bit </a:t>
            </a:r>
            <a:r>
              <a:rPr lang="sv-SE" sz="2000" i="1"/>
              <a:t>x</a:t>
            </a:r>
            <a:r>
              <a:rPr lang="sv-SE" sz="2000"/>
              <a:t> i </a:t>
            </a:r>
            <a:r>
              <a:rPr lang="sv-SE" sz="2000" b="1">
                <a:solidFill>
                  <a:schemeClr val="accent1">
                    <a:lumMod val="60000"/>
                    <a:lumOff val="40000"/>
                  </a:schemeClr>
                </a:solidFill>
              </a:rPr>
              <a:t>IACTR</a:t>
            </a:r>
          </a:p>
          <a:p>
            <a:pPr lvl="1"/>
            <a:r>
              <a:rPr lang="sv-SE" sz="2000"/>
              <a:t>Om</a:t>
            </a:r>
            <a:r>
              <a:rPr lang="sv-SE" sz="2000" b="1"/>
              <a:t> </a:t>
            </a:r>
            <a:r>
              <a:rPr lang="sv-SE" sz="2000"/>
              <a:t>det kommer ett avbrott till med IRQ x och processorn ser att det aktivt hanteras just nu så sätts istället en bit i </a:t>
            </a:r>
            <a:r>
              <a:rPr lang="sv-SE" sz="2000" b="1">
                <a:solidFill>
                  <a:schemeClr val="accent6">
                    <a:lumMod val="75000"/>
                  </a:schemeClr>
                </a:solidFill>
              </a:rPr>
              <a:t>IPR</a:t>
            </a:r>
          </a:p>
          <a:p>
            <a:pPr lvl="1"/>
            <a:r>
              <a:rPr lang="sv-SE" sz="2000"/>
              <a:t>När interupthanteraren returnerar så clearas IACTR, men om IPR är satt sätts den omeddelbart igen och nästa interrupt hanteras direkt.</a:t>
            </a:r>
          </a:p>
          <a:p>
            <a:pPr lvl="2"/>
            <a:r>
              <a:rPr lang="sv-SE" sz="1400"/>
              <a:t> Om systick interrupts händer för ofta kan huvudprogrammet </a:t>
            </a:r>
            <a:r>
              <a:rPr lang="sv-SE" sz="1400" i="1"/>
              <a:t>svältas</a:t>
            </a:r>
            <a:r>
              <a:rPr lang="sv-SE" sz="1400"/>
              <a:t>. </a:t>
            </a:r>
          </a:p>
          <a:p>
            <a:pPr lvl="2"/>
            <a:r>
              <a:rPr lang="sv-SE" sz="1400"/>
              <a:t>(Om det kommer ett nytt interrupt medans pending biten är satt så ignoreras det)</a:t>
            </a:r>
            <a:endParaRPr lang="LID4096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206EEE-1976-33F5-B60D-EBE40EC34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576" y="1690688"/>
            <a:ext cx="4055424" cy="51673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FC431B5-1ADC-4721-58EB-E9274CE83139}"/>
              </a:ext>
            </a:extLst>
          </p:cNvPr>
          <p:cNvSpPr/>
          <p:nvPr/>
        </p:nvSpPr>
        <p:spPr>
          <a:xfrm>
            <a:off x="8198119" y="5938838"/>
            <a:ext cx="3927206" cy="338545"/>
          </a:xfrm>
          <a:prstGeom prst="rect">
            <a:avLst/>
          </a:prstGeom>
          <a:solidFill>
            <a:schemeClr val="tx2">
              <a:lumMod val="75000"/>
              <a:lumOff val="25000"/>
              <a:alpha val="33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6E85D5-48BF-DB0B-E874-90C61680D93C}"/>
              </a:ext>
            </a:extLst>
          </p:cNvPr>
          <p:cNvSpPr/>
          <p:nvPr/>
        </p:nvSpPr>
        <p:spPr>
          <a:xfrm>
            <a:off x="8198119" y="2457451"/>
            <a:ext cx="3927206" cy="338545"/>
          </a:xfrm>
          <a:prstGeom prst="rect">
            <a:avLst/>
          </a:prstGeom>
          <a:solidFill>
            <a:schemeClr val="accent6">
              <a:lumMod val="60000"/>
              <a:lumOff val="40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2995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CD1F6-09A1-D6FD-9369-226C9A75B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570A3-4222-4946-9BF4-31C61D57C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Avbryta interrupthanteraren </a:t>
            </a:r>
            <a:r>
              <a:rPr lang="sv-SE" sz="2800"/>
              <a:t>(nästlade avbrott)</a:t>
            </a:r>
            <a:r>
              <a:rPr lang="sv-SE"/>
              <a:t>? 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81E5B8-E3A6-F2CA-42E0-981F2AC12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7550" cy="4351338"/>
          </a:xfrm>
        </p:spPr>
        <p:txBody>
          <a:bodyPr/>
          <a:lstStyle/>
          <a:p>
            <a:r>
              <a:rPr lang="sv-SE"/>
              <a:t>Kan ett </a:t>
            </a:r>
            <a:r>
              <a:rPr lang="sv-SE" b="1"/>
              <a:t>Fault</a:t>
            </a:r>
            <a:r>
              <a:rPr lang="sv-SE"/>
              <a:t> (t.ex. unaligned memory access) avbryta ett interrupt? </a:t>
            </a:r>
          </a:p>
          <a:p>
            <a:pPr lvl="1"/>
            <a:r>
              <a:rPr lang="sv-SE"/>
              <a:t>Yep. Alltid. På så vis kan processorn skyddas mot felaktiga interrupthanterare. </a:t>
            </a:r>
          </a:p>
          <a:p>
            <a:pPr lvl="1"/>
            <a:r>
              <a:rPr lang="sv-SE" sz="2000"/>
              <a:t>(mcause, mepc, etc sparas på en hårdvarustack)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7857B-39F9-A5B8-B520-B8088FB28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576" y="1690688"/>
            <a:ext cx="4055424" cy="51673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09976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59E38-39F6-EE93-3F78-FDA822DE0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14DB9-5CEF-AB60-FC4C-F969F679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Avbryta interrupthanteraren </a:t>
            </a:r>
            <a:r>
              <a:rPr lang="sv-SE" sz="2800"/>
              <a:t>(nästlade avbrott)</a:t>
            </a:r>
            <a:r>
              <a:rPr lang="sv-SE"/>
              <a:t>? 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209B220-B728-CC8E-E36F-F5FB6F5A1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7550" cy="4351338"/>
          </a:xfrm>
        </p:spPr>
        <p:txBody>
          <a:bodyPr/>
          <a:lstStyle/>
          <a:p>
            <a:r>
              <a:rPr lang="sv-SE"/>
              <a:t>Kan t.ex. Timer6 avbryta en Systick interrupthanterare? </a:t>
            </a:r>
          </a:p>
          <a:p>
            <a:pPr lvl="1"/>
            <a:r>
              <a:rPr lang="sv-SE"/>
              <a:t>Ja, </a:t>
            </a:r>
            <a:r>
              <a:rPr lang="sv-SE" i="1"/>
              <a:t>om</a:t>
            </a:r>
            <a:r>
              <a:rPr lang="sv-SE"/>
              <a:t> Timer6 har givits högre prioritet än systick i </a:t>
            </a:r>
            <a:r>
              <a:rPr lang="sv-SE" b="1">
                <a:solidFill>
                  <a:schemeClr val="accent2">
                    <a:lumMod val="75000"/>
                  </a:schemeClr>
                </a:solidFill>
              </a:rPr>
              <a:t>IPRIOR </a:t>
            </a:r>
            <a:r>
              <a:rPr lang="sv-SE"/>
              <a:t>registrena.</a:t>
            </a:r>
          </a:p>
          <a:p>
            <a:pPr lvl="1"/>
            <a:r>
              <a:rPr lang="sv-SE"/>
              <a:t>Timer6’s interrupthanterare kör då klart och sedan återupptas Systickhanteraren där den avbröts.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7585E6-06C4-501A-9E68-68AE76D38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576" y="1690688"/>
            <a:ext cx="4055424" cy="51673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9481A3-902A-D36C-79FE-B1F6DABFC055}"/>
              </a:ext>
            </a:extLst>
          </p:cNvPr>
          <p:cNvSpPr/>
          <p:nvPr/>
        </p:nvSpPr>
        <p:spPr>
          <a:xfrm>
            <a:off x="8200685" y="6281738"/>
            <a:ext cx="3927206" cy="338545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3192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4707</TotalTime>
  <Words>1109</Words>
  <Application>Microsoft Office PowerPoint</Application>
  <PresentationFormat>Widescreen</PresentationFormat>
  <Paragraphs>150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Office Theme</vt:lpstr>
      <vt:lpstr>Lektion 9</vt:lpstr>
      <vt:lpstr>Recap: PFIC</vt:lpstr>
      <vt:lpstr>Challenge! </vt:lpstr>
      <vt:lpstr>Basic Timers</vt:lpstr>
      <vt:lpstr>Basic Timers</vt:lpstr>
      <vt:lpstr>Konfigurera timers</vt:lpstr>
      <vt:lpstr>Enabla interrupts i PFIC</vt:lpstr>
      <vt:lpstr>Skriv en interrupt hanterare</vt:lpstr>
      <vt:lpstr>Skriv en interrupt hanterare</vt:lpstr>
      <vt:lpstr>Vectored Interrupt Handling</vt:lpstr>
      <vt:lpstr>Vectored Interrupt Handling</vt:lpstr>
      <vt:lpstr>Vector Table</vt:lpstr>
      <vt:lpstr>Exempel? </vt:lpstr>
      <vt:lpstr>Avbryta interrupthanteraren (nästlade avbrott)? </vt:lpstr>
      <vt:lpstr>Avbryta interrupthanteraren (nästlade avbrott)? </vt:lpstr>
      <vt:lpstr>Avbryta interrupthanteraren (nästlade avbrott)?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85</cp:revision>
  <cp:lastPrinted>2026-02-17T11:02:10Z</cp:lastPrinted>
  <dcterms:created xsi:type="dcterms:W3CDTF">2026-01-14T14:09:03Z</dcterms:created>
  <dcterms:modified xsi:type="dcterms:W3CDTF">2026-02-23T14:55:33Z</dcterms:modified>
</cp:coreProperties>
</file>