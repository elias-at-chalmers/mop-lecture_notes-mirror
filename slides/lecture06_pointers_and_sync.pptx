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4" r:id="rId4"/>
    <p:sldId id="364" r:id="rId5"/>
    <p:sldId id="365" r:id="rId6"/>
    <p:sldId id="366" r:id="rId7"/>
    <p:sldId id="367" r:id="rId8"/>
    <p:sldId id="372" r:id="rId9"/>
    <p:sldId id="265" r:id="rId10"/>
    <p:sldId id="371" r:id="rId11"/>
    <p:sldId id="373" r:id="rId12"/>
    <p:sldId id="374" r:id="rId13"/>
    <p:sldId id="375" r:id="rId14"/>
    <p:sldId id="376" r:id="rId15"/>
    <p:sldId id="263" r:id="rId16"/>
    <p:sldId id="266" r:id="rId17"/>
    <p:sldId id="267" r:id="rId18"/>
    <p:sldId id="369" r:id="rId19"/>
    <p:sldId id="381" r:id="rId20"/>
    <p:sldId id="377" r:id="rId21"/>
    <p:sldId id="370" r:id="rId22"/>
    <p:sldId id="378" r:id="rId23"/>
    <p:sldId id="379" r:id="rId24"/>
    <p:sldId id="380" r:id="rId25"/>
    <p:sldId id="351" r:id="rId26"/>
    <p:sldId id="352" r:id="rId27"/>
    <p:sldId id="353" r:id="rId28"/>
    <p:sldId id="382" r:id="rId29"/>
    <p:sldId id="354" r:id="rId3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61B486-9643-4A02-8A51-D34E00CDE215}">
          <p14:sldIdLst>
            <p14:sldId id="256"/>
            <p14:sldId id="257"/>
            <p14:sldId id="264"/>
            <p14:sldId id="364"/>
            <p14:sldId id="365"/>
            <p14:sldId id="366"/>
            <p14:sldId id="367"/>
            <p14:sldId id="372"/>
            <p14:sldId id="265"/>
            <p14:sldId id="371"/>
            <p14:sldId id="373"/>
            <p14:sldId id="374"/>
            <p14:sldId id="375"/>
            <p14:sldId id="376"/>
            <p14:sldId id="263"/>
            <p14:sldId id="266"/>
            <p14:sldId id="267"/>
            <p14:sldId id="369"/>
            <p14:sldId id="381"/>
            <p14:sldId id="377"/>
            <p14:sldId id="370"/>
            <p14:sldId id="378"/>
            <p14:sldId id="379"/>
            <p14:sldId id="380"/>
            <p14:sldId id="351"/>
            <p14:sldId id="352"/>
            <p14:sldId id="353"/>
            <p14:sldId id="382"/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3" autoAdjust="0"/>
    <p:restoredTop sz="86416" autoAdjust="0"/>
  </p:normalViewPr>
  <p:slideViewPr>
    <p:cSldViewPr snapToGrid="0">
      <p:cViewPr varScale="1">
        <p:scale>
          <a:sx n="156" d="100"/>
          <a:sy n="156" d="100"/>
        </p:scale>
        <p:origin x="468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657E-FDB3-4206-AA4E-9AE2AAB0A71C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41B-EE32-43AA-BF26-21D12108C6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1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0"/>
              <a:t>Idag skall vi b</a:t>
            </a:r>
            <a:r>
              <a:rPr lang="sv-SE" i="0"/>
              <a:t>örja prata om </a:t>
            </a:r>
            <a:r>
              <a:rPr lang="sv-SE" i="1"/>
              <a:t>pekare</a:t>
            </a:r>
            <a:r>
              <a:rPr lang="sv-SE" i="0"/>
              <a:t> i C. </a:t>
            </a:r>
          </a:p>
          <a:p>
            <a:r>
              <a:rPr lang="sv-SE" i="0"/>
              <a:t>När vi fått bukt på dom kan jag visa hur vi gör GPIO programmering i C istället för assembler. </a:t>
            </a:r>
          </a:p>
          <a:p>
            <a:r>
              <a:rPr lang="sv-SE" i="0"/>
              <a:t>Sedan skall jag introducera ASCII displayen som ni skall använda i lab2, </a:t>
            </a:r>
          </a:p>
          <a:p>
            <a:r>
              <a:rPr lang="sv-SE" i="0"/>
              <a:t>och för att kunna programmera den behöver vi titta lite närmre på timing och synkronisering.</a:t>
            </a:r>
          </a:p>
          <a:p>
            <a:endParaRPr lang="LID4096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937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Vi börjar med att fundera på var våra variabler i C egentligen ligger i minnet. </a:t>
            </a:r>
          </a:p>
          <a:p>
            <a:r>
              <a:rPr lang="sv-SE"/>
              <a:t>()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7212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Detta är problemet vi vill lösa för tillfället.</a:t>
            </a:r>
          </a:p>
          <a:p>
            <a:r>
              <a:rPr lang="sv-SE"/>
              <a:t>Gå igenom koden som repetition. </a:t>
            </a:r>
          </a:p>
          <a:p>
            <a:r>
              <a:rPr lang="sv-SE"/>
              <a:t>Vi måste alltså kunna skriva till speciella minnesaddresser även i C...  </a:t>
            </a:r>
          </a:p>
          <a:p>
            <a:r>
              <a:rPr lang="sv-SE"/>
              <a:t>Hur!?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3320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För att komma fram till svaret måste vi lära oss hur </a:t>
            </a:r>
            <a:r>
              <a:rPr lang="sv-SE" i="1"/>
              <a:t>pekare</a:t>
            </a:r>
            <a:r>
              <a:rPr lang="sv-SE" i="0"/>
              <a:t> fungerar, i C. </a:t>
            </a:r>
            <a:endParaRPr lang="sv-SE"/>
          </a:p>
          <a:p>
            <a:endParaRPr lang="sv-SE"/>
          </a:p>
          <a:p>
            <a:r>
              <a:rPr lang="sv-SE"/>
              <a:t>Säg att vårat program ser ut så här. </a:t>
            </a:r>
          </a:p>
          <a:p>
            <a:r>
              <a:rPr lang="sv-SE"/>
              <a:t>Vi har en main funktion med lite kod i. </a:t>
            </a:r>
          </a:p>
          <a:p>
            <a:r>
              <a:rPr lang="sv-SE"/>
              <a:t>Och vi har deklarerat en global unsigned int som heter ”b”. </a:t>
            </a:r>
          </a:p>
          <a:p>
            <a:r>
              <a:rPr lang="sv-SE"/>
              <a:t>När vi laddat in programmet i minnet på vår maskin så börjar programkoden på address 0x20000000.</a:t>
            </a:r>
          </a:p>
          <a:p>
            <a:r>
              <a:rPr lang="sv-SE"/>
              <a:t>Programkoden tar upp exakt 256 bytes, och efter den kommer våran variabel ”b” att ligga. 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2336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B083-9BC0-66EF-571F-55518503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BD652-91A2-0413-BB69-77879F00B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1E8E0-7947-2B4B-EB6D-0C8F46E5A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Nu lägger vi till en variabel och kompilerar om programmet. </a:t>
            </a:r>
          </a:p>
          <a:p>
            <a:r>
              <a:rPr lang="sv-SE"/>
              <a:t>Variabeln är en </a:t>
            </a:r>
            <a:r>
              <a:rPr lang="sv-SE" i="1"/>
              <a:t>unsigned int pekare</a:t>
            </a:r>
            <a:r>
              <a:rPr lang="sv-SE"/>
              <a:t>.</a:t>
            </a:r>
          </a:p>
          <a:p>
            <a:r>
              <a:rPr lang="sv-SE"/>
              <a:t>Alltså addressen till en unsigned int. </a:t>
            </a:r>
          </a:p>
          <a:p>
            <a:r>
              <a:rPr lang="sv-SE"/>
              <a:t>Variabeln hamnar på nästa lediga address (direkt efter b, 0x20000104)</a:t>
            </a:r>
          </a:p>
          <a:p>
            <a:r>
              <a:rPr lang="sv-SE"/>
              <a:t>Vi initierar den med </a:t>
            </a:r>
            <a:r>
              <a:rPr lang="sv-SE" i="1"/>
              <a:t>addressen </a:t>
            </a:r>
            <a:r>
              <a:rPr lang="sv-SE" i="0"/>
              <a:t>(&amp; tecknet) till b.</a:t>
            </a:r>
          </a:p>
          <a:p>
            <a:r>
              <a:rPr lang="sv-SE" i="0"/>
              <a:t>Innehållet i variabeln är addressen till b.</a:t>
            </a:r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8F3FE-A58A-780C-C4D5-5C4CFDDA8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9567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96D6-5D9F-008F-2553-318B7555C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BEC9B-6D89-9C96-DA52-32AD114FB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62915D-177E-FB7B-7758-171118D31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Nu skapar vi en temporär variabel ”a”. Den hamnar på stacken. </a:t>
            </a:r>
          </a:p>
          <a:p>
            <a:r>
              <a:rPr lang="sv-SE"/>
              <a:t>Vi initierar den med ”*ptr_to_b”.</a:t>
            </a:r>
          </a:p>
          <a:p>
            <a:r>
              <a:rPr lang="sv-SE" i="0"/>
              <a:t>Stjärnan här betyder att vi vill ha variabeln i minnet </a:t>
            </a:r>
            <a:r>
              <a:rPr lang="sv-SE" i="1"/>
              <a:t>som ptr_to_b pekar på</a:t>
            </a:r>
            <a:r>
              <a:rPr lang="sv-SE" i="0"/>
              <a:t>. </a:t>
            </a:r>
          </a:p>
          <a:p>
            <a:r>
              <a:rPr lang="sv-SE" i="0"/>
              <a:t>”a” kommer alltså vara lika med 0xAABBCCDD. </a:t>
            </a:r>
          </a:p>
          <a:p>
            <a:endParaRPr lang="sv-SE"/>
          </a:p>
          <a:p>
            <a:r>
              <a:rPr lang="sv-SE"/>
              <a:t>Det här är allt vi behöver förstå. </a:t>
            </a:r>
          </a:p>
          <a:p>
            <a:r>
              <a:rPr lang="sv-SE"/>
              <a:t>En pekare håller addressen till en annan variabel. </a:t>
            </a:r>
          </a:p>
          <a:p>
            <a:r>
              <a:rPr lang="sv-SE"/>
              <a:t>Om vi derefererar den ”menar vi” variabeln som den pekar på. </a:t>
            </a:r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9580D-DA3E-8569-4E30-BB8AF55F6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3948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209D2-F893-8D60-4411-5876A07BD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50E69-416E-5BE5-CE60-F0B7D78FF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BC493-7544-C88B-85EE-E90E4448A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Gå igenom fram till main. </a:t>
            </a:r>
          </a:p>
          <a:p>
            <a:r>
              <a:rPr lang="sv-SE"/>
              <a:t>Sedan utmaning! (prata med grannen, 2 min)</a:t>
            </a:r>
          </a:p>
          <a:p>
            <a:r>
              <a:rPr lang="sv-SE"/>
              <a:t>Vad innehåller variablerna a, b, och c efter dom här två raderna?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B3947-3D34-8D6C-DD51-7440930A4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6969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E8DD6-9E07-8296-A5BA-86EE87C55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EA825-EA7C-C9EA-F347-717D2F28D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0A713-FE8D-EE75-D4E2-8B22FCF78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Ett exempel till som visar pekare till typer med andra storlekar.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1A394-770B-CD17-9E20-F83791FA9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4561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D126-5037-7397-527E-48076A66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C375A-2152-F98D-4FBB-D9D08B12D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B2A9A-9F1E-09DE-8E13-1DC2CF54D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Tillbaks till problemet. </a:t>
            </a:r>
          </a:p>
          <a:p>
            <a:r>
              <a:rPr lang="sv-SE"/>
              <a:t>Vi vill alltså skriva värdet 0x00000200 till address 0x40011400</a:t>
            </a:r>
          </a:p>
          <a:p>
            <a:r>
              <a:rPr lang="en-GB"/>
              <a:t>&lt;click&gt;</a:t>
            </a:r>
            <a:endParaRPr lang="sv-SE"/>
          </a:p>
          <a:p>
            <a:r>
              <a:rPr lang="sv-SE"/>
              <a:t>Kan vi helt enkelt skapa en pekare och skriva rätt address till den? </a:t>
            </a:r>
          </a:p>
          <a:p>
            <a:r>
              <a:rPr lang="sv-SE"/>
              <a:t>&lt;click&gt;</a:t>
            </a:r>
          </a:p>
          <a:p>
            <a:r>
              <a:rPr lang="sv-SE"/>
              <a:t>Nähepp. Det blev ett error. </a:t>
            </a:r>
          </a:p>
          <a:p>
            <a:r>
              <a:rPr lang="sv-SE"/>
              <a:t>Vi läser erroret. Den klagar för att ptr är av typen (unsigned int *) och 0x40011400 är bara en int.</a:t>
            </a:r>
          </a:p>
          <a:p>
            <a:r>
              <a:rPr lang="sv-SE"/>
              <a:t>”without a cast”</a:t>
            </a:r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665D4-5459-DCAE-734B-1A444DDE7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8322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C4E2A-C587-5E27-58F6-33F8B3EC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B1AAF-F866-2397-F41C-22CE90106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FE0D7-D53D-5C90-CDF6-FFCA90C25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Då castar vi väl då!</a:t>
            </a:r>
          </a:p>
          <a:p>
            <a:r>
              <a:rPr lang="sv-SE"/>
              <a:t>När vi lägger till detta så säger vi till kompilatorn att den skall ta sifforna vi skrivit och tyda dem som en uint32_t pekare. </a:t>
            </a:r>
          </a:p>
          <a:p>
            <a:r>
              <a:rPr lang="sv-SE"/>
              <a:t>Detta funkar fint!</a:t>
            </a:r>
          </a:p>
          <a:p>
            <a:r>
              <a:rPr lang="sv-SE"/>
              <a:t>Hur gör vi nu för att skriva något till den här addressen? </a:t>
            </a:r>
          </a:p>
          <a:p>
            <a:r>
              <a:rPr lang="en-GB"/>
              <a:t>&lt;click&gt;</a:t>
            </a:r>
          </a:p>
          <a:p>
            <a:r>
              <a:rPr lang="en-GB"/>
              <a:t>Japp, allt vi nu beh</a:t>
            </a:r>
            <a:r>
              <a:rPr lang="sv-SE"/>
              <a:t>över göra är att dereferera ptr.</a:t>
            </a:r>
          </a:p>
          <a:p>
            <a:r>
              <a:rPr lang="en-GB"/>
              <a:t>&lt;click&gt;</a:t>
            </a:r>
          </a:p>
          <a:p>
            <a:r>
              <a:rPr lang="en-GB"/>
              <a:t>*ptr betyder </a:t>
            </a:r>
            <a:r>
              <a:rPr lang="sv-SE" sz="1200">
                <a:solidFill>
                  <a:srgbClr val="FFC000"/>
                </a:solidFill>
              </a:rPr>
              <a:t>”En unsigned int på addressen 0x40011400”, och till den variabeln skriver vi 0x00000200</a:t>
            </a:r>
          </a:p>
          <a:p>
            <a:endParaRPr lang="sv-SE" sz="1200">
              <a:solidFill>
                <a:srgbClr val="FFC000"/>
              </a:solidFill>
            </a:endParaRPr>
          </a:p>
          <a:p>
            <a:r>
              <a:rPr lang="sv-SE" sz="1200">
                <a:solidFill>
                  <a:srgbClr val="FFC000"/>
                </a:solidFill>
              </a:rPr>
              <a:t>Stanna upp här. Detta är allt ni behöver förstå om pekare just nu. </a:t>
            </a:r>
          </a:p>
          <a:p>
            <a:r>
              <a:rPr lang="sv-SE" sz="1200">
                <a:solidFill>
                  <a:srgbClr val="FFC000"/>
                </a:solidFill>
              </a:rPr>
              <a:t>Resten av detta är bara uppsnyggning.</a:t>
            </a:r>
            <a:endParaRPr lang="sv-SE"/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D54D3-FA96-2157-AA33-879D8D1AB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3214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F0A7-3CC9-143D-D22A-18A58B5E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39495-E0BE-27D8-DD13-23825DF52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C1154-E4D1-2CB5-5EDC-97D852277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Då castar vi väl då!</a:t>
            </a:r>
          </a:p>
          <a:p>
            <a:r>
              <a:rPr lang="sv-SE"/>
              <a:t>När vi lägger till detta så säger vi till kompilatorn att den skall ta sifforna vi skrivit och tyda dem som en uint32_t pekare. </a:t>
            </a:r>
          </a:p>
          <a:p>
            <a:r>
              <a:rPr lang="sv-SE"/>
              <a:t>Detta funkar fint!</a:t>
            </a:r>
          </a:p>
          <a:p>
            <a:r>
              <a:rPr lang="sv-SE"/>
              <a:t>Hur gör vi nu för att skriva något till den här addressen? </a:t>
            </a:r>
          </a:p>
          <a:p>
            <a:r>
              <a:rPr lang="en-GB"/>
              <a:t>&lt;click&gt;</a:t>
            </a:r>
          </a:p>
          <a:p>
            <a:r>
              <a:rPr lang="en-GB"/>
              <a:t>Japp, allt vi nu beh</a:t>
            </a:r>
            <a:r>
              <a:rPr lang="sv-SE"/>
              <a:t>över göra är att dereferera ptr.</a:t>
            </a:r>
          </a:p>
          <a:p>
            <a:r>
              <a:rPr lang="en-GB"/>
              <a:t>&lt;click&gt;</a:t>
            </a:r>
          </a:p>
          <a:p>
            <a:r>
              <a:rPr lang="en-GB"/>
              <a:t>*ptr betyder </a:t>
            </a:r>
            <a:r>
              <a:rPr lang="sv-SE" sz="1200">
                <a:solidFill>
                  <a:srgbClr val="FFC000"/>
                </a:solidFill>
              </a:rPr>
              <a:t>”En unsigned int på addressen 0x40011400”, och till den variabeln skriver vi 0x00000200</a:t>
            </a:r>
          </a:p>
          <a:p>
            <a:endParaRPr lang="sv-SE" sz="1200">
              <a:solidFill>
                <a:srgbClr val="FFC000"/>
              </a:solidFill>
            </a:endParaRPr>
          </a:p>
          <a:p>
            <a:r>
              <a:rPr lang="sv-SE" sz="1200">
                <a:solidFill>
                  <a:srgbClr val="FFC000"/>
                </a:solidFill>
              </a:rPr>
              <a:t>Stanna upp här. Detta är allt ni behöver förstå om pekare just nu. </a:t>
            </a:r>
          </a:p>
          <a:p>
            <a:r>
              <a:rPr lang="sv-SE" sz="1200">
                <a:solidFill>
                  <a:srgbClr val="FFC000"/>
                </a:solidFill>
              </a:rPr>
              <a:t>Resten av detta är bara uppsnyggning.</a:t>
            </a:r>
            <a:endParaRPr lang="sv-SE"/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6C68A-B0FB-E276-D9E3-FE147B51D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3840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56FA-AE74-836B-01CA-BA944721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C5DF3-DA94-D194-E583-79799F9B4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42BD6-3C70-FCF7-67CC-CE7E2702C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Vi tar ett annat exempel. Detta är programmet vi skrev för att vänta på att man trycker på knappen. </a:t>
            </a:r>
          </a:p>
          <a:p>
            <a:r>
              <a:rPr lang="sv-SE"/>
              <a:t>Gå igenom.</a:t>
            </a:r>
          </a:p>
          <a:p>
            <a:endParaRPr lang="sv-SE"/>
          </a:p>
          <a:p>
            <a:r>
              <a:rPr lang="sv-SE"/>
              <a:t>Gå sedan igenom C-koden.</a:t>
            </a:r>
          </a:p>
          <a:p>
            <a:endParaRPr lang="sv-SE"/>
          </a:p>
          <a:p>
            <a:r>
              <a:rPr lang="sv-SE"/>
              <a:t>Här finns en väldigt väl gömd bugg...</a:t>
            </a:r>
          </a:p>
          <a:p>
            <a:r>
              <a:rPr lang="sv-SE"/>
              <a:t>Fråga om någon har läst i förväg? </a:t>
            </a:r>
          </a:p>
          <a:p>
            <a:endParaRPr lang="sv-SE"/>
          </a:p>
          <a:p>
            <a:endParaRPr lang="sv-SE"/>
          </a:p>
          <a:p>
            <a:endParaRPr lang="sv-SE"/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87039-47BA-C79E-30F7-731BA439E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7265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77DD2-D158-E670-E3FE-5C06C76F2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775E0-2252-2068-C0A5-B79D224D9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E073F-C547-933F-C027-4103D74BE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Vi tar ett annat exempel. Detta är programmet vi skrev för att vänta på att man trycker på knappen. </a:t>
            </a:r>
          </a:p>
          <a:p>
            <a:r>
              <a:rPr lang="sv-SE"/>
              <a:t>Gå igenom.</a:t>
            </a:r>
          </a:p>
          <a:p>
            <a:endParaRPr lang="sv-SE"/>
          </a:p>
          <a:p>
            <a:r>
              <a:rPr lang="sv-SE"/>
              <a:t>Gå sedan igenom C-koden.</a:t>
            </a:r>
          </a:p>
          <a:p>
            <a:endParaRPr lang="sv-SE"/>
          </a:p>
          <a:p>
            <a:r>
              <a:rPr lang="sv-SE"/>
              <a:t>Här finns en väldigt väl gömd bugg...</a:t>
            </a:r>
          </a:p>
          <a:p>
            <a:r>
              <a:rPr lang="sv-SE"/>
              <a:t>Fråga om någon har läst i förväg? </a:t>
            </a:r>
          </a:p>
          <a:p>
            <a:endParaRPr lang="sv-SE"/>
          </a:p>
          <a:p>
            <a:endParaRPr lang="sv-SE"/>
          </a:p>
          <a:p>
            <a:endParaRPr lang="sv-SE"/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315F3-A8E4-A166-077C-13B841C9A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50519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4C83E-B6F9-658B-0493-FA4BA12AF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09CF3-B1DF-1EE7-4982-B199F24DF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1AB94-F51C-0A34-7E27-C45F2261D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Vi tar ett annat exempel. Detta är programmet vi skrev för att vänta på att man trycker på knappen. </a:t>
            </a:r>
          </a:p>
          <a:p>
            <a:r>
              <a:rPr lang="sv-SE"/>
              <a:t>Gå igenom.</a:t>
            </a:r>
          </a:p>
          <a:p>
            <a:endParaRPr lang="sv-SE"/>
          </a:p>
          <a:p>
            <a:r>
              <a:rPr lang="sv-SE"/>
              <a:t>Gå sedan igenom C-koden.</a:t>
            </a:r>
          </a:p>
          <a:p>
            <a:endParaRPr lang="sv-SE"/>
          </a:p>
          <a:p>
            <a:r>
              <a:rPr lang="sv-SE"/>
              <a:t>Här finns en väldigt väl gömd bugg...</a:t>
            </a:r>
          </a:p>
          <a:p>
            <a:r>
              <a:rPr lang="sv-SE"/>
              <a:t>Fråga om någon har läst i förväg? </a:t>
            </a:r>
          </a:p>
          <a:p>
            <a:endParaRPr lang="sv-SE"/>
          </a:p>
          <a:p>
            <a:endParaRPr lang="sv-SE"/>
          </a:p>
          <a:p>
            <a:endParaRPr lang="sv-SE"/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B3875-D20D-41B6-99CE-F5E662BEE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230815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Här gör vi ett exempel där jag blinkar en lampa i C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3861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Nu skall vi börja snacka om den här ASCII displayen som ni skall programmera i Lab 2.</a:t>
            </a:r>
          </a:p>
          <a:p>
            <a:r>
              <a:rPr lang="sv-SE"/>
              <a:t>Det är en väldigt standard display som används lite överallt. </a:t>
            </a:r>
          </a:p>
          <a:p>
            <a:r>
              <a:rPr lang="sv-SE"/>
              <a:t>Vi har installerat den på ett kort tillsammans med en större TFT display, men den ignorerar vi än så länge. </a:t>
            </a:r>
          </a:p>
          <a:p>
            <a:r>
              <a:rPr lang="sv-SE"/>
              <a:t>LCD displayen styrs via 11 signaler, som vi har kopplat in till dom här två portarna. </a:t>
            </a:r>
          </a:p>
          <a:p>
            <a:r>
              <a:rPr lang="sv-SE"/>
              <a:t>Normalt skulle vi koppla dessa till övre och undre byten på andingen GPIO port D eller E.</a:t>
            </a:r>
          </a:p>
          <a:p>
            <a:endParaRPr lang="sv-SE"/>
          </a:p>
          <a:p>
            <a:r>
              <a:rPr lang="sv-SE"/>
              <a:t>Förklara </a:t>
            </a:r>
            <a:r>
              <a:rPr lang="sv-SE" b="1"/>
              <a:t>command </a:t>
            </a:r>
            <a:r>
              <a:rPr lang="sv-SE" b="0"/>
              <a:t>(e.g. byt antal rader)</a:t>
            </a:r>
            <a:r>
              <a:rPr lang="sv-SE" b="1"/>
              <a:t> </a:t>
            </a:r>
            <a:r>
              <a:rPr lang="sv-SE"/>
              <a:t>och </a:t>
            </a:r>
            <a:r>
              <a:rPr lang="sv-SE" b="1"/>
              <a:t>data </a:t>
            </a:r>
            <a:r>
              <a:rPr lang="sv-SE" b="0"/>
              <a:t>(skriv en bokstav)</a:t>
            </a:r>
          </a:p>
          <a:p>
            <a:r>
              <a:rPr lang="sv-SE" b="0"/>
              <a:t>Gå igenom signalerna</a:t>
            </a:r>
            <a:endParaRPr lang="LID4096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5328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F609C-16FF-F6F3-3928-94C35338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26820-896C-B139-B85C-5D2D819CB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2789C-E403-2E2C-0D87-55321C4D2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/>
              <a:t>Dessa </a:t>
            </a:r>
            <a:r>
              <a:rPr lang="sv-SE" b="0"/>
              <a:t>är de olika </a:t>
            </a:r>
            <a:r>
              <a:rPr lang="sv-SE" b="0" i="1"/>
              <a:t>kommandon </a:t>
            </a:r>
            <a:r>
              <a:rPr lang="sv-SE" b="0" i="0"/>
              <a:t>vi kan ge displayen.</a:t>
            </a:r>
          </a:p>
          <a:p>
            <a:endParaRPr lang="sv-SE" b="0" i="0"/>
          </a:p>
          <a:p>
            <a:r>
              <a:rPr lang="sv-SE" b="0" i="0"/>
              <a:t>Förklara att det finns en cursor (address) som man kan flytta på.</a:t>
            </a:r>
          </a:p>
          <a:p>
            <a:endParaRPr lang="sv-SE" b="0" i="0"/>
          </a:p>
          <a:p>
            <a:r>
              <a:rPr lang="sv-SE" b="0" i="0"/>
              <a:t>Förklara att vi för att ge ett kommando sätter RS = 0 och skriver kommandot på datalinorna. </a:t>
            </a:r>
          </a:p>
          <a:p>
            <a:endParaRPr lang="sv-SE" b="0" i="0"/>
          </a:p>
          <a:p>
            <a:r>
              <a:rPr lang="sv-SE" b="0" i="0"/>
              <a:t>Förklara att om RS är 1 så skriver vi istället en bokstav till displayen.</a:t>
            </a:r>
            <a:endParaRPr lang="LID4096" b="0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9A51D-C801-A4A0-319E-5C00135E5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8158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40955-CF6C-F642-97FF-42293503A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D9172-AA4C-2D35-1E75-3BD8056EB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02154-8BAA-F672-B343-CCB12F394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b="0"/>
              <a:t>Vare sig vi vill skriva ett kommando eller en bokstav så måste vi följa ett speciellt tidsschema som vi hittar i databladet (eller quickguiden)</a:t>
            </a:r>
          </a:p>
          <a:p>
            <a:endParaRPr lang="sv-SE" b="0"/>
          </a:p>
          <a:p>
            <a:r>
              <a:rPr lang="sv-SE" b="0"/>
              <a:t>Schemat säger att vi först måste välja RS (command or 1=</a:t>
            </a:r>
            <a:r>
              <a:rPr lang="sv-SE" b="1"/>
              <a:t>data</a:t>
            </a:r>
            <a:r>
              <a:rPr lang="sv-SE" b="0"/>
              <a:t>) och RW (read or </a:t>
            </a:r>
            <a:r>
              <a:rPr lang="sv-SE" b="1"/>
              <a:t>write</a:t>
            </a:r>
            <a:r>
              <a:rPr lang="sv-SE" b="0"/>
              <a:t>) signalerna. </a:t>
            </a:r>
          </a:p>
          <a:p>
            <a:r>
              <a:rPr lang="sv-SE" b="0"/>
              <a:t>Vi sätter alltså signalerna RS som 1 och RW som 0.</a:t>
            </a:r>
          </a:p>
          <a:p>
            <a:r>
              <a:rPr lang="sv-SE" b="0"/>
              <a:t>Sedan måste vi </a:t>
            </a:r>
            <a:r>
              <a:rPr lang="sv-SE" b="0" i="1"/>
              <a:t>vänta</a:t>
            </a:r>
            <a:r>
              <a:rPr lang="sv-SE" b="0" i="0"/>
              <a:t> en stund, innan signalerna stabiliserats, och vi kan starta överföringen genom att sätta E hög.</a:t>
            </a:r>
          </a:p>
          <a:p>
            <a:r>
              <a:rPr lang="sv-SE" b="0" i="0"/>
              <a:t>Nu skall vi lägga bokstaven vi vill skriva på datalinorna. </a:t>
            </a:r>
          </a:p>
          <a:p>
            <a:r>
              <a:rPr lang="sv-SE" b="0" i="0"/>
              <a:t>tsu2 visar minsta tiden som dessa måste legat ute innan vi får lov att säga till maskinen att läsa linorna, genom att sätta E låg. </a:t>
            </a:r>
          </a:p>
          <a:p>
            <a:r>
              <a:rPr lang="sv-SE" b="0" i="0"/>
              <a:t>Efter ett h blivit låg måste vi sedan vänta th, tills displayen processat klart, innan vi kan ändra någon av signalerna. </a:t>
            </a:r>
          </a:p>
          <a:p>
            <a:endParaRPr lang="sv-SE" b="0" i="0"/>
          </a:p>
          <a:p>
            <a:r>
              <a:rPr lang="sv-SE" b="0" i="0"/>
              <a:t>I labbförberedelsen skall ni skriva koden som utför dom här skrivningarna och läsningarna. </a:t>
            </a:r>
          </a:p>
          <a:p>
            <a:endParaRPr lang="sv-SE" b="0" i="0"/>
          </a:p>
          <a:p>
            <a:r>
              <a:rPr lang="sv-SE" b="0" i="0"/>
              <a:t>Då måste ni kunna göra delay! Hur gör man det? </a:t>
            </a:r>
          </a:p>
          <a:p>
            <a:endParaRPr lang="sv-SE" b="0" i="0"/>
          </a:p>
          <a:p>
            <a:endParaRPr lang="sv-SE" b="0" i="0"/>
          </a:p>
          <a:p>
            <a:endParaRPr lang="sv-SE" b="0" i="0"/>
          </a:p>
          <a:p>
            <a:endParaRPr lang="sv-SE" b="0" i="0"/>
          </a:p>
          <a:p>
            <a:endParaRPr lang="sv-SE" b="0" i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03FC2-5DCC-322E-0B10-B9A3BFA01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00694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Förklara att det funkar som ett tidtagarur.</a:t>
            </a:r>
          </a:p>
          <a:p>
            <a:endParaRPr lang="sv-SE"/>
          </a:p>
          <a:p>
            <a:r>
              <a:rPr lang="sv-SE"/>
              <a:t>Klicka igenom registrena översiktligt</a:t>
            </a:r>
          </a:p>
          <a:p>
            <a:endParaRPr lang="sv-SE"/>
          </a:p>
          <a:p>
            <a:r>
              <a:rPr lang="sv-SE"/>
              <a:t>(förklara att vi också kan få den att ringa och avbryta oss när den är klar, men då behövs interrupts och det är om två veckor)</a:t>
            </a:r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15384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A6F04-A608-0C03-D1CF-8822A91A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5F9FA-19CC-654E-0FF9-984DED384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5B70F-C4AB-7B0F-ABCE-367E26AA0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Visar hur vi gör i praktiken med ett exempel.</a:t>
            </a:r>
          </a:p>
          <a:p>
            <a:endParaRPr lang="sv-SE"/>
          </a:p>
          <a:p>
            <a:r>
              <a:rPr lang="en-GB"/>
              <a:t>L</a:t>
            </a:r>
            <a:r>
              <a:rPr lang="sv-SE"/>
              <a:t>ängsta tiden vi kan vänta är 4000år....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A1C88-C036-507D-E0B9-1995EB7BB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43507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5547-27C1-A8F4-E92B-34D7A754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F3F54F-2906-FCD1-1805-171B91FD7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2F6A3-56EF-DC9F-A46C-6D6A9F4AC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b="0"/>
              <a:t>Säg att vi vill skriva en bokstav till displayen. Då måste vi följa ett speciellt tidsschema som vi hittar i databladet (eller quickguiden)</a:t>
            </a:r>
          </a:p>
          <a:p>
            <a:endParaRPr lang="sv-SE" b="0"/>
          </a:p>
          <a:p>
            <a:r>
              <a:rPr lang="sv-SE" b="0"/>
              <a:t>Schemat säger att vi först måste välja RS (command or 1=</a:t>
            </a:r>
            <a:r>
              <a:rPr lang="sv-SE" b="1"/>
              <a:t>data</a:t>
            </a:r>
            <a:r>
              <a:rPr lang="sv-SE" b="0"/>
              <a:t>) och RW (read or </a:t>
            </a:r>
            <a:r>
              <a:rPr lang="sv-SE" b="1"/>
              <a:t>write</a:t>
            </a:r>
            <a:r>
              <a:rPr lang="sv-SE" b="0"/>
              <a:t>) signalerna. </a:t>
            </a:r>
          </a:p>
          <a:p>
            <a:r>
              <a:rPr lang="sv-SE" b="0"/>
              <a:t>Vi sätter alltså signalerna RS som 1 och RW som 0.</a:t>
            </a:r>
          </a:p>
          <a:p>
            <a:r>
              <a:rPr lang="sv-SE" b="0"/>
              <a:t>Sedan måste vi </a:t>
            </a:r>
            <a:r>
              <a:rPr lang="sv-SE" b="0" i="1"/>
              <a:t>vänta</a:t>
            </a:r>
            <a:r>
              <a:rPr lang="sv-SE" b="0" i="0"/>
              <a:t> en stund, innan signalerna stabiliserats, och vi kan starta överföringen genom att sätta E hög.</a:t>
            </a:r>
          </a:p>
          <a:p>
            <a:r>
              <a:rPr lang="sv-SE" b="0" i="0"/>
              <a:t>Nu skall vi lägga bokstaven vi vill skriva på datalinorna. </a:t>
            </a:r>
          </a:p>
          <a:p>
            <a:r>
              <a:rPr lang="sv-SE" b="0" i="0"/>
              <a:t>tsu2 visar minsta tiden som dessa måste legat ute innan vi får lov att säga till maskinen att läsa linorna, genom att sätta E låg. </a:t>
            </a:r>
          </a:p>
          <a:p>
            <a:r>
              <a:rPr lang="sv-SE" b="0" i="0"/>
              <a:t>Efter ett h blivit låg måste vi sedan vänta th, tills displayen processat klart, innan vi kan ändra någon av signalerna. </a:t>
            </a:r>
          </a:p>
          <a:p>
            <a:endParaRPr lang="sv-SE" b="0" i="0"/>
          </a:p>
          <a:p>
            <a:r>
              <a:rPr lang="sv-SE" b="0" i="0"/>
              <a:t>I labbförberedelsen skall ni skriva koden som utför dom här skrivningarna och läsningarna. </a:t>
            </a:r>
          </a:p>
          <a:p>
            <a:endParaRPr lang="sv-SE" b="0" i="0"/>
          </a:p>
          <a:p>
            <a:r>
              <a:rPr lang="sv-SE" b="0" i="0"/>
              <a:t>Då måste ni kunna göra delay! Hur gör man det? </a:t>
            </a:r>
          </a:p>
          <a:p>
            <a:endParaRPr lang="sv-SE" b="0" i="0"/>
          </a:p>
          <a:p>
            <a:endParaRPr lang="sv-SE" b="0" i="0"/>
          </a:p>
          <a:p>
            <a:endParaRPr lang="sv-SE" b="0" i="0"/>
          </a:p>
          <a:p>
            <a:endParaRPr lang="sv-SE" b="0" i="0"/>
          </a:p>
          <a:p>
            <a:endParaRPr lang="sv-SE" b="0" i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966A8-6275-8809-B766-2342431D3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4967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Att använda arrays i C är väldigt likt hur vi gör i Java. </a:t>
            </a:r>
          </a:p>
          <a:p>
            <a:r>
              <a:rPr lang="sv-SE"/>
              <a:t>En array är en lista av objekt av en viss datatyp, vars storlek är känd när den deklareras (man kan inte ändra storleken på en array). </a:t>
            </a:r>
          </a:p>
          <a:p>
            <a:r>
              <a:rPr lang="sv-SE"/>
              <a:t>Gå snabbt igenom vad programmet skall göra. </a:t>
            </a:r>
          </a:p>
          <a:p>
            <a:r>
              <a:rPr lang="en-GB"/>
              <a:t>&lt;click&gt;</a:t>
            </a:r>
          </a:p>
          <a:p>
            <a:endParaRPr lang="sv-SE"/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74588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C3968-A274-A371-8E2C-3CC12E993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F84FD3-4E1D-32CD-A7D4-1F1E73616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CB5DA-97B4-09A9-836C-F19CB4845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  <a:p>
            <a:r>
              <a:rPr lang="sv-SE"/>
              <a:t>Arrayens </a:t>
            </a:r>
            <a:r>
              <a:rPr lang="sv-SE" i="1"/>
              <a:t>namn</a:t>
            </a:r>
            <a:r>
              <a:rPr lang="sv-SE"/>
              <a:t> fungerar som en</a:t>
            </a:r>
          </a:p>
          <a:p>
            <a:r>
              <a:rPr lang="sv-SE"/>
              <a:t>(const) pekare. Vi har alltså pekaren</a:t>
            </a:r>
          </a:p>
          <a:p>
            <a:r>
              <a:rPr lang="sv-SE"/>
              <a:t>(addressen) till första elementet i arrayen som: </a:t>
            </a:r>
          </a:p>
          <a:p>
            <a:r>
              <a:rPr lang="sv-SE">
                <a:latin typeface="Consolas" panose="020B0609020204030204" pitchFamily="49" charset="0"/>
              </a:rPr>
              <a:t>const short *value_array; </a:t>
            </a:r>
          </a:p>
          <a:p>
            <a:r>
              <a:rPr lang="en-GB">
                <a:latin typeface="Consolas" panose="020B0609020204030204" pitchFamily="49" charset="0"/>
              </a:rPr>
              <a:t>&lt;click&gt;</a:t>
            </a:r>
          </a:p>
          <a:p>
            <a:r>
              <a:rPr lang="sv-SE"/>
              <a:t>När vi indexerar på det här viset översätter </a:t>
            </a:r>
          </a:p>
          <a:p>
            <a:r>
              <a:rPr lang="sv-SE"/>
              <a:t>kompilatorn det till: </a:t>
            </a:r>
          </a:p>
          <a:p>
            <a:r>
              <a:rPr lang="sv-SE">
                <a:latin typeface="Consolas" panose="020B0609020204030204" pitchFamily="49" charset="0"/>
              </a:rPr>
              <a:t>(*(value_array + i))</a:t>
            </a:r>
          </a:p>
          <a:p>
            <a:endParaRPr lang="sv-SE">
              <a:latin typeface="Consolas" panose="020B0609020204030204" pitchFamily="49" charset="0"/>
            </a:endParaRPr>
          </a:p>
          <a:p>
            <a:r>
              <a:rPr lang="sv-SE" b="1">
                <a:latin typeface="Consolas" panose="020B0609020204030204" pitchFamily="49" charset="0"/>
              </a:rPr>
              <a:t>Men det verkar väl lite fel? Någon som tycker det ser knasigt ut? </a:t>
            </a:r>
          </a:p>
          <a:p>
            <a:endParaRPr lang="sv-SE">
              <a:latin typeface="Consolas" panose="020B0609020204030204" pitchFamily="49" charset="0"/>
            </a:endParaRPr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6D00F-CD4D-89DA-9EDF-2D1478B55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27902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Det funkar för att plus och minus funkar annorlunda på pekare än på vanliga tal. </a:t>
            </a:r>
          </a:p>
          <a:p>
            <a:r>
              <a:rPr lang="sv-SE"/>
              <a:t>När jag lägger till ett värde i till en pekare ökas addressen med </a:t>
            </a:r>
            <a:r>
              <a:rPr lang="sv-SE" i="1"/>
              <a:t>i stycken av pekarens typ</a:t>
            </a:r>
            <a:r>
              <a:rPr lang="sv-SE" i="0"/>
              <a:t>.</a:t>
            </a:r>
          </a:p>
          <a:p>
            <a:r>
              <a:rPr lang="sv-SE" i="0"/>
              <a:t>Gå igenom. </a:t>
            </a:r>
          </a:p>
          <a:p>
            <a:endParaRPr lang="sv-SE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29041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Kläm in vanligaste felet med pekararitmetik och ställ som fråga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06998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EB80D-7459-3EA8-5A6C-B6CAF19D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EF6F5-EE53-6DD5-B91B-4A0883705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7A2EB-4668-9538-8278-63222FA46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Det funkar för att plus och minus funkar annorlunda på pekare än på vanliga tal. </a:t>
            </a:r>
          </a:p>
          <a:p>
            <a:r>
              <a:rPr lang="sv-SE"/>
              <a:t>När jag lägger till ett värde i till en pekare ökas addressen med </a:t>
            </a:r>
            <a:r>
              <a:rPr lang="sv-SE" i="1"/>
              <a:t>i stycken av pekarens typ</a:t>
            </a:r>
            <a:r>
              <a:rPr lang="sv-SE" i="0"/>
              <a:t>.</a:t>
            </a:r>
          </a:p>
          <a:p>
            <a:r>
              <a:rPr lang="sv-SE" i="0"/>
              <a:t>Gå igenom. </a:t>
            </a:r>
            <a:endParaRPr lang="sv-SE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A8D14-4E5E-1D50-1097-CEBF96A43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0799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AAEC-3E6C-4451-F486-87E023A51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3331C-A0B6-0FB2-3F60-753189EC5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49D7-5229-A7AD-747E-E6E2A948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05F1-D570-FD0F-514D-706EC471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2FFF5-DA5D-BE5F-C578-D94F74E2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26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4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224668-B732-F6E4-82FD-48279E8CE7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690688"/>
            <a:ext cx="12192000" cy="51673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750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AE1C-835E-4237-40BE-548098F7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0726C-642C-40B9-29E4-8CB64383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861FB-8DCF-74EB-CB4F-6C8C5FD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EE97-CCFB-62D1-AD51-EC2640FF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E895-9CC8-B3E0-C23B-C34A3154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83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A9653-920E-A3FB-A09E-24B10BF25882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12F9C-95D6-9F26-CB8F-4684FA3B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225D4-B7C6-E53C-86CB-746972F8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E4528-78B3-D076-447C-021E6D75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6A9B-7759-36F2-D666-8667C8DE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CEAB-5EF1-8A74-8968-8F0DB2B2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40A9C-A1CD-86C2-36E4-17DFA2A9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813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C8CFAD-2C3B-E51D-4FD9-E852766792F8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A55E2-B180-DE62-C73A-B825DAA5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A99E-F1A7-2F45-FDF1-5E254A75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B4C4-573F-7FAB-48DA-DAF97814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018C2-E8F6-E5E6-79EA-3155C3450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F297-CD62-07D0-9158-3B908BD1C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7138E-77A6-33DA-62AD-A97A7ECC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97087-613E-94E4-030D-9C72E53C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AB01B-9183-BED8-5270-E118181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291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0351AC-8666-6A69-B402-81D189976CE4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C8B82-510D-675C-90C7-E85E633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BD4E8-F59F-752C-FE4A-3B1CDA10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4A05F-55BF-5716-B67E-826F7B5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E29FC-9E20-22D5-23DC-B42B2A2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469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A2B7A-FCD7-89EB-1A96-B7932F96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27F0C-76DF-9396-D50C-E80D75E8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1C10-AF5A-33B6-0088-2D81FA2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24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353D-A96C-86D7-3B51-4AEF89B0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26A3-8A7E-2232-C68D-B497DB40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EDFD2-8147-E4EA-30DB-B6EE92AF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C160-1681-9853-0D30-D48019EF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D775-8CC4-1D89-390B-CBE113AF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6AE1-23BA-5111-5A0E-06335408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32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0FD3-1A53-ADC5-6F25-17D89C1E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D64E3-FFB1-8C2C-B98F-A7A970F3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39862-B6A9-674B-99C4-8ABD188F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084A-CEA6-A23A-8D58-A22A15A2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3325F-BB03-5E1E-8BBA-77021E9F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E28DD-BD5D-D807-4F41-CEA2BBB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236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E742-C2AD-6643-CED1-AFDDE4FC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C0158-1729-4A7E-7B94-781E31237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27F6-811A-D0A0-06B1-41B03656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2C692-F6C8-CB76-B789-5004D960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7830-571D-5B23-D628-16DCF365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510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C0549-8A95-0497-7701-706A861F1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EBB1F-4FAC-A79D-8CEF-065067FC0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EFF8-EAC7-D303-AE5E-3FC052A5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0B46-B5A1-A5C4-7709-AF9C579E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CE26-1654-5732-2FCC-D9586B0F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779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3BB9D5-722B-FDAA-6867-63BCE26A0024}"/>
              </a:ext>
            </a:extLst>
          </p:cNvPr>
          <p:cNvSpPr txBox="1"/>
          <p:nvPr userDrawn="1"/>
        </p:nvSpPr>
        <p:spPr>
          <a:xfrm>
            <a:off x="4705350" y="-139700"/>
            <a:ext cx="2508250" cy="448945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lIns="0" tIns="0" rIns="0" bIns="0" rtlCol="0">
            <a:noAutofit/>
          </a:bodyPr>
          <a:lstStyle/>
          <a:p>
            <a:r>
              <a:rPr lang="sv-SE" sz="38000" b="1"/>
              <a:t>?</a:t>
            </a:r>
            <a:endParaRPr lang="LID4096" sz="38000" b="1"/>
          </a:p>
        </p:txBody>
      </p:sp>
    </p:spTree>
    <p:extLst>
      <p:ext uri="{BB962C8B-B14F-4D97-AF65-F5344CB8AC3E}">
        <p14:creationId xmlns:p14="http://schemas.microsoft.com/office/powerpoint/2010/main" val="797509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C8C8-25EF-88DC-16E7-E04ABB8A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0" y="0"/>
            <a:ext cx="7741920" cy="773430"/>
          </a:xfrm>
          <a:prstGeom prst="rect">
            <a:avLst/>
          </a:prstGeom>
        </p:spPr>
        <p:txBody>
          <a:bodyPr anchor="ctr"/>
          <a:lstStyle>
            <a:lvl1pPr algn="r"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048A-1475-BECA-0D5C-B57BA73C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96A6-8AEA-8E00-82FA-0D02CDA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CFA3-5459-CB23-2E6A-37FD4074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472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2C8A0-0DE0-C4FC-A8FB-D00A440D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F994-83D9-1216-3BA3-76E9A3D4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BF0C-3972-8E81-14A3-E51F0008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EB631-5B1A-4879-85E7-A8D4C94FBFC5}" type="datetimeFigureOut">
              <a:rPr lang="LID4096" smtClean="0"/>
              <a:t>02/06/2026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C7A3-C949-61E8-A947-BF7E59CD9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1E2F-B9DE-A2C3-9386-5BE1861F0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42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52DF-D5C9-52BE-066B-17C7A4BFA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Lektion 6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0E2CB-296B-2D3A-2C5D-AF9D01690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Pekare och </a:t>
            </a:r>
            <a:r>
              <a:rPr lang="en-GB"/>
              <a:t>synkronisering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436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56708-2EA5-0A89-65CE-DEBB4DEDC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Var är våra variabler?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7AAFD-3169-BF36-59D2-93FBD2E66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3653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5148-036D-1927-38C4-9F162AB0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Hur skriver vi till ett peripheral register i C? </a:t>
            </a:r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84AA7-FEE3-BFD8-3BC0-B9477B74E939}"/>
              </a:ext>
            </a:extLst>
          </p:cNvPr>
          <p:cNvSpPr txBox="1"/>
          <p:nvPr/>
        </p:nvSpPr>
        <p:spPr>
          <a:xfrm>
            <a:off x="5688104" y="2559857"/>
            <a:ext cx="6102438" cy="295465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.equ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GPIO_D_CFGLR,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0x40011400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.equ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GPIO_D_OUTDR,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0x4001140C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Configure GPIO D, pin 2 as output, 2Mhz, push-pull 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GPIO_D_CFGLR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li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0x00000200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Set lower 8 pins as output push-pull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sw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Skriv 1 till pin 2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GPIO_D_OUTDR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lh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Läs nuvarande värde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ori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0b100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Sätt bit 2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sh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Skriv tillbaka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CD7E1-C02F-B749-8AA4-B22FE7826120}"/>
              </a:ext>
            </a:extLst>
          </p:cNvPr>
          <p:cNvSpPr txBox="1"/>
          <p:nvPr/>
        </p:nvSpPr>
        <p:spPr>
          <a:xfrm>
            <a:off x="444256" y="2948369"/>
            <a:ext cx="4977750" cy="188769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&lt;stdint.h&gt;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Öhm...? 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960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394A-FB1A-F463-93DA-990B6C400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Pekare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3CAA80-17D4-95C1-B041-6C888186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3E2A1-95B2-774D-D3A4-71748DEE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ECDDF-7581-322D-65B5-B36FAF50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4</a:t>
            </a:fld>
            <a:endParaRPr lang="LID4096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880F4BA6-CC38-0E8F-348F-CF0CA5BC75AE}"/>
              </a:ext>
            </a:extLst>
          </p:cNvPr>
          <p:cNvSpPr txBox="1">
            <a:spLocks/>
          </p:cNvSpPr>
          <p:nvPr/>
        </p:nvSpPr>
        <p:spPr>
          <a:xfrm>
            <a:off x="838200" y="1382242"/>
            <a:ext cx="5792859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v-SE" sz="4000"/>
          </a:p>
          <a:p>
            <a:pPr marL="0" indent="0">
              <a:buNone/>
            </a:pPr>
            <a:endParaRPr lang="sv-SE" sz="4000"/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int b = 0xAABBCCDD; </a:t>
            </a:r>
          </a:p>
          <a:p>
            <a:pPr marL="0" indent="0">
              <a:buNone/>
            </a:pPr>
            <a:endParaRPr lang="sv-SE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v-SE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void main() </a:t>
            </a:r>
          </a:p>
          <a:p>
            <a:pPr marL="0" indent="0">
              <a:buNone/>
            </a:pPr>
            <a:r>
              <a:rPr lang="en-GB" sz="18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800">
                <a:latin typeface="Consolas" panose="020B0609020204030204" pitchFamily="49" charset="0"/>
              </a:rPr>
              <a:t>   ...</a:t>
            </a:r>
          </a:p>
          <a:p>
            <a:pPr marL="0" indent="0">
              <a:buNone/>
            </a:pPr>
            <a:r>
              <a:rPr lang="en-GB" sz="180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sv-SE" sz="1600"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6B3BCD-AC9F-78C8-62D4-A411A0B739E3}"/>
              </a:ext>
            </a:extLst>
          </p:cNvPr>
          <p:cNvSpPr/>
          <p:nvPr/>
        </p:nvSpPr>
        <p:spPr>
          <a:xfrm>
            <a:off x="8017605" y="4397380"/>
            <a:ext cx="1669576" cy="15649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Program Code</a:t>
            </a:r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77E41-FCC3-E578-20DF-D53828E16AC3}"/>
              </a:ext>
            </a:extLst>
          </p:cNvPr>
          <p:cNvSpPr txBox="1"/>
          <p:nvPr/>
        </p:nvSpPr>
        <p:spPr>
          <a:xfrm>
            <a:off x="7161057" y="5831519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0x20000000</a:t>
            </a:r>
            <a:endParaRPr lang="LID4096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226401-C00E-8B8B-C72F-D815332151F1}"/>
              </a:ext>
            </a:extLst>
          </p:cNvPr>
          <p:cNvSpPr/>
          <p:nvPr/>
        </p:nvSpPr>
        <p:spPr>
          <a:xfrm>
            <a:off x="8017605" y="2879010"/>
            <a:ext cx="1669576" cy="1518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66D607-0E0E-62EF-1934-C6D1A4C73107}"/>
              </a:ext>
            </a:extLst>
          </p:cNvPr>
          <p:cNvSpPr/>
          <p:nvPr/>
        </p:nvSpPr>
        <p:spPr>
          <a:xfrm>
            <a:off x="8017605" y="2295624"/>
            <a:ext cx="1669576" cy="58338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FD70D-5005-08D0-B1CF-65DCD60DC40E}"/>
              </a:ext>
            </a:extLst>
          </p:cNvPr>
          <p:cNvSpPr/>
          <p:nvPr/>
        </p:nvSpPr>
        <p:spPr>
          <a:xfrm>
            <a:off x="8017605" y="1782660"/>
            <a:ext cx="1669576" cy="5129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Stack</a:t>
            </a:r>
            <a:endParaRPr lang="LID4096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FDDA135-C277-E18B-8CCC-94D730696024}"/>
              </a:ext>
            </a:extLst>
          </p:cNvPr>
          <p:cNvSpPr/>
          <p:nvPr/>
        </p:nvSpPr>
        <p:spPr>
          <a:xfrm>
            <a:off x="9753600" y="3346501"/>
            <a:ext cx="95534" cy="1050877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2D15C0-C2BA-27AC-630F-E3474E0F4C87}"/>
              </a:ext>
            </a:extLst>
          </p:cNvPr>
          <p:cNvSpPr txBox="1"/>
          <p:nvPr/>
        </p:nvSpPr>
        <p:spPr>
          <a:xfrm>
            <a:off x="9849134" y="3699834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/>
              <a:t>Initialized data area</a:t>
            </a:r>
            <a:endParaRPr lang="LID4096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F8E2E-0F2A-33B5-C5BA-B288F3C2B0BC}"/>
              </a:ext>
            </a:extLst>
          </p:cNvPr>
          <p:cNvSpPr txBox="1"/>
          <p:nvPr/>
        </p:nvSpPr>
        <p:spPr>
          <a:xfrm>
            <a:off x="7184200" y="4332781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0x200000FF</a:t>
            </a:r>
            <a:endParaRPr lang="LID4096" sz="110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4CEDFC-22DA-B240-88E4-1C75AA41BFAB}"/>
              </a:ext>
            </a:extLst>
          </p:cNvPr>
          <p:cNvCxnSpPr/>
          <p:nvPr/>
        </p:nvCxnSpPr>
        <p:spPr>
          <a:xfrm>
            <a:off x="8017604" y="1535901"/>
            <a:ext cx="1669577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EC34AA-F29C-BB30-B339-F82D0C6B4282}"/>
              </a:ext>
            </a:extLst>
          </p:cNvPr>
          <p:cNvSpPr txBox="1"/>
          <p:nvPr/>
        </p:nvSpPr>
        <p:spPr>
          <a:xfrm>
            <a:off x="8488382" y="1049215"/>
            <a:ext cx="728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200"/>
              <a:t>32 bits</a:t>
            </a:r>
          </a:p>
          <a:p>
            <a:pPr algn="ctr"/>
            <a:r>
              <a:rPr lang="sv-SE" sz="1200"/>
              <a:t>(4 bytes)</a:t>
            </a:r>
            <a:endParaRPr lang="LID4096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E51169-E97E-106F-A3BE-D5AEE62B4B28}"/>
              </a:ext>
            </a:extLst>
          </p:cNvPr>
          <p:cNvSpPr txBox="1"/>
          <p:nvPr/>
        </p:nvSpPr>
        <p:spPr>
          <a:xfrm>
            <a:off x="6811450" y="4135768"/>
            <a:ext cx="12515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b: </a:t>
            </a:r>
            <a:r>
              <a:rPr lang="sv-SE" sz="1100"/>
              <a:t>0x20000100</a:t>
            </a:r>
            <a:endParaRPr lang="LID4096" sz="11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A96C9A-A1C2-ABFE-680A-5CEE51FD3F22}"/>
              </a:ext>
            </a:extLst>
          </p:cNvPr>
          <p:cNvSpPr/>
          <p:nvPr/>
        </p:nvSpPr>
        <p:spPr>
          <a:xfrm>
            <a:off x="8014480" y="4127166"/>
            <a:ext cx="1669576" cy="26161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8B7EDD-15FC-5944-0E54-453292B15433}"/>
              </a:ext>
            </a:extLst>
          </p:cNvPr>
          <p:cNvSpPr txBox="1"/>
          <p:nvPr/>
        </p:nvSpPr>
        <p:spPr>
          <a:xfrm>
            <a:off x="8403182" y="4135768"/>
            <a:ext cx="954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>
                <a:latin typeface="Consolas" panose="020B0609020204030204" pitchFamily="49" charset="0"/>
              </a:rPr>
              <a:t>0xAABBCCDD</a:t>
            </a:r>
            <a:endParaRPr lang="LID4096" sz="105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10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AA5D0-CCC3-2FC3-D53C-15A35B16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0A835AAA-69CA-CB0E-E64B-25DF5FB3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Pekare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5B68D-4DAF-8A60-940D-79A9718BF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E7199-035D-DE59-C935-45F959FBF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D6D1C-D49C-2E5F-281F-CC57F8C6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5</a:t>
            </a:fld>
            <a:endParaRPr lang="LID4096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00A7F79-06D5-F7D1-B3D5-16B49F9DDC3F}"/>
              </a:ext>
            </a:extLst>
          </p:cNvPr>
          <p:cNvSpPr txBox="1">
            <a:spLocks/>
          </p:cNvSpPr>
          <p:nvPr/>
        </p:nvSpPr>
        <p:spPr>
          <a:xfrm>
            <a:off x="838200" y="1382242"/>
            <a:ext cx="5792859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v-SE" sz="4000"/>
          </a:p>
          <a:p>
            <a:pPr marL="0" indent="0">
              <a:buNone/>
            </a:pPr>
            <a:endParaRPr lang="sv-SE" sz="4000"/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int b = 0xAABBCCDD; 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int </a:t>
            </a:r>
            <a:r>
              <a:rPr lang="sv-SE" sz="1800">
                <a:solidFill>
                  <a:srgbClr val="92D050"/>
                </a:solidFill>
                <a:latin typeface="Consolas" panose="020B0609020204030204" pitchFamily="49" charset="0"/>
              </a:rPr>
              <a:t>*</a:t>
            </a:r>
            <a:r>
              <a:rPr lang="sv-SE" sz="1800">
                <a:latin typeface="Consolas" panose="020B0609020204030204" pitchFamily="49" charset="0"/>
              </a:rPr>
              <a:t>ptr_to_b = </a:t>
            </a:r>
            <a:r>
              <a:rPr lang="sv-SE" sz="1800">
                <a:solidFill>
                  <a:srgbClr val="00B0F0"/>
                </a:solidFill>
                <a:latin typeface="Consolas" panose="020B0609020204030204" pitchFamily="49" charset="0"/>
              </a:rPr>
              <a:t>&amp;</a:t>
            </a:r>
            <a:r>
              <a:rPr lang="sv-SE" sz="1800">
                <a:latin typeface="Consolas" panose="020B0609020204030204" pitchFamily="49" charset="0"/>
              </a:rPr>
              <a:t>b;</a:t>
            </a:r>
          </a:p>
          <a:p>
            <a:pPr marL="0" indent="0">
              <a:buNone/>
            </a:pPr>
            <a:endParaRPr lang="sv-SE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void main() </a:t>
            </a:r>
          </a:p>
          <a:p>
            <a:pPr marL="0" indent="0">
              <a:buNone/>
            </a:pPr>
            <a:r>
              <a:rPr lang="en-GB" sz="18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800">
                <a:latin typeface="Consolas" panose="020B0609020204030204" pitchFamily="49" charset="0"/>
              </a:rPr>
              <a:t>   ...</a:t>
            </a:r>
          </a:p>
          <a:p>
            <a:pPr marL="0" indent="0">
              <a:buNone/>
            </a:pPr>
            <a:r>
              <a:rPr lang="en-GB" sz="180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sv-SE" sz="1600"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561102-C68D-E62A-61F1-559464414107}"/>
              </a:ext>
            </a:extLst>
          </p:cNvPr>
          <p:cNvSpPr/>
          <p:nvPr/>
        </p:nvSpPr>
        <p:spPr>
          <a:xfrm>
            <a:off x="8017605" y="4397380"/>
            <a:ext cx="1669576" cy="15649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Program Code</a:t>
            </a:r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7784E8-F662-B017-1FB0-13AC04F568EF}"/>
              </a:ext>
            </a:extLst>
          </p:cNvPr>
          <p:cNvSpPr txBox="1"/>
          <p:nvPr/>
        </p:nvSpPr>
        <p:spPr>
          <a:xfrm>
            <a:off x="7161057" y="5831519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0x20000000</a:t>
            </a:r>
            <a:endParaRPr lang="LID4096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35CEE3-D4A5-3291-D7CF-692E35ECBF3C}"/>
              </a:ext>
            </a:extLst>
          </p:cNvPr>
          <p:cNvSpPr/>
          <p:nvPr/>
        </p:nvSpPr>
        <p:spPr>
          <a:xfrm>
            <a:off x="8017605" y="2879010"/>
            <a:ext cx="1669576" cy="1518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BD7CC5-E1ED-3593-409C-0CBD15C40BC1}"/>
              </a:ext>
            </a:extLst>
          </p:cNvPr>
          <p:cNvSpPr/>
          <p:nvPr/>
        </p:nvSpPr>
        <p:spPr>
          <a:xfrm>
            <a:off x="8017605" y="2295624"/>
            <a:ext cx="1669576" cy="58338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C4B4C3-361C-A1A6-76CC-4839C60A2E95}"/>
              </a:ext>
            </a:extLst>
          </p:cNvPr>
          <p:cNvSpPr/>
          <p:nvPr/>
        </p:nvSpPr>
        <p:spPr>
          <a:xfrm>
            <a:off x="8017605" y="1782660"/>
            <a:ext cx="1669576" cy="5129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Stack</a:t>
            </a:r>
            <a:endParaRPr lang="LID4096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63ED436B-A22C-C3C1-2233-82AB98017F96}"/>
              </a:ext>
            </a:extLst>
          </p:cNvPr>
          <p:cNvSpPr/>
          <p:nvPr/>
        </p:nvSpPr>
        <p:spPr>
          <a:xfrm>
            <a:off x="9753600" y="3346501"/>
            <a:ext cx="95534" cy="1050877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4D3D37-AED7-8820-87C5-DAE365310621}"/>
              </a:ext>
            </a:extLst>
          </p:cNvPr>
          <p:cNvSpPr txBox="1"/>
          <p:nvPr/>
        </p:nvSpPr>
        <p:spPr>
          <a:xfrm>
            <a:off x="9849134" y="3699834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/>
              <a:t>Initialized data area</a:t>
            </a:r>
            <a:endParaRPr lang="LID4096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312701-1E5F-3DA9-A6DD-00265DA08663}"/>
              </a:ext>
            </a:extLst>
          </p:cNvPr>
          <p:cNvSpPr txBox="1"/>
          <p:nvPr/>
        </p:nvSpPr>
        <p:spPr>
          <a:xfrm>
            <a:off x="7184200" y="4332781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0x200000FF</a:t>
            </a:r>
            <a:endParaRPr lang="LID4096" sz="110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768B9B-1C97-FE09-0D7B-C2BFA79F9438}"/>
              </a:ext>
            </a:extLst>
          </p:cNvPr>
          <p:cNvCxnSpPr/>
          <p:nvPr/>
        </p:nvCxnSpPr>
        <p:spPr>
          <a:xfrm>
            <a:off x="8017604" y="1535901"/>
            <a:ext cx="1669577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F490AEB-4200-0DA4-16C8-D89782E352BB}"/>
              </a:ext>
            </a:extLst>
          </p:cNvPr>
          <p:cNvSpPr txBox="1"/>
          <p:nvPr/>
        </p:nvSpPr>
        <p:spPr>
          <a:xfrm>
            <a:off x="8488382" y="1049215"/>
            <a:ext cx="728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200"/>
              <a:t>32 bits</a:t>
            </a:r>
          </a:p>
          <a:p>
            <a:pPr algn="ctr"/>
            <a:r>
              <a:rPr lang="sv-SE" sz="1200"/>
              <a:t>(4 bytes)</a:t>
            </a:r>
            <a:endParaRPr lang="LID4096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8BF540-C6AB-D95F-E9AF-A0565BEEFBB5}"/>
              </a:ext>
            </a:extLst>
          </p:cNvPr>
          <p:cNvSpPr txBox="1"/>
          <p:nvPr/>
        </p:nvSpPr>
        <p:spPr>
          <a:xfrm>
            <a:off x="6816568" y="4147254"/>
            <a:ext cx="12334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b: </a:t>
            </a:r>
            <a:r>
              <a:rPr lang="sv-SE" sz="1100"/>
              <a:t>0x20000100</a:t>
            </a:r>
            <a:endParaRPr lang="LID4096" sz="11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33311D-A8F0-1719-8F7D-B03CB4C99D31}"/>
              </a:ext>
            </a:extLst>
          </p:cNvPr>
          <p:cNvGrpSpPr/>
          <p:nvPr/>
        </p:nvGrpSpPr>
        <p:grpSpPr>
          <a:xfrm>
            <a:off x="8014480" y="4127166"/>
            <a:ext cx="1669576" cy="270212"/>
            <a:chOff x="8014480" y="4127166"/>
            <a:chExt cx="1669576" cy="27021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03CF116-5FED-4D67-AD03-D513FE722A63}"/>
                </a:ext>
              </a:extLst>
            </p:cNvPr>
            <p:cNvSpPr/>
            <p:nvPr/>
          </p:nvSpPr>
          <p:spPr>
            <a:xfrm>
              <a:off x="8014480" y="4127166"/>
              <a:ext cx="1669576" cy="261610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DB12134-A571-F0C6-A1E1-AE878F323FBA}"/>
                </a:ext>
              </a:extLst>
            </p:cNvPr>
            <p:cNvSpPr txBox="1"/>
            <p:nvPr/>
          </p:nvSpPr>
          <p:spPr>
            <a:xfrm>
              <a:off x="8403182" y="4135768"/>
              <a:ext cx="9541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50">
                  <a:latin typeface="Consolas" panose="020B0609020204030204" pitchFamily="49" charset="0"/>
                </a:rPr>
                <a:t>0xAABBCCDD</a:t>
              </a:r>
              <a:endParaRPr lang="LID4096" sz="1050">
                <a:latin typeface="Consolas" panose="020B0609020204030204" pitchFamily="49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101AD0E-1E7C-29F8-F92A-4B48B3DE3689}"/>
              </a:ext>
            </a:extLst>
          </p:cNvPr>
          <p:cNvSpPr txBox="1"/>
          <p:nvPr/>
        </p:nvSpPr>
        <p:spPr>
          <a:xfrm>
            <a:off x="6487236" y="3876958"/>
            <a:ext cx="1559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ptr_to_b: </a:t>
            </a:r>
            <a:r>
              <a:rPr lang="sv-SE" sz="1100"/>
              <a:t>0x20000104</a:t>
            </a:r>
            <a:endParaRPr lang="LID4096" sz="11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08B21F-A9CD-7A9A-0DA7-2CD37DE7D8D1}"/>
              </a:ext>
            </a:extLst>
          </p:cNvPr>
          <p:cNvGrpSpPr/>
          <p:nvPr/>
        </p:nvGrpSpPr>
        <p:grpSpPr>
          <a:xfrm>
            <a:off x="8016765" y="3865556"/>
            <a:ext cx="1669576" cy="262518"/>
            <a:chOff x="8014480" y="4127166"/>
            <a:chExt cx="1669576" cy="2625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06B3B8-5971-73C9-E4AE-3E345AE44221}"/>
                </a:ext>
              </a:extLst>
            </p:cNvPr>
            <p:cNvSpPr/>
            <p:nvPr/>
          </p:nvSpPr>
          <p:spPr>
            <a:xfrm>
              <a:off x="8014480" y="4127166"/>
              <a:ext cx="1669576" cy="261610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3204632-7A44-51FF-D4CB-EEB694495213}"/>
                </a:ext>
              </a:extLst>
            </p:cNvPr>
            <p:cNvSpPr txBox="1"/>
            <p:nvPr/>
          </p:nvSpPr>
          <p:spPr>
            <a:xfrm>
              <a:off x="8403182" y="4135768"/>
              <a:ext cx="92204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50">
                  <a:latin typeface="Consolas" panose="020B0609020204030204" pitchFamily="49" charset="0"/>
                </a:rPr>
                <a:t>0x20000100</a:t>
              </a:r>
              <a:endParaRPr lang="LID4096" sz="1050">
                <a:latin typeface="Consolas" panose="020B0609020204030204" pitchFamily="49" charset="0"/>
              </a:endParaRP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8EF3E55A-C077-2988-A7CA-55AFEB6CDEDC}"/>
              </a:ext>
            </a:extLst>
          </p:cNvPr>
          <p:cNvSpPr/>
          <p:nvPr/>
        </p:nvSpPr>
        <p:spPr>
          <a:xfrm>
            <a:off x="3989696" y="3116239"/>
            <a:ext cx="459474" cy="312761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B79162D-794B-9CC8-0F72-933FF480CE35}"/>
              </a:ext>
            </a:extLst>
          </p:cNvPr>
          <p:cNvSpPr/>
          <p:nvPr/>
        </p:nvSpPr>
        <p:spPr>
          <a:xfrm>
            <a:off x="8426650" y="3898825"/>
            <a:ext cx="900864" cy="20825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DB8F238-5F85-B138-0E73-90A65BA14B0F}"/>
              </a:ext>
            </a:extLst>
          </p:cNvPr>
          <p:cNvSpPr/>
          <p:nvPr/>
        </p:nvSpPr>
        <p:spPr>
          <a:xfrm>
            <a:off x="4444621" y="3207651"/>
            <a:ext cx="4367283" cy="686510"/>
          </a:xfrm>
          <a:custGeom>
            <a:avLst/>
            <a:gdLst>
              <a:gd name="connsiteX0" fmla="*/ 4367283 w 4367283"/>
              <a:gd name="connsiteY0" fmla="*/ 686510 h 686510"/>
              <a:gd name="connsiteX1" fmla="*/ 3007057 w 4367283"/>
              <a:gd name="connsiteY1" fmla="*/ 72361 h 686510"/>
              <a:gd name="connsiteX2" fmla="*/ 0 w 4367283"/>
              <a:gd name="connsiteY2" fmla="*/ 35967 h 68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7283" h="686510">
                <a:moveTo>
                  <a:pt x="4367283" y="686510"/>
                </a:moveTo>
                <a:cubicBezTo>
                  <a:pt x="4051110" y="433647"/>
                  <a:pt x="3734938" y="180785"/>
                  <a:pt x="3007057" y="72361"/>
                </a:cubicBezTo>
                <a:cubicBezTo>
                  <a:pt x="2279176" y="-36063"/>
                  <a:pt x="1139588" y="-48"/>
                  <a:pt x="0" y="35967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200EA42-BDF8-7B1A-D2DD-EDB9C1970137}"/>
              </a:ext>
            </a:extLst>
          </p:cNvPr>
          <p:cNvSpPr/>
          <p:nvPr/>
        </p:nvSpPr>
        <p:spPr>
          <a:xfrm>
            <a:off x="838200" y="3116239"/>
            <a:ext cx="1845265" cy="284042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B93F9F-DB4C-915C-8349-0FAEF3B8281B}"/>
              </a:ext>
            </a:extLst>
          </p:cNvPr>
          <p:cNvSpPr txBox="1"/>
          <p:nvPr/>
        </p:nvSpPr>
        <p:spPr>
          <a:xfrm>
            <a:off x="652691" y="3402787"/>
            <a:ext cx="2145139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sv-SE" sz="1100" b="1"/>
              <a:t>Typen</a:t>
            </a:r>
            <a:r>
              <a:rPr lang="sv-SE" sz="1100"/>
              <a:t> är ”pekare till unsigned int”</a:t>
            </a:r>
            <a:endParaRPr lang="LID4096" sz="11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71B371-6BBA-9813-9E0A-117770FDE482}"/>
              </a:ext>
            </a:extLst>
          </p:cNvPr>
          <p:cNvSpPr txBox="1"/>
          <p:nvPr/>
        </p:nvSpPr>
        <p:spPr>
          <a:xfrm>
            <a:off x="4486663" y="2561781"/>
            <a:ext cx="1917513" cy="43088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sv-SE" sz="1100" b="1"/>
              <a:t>Operatorn ”&amp;”</a:t>
            </a:r>
            <a:r>
              <a:rPr lang="sv-SE" sz="1100"/>
              <a:t> betyder (här)</a:t>
            </a:r>
            <a:br>
              <a:rPr lang="sv-SE" sz="1100"/>
            </a:br>
            <a:r>
              <a:rPr lang="sv-SE" sz="1100"/>
              <a:t>”tag pekaren till” b.</a:t>
            </a:r>
            <a:endParaRPr lang="LID4096" sz="1100" b="1"/>
          </a:p>
        </p:txBody>
      </p:sp>
    </p:spTree>
    <p:extLst>
      <p:ext uri="{BB962C8B-B14F-4D97-AF65-F5344CB8AC3E}">
        <p14:creationId xmlns:p14="http://schemas.microsoft.com/office/powerpoint/2010/main" val="173063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E1F5-2E03-B9C7-FEF5-7FE67AFF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D63181B6-1F9C-BB6F-E063-DCB06CF5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Pekare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514AEA-F30B-6801-5430-1DD85178B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40F5D-C76A-9CA5-3E19-351FC76D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FEDD5-810D-7739-FBAE-C48A2CC57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6</a:t>
            </a:fld>
            <a:endParaRPr lang="LID4096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5E1FE1C-B85D-A66D-A4FB-5770990CE8B2}"/>
              </a:ext>
            </a:extLst>
          </p:cNvPr>
          <p:cNvSpPr txBox="1">
            <a:spLocks/>
          </p:cNvSpPr>
          <p:nvPr/>
        </p:nvSpPr>
        <p:spPr>
          <a:xfrm>
            <a:off x="838200" y="1382242"/>
            <a:ext cx="5792859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v-SE" sz="4000"/>
          </a:p>
          <a:p>
            <a:pPr marL="0" indent="0">
              <a:buNone/>
            </a:pPr>
            <a:endParaRPr lang="sv-SE" sz="4000"/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int b = 0xAABBCCDD; 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int *ptr_to_b = &amp;b;</a:t>
            </a:r>
          </a:p>
          <a:p>
            <a:pPr marL="0" indent="0">
              <a:buNone/>
            </a:pPr>
            <a:endParaRPr lang="sv-SE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void main() </a:t>
            </a:r>
          </a:p>
          <a:p>
            <a:pPr marL="0" indent="0">
              <a:buNone/>
            </a:pPr>
            <a:r>
              <a:rPr lang="en-GB" sz="18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800">
                <a:latin typeface="Consolas" panose="020B0609020204030204" pitchFamily="49" charset="0"/>
              </a:rPr>
              <a:t>   unsigned int a = </a:t>
            </a:r>
            <a:r>
              <a:rPr lang="en-GB" sz="180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n-GB" sz="1800">
                <a:latin typeface="Consolas" panose="020B0609020204030204" pitchFamily="49" charset="0"/>
              </a:rPr>
              <a:t>ptr_to_b; </a:t>
            </a:r>
          </a:p>
          <a:p>
            <a:pPr marL="0" indent="0">
              <a:buNone/>
            </a:pPr>
            <a:r>
              <a:rPr lang="en-GB" sz="180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sv-SE" sz="1600"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B803B1-8E27-8C19-E604-CB7ED8527DEC}"/>
              </a:ext>
            </a:extLst>
          </p:cNvPr>
          <p:cNvSpPr/>
          <p:nvPr/>
        </p:nvSpPr>
        <p:spPr>
          <a:xfrm>
            <a:off x="8017605" y="4397380"/>
            <a:ext cx="1669576" cy="15649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Program Code</a:t>
            </a:r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7C0AA1-7042-F14C-C5EF-E874F0FDDD6B}"/>
              </a:ext>
            </a:extLst>
          </p:cNvPr>
          <p:cNvSpPr txBox="1"/>
          <p:nvPr/>
        </p:nvSpPr>
        <p:spPr>
          <a:xfrm>
            <a:off x="7161057" y="5831519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0x20000000</a:t>
            </a:r>
            <a:endParaRPr lang="LID4096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799A3E-B984-07A1-8F93-F81CCB0FC7DA}"/>
              </a:ext>
            </a:extLst>
          </p:cNvPr>
          <p:cNvSpPr/>
          <p:nvPr/>
        </p:nvSpPr>
        <p:spPr>
          <a:xfrm>
            <a:off x="8017605" y="2879010"/>
            <a:ext cx="1669576" cy="1518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3B0DCA-92FB-6CB0-B411-7E5EE86CC3DC}"/>
              </a:ext>
            </a:extLst>
          </p:cNvPr>
          <p:cNvSpPr/>
          <p:nvPr/>
        </p:nvSpPr>
        <p:spPr>
          <a:xfrm>
            <a:off x="8017605" y="2295624"/>
            <a:ext cx="1669576" cy="58338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7CBE4A-3D24-E0A2-9472-6FA6E8138EE7}"/>
              </a:ext>
            </a:extLst>
          </p:cNvPr>
          <p:cNvSpPr/>
          <p:nvPr/>
        </p:nvSpPr>
        <p:spPr>
          <a:xfrm>
            <a:off x="8017605" y="1782660"/>
            <a:ext cx="1669576" cy="5129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Stack</a:t>
            </a:r>
            <a:endParaRPr lang="LID4096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CC4D50BB-B141-45CD-6AD1-BE78CE634EA6}"/>
              </a:ext>
            </a:extLst>
          </p:cNvPr>
          <p:cNvSpPr/>
          <p:nvPr/>
        </p:nvSpPr>
        <p:spPr>
          <a:xfrm>
            <a:off x="9753600" y="3346501"/>
            <a:ext cx="95534" cy="1050877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A6578F-2D90-58C2-4638-2FE2F10137BD}"/>
              </a:ext>
            </a:extLst>
          </p:cNvPr>
          <p:cNvSpPr txBox="1"/>
          <p:nvPr/>
        </p:nvSpPr>
        <p:spPr>
          <a:xfrm>
            <a:off x="9849134" y="3699834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/>
              <a:t>Initialized data area</a:t>
            </a:r>
            <a:endParaRPr lang="LID4096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7D8669-34F1-15E2-2628-9FE3A2191357}"/>
              </a:ext>
            </a:extLst>
          </p:cNvPr>
          <p:cNvSpPr txBox="1"/>
          <p:nvPr/>
        </p:nvSpPr>
        <p:spPr>
          <a:xfrm>
            <a:off x="7184200" y="4332781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0x200000FF</a:t>
            </a:r>
            <a:endParaRPr lang="LID4096" sz="110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06851E7-7864-87AA-E40B-023DB6273D02}"/>
              </a:ext>
            </a:extLst>
          </p:cNvPr>
          <p:cNvCxnSpPr/>
          <p:nvPr/>
        </p:nvCxnSpPr>
        <p:spPr>
          <a:xfrm>
            <a:off x="8017604" y="1535901"/>
            <a:ext cx="1669577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5847D45-1070-979B-59E4-6924F73E09B3}"/>
              </a:ext>
            </a:extLst>
          </p:cNvPr>
          <p:cNvSpPr txBox="1"/>
          <p:nvPr/>
        </p:nvSpPr>
        <p:spPr>
          <a:xfrm>
            <a:off x="8488382" y="1049215"/>
            <a:ext cx="728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200"/>
              <a:t>32 bits</a:t>
            </a:r>
          </a:p>
          <a:p>
            <a:pPr algn="ctr"/>
            <a:r>
              <a:rPr lang="sv-SE" sz="1200"/>
              <a:t>(4 bytes)</a:t>
            </a:r>
            <a:endParaRPr lang="LID4096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1D3389-01FE-3AAC-8B76-4EC250112546}"/>
              </a:ext>
            </a:extLst>
          </p:cNvPr>
          <p:cNvSpPr txBox="1"/>
          <p:nvPr/>
        </p:nvSpPr>
        <p:spPr>
          <a:xfrm>
            <a:off x="6926582" y="4147254"/>
            <a:ext cx="11234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b: </a:t>
            </a:r>
            <a:r>
              <a:rPr lang="sv-SE" sz="1100"/>
              <a:t>0x20000100</a:t>
            </a:r>
            <a:endParaRPr lang="LID4096" sz="11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29BD657-2B54-0AE9-37F2-4BEFDFBE5D54}"/>
              </a:ext>
            </a:extLst>
          </p:cNvPr>
          <p:cNvGrpSpPr/>
          <p:nvPr/>
        </p:nvGrpSpPr>
        <p:grpSpPr>
          <a:xfrm>
            <a:off x="8014480" y="4127166"/>
            <a:ext cx="1669576" cy="270212"/>
            <a:chOff x="8014480" y="4127166"/>
            <a:chExt cx="1669576" cy="27021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F94EACD-7FC6-14D0-E74F-C65B299D0118}"/>
                </a:ext>
              </a:extLst>
            </p:cNvPr>
            <p:cNvSpPr/>
            <p:nvPr/>
          </p:nvSpPr>
          <p:spPr>
            <a:xfrm>
              <a:off x="8014480" y="4127166"/>
              <a:ext cx="1669576" cy="261610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112FF93-5FB1-F193-5405-2E675F205B97}"/>
                </a:ext>
              </a:extLst>
            </p:cNvPr>
            <p:cNvSpPr txBox="1"/>
            <p:nvPr/>
          </p:nvSpPr>
          <p:spPr>
            <a:xfrm>
              <a:off x="8403182" y="4135768"/>
              <a:ext cx="9541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50">
                  <a:latin typeface="Consolas" panose="020B0609020204030204" pitchFamily="49" charset="0"/>
                </a:rPr>
                <a:t>0xAABBCCDD</a:t>
              </a:r>
              <a:endParaRPr lang="LID4096" sz="1050">
                <a:latin typeface="Consolas" panose="020B0609020204030204" pitchFamily="49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E98D304-9C7F-9175-31C0-BBEF137BDA4D}"/>
              </a:ext>
            </a:extLst>
          </p:cNvPr>
          <p:cNvSpPr txBox="1"/>
          <p:nvPr/>
        </p:nvSpPr>
        <p:spPr>
          <a:xfrm>
            <a:off x="6487236" y="3876958"/>
            <a:ext cx="1559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ptr_to_b: </a:t>
            </a:r>
            <a:r>
              <a:rPr lang="sv-SE" sz="1100"/>
              <a:t>0x20000104</a:t>
            </a:r>
            <a:endParaRPr lang="LID4096" sz="11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3AC4007-3C44-774F-CC88-C2CD948058BF}"/>
              </a:ext>
            </a:extLst>
          </p:cNvPr>
          <p:cNvGrpSpPr/>
          <p:nvPr/>
        </p:nvGrpSpPr>
        <p:grpSpPr>
          <a:xfrm>
            <a:off x="8016765" y="3865556"/>
            <a:ext cx="1669576" cy="262518"/>
            <a:chOff x="8014480" y="4127166"/>
            <a:chExt cx="1669576" cy="2625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6CAB09-E857-F2FF-FE75-BBFF3C572B5F}"/>
                </a:ext>
              </a:extLst>
            </p:cNvPr>
            <p:cNvSpPr/>
            <p:nvPr/>
          </p:nvSpPr>
          <p:spPr>
            <a:xfrm>
              <a:off x="8014480" y="4127166"/>
              <a:ext cx="1669576" cy="261610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8776AE9-A3F3-2F65-E98F-FECA3BE31E7E}"/>
                </a:ext>
              </a:extLst>
            </p:cNvPr>
            <p:cNvSpPr txBox="1"/>
            <p:nvPr/>
          </p:nvSpPr>
          <p:spPr>
            <a:xfrm>
              <a:off x="8403182" y="4135768"/>
              <a:ext cx="92204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50">
                  <a:latin typeface="Consolas" panose="020B0609020204030204" pitchFamily="49" charset="0"/>
                </a:rPr>
                <a:t>0x20000100</a:t>
              </a:r>
              <a:endParaRPr lang="LID4096" sz="1050">
                <a:latin typeface="Consolas" panose="020B0609020204030204" pitchFamily="49" charset="0"/>
              </a:endParaRP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E3A4C081-FF4F-D219-8799-9B61FAB04D49}"/>
              </a:ext>
            </a:extLst>
          </p:cNvPr>
          <p:cNvSpPr/>
          <p:nvPr/>
        </p:nvSpPr>
        <p:spPr>
          <a:xfrm>
            <a:off x="3989696" y="3116239"/>
            <a:ext cx="459474" cy="312761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B50D9C4-EA26-388A-20A1-34A2E25A13C9}"/>
              </a:ext>
            </a:extLst>
          </p:cNvPr>
          <p:cNvSpPr/>
          <p:nvPr/>
        </p:nvSpPr>
        <p:spPr>
          <a:xfrm>
            <a:off x="8426650" y="3898825"/>
            <a:ext cx="900864" cy="20825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4F34370-433C-E4B4-75B1-1E8CAA7964D8}"/>
              </a:ext>
            </a:extLst>
          </p:cNvPr>
          <p:cNvSpPr/>
          <p:nvPr/>
        </p:nvSpPr>
        <p:spPr>
          <a:xfrm>
            <a:off x="4444621" y="3207651"/>
            <a:ext cx="4367283" cy="686510"/>
          </a:xfrm>
          <a:custGeom>
            <a:avLst/>
            <a:gdLst>
              <a:gd name="connsiteX0" fmla="*/ 4367283 w 4367283"/>
              <a:gd name="connsiteY0" fmla="*/ 686510 h 686510"/>
              <a:gd name="connsiteX1" fmla="*/ 3007057 w 4367283"/>
              <a:gd name="connsiteY1" fmla="*/ 72361 h 686510"/>
              <a:gd name="connsiteX2" fmla="*/ 0 w 4367283"/>
              <a:gd name="connsiteY2" fmla="*/ 35967 h 68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7283" h="686510">
                <a:moveTo>
                  <a:pt x="4367283" y="686510"/>
                </a:moveTo>
                <a:cubicBezTo>
                  <a:pt x="4051110" y="433647"/>
                  <a:pt x="3734938" y="180785"/>
                  <a:pt x="3007057" y="72361"/>
                </a:cubicBezTo>
                <a:cubicBezTo>
                  <a:pt x="2279176" y="-36063"/>
                  <a:pt x="1139588" y="-48"/>
                  <a:pt x="0" y="35967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C0E0B1D-4326-B767-AC7F-2A4591B84DAC}"/>
              </a:ext>
            </a:extLst>
          </p:cNvPr>
          <p:cNvSpPr/>
          <p:nvPr/>
        </p:nvSpPr>
        <p:spPr>
          <a:xfrm>
            <a:off x="3406708" y="4594391"/>
            <a:ext cx="1301769" cy="364296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21CDB6-96D0-AFF0-BD0D-437E62EA3945}"/>
              </a:ext>
            </a:extLst>
          </p:cNvPr>
          <p:cNvSpPr txBox="1"/>
          <p:nvPr/>
        </p:nvSpPr>
        <p:spPr>
          <a:xfrm>
            <a:off x="2849576" y="3902809"/>
            <a:ext cx="2558714" cy="60016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sv-SE" sz="1100"/>
              <a:t>Operatorn ”*” betyder (här)</a:t>
            </a:r>
          </a:p>
          <a:p>
            <a:pPr algn="ctr"/>
            <a:r>
              <a:rPr lang="sv-SE" sz="1100" b="1" i="1"/>
              <a:t>”dereferera”</a:t>
            </a:r>
            <a:r>
              <a:rPr lang="sv-SE" sz="1100"/>
              <a:t> pekaren</a:t>
            </a:r>
          </a:p>
          <a:p>
            <a:pPr algn="ctr"/>
            <a:r>
              <a:rPr lang="sv-SE" sz="1100"/>
              <a:t>(tag variabeln som ”ptr_to_b” </a:t>
            </a:r>
            <a:r>
              <a:rPr lang="sv-SE" sz="1100" i="1"/>
              <a:t>pekar på)</a:t>
            </a:r>
            <a:endParaRPr lang="LID4096" sz="1100" i="1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2A2CDF2-3CD4-79C3-80B2-C6D2863005C3}"/>
              </a:ext>
            </a:extLst>
          </p:cNvPr>
          <p:cNvSpPr/>
          <p:nvPr/>
        </p:nvSpPr>
        <p:spPr>
          <a:xfrm>
            <a:off x="4599296" y="3989696"/>
            <a:ext cx="3721289" cy="691486"/>
          </a:xfrm>
          <a:custGeom>
            <a:avLst/>
            <a:gdLst>
              <a:gd name="connsiteX0" fmla="*/ 0 w 3721289"/>
              <a:gd name="connsiteY0" fmla="*/ 691486 h 691486"/>
              <a:gd name="connsiteX1" fmla="*/ 1956179 w 3721289"/>
              <a:gd name="connsiteY1" fmla="*/ 222913 h 691486"/>
              <a:gd name="connsiteX2" fmla="*/ 3721289 w 3721289"/>
              <a:gd name="connsiteY2" fmla="*/ 0 h 69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21289" h="691486">
                <a:moveTo>
                  <a:pt x="0" y="691486"/>
                </a:moveTo>
                <a:cubicBezTo>
                  <a:pt x="667982" y="514823"/>
                  <a:pt x="1335964" y="338161"/>
                  <a:pt x="1956179" y="222913"/>
                </a:cubicBezTo>
                <a:cubicBezTo>
                  <a:pt x="2576394" y="107665"/>
                  <a:pt x="3148841" y="53832"/>
                  <a:pt x="3721289" y="0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D61343B-871E-4E5F-AA14-4BFB50F44CA4}"/>
              </a:ext>
            </a:extLst>
          </p:cNvPr>
          <p:cNvSpPr/>
          <p:nvPr/>
        </p:nvSpPr>
        <p:spPr>
          <a:xfrm>
            <a:off x="8136490" y="3985146"/>
            <a:ext cx="275080" cy="286603"/>
          </a:xfrm>
          <a:custGeom>
            <a:avLst/>
            <a:gdLst>
              <a:gd name="connsiteX0" fmla="*/ 170447 w 275080"/>
              <a:gd name="connsiteY0" fmla="*/ 0 h 286603"/>
              <a:gd name="connsiteX1" fmla="*/ 2125 w 275080"/>
              <a:gd name="connsiteY1" fmla="*/ 186520 h 286603"/>
              <a:gd name="connsiteX2" fmla="*/ 275080 w 275080"/>
              <a:gd name="connsiteY2" fmla="*/ 286603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5080" h="286603">
                <a:moveTo>
                  <a:pt x="170447" y="0"/>
                </a:moveTo>
                <a:cubicBezTo>
                  <a:pt x="77566" y="69376"/>
                  <a:pt x="-15314" y="138753"/>
                  <a:pt x="2125" y="186520"/>
                </a:cubicBezTo>
                <a:cubicBezTo>
                  <a:pt x="19564" y="234287"/>
                  <a:pt x="147322" y="260445"/>
                  <a:pt x="275080" y="286603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24F840-97BB-6F83-20E9-389F8E36B355}"/>
              </a:ext>
            </a:extLst>
          </p:cNvPr>
          <p:cNvGrpSpPr/>
          <p:nvPr/>
        </p:nvGrpSpPr>
        <p:grpSpPr>
          <a:xfrm>
            <a:off x="8014480" y="2303116"/>
            <a:ext cx="1669576" cy="262518"/>
            <a:chOff x="8014480" y="4127166"/>
            <a:chExt cx="1669576" cy="26251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641C4F-3245-0E6B-CE57-55932F5F2EC1}"/>
                </a:ext>
              </a:extLst>
            </p:cNvPr>
            <p:cNvSpPr/>
            <p:nvPr/>
          </p:nvSpPr>
          <p:spPr>
            <a:xfrm>
              <a:off x="8014480" y="4127166"/>
              <a:ext cx="1669576" cy="261610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8169B16-7AFC-C5F2-CAFD-910177DFBC20}"/>
                </a:ext>
              </a:extLst>
            </p:cNvPr>
            <p:cNvSpPr txBox="1"/>
            <p:nvPr/>
          </p:nvSpPr>
          <p:spPr>
            <a:xfrm>
              <a:off x="8403182" y="4135768"/>
              <a:ext cx="92204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50">
                  <a:latin typeface="Consolas" panose="020B0609020204030204" pitchFamily="49" charset="0"/>
                </a:rPr>
                <a:t>0xAABBCCDD</a:t>
              </a:r>
              <a:endParaRPr lang="LID4096" sz="1050">
                <a:latin typeface="Consolas" panose="020B0609020204030204" pitchFamily="49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FF18E15-EF54-C80B-C6E1-8DDE7EB538F4}"/>
              </a:ext>
            </a:extLst>
          </p:cNvPr>
          <p:cNvSpPr txBox="1"/>
          <p:nvPr/>
        </p:nvSpPr>
        <p:spPr>
          <a:xfrm>
            <a:off x="7024707" y="2317125"/>
            <a:ext cx="10391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a:</a:t>
            </a:r>
            <a:endParaRPr lang="LID4096" sz="1100"/>
          </a:p>
        </p:txBody>
      </p:sp>
    </p:spTree>
    <p:extLst>
      <p:ext uri="{BB962C8B-B14F-4D97-AF65-F5344CB8AC3E}">
        <p14:creationId xmlns:p14="http://schemas.microsoft.com/office/powerpoint/2010/main" val="6428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3152B-4919-0C0C-E8EF-9339B29A2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4EDF4AD0-CA40-ADD0-E345-B1D204B0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Pekare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83BD9D-1590-4167-C361-CB63915AC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1F9F9-FBCF-8FE4-71F2-DF0DB652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81053-A976-8797-4B00-E73977DB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7</a:t>
            </a:fld>
            <a:endParaRPr lang="LID4096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873A9E8-3642-D2A9-FCA0-F06B91DFF539}"/>
              </a:ext>
            </a:extLst>
          </p:cNvPr>
          <p:cNvSpPr txBox="1">
            <a:spLocks/>
          </p:cNvSpPr>
          <p:nvPr/>
        </p:nvSpPr>
        <p:spPr>
          <a:xfrm>
            <a:off x="838200" y="1382242"/>
            <a:ext cx="6315267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v-SE" sz="4000"/>
          </a:p>
          <a:p>
            <a:pPr marL="0" indent="0">
              <a:buNone/>
            </a:pPr>
            <a:endParaRPr lang="sv-SE" sz="4000"/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short a = 0xAABB;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char b = 0xCC;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short </a:t>
            </a:r>
            <a:r>
              <a:rPr lang="sv-SE" sz="1800">
                <a:solidFill>
                  <a:srgbClr val="92D050"/>
                </a:solidFill>
                <a:latin typeface="Consolas" panose="020B0609020204030204" pitchFamily="49" charset="0"/>
              </a:rPr>
              <a:t>*</a:t>
            </a:r>
            <a:r>
              <a:rPr lang="sv-SE" sz="1800">
                <a:latin typeface="Consolas" panose="020B0609020204030204" pitchFamily="49" charset="0"/>
              </a:rPr>
              <a:t>ptr_to_a = </a:t>
            </a:r>
            <a:r>
              <a:rPr lang="sv-SE" sz="1800">
                <a:solidFill>
                  <a:srgbClr val="00B0F0"/>
                </a:solidFill>
                <a:latin typeface="Consolas" panose="020B0609020204030204" pitchFamily="49" charset="0"/>
              </a:rPr>
              <a:t>&amp;</a:t>
            </a:r>
            <a:r>
              <a:rPr lang="sv-SE" sz="1800">
                <a:latin typeface="Consolas" panose="020B0609020204030204" pitchFamily="49" charset="0"/>
              </a:rPr>
              <a:t>a;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char </a:t>
            </a:r>
            <a:r>
              <a:rPr lang="sv-SE" sz="1800">
                <a:solidFill>
                  <a:srgbClr val="92D050"/>
                </a:solidFill>
                <a:latin typeface="Consolas" panose="020B0609020204030204" pitchFamily="49" charset="0"/>
              </a:rPr>
              <a:t>*</a:t>
            </a:r>
            <a:r>
              <a:rPr lang="sv-SE" sz="1800">
                <a:latin typeface="Consolas" panose="020B0609020204030204" pitchFamily="49" charset="0"/>
              </a:rPr>
              <a:t>ptr_to_b = </a:t>
            </a:r>
            <a:r>
              <a:rPr lang="sv-SE" sz="1800">
                <a:solidFill>
                  <a:srgbClr val="00B0F0"/>
                </a:solidFill>
                <a:latin typeface="Consolas" panose="020B0609020204030204" pitchFamily="49" charset="0"/>
              </a:rPr>
              <a:t>&amp;</a:t>
            </a:r>
            <a:r>
              <a:rPr lang="sv-SE" sz="1800">
                <a:latin typeface="Consolas" panose="020B0609020204030204" pitchFamily="49" charset="0"/>
              </a:rPr>
              <a:t>b;</a:t>
            </a:r>
          </a:p>
          <a:p>
            <a:pPr marL="0" indent="0">
              <a:buNone/>
            </a:pPr>
            <a:endParaRPr lang="sv-SE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400">
                <a:latin typeface="Consolas" panose="020B0609020204030204" pitchFamily="49" charset="0"/>
              </a:rPr>
              <a:t>void main() </a:t>
            </a:r>
          </a:p>
          <a:p>
            <a:pPr marL="0" indent="0">
              <a:buNone/>
            </a:pPr>
            <a:r>
              <a:rPr lang="en-GB" sz="14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400">
                <a:latin typeface="Consolas" panose="020B0609020204030204" pitchFamily="49" charset="0"/>
              </a:rPr>
              <a:t>    unsigned char c = *ptr_to_b;  </a:t>
            </a:r>
          </a:p>
          <a:p>
            <a:pPr marL="0" indent="0">
              <a:buNone/>
            </a:pPr>
            <a:r>
              <a:rPr lang="en-GB" sz="1400">
                <a:latin typeface="Consolas" panose="020B0609020204030204" pitchFamily="49" charset="0"/>
              </a:rPr>
              <a:t>    *ptr_to_a = c; </a:t>
            </a:r>
          </a:p>
          <a:p>
            <a:pPr marL="0" indent="0">
              <a:buNone/>
            </a:pPr>
            <a:r>
              <a:rPr lang="en-GB" sz="140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sv-SE" sz="1600"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3D60DF-F858-49DB-8550-8FCB591FC062}"/>
              </a:ext>
            </a:extLst>
          </p:cNvPr>
          <p:cNvSpPr/>
          <p:nvPr/>
        </p:nvSpPr>
        <p:spPr>
          <a:xfrm>
            <a:off x="8017605" y="4397380"/>
            <a:ext cx="1669576" cy="15649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Program Code</a:t>
            </a:r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EFFE6-F09B-F726-B996-CD0B4308B8D9}"/>
              </a:ext>
            </a:extLst>
          </p:cNvPr>
          <p:cNvSpPr txBox="1"/>
          <p:nvPr/>
        </p:nvSpPr>
        <p:spPr>
          <a:xfrm>
            <a:off x="7161057" y="5831519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0x20000000</a:t>
            </a:r>
            <a:endParaRPr lang="LID4096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38A7C8-CDED-F84E-567E-80B2736DD02A}"/>
              </a:ext>
            </a:extLst>
          </p:cNvPr>
          <p:cNvSpPr/>
          <p:nvPr/>
        </p:nvSpPr>
        <p:spPr>
          <a:xfrm>
            <a:off x="8017605" y="2879010"/>
            <a:ext cx="1669576" cy="1518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9DDB8-BADF-6620-493E-79C6E254DC6E}"/>
              </a:ext>
            </a:extLst>
          </p:cNvPr>
          <p:cNvSpPr/>
          <p:nvPr/>
        </p:nvSpPr>
        <p:spPr>
          <a:xfrm>
            <a:off x="8017605" y="2295624"/>
            <a:ext cx="1669576" cy="58338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D7215E-3F53-B52D-FB52-2F949E6EC4D4}"/>
              </a:ext>
            </a:extLst>
          </p:cNvPr>
          <p:cNvSpPr/>
          <p:nvPr/>
        </p:nvSpPr>
        <p:spPr>
          <a:xfrm>
            <a:off x="8017605" y="1782660"/>
            <a:ext cx="1669576" cy="5129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Stack</a:t>
            </a:r>
            <a:endParaRPr lang="LID4096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445787E-B8E6-B310-6357-C0C1A12B5D85}"/>
              </a:ext>
            </a:extLst>
          </p:cNvPr>
          <p:cNvSpPr/>
          <p:nvPr/>
        </p:nvSpPr>
        <p:spPr>
          <a:xfrm>
            <a:off x="9753600" y="3346501"/>
            <a:ext cx="95534" cy="1050877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E48D8-0925-D2ED-85C8-51ABDF7D2F1C}"/>
              </a:ext>
            </a:extLst>
          </p:cNvPr>
          <p:cNvSpPr txBox="1"/>
          <p:nvPr/>
        </p:nvSpPr>
        <p:spPr>
          <a:xfrm>
            <a:off x="9849134" y="3699834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/>
              <a:t>Initialized data area</a:t>
            </a:r>
            <a:endParaRPr lang="LID4096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85E313-CB00-6D35-6E45-C0B5C99A0021}"/>
              </a:ext>
            </a:extLst>
          </p:cNvPr>
          <p:cNvCxnSpPr/>
          <p:nvPr/>
        </p:nvCxnSpPr>
        <p:spPr>
          <a:xfrm>
            <a:off x="8017604" y="1535901"/>
            <a:ext cx="1669577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A44D83B-85D2-462B-3DB1-352CCBB23226}"/>
              </a:ext>
            </a:extLst>
          </p:cNvPr>
          <p:cNvSpPr txBox="1"/>
          <p:nvPr/>
        </p:nvSpPr>
        <p:spPr>
          <a:xfrm>
            <a:off x="8488382" y="1049215"/>
            <a:ext cx="728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200"/>
              <a:t>32 bits</a:t>
            </a:r>
          </a:p>
          <a:p>
            <a:pPr algn="ctr"/>
            <a:r>
              <a:rPr lang="sv-SE" sz="1200"/>
              <a:t>(4 bytes)</a:t>
            </a:r>
            <a:endParaRPr lang="LID4096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B6D7B3-8D87-FDE6-0E09-4F98FFD7CDA4}"/>
              </a:ext>
            </a:extLst>
          </p:cNvPr>
          <p:cNvSpPr txBox="1"/>
          <p:nvPr/>
        </p:nvSpPr>
        <p:spPr>
          <a:xfrm>
            <a:off x="6739944" y="4051538"/>
            <a:ext cx="1314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a: </a:t>
            </a:r>
            <a:r>
              <a:rPr lang="sv-SE" sz="1100"/>
              <a:t>0x20000100</a:t>
            </a:r>
            <a:endParaRPr lang="LID4096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60ABB5-A3B3-E1DC-A9D8-587DF6C4679F}"/>
              </a:ext>
            </a:extLst>
          </p:cNvPr>
          <p:cNvSpPr txBox="1"/>
          <p:nvPr/>
        </p:nvSpPr>
        <p:spPr>
          <a:xfrm>
            <a:off x="8476584" y="4136144"/>
            <a:ext cx="479618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1050">
                <a:latin typeface="Consolas" panose="020B0609020204030204" pitchFamily="49" charset="0"/>
              </a:rPr>
              <a:t>0xCC</a:t>
            </a:r>
            <a:endParaRPr lang="LID4096" sz="1050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8EFD8D-59A5-F592-30BF-D40056242B1B}"/>
              </a:ext>
            </a:extLst>
          </p:cNvPr>
          <p:cNvSpPr txBox="1"/>
          <p:nvPr/>
        </p:nvSpPr>
        <p:spPr>
          <a:xfrm>
            <a:off x="8951909" y="4133003"/>
            <a:ext cx="733287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sz="1050">
                <a:latin typeface="Consolas" panose="020B0609020204030204" pitchFamily="49" charset="0"/>
              </a:rPr>
              <a:t>0xAABB</a:t>
            </a:r>
            <a:endParaRPr lang="LID4096" sz="1050">
              <a:latin typeface="Consolas" panose="020B0609020204030204" pitchFamily="49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944C25E-3E55-D9F8-E14B-D2D1DB53CF41}"/>
              </a:ext>
            </a:extLst>
          </p:cNvPr>
          <p:cNvGrpSpPr/>
          <p:nvPr/>
        </p:nvGrpSpPr>
        <p:grpSpPr>
          <a:xfrm>
            <a:off x="6487236" y="3865556"/>
            <a:ext cx="3199105" cy="273012"/>
            <a:chOff x="6487236" y="3865556"/>
            <a:chExt cx="3199105" cy="27301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7E1CFD9-34C6-831E-3B75-B8657A3CC3DE}"/>
                </a:ext>
              </a:extLst>
            </p:cNvPr>
            <p:cNvSpPr txBox="1"/>
            <p:nvPr/>
          </p:nvSpPr>
          <p:spPr>
            <a:xfrm>
              <a:off x="6487236" y="3876958"/>
              <a:ext cx="155964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sv-SE" sz="1100" b="1"/>
                <a:t>ptr_to_a: </a:t>
              </a:r>
              <a:r>
                <a:rPr lang="sv-SE" sz="1100"/>
                <a:t>0x20000104</a:t>
              </a:r>
              <a:endParaRPr lang="LID4096" sz="110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315CE79-01E7-C867-6E98-339B3FB81B74}"/>
                </a:ext>
              </a:extLst>
            </p:cNvPr>
            <p:cNvGrpSpPr/>
            <p:nvPr/>
          </p:nvGrpSpPr>
          <p:grpSpPr>
            <a:xfrm>
              <a:off x="8016765" y="3865556"/>
              <a:ext cx="1669576" cy="262518"/>
              <a:chOff x="8014480" y="4127166"/>
              <a:chExt cx="1669576" cy="26251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E4BBCC5-0182-E518-64D5-C3C287A245C6}"/>
                  </a:ext>
                </a:extLst>
              </p:cNvPr>
              <p:cNvSpPr/>
              <p:nvPr/>
            </p:nvSpPr>
            <p:spPr>
              <a:xfrm>
                <a:off x="8014480" y="4127166"/>
                <a:ext cx="1669576" cy="261610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86C6B4-402E-E9DF-218F-9054A41FF775}"/>
                  </a:ext>
                </a:extLst>
              </p:cNvPr>
              <p:cNvSpPr txBox="1"/>
              <p:nvPr/>
            </p:nvSpPr>
            <p:spPr>
              <a:xfrm>
                <a:off x="8403182" y="4135768"/>
                <a:ext cx="92204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1050">
                    <a:latin typeface="Consolas" panose="020B0609020204030204" pitchFamily="49" charset="0"/>
                  </a:rPr>
                  <a:t>0x20000100</a:t>
                </a:r>
                <a:endParaRPr lang="LID4096" sz="1050"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9EBB75B-169E-F62A-F99B-F1BB18E674F7}"/>
              </a:ext>
            </a:extLst>
          </p:cNvPr>
          <p:cNvSpPr txBox="1"/>
          <p:nvPr/>
        </p:nvSpPr>
        <p:spPr>
          <a:xfrm>
            <a:off x="6930522" y="4214972"/>
            <a:ext cx="1123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b: </a:t>
            </a:r>
            <a:r>
              <a:rPr lang="sv-SE" sz="1100"/>
              <a:t>0x20000102</a:t>
            </a:r>
            <a:endParaRPr lang="LID4096" sz="11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99F4F2-FD24-FC72-B1B6-39BFF543F227}"/>
              </a:ext>
            </a:extLst>
          </p:cNvPr>
          <p:cNvSpPr/>
          <p:nvPr/>
        </p:nvSpPr>
        <p:spPr>
          <a:xfrm>
            <a:off x="8016765" y="4132095"/>
            <a:ext cx="470471" cy="2548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CABA418-58C2-1D8B-38A1-6639BDC61921}"/>
              </a:ext>
            </a:extLst>
          </p:cNvPr>
          <p:cNvGrpSpPr/>
          <p:nvPr/>
        </p:nvGrpSpPr>
        <p:grpSpPr>
          <a:xfrm>
            <a:off x="6490333" y="3601179"/>
            <a:ext cx="3199105" cy="273012"/>
            <a:chOff x="6490333" y="3601179"/>
            <a:chExt cx="3199105" cy="27301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40F3A68-C8EE-29B1-BD7D-23C2A4ABE7DA}"/>
                </a:ext>
              </a:extLst>
            </p:cNvPr>
            <p:cNvSpPr txBox="1"/>
            <p:nvPr/>
          </p:nvSpPr>
          <p:spPr>
            <a:xfrm>
              <a:off x="6490333" y="3612581"/>
              <a:ext cx="155964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sv-SE" sz="1100" b="1"/>
                <a:t>ptr_to_b: </a:t>
              </a:r>
              <a:r>
                <a:rPr lang="sv-SE" sz="1100"/>
                <a:t>0x20000108</a:t>
              </a:r>
              <a:endParaRPr lang="LID4096" sz="110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95B2763-16AB-A124-C198-ED62C805CD64}"/>
                </a:ext>
              </a:extLst>
            </p:cNvPr>
            <p:cNvGrpSpPr/>
            <p:nvPr/>
          </p:nvGrpSpPr>
          <p:grpSpPr>
            <a:xfrm>
              <a:off x="8019862" y="3601179"/>
              <a:ext cx="1669576" cy="262518"/>
              <a:chOff x="8014480" y="4127166"/>
              <a:chExt cx="1669576" cy="262518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24FD7ED-60F3-FBB6-A435-5AC1A2C8DA3F}"/>
                  </a:ext>
                </a:extLst>
              </p:cNvPr>
              <p:cNvSpPr/>
              <p:nvPr/>
            </p:nvSpPr>
            <p:spPr>
              <a:xfrm>
                <a:off x="8014480" y="4127166"/>
                <a:ext cx="1669576" cy="261610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1D3A7DE-2C2E-3DBA-9A1E-EACD22900CD8}"/>
                  </a:ext>
                </a:extLst>
              </p:cNvPr>
              <p:cNvSpPr txBox="1"/>
              <p:nvPr/>
            </p:nvSpPr>
            <p:spPr>
              <a:xfrm>
                <a:off x="8403182" y="4135768"/>
                <a:ext cx="92204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1050">
                    <a:latin typeface="Consolas" panose="020B0609020204030204" pitchFamily="49" charset="0"/>
                  </a:rPr>
                  <a:t>0x20000102</a:t>
                </a:r>
                <a:endParaRPr lang="LID4096" sz="1050"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C2073D4-7161-93C8-5C24-58CC72E50675}"/>
              </a:ext>
            </a:extLst>
          </p:cNvPr>
          <p:cNvSpPr txBox="1"/>
          <p:nvPr/>
        </p:nvSpPr>
        <p:spPr>
          <a:xfrm>
            <a:off x="8024374" y="2297482"/>
            <a:ext cx="510026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LID4096" sz="105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8E640B-421D-8972-3DB9-71CC46EA3E33}"/>
              </a:ext>
            </a:extLst>
          </p:cNvPr>
          <p:cNvSpPr txBox="1"/>
          <p:nvPr/>
        </p:nvSpPr>
        <p:spPr>
          <a:xfrm>
            <a:off x="6739944" y="2246242"/>
            <a:ext cx="1314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c: </a:t>
            </a:r>
            <a:r>
              <a:rPr lang="sv-SE" sz="1100"/>
              <a:t>0x2001FFFF</a:t>
            </a:r>
            <a:endParaRPr lang="LID4096" sz="11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C5632A-3E28-AE34-E798-4627A9E64733}"/>
              </a:ext>
            </a:extLst>
          </p:cNvPr>
          <p:cNvSpPr/>
          <p:nvPr/>
        </p:nvSpPr>
        <p:spPr>
          <a:xfrm>
            <a:off x="8534400" y="2296575"/>
            <a:ext cx="1150796" cy="2548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983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 animBg="1"/>
      <p:bldP spid="27" grpId="0" animBg="1"/>
      <p:bldP spid="32" grpId="0"/>
      <p:bldP spid="33" grpId="0" animBg="1"/>
      <p:bldP spid="29" grpId="0" animBg="1"/>
      <p:bldP spid="30" grpId="0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51974-3FA4-6832-5FE8-09D5B2EE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1028A340-4FB7-DCCB-DB16-9E228569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Pekare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305891-65E8-80F7-2F64-891D5FA9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75703-F866-0DD1-0A2A-3F4C8797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81C11-FC40-AE4F-5E16-75DB4A77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8</a:t>
            </a:fld>
            <a:endParaRPr lang="LID4096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0B5CB4E-B0C2-A438-C13E-AA52733E6063}"/>
              </a:ext>
            </a:extLst>
          </p:cNvPr>
          <p:cNvSpPr txBox="1">
            <a:spLocks/>
          </p:cNvSpPr>
          <p:nvPr/>
        </p:nvSpPr>
        <p:spPr>
          <a:xfrm>
            <a:off x="838200" y="1382242"/>
            <a:ext cx="6315267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v-SE" sz="4000"/>
          </a:p>
          <a:p>
            <a:pPr marL="0" indent="0">
              <a:buNone/>
            </a:pPr>
            <a:endParaRPr lang="sv-SE" sz="4000"/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short a = 0xAABB;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char b = 0xCC;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short </a:t>
            </a:r>
            <a:r>
              <a:rPr lang="sv-SE" sz="1800">
                <a:solidFill>
                  <a:srgbClr val="92D050"/>
                </a:solidFill>
                <a:latin typeface="Consolas" panose="020B0609020204030204" pitchFamily="49" charset="0"/>
              </a:rPr>
              <a:t>*</a:t>
            </a:r>
            <a:r>
              <a:rPr lang="sv-SE" sz="1800">
                <a:latin typeface="Consolas" panose="020B0609020204030204" pitchFamily="49" charset="0"/>
              </a:rPr>
              <a:t>ptr_to_a = </a:t>
            </a:r>
            <a:r>
              <a:rPr lang="sv-SE" sz="1800">
                <a:solidFill>
                  <a:srgbClr val="00B0F0"/>
                </a:solidFill>
                <a:latin typeface="Consolas" panose="020B0609020204030204" pitchFamily="49" charset="0"/>
              </a:rPr>
              <a:t>&amp;</a:t>
            </a:r>
            <a:r>
              <a:rPr lang="sv-SE" sz="1800">
                <a:latin typeface="Consolas" panose="020B0609020204030204" pitchFamily="49" charset="0"/>
              </a:rPr>
              <a:t>a;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unsigned char </a:t>
            </a:r>
            <a:r>
              <a:rPr lang="sv-SE" sz="1800">
                <a:solidFill>
                  <a:srgbClr val="92D050"/>
                </a:solidFill>
                <a:latin typeface="Consolas" panose="020B0609020204030204" pitchFamily="49" charset="0"/>
              </a:rPr>
              <a:t>*</a:t>
            </a:r>
            <a:r>
              <a:rPr lang="sv-SE" sz="1800">
                <a:latin typeface="Consolas" panose="020B0609020204030204" pitchFamily="49" charset="0"/>
              </a:rPr>
              <a:t>ptr_to_b = </a:t>
            </a:r>
            <a:r>
              <a:rPr lang="sv-SE" sz="1800">
                <a:solidFill>
                  <a:srgbClr val="00B0F0"/>
                </a:solidFill>
                <a:latin typeface="Consolas" panose="020B0609020204030204" pitchFamily="49" charset="0"/>
              </a:rPr>
              <a:t>&amp;</a:t>
            </a:r>
            <a:r>
              <a:rPr lang="sv-SE" sz="1800">
                <a:latin typeface="Consolas" panose="020B0609020204030204" pitchFamily="49" charset="0"/>
              </a:rPr>
              <a:t>b;</a:t>
            </a:r>
          </a:p>
          <a:p>
            <a:pPr marL="0" indent="0">
              <a:buNone/>
            </a:pPr>
            <a:endParaRPr lang="sv-SE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400">
                <a:latin typeface="Consolas" panose="020B0609020204030204" pitchFamily="49" charset="0"/>
              </a:rPr>
              <a:t>void main() </a:t>
            </a:r>
          </a:p>
          <a:p>
            <a:pPr marL="0" indent="0">
              <a:buNone/>
            </a:pPr>
            <a:r>
              <a:rPr lang="en-GB" sz="14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400">
                <a:latin typeface="Consolas" panose="020B0609020204030204" pitchFamily="49" charset="0"/>
              </a:rPr>
              <a:t>    unsigned char c = *ptr_to_b;  </a:t>
            </a:r>
          </a:p>
          <a:p>
            <a:pPr marL="0" indent="0">
              <a:buNone/>
            </a:pPr>
            <a:r>
              <a:rPr lang="en-GB" sz="1400">
                <a:latin typeface="Consolas" panose="020B0609020204030204" pitchFamily="49" charset="0"/>
              </a:rPr>
              <a:t>    *ptr_to_a = c; </a:t>
            </a:r>
          </a:p>
          <a:p>
            <a:pPr marL="0" indent="0">
              <a:buNone/>
            </a:pPr>
            <a:r>
              <a:rPr lang="en-GB" sz="140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sv-SE" sz="1600"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653D12-84B4-5A3C-9DCA-69EC753E6820}"/>
              </a:ext>
            </a:extLst>
          </p:cNvPr>
          <p:cNvSpPr/>
          <p:nvPr/>
        </p:nvSpPr>
        <p:spPr>
          <a:xfrm>
            <a:off x="8017605" y="4397380"/>
            <a:ext cx="1669576" cy="15649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Program Code</a:t>
            </a:r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0C9EF6-B16C-3895-4D0D-0F41A372958F}"/>
              </a:ext>
            </a:extLst>
          </p:cNvPr>
          <p:cNvSpPr txBox="1"/>
          <p:nvPr/>
        </p:nvSpPr>
        <p:spPr>
          <a:xfrm>
            <a:off x="7161057" y="5831519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0x20000000</a:t>
            </a:r>
            <a:endParaRPr lang="LID4096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5977CE-0933-AEF1-E91D-8E8E728C47E9}"/>
              </a:ext>
            </a:extLst>
          </p:cNvPr>
          <p:cNvSpPr/>
          <p:nvPr/>
        </p:nvSpPr>
        <p:spPr>
          <a:xfrm>
            <a:off x="8017605" y="2879010"/>
            <a:ext cx="1669576" cy="1518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549F74-7461-5384-F7C3-017F4E1621BE}"/>
              </a:ext>
            </a:extLst>
          </p:cNvPr>
          <p:cNvSpPr/>
          <p:nvPr/>
        </p:nvSpPr>
        <p:spPr>
          <a:xfrm>
            <a:off x="8017605" y="2295624"/>
            <a:ext cx="1669576" cy="58338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A1A477-8585-1A63-8D90-BA33D7AA3C05}"/>
              </a:ext>
            </a:extLst>
          </p:cNvPr>
          <p:cNvSpPr/>
          <p:nvPr/>
        </p:nvSpPr>
        <p:spPr>
          <a:xfrm>
            <a:off x="8017605" y="1782660"/>
            <a:ext cx="1669576" cy="5129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Stack</a:t>
            </a:r>
            <a:endParaRPr lang="LID4096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6DF7C495-1E7F-5708-B108-77B534CA0F9C}"/>
              </a:ext>
            </a:extLst>
          </p:cNvPr>
          <p:cNvSpPr/>
          <p:nvPr/>
        </p:nvSpPr>
        <p:spPr>
          <a:xfrm>
            <a:off x="9753600" y="3346501"/>
            <a:ext cx="95534" cy="1050877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5FEB57-42FB-F284-56EA-A7747AE68B2E}"/>
              </a:ext>
            </a:extLst>
          </p:cNvPr>
          <p:cNvSpPr txBox="1"/>
          <p:nvPr/>
        </p:nvSpPr>
        <p:spPr>
          <a:xfrm>
            <a:off x="9849134" y="3699834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/>
              <a:t>Initialized data area</a:t>
            </a:r>
            <a:endParaRPr lang="LID4096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60A408-ADE2-3998-2E31-73F975D83ECA}"/>
              </a:ext>
            </a:extLst>
          </p:cNvPr>
          <p:cNvCxnSpPr/>
          <p:nvPr/>
        </p:nvCxnSpPr>
        <p:spPr>
          <a:xfrm>
            <a:off x="8017604" y="1535901"/>
            <a:ext cx="1669577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272EEFB-BCEC-E4A2-70B5-4C93816DDBCB}"/>
              </a:ext>
            </a:extLst>
          </p:cNvPr>
          <p:cNvSpPr txBox="1"/>
          <p:nvPr/>
        </p:nvSpPr>
        <p:spPr>
          <a:xfrm>
            <a:off x="8488382" y="1049215"/>
            <a:ext cx="728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200"/>
              <a:t>32 bits</a:t>
            </a:r>
          </a:p>
          <a:p>
            <a:pPr algn="ctr"/>
            <a:r>
              <a:rPr lang="sv-SE" sz="1200"/>
              <a:t>(4 bytes)</a:t>
            </a:r>
            <a:endParaRPr lang="LID4096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32237A-E93F-066C-DAB2-D8E65FCB1BD2}"/>
              </a:ext>
            </a:extLst>
          </p:cNvPr>
          <p:cNvSpPr txBox="1"/>
          <p:nvPr/>
        </p:nvSpPr>
        <p:spPr>
          <a:xfrm>
            <a:off x="6739944" y="4051538"/>
            <a:ext cx="1314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a: </a:t>
            </a:r>
            <a:r>
              <a:rPr lang="sv-SE" sz="1100"/>
              <a:t>0x20000100</a:t>
            </a:r>
            <a:endParaRPr lang="LID4096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3F5755-4963-DEBA-7B2C-288E4D1A6A4B}"/>
              </a:ext>
            </a:extLst>
          </p:cNvPr>
          <p:cNvSpPr txBox="1"/>
          <p:nvPr/>
        </p:nvSpPr>
        <p:spPr>
          <a:xfrm>
            <a:off x="8476584" y="4136144"/>
            <a:ext cx="479618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1050">
                <a:latin typeface="Consolas" panose="020B0609020204030204" pitchFamily="49" charset="0"/>
              </a:rPr>
              <a:t>0xCC</a:t>
            </a:r>
            <a:endParaRPr lang="LID4096" sz="1050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998DC0-8532-4BEA-C7D0-2FA25AB964C5}"/>
              </a:ext>
            </a:extLst>
          </p:cNvPr>
          <p:cNvSpPr txBox="1"/>
          <p:nvPr/>
        </p:nvSpPr>
        <p:spPr>
          <a:xfrm>
            <a:off x="8951909" y="4133003"/>
            <a:ext cx="733287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sz="1050">
                <a:latin typeface="Consolas" panose="020B0609020204030204" pitchFamily="49" charset="0"/>
              </a:rPr>
              <a:t>0xCC</a:t>
            </a:r>
            <a:endParaRPr lang="LID4096" sz="1050">
              <a:latin typeface="Consolas" panose="020B0609020204030204" pitchFamily="49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A879802-C7F8-77F7-BE45-FC1B5532C46D}"/>
              </a:ext>
            </a:extLst>
          </p:cNvPr>
          <p:cNvGrpSpPr/>
          <p:nvPr/>
        </p:nvGrpSpPr>
        <p:grpSpPr>
          <a:xfrm>
            <a:off x="6487236" y="3865556"/>
            <a:ext cx="3199105" cy="273012"/>
            <a:chOff x="6487236" y="3865556"/>
            <a:chExt cx="3199105" cy="27301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A4D963B-9488-9DD8-5169-2C151B694BD0}"/>
                </a:ext>
              </a:extLst>
            </p:cNvPr>
            <p:cNvSpPr txBox="1"/>
            <p:nvPr/>
          </p:nvSpPr>
          <p:spPr>
            <a:xfrm>
              <a:off x="6487236" y="3876958"/>
              <a:ext cx="155964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sv-SE" sz="1100" b="1"/>
                <a:t>ptr_to_a: </a:t>
              </a:r>
              <a:r>
                <a:rPr lang="sv-SE" sz="1100"/>
                <a:t>0x20000104</a:t>
              </a:r>
              <a:endParaRPr lang="LID4096" sz="110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BFB5F9B-4958-2936-9E8B-D048DEF95B89}"/>
                </a:ext>
              </a:extLst>
            </p:cNvPr>
            <p:cNvGrpSpPr/>
            <p:nvPr/>
          </p:nvGrpSpPr>
          <p:grpSpPr>
            <a:xfrm>
              <a:off x="8016765" y="3865556"/>
              <a:ext cx="1669576" cy="262518"/>
              <a:chOff x="8014480" y="4127166"/>
              <a:chExt cx="1669576" cy="26251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0D0D04F-AC90-94DD-4E4A-83F3AD78DEB0}"/>
                  </a:ext>
                </a:extLst>
              </p:cNvPr>
              <p:cNvSpPr/>
              <p:nvPr/>
            </p:nvSpPr>
            <p:spPr>
              <a:xfrm>
                <a:off x="8014480" y="4127166"/>
                <a:ext cx="1669576" cy="261610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53E5E7-344A-5CF0-F54C-4C34CE1CAF25}"/>
                  </a:ext>
                </a:extLst>
              </p:cNvPr>
              <p:cNvSpPr txBox="1"/>
              <p:nvPr/>
            </p:nvSpPr>
            <p:spPr>
              <a:xfrm>
                <a:off x="8403182" y="4135768"/>
                <a:ext cx="92204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1050">
                    <a:latin typeface="Consolas" panose="020B0609020204030204" pitchFamily="49" charset="0"/>
                  </a:rPr>
                  <a:t>0x20000100</a:t>
                </a:r>
                <a:endParaRPr lang="LID4096" sz="1050"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B995C2E-C1C0-5D83-8DA6-5DEF1E94227E}"/>
              </a:ext>
            </a:extLst>
          </p:cNvPr>
          <p:cNvSpPr txBox="1"/>
          <p:nvPr/>
        </p:nvSpPr>
        <p:spPr>
          <a:xfrm>
            <a:off x="6930522" y="4214972"/>
            <a:ext cx="1123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b: </a:t>
            </a:r>
            <a:r>
              <a:rPr lang="sv-SE" sz="1100"/>
              <a:t>0x20000102</a:t>
            </a:r>
            <a:endParaRPr lang="LID4096" sz="11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07830F-CDFD-BAD8-0791-F36356EAAE36}"/>
              </a:ext>
            </a:extLst>
          </p:cNvPr>
          <p:cNvSpPr/>
          <p:nvPr/>
        </p:nvSpPr>
        <p:spPr>
          <a:xfrm>
            <a:off x="8016765" y="4132095"/>
            <a:ext cx="470471" cy="2548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D7BD17B-0D8B-066A-6266-4AFD877DAB93}"/>
              </a:ext>
            </a:extLst>
          </p:cNvPr>
          <p:cNvGrpSpPr/>
          <p:nvPr/>
        </p:nvGrpSpPr>
        <p:grpSpPr>
          <a:xfrm>
            <a:off x="6490333" y="3601179"/>
            <a:ext cx="3199105" cy="273012"/>
            <a:chOff x="6490333" y="3601179"/>
            <a:chExt cx="3199105" cy="27301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D2FD8C0-6B93-88EF-94C8-E929D926171D}"/>
                </a:ext>
              </a:extLst>
            </p:cNvPr>
            <p:cNvSpPr txBox="1"/>
            <p:nvPr/>
          </p:nvSpPr>
          <p:spPr>
            <a:xfrm>
              <a:off x="6490333" y="3612581"/>
              <a:ext cx="155964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sv-SE" sz="1100" b="1"/>
                <a:t>ptr_to_b: </a:t>
              </a:r>
              <a:r>
                <a:rPr lang="sv-SE" sz="1100"/>
                <a:t>0x20000108</a:t>
              </a:r>
              <a:endParaRPr lang="LID4096" sz="110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E3DF233-9A24-967A-F4DB-DAA6C8750756}"/>
                </a:ext>
              </a:extLst>
            </p:cNvPr>
            <p:cNvGrpSpPr/>
            <p:nvPr/>
          </p:nvGrpSpPr>
          <p:grpSpPr>
            <a:xfrm>
              <a:off x="8019862" y="3601179"/>
              <a:ext cx="1669576" cy="262518"/>
              <a:chOff x="8014480" y="4127166"/>
              <a:chExt cx="1669576" cy="262518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4C9ECD8-5818-F772-4847-65DA765BF8AA}"/>
                  </a:ext>
                </a:extLst>
              </p:cNvPr>
              <p:cNvSpPr/>
              <p:nvPr/>
            </p:nvSpPr>
            <p:spPr>
              <a:xfrm>
                <a:off x="8014480" y="4127166"/>
                <a:ext cx="1669576" cy="261610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9616979-8A41-E899-6C0A-572CF0724284}"/>
                  </a:ext>
                </a:extLst>
              </p:cNvPr>
              <p:cNvSpPr txBox="1"/>
              <p:nvPr/>
            </p:nvSpPr>
            <p:spPr>
              <a:xfrm>
                <a:off x="8403182" y="4135768"/>
                <a:ext cx="92204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1050">
                    <a:latin typeface="Consolas" panose="020B0609020204030204" pitchFamily="49" charset="0"/>
                  </a:rPr>
                  <a:t>0x20000102</a:t>
                </a:r>
                <a:endParaRPr lang="LID4096" sz="1050"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118E654-E771-A304-05E5-819F0B4F56D2}"/>
              </a:ext>
            </a:extLst>
          </p:cNvPr>
          <p:cNvSpPr txBox="1"/>
          <p:nvPr/>
        </p:nvSpPr>
        <p:spPr>
          <a:xfrm>
            <a:off x="8024374" y="2297482"/>
            <a:ext cx="510026" cy="2539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sz="1050">
                <a:latin typeface="Consolas" panose="020B0609020204030204" pitchFamily="49" charset="0"/>
              </a:rPr>
              <a:t>0xCC</a:t>
            </a:r>
            <a:endParaRPr lang="LID4096" sz="1050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B380DE-C353-7FCF-9AA6-5A9A0F477131}"/>
              </a:ext>
            </a:extLst>
          </p:cNvPr>
          <p:cNvSpPr txBox="1"/>
          <p:nvPr/>
        </p:nvSpPr>
        <p:spPr>
          <a:xfrm>
            <a:off x="6739944" y="2246242"/>
            <a:ext cx="1314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c: </a:t>
            </a:r>
            <a:r>
              <a:rPr lang="sv-SE" sz="1100"/>
              <a:t>0x2001FFFF</a:t>
            </a:r>
            <a:endParaRPr lang="LID4096" sz="11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8ECD67-15F5-0FCD-1218-51AA0106332B}"/>
              </a:ext>
            </a:extLst>
          </p:cNvPr>
          <p:cNvSpPr/>
          <p:nvPr/>
        </p:nvSpPr>
        <p:spPr>
          <a:xfrm>
            <a:off x="8534400" y="2296575"/>
            <a:ext cx="1150796" cy="25482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4788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D0A5F-D280-614B-973D-C0C3FB1C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9663-101C-E2B9-5973-F0BF58478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Hur skriver vi till ett peripheral register i C? </a:t>
            </a:r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DBDB1-A30B-54CF-03E7-4E0D55719D76}"/>
              </a:ext>
            </a:extLst>
          </p:cNvPr>
          <p:cNvSpPr txBox="1"/>
          <p:nvPr/>
        </p:nvSpPr>
        <p:spPr>
          <a:xfrm>
            <a:off x="5932802" y="1951672"/>
            <a:ext cx="6102438" cy="295465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.equ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GPIO_D_CFGLR,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0x40011400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.equ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GPIO_D_OUTDR,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0x4001140C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Configure GPIO D, pin 2 as output, 2Mhz, push-pull 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GPIO_D_CFGLR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li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0x00000200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Set lower 8 pins as output push-pull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sw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Skriv 1 till pin 2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GPIO_D_OUTDR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lh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Läs nuvarande värde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ori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0b100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Sätt bit 2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sh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Skriv tillbaka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BFD56-0BA6-7C5E-C061-D94AF19C9B73}"/>
              </a:ext>
            </a:extLst>
          </p:cNvPr>
          <p:cNvSpPr txBox="1"/>
          <p:nvPr/>
        </p:nvSpPr>
        <p:spPr>
          <a:xfrm>
            <a:off x="444256" y="2948369"/>
            <a:ext cx="5595936" cy="206723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&lt;stdint.h&gt;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sv-SE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v-SE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Vi vill skriva värdet 0x00000200 till address 0x40011400</a:t>
            </a:r>
            <a:endParaRPr lang="sv-SE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sv-SE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v-SE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sv-SE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v-SE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sv-SE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v-SE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0x40011400</a:t>
            </a:r>
            <a:r>
              <a:rPr lang="sv-SE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8C70F2-3B6C-123C-5556-8A8238B1B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95" y="4784122"/>
            <a:ext cx="10374173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6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40668-DAF6-FAAD-DECE-C3AEBB78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B3BE-F2D6-30E0-6157-0A7929A1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Hur skriver vi till ett peripheral register i C? </a:t>
            </a:r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7CD43-4017-00F4-022A-A80750E4BECB}"/>
              </a:ext>
            </a:extLst>
          </p:cNvPr>
          <p:cNvSpPr txBox="1"/>
          <p:nvPr/>
        </p:nvSpPr>
        <p:spPr>
          <a:xfrm>
            <a:off x="5932802" y="1951672"/>
            <a:ext cx="6102438" cy="295465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.equ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GPIO_D_CFGLR,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0x40011400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.equ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GPIO_D_OUTDR,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0x4001140C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Configure GPIO D, pin 2 as output, 2Mhz, push-pull 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GPIO_D_CFGLR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li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0x00000200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Set lower 8 pins as output push-pull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sw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Skriv 1 till pin 2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GPIO_D_OUTDR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lh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Läs nuvarande värde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ori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0b100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Sätt bit 2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sh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Skriv tillbaka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ED61F0-71E2-785D-2870-AD4611E1B84E}"/>
              </a:ext>
            </a:extLst>
          </p:cNvPr>
          <p:cNvSpPr txBox="1"/>
          <p:nvPr/>
        </p:nvSpPr>
        <p:spPr>
          <a:xfrm>
            <a:off x="444256" y="2948369"/>
            <a:ext cx="5595936" cy="224676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CE9178"/>
                </a:solidFill>
                <a:latin typeface="Consolas" panose="020B0609020204030204" pitchFamily="49" charset="0"/>
              </a:rPr>
              <a:t>&lt;stdio.h&gt;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#include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CE9178"/>
                </a:solidFill>
                <a:latin typeface="Consolas" panose="020B0609020204030204" pitchFamily="49" charset="0"/>
              </a:rPr>
              <a:t>&lt;stdint.h&gt;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Vi vill skriva värdet 0x00000200 till address 0x40011400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0x00000200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9CB60B7-03D3-2680-0CD0-28FAF0533C6C}"/>
              </a:ext>
            </a:extLst>
          </p:cNvPr>
          <p:cNvGrpSpPr/>
          <p:nvPr/>
        </p:nvGrpSpPr>
        <p:grpSpPr>
          <a:xfrm>
            <a:off x="606380" y="4417454"/>
            <a:ext cx="2130711" cy="504127"/>
            <a:chOff x="606380" y="4417454"/>
            <a:chExt cx="2130711" cy="50412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1D7DA73-F9CF-1300-544E-F97E30C83282}"/>
                </a:ext>
              </a:extLst>
            </p:cNvPr>
            <p:cNvSpPr/>
            <p:nvPr/>
          </p:nvSpPr>
          <p:spPr>
            <a:xfrm>
              <a:off x="838200" y="4417454"/>
              <a:ext cx="441101" cy="197476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CE6C4D-6EB2-F2EF-ACB0-3F37E5D78845}"/>
                </a:ext>
              </a:extLst>
            </p:cNvPr>
            <p:cNvSpPr txBox="1"/>
            <p:nvPr/>
          </p:nvSpPr>
          <p:spPr>
            <a:xfrm>
              <a:off x="606380" y="4583027"/>
              <a:ext cx="21307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800">
                  <a:solidFill>
                    <a:srgbClr val="FFC000"/>
                  </a:solidFill>
                </a:rPr>
                <a:t>Detta betyder nu:</a:t>
              </a:r>
              <a:br>
                <a:rPr lang="sv-SE" sz="800">
                  <a:solidFill>
                    <a:srgbClr val="FFC000"/>
                  </a:solidFill>
                </a:rPr>
              </a:br>
              <a:r>
                <a:rPr lang="sv-SE" sz="800">
                  <a:solidFill>
                    <a:srgbClr val="FFC000"/>
                  </a:solidFill>
                </a:rPr>
                <a:t>”En unsigned int på addressen 0x40011400”</a:t>
              </a:r>
              <a:endParaRPr lang="LID4096" sz="80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566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C2B0E-5D62-3167-615B-2EE25A1A5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B5C16-CCAF-B57B-E38A-A095F3EED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Hur skriver vi till ett peripheral register i C? </a:t>
            </a:r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EBA062-CEF9-BF4B-19D7-8E81808854AB}"/>
              </a:ext>
            </a:extLst>
          </p:cNvPr>
          <p:cNvSpPr txBox="1"/>
          <p:nvPr/>
        </p:nvSpPr>
        <p:spPr>
          <a:xfrm>
            <a:off x="5932802" y="1951672"/>
            <a:ext cx="6102438" cy="295465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.equ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GPIO_D_CFGLR,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0x40011400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.equ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GPIO_D_OUTDR,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0x4001140C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Configure GPIO D, pin 2 as output, 2Mhz, push-pull 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GPIO_D_CFGLR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li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0x00000200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 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Set lower 8 pins as output push-pull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sw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Skriv 1 till pin 2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GPIO_D_OUTDR</a:t>
            </a: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lh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Läs nuvarande värde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ori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0b100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Sätt bit 2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sh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# Skriv tillbaka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CA1A7B-9F9E-FCDA-0A47-EDE71B6176AD}"/>
              </a:ext>
            </a:extLst>
          </p:cNvPr>
          <p:cNvSpPr txBox="1"/>
          <p:nvPr/>
        </p:nvSpPr>
        <p:spPr>
          <a:xfrm>
            <a:off x="238194" y="2450386"/>
            <a:ext cx="5595936" cy="350352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GPIOD_CFGLR ((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0x40011400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Vi vill skriva värdet 0x00000200 till address 0x40011400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ptr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0x00000200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Vi kan göra detta utan att döpa pekaren: 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0x00000200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Och vi kan göre en define, som gör det enklare att läsa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GPIOD_CFGLR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0x00000200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354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7B665-7DB8-D077-AD74-D5DBDC93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804F-6EBB-9E78-8D05-FB0161B1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Hur läser vi? </a:t>
            </a:r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67169-C8F2-3458-2855-8A7AF1797A12}"/>
              </a:ext>
            </a:extLst>
          </p:cNvPr>
          <p:cNvSpPr txBox="1"/>
          <p:nvPr/>
        </p:nvSpPr>
        <p:spPr>
          <a:xfrm>
            <a:off x="5932802" y="1951672"/>
            <a:ext cx="6102438" cy="47602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.equ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GPIO_D_CFGLR,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.equ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GPIO_D_INDR,  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0x40011408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.equ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GPIO_D_OUTDR,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0x4001140C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la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GPIO_D_CFGLR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Configure pin 6 as input with pull up/down active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0x08000000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Binary: ... 0000 1000 0000 0000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Pin:    ...   3    2    1    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la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GPIO_D_OUTDR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Make it pull UP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await_button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la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GPIO_D_INDR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lh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andi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Mask for pin 6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bnez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await_button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nop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continue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568BF-38DA-43B6-DD5B-592211644B9F}"/>
              </a:ext>
            </a:extLst>
          </p:cNvPr>
          <p:cNvSpPr txBox="1"/>
          <p:nvPr/>
        </p:nvSpPr>
        <p:spPr>
          <a:xfrm>
            <a:off x="238194" y="2450386"/>
            <a:ext cx="5595936" cy="386259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GPIOD_CFGLR ((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0x40011400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GPIOD_INDR ((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0x40011408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GPIOD_OUTDR ((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0x4001140C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Konfigurera pin 6 som ingång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GPIOD_CFGLR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0x08000000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Sätt pin 6 i OUTDR för pull up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GPIOD_OUTDR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0b01000000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Vänta tills vi tryckt på knappen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input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GPIOD_INDR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input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0b01000000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0F997C3-CAFF-2FA0-7555-ED160CED89AF}"/>
              </a:ext>
            </a:extLst>
          </p:cNvPr>
          <p:cNvGrpSpPr/>
          <p:nvPr/>
        </p:nvGrpSpPr>
        <p:grpSpPr>
          <a:xfrm>
            <a:off x="919846" y="3817694"/>
            <a:ext cx="8064175" cy="1477328"/>
            <a:chOff x="919846" y="3817694"/>
            <a:chExt cx="8064175" cy="14773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608585-FAD2-AEA7-05D6-44A9D55B961D}"/>
                </a:ext>
              </a:extLst>
            </p:cNvPr>
            <p:cNvSpPr txBox="1"/>
            <p:nvPr/>
          </p:nvSpPr>
          <p:spPr>
            <a:xfrm>
              <a:off x="5132774" y="3817694"/>
              <a:ext cx="3851247" cy="14773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sv-SE"/>
                <a:t>Optimeraren tänker: </a:t>
              </a:r>
            </a:p>
            <a:p>
              <a:r>
                <a:rPr lang="sv-SE" i="1"/>
                <a:t>”Aha! Här läser dom en variabel från</a:t>
              </a:r>
            </a:p>
            <a:p>
              <a:r>
                <a:rPr lang="sv-SE" i="1"/>
                <a:t>minnet varje iteration, men den ändras</a:t>
              </a:r>
            </a:p>
            <a:p>
              <a:r>
                <a:rPr lang="sv-SE" i="1"/>
                <a:t>aldrig! Den kan jag flytta på och göra </a:t>
              </a:r>
            </a:p>
            <a:p>
              <a:r>
                <a:rPr lang="sv-SE" i="1"/>
                <a:t>programmet mycket snabbare!”</a:t>
              </a:r>
              <a:endParaRPr lang="LID4096" i="1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AD5925-CDFC-E525-65B9-AA618CA0A483}"/>
                </a:ext>
              </a:extLst>
            </p:cNvPr>
            <p:cNvSpPr/>
            <p:nvPr/>
          </p:nvSpPr>
          <p:spPr>
            <a:xfrm>
              <a:off x="919846" y="4988417"/>
              <a:ext cx="2583208" cy="190107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692B6D-DE0C-3090-2038-B91F75E66801}"/>
                </a:ext>
              </a:extLst>
            </p:cNvPr>
            <p:cNvCxnSpPr>
              <a:cxnSpLocks/>
              <a:stCxn id="7" idx="3"/>
              <a:endCxn id="6" idx="1"/>
            </p:cNvCxnSpPr>
            <p:nvPr/>
          </p:nvCxnSpPr>
          <p:spPr>
            <a:xfrm flipV="1">
              <a:off x="3503054" y="4556358"/>
              <a:ext cx="1629720" cy="527113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358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FA6B-DE97-AF0B-C9FD-EE2DC7604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AE69-6205-AC60-10A1-56C36D66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Hur läser vi? </a:t>
            </a:r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1C697C-D773-E787-FCF5-309BEDD3E939}"/>
              </a:ext>
            </a:extLst>
          </p:cNvPr>
          <p:cNvSpPr txBox="1"/>
          <p:nvPr/>
        </p:nvSpPr>
        <p:spPr>
          <a:xfrm>
            <a:off x="5932802" y="1951672"/>
            <a:ext cx="6102438" cy="47602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.equ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GPIO_D_CFGLR,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.equ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GPIO_D_INDR,  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0x40011408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.equ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GPIO_D_OUTDR,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0x4001140C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la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GPIO_D_CFGLR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Configure pin 6 as input with pull up/down active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0x08000000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Binary: ... 0000 1000 0000 0000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Pin:    ...   3    2    1    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la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GPIO_D_OUTDR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Make it pull UP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await_button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la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GPIO_D_INDR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lh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andi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Mask for pin 6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bnez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await_button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nop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continue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36425-CDC2-70E1-3372-60754C0D2650}"/>
              </a:ext>
            </a:extLst>
          </p:cNvPr>
          <p:cNvSpPr txBox="1"/>
          <p:nvPr/>
        </p:nvSpPr>
        <p:spPr>
          <a:xfrm>
            <a:off x="238194" y="2450386"/>
            <a:ext cx="5595936" cy="368306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GPIOD_CFGLR ((</a:t>
            </a:r>
            <a:r>
              <a:rPr lang="en-GB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0x40011400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GPIOD_INDR ((</a:t>
            </a:r>
            <a:r>
              <a:rPr lang="en-GB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0x40011408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GPIOD_OUTDR ((</a:t>
            </a:r>
            <a:r>
              <a:rPr lang="en-GB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0x4001140C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Konfigurera pin 6 som ingång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GPIOD_CFGLR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0x08000000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Sätt pin 6 i OUTDR för pull up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GPIOD_OUTDR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0b01000000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GPIOD_INDR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Vänta tills vi tryckt på knappen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0b01000000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GB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ED006D-753A-91E1-CD0D-17475E65CC22}"/>
              </a:ext>
            </a:extLst>
          </p:cNvPr>
          <p:cNvGrpSpPr/>
          <p:nvPr/>
        </p:nvGrpSpPr>
        <p:grpSpPr>
          <a:xfrm>
            <a:off x="593581" y="3817694"/>
            <a:ext cx="7827401" cy="820838"/>
            <a:chOff x="593581" y="3817694"/>
            <a:chExt cx="7827401" cy="8208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56DAFC3-81F2-B1E2-5730-8E447FE1D54A}"/>
                </a:ext>
              </a:extLst>
            </p:cNvPr>
            <p:cNvSpPr txBox="1"/>
            <p:nvPr/>
          </p:nvSpPr>
          <p:spPr>
            <a:xfrm>
              <a:off x="5132774" y="3817694"/>
              <a:ext cx="3288208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sv-SE"/>
                <a:t>Optimeraren tänker: </a:t>
              </a:r>
            </a:p>
            <a:p>
              <a:r>
                <a:rPr lang="sv-SE"/>
                <a:t>”Såja! Nu blir alla imponerade.”</a:t>
              </a:r>
              <a:endParaRPr lang="LID4096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CE51B7-24CB-C426-A0BE-7612EE133CBA}"/>
                </a:ext>
              </a:extLst>
            </p:cNvPr>
            <p:cNvSpPr/>
            <p:nvPr/>
          </p:nvSpPr>
          <p:spPr>
            <a:xfrm>
              <a:off x="593581" y="4448425"/>
              <a:ext cx="2583208" cy="190107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3DD49C1-E209-0587-1C1B-8620678EA1ED}"/>
                </a:ext>
              </a:extLst>
            </p:cNvPr>
            <p:cNvCxnSpPr>
              <a:cxnSpLocks/>
              <a:stCxn id="7" idx="3"/>
              <a:endCxn id="6" idx="1"/>
            </p:cNvCxnSpPr>
            <p:nvPr/>
          </p:nvCxnSpPr>
          <p:spPr>
            <a:xfrm flipV="1">
              <a:off x="3176789" y="4140860"/>
              <a:ext cx="1955985" cy="402619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006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E715-191F-C1FA-9310-4D755DBA7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8B38-F699-DBB2-FA3C-53C112BE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Volatile</a:t>
            </a:r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4BA53-ADAB-3BEF-3B25-81C9C78C7179}"/>
              </a:ext>
            </a:extLst>
          </p:cNvPr>
          <p:cNvSpPr txBox="1"/>
          <p:nvPr/>
        </p:nvSpPr>
        <p:spPr>
          <a:xfrm>
            <a:off x="5932802" y="1951672"/>
            <a:ext cx="6102438" cy="476027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.equ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GPIO_D_CFGLR,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.equ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GPIO_D_INDR,  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0x40011408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.equ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GPIO_D_OUTDR,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0x4001140C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la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GPIO_D_CFGLR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Configure pin 6 as input with pull up/down active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0x08000000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Binary: ... 0000 1000 0000 0000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Pin:    ...   3    2    1    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la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GPIO_D_OUTDR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Make it pull UP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await_button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la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GPIO_D_INDR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lh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andi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0x40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en-GB" sz="12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Mask for pin 6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bnez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await_button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nop</a:t>
            </a:r>
            <a:endParaRPr lang="en-GB" sz="12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2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GB" sz="12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continue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FCF22-B614-972D-CA9F-470467FC8ACB}"/>
              </a:ext>
            </a:extLst>
          </p:cNvPr>
          <p:cNvSpPr txBox="1"/>
          <p:nvPr/>
        </p:nvSpPr>
        <p:spPr>
          <a:xfrm>
            <a:off x="238194" y="2450386"/>
            <a:ext cx="5595936" cy="386259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GPIOD_CFGLR ((</a:t>
            </a:r>
            <a:r>
              <a:rPr lang="en-GB" sz="1200">
                <a:solidFill>
                  <a:srgbClr val="FFC000"/>
                </a:solidFill>
                <a:latin typeface="Consolas" panose="020B0609020204030204" pitchFamily="49" charset="0"/>
              </a:rPr>
              <a:t>volatile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0x40011400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GPIOD_INDR ((</a:t>
            </a:r>
            <a:r>
              <a:rPr lang="en-GB" sz="1200">
                <a:solidFill>
                  <a:srgbClr val="FFC000"/>
                </a:solidFill>
                <a:latin typeface="Consolas" panose="020B0609020204030204" pitchFamily="49" charset="0"/>
              </a:rPr>
              <a:t>volatile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0x40011408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GPIOD_OUTDR ((</a:t>
            </a:r>
            <a:r>
              <a:rPr lang="en-GB" sz="1200">
                <a:solidFill>
                  <a:srgbClr val="FFC000"/>
                </a:solidFill>
                <a:latin typeface="Consolas" panose="020B0609020204030204" pitchFamily="49" charset="0"/>
              </a:rPr>
              <a:t>volatile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0x4001140C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Konfigurera pin 6 som ingång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GPIOD_CFGLR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0x08000000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Sätt pin 6 i OUTDR för pull up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GPIOD_OUTDR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0b01000000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Vänta tills vi tryckt på knappen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input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GPIOD_INDR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9CDCFE"/>
                </a:solidFill>
                <a:latin typeface="Consolas" panose="020B0609020204030204" pitchFamily="49" charset="0"/>
              </a:rPr>
              <a:t>input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0b01000000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C6E80A4-2E25-E55D-AFB9-1975FA028DBF}"/>
              </a:ext>
            </a:extLst>
          </p:cNvPr>
          <p:cNvGrpSpPr/>
          <p:nvPr/>
        </p:nvGrpSpPr>
        <p:grpSpPr>
          <a:xfrm>
            <a:off x="284488" y="2032440"/>
            <a:ext cx="9882743" cy="1200329"/>
            <a:chOff x="284488" y="2032440"/>
            <a:chExt cx="9882743" cy="120032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B2452BA-2110-EEE4-DC72-93EC05EB0854}"/>
                </a:ext>
              </a:extLst>
            </p:cNvPr>
            <p:cNvSpPr txBox="1"/>
            <p:nvPr/>
          </p:nvSpPr>
          <p:spPr>
            <a:xfrm>
              <a:off x="5398938" y="2032440"/>
              <a:ext cx="4768293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sv-SE"/>
                <a:t>Vi måste berättaför kompilatorn att den här</a:t>
              </a:r>
            </a:p>
            <a:p>
              <a:r>
                <a:rPr lang="sv-SE"/>
                <a:t>variabeln </a:t>
              </a:r>
              <a:r>
                <a:rPr lang="sv-SE" i="1"/>
                <a:t>kan</a:t>
              </a:r>
              <a:r>
                <a:rPr lang="sv-SE"/>
                <a:t> ändras utifrån (andra processer </a:t>
              </a:r>
            </a:p>
            <a:p>
              <a:r>
                <a:rPr lang="sv-SE"/>
                <a:t>eller extern hårdvara) och att den måste tänka </a:t>
              </a:r>
            </a:p>
            <a:p>
              <a:r>
                <a:rPr lang="sv-SE"/>
                <a:t>på det när den optimerar. </a:t>
              </a:r>
              <a:endParaRPr lang="LID4096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B97E214-3CEC-7737-5502-BBA636101191}"/>
                </a:ext>
              </a:extLst>
            </p:cNvPr>
            <p:cNvSpPr/>
            <p:nvPr/>
          </p:nvSpPr>
          <p:spPr>
            <a:xfrm>
              <a:off x="284488" y="2507087"/>
              <a:ext cx="4519331" cy="528034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9C41858-EB15-7D20-F6C2-37A771019914}"/>
                </a:ext>
              </a:extLst>
            </p:cNvPr>
            <p:cNvCxnSpPr>
              <a:cxnSpLocks/>
              <a:stCxn id="7" idx="3"/>
              <a:endCxn id="6" idx="1"/>
            </p:cNvCxnSpPr>
            <p:nvPr/>
          </p:nvCxnSpPr>
          <p:spPr>
            <a:xfrm flipV="1">
              <a:off x="4803819" y="2632605"/>
              <a:ext cx="595119" cy="138499"/>
            </a:xfrm>
            <a:prstGeom prst="line">
              <a:avLst/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537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171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1C6FA-4E45-8742-A3B1-9FE762EB5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Exempel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79D5D-15E8-575F-F6BF-1482B1694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410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D09F-CA92-36F8-74ED-13FED3BCC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129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C9CAA-77FD-3FA3-C0E7-61C93939B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ASCII Displayen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90F18-49F7-59E4-D603-D308A00BC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518278" y="2383891"/>
            <a:ext cx="3964994" cy="3299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B8336A-75D0-5618-A4FB-291CF4E2783E}"/>
              </a:ext>
            </a:extLst>
          </p:cNvPr>
          <p:cNvSpPr txBox="1"/>
          <p:nvPr/>
        </p:nvSpPr>
        <p:spPr>
          <a:xfrm>
            <a:off x="7735911" y="2695977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solidFill>
                  <a:schemeClr val="accent3">
                    <a:lumMod val="20000"/>
                    <a:lumOff val="8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Mop Rules!</a:t>
            </a:r>
            <a:endParaRPr lang="LID4096">
              <a:solidFill>
                <a:schemeClr val="accent3">
                  <a:lumMod val="20000"/>
                  <a:lumOff val="80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017EF6-5CE9-5728-587F-1B3CE8287439}"/>
              </a:ext>
            </a:extLst>
          </p:cNvPr>
          <p:cNvSpPr txBox="1"/>
          <p:nvPr/>
        </p:nvSpPr>
        <p:spPr>
          <a:xfrm>
            <a:off x="5040608" y="5834202"/>
            <a:ext cx="914400" cy="2769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49F567B-1533-4717-9655-7BBAF5B49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77" y="2009963"/>
            <a:ext cx="5291288" cy="31669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A3A210-3CB9-852A-5103-3CCE6DFB2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1303" y="6206346"/>
            <a:ext cx="3236025" cy="3401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DEEEB38-66C1-99BC-B2DB-3E54ED486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4118" y="6244022"/>
            <a:ext cx="3295228" cy="264817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7069AAD-6C5D-A6B2-422E-1F09BDEBF742}"/>
              </a:ext>
            </a:extLst>
          </p:cNvPr>
          <p:cNvSpPr/>
          <p:nvPr/>
        </p:nvSpPr>
        <p:spPr>
          <a:xfrm>
            <a:off x="8470433" y="5212854"/>
            <a:ext cx="595268" cy="369332"/>
          </a:xfrm>
          <a:custGeom>
            <a:avLst/>
            <a:gdLst>
              <a:gd name="csX0" fmla="*/ 408509 w 762626"/>
              <a:gd name="csY0" fmla="*/ 67479 h 469838"/>
              <a:gd name="csX1" fmla="*/ 72333 w 762626"/>
              <a:gd name="csY1" fmla="*/ 67479 h 469838"/>
              <a:gd name="csX2" fmla="*/ 11821 w 762626"/>
              <a:gd name="csY2" fmla="*/ 302803 h 469838"/>
              <a:gd name="csX3" fmla="*/ 240421 w 762626"/>
              <a:gd name="csY3" fmla="*/ 443997 h 469838"/>
              <a:gd name="csX4" fmla="*/ 657280 w 762626"/>
              <a:gd name="csY4" fmla="*/ 457444 h 469838"/>
              <a:gd name="csX5" fmla="*/ 751409 w 762626"/>
              <a:gd name="csY5" fmla="*/ 309526 h 469838"/>
              <a:gd name="csX6" fmla="*/ 711068 w 762626"/>
              <a:gd name="csY6" fmla="*/ 80926 h 469838"/>
              <a:gd name="csX7" fmla="*/ 307656 w 762626"/>
              <a:gd name="csY7" fmla="*/ 244 h 469838"/>
              <a:gd name="csX8" fmla="*/ 146291 w 762626"/>
              <a:gd name="csY8" fmla="*/ 60755 h 469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2626" h="469838">
                <a:moveTo>
                  <a:pt x="408509" y="67479"/>
                </a:moveTo>
                <a:cubicBezTo>
                  <a:pt x="273478" y="47868"/>
                  <a:pt x="138448" y="28258"/>
                  <a:pt x="72333" y="67479"/>
                </a:cubicBezTo>
                <a:cubicBezTo>
                  <a:pt x="6218" y="106700"/>
                  <a:pt x="-16194" y="240050"/>
                  <a:pt x="11821" y="302803"/>
                </a:cubicBezTo>
                <a:cubicBezTo>
                  <a:pt x="39836" y="365556"/>
                  <a:pt x="132844" y="418223"/>
                  <a:pt x="240421" y="443997"/>
                </a:cubicBezTo>
                <a:cubicBezTo>
                  <a:pt x="347998" y="469771"/>
                  <a:pt x="572115" y="479856"/>
                  <a:pt x="657280" y="457444"/>
                </a:cubicBezTo>
                <a:cubicBezTo>
                  <a:pt x="742445" y="435032"/>
                  <a:pt x="742444" y="372279"/>
                  <a:pt x="751409" y="309526"/>
                </a:cubicBezTo>
                <a:cubicBezTo>
                  <a:pt x="760374" y="246773"/>
                  <a:pt x="785027" y="132473"/>
                  <a:pt x="711068" y="80926"/>
                </a:cubicBezTo>
                <a:cubicBezTo>
                  <a:pt x="637109" y="29379"/>
                  <a:pt x="401785" y="3606"/>
                  <a:pt x="307656" y="244"/>
                </a:cubicBezTo>
                <a:cubicBezTo>
                  <a:pt x="213527" y="-3118"/>
                  <a:pt x="179909" y="28818"/>
                  <a:pt x="146291" y="60755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F79C8A-6473-829D-A4BD-88A08CCD915B}"/>
              </a:ext>
            </a:extLst>
          </p:cNvPr>
          <p:cNvSpPr txBox="1"/>
          <p:nvPr/>
        </p:nvSpPr>
        <p:spPr>
          <a:xfrm>
            <a:off x="11096222" y="5929347"/>
            <a:ext cx="914400" cy="2769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E921A2D-EC17-B334-7267-2C66623F58E6}"/>
              </a:ext>
            </a:extLst>
          </p:cNvPr>
          <p:cNvSpPr/>
          <p:nvPr/>
        </p:nvSpPr>
        <p:spPr>
          <a:xfrm rot="10117872">
            <a:off x="9150866" y="5212854"/>
            <a:ext cx="595268" cy="369332"/>
          </a:xfrm>
          <a:custGeom>
            <a:avLst/>
            <a:gdLst>
              <a:gd name="csX0" fmla="*/ 408509 w 762626"/>
              <a:gd name="csY0" fmla="*/ 67479 h 469838"/>
              <a:gd name="csX1" fmla="*/ 72333 w 762626"/>
              <a:gd name="csY1" fmla="*/ 67479 h 469838"/>
              <a:gd name="csX2" fmla="*/ 11821 w 762626"/>
              <a:gd name="csY2" fmla="*/ 302803 h 469838"/>
              <a:gd name="csX3" fmla="*/ 240421 w 762626"/>
              <a:gd name="csY3" fmla="*/ 443997 h 469838"/>
              <a:gd name="csX4" fmla="*/ 657280 w 762626"/>
              <a:gd name="csY4" fmla="*/ 457444 h 469838"/>
              <a:gd name="csX5" fmla="*/ 751409 w 762626"/>
              <a:gd name="csY5" fmla="*/ 309526 h 469838"/>
              <a:gd name="csX6" fmla="*/ 711068 w 762626"/>
              <a:gd name="csY6" fmla="*/ 80926 h 469838"/>
              <a:gd name="csX7" fmla="*/ 307656 w 762626"/>
              <a:gd name="csY7" fmla="*/ 244 h 469838"/>
              <a:gd name="csX8" fmla="*/ 146291 w 762626"/>
              <a:gd name="csY8" fmla="*/ 60755 h 469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2626" h="469838">
                <a:moveTo>
                  <a:pt x="408509" y="67479"/>
                </a:moveTo>
                <a:cubicBezTo>
                  <a:pt x="273478" y="47868"/>
                  <a:pt x="138448" y="28258"/>
                  <a:pt x="72333" y="67479"/>
                </a:cubicBezTo>
                <a:cubicBezTo>
                  <a:pt x="6218" y="106700"/>
                  <a:pt x="-16194" y="240050"/>
                  <a:pt x="11821" y="302803"/>
                </a:cubicBezTo>
                <a:cubicBezTo>
                  <a:pt x="39836" y="365556"/>
                  <a:pt x="132844" y="418223"/>
                  <a:pt x="240421" y="443997"/>
                </a:cubicBezTo>
                <a:cubicBezTo>
                  <a:pt x="347998" y="469771"/>
                  <a:pt x="572115" y="479856"/>
                  <a:pt x="657280" y="457444"/>
                </a:cubicBezTo>
                <a:cubicBezTo>
                  <a:pt x="742445" y="435032"/>
                  <a:pt x="742444" y="372279"/>
                  <a:pt x="751409" y="309526"/>
                </a:cubicBezTo>
                <a:cubicBezTo>
                  <a:pt x="760374" y="246773"/>
                  <a:pt x="785027" y="132473"/>
                  <a:pt x="711068" y="80926"/>
                </a:cubicBezTo>
                <a:cubicBezTo>
                  <a:pt x="637109" y="29379"/>
                  <a:pt x="401785" y="3606"/>
                  <a:pt x="307656" y="244"/>
                </a:cubicBezTo>
                <a:cubicBezTo>
                  <a:pt x="213527" y="-3118"/>
                  <a:pt x="179909" y="28818"/>
                  <a:pt x="146291" y="60755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D419373-877E-07E1-8028-9ED8127B90A2}"/>
              </a:ext>
            </a:extLst>
          </p:cNvPr>
          <p:cNvSpPr/>
          <p:nvPr/>
        </p:nvSpPr>
        <p:spPr>
          <a:xfrm>
            <a:off x="5344732" y="5277318"/>
            <a:ext cx="3133860" cy="518175"/>
          </a:xfrm>
          <a:custGeom>
            <a:avLst/>
            <a:gdLst>
              <a:gd name="csX0" fmla="*/ 3133860 w 3133860"/>
              <a:gd name="csY0" fmla="*/ 0 h 399245"/>
              <a:gd name="csX1" fmla="*/ 0 w 3133860"/>
              <a:gd name="csY1" fmla="*/ 399245 h 399245"/>
              <a:gd name="csX0" fmla="*/ 3133860 w 3133860"/>
              <a:gd name="csY0" fmla="*/ 0 h 399245"/>
              <a:gd name="csX1" fmla="*/ 0 w 3133860"/>
              <a:gd name="csY1" fmla="*/ 399245 h 399245"/>
              <a:gd name="csX0" fmla="*/ 3133860 w 3133860"/>
              <a:gd name="csY0" fmla="*/ 118930 h 518175"/>
              <a:gd name="csX1" fmla="*/ 0 w 3133860"/>
              <a:gd name="csY1" fmla="*/ 518175 h 518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133860" h="518175">
                <a:moveTo>
                  <a:pt x="3133860" y="118930"/>
                </a:moveTo>
                <a:cubicBezTo>
                  <a:pt x="1119032" y="-185870"/>
                  <a:pt x="465071" y="148981"/>
                  <a:pt x="0" y="518175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13468EF-6B3C-A4F2-8A46-3FD451C07A85}"/>
              </a:ext>
            </a:extLst>
          </p:cNvPr>
          <p:cNvSpPr/>
          <p:nvPr/>
        </p:nvSpPr>
        <p:spPr>
          <a:xfrm>
            <a:off x="9745014" y="5287306"/>
            <a:ext cx="1768699" cy="692784"/>
          </a:xfrm>
          <a:custGeom>
            <a:avLst/>
            <a:gdLst>
              <a:gd name="csX0" fmla="*/ 0 w 1768699"/>
              <a:gd name="csY0" fmla="*/ 0 h 635358"/>
              <a:gd name="csX1" fmla="*/ 1768699 w 1768699"/>
              <a:gd name="csY1" fmla="*/ 635358 h 635358"/>
              <a:gd name="csX0" fmla="*/ 0 w 1768699"/>
              <a:gd name="csY0" fmla="*/ 0 h 635358"/>
              <a:gd name="csX1" fmla="*/ 1768699 w 1768699"/>
              <a:gd name="csY1" fmla="*/ 635358 h 635358"/>
              <a:gd name="csX0" fmla="*/ 0 w 1768699"/>
              <a:gd name="csY0" fmla="*/ 57426 h 692784"/>
              <a:gd name="csX1" fmla="*/ 1768699 w 1768699"/>
              <a:gd name="csY1" fmla="*/ 692784 h 692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68699" h="692784">
                <a:moveTo>
                  <a:pt x="0" y="57426"/>
                </a:moveTo>
                <a:cubicBezTo>
                  <a:pt x="842851" y="-31295"/>
                  <a:pt x="1548327" y="-128602"/>
                  <a:pt x="1768699" y="692784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43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 animBg="1"/>
      <p:bldP spid="25" grpId="0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41E92-EAF6-C825-6073-3078B9F07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784B7-1512-CF95-923A-E5C7826B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ASCII Displayen - Kommandon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49A86-9653-3F84-568D-2FC349852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518278" y="2383891"/>
            <a:ext cx="3964994" cy="3299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52BD01-B086-D552-0B79-388AB3D6C59D}"/>
              </a:ext>
            </a:extLst>
          </p:cNvPr>
          <p:cNvSpPr txBox="1"/>
          <p:nvPr/>
        </p:nvSpPr>
        <p:spPr>
          <a:xfrm>
            <a:off x="7735911" y="2695977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solidFill>
                  <a:schemeClr val="accent3">
                    <a:lumMod val="20000"/>
                    <a:lumOff val="8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Mop Rules!</a:t>
            </a:r>
            <a:endParaRPr lang="LID4096">
              <a:solidFill>
                <a:schemeClr val="accent3">
                  <a:lumMod val="20000"/>
                  <a:lumOff val="80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239A00-66FB-839F-8542-DDD1AB78BCA2}"/>
              </a:ext>
            </a:extLst>
          </p:cNvPr>
          <p:cNvSpPr txBox="1"/>
          <p:nvPr/>
        </p:nvSpPr>
        <p:spPr>
          <a:xfrm>
            <a:off x="5040608" y="5834202"/>
            <a:ext cx="914400" cy="2769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F7B1D0F-367C-4810-3F27-D506488DA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303" y="6206346"/>
            <a:ext cx="3236025" cy="3401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1615A78-6F96-9EA9-2E60-F24D831BF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4118" y="6244022"/>
            <a:ext cx="3295228" cy="264817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B2778F6-B987-516F-D141-8B9A70F5E26F}"/>
              </a:ext>
            </a:extLst>
          </p:cNvPr>
          <p:cNvSpPr/>
          <p:nvPr/>
        </p:nvSpPr>
        <p:spPr>
          <a:xfrm>
            <a:off x="8470433" y="5212854"/>
            <a:ext cx="595268" cy="369332"/>
          </a:xfrm>
          <a:custGeom>
            <a:avLst/>
            <a:gdLst>
              <a:gd name="csX0" fmla="*/ 408509 w 762626"/>
              <a:gd name="csY0" fmla="*/ 67479 h 469838"/>
              <a:gd name="csX1" fmla="*/ 72333 w 762626"/>
              <a:gd name="csY1" fmla="*/ 67479 h 469838"/>
              <a:gd name="csX2" fmla="*/ 11821 w 762626"/>
              <a:gd name="csY2" fmla="*/ 302803 h 469838"/>
              <a:gd name="csX3" fmla="*/ 240421 w 762626"/>
              <a:gd name="csY3" fmla="*/ 443997 h 469838"/>
              <a:gd name="csX4" fmla="*/ 657280 w 762626"/>
              <a:gd name="csY4" fmla="*/ 457444 h 469838"/>
              <a:gd name="csX5" fmla="*/ 751409 w 762626"/>
              <a:gd name="csY5" fmla="*/ 309526 h 469838"/>
              <a:gd name="csX6" fmla="*/ 711068 w 762626"/>
              <a:gd name="csY6" fmla="*/ 80926 h 469838"/>
              <a:gd name="csX7" fmla="*/ 307656 w 762626"/>
              <a:gd name="csY7" fmla="*/ 244 h 469838"/>
              <a:gd name="csX8" fmla="*/ 146291 w 762626"/>
              <a:gd name="csY8" fmla="*/ 60755 h 469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2626" h="469838">
                <a:moveTo>
                  <a:pt x="408509" y="67479"/>
                </a:moveTo>
                <a:cubicBezTo>
                  <a:pt x="273478" y="47868"/>
                  <a:pt x="138448" y="28258"/>
                  <a:pt x="72333" y="67479"/>
                </a:cubicBezTo>
                <a:cubicBezTo>
                  <a:pt x="6218" y="106700"/>
                  <a:pt x="-16194" y="240050"/>
                  <a:pt x="11821" y="302803"/>
                </a:cubicBezTo>
                <a:cubicBezTo>
                  <a:pt x="39836" y="365556"/>
                  <a:pt x="132844" y="418223"/>
                  <a:pt x="240421" y="443997"/>
                </a:cubicBezTo>
                <a:cubicBezTo>
                  <a:pt x="347998" y="469771"/>
                  <a:pt x="572115" y="479856"/>
                  <a:pt x="657280" y="457444"/>
                </a:cubicBezTo>
                <a:cubicBezTo>
                  <a:pt x="742445" y="435032"/>
                  <a:pt x="742444" y="372279"/>
                  <a:pt x="751409" y="309526"/>
                </a:cubicBezTo>
                <a:cubicBezTo>
                  <a:pt x="760374" y="246773"/>
                  <a:pt x="785027" y="132473"/>
                  <a:pt x="711068" y="80926"/>
                </a:cubicBezTo>
                <a:cubicBezTo>
                  <a:pt x="637109" y="29379"/>
                  <a:pt x="401785" y="3606"/>
                  <a:pt x="307656" y="244"/>
                </a:cubicBezTo>
                <a:cubicBezTo>
                  <a:pt x="213527" y="-3118"/>
                  <a:pt x="179909" y="28818"/>
                  <a:pt x="146291" y="60755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83F2C9-034F-2BF8-C7C8-6754D1483EC0}"/>
              </a:ext>
            </a:extLst>
          </p:cNvPr>
          <p:cNvSpPr txBox="1"/>
          <p:nvPr/>
        </p:nvSpPr>
        <p:spPr>
          <a:xfrm>
            <a:off x="11096222" y="5929347"/>
            <a:ext cx="914400" cy="2769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7C8CFE8-27A5-D2AD-83C3-2E29B745864E}"/>
              </a:ext>
            </a:extLst>
          </p:cNvPr>
          <p:cNvSpPr/>
          <p:nvPr/>
        </p:nvSpPr>
        <p:spPr>
          <a:xfrm rot="10117872">
            <a:off x="9150866" y="5212854"/>
            <a:ext cx="595268" cy="369332"/>
          </a:xfrm>
          <a:custGeom>
            <a:avLst/>
            <a:gdLst>
              <a:gd name="csX0" fmla="*/ 408509 w 762626"/>
              <a:gd name="csY0" fmla="*/ 67479 h 469838"/>
              <a:gd name="csX1" fmla="*/ 72333 w 762626"/>
              <a:gd name="csY1" fmla="*/ 67479 h 469838"/>
              <a:gd name="csX2" fmla="*/ 11821 w 762626"/>
              <a:gd name="csY2" fmla="*/ 302803 h 469838"/>
              <a:gd name="csX3" fmla="*/ 240421 w 762626"/>
              <a:gd name="csY3" fmla="*/ 443997 h 469838"/>
              <a:gd name="csX4" fmla="*/ 657280 w 762626"/>
              <a:gd name="csY4" fmla="*/ 457444 h 469838"/>
              <a:gd name="csX5" fmla="*/ 751409 w 762626"/>
              <a:gd name="csY5" fmla="*/ 309526 h 469838"/>
              <a:gd name="csX6" fmla="*/ 711068 w 762626"/>
              <a:gd name="csY6" fmla="*/ 80926 h 469838"/>
              <a:gd name="csX7" fmla="*/ 307656 w 762626"/>
              <a:gd name="csY7" fmla="*/ 244 h 469838"/>
              <a:gd name="csX8" fmla="*/ 146291 w 762626"/>
              <a:gd name="csY8" fmla="*/ 60755 h 469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2626" h="469838">
                <a:moveTo>
                  <a:pt x="408509" y="67479"/>
                </a:moveTo>
                <a:cubicBezTo>
                  <a:pt x="273478" y="47868"/>
                  <a:pt x="138448" y="28258"/>
                  <a:pt x="72333" y="67479"/>
                </a:cubicBezTo>
                <a:cubicBezTo>
                  <a:pt x="6218" y="106700"/>
                  <a:pt x="-16194" y="240050"/>
                  <a:pt x="11821" y="302803"/>
                </a:cubicBezTo>
                <a:cubicBezTo>
                  <a:pt x="39836" y="365556"/>
                  <a:pt x="132844" y="418223"/>
                  <a:pt x="240421" y="443997"/>
                </a:cubicBezTo>
                <a:cubicBezTo>
                  <a:pt x="347998" y="469771"/>
                  <a:pt x="572115" y="479856"/>
                  <a:pt x="657280" y="457444"/>
                </a:cubicBezTo>
                <a:cubicBezTo>
                  <a:pt x="742445" y="435032"/>
                  <a:pt x="742444" y="372279"/>
                  <a:pt x="751409" y="309526"/>
                </a:cubicBezTo>
                <a:cubicBezTo>
                  <a:pt x="760374" y="246773"/>
                  <a:pt x="785027" y="132473"/>
                  <a:pt x="711068" y="80926"/>
                </a:cubicBezTo>
                <a:cubicBezTo>
                  <a:pt x="637109" y="29379"/>
                  <a:pt x="401785" y="3606"/>
                  <a:pt x="307656" y="244"/>
                </a:cubicBezTo>
                <a:cubicBezTo>
                  <a:pt x="213527" y="-3118"/>
                  <a:pt x="179909" y="28818"/>
                  <a:pt x="146291" y="60755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579D97E-7B27-D0E8-CC15-A15A4344184F}"/>
              </a:ext>
            </a:extLst>
          </p:cNvPr>
          <p:cNvSpPr/>
          <p:nvPr/>
        </p:nvSpPr>
        <p:spPr>
          <a:xfrm>
            <a:off x="5344732" y="5277318"/>
            <a:ext cx="3133860" cy="518175"/>
          </a:xfrm>
          <a:custGeom>
            <a:avLst/>
            <a:gdLst>
              <a:gd name="csX0" fmla="*/ 3133860 w 3133860"/>
              <a:gd name="csY0" fmla="*/ 0 h 399245"/>
              <a:gd name="csX1" fmla="*/ 0 w 3133860"/>
              <a:gd name="csY1" fmla="*/ 399245 h 399245"/>
              <a:gd name="csX0" fmla="*/ 3133860 w 3133860"/>
              <a:gd name="csY0" fmla="*/ 0 h 399245"/>
              <a:gd name="csX1" fmla="*/ 0 w 3133860"/>
              <a:gd name="csY1" fmla="*/ 399245 h 399245"/>
              <a:gd name="csX0" fmla="*/ 3133860 w 3133860"/>
              <a:gd name="csY0" fmla="*/ 118930 h 518175"/>
              <a:gd name="csX1" fmla="*/ 0 w 3133860"/>
              <a:gd name="csY1" fmla="*/ 518175 h 518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133860" h="518175">
                <a:moveTo>
                  <a:pt x="3133860" y="118930"/>
                </a:moveTo>
                <a:cubicBezTo>
                  <a:pt x="1119032" y="-185870"/>
                  <a:pt x="465071" y="148981"/>
                  <a:pt x="0" y="518175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3090E05-633F-C7E2-A607-02839982F4BF}"/>
              </a:ext>
            </a:extLst>
          </p:cNvPr>
          <p:cNvSpPr/>
          <p:nvPr/>
        </p:nvSpPr>
        <p:spPr>
          <a:xfrm>
            <a:off x="9745014" y="5287306"/>
            <a:ext cx="1768699" cy="692784"/>
          </a:xfrm>
          <a:custGeom>
            <a:avLst/>
            <a:gdLst>
              <a:gd name="csX0" fmla="*/ 0 w 1768699"/>
              <a:gd name="csY0" fmla="*/ 0 h 635358"/>
              <a:gd name="csX1" fmla="*/ 1768699 w 1768699"/>
              <a:gd name="csY1" fmla="*/ 635358 h 635358"/>
              <a:gd name="csX0" fmla="*/ 0 w 1768699"/>
              <a:gd name="csY0" fmla="*/ 0 h 635358"/>
              <a:gd name="csX1" fmla="*/ 1768699 w 1768699"/>
              <a:gd name="csY1" fmla="*/ 635358 h 635358"/>
              <a:gd name="csX0" fmla="*/ 0 w 1768699"/>
              <a:gd name="csY0" fmla="*/ 57426 h 692784"/>
              <a:gd name="csX1" fmla="*/ 1768699 w 1768699"/>
              <a:gd name="csY1" fmla="*/ 692784 h 692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68699" h="692784">
                <a:moveTo>
                  <a:pt x="0" y="57426"/>
                </a:moveTo>
                <a:cubicBezTo>
                  <a:pt x="842851" y="-31295"/>
                  <a:pt x="1548327" y="-128602"/>
                  <a:pt x="1768699" y="692784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1759D-634F-0157-A61A-09E9737F60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863" y="2056986"/>
            <a:ext cx="5520508" cy="31008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710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 animBg="1"/>
      <p:bldP spid="25" grpId="0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2A04-DAA1-A5CF-64C0-4358CC2B4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0F8AC-9D7C-C060-26A1-9688A98F9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ASCII Displayen - Skrivcykel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98244-E88B-7EE1-6ADD-8B12D7F41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518278" y="2383891"/>
            <a:ext cx="3964994" cy="3299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8CE9F5-EE6C-C062-9810-32C230F8467B}"/>
              </a:ext>
            </a:extLst>
          </p:cNvPr>
          <p:cNvSpPr txBox="1"/>
          <p:nvPr/>
        </p:nvSpPr>
        <p:spPr>
          <a:xfrm>
            <a:off x="7735911" y="2695977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solidFill>
                  <a:schemeClr val="accent3">
                    <a:lumMod val="20000"/>
                    <a:lumOff val="8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Mop Rules!</a:t>
            </a:r>
            <a:endParaRPr lang="LID4096">
              <a:solidFill>
                <a:schemeClr val="accent3">
                  <a:lumMod val="20000"/>
                  <a:lumOff val="80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F997AB-24A3-5C2D-13CF-6163A7CDE30F}"/>
              </a:ext>
            </a:extLst>
          </p:cNvPr>
          <p:cNvSpPr txBox="1"/>
          <p:nvPr/>
        </p:nvSpPr>
        <p:spPr>
          <a:xfrm>
            <a:off x="5040608" y="5834202"/>
            <a:ext cx="914400" cy="2769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AE7E921-79A1-2B19-3A80-E91B6CC4B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303" y="6206346"/>
            <a:ext cx="3236025" cy="3401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8E90458-657E-E231-ADDA-4951065F0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4118" y="6244022"/>
            <a:ext cx="3295228" cy="264817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BF96372-E9FD-5656-5F93-FC01D51A4069}"/>
              </a:ext>
            </a:extLst>
          </p:cNvPr>
          <p:cNvSpPr/>
          <p:nvPr/>
        </p:nvSpPr>
        <p:spPr>
          <a:xfrm>
            <a:off x="8470433" y="5212854"/>
            <a:ext cx="595268" cy="369332"/>
          </a:xfrm>
          <a:custGeom>
            <a:avLst/>
            <a:gdLst>
              <a:gd name="csX0" fmla="*/ 408509 w 762626"/>
              <a:gd name="csY0" fmla="*/ 67479 h 469838"/>
              <a:gd name="csX1" fmla="*/ 72333 w 762626"/>
              <a:gd name="csY1" fmla="*/ 67479 h 469838"/>
              <a:gd name="csX2" fmla="*/ 11821 w 762626"/>
              <a:gd name="csY2" fmla="*/ 302803 h 469838"/>
              <a:gd name="csX3" fmla="*/ 240421 w 762626"/>
              <a:gd name="csY3" fmla="*/ 443997 h 469838"/>
              <a:gd name="csX4" fmla="*/ 657280 w 762626"/>
              <a:gd name="csY4" fmla="*/ 457444 h 469838"/>
              <a:gd name="csX5" fmla="*/ 751409 w 762626"/>
              <a:gd name="csY5" fmla="*/ 309526 h 469838"/>
              <a:gd name="csX6" fmla="*/ 711068 w 762626"/>
              <a:gd name="csY6" fmla="*/ 80926 h 469838"/>
              <a:gd name="csX7" fmla="*/ 307656 w 762626"/>
              <a:gd name="csY7" fmla="*/ 244 h 469838"/>
              <a:gd name="csX8" fmla="*/ 146291 w 762626"/>
              <a:gd name="csY8" fmla="*/ 60755 h 469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2626" h="469838">
                <a:moveTo>
                  <a:pt x="408509" y="67479"/>
                </a:moveTo>
                <a:cubicBezTo>
                  <a:pt x="273478" y="47868"/>
                  <a:pt x="138448" y="28258"/>
                  <a:pt x="72333" y="67479"/>
                </a:cubicBezTo>
                <a:cubicBezTo>
                  <a:pt x="6218" y="106700"/>
                  <a:pt x="-16194" y="240050"/>
                  <a:pt x="11821" y="302803"/>
                </a:cubicBezTo>
                <a:cubicBezTo>
                  <a:pt x="39836" y="365556"/>
                  <a:pt x="132844" y="418223"/>
                  <a:pt x="240421" y="443997"/>
                </a:cubicBezTo>
                <a:cubicBezTo>
                  <a:pt x="347998" y="469771"/>
                  <a:pt x="572115" y="479856"/>
                  <a:pt x="657280" y="457444"/>
                </a:cubicBezTo>
                <a:cubicBezTo>
                  <a:pt x="742445" y="435032"/>
                  <a:pt x="742444" y="372279"/>
                  <a:pt x="751409" y="309526"/>
                </a:cubicBezTo>
                <a:cubicBezTo>
                  <a:pt x="760374" y="246773"/>
                  <a:pt x="785027" y="132473"/>
                  <a:pt x="711068" y="80926"/>
                </a:cubicBezTo>
                <a:cubicBezTo>
                  <a:pt x="637109" y="29379"/>
                  <a:pt x="401785" y="3606"/>
                  <a:pt x="307656" y="244"/>
                </a:cubicBezTo>
                <a:cubicBezTo>
                  <a:pt x="213527" y="-3118"/>
                  <a:pt x="179909" y="28818"/>
                  <a:pt x="146291" y="60755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6E2A40-3411-B929-47EE-6CC16199504A}"/>
              </a:ext>
            </a:extLst>
          </p:cNvPr>
          <p:cNvSpPr txBox="1"/>
          <p:nvPr/>
        </p:nvSpPr>
        <p:spPr>
          <a:xfrm>
            <a:off x="11096222" y="5929347"/>
            <a:ext cx="914400" cy="2769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E74DC7-0761-E600-C9F8-8BB8DA67978F}"/>
              </a:ext>
            </a:extLst>
          </p:cNvPr>
          <p:cNvSpPr/>
          <p:nvPr/>
        </p:nvSpPr>
        <p:spPr>
          <a:xfrm rot="10117872">
            <a:off x="9150866" y="5212854"/>
            <a:ext cx="595268" cy="369332"/>
          </a:xfrm>
          <a:custGeom>
            <a:avLst/>
            <a:gdLst>
              <a:gd name="csX0" fmla="*/ 408509 w 762626"/>
              <a:gd name="csY0" fmla="*/ 67479 h 469838"/>
              <a:gd name="csX1" fmla="*/ 72333 w 762626"/>
              <a:gd name="csY1" fmla="*/ 67479 h 469838"/>
              <a:gd name="csX2" fmla="*/ 11821 w 762626"/>
              <a:gd name="csY2" fmla="*/ 302803 h 469838"/>
              <a:gd name="csX3" fmla="*/ 240421 w 762626"/>
              <a:gd name="csY3" fmla="*/ 443997 h 469838"/>
              <a:gd name="csX4" fmla="*/ 657280 w 762626"/>
              <a:gd name="csY4" fmla="*/ 457444 h 469838"/>
              <a:gd name="csX5" fmla="*/ 751409 w 762626"/>
              <a:gd name="csY5" fmla="*/ 309526 h 469838"/>
              <a:gd name="csX6" fmla="*/ 711068 w 762626"/>
              <a:gd name="csY6" fmla="*/ 80926 h 469838"/>
              <a:gd name="csX7" fmla="*/ 307656 w 762626"/>
              <a:gd name="csY7" fmla="*/ 244 h 469838"/>
              <a:gd name="csX8" fmla="*/ 146291 w 762626"/>
              <a:gd name="csY8" fmla="*/ 60755 h 469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2626" h="469838">
                <a:moveTo>
                  <a:pt x="408509" y="67479"/>
                </a:moveTo>
                <a:cubicBezTo>
                  <a:pt x="273478" y="47868"/>
                  <a:pt x="138448" y="28258"/>
                  <a:pt x="72333" y="67479"/>
                </a:cubicBezTo>
                <a:cubicBezTo>
                  <a:pt x="6218" y="106700"/>
                  <a:pt x="-16194" y="240050"/>
                  <a:pt x="11821" y="302803"/>
                </a:cubicBezTo>
                <a:cubicBezTo>
                  <a:pt x="39836" y="365556"/>
                  <a:pt x="132844" y="418223"/>
                  <a:pt x="240421" y="443997"/>
                </a:cubicBezTo>
                <a:cubicBezTo>
                  <a:pt x="347998" y="469771"/>
                  <a:pt x="572115" y="479856"/>
                  <a:pt x="657280" y="457444"/>
                </a:cubicBezTo>
                <a:cubicBezTo>
                  <a:pt x="742445" y="435032"/>
                  <a:pt x="742444" y="372279"/>
                  <a:pt x="751409" y="309526"/>
                </a:cubicBezTo>
                <a:cubicBezTo>
                  <a:pt x="760374" y="246773"/>
                  <a:pt x="785027" y="132473"/>
                  <a:pt x="711068" y="80926"/>
                </a:cubicBezTo>
                <a:cubicBezTo>
                  <a:pt x="637109" y="29379"/>
                  <a:pt x="401785" y="3606"/>
                  <a:pt x="307656" y="244"/>
                </a:cubicBezTo>
                <a:cubicBezTo>
                  <a:pt x="213527" y="-3118"/>
                  <a:pt x="179909" y="28818"/>
                  <a:pt x="146291" y="60755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B37E24F-33E1-6098-C8BD-B7C73B86DF04}"/>
              </a:ext>
            </a:extLst>
          </p:cNvPr>
          <p:cNvSpPr/>
          <p:nvPr/>
        </p:nvSpPr>
        <p:spPr>
          <a:xfrm>
            <a:off x="5344732" y="5277318"/>
            <a:ext cx="3133860" cy="518175"/>
          </a:xfrm>
          <a:custGeom>
            <a:avLst/>
            <a:gdLst>
              <a:gd name="csX0" fmla="*/ 3133860 w 3133860"/>
              <a:gd name="csY0" fmla="*/ 0 h 399245"/>
              <a:gd name="csX1" fmla="*/ 0 w 3133860"/>
              <a:gd name="csY1" fmla="*/ 399245 h 399245"/>
              <a:gd name="csX0" fmla="*/ 3133860 w 3133860"/>
              <a:gd name="csY0" fmla="*/ 0 h 399245"/>
              <a:gd name="csX1" fmla="*/ 0 w 3133860"/>
              <a:gd name="csY1" fmla="*/ 399245 h 399245"/>
              <a:gd name="csX0" fmla="*/ 3133860 w 3133860"/>
              <a:gd name="csY0" fmla="*/ 118930 h 518175"/>
              <a:gd name="csX1" fmla="*/ 0 w 3133860"/>
              <a:gd name="csY1" fmla="*/ 518175 h 518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133860" h="518175">
                <a:moveTo>
                  <a:pt x="3133860" y="118930"/>
                </a:moveTo>
                <a:cubicBezTo>
                  <a:pt x="1119032" y="-185870"/>
                  <a:pt x="465071" y="148981"/>
                  <a:pt x="0" y="518175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238239-3A40-0F4D-E3D4-74DB59AFFAE6}"/>
              </a:ext>
            </a:extLst>
          </p:cNvPr>
          <p:cNvSpPr/>
          <p:nvPr/>
        </p:nvSpPr>
        <p:spPr>
          <a:xfrm>
            <a:off x="9745014" y="5287306"/>
            <a:ext cx="1768699" cy="692784"/>
          </a:xfrm>
          <a:custGeom>
            <a:avLst/>
            <a:gdLst>
              <a:gd name="csX0" fmla="*/ 0 w 1768699"/>
              <a:gd name="csY0" fmla="*/ 0 h 635358"/>
              <a:gd name="csX1" fmla="*/ 1768699 w 1768699"/>
              <a:gd name="csY1" fmla="*/ 635358 h 635358"/>
              <a:gd name="csX0" fmla="*/ 0 w 1768699"/>
              <a:gd name="csY0" fmla="*/ 0 h 635358"/>
              <a:gd name="csX1" fmla="*/ 1768699 w 1768699"/>
              <a:gd name="csY1" fmla="*/ 635358 h 635358"/>
              <a:gd name="csX0" fmla="*/ 0 w 1768699"/>
              <a:gd name="csY0" fmla="*/ 57426 h 692784"/>
              <a:gd name="csX1" fmla="*/ 1768699 w 1768699"/>
              <a:gd name="csY1" fmla="*/ 692784 h 692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68699" h="692784">
                <a:moveTo>
                  <a:pt x="0" y="57426"/>
                </a:moveTo>
                <a:cubicBezTo>
                  <a:pt x="842851" y="-31295"/>
                  <a:pt x="1548327" y="-128602"/>
                  <a:pt x="1768699" y="692784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2FD193-59D9-84C0-6092-61734F9339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506" y="1803996"/>
            <a:ext cx="5195466" cy="38703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172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 animBg="1"/>
      <p:bldP spid="25" grpId="0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634F7-7C99-2B6C-228A-96955D97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SysTick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35855-BA76-DC20-8BA9-81A6839A9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4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Hur gör vi för att vänta i nästan exakt, 10us?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 vet klockfrekvensen... Kan vi göra en liten loop?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Jo... det kan vi, kanske, på den här processorn, men: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v-S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Måste skriva den extremt noggrant i assembler...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v-S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Omöjligt på arkitekturer som throttlar klockfrekvens.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v-SE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Då kan vi ju inte göra någonting annat medans vi väntar!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sv-SE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sv-SE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637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30CCEC-2EBD-5CA6-FC30-F6BD24CC88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3266941"/>
            <a:ext cx="2501149" cy="3591059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BCC624-2869-9178-4DC6-51818141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SysTick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D16C5-238E-E0B3-5855-590BD63E9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962" y="0"/>
            <a:ext cx="5664038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710D20-C646-93B2-E9A7-B9431DF5184D}"/>
              </a:ext>
            </a:extLst>
          </p:cNvPr>
          <p:cNvSpPr txBox="1"/>
          <p:nvPr/>
        </p:nvSpPr>
        <p:spPr>
          <a:xfrm>
            <a:off x="346589" y="2219459"/>
            <a:ext cx="5094793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400"/>
              <a:t>SysTick är en timer i microcontrollern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sv-SE"/>
              <a:t>Vi ställer in hur länge vi vill vänta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sv-SE"/>
              <a:t>Startar timern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sv-SE"/>
              <a:t>SysTick räknar på, vad processorn än </a:t>
            </a:r>
            <a:br>
              <a:rPr lang="sv-SE"/>
            </a:br>
            <a:r>
              <a:rPr lang="sv-SE"/>
              <a:t>har för sig.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sv-SE"/>
              <a:t>Då och då kollar vi om den räknat klart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A2D940-2E51-78CB-99EA-C5F7EA30F2F3}"/>
              </a:ext>
            </a:extLst>
          </p:cNvPr>
          <p:cNvGrpSpPr/>
          <p:nvPr/>
        </p:nvGrpSpPr>
        <p:grpSpPr>
          <a:xfrm>
            <a:off x="4464676" y="2223752"/>
            <a:ext cx="7598534" cy="549499"/>
            <a:chOff x="4464676" y="2223752"/>
            <a:chExt cx="7598534" cy="54949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D5B0FD9-854C-F564-C760-C11048458AFB}"/>
                </a:ext>
              </a:extLst>
            </p:cNvPr>
            <p:cNvSpPr/>
            <p:nvPr/>
          </p:nvSpPr>
          <p:spPr>
            <a:xfrm>
              <a:off x="6606861" y="2223752"/>
              <a:ext cx="5456349" cy="403538"/>
            </a:xfrm>
            <a:prstGeom prst="roundRect">
              <a:avLst>
                <a:gd name="adj" fmla="val 6157"/>
              </a:avLst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586BEF1-18BC-C77A-51DB-3934F94D13FF}"/>
                </a:ext>
              </a:extLst>
            </p:cNvPr>
            <p:cNvSpPr/>
            <p:nvPr/>
          </p:nvSpPr>
          <p:spPr>
            <a:xfrm>
              <a:off x="4464676" y="2412642"/>
              <a:ext cx="2137893" cy="360609"/>
            </a:xfrm>
            <a:custGeom>
              <a:avLst/>
              <a:gdLst>
                <a:gd name="csX0" fmla="*/ 0 w 2137893"/>
                <a:gd name="csY0" fmla="*/ 360609 h 360609"/>
                <a:gd name="csX1" fmla="*/ 2137893 w 2137893"/>
                <a:gd name="csY1" fmla="*/ 0 h 360609"/>
                <a:gd name="csX0" fmla="*/ 0 w 2137893"/>
                <a:gd name="csY0" fmla="*/ 360609 h 360609"/>
                <a:gd name="csX1" fmla="*/ 2137893 w 2137893"/>
                <a:gd name="csY1" fmla="*/ 0 h 360609"/>
                <a:gd name="csX0" fmla="*/ 0 w 2137893"/>
                <a:gd name="csY0" fmla="*/ 360609 h 360609"/>
                <a:gd name="csX1" fmla="*/ 2137893 w 2137893"/>
                <a:gd name="csY1" fmla="*/ 0 h 3606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37893" h="360609">
                  <a:moveTo>
                    <a:pt x="0" y="360609"/>
                  </a:moveTo>
                  <a:cubicBezTo>
                    <a:pt x="691166" y="343437"/>
                    <a:pt x="1330817" y="21465"/>
                    <a:pt x="2137893" y="0"/>
                  </a:cubicBezTo>
                </a:path>
              </a:pathLst>
            </a:custGeom>
            <a:noFill/>
            <a:ln w="254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6BAD49A-7BBD-D215-7F85-350283A92619}"/>
              </a:ext>
            </a:extLst>
          </p:cNvPr>
          <p:cNvGrpSpPr/>
          <p:nvPr/>
        </p:nvGrpSpPr>
        <p:grpSpPr>
          <a:xfrm>
            <a:off x="2826914" y="1476040"/>
            <a:ext cx="9232004" cy="1610588"/>
            <a:chOff x="2826914" y="1476040"/>
            <a:chExt cx="9232004" cy="161058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BA88243-7BEB-0B65-CAA3-212210BBF448}"/>
                </a:ext>
              </a:extLst>
            </p:cNvPr>
            <p:cNvSpPr/>
            <p:nvPr/>
          </p:nvSpPr>
          <p:spPr>
            <a:xfrm>
              <a:off x="6602569" y="1476040"/>
              <a:ext cx="5456349" cy="181042"/>
            </a:xfrm>
            <a:prstGeom prst="roundRect">
              <a:avLst>
                <a:gd name="adj" fmla="val 6157"/>
              </a:avLst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608F083-9EAF-ED7E-623A-E81037BAAD87}"/>
                </a:ext>
              </a:extLst>
            </p:cNvPr>
            <p:cNvSpPr/>
            <p:nvPr/>
          </p:nvSpPr>
          <p:spPr>
            <a:xfrm>
              <a:off x="2826914" y="1575506"/>
              <a:ext cx="3764924" cy="1511122"/>
            </a:xfrm>
            <a:custGeom>
              <a:avLst/>
              <a:gdLst>
                <a:gd name="csX0" fmla="*/ 0 w 2137893"/>
                <a:gd name="csY0" fmla="*/ 360609 h 360609"/>
                <a:gd name="csX1" fmla="*/ 2137893 w 2137893"/>
                <a:gd name="csY1" fmla="*/ 0 h 360609"/>
                <a:gd name="csX0" fmla="*/ 0 w 2137893"/>
                <a:gd name="csY0" fmla="*/ 360609 h 360609"/>
                <a:gd name="csX1" fmla="*/ 2137893 w 2137893"/>
                <a:gd name="csY1" fmla="*/ 0 h 360609"/>
                <a:gd name="csX0" fmla="*/ 0 w 2137893"/>
                <a:gd name="csY0" fmla="*/ 360609 h 360609"/>
                <a:gd name="csX1" fmla="*/ 2137893 w 2137893"/>
                <a:gd name="csY1" fmla="*/ 0 h 360609"/>
                <a:gd name="csX0" fmla="*/ 0 w 3764924"/>
                <a:gd name="csY0" fmla="*/ 1511122 h 1511122"/>
                <a:gd name="csX1" fmla="*/ 3764924 w 3764924"/>
                <a:gd name="csY1" fmla="*/ 0 h 1511122"/>
                <a:gd name="csX0" fmla="*/ 0 w 3764924"/>
                <a:gd name="csY0" fmla="*/ 1511122 h 1511122"/>
                <a:gd name="csX1" fmla="*/ 3764924 w 3764924"/>
                <a:gd name="csY1" fmla="*/ 0 h 1511122"/>
                <a:gd name="csX0" fmla="*/ 0 w 3764924"/>
                <a:gd name="csY0" fmla="*/ 1511122 h 1511122"/>
                <a:gd name="csX1" fmla="*/ 3764924 w 3764924"/>
                <a:gd name="csY1" fmla="*/ 0 h 15111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64924" h="1511122">
                  <a:moveTo>
                    <a:pt x="0" y="1511122"/>
                  </a:moveTo>
                  <a:cubicBezTo>
                    <a:pt x="1562637" y="1476778"/>
                    <a:pt x="2000519" y="94446"/>
                    <a:pt x="3764924" y="0"/>
                  </a:cubicBezTo>
                </a:path>
              </a:pathLst>
            </a:custGeom>
            <a:noFill/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B622C6D-9A1B-D25A-558E-17D6E3EBEA1D}"/>
              </a:ext>
            </a:extLst>
          </p:cNvPr>
          <p:cNvGrpSpPr/>
          <p:nvPr/>
        </p:nvGrpSpPr>
        <p:grpSpPr>
          <a:xfrm>
            <a:off x="4902558" y="1864551"/>
            <a:ext cx="7156359" cy="1483956"/>
            <a:chOff x="4902558" y="1864551"/>
            <a:chExt cx="7156359" cy="148395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5D2F67C-9BF8-53E8-8D6E-C7202BC5A175}"/>
                </a:ext>
              </a:extLst>
            </p:cNvPr>
            <p:cNvSpPr/>
            <p:nvPr/>
          </p:nvSpPr>
          <p:spPr>
            <a:xfrm>
              <a:off x="6602568" y="1864551"/>
              <a:ext cx="5456349" cy="354907"/>
            </a:xfrm>
            <a:prstGeom prst="roundRect">
              <a:avLst>
                <a:gd name="adj" fmla="val 6157"/>
              </a:avLst>
            </a:prstGeom>
            <a:noFill/>
            <a:ln w="381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10A0C1E-A7D5-2221-2A9D-F3BC20402FF7}"/>
                </a:ext>
              </a:extLst>
            </p:cNvPr>
            <p:cNvSpPr/>
            <p:nvPr/>
          </p:nvSpPr>
          <p:spPr>
            <a:xfrm>
              <a:off x="4902558" y="2055813"/>
              <a:ext cx="1689279" cy="1292694"/>
            </a:xfrm>
            <a:custGeom>
              <a:avLst/>
              <a:gdLst>
                <a:gd name="csX0" fmla="*/ 0 w 2137893"/>
                <a:gd name="csY0" fmla="*/ 360609 h 360609"/>
                <a:gd name="csX1" fmla="*/ 2137893 w 2137893"/>
                <a:gd name="csY1" fmla="*/ 0 h 360609"/>
                <a:gd name="csX0" fmla="*/ 0 w 2137893"/>
                <a:gd name="csY0" fmla="*/ 360609 h 360609"/>
                <a:gd name="csX1" fmla="*/ 2137893 w 2137893"/>
                <a:gd name="csY1" fmla="*/ 0 h 360609"/>
                <a:gd name="csX0" fmla="*/ 0 w 2137893"/>
                <a:gd name="csY0" fmla="*/ 360609 h 360609"/>
                <a:gd name="csX1" fmla="*/ 2137893 w 2137893"/>
                <a:gd name="csY1" fmla="*/ 0 h 360609"/>
                <a:gd name="csX0" fmla="*/ 0 w 3764924"/>
                <a:gd name="csY0" fmla="*/ 1511122 h 1511122"/>
                <a:gd name="csX1" fmla="*/ 3764924 w 3764924"/>
                <a:gd name="csY1" fmla="*/ 0 h 1511122"/>
                <a:gd name="csX0" fmla="*/ 0 w 3764924"/>
                <a:gd name="csY0" fmla="*/ 1511122 h 1511122"/>
                <a:gd name="csX1" fmla="*/ 3764924 w 3764924"/>
                <a:gd name="csY1" fmla="*/ 0 h 1511122"/>
                <a:gd name="csX0" fmla="*/ 0 w 3764924"/>
                <a:gd name="csY0" fmla="*/ 1511122 h 1511122"/>
                <a:gd name="csX1" fmla="*/ 3764924 w 3764924"/>
                <a:gd name="csY1" fmla="*/ 0 h 15111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64924" h="1511122">
                  <a:moveTo>
                    <a:pt x="0" y="1511122"/>
                  </a:moveTo>
                  <a:cubicBezTo>
                    <a:pt x="1562637" y="1476778"/>
                    <a:pt x="2000519" y="94446"/>
                    <a:pt x="3764924" y="0"/>
                  </a:cubicBezTo>
                </a:path>
              </a:pathLst>
            </a:custGeom>
            <a:noFill/>
            <a:ln w="254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1AC16B-AB4F-D47B-63B6-7A35D4AE09C7}"/>
              </a:ext>
            </a:extLst>
          </p:cNvPr>
          <p:cNvGrpSpPr/>
          <p:nvPr/>
        </p:nvGrpSpPr>
        <p:grpSpPr>
          <a:xfrm>
            <a:off x="5061342" y="1690688"/>
            <a:ext cx="7001868" cy="2161346"/>
            <a:chOff x="5061342" y="1690688"/>
            <a:chExt cx="7001868" cy="216134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1B05710-E5DC-22B6-6399-B23B81646015}"/>
                </a:ext>
              </a:extLst>
            </p:cNvPr>
            <p:cNvSpPr/>
            <p:nvPr/>
          </p:nvSpPr>
          <p:spPr>
            <a:xfrm>
              <a:off x="6606861" y="1690688"/>
              <a:ext cx="5456349" cy="146698"/>
            </a:xfrm>
            <a:prstGeom prst="roundRect">
              <a:avLst>
                <a:gd name="adj" fmla="val 6157"/>
              </a:avLst>
            </a:prstGeom>
            <a:noFill/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E1FB1B6-4985-B3C0-DEA5-9A445B7865F0}"/>
                </a:ext>
              </a:extLst>
            </p:cNvPr>
            <p:cNvSpPr/>
            <p:nvPr/>
          </p:nvSpPr>
          <p:spPr>
            <a:xfrm>
              <a:off x="5061342" y="1760113"/>
              <a:ext cx="1530496" cy="2091921"/>
            </a:xfrm>
            <a:custGeom>
              <a:avLst/>
              <a:gdLst>
                <a:gd name="csX0" fmla="*/ 0 w 2137893"/>
                <a:gd name="csY0" fmla="*/ 360609 h 360609"/>
                <a:gd name="csX1" fmla="*/ 2137893 w 2137893"/>
                <a:gd name="csY1" fmla="*/ 0 h 360609"/>
                <a:gd name="csX0" fmla="*/ 0 w 2137893"/>
                <a:gd name="csY0" fmla="*/ 360609 h 360609"/>
                <a:gd name="csX1" fmla="*/ 2137893 w 2137893"/>
                <a:gd name="csY1" fmla="*/ 0 h 360609"/>
                <a:gd name="csX0" fmla="*/ 0 w 2137893"/>
                <a:gd name="csY0" fmla="*/ 360609 h 360609"/>
                <a:gd name="csX1" fmla="*/ 2137893 w 2137893"/>
                <a:gd name="csY1" fmla="*/ 0 h 360609"/>
                <a:gd name="csX0" fmla="*/ 0 w 3764924"/>
                <a:gd name="csY0" fmla="*/ 1511122 h 1511122"/>
                <a:gd name="csX1" fmla="*/ 3764924 w 3764924"/>
                <a:gd name="csY1" fmla="*/ 0 h 1511122"/>
                <a:gd name="csX0" fmla="*/ 0 w 3764924"/>
                <a:gd name="csY0" fmla="*/ 1511122 h 1511122"/>
                <a:gd name="csX1" fmla="*/ 3764924 w 3764924"/>
                <a:gd name="csY1" fmla="*/ 0 h 1511122"/>
                <a:gd name="csX0" fmla="*/ 0 w 3764924"/>
                <a:gd name="csY0" fmla="*/ 1511122 h 1511122"/>
                <a:gd name="csX1" fmla="*/ 3764924 w 3764924"/>
                <a:gd name="csY1" fmla="*/ 0 h 15111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64924" h="1511122">
                  <a:moveTo>
                    <a:pt x="0" y="1511122"/>
                  </a:moveTo>
                  <a:cubicBezTo>
                    <a:pt x="1562637" y="1476778"/>
                    <a:pt x="2000519" y="94446"/>
                    <a:pt x="3764924" y="0"/>
                  </a:cubicBezTo>
                </a:path>
              </a:pathLst>
            </a:custGeom>
            <a:noFill/>
            <a:ln w="254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85924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E6AFE-D614-CC0E-E4B7-B4D53C68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F9A4AB-C8EA-76EF-49D7-A9060B9A47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3266941"/>
            <a:ext cx="2501149" cy="3591059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4AF0FB-52A3-6275-112F-ACF43D04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SysTick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AD4DA-9458-B9A7-C7A7-606B5A749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962" y="0"/>
            <a:ext cx="5664038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8520D7-43EF-BB57-050A-5EDE1BD23FA3}"/>
              </a:ext>
            </a:extLst>
          </p:cNvPr>
          <p:cNvSpPr txBox="1"/>
          <p:nvPr/>
        </p:nvSpPr>
        <p:spPr>
          <a:xfrm>
            <a:off x="165213" y="1772098"/>
            <a:ext cx="6132555" cy="440120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STK_CTRL  ((volatile 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0xE000F000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STK_SR    ((volatile 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0xE000F004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  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STK_CMPLR ((volatile 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0xE000F010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STK_CMPHR ((volatile </a:t>
            </a:r>
            <a:r>
              <a:rPr lang="en-GB" sz="1200">
                <a:solidFill>
                  <a:srgbClr val="4EC9B0"/>
                </a:solidFill>
                <a:latin typeface="Consolas" panose="020B0609020204030204" pitchFamily="49" charset="0"/>
              </a:rPr>
              <a:t>uint32_t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0xE000F014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Hur många klockcykler är det på 5 sekunder? 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Klockfrekvensen är 144MHz, så 144 miljoner cykler per sekund. 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144 miljoner * 5 sekunder = 720 miljoner cykler.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Ställ in SysTick på att räkna ner från 720 miljoner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STK_CMPLR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720000000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STK_CMPHR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Vi vill att den skall starta från compare värdet (INIT = 1)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Vi vill att den skall räkna varje klockcykel (STCLK = 1)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Och vi vill starta klockan (STE = 1)    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STK_CTRL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0b100101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Vänta tills SysTick har räknat ner till 0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!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GB" sz="1200">
                <a:solidFill>
                  <a:srgbClr val="569CD6"/>
                </a:solidFill>
                <a:latin typeface="Consolas" panose="020B0609020204030204" pitchFamily="49" charset="0"/>
              </a:rPr>
              <a:t>STK_SR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Vänta... 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6A9955"/>
                </a:solidFill>
                <a:latin typeface="Consolas" panose="020B0609020204030204" pitchFamily="49" charset="0"/>
              </a:rPr>
              <a:t>// 5 sekunder har gått!</a:t>
            </a:r>
            <a:endParaRPr lang="en-GB" sz="12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sz="120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sz="120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GB" sz="120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CF970C-BDA2-6558-181A-A9C1D865C620}"/>
              </a:ext>
            </a:extLst>
          </p:cNvPr>
          <p:cNvSpPr/>
          <p:nvPr/>
        </p:nvSpPr>
        <p:spPr>
          <a:xfrm>
            <a:off x="6606862" y="1279301"/>
            <a:ext cx="5456349" cy="1347989"/>
          </a:xfrm>
          <a:prstGeom prst="roundRect">
            <a:avLst>
              <a:gd name="adj" fmla="val 6157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C5970F-7278-851B-68EA-8CD0521F951D}"/>
              </a:ext>
            </a:extLst>
          </p:cNvPr>
          <p:cNvSpPr/>
          <p:nvPr/>
        </p:nvSpPr>
        <p:spPr>
          <a:xfrm>
            <a:off x="6606861" y="2223752"/>
            <a:ext cx="5456349" cy="403538"/>
          </a:xfrm>
          <a:prstGeom prst="roundRect">
            <a:avLst>
              <a:gd name="adj" fmla="val 6157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F6002B-8FFC-A076-47AF-723B1E32416C}"/>
              </a:ext>
            </a:extLst>
          </p:cNvPr>
          <p:cNvSpPr/>
          <p:nvPr/>
        </p:nvSpPr>
        <p:spPr>
          <a:xfrm>
            <a:off x="6606860" y="1472485"/>
            <a:ext cx="5456349" cy="184597"/>
          </a:xfrm>
          <a:prstGeom prst="roundRect">
            <a:avLst>
              <a:gd name="adj" fmla="val 6157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BA6779-5E9D-CBFB-EB8F-A19A611023D9}"/>
              </a:ext>
            </a:extLst>
          </p:cNvPr>
          <p:cNvSpPr/>
          <p:nvPr/>
        </p:nvSpPr>
        <p:spPr>
          <a:xfrm>
            <a:off x="6572518" y="3022243"/>
            <a:ext cx="5529329" cy="2856964"/>
          </a:xfrm>
          <a:prstGeom prst="roundRect">
            <a:avLst>
              <a:gd name="adj" fmla="val 255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2070AC-2F90-125E-0C60-87D5A93CC32A}"/>
              </a:ext>
            </a:extLst>
          </p:cNvPr>
          <p:cNvSpPr/>
          <p:nvPr/>
        </p:nvSpPr>
        <p:spPr>
          <a:xfrm>
            <a:off x="6606859" y="1657082"/>
            <a:ext cx="5456349" cy="184597"/>
          </a:xfrm>
          <a:prstGeom prst="roundRect">
            <a:avLst>
              <a:gd name="adj" fmla="val 6157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085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D2946-4593-3B43-E127-47E398DC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FF359-E97E-039F-A84D-02BF531D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ASCII Displayen - Skrivcykel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4AAD6-FCC3-30AB-1904-7ADF98F89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518278" y="2383891"/>
            <a:ext cx="3964994" cy="3299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F34223-8AB6-AB6F-5F98-C28AB934C82C}"/>
              </a:ext>
            </a:extLst>
          </p:cNvPr>
          <p:cNvSpPr txBox="1"/>
          <p:nvPr/>
        </p:nvSpPr>
        <p:spPr>
          <a:xfrm>
            <a:off x="7735911" y="2695977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>
                <a:solidFill>
                  <a:schemeClr val="accent3">
                    <a:lumMod val="20000"/>
                    <a:lumOff val="8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Mop Rules!</a:t>
            </a:r>
            <a:endParaRPr lang="LID4096">
              <a:solidFill>
                <a:schemeClr val="accent3">
                  <a:lumMod val="20000"/>
                  <a:lumOff val="80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C80B01-9B87-363A-A55A-B0EFF1BD124D}"/>
              </a:ext>
            </a:extLst>
          </p:cNvPr>
          <p:cNvSpPr txBox="1"/>
          <p:nvPr/>
        </p:nvSpPr>
        <p:spPr>
          <a:xfrm>
            <a:off x="5040608" y="5834202"/>
            <a:ext cx="914400" cy="2769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F736834-77E2-FB30-0F28-18372AEC9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303" y="6206346"/>
            <a:ext cx="3236025" cy="3401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DCA98C5-AF27-24CA-A490-7B56C4FEB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4118" y="6244022"/>
            <a:ext cx="3295228" cy="264817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8FB781D-424F-8529-358B-54B8CE7BB931}"/>
              </a:ext>
            </a:extLst>
          </p:cNvPr>
          <p:cNvSpPr/>
          <p:nvPr/>
        </p:nvSpPr>
        <p:spPr>
          <a:xfrm>
            <a:off x="8470433" y="5212854"/>
            <a:ext cx="595268" cy="369332"/>
          </a:xfrm>
          <a:custGeom>
            <a:avLst/>
            <a:gdLst>
              <a:gd name="csX0" fmla="*/ 408509 w 762626"/>
              <a:gd name="csY0" fmla="*/ 67479 h 469838"/>
              <a:gd name="csX1" fmla="*/ 72333 w 762626"/>
              <a:gd name="csY1" fmla="*/ 67479 h 469838"/>
              <a:gd name="csX2" fmla="*/ 11821 w 762626"/>
              <a:gd name="csY2" fmla="*/ 302803 h 469838"/>
              <a:gd name="csX3" fmla="*/ 240421 w 762626"/>
              <a:gd name="csY3" fmla="*/ 443997 h 469838"/>
              <a:gd name="csX4" fmla="*/ 657280 w 762626"/>
              <a:gd name="csY4" fmla="*/ 457444 h 469838"/>
              <a:gd name="csX5" fmla="*/ 751409 w 762626"/>
              <a:gd name="csY5" fmla="*/ 309526 h 469838"/>
              <a:gd name="csX6" fmla="*/ 711068 w 762626"/>
              <a:gd name="csY6" fmla="*/ 80926 h 469838"/>
              <a:gd name="csX7" fmla="*/ 307656 w 762626"/>
              <a:gd name="csY7" fmla="*/ 244 h 469838"/>
              <a:gd name="csX8" fmla="*/ 146291 w 762626"/>
              <a:gd name="csY8" fmla="*/ 60755 h 469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2626" h="469838">
                <a:moveTo>
                  <a:pt x="408509" y="67479"/>
                </a:moveTo>
                <a:cubicBezTo>
                  <a:pt x="273478" y="47868"/>
                  <a:pt x="138448" y="28258"/>
                  <a:pt x="72333" y="67479"/>
                </a:cubicBezTo>
                <a:cubicBezTo>
                  <a:pt x="6218" y="106700"/>
                  <a:pt x="-16194" y="240050"/>
                  <a:pt x="11821" y="302803"/>
                </a:cubicBezTo>
                <a:cubicBezTo>
                  <a:pt x="39836" y="365556"/>
                  <a:pt x="132844" y="418223"/>
                  <a:pt x="240421" y="443997"/>
                </a:cubicBezTo>
                <a:cubicBezTo>
                  <a:pt x="347998" y="469771"/>
                  <a:pt x="572115" y="479856"/>
                  <a:pt x="657280" y="457444"/>
                </a:cubicBezTo>
                <a:cubicBezTo>
                  <a:pt x="742445" y="435032"/>
                  <a:pt x="742444" y="372279"/>
                  <a:pt x="751409" y="309526"/>
                </a:cubicBezTo>
                <a:cubicBezTo>
                  <a:pt x="760374" y="246773"/>
                  <a:pt x="785027" y="132473"/>
                  <a:pt x="711068" y="80926"/>
                </a:cubicBezTo>
                <a:cubicBezTo>
                  <a:pt x="637109" y="29379"/>
                  <a:pt x="401785" y="3606"/>
                  <a:pt x="307656" y="244"/>
                </a:cubicBezTo>
                <a:cubicBezTo>
                  <a:pt x="213527" y="-3118"/>
                  <a:pt x="179909" y="28818"/>
                  <a:pt x="146291" y="60755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1FAEF7-7621-95C3-3BEA-3B0F8DE5BA95}"/>
              </a:ext>
            </a:extLst>
          </p:cNvPr>
          <p:cNvSpPr txBox="1"/>
          <p:nvPr/>
        </p:nvSpPr>
        <p:spPr>
          <a:xfrm>
            <a:off x="11096222" y="5929347"/>
            <a:ext cx="914400" cy="2769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BE022A7-7155-5BFF-8862-B349DA9A0829}"/>
              </a:ext>
            </a:extLst>
          </p:cNvPr>
          <p:cNvSpPr/>
          <p:nvPr/>
        </p:nvSpPr>
        <p:spPr>
          <a:xfrm rot="10117872">
            <a:off x="9150866" y="5212854"/>
            <a:ext cx="595268" cy="369332"/>
          </a:xfrm>
          <a:custGeom>
            <a:avLst/>
            <a:gdLst>
              <a:gd name="csX0" fmla="*/ 408509 w 762626"/>
              <a:gd name="csY0" fmla="*/ 67479 h 469838"/>
              <a:gd name="csX1" fmla="*/ 72333 w 762626"/>
              <a:gd name="csY1" fmla="*/ 67479 h 469838"/>
              <a:gd name="csX2" fmla="*/ 11821 w 762626"/>
              <a:gd name="csY2" fmla="*/ 302803 h 469838"/>
              <a:gd name="csX3" fmla="*/ 240421 w 762626"/>
              <a:gd name="csY3" fmla="*/ 443997 h 469838"/>
              <a:gd name="csX4" fmla="*/ 657280 w 762626"/>
              <a:gd name="csY4" fmla="*/ 457444 h 469838"/>
              <a:gd name="csX5" fmla="*/ 751409 w 762626"/>
              <a:gd name="csY5" fmla="*/ 309526 h 469838"/>
              <a:gd name="csX6" fmla="*/ 711068 w 762626"/>
              <a:gd name="csY6" fmla="*/ 80926 h 469838"/>
              <a:gd name="csX7" fmla="*/ 307656 w 762626"/>
              <a:gd name="csY7" fmla="*/ 244 h 469838"/>
              <a:gd name="csX8" fmla="*/ 146291 w 762626"/>
              <a:gd name="csY8" fmla="*/ 60755 h 469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62626" h="469838">
                <a:moveTo>
                  <a:pt x="408509" y="67479"/>
                </a:moveTo>
                <a:cubicBezTo>
                  <a:pt x="273478" y="47868"/>
                  <a:pt x="138448" y="28258"/>
                  <a:pt x="72333" y="67479"/>
                </a:cubicBezTo>
                <a:cubicBezTo>
                  <a:pt x="6218" y="106700"/>
                  <a:pt x="-16194" y="240050"/>
                  <a:pt x="11821" y="302803"/>
                </a:cubicBezTo>
                <a:cubicBezTo>
                  <a:pt x="39836" y="365556"/>
                  <a:pt x="132844" y="418223"/>
                  <a:pt x="240421" y="443997"/>
                </a:cubicBezTo>
                <a:cubicBezTo>
                  <a:pt x="347998" y="469771"/>
                  <a:pt x="572115" y="479856"/>
                  <a:pt x="657280" y="457444"/>
                </a:cubicBezTo>
                <a:cubicBezTo>
                  <a:pt x="742445" y="435032"/>
                  <a:pt x="742444" y="372279"/>
                  <a:pt x="751409" y="309526"/>
                </a:cubicBezTo>
                <a:cubicBezTo>
                  <a:pt x="760374" y="246773"/>
                  <a:pt x="785027" y="132473"/>
                  <a:pt x="711068" y="80926"/>
                </a:cubicBezTo>
                <a:cubicBezTo>
                  <a:pt x="637109" y="29379"/>
                  <a:pt x="401785" y="3606"/>
                  <a:pt x="307656" y="244"/>
                </a:cubicBezTo>
                <a:cubicBezTo>
                  <a:pt x="213527" y="-3118"/>
                  <a:pt x="179909" y="28818"/>
                  <a:pt x="146291" y="60755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EB7AA5C-10DC-B4D7-1C27-83CA3F0FDF58}"/>
              </a:ext>
            </a:extLst>
          </p:cNvPr>
          <p:cNvSpPr/>
          <p:nvPr/>
        </p:nvSpPr>
        <p:spPr>
          <a:xfrm>
            <a:off x="5344732" y="5277318"/>
            <a:ext cx="3133860" cy="518175"/>
          </a:xfrm>
          <a:custGeom>
            <a:avLst/>
            <a:gdLst>
              <a:gd name="csX0" fmla="*/ 3133860 w 3133860"/>
              <a:gd name="csY0" fmla="*/ 0 h 399245"/>
              <a:gd name="csX1" fmla="*/ 0 w 3133860"/>
              <a:gd name="csY1" fmla="*/ 399245 h 399245"/>
              <a:gd name="csX0" fmla="*/ 3133860 w 3133860"/>
              <a:gd name="csY0" fmla="*/ 0 h 399245"/>
              <a:gd name="csX1" fmla="*/ 0 w 3133860"/>
              <a:gd name="csY1" fmla="*/ 399245 h 399245"/>
              <a:gd name="csX0" fmla="*/ 3133860 w 3133860"/>
              <a:gd name="csY0" fmla="*/ 118930 h 518175"/>
              <a:gd name="csX1" fmla="*/ 0 w 3133860"/>
              <a:gd name="csY1" fmla="*/ 518175 h 518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133860" h="518175">
                <a:moveTo>
                  <a:pt x="3133860" y="118930"/>
                </a:moveTo>
                <a:cubicBezTo>
                  <a:pt x="1119032" y="-185870"/>
                  <a:pt x="465071" y="148981"/>
                  <a:pt x="0" y="518175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C1AB4A7-DBCA-624D-63CD-CC40E8AF3448}"/>
              </a:ext>
            </a:extLst>
          </p:cNvPr>
          <p:cNvSpPr/>
          <p:nvPr/>
        </p:nvSpPr>
        <p:spPr>
          <a:xfrm>
            <a:off x="9745014" y="5287306"/>
            <a:ext cx="1768699" cy="692784"/>
          </a:xfrm>
          <a:custGeom>
            <a:avLst/>
            <a:gdLst>
              <a:gd name="csX0" fmla="*/ 0 w 1768699"/>
              <a:gd name="csY0" fmla="*/ 0 h 635358"/>
              <a:gd name="csX1" fmla="*/ 1768699 w 1768699"/>
              <a:gd name="csY1" fmla="*/ 635358 h 635358"/>
              <a:gd name="csX0" fmla="*/ 0 w 1768699"/>
              <a:gd name="csY0" fmla="*/ 0 h 635358"/>
              <a:gd name="csX1" fmla="*/ 1768699 w 1768699"/>
              <a:gd name="csY1" fmla="*/ 635358 h 635358"/>
              <a:gd name="csX0" fmla="*/ 0 w 1768699"/>
              <a:gd name="csY0" fmla="*/ 57426 h 692784"/>
              <a:gd name="csX1" fmla="*/ 1768699 w 1768699"/>
              <a:gd name="csY1" fmla="*/ 692784 h 692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768699" h="692784">
                <a:moveTo>
                  <a:pt x="0" y="57426"/>
                </a:moveTo>
                <a:cubicBezTo>
                  <a:pt x="842851" y="-31295"/>
                  <a:pt x="1548327" y="-128602"/>
                  <a:pt x="1768699" y="692784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653DFA-1EE4-6AA4-1826-9DA4F64F5E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506" y="1803996"/>
            <a:ext cx="5195466" cy="38703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681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 animBg="1"/>
      <p:bldP spid="25" grpId="0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BE14E36-188C-6791-126F-34581101B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83" y="2572130"/>
            <a:ext cx="10055629" cy="242427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39E2B62-D7AE-355F-5C4B-24637C2B97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A98595-F50E-8081-BC3C-929C518E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AC14F-DB60-2DA9-BFFE-46DC7B28E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F9966-7B23-BF25-3483-9957F39E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25</a:t>
            </a:fld>
            <a:endParaRPr lang="LID4096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5912D5A0-AF69-7372-1CE6-31954D23D38D}"/>
              </a:ext>
            </a:extLst>
          </p:cNvPr>
          <p:cNvSpPr txBox="1">
            <a:spLocks/>
          </p:cNvSpPr>
          <p:nvPr/>
        </p:nvSpPr>
        <p:spPr>
          <a:xfrm>
            <a:off x="835403" y="1356280"/>
            <a:ext cx="9104716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4000"/>
              <a:t>Arrays</a:t>
            </a:r>
            <a:endParaRPr lang="sv-SE" sz="1600">
              <a:latin typeface="Consolas" panose="020B06090202040302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954348-1E83-71E5-934D-141983C38CBA}"/>
              </a:ext>
            </a:extLst>
          </p:cNvPr>
          <p:cNvGrpSpPr/>
          <p:nvPr/>
        </p:nvGrpSpPr>
        <p:grpSpPr>
          <a:xfrm>
            <a:off x="973539" y="1096826"/>
            <a:ext cx="11177943" cy="2031325"/>
            <a:chOff x="973539" y="1096826"/>
            <a:chExt cx="11177943" cy="203132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4C6C8F-9968-9061-DF74-F09B200E97D0}"/>
                </a:ext>
              </a:extLst>
            </p:cNvPr>
            <p:cNvSpPr txBox="1"/>
            <p:nvPr/>
          </p:nvSpPr>
          <p:spPr>
            <a:xfrm>
              <a:off x="8153400" y="1096826"/>
              <a:ext cx="3998082" cy="20313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GB"/>
                <a:t>H</a:t>
              </a:r>
              <a:r>
                <a:rPr lang="sv-SE"/>
                <a:t>är definerar vi en </a:t>
              </a:r>
              <a:r>
                <a:rPr lang="sv-SE" i="1"/>
                <a:t>global</a:t>
              </a:r>
              <a:r>
                <a:rPr lang="sv-SE"/>
                <a:t> array. </a:t>
              </a:r>
            </a:p>
            <a:p>
              <a:r>
                <a:rPr lang="sv-SE"/>
                <a:t>Den kompileras in i executablen och</a:t>
              </a:r>
            </a:p>
            <a:p>
              <a:r>
                <a:rPr lang="sv-SE"/>
                <a:t>kopieras tillsammans med koden in i </a:t>
              </a:r>
            </a:p>
            <a:p>
              <a:r>
                <a:rPr lang="sv-SE"/>
                <a:t>minnet när vi kör programmet. </a:t>
              </a:r>
            </a:p>
            <a:p>
              <a:endParaRPr lang="sv-SE"/>
            </a:p>
            <a:p>
              <a:r>
                <a:rPr lang="sv-SE"/>
                <a:t>Vi behöver inte ange storleken, eftersom</a:t>
              </a:r>
            </a:p>
            <a:p>
              <a:r>
                <a:rPr lang="sv-SE"/>
                <a:t>vi anger vad den innehåller.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E3B171-4B68-6C54-F96F-9B1636F282A2}"/>
                </a:ext>
              </a:extLst>
            </p:cNvPr>
            <p:cNvSpPr/>
            <p:nvPr/>
          </p:nvSpPr>
          <p:spPr>
            <a:xfrm>
              <a:off x="973539" y="2723322"/>
              <a:ext cx="6273421" cy="2866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FC30E2-3D64-2054-5102-1A5A30871550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flipV="1">
              <a:off x="7246960" y="2112489"/>
              <a:ext cx="906440" cy="78506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E3BC77-5B0C-365D-A7B8-D3997AE326B9}"/>
              </a:ext>
            </a:extLst>
          </p:cNvPr>
          <p:cNvGrpSpPr/>
          <p:nvPr/>
        </p:nvGrpSpPr>
        <p:grpSpPr>
          <a:xfrm>
            <a:off x="1426759" y="3480400"/>
            <a:ext cx="10437209" cy="1200329"/>
            <a:chOff x="1265261" y="2209396"/>
            <a:chExt cx="10437209" cy="120032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CE2BDD-CFBD-E48E-1CEB-804939E77379}"/>
                </a:ext>
              </a:extLst>
            </p:cNvPr>
            <p:cNvSpPr txBox="1"/>
            <p:nvPr/>
          </p:nvSpPr>
          <p:spPr>
            <a:xfrm>
              <a:off x="7991902" y="2209396"/>
              <a:ext cx="3710568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GB"/>
                <a:t>H</a:t>
              </a:r>
              <a:r>
                <a:rPr lang="sv-SE"/>
                <a:t>är definerar vi en </a:t>
              </a:r>
              <a:r>
                <a:rPr lang="sv-SE" i="1"/>
                <a:t>temporär </a:t>
              </a:r>
              <a:r>
                <a:rPr lang="sv-SE"/>
                <a:t>array. </a:t>
              </a:r>
            </a:p>
            <a:p>
              <a:r>
                <a:rPr lang="sv-SE"/>
                <a:t>Plats för den allokeras på stacken. </a:t>
              </a:r>
            </a:p>
            <a:p>
              <a:r>
                <a:rPr lang="sv-SE"/>
                <a:t>Vi anger att den skall vara 10 element</a:t>
              </a:r>
            </a:p>
            <a:p>
              <a:r>
                <a:rPr lang="sv-SE"/>
                <a:t>lång. 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07CE439-9088-BAE6-81F7-0AD3FE101947}"/>
                </a:ext>
              </a:extLst>
            </p:cNvPr>
            <p:cNvSpPr/>
            <p:nvPr/>
          </p:nvSpPr>
          <p:spPr>
            <a:xfrm>
              <a:off x="1265261" y="2239453"/>
              <a:ext cx="2611841" cy="2866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A9584DD-FF71-5990-F493-09D9FB8814D7}"/>
                </a:ext>
              </a:extLst>
            </p:cNvPr>
            <p:cNvCxnSpPr>
              <a:cxnSpLocks/>
              <a:stCxn id="19" idx="3"/>
              <a:endCxn id="18" idx="1"/>
            </p:cNvCxnSpPr>
            <p:nvPr/>
          </p:nvCxnSpPr>
          <p:spPr>
            <a:xfrm>
              <a:off x="3877102" y="2382755"/>
              <a:ext cx="4114800" cy="4268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F762E0D-6187-7094-B772-161B11B2B6B1}"/>
              </a:ext>
            </a:extLst>
          </p:cNvPr>
          <p:cNvGrpSpPr/>
          <p:nvPr/>
        </p:nvGrpSpPr>
        <p:grpSpPr>
          <a:xfrm>
            <a:off x="1882560" y="4028601"/>
            <a:ext cx="7212809" cy="1809834"/>
            <a:chOff x="1956910" y="1037236"/>
            <a:chExt cx="7212809" cy="180983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50EF47-1399-6CC9-5C18-4AAF1827EA5B}"/>
                </a:ext>
              </a:extLst>
            </p:cNvPr>
            <p:cNvSpPr txBox="1"/>
            <p:nvPr/>
          </p:nvSpPr>
          <p:spPr>
            <a:xfrm>
              <a:off x="4319289" y="2200739"/>
              <a:ext cx="4850430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sv-SE"/>
                <a:t>Vi läser eller skriver till det i:te elementet</a:t>
              </a:r>
              <a:br>
                <a:rPr lang="sv-SE"/>
              </a:br>
              <a:r>
                <a:rPr lang="sv-SE"/>
                <a:t>i arrayen genom att ange ”i” inom hakparanteser.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1C44FB6-824A-5787-F76D-2258CED2A51D}"/>
                </a:ext>
              </a:extLst>
            </p:cNvPr>
            <p:cNvSpPr/>
            <p:nvPr/>
          </p:nvSpPr>
          <p:spPr>
            <a:xfrm>
              <a:off x="1956910" y="1055761"/>
              <a:ext cx="1852377" cy="2866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C605E19-60D4-55D1-46C5-EC519DE36A57}"/>
                </a:ext>
              </a:extLst>
            </p:cNvPr>
            <p:cNvCxnSpPr>
              <a:cxnSpLocks/>
              <a:stCxn id="25" idx="2"/>
              <a:endCxn id="24" idx="1"/>
            </p:cNvCxnSpPr>
            <p:nvPr/>
          </p:nvCxnSpPr>
          <p:spPr>
            <a:xfrm>
              <a:off x="2883099" y="1342364"/>
              <a:ext cx="1436190" cy="118154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A3C2A8B-FCE7-78D6-11B0-441B094B69F3}"/>
                </a:ext>
              </a:extLst>
            </p:cNvPr>
            <p:cNvSpPr/>
            <p:nvPr/>
          </p:nvSpPr>
          <p:spPr>
            <a:xfrm>
              <a:off x="4105107" y="1039541"/>
              <a:ext cx="1664909" cy="2866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BDDB8FD-BA68-4632-D78F-F65F2451861A}"/>
                </a:ext>
              </a:extLst>
            </p:cNvPr>
            <p:cNvSpPr/>
            <p:nvPr/>
          </p:nvSpPr>
          <p:spPr>
            <a:xfrm>
              <a:off x="6065838" y="1037236"/>
              <a:ext cx="1664909" cy="2866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06CDAC3-E519-3BFC-A994-A4713D12E278}"/>
                </a:ext>
              </a:extLst>
            </p:cNvPr>
            <p:cNvCxnSpPr>
              <a:cxnSpLocks/>
            </p:cNvCxnSpPr>
            <p:nvPr/>
          </p:nvCxnSpPr>
          <p:spPr>
            <a:xfrm>
              <a:off x="4982828" y="1323839"/>
              <a:ext cx="0" cy="875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BAAF97E-E7A2-5B48-01EB-0AD0488E04A7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 flipH="1">
              <a:off x="5897395" y="1323839"/>
              <a:ext cx="1000898" cy="875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621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EEEB0-9A68-3A9F-4803-39F2A7C0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D6C042-7AC3-E229-2FC7-D95D23585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83" y="2572130"/>
            <a:ext cx="10055629" cy="242427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EF1A792-EE97-63B8-F394-CD4B5C5334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ABCBF7-7CA2-F608-07BA-0E0E5BBF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EF565-FFDD-68A9-5158-16D80F2DE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12A7A-2147-5BA1-ACFE-77AE1102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26</a:t>
            </a:fld>
            <a:endParaRPr lang="LID4096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62021E5F-974E-EC08-C0E6-B8F231FC32A8}"/>
              </a:ext>
            </a:extLst>
          </p:cNvPr>
          <p:cNvSpPr txBox="1">
            <a:spLocks/>
          </p:cNvSpPr>
          <p:nvPr/>
        </p:nvSpPr>
        <p:spPr>
          <a:xfrm>
            <a:off x="835403" y="1356280"/>
            <a:ext cx="9104716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4000"/>
              <a:t>Arrays</a:t>
            </a:r>
            <a:endParaRPr lang="sv-SE" sz="1600">
              <a:latin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432A079-E994-DA90-5B9A-482CF9600B1E}"/>
              </a:ext>
            </a:extLst>
          </p:cNvPr>
          <p:cNvGrpSpPr/>
          <p:nvPr/>
        </p:nvGrpSpPr>
        <p:grpSpPr>
          <a:xfrm>
            <a:off x="973539" y="969181"/>
            <a:ext cx="11096826" cy="2040744"/>
            <a:chOff x="973539" y="969181"/>
            <a:chExt cx="11096826" cy="204074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B5837CE-E6E9-A003-C3EE-2E6CBF54D557}"/>
                </a:ext>
              </a:extLst>
            </p:cNvPr>
            <p:cNvSpPr txBox="1"/>
            <p:nvPr/>
          </p:nvSpPr>
          <p:spPr>
            <a:xfrm>
              <a:off x="7448266" y="969181"/>
              <a:ext cx="4622099" cy="14773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sv-SE"/>
                <a:t>Arrayens </a:t>
              </a:r>
              <a:r>
                <a:rPr lang="sv-SE" i="1"/>
                <a:t>namn</a:t>
              </a:r>
              <a:r>
                <a:rPr lang="sv-SE"/>
                <a:t> fungerar som en</a:t>
              </a:r>
            </a:p>
            <a:p>
              <a:r>
                <a:rPr lang="sv-SE"/>
                <a:t>(const) pekare. Vi har alltså pekaren</a:t>
              </a:r>
            </a:p>
            <a:p>
              <a:r>
                <a:rPr lang="sv-SE"/>
                <a:t>(addressen) till första elementet i arrayen som: </a:t>
              </a:r>
            </a:p>
            <a:p>
              <a:endParaRPr lang="sv-SE"/>
            </a:p>
            <a:p>
              <a:r>
                <a:rPr lang="sv-SE">
                  <a:latin typeface="Consolas" panose="020B0609020204030204" pitchFamily="49" charset="0"/>
                </a:rPr>
                <a:t>const short *value_array;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B85D0D8-22BE-8815-8464-982153A4C804}"/>
                </a:ext>
              </a:extLst>
            </p:cNvPr>
            <p:cNvSpPr/>
            <p:nvPr/>
          </p:nvSpPr>
          <p:spPr>
            <a:xfrm>
              <a:off x="973539" y="2723322"/>
              <a:ext cx="6273421" cy="2866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840CEA4-B3BD-5FC5-4715-281BD23A71E2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flipV="1">
              <a:off x="6541826" y="1707845"/>
              <a:ext cx="906440" cy="106206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8857D8-9434-AAEF-0D30-90B8C8E9EDE2}"/>
              </a:ext>
            </a:extLst>
          </p:cNvPr>
          <p:cNvGrpSpPr/>
          <p:nvPr/>
        </p:nvGrpSpPr>
        <p:grpSpPr>
          <a:xfrm>
            <a:off x="3994245" y="4044005"/>
            <a:ext cx="7309467" cy="1711950"/>
            <a:chOff x="3994245" y="4044005"/>
            <a:chExt cx="7309467" cy="171195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8FC6D76-A923-9557-39F7-23C5BE4D9B0A}"/>
                </a:ext>
              </a:extLst>
            </p:cNvPr>
            <p:cNvSpPr txBox="1"/>
            <p:nvPr/>
          </p:nvSpPr>
          <p:spPr>
            <a:xfrm>
              <a:off x="7063256" y="4555626"/>
              <a:ext cx="4240456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sv-SE"/>
                <a:t>När vi indexerar på det här viset översätter </a:t>
              </a:r>
            </a:p>
            <a:p>
              <a:r>
                <a:rPr lang="sv-SE"/>
                <a:t>kompilatorn det till: </a:t>
              </a:r>
            </a:p>
            <a:p>
              <a:endParaRPr lang="sv-SE"/>
            </a:p>
            <a:p>
              <a:r>
                <a:rPr lang="sv-SE">
                  <a:latin typeface="Consolas" panose="020B0609020204030204" pitchFamily="49" charset="0"/>
                </a:rPr>
                <a:t>(*(value_array + i))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F3BFF1-4435-B335-24A5-54549428FAEC}"/>
                </a:ext>
              </a:extLst>
            </p:cNvPr>
            <p:cNvSpPr/>
            <p:nvPr/>
          </p:nvSpPr>
          <p:spPr>
            <a:xfrm>
              <a:off x="3994245" y="4044005"/>
              <a:ext cx="1710520" cy="2866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9D8EE6C-7521-7F1F-6B14-6047FE353F93}"/>
                </a:ext>
              </a:extLst>
            </p:cNvPr>
            <p:cNvCxnSpPr>
              <a:cxnSpLocks/>
              <a:stCxn id="6" idx="2"/>
              <a:endCxn id="2" idx="1"/>
            </p:cNvCxnSpPr>
            <p:nvPr/>
          </p:nvCxnSpPr>
          <p:spPr>
            <a:xfrm>
              <a:off x="4849505" y="4330608"/>
              <a:ext cx="2213751" cy="82518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277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5FD8-5298-5C41-1778-0ACA094EC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73865-0237-0D95-D780-1817065E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AE31B-6219-6B2A-E9AD-B21A76855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499B5-D54E-87A6-9F25-E229BCBD3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27</a:t>
            </a:fld>
            <a:endParaRPr lang="LID4096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660A52A-9272-7787-03F2-71ED64051FFB}"/>
              </a:ext>
            </a:extLst>
          </p:cNvPr>
          <p:cNvSpPr txBox="1">
            <a:spLocks/>
          </p:cNvSpPr>
          <p:nvPr/>
        </p:nvSpPr>
        <p:spPr>
          <a:xfrm>
            <a:off x="835403" y="1356280"/>
            <a:ext cx="9104716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4000"/>
              <a:t>Pekararitmetik</a:t>
            </a:r>
            <a:endParaRPr lang="sv-SE" sz="160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98848F-AE81-3E6B-B785-1B6A02799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88" y="2585793"/>
            <a:ext cx="8998424" cy="221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08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9581-618B-C41A-CA67-9FDCF5E52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123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2673-BAD4-FCB1-BC73-6C15FBD3D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EB365-5DBB-3A39-E2F5-0FA48BF4D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36432-DAAC-6569-C4B6-9C00D2AF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02/06/2026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117BD-A58B-7947-922F-3F53C1613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333D7-1B76-046E-4ED3-F12CFFA9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29</a:t>
            </a:fld>
            <a:endParaRPr lang="LID4096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14BAAAA-945A-84B0-0AC6-7F5CB4017DF1}"/>
              </a:ext>
            </a:extLst>
          </p:cNvPr>
          <p:cNvSpPr txBox="1">
            <a:spLocks/>
          </p:cNvSpPr>
          <p:nvPr/>
        </p:nvSpPr>
        <p:spPr>
          <a:xfrm>
            <a:off x="835403" y="1356280"/>
            <a:ext cx="9104716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4000"/>
              <a:t>Pekararitmetik</a:t>
            </a:r>
          </a:p>
          <a:p>
            <a:pPr marL="0" indent="0">
              <a:buNone/>
            </a:pPr>
            <a:r>
              <a:rPr lang="sv-SE"/>
              <a:t>Vi kan också använda ”[]” notationen på vanliga pekare: </a:t>
            </a:r>
          </a:p>
          <a:p>
            <a:pPr marL="0" indent="0">
              <a:buNone/>
            </a:pPr>
            <a:endParaRPr lang="sv-SE" sz="32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void main() 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sv-SE" sz="1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// Let’s say we know that 0x20001000 to 0x20001100 is free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  unsigned short *free_memory_ptr = *(unsigned short) 0x20001000;</a:t>
            </a:r>
          </a:p>
          <a:p>
            <a:pPr marL="0" indent="0">
              <a:buNone/>
            </a:pPr>
            <a:r>
              <a:rPr lang="sv-SE" sz="1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// Fill it with numbers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  for(int i</a:t>
            </a:r>
            <a:r>
              <a:rPr lang="en-GB" sz="1800">
                <a:latin typeface="Consolas" panose="020B0609020204030204" pitchFamily="49" charset="0"/>
              </a:rPr>
              <a:t> = 0; i &lt; 0x100; i++) {</a:t>
            </a:r>
          </a:p>
          <a:p>
            <a:pPr marL="0" indent="0">
              <a:buNone/>
            </a:pPr>
            <a:r>
              <a:rPr lang="en-GB" sz="1800">
                <a:latin typeface="Consolas" panose="020B0609020204030204" pitchFamily="49" charset="0"/>
              </a:rPr>
              <a:t>    free_memory_ptr[i] = i; </a:t>
            </a:r>
            <a:r>
              <a:rPr lang="en-GB" sz="1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Samma som *(free_memory_ptr + i)</a:t>
            </a:r>
            <a:endParaRPr lang="en-GB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800">
                <a:latin typeface="Consolas" panose="020B0609020204030204" pitchFamily="49" charset="0"/>
              </a:rPr>
              <a:t>  }</a:t>
            </a:r>
            <a:endParaRPr lang="sv-SE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}</a:t>
            </a:r>
            <a:endParaRPr lang="sv-SE" sz="16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817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3444</TotalTime>
  <Words>4267</Words>
  <Application>Microsoft Office PowerPoint</Application>
  <PresentationFormat>Widescreen</PresentationFormat>
  <Paragraphs>672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Cascadia Mono</vt:lpstr>
      <vt:lpstr>Consolas</vt:lpstr>
      <vt:lpstr>Office Theme</vt:lpstr>
      <vt:lpstr>Lektion 6</vt:lpstr>
      <vt:lpstr>Var är våra variabler?</vt:lpstr>
      <vt:lpstr>Hur skriver vi till ett peripheral register i C? </vt:lpstr>
      <vt:lpstr>Pekare</vt:lpstr>
      <vt:lpstr>Pekare</vt:lpstr>
      <vt:lpstr>Pekare</vt:lpstr>
      <vt:lpstr>Pekare</vt:lpstr>
      <vt:lpstr>Pekare</vt:lpstr>
      <vt:lpstr>Hur skriver vi till ett peripheral register i C? </vt:lpstr>
      <vt:lpstr>Hur skriver vi till ett peripheral register i C? </vt:lpstr>
      <vt:lpstr>Hur skriver vi till ett peripheral register i C? </vt:lpstr>
      <vt:lpstr>Hur läser vi? </vt:lpstr>
      <vt:lpstr>Hur läser vi? </vt:lpstr>
      <vt:lpstr>Volatile</vt:lpstr>
      <vt:lpstr>PowerPoint Presentation</vt:lpstr>
      <vt:lpstr>Exempel</vt:lpstr>
      <vt:lpstr>PowerPoint Presentation</vt:lpstr>
      <vt:lpstr>ASCII Displayen</vt:lpstr>
      <vt:lpstr>ASCII Displayen - Kommandon</vt:lpstr>
      <vt:lpstr>ASCII Displayen - Skrivcykel</vt:lpstr>
      <vt:lpstr>SysTick</vt:lpstr>
      <vt:lpstr>SysTick</vt:lpstr>
      <vt:lpstr>SysTick</vt:lpstr>
      <vt:lpstr>ASCII Displayen - Skrivcykel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59</cp:revision>
  <dcterms:created xsi:type="dcterms:W3CDTF">2026-01-14T14:09:03Z</dcterms:created>
  <dcterms:modified xsi:type="dcterms:W3CDTF">2026-02-06T08:37:05Z</dcterms:modified>
</cp:coreProperties>
</file>