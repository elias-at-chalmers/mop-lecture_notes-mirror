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56" r:id="rId2"/>
    <p:sldId id="437" r:id="rId3"/>
    <p:sldId id="438" r:id="rId4"/>
    <p:sldId id="440" r:id="rId5"/>
    <p:sldId id="441" r:id="rId6"/>
    <p:sldId id="442" r:id="rId7"/>
    <p:sldId id="443" r:id="rId8"/>
    <p:sldId id="444" r:id="rId9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1854" y="16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E717189-69EA-4142-945D-85EE3E06463B}" type="datetimeFigureOut">
              <a:rPr lang="LID4096" smtClean="0"/>
              <a:t>09/30/2025</a:t>
            </a:fld>
            <a:endParaRPr lang="LID4096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LID4096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FD2D078-0734-41DD-A137-6D7276E88BE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745062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I MD407 har vi en 32 bitars addressbuss, och kan alltså addressera 4GB med minne. </a:t>
            </a:r>
          </a:p>
          <a:p>
            <a:r>
              <a:rPr lang="sv-SE"/>
              <a:t>Vi har också en 32-bitars databuss, så vid en minnesläsning läser vi alltid ”egentligen” 32 bitar. </a:t>
            </a:r>
          </a:p>
          <a:p>
            <a:r>
              <a:rPr lang="sv-SE"/>
              <a:t>I en smått förenklad mild av hur ett minne fungerar delar vi då upp minnet i klumpar om fyra bytes, kopplar allihop på våra 32 datalinor, och väljer en av dem med ordet som står på addressbussen.</a:t>
            </a:r>
          </a:p>
          <a:p>
            <a:endParaRPr lang="sv-SE"/>
          </a:p>
          <a:p>
            <a:endParaRPr lang="en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>
              <a:defRPr/>
            </a:pPr>
            <a:fld id="{69F14230-2865-4F3C-A178-6B7F6A8FE2CD}" type="slidenum">
              <a:rPr lang="sv-SE" altLang="sv-SE" smtClean="0"/>
              <a:pPr>
                <a:defRPr/>
              </a:pPr>
              <a:t>2</a:t>
            </a:fld>
            <a:endParaRPr lang="sv-SE" altLang="sv-SE"/>
          </a:p>
        </p:txBody>
      </p:sp>
    </p:spTree>
    <p:extLst>
      <p:ext uri="{BB962C8B-B14F-4D97-AF65-F5344CB8AC3E}">
        <p14:creationId xmlns:p14="http://schemas.microsoft.com/office/powerpoint/2010/main" val="20600765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Men vad händer nu om vi har en address som INTE är en multipel av fyra bytes? </a:t>
            </a:r>
          </a:p>
          <a:p>
            <a:r>
              <a:rPr lang="sv-SE"/>
              <a:t>Det finns ju inget enkelt sätt för oss att lägga ut ett sådant ord på bussen!</a:t>
            </a:r>
          </a:p>
          <a:p>
            <a:r>
              <a:rPr lang="sv-SE"/>
              <a:t>Därför är det helt enkelt förbjudet att försöka läsa ett 4 bytes word från en address som inte är 4 bytes alignad.</a:t>
            </a:r>
          </a:p>
          <a:p>
            <a:endParaRPr lang="en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>
              <a:defRPr/>
            </a:pPr>
            <a:fld id="{69F14230-2865-4F3C-A178-6B7F6A8FE2CD}" type="slidenum">
              <a:rPr lang="sv-SE" altLang="sv-SE" smtClean="0"/>
              <a:pPr>
                <a:defRPr/>
              </a:pPr>
              <a:t>3</a:t>
            </a:fld>
            <a:endParaRPr lang="sv-SE" altLang="sv-SE"/>
          </a:p>
        </p:txBody>
      </p:sp>
    </p:spTree>
    <p:extLst>
      <p:ext uri="{BB962C8B-B14F-4D97-AF65-F5344CB8AC3E}">
        <p14:creationId xmlns:p14="http://schemas.microsoft.com/office/powerpoint/2010/main" val="310468460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Nu kollar vi vad som händer när man läser ett två bytes word. </a:t>
            </a:r>
          </a:p>
          <a:p>
            <a:r>
              <a:rPr lang="sv-SE"/>
              <a:t>Ett tvåbytesord </a:t>
            </a:r>
            <a:r>
              <a:rPr lang="sv-SE" i="1"/>
              <a:t>går fint</a:t>
            </a:r>
            <a:r>
              <a:rPr lang="sv-SE" i="0"/>
              <a:t> att läsa från 0x20000006, om vi använder LDRH. </a:t>
            </a:r>
          </a:p>
          <a:p>
            <a:r>
              <a:rPr lang="sv-SE"/>
              <a:t>Processorn kollar </a:t>
            </a:r>
            <a:r>
              <a:rPr lang="sv-SE" i="1"/>
              <a:t>vilket 4 bytes alignat</a:t>
            </a:r>
            <a:r>
              <a:rPr lang="sv-SE" i="0"/>
              <a:t> ord halvordet ligger i (genom att bara använda de 30 översta bitarna i addressen)</a:t>
            </a:r>
          </a:p>
          <a:p>
            <a:r>
              <a:rPr lang="sv-SE" i="0"/>
              <a:t>och kan enkelt välja den övre eller undre halvan av ordet med en MUX som matas med bit 1 i addressen. </a:t>
            </a:r>
            <a:endParaRPr lang="en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>
              <a:defRPr/>
            </a:pPr>
            <a:fld id="{69F14230-2865-4F3C-A178-6B7F6A8FE2CD}" type="slidenum">
              <a:rPr lang="sv-SE" altLang="sv-SE" smtClean="0"/>
              <a:pPr>
                <a:defRPr/>
              </a:pPr>
              <a:t>4</a:t>
            </a:fld>
            <a:endParaRPr lang="sv-SE" altLang="sv-SE"/>
          </a:p>
        </p:txBody>
      </p:sp>
    </p:spTree>
    <p:extLst>
      <p:ext uri="{BB962C8B-B14F-4D97-AF65-F5344CB8AC3E}">
        <p14:creationId xmlns:p14="http://schemas.microsoft.com/office/powerpoint/2010/main" val="297515803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Men detta funkar inte om vi försöker använda en address som inte är en multipel av 2!</a:t>
            </a:r>
          </a:p>
          <a:p>
            <a:r>
              <a:rPr lang="sv-SE"/>
              <a:t>Därför måste addressen vara 2 bytes alignad när vi läser en HALF eller short</a:t>
            </a:r>
            <a:endParaRPr lang="en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>
              <a:defRPr/>
            </a:pPr>
            <a:fld id="{69F14230-2865-4F3C-A178-6B7F6A8FE2CD}" type="slidenum">
              <a:rPr lang="sv-SE" altLang="sv-SE" smtClean="0"/>
              <a:pPr>
                <a:defRPr/>
              </a:pPr>
              <a:t>5</a:t>
            </a:fld>
            <a:endParaRPr lang="sv-SE" altLang="sv-SE"/>
          </a:p>
        </p:txBody>
      </p:sp>
    </p:spTree>
    <p:extLst>
      <p:ext uri="{BB962C8B-B14F-4D97-AF65-F5344CB8AC3E}">
        <p14:creationId xmlns:p14="http://schemas.microsoft.com/office/powerpoint/2010/main" val="220520629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9519815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13B376-6E49-E247-779F-BE4411CB5B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D7BCAF-F7DC-D607-E421-DE403B5D6C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8E8F02-56E0-7AF4-0BA1-605608CF6E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7D0792-24AE-8AA7-AE14-EB89ED5AC2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7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406723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66BF08-D19E-6211-EA6D-7F9B8CB9B0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CCDA47-27A8-9D93-F050-71DE669E9E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FF65739-26A5-8480-123E-7A653E13DC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2514A9-81F3-8958-18E9-8924E64027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8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7669366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44B6F0-9D07-1776-2086-75E435728B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246E7C-F264-4864-23BC-306C31EB65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6E0A38-C541-9951-1E6A-6978D6BC3F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09/30/2025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D259D9-8E2D-1D1D-8B31-0945685204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C595C1-205E-FFF4-936D-25535B7B03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2717299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9A3B34-78A8-34FE-3CCF-3B8DB61CAF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F338E1-E779-C7BB-813B-314258DB41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984D40-7A7E-6EA0-DFB6-26742E5F4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09/30/2025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B1FA05-897C-C023-BA17-52734CE1E3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CFBFA0-D7F9-7295-6260-6F9A480BA7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797855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0A6461-AE98-B237-9D8F-3DB16ECA19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135CD2-7500-964A-ED34-8F38FBF5AE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C6D555-2BAA-FB0D-A276-9699D5C778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09/30/2025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81D44D-FC79-7382-4EDC-4C810EC3E6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1B27BB-7716-E53D-64B0-CB9872DB58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182661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F3B3F-8256-8351-6888-B166BBA893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821D41-1B1B-E5FC-134A-3D4165C7E51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6BFE72-C954-E36E-9C8F-99ED4EC6B4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A8B57B8-DC85-0BF3-BA78-959E207A7E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09/30/2025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84EC98-D5F5-D0BD-C71F-243FE26429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C2D44E8-9ACB-A286-1ED3-D03727FEF1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0380587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959E54-42B6-633F-BD36-423A52E8DD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DA3118-FCBE-E1E1-8B0E-21209B116B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A215D3-CAD9-3D50-C699-31EE2882A0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83027B7-2DCE-1C27-F9D5-CF1CF3EC133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C289884-034B-2450-C9C5-1E3443FC5A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012E84B-A104-2ECA-E924-1E3AF6560C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09/30/2025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00F89E1-6524-7E1B-4B74-FA2FCA1513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6603E9E-5C9F-B3BD-DA60-7A67F74BB6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258549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C80DFD-6FF3-CFEB-0E7D-AA1D49EE52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FC86795-78C1-16EB-194C-2CFFA48DCE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09/30/2025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2A2B7CD-31F4-4EAC-9213-260CE50C85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AD449B4-E929-0741-04D4-F6B47C6596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792627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58CB0C0-E8D1-717D-3EEE-138D917E85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09/30/2025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9812276-AA8C-C73D-E881-5B5D54C03A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6D7BF0-9091-3949-021D-A6F7908C7B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7267226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D60CE7-84C9-46E2-144D-86C09C70C3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372021-5E67-27A7-F9F4-EDCEDA3FCA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64FD7ED-D5B1-3C2A-916E-467B868B66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5AFC8E-7EF1-903C-9ACC-21ED61763B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09/30/2025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D66C28-74BE-9AC7-D6DC-C7C2B32E61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27965C-20C5-1304-6911-71F46B92CC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7861095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B65098-B67B-74AF-4CEE-507767FBB8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29AEC1-4667-711E-37B0-BD3F8CD313F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51BDF3-6A94-55FB-A88D-C5475F53B5F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4078E6-93FB-8D73-B92E-EE7F49BAD3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09/30/2025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E7E5D80-4432-82BF-1C6C-357CEE01A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3CBBBA-9F22-9083-53F7-938FD2A544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279790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21998A-271F-BA27-4BEC-6336C5867D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EA921F0-0D6A-1CDA-3D39-4FA2152AF2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69F2D6-BE38-7760-E5D6-CBDF3CD9EB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09/30/2025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BEC59C-C1A9-6819-5110-76D5D10012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253225-F875-0EBE-F725-0815DD0C73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6937392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F9A70D6-E20A-B55D-D004-0D6239FF46E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3E00DB1-C947-229D-E954-97197EBD91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EEF35B-12E0-0098-1ED7-9D7310CF5B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09/30/2025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39FB1C-0843-1C6A-F0FE-93492B0CE5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0BCF81-7453-B5DC-8ED8-ED52EC5076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5591158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2E9EA0E-FEBC-BF82-236B-19E2B95B81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7A1DAD-B78F-131B-589D-447734A35A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FC1BAB-2F78-93FB-E05F-DFD1725BA8D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E06BE13-2967-499D-85E1-E8100B951B63}" type="datetimeFigureOut">
              <a:rPr lang="LID4096" smtClean="0"/>
              <a:t>09/30/2025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6FC99B-1E65-28DC-06BC-B8B0E26AB39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38ADC5-7B71-147F-1B53-0CBADE65AC6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4479683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microsoft.com/office/2007/relationships/hdphoto" Target="../media/hdphoto1.wdp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B78F02A-D284-F67F-A5EB-43080A07DB8E}"/>
              </a:ext>
            </a:extLst>
          </p:cNvPr>
          <p:cNvSpPr txBox="1"/>
          <p:nvPr/>
        </p:nvSpPr>
        <p:spPr>
          <a:xfrm>
            <a:off x="2303660" y="2065423"/>
            <a:ext cx="1716624" cy="2016008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GB"/>
              <a:t>Processor Core</a:t>
            </a:r>
          </a:p>
          <a:p>
            <a:endParaRPr lang="en-GB" sz="1000"/>
          </a:p>
          <a:p>
            <a:r>
              <a:rPr lang="en-GB" sz="1000"/>
              <a:t>Runs your code.</a:t>
            </a:r>
          </a:p>
          <a:p>
            <a:r>
              <a:rPr lang="en-GB" sz="1000"/>
              <a:t>Will perform LOAD or STORE </a:t>
            </a:r>
          </a:p>
          <a:p>
            <a:r>
              <a:rPr lang="en-GB" sz="1000"/>
              <a:t>operations to a specific </a:t>
            </a:r>
            <a:br>
              <a:rPr lang="en-GB" sz="1000"/>
            </a:br>
            <a:r>
              <a:rPr lang="en-GB" sz="1000"/>
              <a:t>address.</a:t>
            </a:r>
            <a:endParaRPr lang="LID4096" sz="100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30EC390-CBF2-90B4-BE88-59A4A402D72A}"/>
              </a:ext>
            </a:extLst>
          </p:cNvPr>
          <p:cNvSpPr txBox="1"/>
          <p:nvPr/>
        </p:nvSpPr>
        <p:spPr>
          <a:xfrm>
            <a:off x="4350706" y="2363244"/>
            <a:ext cx="67518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50"/>
              <a:t>address</a:t>
            </a:r>
            <a:endParaRPr lang="LID4096" sz="105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7C5C052-1F1D-2C15-7E74-8EDE8134DDB1}"/>
              </a:ext>
            </a:extLst>
          </p:cNvPr>
          <p:cNvSpPr txBox="1"/>
          <p:nvPr/>
        </p:nvSpPr>
        <p:spPr>
          <a:xfrm>
            <a:off x="6772397" y="3827515"/>
            <a:ext cx="250145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050"/>
              <a:t>data bus</a:t>
            </a:r>
            <a:endParaRPr lang="LID4096" sz="105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C6C546F-4DE1-59A9-23F0-8B06E5C1FAB5}"/>
              </a:ext>
            </a:extLst>
          </p:cNvPr>
          <p:cNvSpPr txBox="1"/>
          <p:nvPr/>
        </p:nvSpPr>
        <p:spPr>
          <a:xfrm>
            <a:off x="6985917" y="1429701"/>
            <a:ext cx="2074186" cy="40011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200"/>
              <a:t>FLASH (256KB)</a:t>
            </a:r>
          </a:p>
          <a:p>
            <a:r>
              <a:rPr lang="en-GB" sz="800" i="1"/>
              <a:t>non-volatile </a:t>
            </a:r>
            <a:r>
              <a:rPr lang="en-GB" sz="800"/>
              <a:t>memory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BB2AEC6-24FB-0515-22E8-11148AB9B88D}"/>
              </a:ext>
            </a:extLst>
          </p:cNvPr>
          <p:cNvSpPr txBox="1"/>
          <p:nvPr/>
        </p:nvSpPr>
        <p:spPr>
          <a:xfrm>
            <a:off x="6985917" y="2040894"/>
            <a:ext cx="2074187" cy="40011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200"/>
              <a:t>SRAM (64KB)</a:t>
            </a:r>
          </a:p>
          <a:p>
            <a:r>
              <a:rPr lang="en-GB" sz="800" i="1"/>
              <a:t>very fast</a:t>
            </a:r>
            <a:r>
              <a:rPr lang="en-GB" sz="800"/>
              <a:t> read and write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49DF344-75C6-E1E2-579E-B8E461300896}"/>
              </a:ext>
            </a:extLst>
          </p:cNvPr>
          <p:cNvSpPr txBox="1"/>
          <p:nvPr/>
        </p:nvSpPr>
        <p:spPr>
          <a:xfrm>
            <a:off x="6985917" y="2652087"/>
            <a:ext cx="2074187" cy="40011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200"/>
              <a:t>PERIPHERAL REGISTERS</a:t>
            </a:r>
          </a:p>
          <a:p>
            <a:r>
              <a:rPr lang="en-GB" sz="800" i="1"/>
              <a:t>Control e.g. GPIO, ethernet, USB, DAC</a:t>
            </a:r>
            <a:endParaRPr lang="en-GB" sz="80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9D8A420-2DFE-C9DD-2A6E-FDDE1476F205}"/>
              </a:ext>
            </a:extLst>
          </p:cNvPr>
          <p:cNvSpPr txBox="1"/>
          <p:nvPr/>
        </p:nvSpPr>
        <p:spPr>
          <a:xfrm>
            <a:off x="6985917" y="3263279"/>
            <a:ext cx="2074187" cy="40011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200"/>
              <a:t>System Control Space (SCB)</a:t>
            </a:r>
            <a:endParaRPr lang="en-GB" sz="1200" u="sng"/>
          </a:p>
          <a:p>
            <a:r>
              <a:rPr lang="en-GB" sz="800" i="1"/>
              <a:t>System configuration and control</a:t>
            </a:r>
            <a:endParaRPr lang="en-GB" sz="800"/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B09FC0BE-4710-839B-5D0F-3BA2941BCD3A}"/>
              </a:ext>
            </a:extLst>
          </p:cNvPr>
          <p:cNvSpPr/>
          <p:nvPr/>
        </p:nvSpPr>
        <p:spPr>
          <a:xfrm>
            <a:off x="5728570" y="1477356"/>
            <a:ext cx="1182580" cy="3048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0BF32A7-9170-DBF7-6162-98E60E77869D}"/>
              </a:ext>
            </a:extLst>
          </p:cNvPr>
          <p:cNvSpPr txBox="1"/>
          <p:nvPr/>
        </p:nvSpPr>
        <p:spPr>
          <a:xfrm>
            <a:off x="5973279" y="1263630"/>
            <a:ext cx="8306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latin typeface="Consolas" panose="020B0609020204030204" pitchFamily="49" charset="0"/>
              </a:rPr>
              <a:t>0x00000000 – </a:t>
            </a:r>
          </a:p>
          <a:p>
            <a:r>
              <a:rPr lang="en-GB" sz="700">
                <a:latin typeface="Consolas" panose="020B0609020204030204" pitchFamily="49" charset="0"/>
              </a:rPr>
              <a:t>0x00047FFF</a:t>
            </a:r>
            <a:endParaRPr lang="LID4096" sz="700">
              <a:latin typeface="Consolas" panose="020B0609020204030204" pitchFamily="49" charset="0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5768AB6-AFC2-A55E-5793-93B38B547E14}"/>
              </a:ext>
            </a:extLst>
          </p:cNvPr>
          <p:cNvSpPr/>
          <p:nvPr/>
        </p:nvSpPr>
        <p:spPr>
          <a:xfrm>
            <a:off x="5728570" y="1553227"/>
            <a:ext cx="150312" cy="207514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9106176-0ABA-B6F0-A958-1227CE590923}"/>
              </a:ext>
            </a:extLst>
          </p:cNvPr>
          <p:cNvSpPr/>
          <p:nvPr/>
        </p:nvSpPr>
        <p:spPr>
          <a:xfrm>
            <a:off x="5844693" y="1562099"/>
            <a:ext cx="347339" cy="1357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0" name="Arrow: Right 19">
            <a:extLst>
              <a:ext uri="{FF2B5EF4-FFF2-40B4-BE49-F238E27FC236}">
                <a16:creationId xmlns:a16="http://schemas.microsoft.com/office/drawing/2014/main" id="{8C5E126B-08B7-9C86-3D03-10725F231E9F}"/>
              </a:ext>
            </a:extLst>
          </p:cNvPr>
          <p:cNvSpPr/>
          <p:nvPr/>
        </p:nvSpPr>
        <p:spPr>
          <a:xfrm>
            <a:off x="5728570" y="2065423"/>
            <a:ext cx="1182580" cy="3048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472622D-D883-B205-7506-76A2FCB31431}"/>
              </a:ext>
            </a:extLst>
          </p:cNvPr>
          <p:cNvSpPr txBox="1"/>
          <p:nvPr/>
        </p:nvSpPr>
        <p:spPr>
          <a:xfrm>
            <a:off x="5979677" y="1854078"/>
            <a:ext cx="8306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latin typeface="Consolas" panose="020B0609020204030204" pitchFamily="49" charset="0"/>
              </a:rPr>
              <a:t>0x20000000 – </a:t>
            </a:r>
          </a:p>
          <a:p>
            <a:r>
              <a:rPr lang="en-GB" sz="700">
                <a:latin typeface="Consolas" panose="020B0609020204030204" pitchFamily="49" charset="0"/>
              </a:rPr>
              <a:t>0x2000FFFF</a:t>
            </a:r>
            <a:endParaRPr lang="LID4096" sz="700">
              <a:latin typeface="Consolas" panose="020B0609020204030204" pitchFamily="49" charset="0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ACB814D-2A16-F361-95D0-951BD1D47B91}"/>
              </a:ext>
            </a:extLst>
          </p:cNvPr>
          <p:cNvSpPr/>
          <p:nvPr/>
        </p:nvSpPr>
        <p:spPr>
          <a:xfrm>
            <a:off x="5844693" y="2150166"/>
            <a:ext cx="347339" cy="1357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3" name="Arrow: Right 22">
            <a:extLst>
              <a:ext uri="{FF2B5EF4-FFF2-40B4-BE49-F238E27FC236}">
                <a16:creationId xmlns:a16="http://schemas.microsoft.com/office/drawing/2014/main" id="{3A461C97-8674-11F4-29A8-D185F3E8CC73}"/>
              </a:ext>
            </a:extLst>
          </p:cNvPr>
          <p:cNvSpPr/>
          <p:nvPr/>
        </p:nvSpPr>
        <p:spPr>
          <a:xfrm>
            <a:off x="5728570" y="2653490"/>
            <a:ext cx="1182580" cy="3048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1F0BC92-376A-912D-CA50-A338DD9A5D27}"/>
              </a:ext>
            </a:extLst>
          </p:cNvPr>
          <p:cNvSpPr txBox="1"/>
          <p:nvPr/>
        </p:nvSpPr>
        <p:spPr>
          <a:xfrm>
            <a:off x="6006909" y="2454966"/>
            <a:ext cx="8306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latin typeface="Consolas" panose="020B0609020204030204" pitchFamily="49" charset="0"/>
              </a:rPr>
              <a:t>0x40000000 – </a:t>
            </a:r>
          </a:p>
          <a:p>
            <a:r>
              <a:rPr lang="en-GB" sz="700">
                <a:latin typeface="Consolas" panose="020B0609020204030204" pitchFamily="49" charset="0"/>
              </a:rPr>
              <a:t>0x40007FFF</a:t>
            </a:r>
            <a:endParaRPr lang="LID4096" sz="700">
              <a:latin typeface="Consolas" panose="020B0609020204030204" pitchFamily="49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305682D-D41D-007D-ADD1-6F902B4B6180}"/>
              </a:ext>
            </a:extLst>
          </p:cNvPr>
          <p:cNvSpPr/>
          <p:nvPr/>
        </p:nvSpPr>
        <p:spPr>
          <a:xfrm>
            <a:off x="5844693" y="2738233"/>
            <a:ext cx="347339" cy="1357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6" name="Arrow: Right 25">
            <a:extLst>
              <a:ext uri="{FF2B5EF4-FFF2-40B4-BE49-F238E27FC236}">
                <a16:creationId xmlns:a16="http://schemas.microsoft.com/office/drawing/2014/main" id="{1FA53CEA-BC84-ADD3-2994-8D3A31174853}"/>
              </a:ext>
            </a:extLst>
          </p:cNvPr>
          <p:cNvSpPr/>
          <p:nvPr/>
        </p:nvSpPr>
        <p:spPr>
          <a:xfrm>
            <a:off x="5728570" y="3410211"/>
            <a:ext cx="1182580" cy="3048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ABA1BAE-EF5E-CB8A-EAC3-D869856A54B2}"/>
              </a:ext>
            </a:extLst>
          </p:cNvPr>
          <p:cNvSpPr txBox="1"/>
          <p:nvPr/>
        </p:nvSpPr>
        <p:spPr>
          <a:xfrm>
            <a:off x="6006909" y="3156814"/>
            <a:ext cx="8306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latin typeface="Consolas" panose="020B0609020204030204" pitchFamily="49" charset="0"/>
              </a:rPr>
              <a:t>0xE000E000 – </a:t>
            </a:r>
          </a:p>
          <a:p>
            <a:r>
              <a:rPr lang="en-GB" sz="700">
                <a:latin typeface="Consolas" panose="020B0609020204030204" pitchFamily="49" charset="0"/>
              </a:rPr>
              <a:t>0xE000EFFF</a:t>
            </a:r>
            <a:endParaRPr lang="LID4096" sz="700">
              <a:latin typeface="Consolas" panose="020B0609020204030204" pitchFamily="49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909BE966-FE42-5F63-FEFF-9D2C2213D3F7}"/>
              </a:ext>
            </a:extLst>
          </p:cNvPr>
          <p:cNvSpPr/>
          <p:nvPr/>
        </p:nvSpPr>
        <p:spPr>
          <a:xfrm>
            <a:off x="5844693" y="3494954"/>
            <a:ext cx="347339" cy="1357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3EF6D95-EBB4-919B-AB60-606CC2EE5BEA}"/>
              </a:ext>
            </a:extLst>
          </p:cNvPr>
          <p:cNvSpPr/>
          <p:nvPr/>
        </p:nvSpPr>
        <p:spPr>
          <a:xfrm>
            <a:off x="5741195" y="1566862"/>
            <a:ext cx="128586" cy="20335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CA490006-CC52-F442-2942-4EBAA018E59B}"/>
              </a:ext>
            </a:extLst>
          </p:cNvPr>
          <p:cNvSpPr/>
          <p:nvPr/>
        </p:nvSpPr>
        <p:spPr>
          <a:xfrm>
            <a:off x="4179518" y="2338193"/>
            <a:ext cx="1602157" cy="3048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0" name="Arrow: Left-Up 29">
            <a:extLst>
              <a:ext uri="{FF2B5EF4-FFF2-40B4-BE49-F238E27FC236}">
                <a16:creationId xmlns:a16="http://schemas.microsoft.com/office/drawing/2014/main" id="{36CF1942-754E-9313-F7E1-FB859F8A2C56}"/>
              </a:ext>
            </a:extLst>
          </p:cNvPr>
          <p:cNvSpPr/>
          <p:nvPr/>
        </p:nvSpPr>
        <p:spPr>
          <a:xfrm>
            <a:off x="4114800" y="1263630"/>
            <a:ext cx="5676899" cy="2817801"/>
          </a:xfrm>
          <a:prstGeom prst="leftUpArrow">
            <a:avLst>
              <a:gd name="adj1" fmla="val 6300"/>
              <a:gd name="adj2" fmla="val 4131"/>
              <a:gd name="adj3" fmla="val 5431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1D7F307-370F-92EF-099B-09B5AEC9BBE3}"/>
              </a:ext>
            </a:extLst>
          </p:cNvPr>
          <p:cNvSpPr txBox="1"/>
          <p:nvPr/>
        </p:nvSpPr>
        <p:spPr>
          <a:xfrm>
            <a:off x="4477841" y="2363635"/>
            <a:ext cx="250145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050"/>
              <a:t>address bus</a:t>
            </a:r>
            <a:endParaRPr lang="LID4096" sz="1050"/>
          </a:p>
        </p:txBody>
      </p:sp>
      <p:sp>
        <p:nvSpPr>
          <p:cNvPr id="32" name="Arrow: Left-Right 31">
            <a:extLst>
              <a:ext uri="{FF2B5EF4-FFF2-40B4-BE49-F238E27FC236}">
                <a16:creationId xmlns:a16="http://schemas.microsoft.com/office/drawing/2014/main" id="{CD208002-E345-ACDE-CDD5-EFC289ECC3A5}"/>
              </a:ext>
            </a:extLst>
          </p:cNvPr>
          <p:cNvSpPr/>
          <p:nvPr/>
        </p:nvSpPr>
        <p:spPr>
          <a:xfrm>
            <a:off x="9096867" y="1519727"/>
            <a:ext cx="523875" cy="220057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3" name="Arrow: Left-Right 32">
            <a:extLst>
              <a:ext uri="{FF2B5EF4-FFF2-40B4-BE49-F238E27FC236}">
                <a16:creationId xmlns:a16="http://schemas.microsoft.com/office/drawing/2014/main" id="{C1F2C56D-BB2B-68DC-92A2-61504E6DE8D8}"/>
              </a:ext>
            </a:extLst>
          </p:cNvPr>
          <p:cNvSpPr/>
          <p:nvPr/>
        </p:nvSpPr>
        <p:spPr>
          <a:xfrm>
            <a:off x="9096867" y="2131881"/>
            <a:ext cx="523875" cy="220057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4" name="Arrow: Left-Right 33">
            <a:extLst>
              <a:ext uri="{FF2B5EF4-FFF2-40B4-BE49-F238E27FC236}">
                <a16:creationId xmlns:a16="http://schemas.microsoft.com/office/drawing/2014/main" id="{651B5ECD-4156-0067-BE24-265E3C605C12}"/>
              </a:ext>
            </a:extLst>
          </p:cNvPr>
          <p:cNvSpPr/>
          <p:nvPr/>
        </p:nvSpPr>
        <p:spPr>
          <a:xfrm>
            <a:off x="9096867" y="2744035"/>
            <a:ext cx="523875" cy="220057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5" name="Arrow: Left-Right 34">
            <a:extLst>
              <a:ext uri="{FF2B5EF4-FFF2-40B4-BE49-F238E27FC236}">
                <a16:creationId xmlns:a16="http://schemas.microsoft.com/office/drawing/2014/main" id="{A4146EC8-9CD6-FB83-9B40-6600F5FA9090}"/>
              </a:ext>
            </a:extLst>
          </p:cNvPr>
          <p:cNvSpPr/>
          <p:nvPr/>
        </p:nvSpPr>
        <p:spPr>
          <a:xfrm>
            <a:off x="9096867" y="3356189"/>
            <a:ext cx="523875" cy="220057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6569222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0EB00D3-1E1A-FCB2-33B9-BA366921D5CB}"/>
              </a:ext>
            </a:extLst>
          </p:cNvPr>
          <p:cNvCxnSpPr/>
          <p:nvPr/>
        </p:nvCxnSpPr>
        <p:spPr>
          <a:xfrm>
            <a:off x="1042513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058CC42B-34B8-7E32-19BB-CCB20760819E}"/>
              </a:ext>
            </a:extLst>
          </p:cNvPr>
          <p:cNvCxnSpPr/>
          <p:nvPr/>
        </p:nvCxnSpPr>
        <p:spPr>
          <a:xfrm>
            <a:off x="1048848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2D80F76-28CB-6F65-CF10-2D4D1A673D1A}"/>
              </a:ext>
            </a:extLst>
          </p:cNvPr>
          <p:cNvCxnSpPr/>
          <p:nvPr/>
        </p:nvCxnSpPr>
        <p:spPr>
          <a:xfrm>
            <a:off x="1056049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B0BE7D6-F7D1-AE19-C466-3A2E6EA96A75}"/>
              </a:ext>
            </a:extLst>
          </p:cNvPr>
          <p:cNvCxnSpPr/>
          <p:nvPr/>
        </p:nvCxnSpPr>
        <p:spPr>
          <a:xfrm>
            <a:off x="1063250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Arrow: Bent 13">
            <a:extLst>
              <a:ext uri="{FF2B5EF4-FFF2-40B4-BE49-F238E27FC236}">
                <a16:creationId xmlns:a16="http://schemas.microsoft.com/office/drawing/2014/main" id="{411C2732-50A1-0B68-7380-00E1D2C81245}"/>
              </a:ext>
            </a:extLst>
          </p:cNvPr>
          <p:cNvSpPr/>
          <p:nvPr/>
        </p:nvSpPr>
        <p:spPr>
          <a:xfrm>
            <a:off x="2783633" y="1772816"/>
            <a:ext cx="2503901" cy="921367"/>
          </a:xfrm>
          <a:prstGeom prst="ben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400">
                <a:solidFill>
                  <a:schemeClr val="tx1"/>
                </a:solidFill>
              </a:rPr>
              <a:t>Addressbuss (32 bitar)</a:t>
            </a:r>
            <a:endParaRPr lang="en-SE" sz="140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0C51EF1-284A-3BFE-1B23-29261E4303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7528" y="2695472"/>
            <a:ext cx="1676634" cy="1467055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3B85DD5-EA1F-C28B-A502-C046C85950A2}"/>
              </a:ext>
            </a:extLst>
          </p:cNvPr>
          <p:cNvCxnSpPr/>
          <p:nvPr/>
        </p:nvCxnSpPr>
        <p:spPr>
          <a:xfrm>
            <a:off x="848091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A9202B1-6D82-0891-E150-7B03AC718F76}"/>
              </a:ext>
            </a:extLst>
          </p:cNvPr>
          <p:cNvCxnSpPr/>
          <p:nvPr/>
        </p:nvCxnSpPr>
        <p:spPr>
          <a:xfrm>
            <a:off x="855292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5CA09F7-86AC-946E-298C-D5074A249983}"/>
              </a:ext>
            </a:extLst>
          </p:cNvPr>
          <p:cNvCxnSpPr/>
          <p:nvPr/>
        </p:nvCxnSpPr>
        <p:spPr>
          <a:xfrm>
            <a:off x="862493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CA66DD4-FB00-FB61-E680-3A0123BCCF31}"/>
              </a:ext>
            </a:extLst>
          </p:cNvPr>
          <p:cNvCxnSpPr/>
          <p:nvPr/>
        </p:nvCxnSpPr>
        <p:spPr>
          <a:xfrm>
            <a:off x="869694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2C83DA7-5396-1D9F-7357-06FFBD0C370A}"/>
              </a:ext>
            </a:extLst>
          </p:cNvPr>
          <p:cNvCxnSpPr/>
          <p:nvPr/>
        </p:nvCxnSpPr>
        <p:spPr>
          <a:xfrm>
            <a:off x="8768949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59A5B3C-2C68-E338-E5FC-D529525A4E94}"/>
              </a:ext>
            </a:extLst>
          </p:cNvPr>
          <p:cNvCxnSpPr/>
          <p:nvPr/>
        </p:nvCxnSpPr>
        <p:spPr>
          <a:xfrm>
            <a:off x="884095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4CF7EC5-7431-353D-78C3-DF449DBA24FB}"/>
              </a:ext>
            </a:extLst>
          </p:cNvPr>
          <p:cNvCxnSpPr/>
          <p:nvPr/>
        </p:nvCxnSpPr>
        <p:spPr>
          <a:xfrm>
            <a:off x="891296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F707349-6EDE-558C-F244-03BDE7E885C7}"/>
              </a:ext>
            </a:extLst>
          </p:cNvPr>
          <p:cNvCxnSpPr/>
          <p:nvPr/>
        </p:nvCxnSpPr>
        <p:spPr>
          <a:xfrm>
            <a:off x="898497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662DA5F-ED36-B160-6C5B-BB3D2403379F}"/>
              </a:ext>
            </a:extLst>
          </p:cNvPr>
          <p:cNvSpPr txBox="1"/>
          <p:nvPr/>
        </p:nvSpPr>
        <p:spPr>
          <a:xfrm>
            <a:off x="10515874" y="307435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9350963D-3325-CAE3-B381-2FBFBDEB1007}"/>
              </a:ext>
            </a:extLst>
          </p:cNvPr>
          <p:cNvCxnSpPr>
            <a:cxnSpLocks/>
            <a:endCxn id="58" idx="1"/>
          </p:cNvCxnSpPr>
          <p:nvPr/>
        </p:nvCxnSpPr>
        <p:spPr>
          <a:xfrm>
            <a:off x="6744068" y="2047791"/>
            <a:ext cx="1648460" cy="1184130"/>
          </a:xfrm>
          <a:prstGeom prst="bentConnector3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rrow: Bent 33">
            <a:extLst>
              <a:ext uri="{FF2B5EF4-FFF2-40B4-BE49-F238E27FC236}">
                <a16:creationId xmlns:a16="http://schemas.microsoft.com/office/drawing/2014/main" id="{295706D2-4B0B-A9E2-CD1B-2D38076167E8}"/>
              </a:ext>
            </a:extLst>
          </p:cNvPr>
          <p:cNvSpPr/>
          <p:nvPr/>
        </p:nvSpPr>
        <p:spPr>
          <a:xfrm rot="5400000" flipH="1" flipV="1">
            <a:off x="4754682" y="2173704"/>
            <a:ext cx="1242470" cy="5625270"/>
          </a:xfrm>
          <a:prstGeom prst="bentArrow">
            <a:avLst>
              <a:gd name="adj1" fmla="val 21049"/>
              <a:gd name="adj2" fmla="val 18162"/>
              <a:gd name="adj3" fmla="val 27566"/>
              <a:gd name="adj4" fmla="val 4309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AE9B3ED-1BB6-89E6-AD42-D35FD680EF49}"/>
              </a:ext>
            </a:extLst>
          </p:cNvPr>
          <p:cNvSpPr txBox="1"/>
          <p:nvPr/>
        </p:nvSpPr>
        <p:spPr>
          <a:xfrm>
            <a:off x="4474049" y="693394"/>
            <a:ext cx="32439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3600"/>
              <a:t>Minnet i MD407</a:t>
            </a:r>
            <a:endParaRPr lang="en-SE" sz="360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5ED06C9-2F29-72C6-FE4B-BF441D8B04C6}"/>
              </a:ext>
            </a:extLst>
          </p:cNvPr>
          <p:cNvSpPr txBox="1"/>
          <p:nvPr/>
        </p:nvSpPr>
        <p:spPr>
          <a:xfrm>
            <a:off x="5087888" y="5006935"/>
            <a:ext cx="15716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Databuss (32 bitar)</a:t>
            </a:r>
            <a:endParaRPr lang="en-SE" sz="140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F809D64-4105-C097-9933-35974C784596}"/>
              </a:ext>
            </a:extLst>
          </p:cNvPr>
          <p:cNvCxnSpPr/>
          <p:nvPr/>
        </p:nvCxnSpPr>
        <p:spPr>
          <a:xfrm>
            <a:off x="904832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A2587B8-6F7F-E451-F6A5-252E1BBB1F75}"/>
              </a:ext>
            </a:extLst>
          </p:cNvPr>
          <p:cNvCxnSpPr/>
          <p:nvPr/>
        </p:nvCxnSpPr>
        <p:spPr>
          <a:xfrm>
            <a:off x="912033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AAEFE6E-EBB3-62AE-6B1F-577E5FD32FA7}"/>
              </a:ext>
            </a:extLst>
          </p:cNvPr>
          <p:cNvCxnSpPr/>
          <p:nvPr/>
        </p:nvCxnSpPr>
        <p:spPr>
          <a:xfrm>
            <a:off x="919234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1F09094-9BCA-CDDA-BDCD-F0C8E688CDB2}"/>
              </a:ext>
            </a:extLst>
          </p:cNvPr>
          <p:cNvCxnSpPr/>
          <p:nvPr/>
        </p:nvCxnSpPr>
        <p:spPr>
          <a:xfrm>
            <a:off x="9264352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48FA0B3-0047-826F-8D26-43579B1F3ACC}"/>
              </a:ext>
            </a:extLst>
          </p:cNvPr>
          <p:cNvCxnSpPr/>
          <p:nvPr/>
        </p:nvCxnSpPr>
        <p:spPr>
          <a:xfrm>
            <a:off x="9336360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A0DAB1D-B6A1-EAD0-9A5F-4910922E536F}"/>
              </a:ext>
            </a:extLst>
          </p:cNvPr>
          <p:cNvCxnSpPr/>
          <p:nvPr/>
        </p:nvCxnSpPr>
        <p:spPr>
          <a:xfrm>
            <a:off x="940836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FA625E9-CCFE-DF33-954B-36AF3EB6C141}"/>
              </a:ext>
            </a:extLst>
          </p:cNvPr>
          <p:cNvCxnSpPr/>
          <p:nvPr/>
        </p:nvCxnSpPr>
        <p:spPr>
          <a:xfrm>
            <a:off x="948037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10FF8BF-0E9E-897A-813F-79BCF4773B90}"/>
              </a:ext>
            </a:extLst>
          </p:cNvPr>
          <p:cNvCxnSpPr/>
          <p:nvPr/>
        </p:nvCxnSpPr>
        <p:spPr>
          <a:xfrm>
            <a:off x="955238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46E4AFF-5818-41A8-B659-003E6956CCBC}"/>
              </a:ext>
            </a:extLst>
          </p:cNvPr>
          <p:cNvCxnSpPr/>
          <p:nvPr/>
        </p:nvCxnSpPr>
        <p:spPr>
          <a:xfrm>
            <a:off x="963304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DF317E1-C92A-152A-E47B-D0CE85ECE0D8}"/>
              </a:ext>
            </a:extLst>
          </p:cNvPr>
          <p:cNvCxnSpPr/>
          <p:nvPr/>
        </p:nvCxnSpPr>
        <p:spPr>
          <a:xfrm>
            <a:off x="970505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463BD9D-395A-7B54-FB59-717492D352E4}"/>
              </a:ext>
            </a:extLst>
          </p:cNvPr>
          <p:cNvCxnSpPr/>
          <p:nvPr/>
        </p:nvCxnSpPr>
        <p:spPr>
          <a:xfrm>
            <a:off x="977706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CF20D2E-D2EB-7041-E28C-C4F16EB20DDF}"/>
              </a:ext>
            </a:extLst>
          </p:cNvPr>
          <p:cNvCxnSpPr/>
          <p:nvPr/>
        </p:nvCxnSpPr>
        <p:spPr>
          <a:xfrm>
            <a:off x="9849069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9769C6E-2D3F-9B1B-AAEF-B7E7D612317A}"/>
              </a:ext>
            </a:extLst>
          </p:cNvPr>
          <p:cNvCxnSpPr/>
          <p:nvPr/>
        </p:nvCxnSpPr>
        <p:spPr>
          <a:xfrm>
            <a:off x="992107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8B06814-4099-26D3-81D9-3F0493FE10B1}"/>
              </a:ext>
            </a:extLst>
          </p:cNvPr>
          <p:cNvCxnSpPr/>
          <p:nvPr/>
        </p:nvCxnSpPr>
        <p:spPr>
          <a:xfrm>
            <a:off x="999308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1202CD1-A439-67F6-993E-363A143F3A07}"/>
              </a:ext>
            </a:extLst>
          </p:cNvPr>
          <p:cNvCxnSpPr/>
          <p:nvPr/>
        </p:nvCxnSpPr>
        <p:spPr>
          <a:xfrm>
            <a:off x="1006509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04B1C51E-64A8-8B59-E310-DEAD685A9E1F}"/>
              </a:ext>
            </a:extLst>
          </p:cNvPr>
          <p:cNvCxnSpPr/>
          <p:nvPr/>
        </p:nvCxnSpPr>
        <p:spPr>
          <a:xfrm>
            <a:off x="1013710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8B095B75-8331-E4BB-BFFE-309450039C03}"/>
              </a:ext>
            </a:extLst>
          </p:cNvPr>
          <p:cNvCxnSpPr/>
          <p:nvPr/>
        </p:nvCxnSpPr>
        <p:spPr>
          <a:xfrm>
            <a:off x="1020045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ED1A7AAC-9AB6-FFE1-8397-46981193BD54}"/>
              </a:ext>
            </a:extLst>
          </p:cNvPr>
          <p:cNvCxnSpPr/>
          <p:nvPr/>
        </p:nvCxnSpPr>
        <p:spPr>
          <a:xfrm>
            <a:off x="1027246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BEDB7E2C-AB57-35B6-DA3E-9390B2AFD2FE}"/>
              </a:ext>
            </a:extLst>
          </p:cNvPr>
          <p:cNvCxnSpPr/>
          <p:nvPr/>
        </p:nvCxnSpPr>
        <p:spPr>
          <a:xfrm>
            <a:off x="10344472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20C2875B-C122-116E-0396-16C20A1D61BE}"/>
              </a:ext>
            </a:extLst>
          </p:cNvPr>
          <p:cNvSpPr/>
          <p:nvPr/>
        </p:nvSpPr>
        <p:spPr>
          <a:xfrm>
            <a:off x="8392537" y="1744720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0xABCDEF00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CC36434-3AE0-5326-5758-EA58A4EF02A4}"/>
              </a:ext>
            </a:extLst>
          </p:cNvPr>
          <p:cNvSpPr/>
          <p:nvPr/>
        </p:nvSpPr>
        <p:spPr>
          <a:xfrm>
            <a:off x="8392534" y="2180447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0xABCDEF11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CC125319-6D15-35B5-B02F-B831EC14E358}"/>
              </a:ext>
            </a:extLst>
          </p:cNvPr>
          <p:cNvSpPr/>
          <p:nvPr/>
        </p:nvSpPr>
        <p:spPr>
          <a:xfrm>
            <a:off x="8392531" y="2616174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0xABCDEF22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AC6A2AED-FA85-DF0A-805E-04790CC28A1F}"/>
              </a:ext>
            </a:extLst>
          </p:cNvPr>
          <p:cNvSpPr/>
          <p:nvPr/>
        </p:nvSpPr>
        <p:spPr>
          <a:xfrm>
            <a:off x="8392528" y="3051901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0xABCDEF33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1213E05-E4BB-05DD-2647-F653EC62AFCB}"/>
              </a:ext>
            </a:extLst>
          </p:cNvPr>
          <p:cNvSpPr/>
          <p:nvPr/>
        </p:nvSpPr>
        <p:spPr>
          <a:xfrm>
            <a:off x="8392525" y="3487628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0xABCDEF44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9AC3079-3599-D232-E6DF-FC51BFC2E1E1}"/>
              </a:ext>
            </a:extLst>
          </p:cNvPr>
          <p:cNvSpPr/>
          <p:nvPr/>
        </p:nvSpPr>
        <p:spPr>
          <a:xfrm>
            <a:off x="8392522" y="3923355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0xABCDEF55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4D8DCF7D-3941-02BD-2145-7C1A7BFEF46C}"/>
              </a:ext>
            </a:extLst>
          </p:cNvPr>
          <p:cNvSpPr/>
          <p:nvPr/>
        </p:nvSpPr>
        <p:spPr>
          <a:xfrm>
            <a:off x="8392519" y="4359082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0xABCDEF66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FF4DA95F-B6C9-CCAF-05C7-CA99ABFAAC72}"/>
              </a:ext>
            </a:extLst>
          </p:cNvPr>
          <p:cNvSpPr/>
          <p:nvPr/>
        </p:nvSpPr>
        <p:spPr>
          <a:xfrm>
            <a:off x="8392516" y="4794809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0xABCDEF77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7FC9768D-D93B-3CBD-07B5-84923EC96E6B}"/>
              </a:ext>
            </a:extLst>
          </p:cNvPr>
          <p:cNvSpPr/>
          <p:nvPr/>
        </p:nvSpPr>
        <p:spPr>
          <a:xfrm>
            <a:off x="8391788" y="5324567"/>
            <a:ext cx="2383981" cy="360040"/>
          </a:xfrm>
          <a:prstGeom prst="rect">
            <a:avLst/>
          </a:prstGeom>
          <a:solidFill>
            <a:schemeClr val="bg1">
              <a:lumMod val="50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rgbClr val="92D050"/>
                </a:solidFill>
              </a:rPr>
              <a:t>0xABCDEF33</a:t>
            </a:r>
            <a:endParaRPr lang="en-SE">
              <a:solidFill>
                <a:srgbClr val="92D050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D55C115-2ECC-DD93-9520-41BA9D0A9EA6}"/>
              </a:ext>
            </a:extLst>
          </p:cNvPr>
          <p:cNvSpPr txBox="1"/>
          <p:nvPr/>
        </p:nvSpPr>
        <p:spPr>
          <a:xfrm>
            <a:off x="10515874" y="3529148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47D370F-BBC0-DBFC-8FA0-AAF68A2F00C8}"/>
              </a:ext>
            </a:extLst>
          </p:cNvPr>
          <p:cNvSpPr txBox="1"/>
          <p:nvPr/>
        </p:nvSpPr>
        <p:spPr>
          <a:xfrm>
            <a:off x="10515874" y="3983942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5B29D46-40D3-6BC5-ED44-A78F91831259}"/>
              </a:ext>
            </a:extLst>
          </p:cNvPr>
          <p:cNvSpPr txBox="1"/>
          <p:nvPr/>
        </p:nvSpPr>
        <p:spPr>
          <a:xfrm>
            <a:off x="10515874" y="437367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C6EC1BC-916C-BBDD-499C-55662CC49F36}"/>
              </a:ext>
            </a:extLst>
          </p:cNvPr>
          <p:cNvSpPr txBox="1"/>
          <p:nvPr/>
        </p:nvSpPr>
        <p:spPr>
          <a:xfrm>
            <a:off x="10515874" y="4809401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1E7D9A5-90EE-EF7F-A15E-534038B8BAC9}"/>
              </a:ext>
            </a:extLst>
          </p:cNvPr>
          <p:cNvSpPr txBox="1"/>
          <p:nvPr/>
        </p:nvSpPr>
        <p:spPr>
          <a:xfrm>
            <a:off x="10515874" y="2680397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E395DA3-1F55-73D0-EB3D-32006E5FCBFB}"/>
              </a:ext>
            </a:extLst>
          </p:cNvPr>
          <p:cNvSpPr txBox="1"/>
          <p:nvPr/>
        </p:nvSpPr>
        <p:spPr>
          <a:xfrm>
            <a:off x="10515874" y="2235556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42BCD07-799E-CE06-AB02-AD85E9BCA91B}"/>
              </a:ext>
            </a:extLst>
          </p:cNvPr>
          <p:cNvSpPr txBox="1"/>
          <p:nvPr/>
        </p:nvSpPr>
        <p:spPr>
          <a:xfrm>
            <a:off x="10515874" y="1790715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0x1FFFFFFC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85E4247-D63B-9874-DACD-A8EC0E53AF7B}"/>
              </a:ext>
            </a:extLst>
          </p:cNvPr>
          <p:cNvSpPr txBox="1"/>
          <p:nvPr/>
        </p:nvSpPr>
        <p:spPr>
          <a:xfrm>
            <a:off x="3601404" y="1844824"/>
            <a:ext cx="10855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>
                <a:solidFill>
                  <a:schemeClr val="bg1"/>
                </a:solidFill>
              </a:rPr>
              <a:t>0x20000008</a:t>
            </a:r>
            <a:endParaRPr lang="en-SE" sz="1400">
              <a:solidFill>
                <a:schemeClr val="bg1"/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754C1CE-180A-80CB-B5D0-53BE4BDFB3C1}"/>
              </a:ext>
            </a:extLst>
          </p:cNvPr>
          <p:cNvSpPr txBox="1"/>
          <p:nvPr/>
        </p:nvSpPr>
        <p:spPr>
          <a:xfrm>
            <a:off x="2416013" y="5316001"/>
            <a:ext cx="613691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400">
                <a:solidFill>
                  <a:srgbClr val="92D050"/>
                </a:solidFill>
              </a:rPr>
              <a:t>0xABCDEF33</a:t>
            </a:r>
            <a:endParaRPr lang="en-SE" sz="1400">
              <a:solidFill>
                <a:srgbClr val="92D050"/>
              </a:solidFill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BA5E0F38-B595-1C4F-4188-209DE302F5B8}"/>
              </a:ext>
            </a:extLst>
          </p:cNvPr>
          <p:cNvSpPr/>
          <p:nvPr/>
        </p:nvSpPr>
        <p:spPr>
          <a:xfrm>
            <a:off x="5375917" y="1844824"/>
            <a:ext cx="1368151" cy="360040"/>
          </a:xfrm>
          <a:prstGeom prst="rect">
            <a:avLst/>
          </a:prstGeom>
          <a:noFill/>
          <a:ln w="254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600">
                <a:solidFill>
                  <a:schemeClr val="tx1"/>
                </a:solidFill>
              </a:rPr>
              <a:t>Addresslogik</a:t>
            </a:r>
            <a:endParaRPr lang="en-SE" sz="1600">
              <a:solidFill>
                <a:schemeClr val="tx1"/>
              </a:solidFill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1F3FDA1-EA89-2FB9-D1F9-31C4AF0300CB}"/>
              </a:ext>
            </a:extLst>
          </p:cNvPr>
          <p:cNvSpPr txBox="1"/>
          <p:nvPr/>
        </p:nvSpPr>
        <p:spPr>
          <a:xfrm>
            <a:off x="3841144" y="3257554"/>
            <a:ext cx="187423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sz="1400">
                <a:latin typeface="Consolas" panose="020B0609020204030204" pitchFamily="49" charset="0"/>
              </a:rPr>
              <a:t>la x1, </a:t>
            </a:r>
            <a:r>
              <a:rPr lang="en-GB" sz="1400">
                <a:latin typeface="Consolas" panose="020B0609020204030204" pitchFamily="49" charset="0"/>
              </a:rPr>
              <a:t>0x20000008</a:t>
            </a:r>
          </a:p>
          <a:p>
            <a:r>
              <a:rPr lang="en-GB" sz="1400">
                <a:latin typeface="Consolas" panose="020B0609020204030204" pitchFamily="49" charset="0"/>
              </a:rPr>
              <a:t>lw x1, 0(x1)</a:t>
            </a:r>
            <a:endParaRPr lang="en-SE" sz="140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535954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0EB00D3-1E1A-FCB2-33B9-BA366921D5CB}"/>
              </a:ext>
            </a:extLst>
          </p:cNvPr>
          <p:cNvCxnSpPr/>
          <p:nvPr/>
        </p:nvCxnSpPr>
        <p:spPr>
          <a:xfrm>
            <a:off x="1042513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058CC42B-34B8-7E32-19BB-CCB20760819E}"/>
              </a:ext>
            </a:extLst>
          </p:cNvPr>
          <p:cNvCxnSpPr/>
          <p:nvPr/>
        </p:nvCxnSpPr>
        <p:spPr>
          <a:xfrm>
            <a:off x="1048848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2D80F76-28CB-6F65-CF10-2D4D1A673D1A}"/>
              </a:ext>
            </a:extLst>
          </p:cNvPr>
          <p:cNvCxnSpPr/>
          <p:nvPr/>
        </p:nvCxnSpPr>
        <p:spPr>
          <a:xfrm>
            <a:off x="1056049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B0BE7D6-F7D1-AE19-C466-3A2E6EA96A75}"/>
              </a:ext>
            </a:extLst>
          </p:cNvPr>
          <p:cNvCxnSpPr/>
          <p:nvPr/>
        </p:nvCxnSpPr>
        <p:spPr>
          <a:xfrm>
            <a:off x="1063250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Arrow: Bent 13">
            <a:extLst>
              <a:ext uri="{FF2B5EF4-FFF2-40B4-BE49-F238E27FC236}">
                <a16:creationId xmlns:a16="http://schemas.microsoft.com/office/drawing/2014/main" id="{411C2732-50A1-0B68-7380-00E1D2C81245}"/>
              </a:ext>
            </a:extLst>
          </p:cNvPr>
          <p:cNvSpPr/>
          <p:nvPr/>
        </p:nvSpPr>
        <p:spPr>
          <a:xfrm>
            <a:off x="2783633" y="1772816"/>
            <a:ext cx="2503901" cy="921367"/>
          </a:xfrm>
          <a:prstGeom prst="ben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400">
                <a:solidFill>
                  <a:schemeClr val="tx1"/>
                </a:solidFill>
              </a:rPr>
              <a:t>Addressbuss (32 bitar)</a:t>
            </a:r>
            <a:endParaRPr lang="en-SE" sz="140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0C51EF1-284A-3BFE-1B23-29261E4303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7528" y="2695472"/>
            <a:ext cx="1676634" cy="1467055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3B85DD5-EA1F-C28B-A502-C046C85950A2}"/>
              </a:ext>
            </a:extLst>
          </p:cNvPr>
          <p:cNvCxnSpPr/>
          <p:nvPr/>
        </p:nvCxnSpPr>
        <p:spPr>
          <a:xfrm>
            <a:off x="848091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A9202B1-6D82-0891-E150-7B03AC718F76}"/>
              </a:ext>
            </a:extLst>
          </p:cNvPr>
          <p:cNvCxnSpPr/>
          <p:nvPr/>
        </p:nvCxnSpPr>
        <p:spPr>
          <a:xfrm>
            <a:off x="855292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5CA09F7-86AC-946E-298C-D5074A249983}"/>
              </a:ext>
            </a:extLst>
          </p:cNvPr>
          <p:cNvCxnSpPr/>
          <p:nvPr/>
        </p:nvCxnSpPr>
        <p:spPr>
          <a:xfrm>
            <a:off x="862493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CA66DD4-FB00-FB61-E680-3A0123BCCF31}"/>
              </a:ext>
            </a:extLst>
          </p:cNvPr>
          <p:cNvCxnSpPr/>
          <p:nvPr/>
        </p:nvCxnSpPr>
        <p:spPr>
          <a:xfrm>
            <a:off x="869694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2C83DA7-5396-1D9F-7357-06FFBD0C370A}"/>
              </a:ext>
            </a:extLst>
          </p:cNvPr>
          <p:cNvCxnSpPr/>
          <p:nvPr/>
        </p:nvCxnSpPr>
        <p:spPr>
          <a:xfrm>
            <a:off x="8768949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59A5B3C-2C68-E338-E5FC-D529525A4E94}"/>
              </a:ext>
            </a:extLst>
          </p:cNvPr>
          <p:cNvCxnSpPr/>
          <p:nvPr/>
        </p:nvCxnSpPr>
        <p:spPr>
          <a:xfrm>
            <a:off x="884095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4CF7EC5-7431-353D-78C3-DF449DBA24FB}"/>
              </a:ext>
            </a:extLst>
          </p:cNvPr>
          <p:cNvCxnSpPr/>
          <p:nvPr/>
        </p:nvCxnSpPr>
        <p:spPr>
          <a:xfrm>
            <a:off x="891296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F707349-6EDE-558C-F244-03BDE7E885C7}"/>
              </a:ext>
            </a:extLst>
          </p:cNvPr>
          <p:cNvCxnSpPr/>
          <p:nvPr/>
        </p:nvCxnSpPr>
        <p:spPr>
          <a:xfrm>
            <a:off x="898497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662DA5F-ED36-B160-6C5B-BB3D2403379F}"/>
              </a:ext>
            </a:extLst>
          </p:cNvPr>
          <p:cNvSpPr txBox="1"/>
          <p:nvPr/>
        </p:nvSpPr>
        <p:spPr>
          <a:xfrm>
            <a:off x="10515874" y="307435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9350963D-3325-CAE3-B381-2FBFBDEB1007}"/>
              </a:ext>
            </a:extLst>
          </p:cNvPr>
          <p:cNvCxnSpPr>
            <a:cxnSpLocks/>
          </p:cNvCxnSpPr>
          <p:nvPr/>
        </p:nvCxnSpPr>
        <p:spPr>
          <a:xfrm>
            <a:off x="6744068" y="2047791"/>
            <a:ext cx="1425831" cy="802500"/>
          </a:xfrm>
          <a:prstGeom prst="bentConnector3">
            <a:avLst/>
          </a:prstGeom>
          <a:ln w="254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rrow: Bent 33">
            <a:extLst>
              <a:ext uri="{FF2B5EF4-FFF2-40B4-BE49-F238E27FC236}">
                <a16:creationId xmlns:a16="http://schemas.microsoft.com/office/drawing/2014/main" id="{295706D2-4B0B-A9E2-CD1B-2D38076167E8}"/>
              </a:ext>
            </a:extLst>
          </p:cNvPr>
          <p:cNvSpPr/>
          <p:nvPr/>
        </p:nvSpPr>
        <p:spPr>
          <a:xfrm rot="5400000" flipH="1" flipV="1">
            <a:off x="4754682" y="2173704"/>
            <a:ext cx="1242470" cy="5625270"/>
          </a:xfrm>
          <a:prstGeom prst="bentArrow">
            <a:avLst>
              <a:gd name="adj1" fmla="val 21049"/>
              <a:gd name="adj2" fmla="val 18162"/>
              <a:gd name="adj3" fmla="val 27566"/>
              <a:gd name="adj4" fmla="val 4309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AE9B3ED-1BB6-89E6-AD42-D35FD680EF49}"/>
              </a:ext>
            </a:extLst>
          </p:cNvPr>
          <p:cNvSpPr txBox="1"/>
          <p:nvPr/>
        </p:nvSpPr>
        <p:spPr>
          <a:xfrm>
            <a:off x="4474049" y="693394"/>
            <a:ext cx="32439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3600"/>
              <a:t>Minnet i MD407</a:t>
            </a:r>
            <a:endParaRPr lang="en-SE" sz="360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5ED06C9-2F29-72C6-FE4B-BF441D8B04C6}"/>
              </a:ext>
            </a:extLst>
          </p:cNvPr>
          <p:cNvSpPr txBox="1"/>
          <p:nvPr/>
        </p:nvSpPr>
        <p:spPr>
          <a:xfrm>
            <a:off x="5087888" y="5006935"/>
            <a:ext cx="15716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Databuss (32 bitar)</a:t>
            </a:r>
            <a:endParaRPr lang="en-SE" sz="140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F809D64-4105-C097-9933-35974C784596}"/>
              </a:ext>
            </a:extLst>
          </p:cNvPr>
          <p:cNvCxnSpPr/>
          <p:nvPr/>
        </p:nvCxnSpPr>
        <p:spPr>
          <a:xfrm>
            <a:off x="904832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A2587B8-6F7F-E451-F6A5-252E1BBB1F75}"/>
              </a:ext>
            </a:extLst>
          </p:cNvPr>
          <p:cNvCxnSpPr/>
          <p:nvPr/>
        </p:nvCxnSpPr>
        <p:spPr>
          <a:xfrm>
            <a:off x="912033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AAEFE6E-EBB3-62AE-6B1F-577E5FD32FA7}"/>
              </a:ext>
            </a:extLst>
          </p:cNvPr>
          <p:cNvCxnSpPr/>
          <p:nvPr/>
        </p:nvCxnSpPr>
        <p:spPr>
          <a:xfrm>
            <a:off x="919234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1F09094-9BCA-CDDA-BDCD-F0C8E688CDB2}"/>
              </a:ext>
            </a:extLst>
          </p:cNvPr>
          <p:cNvCxnSpPr/>
          <p:nvPr/>
        </p:nvCxnSpPr>
        <p:spPr>
          <a:xfrm>
            <a:off x="9264352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48FA0B3-0047-826F-8D26-43579B1F3ACC}"/>
              </a:ext>
            </a:extLst>
          </p:cNvPr>
          <p:cNvCxnSpPr/>
          <p:nvPr/>
        </p:nvCxnSpPr>
        <p:spPr>
          <a:xfrm>
            <a:off x="9336360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A0DAB1D-B6A1-EAD0-9A5F-4910922E536F}"/>
              </a:ext>
            </a:extLst>
          </p:cNvPr>
          <p:cNvCxnSpPr/>
          <p:nvPr/>
        </p:nvCxnSpPr>
        <p:spPr>
          <a:xfrm>
            <a:off x="940836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FA625E9-CCFE-DF33-954B-36AF3EB6C141}"/>
              </a:ext>
            </a:extLst>
          </p:cNvPr>
          <p:cNvCxnSpPr/>
          <p:nvPr/>
        </p:nvCxnSpPr>
        <p:spPr>
          <a:xfrm>
            <a:off x="948037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10FF8BF-0E9E-897A-813F-79BCF4773B90}"/>
              </a:ext>
            </a:extLst>
          </p:cNvPr>
          <p:cNvCxnSpPr/>
          <p:nvPr/>
        </p:nvCxnSpPr>
        <p:spPr>
          <a:xfrm>
            <a:off x="955238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46E4AFF-5818-41A8-B659-003E6956CCBC}"/>
              </a:ext>
            </a:extLst>
          </p:cNvPr>
          <p:cNvCxnSpPr/>
          <p:nvPr/>
        </p:nvCxnSpPr>
        <p:spPr>
          <a:xfrm>
            <a:off x="963304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DF317E1-C92A-152A-E47B-D0CE85ECE0D8}"/>
              </a:ext>
            </a:extLst>
          </p:cNvPr>
          <p:cNvCxnSpPr/>
          <p:nvPr/>
        </p:nvCxnSpPr>
        <p:spPr>
          <a:xfrm>
            <a:off x="970505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463BD9D-395A-7B54-FB59-717492D352E4}"/>
              </a:ext>
            </a:extLst>
          </p:cNvPr>
          <p:cNvCxnSpPr/>
          <p:nvPr/>
        </p:nvCxnSpPr>
        <p:spPr>
          <a:xfrm>
            <a:off x="977706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CF20D2E-D2EB-7041-E28C-C4F16EB20DDF}"/>
              </a:ext>
            </a:extLst>
          </p:cNvPr>
          <p:cNvCxnSpPr/>
          <p:nvPr/>
        </p:nvCxnSpPr>
        <p:spPr>
          <a:xfrm>
            <a:off x="9849069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9769C6E-2D3F-9B1B-AAEF-B7E7D612317A}"/>
              </a:ext>
            </a:extLst>
          </p:cNvPr>
          <p:cNvCxnSpPr/>
          <p:nvPr/>
        </p:nvCxnSpPr>
        <p:spPr>
          <a:xfrm>
            <a:off x="992107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8B06814-4099-26D3-81D9-3F0493FE10B1}"/>
              </a:ext>
            </a:extLst>
          </p:cNvPr>
          <p:cNvCxnSpPr/>
          <p:nvPr/>
        </p:nvCxnSpPr>
        <p:spPr>
          <a:xfrm>
            <a:off x="999308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1202CD1-A439-67F6-993E-363A143F3A07}"/>
              </a:ext>
            </a:extLst>
          </p:cNvPr>
          <p:cNvCxnSpPr/>
          <p:nvPr/>
        </p:nvCxnSpPr>
        <p:spPr>
          <a:xfrm>
            <a:off x="1006509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04B1C51E-64A8-8B59-E310-DEAD685A9E1F}"/>
              </a:ext>
            </a:extLst>
          </p:cNvPr>
          <p:cNvCxnSpPr/>
          <p:nvPr/>
        </p:nvCxnSpPr>
        <p:spPr>
          <a:xfrm>
            <a:off x="1013710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8B095B75-8331-E4BB-BFFE-309450039C03}"/>
              </a:ext>
            </a:extLst>
          </p:cNvPr>
          <p:cNvCxnSpPr/>
          <p:nvPr/>
        </p:nvCxnSpPr>
        <p:spPr>
          <a:xfrm>
            <a:off x="1020045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ED1A7AAC-9AB6-FFE1-8397-46981193BD54}"/>
              </a:ext>
            </a:extLst>
          </p:cNvPr>
          <p:cNvCxnSpPr/>
          <p:nvPr/>
        </p:nvCxnSpPr>
        <p:spPr>
          <a:xfrm>
            <a:off x="1027246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BEDB7E2C-AB57-35B6-DA3E-9390B2AFD2FE}"/>
              </a:ext>
            </a:extLst>
          </p:cNvPr>
          <p:cNvCxnSpPr/>
          <p:nvPr/>
        </p:nvCxnSpPr>
        <p:spPr>
          <a:xfrm>
            <a:off x="10344472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20C2875B-C122-116E-0396-16C20A1D61BE}"/>
              </a:ext>
            </a:extLst>
          </p:cNvPr>
          <p:cNvSpPr/>
          <p:nvPr/>
        </p:nvSpPr>
        <p:spPr>
          <a:xfrm>
            <a:off x="8392537" y="1744720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0xABCDEF00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CC36434-3AE0-5326-5758-EA58A4EF02A4}"/>
              </a:ext>
            </a:extLst>
          </p:cNvPr>
          <p:cNvSpPr/>
          <p:nvPr/>
        </p:nvSpPr>
        <p:spPr>
          <a:xfrm>
            <a:off x="8392534" y="2180447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0xABCDEF11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CC125319-6D15-35B5-B02F-B831EC14E358}"/>
              </a:ext>
            </a:extLst>
          </p:cNvPr>
          <p:cNvSpPr/>
          <p:nvPr/>
        </p:nvSpPr>
        <p:spPr>
          <a:xfrm>
            <a:off x="8392531" y="2616174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0xABCDEF22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AC6A2AED-FA85-DF0A-805E-04790CC28A1F}"/>
              </a:ext>
            </a:extLst>
          </p:cNvPr>
          <p:cNvSpPr/>
          <p:nvPr/>
        </p:nvSpPr>
        <p:spPr>
          <a:xfrm>
            <a:off x="8392528" y="3051901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0xABCDEF33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1213E05-E4BB-05DD-2647-F653EC62AFCB}"/>
              </a:ext>
            </a:extLst>
          </p:cNvPr>
          <p:cNvSpPr/>
          <p:nvPr/>
        </p:nvSpPr>
        <p:spPr>
          <a:xfrm>
            <a:off x="8392525" y="3487628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0xABCDEF44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9AC3079-3599-D232-E6DF-FC51BFC2E1E1}"/>
              </a:ext>
            </a:extLst>
          </p:cNvPr>
          <p:cNvSpPr/>
          <p:nvPr/>
        </p:nvSpPr>
        <p:spPr>
          <a:xfrm>
            <a:off x="8392522" y="3923355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0xABCDEF55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4D8DCF7D-3941-02BD-2145-7C1A7BFEF46C}"/>
              </a:ext>
            </a:extLst>
          </p:cNvPr>
          <p:cNvSpPr/>
          <p:nvPr/>
        </p:nvSpPr>
        <p:spPr>
          <a:xfrm>
            <a:off x="8392519" y="4359082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0xABCDEF66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FF4DA95F-B6C9-CCAF-05C7-CA99ABFAAC72}"/>
              </a:ext>
            </a:extLst>
          </p:cNvPr>
          <p:cNvSpPr/>
          <p:nvPr/>
        </p:nvSpPr>
        <p:spPr>
          <a:xfrm>
            <a:off x="8392516" y="4794809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0xABCDEF77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7FC9768D-D93B-3CBD-07B5-84923EC96E6B}"/>
              </a:ext>
            </a:extLst>
          </p:cNvPr>
          <p:cNvSpPr/>
          <p:nvPr/>
        </p:nvSpPr>
        <p:spPr>
          <a:xfrm>
            <a:off x="8391788" y="5324567"/>
            <a:ext cx="2383981" cy="360040"/>
          </a:xfrm>
          <a:prstGeom prst="rect">
            <a:avLst/>
          </a:prstGeom>
          <a:solidFill>
            <a:schemeClr val="bg1">
              <a:lumMod val="50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rgbClr val="C00000"/>
                </a:solidFill>
              </a:rPr>
              <a:t>0x????????</a:t>
            </a:r>
            <a:endParaRPr lang="en-SE">
              <a:solidFill>
                <a:srgbClr val="C00000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D55C115-2ECC-DD93-9520-41BA9D0A9EA6}"/>
              </a:ext>
            </a:extLst>
          </p:cNvPr>
          <p:cNvSpPr txBox="1"/>
          <p:nvPr/>
        </p:nvSpPr>
        <p:spPr>
          <a:xfrm>
            <a:off x="10515874" y="3529148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47D370F-BBC0-DBFC-8FA0-AAF68A2F00C8}"/>
              </a:ext>
            </a:extLst>
          </p:cNvPr>
          <p:cNvSpPr txBox="1"/>
          <p:nvPr/>
        </p:nvSpPr>
        <p:spPr>
          <a:xfrm>
            <a:off x="10515874" y="3983942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5B29D46-40D3-6BC5-ED44-A78F91831259}"/>
              </a:ext>
            </a:extLst>
          </p:cNvPr>
          <p:cNvSpPr txBox="1"/>
          <p:nvPr/>
        </p:nvSpPr>
        <p:spPr>
          <a:xfrm>
            <a:off x="10515874" y="437367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C6EC1BC-916C-BBDD-499C-55662CC49F36}"/>
              </a:ext>
            </a:extLst>
          </p:cNvPr>
          <p:cNvSpPr txBox="1"/>
          <p:nvPr/>
        </p:nvSpPr>
        <p:spPr>
          <a:xfrm>
            <a:off x="10515874" y="4809401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1E7D9A5-90EE-EF7F-A15E-534038B8BAC9}"/>
              </a:ext>
            </a:extLst>
          </p:cNvPr>
          <p:cNvSpPr txBox="1"/>
          <p:nvPr/>
        </p:nvSpPr>
        <p:spPr>
          <a:xfrm>
            <a:off x="10515874" y="2680397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E395DA3-1F55-73D0-EB3D-32006E5FCBFB}"/>
              </a:ext>
            </a:extLst>
          </p:cNvPr>
          <p:cNvSpPr txBox="1"/>
          <p:nvPr/>
        </p:nvSpPr>
        <p:spPr>
          <a:xfrm>
            <a:off x="10515874" y="2235556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42BCD07-799E-CE06-AB02-AD85E9BCA91B}"/>
              </a:ext>
            </a:extLst>
          </p:cNvPr>
          <p:cNvSpPr txBox="1"/>
          <p:nvPr/>
        </p:nvSpPr>
        <p:spPr>
          <a:xfrm>
            <a:off x="10515874" y="1790715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0x1FFFFFFC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85E4247-D63B-9874-DACD-A8EC0E53AF7B}"/>
              </a:ext>
            </a:extLst>
          </p:cNvPr>
          <p:cNvSpPr txBox="1"/>
          <p:nvPr/>
        </p:nvSpPr>
        <p:spPr>
          <a:xfrm>
            <a:off x="3601404" y="1844824"/>
            <a:ext cx="10855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>
                <a:solidFill>
                  <a:srgbClr val="C00000"/>
                </a:solidFill>
              </a:rPr>
              <a:t>0x20000006</a:t>
            </a:r>
            <a:endParaRPr lang="en-SE" sz="1400">
              <a:solidFill>
                <a:srgbClr val="C00000"/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754C1CE-180A-80CB-B5D0-53BE4BDFB3C1}"/>
              </a:ext>
            </a:extLst>
          </p:cNvPr>
          <p:cNvSpPr txBox="1"/>
          <p:nvPr/>
        </p:nvSpPr>
        <p:spPr>
          <a:xfrm>
            <a:off x="2416013" y="5316001"/>
            <a:ext cx="613691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400">
                <a:solidFill>
                  <a:srgbClr val="C00000"/>
                </a:solidFill>
              </a:rPr>
              <a:t>0x????????</a:t>
            </a:r>
            <a:endParaRPr lang="en-SE" sz="1400">
              <a:solidFill>
                <a:srgbClr val="C00000"/>
              </a:solidFill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BA5E0F38-B595-1C4F-4188-209DE302F5B8}"/>
              </a:ext>
            </a:extLst>
          </p:cNvPr>
          <p:cNvSpPr/>
          <p:nvPr/>
        </p:nvSpPr>
        <p:spPr>
          <a:xfrm>
            <a:off x="5375917" y="1844824"/>
            <a:ext cx="1368151" cy="360040"/>
          </a:xfrm>
          <a:prstGeom prst="rect">
            <a:avLst/>
          </a:prstGeom>
          <a:noFill/>
          <a:ln w="254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600">
                <a:solidFill>
                  <a:schemeClr val="tx1"/>
                </a:solidFill>
              </a:rPr>
              <a:t>Addresslogik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FDCE70CB-2EB5-C80C-F2A0-462498250AD5}"/>
              </a:ext>
            </a:extLst>
          </p:cNvPr>
          <p:cNvSpPr/>
          <p:nvPr/>
        </p:nvSpPr>
        <p:spPr>
          <a:xfrm>
            <a:off x="9732439" y="3043909"/>
            <a:ext cx="1062391" cy="368214"/>
          </a:xfrm>
          <a:custGeom>
            <a:avLst/>
            <a:gdLst>
              <a:gd name="connsiteX0" fmla="*/ 1062391 w 1062391"/>
              <a:gd name="connsiteY0" fmla="*/ 0 h 368214"/>
              <a:gd name="connsiteX1" fmla="*/ 541819 w 1062391"/>
              <a:gd name="connsiteY1" fmla="*/ 3007 h 368214"/>
              <a:gd name="connsiteX2" fmla="*/ 0 w 1062391"/>
              <a:gd name="connsiteY2" fmla="*/ 6137 h 368214"/>
              <a:gd name="connsiteX3" fmla="*/ 5365 w 1062391"/>
              <a:gd name="connsiteY3" fmla="*/ 368214 h 368214"/>
              <a:gd name="connsiteX4" fmla="*/ 533878 w 1062391"/>
              <a:gd name="connsiteY4" fmla="*/ 365146 h 368214"/>
              <a:gd name="connsiteX5" fmla="*/ 1062391 w 1062391"/>
              <a:gd name="connsiteY5" fmla="*/ 362078 h 368214"/>
              <a:gd name="connsiteX6" fmla="*/ 1062391 w 1062391"/>
              <a:gd name="connsiteY6" fmla="*/ 362078 h 3682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062391" h="368214" extrusionOk="0">
                <a:moveTo>
                  <a:pt x="1062391" y="0"/>
                </a:moveTo>
                <a:cubicBezTo>
                  <a:pt x="893568" y="39044"/>
                  <a:pt x="743325" y="-40933"/>
                  <a:pt x="541819" y="3007"/>
                </a:cubicBezTo>
                <a:cubicBezTo>
                  <a:pt x="340313" y="46947"/>
                  <a:pt x="167702" y="-19368"/>
                  <a:pt x="0" y="6137"/>
                </a:cubicBezTo>
                <a:cubicBezTo>
                  <a:pt x="16000" y="112163"/>
                  <a:pt x="-3289" y="188017"/>
                  <a:pt x="5365" y="368214"/>
                </a:cubicBezTo>
                <a:cubicBezTo>
                  <a:pt x="217400" y="323069"/>
                  <a:pt x="355615" y="409401"/>
                  <a:pt x="533878" y="365146"/>
                </a:cubicBezTo>
                <a:cubicBezTo>
                  <a:pt x="712141" y="320891"/>
                  <a:pt x="905146" y="408341"/>
                  <a:pt x="1062391" y="362078"/>
                </a:cubicBezTo>
                <a:lnTo>
                  <a:pt x="1062391" y="362078"/>
                </a:lnTo>
              </a:path>
            </a:pathLst>
          </a:custGeom>
          <a:noFill/>
          <a:ln w="25400">
            <a:solidFill>
              <a:srgbClr val="C0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1215109 w 1215109"/>
                      <a:gd name="connsiteY0" fmla="*/ 0 h 368214"/>
                      <a:gd name="connsiteX1" fmla="*/ 0 w 1215109"/>
                      <a:gd name="connsiteY1" fmla="*/ 6137 h 368214"/>
                      <a:gd name="connsiteX2" fmla="*/ 6137 w 1215109"/>
                      <a:gd name="connsiteY2" fmla="*/ 368214 h 368214"/>
                      <a:gd name="connsiteX3" fmla="*/ 1215109 w 1215109"/>
                      <a:gd name="connsiteY3" fmla="*/ 362078 h 368214"/>
                      <a:gd name="connsiteX4" fmla="*/ 1215109 w 1215109"/>
                      <a:gd name="connsiteY4" fmla="*/ 362078 h 36821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215109" h="368214">
                        <a:moveTo>
                          <a:pt x="1215109" y="0"/>
                        </a:moveTo>
                        <a:lnTo>
                          <a:pt x="0" y="6137"/>
                        </a:lnTo>
                        <a:lnTo>
                          <a:pt x="6137" y="368214"/>
                        </a:lnTo>
                        <a:lnTo>
                          <a:pt x="1215109" y="362078"/>
                        </a:lnTo>
                        <a:lnTo>
                          <a:pt x="1215109" y="362078"/>
                        </a:lnTo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7383292E-0967-D184-946A-A309D385102D}"/>
              </a:ext>
            </a:extLst>
          </p:cNvPr>
          <p:cNvSpPr/>
          <p:nvPr/>
        </p:nvSpPr>
        <p:spPr>
          <a:xfrm flipH="1">
            <a:off x="8395279" y="2612087"/>
            <a:ext cx="1344108" cy="368214"/>
          </a:xfrm>
          <a:custGeom>
            <a:avLst/>
            <a:gdLst>
              <a:gd name="connsiteX0" fmla="*/ 1344108 w 1344108"/>
              <a:gd name="connsiteY0" fmla="*/ 0 h 368214"/>
              <a:gd name="connsiteX1" fmla="*/ 909513 w 1344108"/>
              <a:gd name="connsiteY1" fmla="*/ 1984 h 368214"/>
              <a:gd name="connsiteX2" fmla="*/ 501800 w 1344108"/>
              <a:gd name="connsiteY2" fmla="*/ 3846 h 368214"/>
              <a:gd name="connsiteX3" fmla="*/ 0 w 1344108"/>
              <a:gd name="connsiteY3" fmla="*/ 6137 h 368214"/>
              <a:gd name="connsiteX4" fmla="*/ 6788 w 1344108"/>
              <a:gd name="connsiteY4" fmla="*/ 368214 h 368214"/>
              <a:gd name="connsiteX5" fmla="*/ 425815 w 1344108"/>
              <a:gd name="connsiteY5" fmla="*/ 366291 h 368214"/>
              <a:gd name="connsiteX6" fmla="*/ 898335 w 1344108"/>
              <a:gd name="connsiteY6" fmla="*/ 364123 h 368214"/>
              <a:gd name="connsiteX7" fmla="*/ 1344108 w 1344108"/>
              <a:gd name="connsiteY7" fmla="*/ 362078 h 368214"/>
              <a:gd name="connsiteX8" fmla="*/ 1344108 w 1344108"/>
              <a:gd name="connsiteY8" fmla="*/ 362078 h 3682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344108" h="368214" extrusionOk="0">
                <a:moveTo>
                  <a:pt x="1344108" y="0"/>
                </a:moveTo>
                <a:cubicBezTo>
                  <a:pt x="1253377" y="3887"/>
                  <a:pt x="1067871" y="-30467"/>
                  <a:pt x="909513" y="1984"/>
                </a:cubicBezTo>
                <a:cubicBezTo>
                  <a:pt x="751155" y="34435"/>
                  <a:pt x="611781" y="87"/>
                  <a:pt x="501800" y="3846"/>
                </a:cubicBezTo>
                <a:cubicBezTo>
                  <a:pt x="391819" y="7605"/>
                  <a:pt x="101767" y="-1502"/>
                  <a:pt x="0" y="6137"/>
                </a:cubicBezTo>
                <a:cubicBezTo>
                  <a:pt x="3284" y="150458"/>
                  <a:pt x="-5887" y="257248"/>
                  <a:pt x="6788" y="368214"/>
                </a:cubicBezTo>
                <a:cubicBezTo>
                  <a:pt x="138830" y="323177"/>
                  <a:pt x="227227" y="385237"/>
                  <a:pt x="425815" y="366291"/>
                </a:cubicBezTo>
                <a:cubicBezTo>
                  <a:pt x="624403" y="347345"/>
                  <a:pt x="689625" y="415249"/>
                  <a:pt x="898335" y="364123"/>
                </a:cubicBezTo>
                <a:cubicBezTo>
                  <a:pt x="1107045" y="312997"/>
                  <a:pt x="1221467" y="395880"/>
                  <a:pt x="1344108" y="362078"/>
                </a:cubicBezTo>
                <a:lnTo>
                  <a:pt x="1344108" y="362078"/>
                </a:lnTo>
              </a:path>
            </a:pathLst>
          </a:custGeom>
          <a:noFill/>
          <a:ln w="25400">
            <a:solidFill>
              <a:srgbClr val="C0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1215109 w 1215109"/>
                      <a:gd name="connsiteY0" fmla="*/ 0 h 368214"/>
                      <a:gd name="connsiteX1" fmla="*/ 0 w 1215109"/>
                      <a:gd name="connsiteY1" fmla="*/ 6137 h 368214"/>
                      <a:gd name="connsiteX2" fmla="*/ 6137 w 1215109"/>
                      <a:gd name="connsiteY2" fmla="*/ 368214 h 368214"/>
                      <a:gd name="connsiteX3" fmla="*/ 1215109 w 1215109"/>
                      <a:gd name="connsiteY3" fmla="*/ 362078 h 368214"/>
                      <a:gd name="connsiteX4" fmla="*/ 1215109 w 1215109"/>
                      <a:gd name="connsiteY4" fmla="*/ 362078 h 36821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215109" h="368214">
                        <a:moveTo>
                          <a:pt x="1215109" y="0"/>
                        </a:moveTo>
                        <a:lnTo>
                          <a:pt x="0" y="6137"/>
                        </a:lnTo>
                        <a:lnTo>
                          <a:pt x="6137" y="368214"/>
                        </a:lnTo>
                        <a:lnTo>
                          <a:pt x="1215109" y="362078"/>
                        </a:lnTo>
                        <a:lnTo>
                          <a:pt x="1215109" y="362078"/>
                        </a:lnTo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E9129F8-4302-4988-AB34-3C471564BC55}"/>
              </a:ext>
            </a:extLst>
          </p:cNvPr>
          <p:cNvSpPr txBox="1"/>
          <p:nvPr/>
        </p:nvSpPr>
        <p:spPr>
          <a:xfrm>
            <a:off x="3841144" y="3257554"/>
            <a:ext cx="187423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sz="1400">
                <a:latin typeface="Consolas" panose="020B0609020204030204" pitchFamily="49" charset="0"/>
              </a:rPr>
              <a:t>la x1, </a:t>
            </a:r>
            <a:r>
              <a:rPr lang="en-GB" sz="1400">
                <a:latin typeface="Consolas" panose="020B0609020204030204" pitchFamily="49" charset="0"/>
              </a:rPr>
              <a:t>0x20000006</a:t>
            </a:r>
          </a:p>
          <a:p>
            <a:r>
              <a:rPr lang="en-GB" sz="1400">
                <a:latin typeface="Consolas" panose="020B0609020204030204" pitchFamily="49" charset="0"/>
              </a:rPr>
              <a:t>lw x1, 0(x1)</a:t>
            </a:r>
            <a:endParaRPr lang="en-SE" sz="140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996876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37EEB21A-020F-E2FB-F111-09BE53F36FFB}"/>
              </a:ext>
            </a:extLst>
          </p:cNvPr>
          <p:cNvCxnSpPr>
            <a:cxnSpLocks/>
          </p:cNvCxnSpPr>
          <p:nvPr/>
        </p:nvCxnSpPr>
        <p:spPr>
          <a:xfrm flipH="1">
            <a:off x="8392522" y="4778254"/>
            <a:ext cx="232411" cy="0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0EB00D3-1E1A-FCB2-33B9-BA366921D5CB}"/>
              </a:ext>
            </a:extLst>
          </p:cNvPr>
          <p:cNvCxnSpPr/>
          <p:nvPr/>
        </p:nvCxnSpPr>
        <p:spPr>
          <a:xfrm>
            <a:off x="1056049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058CC42B-34B8-7E32-19BB-CCB20760819E}"/>
              </a:ext>
            </a:extLst>
          </p:cNvPr>
          <p:cNvCxnSpPr/>
          <p:nvPr/>
        </p:nvCxnSpPr>
        <p:spPr>
          <a:xfrm>
            <a:off x="10623851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2D80F76-28CB-6F65-CF10-2D4D1A673D1A}"/>
              </a:ext>
            </a:extLst>
          </p:cNvPr>
          <p:cNvCxnSpPr/>
          <p:nvPr/>
        </p:nvCxnSpPr>
        <p:spPr>
          <a:xfrm>
            <a:off x="10695859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B0BE7D6-F7D1-AE19-C466-3A2E6EA96A75}"/>
              </a:ext>
            </a:extLst>
          </p:cNvPr>
          <p:cNvCxnSpPr/>
          <p:nvPr/>
        </p:nvCxnSpPr>
        <p:spPr>
          <a:xfrm>
            <a:off x="10767867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Arrow: Bent 13">
            <a:extLst>
              <a:ext uri="{FF2B5EF4-FFF2-40B4-BE49-F238E27FC236}">
                <a16:creationId xmlns:a16="http://schemas.microsoft.com/office/drawing/2014/main" id="{411C2732-50A1-0B68-7380-00E1D2C81245}"/>
              </a:ext>
            </a:extLst>
          </p:cNvPr>
          <p:cNvSpPr/>
          <p:nvPr/>
        </p:nvSpPr>
        <p:spPr>
          <a:xfrm>
            <a:off x="2783633" y="1772816"/>
            <a:ext cx="2503901" cy="921367"/>
          </a:xfrm>
          <a:prstGeom prst="ben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400">
                <a:solidFill>
                  <a:schemeClr val="tx1"/>
                </a:solidFill>
              </a:rPr>
              <a:t>Addressbuss (32 bitar)</a:t>
            </a:r>
            <a:endParaRPr lang="en-SE" sz="140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0C51EF1-284A-3BFE-1B23-29261E4303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7528" y="2695472"/>
            <a:ext cx="1676634" cy="1467055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3B85DD5-EA1F-C28B-A502-C046C85950A2}"/>
              </a:ext>
            </a:extLst>
          </p:cNvPr>
          <p:cNvCxnSpPr/>
          <p:nvPr/>
        </p:nvCxnSpPr>
        <p:spPr>
          <a:xfrm>
            <a:off x="8480917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A9202B1-6D82-0891-E150-7B03AC718F76}"/>
              </a:ext>
            </a:extLst>
          </p:cNvPr>
          <p:cNvCxnSpPr/>
          <p:nvPr/>
        </p:nvCxnSpPr>
        <p:spPr>
          <a:xfrm>
            <a:off x="8552925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5CA09F7-86AC-946E-298C-D5074A249983}"/>
              </a:ext>
            </a:extLst>
          </p:cNvPr>
          <p:cNvCxnSpPr/>
          <p:nvPr/>
        </p:nvCxnSpPr>
        <p:spPr>
          <a:xfrm>
            <a:off x="8624933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CA66DD4-FB00-FB61-E680-3A0123BCCF31}"/>
              </a:ext>
            </a:extLst>
          </p:cNvPr>
          <p:cNvCxnSpPr/>
          <p:nvPr/>
        </p:nvCxnSpPr>
        <p:spPr>
          <a:xfrm>
            <a:off x="8696941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2C83DA7-5396-1D9F-7357-06FFBD0C370A}"/>
              </a:ext>
            </a:extLst>
          </p:cNvPr>
          <p:cNvCxnSpPr/>
          <p:nvPr/>
        </p:nvCxnSpPr>
        <p:spPr>
          <a:xfrm>
            <a:off x="8768949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59A5B3C-2C68-E338-E5FC-D529525A4E94}"/>
              </a:ext>
            </a:extLst>
          </p:cNvPr>
          <p:cNvCxnSpPr/>
          <p:nvPr/>
        </p:nvCxnSpPr>
        <p:spPr>
          <a:xfrm>
            <a:off x="8840957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4CF7EC5-7431-353D-78C3-DF449DBA24FB}"/>
              </a:ext>
            </a:extLst>
          </p:cNvPr>
          <p:cNvCxnSpPr/>
          <p:nvPr/>
        </p:nvCxnSpPr>
        <p:spPr>
          <a:xfrm>
            <a:off x="8912965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F707349-6EDE-558C-F244-03BDE7E885C7}"/>
              </a:ext>
            </a:extLst>
          </p:cNvPr>
          <p:cNvCxnSpPr/>
          <p:nvPr/>
        </p:nvCxnSpPr>
        <p:spPr>
          <a:xfrm>
            <a:off x="8984973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662DA5F-ED36-B160-6C5B-BB3D2403379F}"/>
              </a:ext>
            </a:extLst>
          </p:cNvPr>
          <p:cNvSpPr txBox="1"/>
          <p:nvPr/>
        </p:nvSpPr>
        <p:spPr>
          <a:xfrm>
            <a:off x="10515874" y="307435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9350963D-3325-CAE3-B381-2FBFBDEB1007}"/>
              </a:ext>
            </a:extLst>
          </p:cNvPr>
          <p:cNvCxnSpPr>
            <a:cxnSpLocks/>
            <a:endCxn id="57" idx="1"/>
          </p:cNvCxnSpPr>
          <p:nvPr/>
        </p:nvCxnSpPr>
        <p:spPr>
          <a:xfrm>
            <a:off x="6744068" y="2047791"/>
            <a:ext cx="1648463" cy="748403"/>
          </a:xfrm>
          <a:prstGeom prst="bentConnector3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rrow: Bent 33">
            <a:extLst>
              <a:ext uri="{FF2B5EF4-FFF2-40B4-BE49-F238E27FC236}">
                <a16:creationId xmlns:a16="http://schemas.microsoft.com/office/drawing/2014/main" id="{295706D2-4B0B-A9E2-CD1B-2D38076167E8}"/>
              </a:ext>
            </a:extLst>
          </p:cNvPr>
          <p:cNvSpPr/>
          <p:nvPr/>
        </p:nvSpPr>
        <p:spPr>
          <a:xfrm rot="5400000" flipH="1" flipV="1">
            <a:off x="4396389" y="2531998"/>
            <a:ext cx="1467056" cy="5133267"/>
          </a:xfrm>
          <a:prstGeom prst="bentArrow">
            <a:avLst>
              <a:gd name="adj1" fmla="val 21049"/>
              <a:gd name="adj2" fmla="val 18162"/>
              <a:gd name="adj3" fmla="val 27566"/>
              <a:gd name="adj4" fmla="val 4309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AE9B3ED-1BB6-89E6-AD42-D35FD680EF49}"/>
              </a:ext>
            </a:extLst>
          </p:cNvPr>
          <p:cNvSpPr txBox="1"/>
          <p:nvPr/>
        </p:nvSpPr>
        <p:spPr>
          <a:xfrm>
            <a:off x="4474049" y="693394"/>
            <a:ext cx="32439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3600"/>
              <a:t>Minnet i MD407</a:t>
            </a:r>
            <a:endParaRPr lang="en-SE" sz="360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5ED06C9-2F29-72C6-FE4B-BF441D8B04C6}"/>
              </a:ext>
            </a:extLst>
          </p:cNvPr>
          <p:cNvSpPr txBox="1"/>
          <p:nvPr/>
        </p:nvSpPr>
        <p:spPr>
          <a:xfrm>
            <a:off x="5087888" y="5006935"/>
            <a:ext cx="15716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Databuss (32 bitar)</a:t>
            </a:r>
            <a:endParaRPr lang="en-SE" sz="140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F809D64-4105-C097-9933-35974C784596}"/>
              </a:ext>
            </a:extLst>
          </p:cNvPr>
          <p:cNvCxnSpPr/>
          <p:nvPr/>
        </p:nvCxnSpPr>
        <p:spPr>
          <a:xfrm>
            <a:off x="9048328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A2587B8-6F7F-E451-F6A5-252E1BBB1F75}"/>
              </a:ext>
            </a:extLst>
          </p:cNvPr>
          <p:cNvCxnSpPr/>
          <p:nvPr/>
        </p:nvCxnSpPr>
        <p:spPr>
          <a:xfrm>
            <a:off x="9120336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AAEFE6E-EBB3-62AE-6B1F-577E5FD32FA7}"/>
              </a:ext>
            </a:extLst>
          </p:cNvPr>
          <p:cNvCxnSpPr/>
          <p:nvPr/>
        </p:nvCxnSpPr>
        <p:spPr>
          <a:xfrm>
            <a:off x="9192344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1F09094-9BCA-CDDA-BDCD-F0C8E688CDB2}"/>
              </a:ext>
            </a:extLst>
          </p:cNvPr>
          <p:cNvCxnSpPr/>
          <p:nvPr/>
        </p:nvCxnSpPr>
        <p:spPr>
          <a:xfrm>
            <a:off x="9264352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48FA0B3-0047-826F-8D26-43579B1F3ACC}"/>
              </a:ext>
            </a:extLst>
          </p:cNvPr>
          <p:cNvCxnSpPr/>
          <p:nvPr/>
        </p:nvCxnSpPr>
        <p:spPr>
          <a:xfrm>
            <a:off x="9336360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A0DAB1D-B6A1-EAD0-9A5F-4910922E536F}"/>
              </a:ext>
            </a:extLst>
          </p:cNvPr>
          <p:cNvCxnSpPr/>
          <p:nvPr/>
        </p:nvCxnSpPr>
        <p:spPr>
          <a:xfrm>
            <a:off x="9408368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FA625E9-CCFE-DF33-954B-36AF3EB6C141}"/>
              </a:ext>
            </a:extLst>
          </p:cNvPr>
          <p:cNvCxnSpPr/>
          <p:nvPr/>
        </p:nvCxnSpPr>
        <p:spPr>
          <a:xfrm>
            <a:off x="9480376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10FF8BF-0E9E-897A-813F-79BCF4773B90}"/>
              </a:ext>
            </a:extLst>
          </p:cNvPr>
          <p:cNvCxnSpPr/>
          <p:nvPr/>
        </p:nvCxnSpPr>
        <p:spPr>
          <a:xfrm>
            <a:off x="9552384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46E4AFF-5818-41A8-B659-003E6956CCBC}"/>
              </a:ext>
            </a:extLst>
          </p:cNvPr>
          <p:cNvCxnSpPr/>
          <p:nvPr/>
        </p:nvCxnSpPr>
        <p:spPr>
          <a:xfrm>
            <a:off x="9768408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DF317E1-C92A-152A-E47B-D0CE85ECE0D8}"/>
              </a:ext>
            </a:extLst>
          </p:cNvPr>
          <p:cNvCxnSpPr/>
          <p:nvPr/>
        </p:nvCxnSpPr>
        <p:spPr>
          <a:xfrm>
            <a:off x="984041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463BD9D-395A-7B54-FB59-717492D352E4}"/>
              </a:ext>
            </a:extLst>
          </p:cNvPr>
          <p:cNvCxnSpPr/>
          <p:nvPr/>
        </p:nvCxnSpPr>
        <p:spPr>
          <a:xfrm>
            <a:off x="9912424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CF20D2E-D2EB-7041-E28C-C4F16EB20DDF}"/>
              </a:ext>
            </a:extLst>
          </p:cNvPr>
          <p:cNvCxnSpPr/>
          <p:nvPr/>
        </p:nvCxnSpPr>
        <p:spPr>
          <a:xfrm>
            <a:off x="9984432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9769C6E-2D3F-9B1B-AAEF-B7E7D612317A}"/>
              </a:ext>
            </a:extLst>
          </p:cNvPr>
          <p:cNvCxnSpPr/>
          <p:nvPr/>
        </p:nvCxnSpPr>
        <p:spPr>
          <a:xfrm>
            <a:off x="10056440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8B06814-4099-26D3-81D9-3F0493FE10B1}"/>
              </a:ext>
            </a:extLst>
          </p:cNvPr>
          <p:cNvCxnSpPr/>
          <p:nvPr/>
        </p:nvCxnSpPr>
        <p:spPr>
          <a:xfrm>
            <a:off x="10128448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1202CD1-A439-67F6-993E-363A143F3A07}"/>
              </a:ext>
            </a:extLst>
          </p:cNvPr>
          <p:cNvCxnSpPr/>
          <p:nvPr/>
        </p:nvCxnSpPr>
        <p:spPr>
          <a:xfrm>
            <a:off x="1020045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04B1C51E-64A8-8B59-E310-DEAD685A9E1F}"/>
              </a:ext>
            </a:extLst>
          </p:cNvPr>
          <p:cNvCxnSpPr/>
          <p:nvPr/>
        </p:nvCxnSpPr>
        <p:spPr>
          <a:xfrm>
            <a:off x="10272464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8B095B75-8331-E4BB-BFFE-309450039C03}"/>
              </a:ext>
            </a:extLst>
          </p:cNvPr>
          <p:cNvCxnSpPr/>
          <p:nvPr/>
        </p:nvCxnSpPr>
        <p:spPr>
          <a:xfrm>
            <a:off x="10335819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ED1A7AAC-9AB6-FFE1-8397-46981193BD54}"/>
              </a:ext>
            </a:extLst>
          </p:cNvPr>
          <p:cNvCxnSpPr/>
          <p:nvPr/>
        </p:nvCxnSpPr>
        <p:spPr>
          <a:xfrm>
            <a:off x="10407827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BEDB7E2C-AB57-35B6-DA3E-9390B2AFD2FE}"/>
              </a:ext>
            </a:extLst>
          </p:cNvPr>
          <p:cNvCxnSpPr/>
          <p:nvPr/>
        </p:nvCxnSpPr>
        <p:spPr>
          <a:xfrm>
            <a:off x="10479835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20C2875B-C122-116E-0396-16C20A1D61BE}"/>
              </a:ext>
            </a:extLst>
          </p:cNvPr>
          <p:cNvSpPr/>
          <p:nvPr/>
        </p:nvSpPr>
        <p:spPr>
          <a:xfrm>
            <a:off x="8392537" y="1744720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0xABCDEF00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CC36434-3AE0-5326-5758-EA58A4EF02A4}"/>
              </a:ext>
            </a:extLst>
          </p:cNvPr>
          <p:cNvSpPr/>
          <p:nvPr/>
        </p:nvSpPr>
        <p:spPr>
          <a:xfrm>
            <a:off x="8392534" y="2180447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0xABCDEF11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CC125319-6D15-35B5-B02F-B831EC14E358}"/>
              </a:ext>
            </a:extLst>
          </p:cNvPr>
          <p:cNvSpPr/>
          <p:nvPr/>
        </p:nvSpPr>
        <p:spPr>
          <a:xfrm>
            <a:off x="8392531" y="2616174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0xABCDEF22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AC6A2AED-FA85-DF0A-805E-04790CC28A1F}"/>
              </a:ext>
            </a:extLst>
          </p:cNvPr>
          <p:cNvSpPr/>
          <p:nvPr/>
        </p:nvSpPr>
        <p:spPr>
          <a:xfrm>
            <a:off x="8392528" y="3051901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0xABCDEF33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1213E05-E4BB-05DD-2647-F653EC62AFCB}"/>
              </a:ext>
            </a:extLst>
          </p:cNvPr>
          <p:cNvSpPr/>
          <p:nvPr/>
        </p:nvSpPr>
        <p:spPr>
          <a:xfrm>
            <a:off x="8392525" y="3487628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0xABCDEF44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9AC3079-3599-D232-E6DF-FC51BFC2E1E1}"/>
              </a:ext>
            </a:extLst>
          </p:cNvPr>
          <p:cNvSpPr/>
          <p:nvPr/>
        </p:nvSpPr>
        <p:spPr>
          <a:xfrm>
            <a:off x="8392522" y="3923355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0xABCDEF55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7FC9768D-D93B-3CBD-07B5-84923EC96E6B}"/>
              </a:ext>
            </a:extLst>
          </p:cNvPr>
          <p:cNvSpPr/>
          <p:nvPr/>
        </p:nvSpPr>
        <p:spPr>
          <a:xfrm>
            <a:off x="7888483" y="5511313"/>
            <a:ext cx="2383981" cy="360040"/>
          </a:xfrm>
          <a:prstGeom prst="rect">
            <a:avLst/>
          </a:prstGeom>
          <a:solidFill>
            <a:schemeClr val="bg1">
              <a:lumMod val="50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rgbClr val="92D050"/>
                </a:solidFill>
              </a:rPr>
              <a:t>0x0000ABCD</a:t>
            </a:r>
            <a:endParaRPr lang="en-SE">
              <a:solidFill>
                <a:srgbClr val="92D050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D55C115-2ECC-DD93-9520-41BA9D0A9EA6}"/>
              </a:ext>
            </a:extLst>
          </p:cNvPr>
          <p:cNvSpPr txBox="1"/>
          <p:nvPr/>
        </p:nvSpPr>
        <p:spPr>
          <a:xfrm>
            <a:off x="10515874" y="3529148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47D370F-BBC0-DBFC-8FA0-AAF68A2F00C8}"/>
              </a:ext>
            </a:extLst>
          </p:cNvPr>
          <p:cNvSpPr txBox="1"/>
          <p:nvPr/>
        </p:nvSpPr>
        <p:spPr>
          <a:xfrm>
            <a:off x="10515874" y="3983942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1E7D9A5-90EE-EF7F-A15E-534038B8BAC9}"/>
              </a:ext>
            </a:extLst>
          </p:cNvPr>
          <p:cNvSpPr txBox="1"/>
          <p:nvPr/>
        </p:nvSpPr>
        <p:spPr>
          <a:xfrm>
            <a:off x="10515874" y="2680397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E395DA3-1F55-73D0-EB3D-32006E5FCBFB}"/>
              </a:ext>
            </a:extLst>
          </p:cNvPr>
          <p:cNvSpPr txBox="1"/>
          <p:nvPr/>
        </p:nvSpPr>
        <p:spPr>
          <a:xfrm>
            <a:off x="10515874" y="2235556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42BCD07-799E-CE06-AB02-AD85E9BCA91B}"/>
              </a:ext>
            </a:extLst>
          </p:cNvPr>
          <p:cNvSpPr txBox="1"/>
          <p:nvPr/>
        </p:nvSpPr>
        <p:spPr>
          <a:xfrm>
            <a:off x="10515874" y="1790715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0x1FFFFFFC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85E4247-D63B-9874-DACD-A8EC0E53AF7B}"/>
              </a:ext>
            </a:extLst>
          </p:cNvPr>
          <p:cNvSpPr txBox="1"/>
          <p:nvPr/>
        </p:nvSpPr>
        <p:spPr>
          <a:xfrm>
            <a:off x="3601404" y="1844824"/>
            <a:ext cx="10855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>
                <a:solidFill>
                  <a:schemeClr val="bg1"/>
                </a:solidFill>
              </a:rPr>
              <a:t>0x20000006</a:t>
            </a:r>
            <a:endParaRPr lang="en-SE" sz="1400">
              <a:solidFill>
                <a:schemeClr val="bg1"/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754C1CE-180A-80CB-B5D0-53BE4BDFB3C1}"/>
              </a:ext>
            </a:extLst>
          </p:cNvPr>
          <p:cNvSpPr txBox="1"/>
          <p:nvPr/>
        </p:nvSpPr>
        <p:spPr>
          <a:xfrm>
            <a:off x="2737132" y="5508590"/>
            <a:ext cx="519215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400">
                <a:solidFill>
                  <a:srgbClr val="92D050"/>
                </a:solidFill>
              </a:rPr>
              <a:t>0x0000ABCD</a:t>
            </a:r>
            <a:endParaRPr lang="en-SE" sz="1400">
              <a:solidFill>
                <a:srgbClr val="92D050"/>
              </a:solidFill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BA5E0F38-B595-1C4F-4188-209DE302F5B8}"/>
              </a:ext>
            </a:extLst>
          </p:cNvPr>
          <p:cNvSpPr/>
          <p:nvPr/>
        </p:nvSpPr>
        <p:spPr>
          <a:xfrm>
            <a:off x="5375917" y="1844824"/>
            <a:ext cx="1368151" cy="360040"/>
          </a:xfrm>
          <a:prstGeom prst="rect">
            <a:avLst/>
          </a:prstGeom>
          <a:noFill/>
          <a:ln w="254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600">
                <a:solidFill>
                  <a:schemeClr val="tx1"/>
                </a:solidFill>
              </a:rPr>
              <a:t>Addresslogik</a:t>
            </a:r>
            <a:endParaRPr lang="en-SE" sz="1600">
              <a:solidFill>
                <a:schemeClr val="tx1"/>
              </a:solidFill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1F3FDA1-EA89-2FB9-D1F9-31C4AF0300CB}"/>
              </a:ext>
            </a:extLst>
          </p:cNvPr>
          <p:cNvSpPr txBox="1"/>
          <p:nvPr/>
        </p:nvSpPr>
        <p:spPr>
          <a:xfrm>
            <a:off x="3841144" y="3257554"/>
            <a:ext cx="187423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sz="1400">
                <a:latin typeface="Consolas" panose="020B0609020204030204" pitchFamily="49" charset="0"/>
              </a:rPr>
              <a:t>la x1, </a:t>
            </a:r>
            <a:r>
              <a:rPr lang="en-GB" sz="1400">
                <a:latin typeface="Consolas" panose="020B0609020204030204" pitchFamily="49" charset="0"/>
              </a:rPr>
              <a:t>0x20000006</a:t>
            </a:r>
          </a:p>
          <a:p>
            <a:r>
              <a:rPr lang="en-GB" sz="1400">
                <a:latin typeface="Consolas" panose="020B0609020204030204" pitchFamily="49" charset="0"/>
              </a:rPr>
              <a:t>lh x1, 0(x1)</a:t>
            </a:r>
            <a:endParaRPr lang="en-SE" sz="1400"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0231499-DB7D-983B-AB99-0AE38251D24F}"/>
              </a:ext>
            </a:extLst>
          </p:cNvPr>
          <p:cNvSpPr txBox="1"/>
          <p:nvPr/>
        </p:nvSpPr>
        <p:spPr>
          <a:xfrm>
            <a:off x="6710951" y="1802256"/>
            <a:ext cx="615874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50"/>
              <a:t>addr</a:t>
            </a:r>
            <a:r>
              <a:rPr lang="sv-SE" sz="1050" baseline="-25000"/>
              <a:t>2_31</a:t>
            </a:r>
            <a:endParaRPr lang="en-SE" sz="105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95DF14B9-DF9F-7657-27E9-55D88463DEE0}"/>
              </a:ext>
            </a:extLst>
          </p:cNvPr>
          <p:cNvSpPr/>
          <p:nvPr/>
        </p:nvSpPr>
        <p:spPr>
          <a:xfrm>
            <a:off x="8422814" y="4665723"/>
            <a:ext cx="2411807" cy="613691"/>
          </a:xfrm>
          <a:custGeom>
            <a:avLst/>
            <a:gdLst>
              <a:gd name="connsiteX0" fmla="*/ 1141466 w 2411807"/>
              <a:gd name="connsiteY0" fmla="*/ 0 h 613691"/>
              <a:gd name="connsiteX1" fmla="*/ 0 w 2411807"/>
              <a:gd name="connsiteY1" fmla="*/ 0 h 613691"/>
              <a:gd name="connsiteX2" fmla="*/ 435721 w 2411807"/>
              <a:gd name="connsiteY2" fmla="*/ 613691 h 613691"/>
              <a:gd name="connsiteX3" fmla="*/ 2160193 w 2411807"/>
              <a:gd name="connsiteY3" fmla="*/ 613691 h 613691"/>
              <a:gd name="connsiteX4" fmla="*/ 2411807 w 2411807"/>
              <a:gd name="connsiteY4" fmla="*/ 18411 h 613691"/>
              <a:gd name="connsiteX5" fmla="*/ 1313299 w 2411807"/>
              <a:gd name="connsiteY5" fmla="*/ 18411 h 613691"/>
              <a:gd name="connsiteX6" fmla="*/ 1239656 w 2411807"/>
              <a:gd name="connsiteY6" fmla="*/ 159560 h 613691"/>
              <a:gd name="connsiteX7" fmla="*/ 1141466 w 2411807"/>
              <a:gd name="connsiteY7" fmla="*/ 0 h 6136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411807" h="613691">
                <a:moveTo>
                  <a:pt x="1141466" y="0"/>
                </a:moveTo>
                <a:lnTo>
                  <a:pt x="0" y="0"/>
                </a:lnTo>
                <a:lnTo>
                  <a:pt x="435721" y="613691"/>
                </a:lnTo>
                <a:lnTo>
                  <a:pt x="2160193" y="613691"/>
                </a:lnTo>
                <a:lnTo>
                  <a:pt x="2411807" y="18411"/>
                </a:lnTo>
                <a:lnTo>
                  <a:pt x="1313299" y="18411"/>
                </a:lnTo>
                <a:lnTo>
                  <a:pt x="1239656" y="159560"/>
                </a:lnTo>
                <a:lnTo>
                  <a:pt x="1141466" y="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C382C11-A1FA-5E42-2FB5-5D9048DFE0E7}"/>
              </a:ext>
            </a:extLst>
          </p:cNvPr>
          <p:cNvCxnSpPr>
            <a:cxnSpLocks/>
          </p:cNvCxnSpPr>
          <p:nvPr/>
        </p:nvCxnSpPr>
        <p:spPr>
          <a:xfrm>
            <a:off x="9048327" y="5279414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56D71226-9C67-8BCD-1543-C69AEDD04413}"/>
              </a:ext>
            </a:extLst>
          </p:cNvPr>
          <p:cNvCxnSpPr>
            <a:cxnSpLocks/>
          </p:cNvCxnSpPr>
          <p:nvPr/>
        </p:nvCxnSpPr>
        <p:spPr>
          <a:xfrm>
            <a:off x="912033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D60C91A-FC9D-1FF0-7B73-81D41D417A87}"/>
              </a:ext>
            </a:extLst>
          </p:cNvPr>
          <p:cNvCxnSpPr>
            <a:cxnSpLocks/>
          </p:cNvCxnSpPr>
          <p:nvPr/>
        </p:nvCxnSpPr>
        <p:spPr>
          <a:xfrm>
            <a:off x="919234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6F07455-74F6-AB69-0066-1A8698408AED}"/>
              </a:ext>
            </a:extLst>
          </p:cNvPr>
          <p:cNvCxnSpPr>
            <a:cxnSpLocks/>
          </p:cNvCxnSpPr>
          <p:nvPr/>
        </p:nvCxnSpPr>
        <p:spPr>
          <a:xfrm>
            <a:off x="926435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C838E4B6-7957-8F5F-DA62-C118F715929F}"/>
              </a:ext>
            </a:extLst>
          </p:cNvPr>
          <p:cNvCxnSpPr>
            <a:cxnSpLocks/>
          </p:cNvCxnSpPr>
          <p:nvPr/>
        </p:nvCxnSpPr>
        <p:spPr>
          <a:xfrm>
            <a:off x="933636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9973ADDB-3AE9-B20F-4C2A-91C1BC6DA8DB}"/>
              </a:ext>
            </a:extLst>
          </p:cNvPr>
          <p:cNvCxnSpPr>
            <a:cxnSpLocks/>
          </p:cNvCxnSpPr>
          <p:nvPr/>
        </p:nvCxnSpPr>
        <p:spPr>
          <a:xfrm>
            <a:off x="940836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6661F40-2AC4-6802-81F3-1FB8BF85602D}"/>
              </a:ext>
            </a:extLst>
          </p:cNvPr>
          <p:cNvCxnSpPr>
            <a:cxnSpLocks/>
          </p:cNvCxnSpPr>
          <p:nvPr/>
        </p:nvCxnSpPr>
        <p:spPr>
          <a:xfrm>
            <a:off x="948037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471B485A-26E6-E6F2-B4B9-1AD2817E8C6F}"/>
              </a:ext>
            </a:extLst>
          </p:cNvPr>
          <p:cNvCxnSpPr>
            <a:cxnSpLocks/>
          </p:cNvCxnSpPr>
          <p:nvPr/>
        </p:nvCxnSpPr>
        <p:spPr>
          <a:xfrm>
            <a:off x="955238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E148CB3-2789-23F6-578F-F2CF36C78F39}"/>
              </a:ext>
            </a:extLst>
          </p:cNvPr>
          <p:cNvCxnSpPr>
            <a:cxnSpLocks/>
          </p:cNvCxnSpPr>
          <p:nvPr/>
        </p:nvCxnSpPr>
        <p:spPr>
          <a:xfrm>
            <a:off x="962439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BFB590B7-698F-36D8-11F8-F4EAD6F9A235}"/>
              </a:ext>
            </a:extLst>
          </p:cNvPr>
          <p:cNvCxnSpPr>
            <a:cxnSpLocks/>
          </p:cNvCxnSpPr>
          <p:nvPr/>
        </p:nvCxnSpPr>
        <p:spPr>
          <a:xfrm>
            <a:off x="969640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EA96496E-CBDF-B62C-1492-732EEC123123}"/>
              </a:ext>
            </a:extLst>
          </p:cNvPr>
          <p:cNvCxnSpPr>
            <a:cxnSpLocks/>
          </p:cNvCxnSpPr>
          <p:nvPr/>
        </p:nvCxnSpPr>
        <p:spPr>
          <a:xfrm>
            <a:off x="976840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A522CDA2-6DE9-348C-C417-ED43B192C5A1}"/>
              </a:ext>
            </a:extLst>
          </p:cNvPr>
          <p:cNvCxnSpPr>
            <a:cxnSpLocks/>
          </p:cNvCxnSpPr>
          <p:nvPr/>
        </p:nvCxnSpPr>
        <p:spPr>
          <a:xfrm>
            <a:off x="984041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F6244A28-BF73-2700-178B-56276BF193A1}"/>
              </a:ext>
            </a:extLst>
          </p:cNvPr>
          <p:cNvCxnSpPr>
            <a:cxnSpLocks/>
          </p:cNvCxnSpPr>
          <p:nvPr/>
        </p:nvCxnSpPr>
        <p:spPr>
          <a:xfrm>
            <a:off x="991242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BF7F38E3-99A2-C1AF-28AB-0191F08011E7}"/>
              </a:ext>
            </a:extLst>
          </p:cNvPr>
          <p:cNvCxnSpPr>
            <a:cxnSpLocks/>
          </p:cNvCxnSpPr>
          <p:nvPr/>
        </p:nvCxnSpPr>
        <p:spPr>
          <a:xfrm>
            <a:off x="998443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D600440C-9043-C94B-9127-7F83251F4328}"/>
              </a:ext>
            </a:extLst>
          </p:cNvPr>
          <p:cNvCxnSpPr>
            <a:cxnSpLocks/>
          </p:cNvCxnSpPr>
          <p:nvPr/>
        </p:nvCxnSpPr>
        <p:spPr>
          <a:xfrm>
            <a:off x="1005644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E22846F2-F2A4-F8DE-2583-A8E8B6B556C8}"/>
              </a:ext>
            </a:extLst>
          </p:cNvPr>
          <p:cNvCxnSpPr>
            <a:cxnSpLocks/>
          </p:cNvCxnSpPr>
          <p:nvPr/>
        </p:nvCxnSpPr>
        <p:spPr>
          <a:xfrm>
            <a:off x="1012844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TextBox 79">
            <a:extLst>
              <a:ext uri="{FF2B5EF4-FFF2-40B4-BE49-F238E27FC236}">
                <a16:creationId xmlns:a16="http://schemas.microsoft.com/office/drawing/2014/main" id="{25D40EC6-91C8-CB88-5510-216771FE7124}"/>
              </a:ext>
            </a:extLst>
          </p:cNvPr>
          <p:cNvSpPr txBox="1"/>
          <p:nvPr/>
        </p:nvSpPr>
        <p:spPr>
          <a:xfrm>
            <a:off x="7952275" y="4629964"/>
            <a:ext cx="481222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50"/>
              <a:t>addr</a:t>
            </a:r>
            <a:r>
              <a:rPr lang="sv-SE" sz="1050" baseline="-25000"/>
              <a:t>1</a:t>
            </a:r>
            <a:endParaRPr lang="en-SE" sz="1050"/>
          </a:p>
        </p:txBody>
      </p: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342A78F7-994E-B18D-7271-686D68F226E8}"/>
              </a:ext>
            </a:extLst>
          </p:cNvPr>
          <p:cNvCxnSpPr>
            <a:cxnSpLocks/>
          </p:cNvCxnSpPr>
          <p:nvPr/>
        </p:nvCxnSpPr>
        <p:spPr>
          <a:xfrm>
            <a:off x="6744062" y="2188930"/>
            <a:ext cx="1406149" cy="2420859"/>
          </a:xfrm>
          <a:prstGeom prst="straightConnector1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EF39E7C8-B9C5-191E-1FFE-EAE5E96C6822}"/>
              </a:ext>
            </a:extLst>
          </p:cNvPr>
          <p:cNvSpPr/>
          <p:nvPr/>
        </p:nvSpPr>
        <p:spPr>
          <a:xfrm>
            <a:off x="9124337" y="2610600"/>
            <a:ext cx="624281" cy="360040"/>
          </a:xfrm>
          <a:custGeom>
            <a:avLst/>
            <a:gdLst>
              <a:gd name="connsiteX0" fmla="*/ 0 w 624281"/>
              <a:gd name="connsiteY0" fmla="*/ 0 h 360040"/>
              <a:gd name="connsiteX1" fmla="*/ 305898 w 624281"/>
              <a:gd name="connsiteY1" fmla="*/ 0 h 360040"/>
              <a:gd name="connsiteX2" fmla="*/ 624281 w 624281"/>
              <a:gd name="connsiteY2" fmla="*/ 0 h 360040"/>
              <a:gd name="connsiteX3" fmla="*/ 624281 w 624281"/>
              <a:gd name="connsiteY3" fmla="*/ 360040 h 360040"/>
              <a:gd name="connsiteX4" fmla="*/ 312141 w 624281"/>
              <a:gd name="connsiteY4" fmla="*/ 360040 h 360040"/>
              <a:gd name="connsiteX5" fmla="*/ 0 w 624281"/>
              <a:gd name="connsiteY5" fmla="*/ 360040 h 360040"/>
              <a:gd name="connsiteX6" fmla="*/ 0 w 624281"/>
              <a:gd name="connsiteY6" fmla="*/ 0 h 360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24281" h="360040" extrusionOk="0">
                <a:moveTo>
                  <a:pt x="0" y="0"/>
                </a:moveTo>
                <a:cubicBezTo>
                  <a:pt x="99466" y="-13048"/>
                  <a:pt x="219727" y="18035"/>
                  <a:pt x="305898" y="0"/>
                </a:cubicBezTo>
                <a:cubicBezTo>
                  <a:pt x="392069" y="-18035"/>
                  <a:pt x="495308" y="5114"/>
                  <a:pt x="624281" y="0"/>
                </a:cubicBezTo>
                <a:cubicBezTo>
                  <a:pt x="653839" y="135185"/>
                  <a:pt x="593579" y="247941"/>
                  <a:pt x="624281" y="360040"/>
                </a:cubicBezTo>
                <a:cubicBezTo>
                  <a:pt x="492635" y="391999"/>
                  <a:pt x="441761" y="324850"/>
                  <a:pt x="312141" y="360040"/>
                </a:cubicBezTo>
                <a:cubicBezTo>
                  <a:pt x="182521" y="395230"/>
                  <a:pt x="77724" y="356245"/>
                  <a:pt x="0" y="360040"/>
                </a:cubicBezTo>
                <a:cubicBezTo>
                  <a:pt x="-3087" y="204361"/>
                  <a:pt x="35693" y="173584"/>
                  <a:pt x="0" y="0"/>
                </a:cubicBezTo>
                <a:close/>
              </a:path>
            </a:pathLst>
          </a:custGeom>
          <a:noFill/>
          <a:ln w="25400">
            <a:solidFill>
              <a:schemeClr val="accent6">
                <a:lumMod val="75000"/>
              </a:schemeClr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2223210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37EEB21A-020F-E2FB-F111-09BE53F36FFB}"/>
              </a:ext>
            </a:extLst>
          </p:cNvPr>
          <p:cNvCxnSpPr>
            <a:cxnSpLocks/>
          </p:cNvCxnSpPr>
          <p:nvPr/>
        </p:nvCxnSpPr>
        <p:spPr>
          <a:xfrm flipH="1">
            <a:off x="8392522" y="4778254"/>
            <a:ext cx="232411" cy="0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0EB00D3-1E1A-FCB2-33B9-BA366921D5CB}"/>
              </a:ext>
            </a:extLst>
          </p:cNvPr>
          <p:cNvCxnSpPr/>
          <p:nvPr/>
        </p:nvCxnSpPr>
        <p:spPr>
          <a:xfrm>
            <a:off x="1056049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058CC42B-34B8-7E32-19BB-CCB20760819E}"/>
              </a:ext>
            </a:extLst>
          </p:cNvPr>
          <p:cNvCxnSpPr/>
          <p:nvPr/>
        </p:nvCxnSpPr>
        <p:spPr>
          <a:xfrm>
            <a:off x="10623851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2D80F76-28CB-6F65-CF10-2D4D1A673D1A}"/>
              </a:ext>
            </a:extLst>
          </p:cNvPr>
          <p:cNvCxnSpPr/>
          <p:nvPr/>
        </p:nvCxnSpPr>
        <p:spPr>
          <a:xfrm>
            <a:off x="10695859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B0BE7D6-F7D1-AE19-C466-3A2E6EA96A75}"/>
              </a:ext>
            </a:extLst>
          </p:cNvPr>
          <p:cNvCxnSpPr/>
          <p:nvPr/>
        </p:nvCxnSpPr>
        <p:spPr>
          <a:xfrm>
            <a:off x="10767867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Arrow: Bent 13">
            <a:extLst>
              <a:ext uri="{FF2B5EF4-FFF2-40B4-BE49-F238E27FC236}">
                <a16:creationId xmlns:a16="http://schemas.microsoft.com/office/drawing/2014/main" id="{411C2732-50A1-0B68-7380-00E1D2C81245}"/>
              </a:ext>
            </a:extLst>
          </p:cNvPr>
          <p:cNvSpPr/>
          <p:nvPr/>
        </p:nvSpPr>
        <p:spPr>
          <a:xfrm>
            <a:off x="2783633" y="1772816"/>
            <a:ext cx="2503901" cy="921367"/>
          </a:xfrm>
          <a:prstGeom prst="ben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400">
                <a:solidFill>
                  <a:schemeClr val="tx1"/>
                </a:solidFill>
              </a:rPr>
              <a:t>Addressbuss (32 bitar)</a:t>
            </a:r>
            <a:endParaRPr lang="en-SE" sz="140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0C51EF1-284A-3BFE-1B23-29261E4303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7528" y="2695472"/>
            <a:ext cx="1676634" cy="1467055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3B85DD5-EA1F-C28B-A502-C046C85950A2}"/>
              </a:ext>
            </a:extLst>
          </p:cNvPr>
          <p:cNvCxnSpPr/>
          <p:nvPr/>
        </p:nvCxnSpPr>
        <p:spPr>
          <a:xfrm>
            <a:off x="8480917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A9202B1-6D82-0891-E150-7B03AC718F76}"/>
              </a:ext>
            </a:extLst>
          </p:cNvPr>
          <p:cNvCxnSpPr/>
          <p:nvPr/>
        </p:nvCxnSpPr>
        <p:spPr>
          <a:xfrm>
            <a:off x="8552925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5CA09F7-86AC-946E-298C-D5074A249983}"/>
              </a:ext>
            </a:extLst>
          </p:cNvPr>
          <p:cNvCxnSpPr/>
          <p:nvPr/>
        </p:nvCxnSpPr>
        <p:spPr>
          <a:xfrm>
            <a:off x="8624933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CA66DD4-FB00-FB61-E680-3A0123BCCF31}"/>
              </a:ext>
            </a:extLst>
          </p:cNvPr>
          <p:cNvCxnSpPr/>
          <p:nvPr/>
        </p:nvCxnSpPr>
        <p:spPr>
          <a:xfrm>
            <a:off x="8696941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2C83DA7-5396-1D9F-7357-06FFBD0C370A}"/>
              </a:ext>
            </a:extLst>
          </p:cNvPr>
          <p:cNvCxnSpPr/>
          <p:nvPr/>
        </p:nvCxnSpPr>
        <p:spPr>
          <a:xfrm>
            <a:off x="8768949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59A5B3C-2C68-E338-E5FC-D529525A4E94}"/>
              </a:ext>
            </a:extLst>
          </p:cNvPr>
          <p:cNvCxnSpPr/>
          <p:nvPr/>
        </p:nvCxnSpPr>
        <p:spPr>
          <a:xfrm>
            <a:off x="8840957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4CF7EC5-7431-353D-78C3-DF449DBA24FB}"/>
              </a:ext>
            </a:extLst>
          </p:cNvPr>
          <p:cNvCxnSpPr/>
          <p:nvPr/>
        </p:nvCxnSpPr>
        <p:spPr>
          <a:xfrm>
            <a:off x="8912965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F707349-6EDE-558C-F244-03BDE7E885C7}"/>
              </a:ext>
            </a:extLst>
          </p:cNvPr>
          <p:cNvCxnSpPr/>
          <p:nvPr/>
        </p:nvCxnSpPr>
        <p:spPr>
          <a:xfrm>
            <a:off x="8984973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662DA5F-ED36-B160-6C5B-BB3D2403379F}"/>
              </a:ext>
            </a:extLst>
          </p:cNvPr>
          <p:cNvSpPr txBox="1"/>
          <p:nvPr/>
        </p:nvSpPr>
        <p:spPr>
          <a:xfrm>
            <a:off x="10515874" y="307435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9350963D-3325-CAE3-B381-2FBFBDEB1007}"/>
              </a:ext>
            </a:extLst>
          </p:cNvPr>
          <p:cNvCxnSpPr>
            <a:cxnSpLocks/>
            <a:endCxn id="57" idx="1"/>
          </p:cNvCxnSpPr>
          <p:nvPr/>
        </p:nvCxnSpPr>
        <p:spPr>
          <a:xfrm>
            <a:off x="6744068" y="2047791"/>
            <a:ext cx="1648463" cy="748403"/>
          </a:xfrm>
          <a:prstGeom prst="bentConnector3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rrow: Bent 33">
            <a:extLst>
              <a:ext uri="{FF2B5EF4-FFF2-40B4-BE49-F238E27FC236}">
                <a16:creationId xmlns:a16="http://schemas.microsoft.com/office/drawing/2014/main" id="{295706D2-4B0B-A9E2-CD1B-2D38076167E8}"/>
              </a:ext>
            </a:extLst>
          </p:cNvPr>
          <p:cNvSpPr/>
          <p:nvPr/>
        </p:nvSpPr>
        <p:spPr>
          <a:xfrm rot="5400000" flipH="1" flipV="1">
            <a:off x="4396389" y="2531998"/>
            <a:ext cx="1467056" cy="5133267"/>
          </a:xfrm>
          <a:prstGeom prst="bentArrow">
            <a:avLst>
              <a:gd name="adj1" fmla="val 21049"/>
              <a:gd name="adj2" fmla="val 18162"/>
              <a:gd name="adj3" fmla="val 27566"/>
              <a:gd name="adj4" fmla="val 4309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AE9B3ED-1BB6-89E6-AD42-D35FD680EF49}"/>
              </a:ext>
            </a:extLst>
          </p:cNvPr>
          <p:cNvSpPr txBox="1"/>
          <p:nvPr/>
        </p:nvSpPr>
        <p:spPr>
          <a:xfrm>
            <a:off x="4474049" y="693394"/>
            <a:ext cx="32439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3600"/>
              <a:t>Minnet i MD407</a:t>
            </a:r>
            <a:endParaRPr lang="en-SE" sz="360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5ED06C9-2F29-72C6-FE4B-BF441D8B04C6}"/>
              </a:ext>
            </a:extLst>
          </p:cNvPr>
          <p:cNvSpPr txBox="1"/>
          <p:nvPr/>
        </p:nvSpPr>
        <p:spPr>
          <a:xfrm>
            <a:off x="5087888" y="5006935"/>
            <a:ext cx="15716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Databuss (32 bitar)</a:t>
            </a:r>
            <a:endParaRPr lang="en-SE" sz="140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F809D64-4105-C097-9933-35974C784596}"/>
              </a:ext>
            </a:extLst>
          </p:cNvPr>
          <p:cNvCxnSpPr/>
          <p:nvPr/>
        </p:nvCxnSpPr>
        <p:spPr>
          <a:xfrm>
            <a:off x="9048328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A2587B8-6F7F-E451-F6A5-252E1BBB1F75}"/>
              </a:ext>
            </a:extLst>
          </p:cNvPr>
          <p:cNvCxnSpPr/>
          <p:nvPr/>
        </p:nvCxnSpPr>
        <p:spPr>
          <a:xfrm>
            <a:off x="9120336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AAEFE6E-EBB3-62AE-6B1F-577E5FD32FA7}"/>
              </a:ext>
            </a:extLst>
          </p:cNvPr>
          <p:cNvCxnSpPr/>
          <p:nvPr/>
        </p:nvCxnSpPr>
        <p:spPr>
          <a:xfrm>
            <a:off x="9192344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1F09094-9BCA-CDDA-BDCD-F0C8E688CDB2}"/>
              </a:ext>
            </a:extLst>
          </p:cNvPr>
          <p:cNvCxnSpPr/>
          <p:nvPr/>
        </p:nvCxnSpPr>
        <p:spPr>
          <a:xfrm>
            <a:off x="9264352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48FA0B3-0047-826F-8D26-43579B1F3ACC}"/>
              </a:ext>
            </a:extLst>
          </p:cNvPr>
          <p:cNvCxnSpPr/>
          <p:nvPr/>
        </p:nvCxnSpPr>
        <p:spPr>
          <a:xfrm>
            <a:off x="9336360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A0DAB1D-B6A1-EAD0-9A5F-4910922E536F}"/>
              </a:ext>
            </a:extLst>
          </p:cNvPr>
          <p:cNvCxnSpPr/>
          <p:nvPr/>
        </p:nvCxnSpPr>
        <p:spPr>
          <a:xfrm>
            <a:off x="9408368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FA625E9-CCFE-DF33-954B-36AF3EB6C141}"/>
              </a:ext>
            </a:extLst>
          </p:cNvPr>
          <p:cNvCxnSpPr/>
          <p:nvPr/>
        </p:nvCxnSpPr>
        <p:spPr>
          <a:xfrm>
            <a:off x="9480376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10FF8BF-0E9E-897A-813F-79BCF4773B90}"/>
              </a:ext>
            </a:extLst>
          </p:cNvPr>
          <p:cNvCxnSpPr/>
          <p:nvPr/>
        </p:nvCxnSpPr>
        <p:spPr>
          <a:xfrm>
            <a:off x="9552384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46E4AFF-5818-41A8-B659-003E6956CCBC}"/>
              </a:ext>
            </a:extLst>
          </p:cNvPr>
          <p:cNvCxnSpPr/>
          <p:nvPr/>
        </p:nvCxnSpPr>
        <p:spPr>
          <a:xfrm>
            <a:off x="9768408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DF317E1-C92A-152A-E47B-D0CE85ECE0D8}"/>
              </a:ext>
            </a:extLst>
          </p:cNvPr>
          <p:cNvCxnSpPr/>
          <p:nvPr/>
        </p:nvCxnSpPr>
        <p:spPr>
          <a:xfrm>
            <a:off x="984041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463BD9D-395A-7B54-FB59-717492D352E4}"/>
              </a:ext>
            </a:extLst>
          </p:cNvPr>
          <p:cNvCxnSpPr/>
          <p:nvPr/>
        </p:nvCxnSpPr>
        <p:spPr>
          <a:xfrm>
            <a:off x="9912424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CF20D2E-D2EB-7041-E28C-C4F16EB20DDF}"/>
              </a:ext>
            </a:extLst>
          </p:cNvPr>
          <p:cNvCxnSpPr/>
          <p:nvPr/>
        </p:nvCxnSpPr>
        <p:spPr>
          <a:xfrm>
            <a:off x="9984432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9769C6E-2D3F-9B1B-AAEF-B7E7D612317A}"/>
              </a:ext>
            </a:extLst>
          </p:cNvPr>
          <p:cNvCxnSpPr/>
          <p:nvPr/>
        </p:nvCxnSpPr>
        <p:spPr>
          <a:xfrm>
            <a:off x="10056440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8B06814-4099-26D3-81D9-3F0493FE10B1}"/>
              </a:ext>
            </a:extLst>
          </p:cNvPr>
          <p:cNvCxnSpPr/>
          <p:nvPr/>
        </p:nvCxnSpPr>
        <p:spPr>
          <a:xfrm>
            <a:off x="10128448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1202CD1-A439-67F6-993E-363A143F3A07}"/>
              </a:ext>
            </a:extLst>
          </p:cNvPr>
          <p:cNvCxnSpPr/>
          <p:nvPr/>
        </p:nvCxnSpPr>
        <p:spPr>
          <a:xfrm>
            <a:off x="1020045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04B1C51E-64A8-8B59-E310-DEAD685A9E1F}"/>
              </a:ext>
            </a:extLst>
          </p:cNvPr>
          <p:cNvCxnSpPr/>
          <p:nvPr/>
        </p:nvCxnSpPr>
        <p:spPr>
          <a:xfrm>
            <a:off x="10272464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8B095B75-8331-E4BB-BFFE-309450039C03}"/>
              </a:ext>
            </a:extLst>
          </p:cNvPr>
          <p:cNvCxnSpPr/>
          <p:nvPr/>
        </p:nvCxnSpPr>
        <p:spPr>
          <a:xfrm>
            <a:off x="10335819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ED1A7AAC-9AB6-FFE1-8397-46981193BD54}"/>
              </a:ext>
            </a:extLst>
          </p:cNvPr>
          <p:cNvCxnSpPr/>
          <p:nvPr/>
        </p:nvCxnSpPr>
        <p:spPr>
          <a:xfrm>
            <a:off x="10407827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BEDB7E2C-AB57-35B6-DA3E-9390B2AFD2FE}"/>
              </a:ext>
            </a:extLst>
          </p:cNvPr>
          <p:cNvCxnSpPr/>
          <p:nvPr/>
        </p:nvCxnSpPr>
        <p:spPr>
          <a:xfrm>
            <a:off x="10479835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20C2875B-C122-116E-0396-16C20A1D61BE}"/>
              </a:ext>
            </a:extLst>
          </p:cNvPr>
          <p:cNvSpPr/>
          <p:nvPr/>
        </p:nvSpPr>
        <p:spPr>
          <a:xfrm>
            <a:off x="8392537" y="1744720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0xABCDEF00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CC36434-3AE0-5326-5758-EA58A4EF02A4}"/>
              </a:ext>
            </a:extLst>
          </p:cNvPr>
          <p:cNvSpPr/>
          <p:nvPr/>
        </p:nvSpPr>
        <p:spPr>
          <a:xfrm>
            <a:off x="8392534" y="2180447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0xABCDEF11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CC125319-6D15-35B5-B02F-B831EC14E358}"/>
              </a:ext>
            </a:extLst>
          </p:cNvPr>
          <p:cNvSpPr/>
          <p:nvPr/>
        </p:nvSpPr>
        <p:spPr>
          <a:xfrm>
            <a:off x="8392531" y="2616174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0xABCDEF22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AC6A2AED-FA85-DF0A-805E-04790CC28A1F}"/>
              </a:ext>
            </a:extLst>
          </p:cNvPr>
          <p:cNvSpPr/>
          <p:nvPr/>
        </p:nvSpPr>
        <p:spPr>
          <a:xfrm>
            <a:off x="8392528" y="3051901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0xABCDEF33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1213E05-E4BB-05DD-2647-F653EC62AFCB}"/>
              </a:ext>
            </a:extLst>
          </p:cNvPr>
          <p:cNvSpPr/>
          <p:nvPr/>
        </p:nvSpPr>
        <p:spPr>
          <a:xfrm>
            <a:off x="8392525" y="3487628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0xABCDEF44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9AC3079-3599-D232-E6DF-FC51BFC2E1E1}"/>
              </a:ext>
            </a:extLst>
          </p:cNvPr>
          <p:cNvSpPr/>
          <p:nvPr/>
        </p:nvSpPr>
        <p:spPr>
          <a:xfrm>
            <a:off x="8392522" y="3923355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0xABCDEF55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7FC9768D-D93B-3CBD-07B5-84923EC96E6B}"/>
              </a:ext>
            </a:extLst>
          </p:cNvPr>
          <p:cNvSpPr/>
          <p:nvPr/>
        </p:nvSpPr>
        <p:spPr>
          <a:xfrm>
            <a:off x="7888483" y="5511313"/>
            <a:ext cx="2383981" cy="360040"/>
          </a:xfrm>
          <a:prstGeom prst="rect">
            <a:avLst/>
          </a:prstGeom>
          <a:solidFill>
            <a:schemeClr val="bg1">
              <a:lumMod val="50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rgbClr val="C00000"/>
                </a:solidFill>
              </a:rPr>
              <a:t>0x0000EF22</a:t>
            </a:r>
            <a:endParaRPr lang="en-SE">
              <a:solidFill>
                <a:srgbClr val="C00000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D55C115-2ECC-DD93-9520-41BA9D0A9EA6}"/>
              </a:ext>
            </a:extLst>
          </p:cNvPr>
          <p:cNvSpPr txBox="1"/>
          <p:nvPr/>
        </p:nvSpPr>
        <p:spPr>
          <a:xfrm>
            <a:off x="10515874" y="3529148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47D370F-BBC0-DBFC-8FA0-AAF68A2F00C8}"/>
              </a:ext>
            </a:extLst>
          </p:cNvPr>
          <p:cNvSpPr txBox="1"/>
          <p:nvPr/>
        </p:nvSpPr>
        <p:spPr>
          <a:xfrm>
            <a:off x="10515874" y="3983942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1E7D9A5-90EE-EF7F-A15E-534038B8BAC9}"/>
              </a:ext>
            </a:extLst>
          </p:cNvPr>
          <p:cNvSpPr txBox="1"/>
          <p:nvPr/>
        </p:nvSpPr>
        <p:spPr>
          <a:xfrm>
            <a:off x="10515874" y="2680397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E395DA3-1F55-73D0-EB3D-32006E5FCBFB}"/>
              </a:ext>
            </a:extLst>
          </p:cNvPr>
          <p:cNvSpPr txBox="1"/>
          <p:nvPr/>
        </p:nvSpPr>
        <p:spPr>
          <a:xfrm>
            <a:off x="10515874" y="2235556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42BCD07-799E-CE06-AB02-AD85E9BCA91B}"/>
              </a:ext>
            </a:extLst>
          </p:cNvPr>
          <p:cNvSpPr txBox="1"/>
          <p:nvPr/>
        </p:nvSpPr>
        <p:spPr>
          <a:xfrm>
            <a:off x="10515874" y="1790715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0x1FFFFFFC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85E4247-D63B-9874-DACD-A8EC0E53AF7B}"/>
              </a:ext>
            </a:extLst>
          </p:cNvPr>
          <p:cNvSpPr txBox="1"/>
          <p:nvPr/>
        </p:nvSpPr>
        <p:spPr>
          <a:xfrm>
            <a:off x="3601404" y="1844824"/>
            <a:ext cx="10855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>
                <a:solidFill>
                  <a:srgbClr val="C00000"/>
                </a:solidFill>
              </a:rPr>
              <a:t>0x20000005</a:t>
            </a:r>
            <a:endParaRPr lang="en-SE" sz="1400">
              <a:solidFill>
                <a:srgbClr val="C00000"/>
              </a:solidFill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BA5E0F38-B595-1C4F-4188-209DE302F5B8}"/>
              </a:ext>
            </a:extLst>
          </p:cNvPr>
          <p:cNvSpPr/>
          <p:nvPr/>
        </p:nvSpPr>
        <p:spPr>
          <a:xfrm>
            <a:off x="5375917" y="1844824"/>
            <a:ext cx="1368151" cy="360040"/>
          </a:xfrm>
          <a:prstGeom prst="rect">
            <a:avLst/>
          </a:prstGeom>
          <a:noFill/>
          <a:ln w="254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600">
                <a:solidFill>
                  <a:schemeClr val="tx1"/>
                </a:solidFill>
              </a:rPr>
              <a:t>Addresslogik</a:t>
            </a:r>
            <a:endParaRPr lang="en-SE" sz="1600">
              <a:solidFill>
                <a:schemeClr val="tx1"/>
              </a:solidFill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1F3FDA1-EA89-2FB9-D1F9-31C4AF0300CB}"/>
              </a:ext>
            </a:extLst>
          </p:cNvPr>
          <p:cNvSpPr txBox="1"/>
          <p:nvPr/>
        </p:nvSpPr>
        <p:spPr>
          <a:xfrm>
            <a:off x="3841144" y="3257554"/>
            <a:ext cx="187423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sz="1400">
                <a:latin typeface="Consolas" panose="020B0609020204030204" pitchFamily="49" charset="0"/>
              </a:rPr>
              <a:t>la x1, </a:t>
            </a:r>
            <a:r>
              <a:rPr lang="en-GB" sz="1400">
                <a:latin typeface="Consolas" panose="020B0609020204030204" pitchFamily="49" charset="0"/>
              </a:rPr>
              <a:t>0x20000005</a:t>
            </a:r>
          </a:p>
          <a:p>
            <a:r>
              <a:rPr lang="en-GB" sz="1400">
                <a:latin typeface="Consolas" panose="020B0609020204030204" pitchFamily="49" charset="0"/>
              </a:rPr>
              <a:t>lh x1, 0(x1)</a:t>
            </a:r>
            <a:endParaRPr lang="en-SE" sz="1400"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0231499-DB7D-983B-AB99-0AE38251D24F}"/>
              </a:ext>
            </a:extLst>
          </p:cNvPr>
          <p:cNvSpPr txBox="1"/>
          <p:nvPr/>
        </p:nvSpPr>
        <p:spPr>
          <a:xfrm>
            <a:off x="6710951" y="1802256"/>
            <a:ext cx="615874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50"/>
              <a:t>addr</a:t>
            </a:r>
            <a:r>
              <a:rPr lang="sv-SE" sz="1050" baseline="-25000"/>
              <a:t>2_31</a:t>
            </a:r>
            <a:endParaRPr lang="en-SE" sz="105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95DF14B9-DF9F-7657-27E9-55D88463DEE0}"/>
              </a:ext>
            </a:extLst>
          </p:cNvPr>
          <p:cNvSpPr/>
          <p:nvPr/>
        </p:nvSpPr>
        <p:spPr>
          <a:xfrm>
            <a:off x="8422814" y="4665723"/>
            <a:ext cx="2411807" cy="613691"/>
          </a:xfrm>
          <a:custGeom>
            <a:avLst/>
            <a:gdLst>
              <a:gd name="connsiteX0" fmla="*/ 1141466 w 2411807"/>
              <a:gd name="connsiteY0" fmla="*/ 0 h 613691"/>
              <a:gd name="connsiteX1" fmla="*/ 0 w 2411807"/>
              <a:gd name="connsiteY1" fmla="*/ 0 h 613691"/>
              <a:gd name="connsiteX2" fmla="*/ 435721 w 2411807"/>
              <a:gd name="connsiteY2" fmla="*/ 613691 h 613691"/>
              <a:gd name="connsiteX3" fmla="*/ 2160193 w 2411807"/>
              <a:gd name="connsiteY3" fmla="*/ 613691 h 613691"/>
              <a:gd name="connsiteX4" fmla="*/ 2411807 w 2411807"/>
              <a:gd name="connsiteY4" fmla="*/ 18411 h 613691"/>
              <a:gd name="connsiteX5" fmla="*/ 1313299 w 2411807"/>
              <a:gd name="connsiteY5" fmla="*/ 18411 h 613691"/>
              <a:gd name="connsiteX6" fmla="*/ 1239656 w 2411807"/>
              <a:gd name="connsiteY6" fmla="*/ 159560 h 613691"/>
              <a:gd name="connsiteX7" fmla="*/ 1141466 w 2411807"/>
              <a:gd name="connsiteY7" fmla="*/ 0 h 6136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411807" h="613691">
                <a:moveTo>
                  <a:pt x="1141466" y="0"/>
                </a:moveTo>
                <a:lnTo>
                  <a:pt x="0" y="0"/>
                </a:lnTo>
                <a:lnTo>
                  <a:pt x="435721" y="613691"/>
                </a:lnTo>
                <a:lnTo>
                  <a:pt x="2160193" y="613691"/>
                </a:lnTo>
                <a:lnTo>
                  <a:pt x="2411807" y="18411"/>
                </a:lnTo>
                <a:lnTo>
                  <a:pt x="1313299" y="18411"/>
                </a:lnTo>
                <a:lnTo>
                  <a:pt x="1239656" y="159560"/>
                </a:lnTo>
                <a:lnTo>
                  <a:pt x="1141466" y="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C382C11-A1FA-5E42-2FB5-5D9048DFE0E7}"/>
              </a:ext>
            </a:extLst>
          </p:cNvPr>
          <p:cNvCxnSpPr>
            <a:cxnSpLocks/>
          </p:cNvCxnSpPr>
          <p:nvPr/>
        </p:nvCxnSpPr>
        <p:spPr>
          <a:xfrm>
            <a:off x="9048327" y="5279414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56D71226-9C67-8BCD-1543-C69AEDD04413}"/>
              </a:ext>
            </a:extLst>
          </p:cNvPr>
          <p:cNvCxnSpPr>
            <a:cxnSpLocks/>
          </p:cNvCxnSpPr>
          <p:nvPr/>
        </p:nvCxnSpPr>
        <p:spPr>
          <a:xfrm>
            <a:off x="912033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D60C91A-FC9D-1FF0-7B73-81D41D417A87}"/>
              </a:ext>
            </a:extLst>
          </p:cNvPr>
          <p:cNvCxnSpPr>
            <a:cxnSpLocks/>
          </p:cNvCxnSpPr>
          <p:nvPr/>
        </p:nvCxnSpPr>
        <p:spPr>
          <a:xfrm>
            <a:off x="919234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6F07455-74F6-AB69-0066-1A8698408AED}"/>
              </a:ext>
            </a:extLst>
          </p:cNvPr>
          <p:cNvCxnSpPr>
            <a:cxnSpLocks/>
          </p:cNvCxnSpPr>
          <p:nvPr/>
        </p:nvCxnSpPr>
        <p:spPr>
          <a:xfrm>
            <a:off x="926435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C838E4B6-7957-8F5F-DA62-C118F715929F}"/>
              </a:ext>
            </a:extLst>
          </p:cNvPr>
          <p:cNvCxnSpPr>
            <a:cxnSpLocks/>
          </p:cNvCxnSpPr>
          <p:nvPr/>
        </p:nvCxnSpPr>
        <p:spPr>
          <a:xfrm>
            <a:off x="933636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9973ADDB-3AE9-B20F-4C2A-91C1BC6DA8DB}"/>
              </a:ext>
            </a:extLst>
          </p:cNvPr>
          <p:cNvCxnSpPr>
            <a:cxnSpLocks/>
          </p:cNvCxnSpPr>
          <p:nvPr/>
        </p:nvCxnSpPr>
        <p:spPr>
          <a:xfrm>
            <a:off x="940836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6661F40-2AC4-6802-81F3-1FB8BF85602D}"/>
              </a:ext>
            </a:extLst>
          </p:cNvPr>
          <p:cNvCxnSpPr>
            <a:cxnSpLocks/>
          </p:cNvCxnSpPr>
          <p:nvPr/>
        </p:nvCxnSpPr>
        <p:spPr>
          <a:xfrm>
            <a:off x="948037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471B485A-26E6-E6F2-B4B9-1AD2817E8C6F}"/>
              </a:ext>
            </a:extLst>
          </p:cNvPr>
          <p:cNvCxnSpPr>
            <a:cxnSpLocks/>
          </p:cNvCxnSpPr>
          <p:nvPr/>
        </p:nvCxnSpPr>
        <p:spPr>
          <a:xfrm>
            <a:off x="955238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E148CB3-2789-23F6-578F-F2CF36C78F39}"/>
              </a:ext>
            </a:extLst>
          </p:cNvPr>
          <p:cNvCxnSpPr>
            <a:cxnSpLocks/>
          </p:cNvCxnSpPr>
          <p:nvPr/>
        </p:nvCxnSpPr>
        <p:spPr>
          <a:xfrm>
            <a:off x="962439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BFB590B7-698F-36D8-11F8-F4EAD6F9A235}"/>
              </a:ext>
            </a:extLst>
          </p:cNvPr>
          <p:cNvCxnSpPr>
            <a:cxnSpLocks/>
          </p:cNvCxnSpPr>
          <p:nvPr/>
        </p:nvCxnSpPr>
        <p:spPr>
          <a:xfrm>
            <a:off x="969640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EA96496E-CBDF-B62C-1492-732EEC123123}"/>
              </a:ext>
            </a:extLst>
          </p:cNvPr>
          <p:cNvCxnSpPr>
            <a:cxnSpLocks/>
          </p:cNvCxnSpPr>
          <p:nvPr/>
        </p:nvCxnSpPr>
        <p:spPr>
          <a:xfrm>
            <a:off x="976840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A522CDA2-6DE9-348C-C417-ED43B192C5A1}"/>
              </a:ext>
            </a:extLst>
          </p:cNvPr>
          <p:cNvCxnSpPr>
            <a:cxnSpLocks/>
          </p:cNvCxnSpPr>
          <p:nvPr/>
        </p:nvCxnSpPr>
        <p:spPr>
          <a:xfrm>
            <a:off x="984041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F6244A28-BF73-2700-178B-56276BF193A1}"/>
              </a:ext>
            </a:extLst>
          </p:cNvPr>
          <p:cNvCxnSpPr>
            <a:cxnSpLocks/>
          </p:cNvCxnSpPr>
          <p:nvPr/>
        </p:nvCxnSpPr>
        <p:spPr>
          <a:xfrm>
            <a:off x="991242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BF7F38E3-99A2-C1AF-28AB-0191F08011E7}"/>
              </a:ext>
            </a:extLst>
          </p:cNvPr>
          <p:cNvCxnSpPr>
            <a:cxnSpLocks/>
          </p:cNvCxnSpPr>
          <p:nvPr/>
        </p:nvCxnSpPr>
        <p:spPr>
          <a:xfrm>
            <a:off x="998443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D600440C-9043-C94B-9127-7F83251F4328}"/>
              </a:ext>
            </a:extLst>
          </p:cNvPr>
          <p:cNvCxnSpPr>
            <a:cxnSpLocks/>
          </p:cNvCxnSpPr>
          <p:nvPr/>
        </p:nvCxnSpPr>
        <p:spPr>
          <a:xfrm>
            <a:off x="1005644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E22846F2-F2A4-F8DE-2583-A8E8B6B556C8}"/>
              </a:ext>
            </a:extLst>
          </p:cNvPr>
          <p:cNvCxnSpPr>
            <a:cxnSpLocks/>
          </p:cNvCxnSpPr>
          <p:nvPr/>
        </p:nvCxnSpPr>
        <p:spPr>
          <a:xfrm>
            <a:off x="1012844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TextBox 79">
            <a:extLst>
              <a:ext uri="{FF2B5EF4-FFF2-40B4-BE49-F238E27FC236}">
                <a16:creationId xmlns:a16="http://schemas.microsoft.com/office/drawing/2014/main" id="{25D40EC6-91C8-CB88-5510-216771FE7124}"/>
              </a:ext>
            </a:extLst>
          </p:cNvPr>
          <p:cNvSpPr txBox="1"/>
          <p:nvPr/>
        </p:nvSpPr>
        <p:spPr>
          <a:xfrm>
            <a:off x="7952275" y="4629964"/>
            <a:ext cx="481222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50"/>
              <a:t>addr</a:t>
            </a:r>
            <a:r>
              <a:rPr lang="sv-SE" sz="1050" baseline="-25000"/>
              <a:t>1</a:t>
            </a:r>
            <a:endParaRPr lang="en-SE" sz="1050"/>
          </a:p>
        </p:txBody>
      </p: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342A78F7-994E-B18D-7271-686D68F226E8}"/>
              </a:ext>
            </a:extLst>
          </p:cNvPr>
          <p:cNvCxnSpPr>
            <a:cxnSpLocks/>
          </p:cNvCxnSpPr>
          <p:nvPr/>
        </p:nvCxnSpPr>
        <p:spPr>
          <a:xfrm>
            <a:off x="6744062" y="2188930"/>
            <a:ext cx="1406149" cy="2420859"/>
          </a:xfrm>
          <a:prstGeom prst="straightConnector1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5AE8F2DD-C6E6-5460-C36D-10F1CD69BEAD}"/>
              </a:ext>
            </a:extLst>
          </p:cNvPr>
          <p:cNvSpPr/>
          <p:nvPr/>
        </p:nvSpPr>
        <p:spPr>
          <a:xfrm>
            <a:off x="9396118" y="2611046"/>
            <a:ext cx="624281" cy="360040"/>
          </a:xfrm>
          <a:custGeom>
            <a:avLst/>
            <a:gdLst>
              <a:gd name="connsiteX0" fmla="*/ 0 w 624281"/>
              <a:gd name="connsiteY0" fmla="*/ 0 h 360040"/>
              <a:gd name="connsiteX1" fmla="*/ 305898 w 624281"/>
              <a:gd name="connsiteY1" fmla="*/ 0 h 360040"/>
              <a:gd name="connsiteX2" fmla="*/ 624281 w 624281"/>
              <a:gd name="connsiteY2" fmla="*/ 0 h 360040"/>
              <a:gd name="connsiteX3" fmla="*/ 624281 w 624281"/>
              <a:gd name="connsiteY3" fmla="*/ 360040 h 360040"/>
              <a:gd name="connsiteX4" fmla="*/ 312141 w 624281"/>
              <a:gd name="connsiteY4" fmla="*/ 360040 h 360040"/>
              <a:gd name="connsiteX5" fmla="*/ 0 w 624281"/>
              <a:gd name="connsiteY5" fmla="*/ 360040 h 360040"/>
              <a:gd name="connsiteX6" fmla="*/ 0 w 624281"/>
              <a:gd name="connsiteY6" fmla="*/ 0 h 360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24281" h="360040" extrusionOk="0">
                <a:moveTo>
                  <a:pt x="0" y="0"/>
                </a:moveTo>
                <a:cubicBezTo>
                  <a:pt x="99466" y="-13048"/>
                  <a:pt x="219727" y="18035"/>
                  <a:pt x="305898" y="0"/>
                </a:cubicBezTo>
                <a:cubicBezTo>
                  <a:pt x="392069" y="-18035"/>
                  <a:pt x="495308" y="5114"/>
                  <a:pt x="624281" y="0"/>
                </a:cubicBezTo>
                <a:cubicBezTo>
                  <a:pt x="653839" y="135185"/>
                  <a:pt x="593579" y="247941"/>
                  <a:pt x="624281" y="360040"/>
                </a:cubicBezTo>
                <a:cubicBezTo>
                  <a:pt x="492635" y="391999"/>
                  <a:pt x="441761" y="324850"/>
                  <a:pt x="312141" y="360040"/>
                </a:cubicBezTo>
                <a:cubicBezTo>
                  <a:pt x="182521" y="395230"/>
                  <a:pt x="77724" y="356245"/>
                  <a:pt x="0" y="360040"/>
                </a:cubicBezTo>
                <a:cubicBezTo>
                  <a:pt x="-3087" y="204361"/>
                  <a:pt x="35693" y="173584"/>
                  <a:pt x="0" y="0"/>
                </a:cubicBezTo>
                <a:close/>
              </a:path>
            </a:pathLst>
          </a:custGeom>
          <a:noFill/>
          <a:ln w="25400">
            <a:solidFill>
              <a:srgbClr val="C0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8591876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lose-up of a circuit board&#10;&#10;AI-generated content may be incorrect.">
            <a:extLst>
              <a:ext uri="{FF2B5EF4-FFF2-40B4-BE49-F238E27FC236}">
                <a16:creationId xmlns:a16="http://schemas.microsoft.com/office/drawing/2014/main" id="{F78A810C-283C-1F43-5BF4-31A666DFE85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66000"/>
                    </a14:imgEffect>
                    <a14:imgEffect>
                      <a14:brightnessContrast bright="33000"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7682" y="2322234"/>
            <a:ext cx="5236475" cy="263347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054D953-0B4D-75FC-68B1-B570C8467F1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0800000">
            <a:off x="7532914" y="2381387"/>
            <a:ext cx="2583575" cy="2493188"/>
          </a:xfrm>
          <a:prstGeom prst="rect">
            <a:avLst/>
          </a:prstGeom>
          <a:ln w="50800">
            <a:solidFill>
              <a:schemeClr val="tx1"/>
            </a:solidFill>
          </a:ln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8967E5B9-B367-2998-44A6-B455F694AF5D}"/>
              </a:ext>
            </a:extLst>
          </p:cNvPr>
          <p:cNvSpPr/>
          <p:nvPr/>
        </p:nvSpPr>
        <p:spPr>
          <a:xfrm>
            <a:off x="4789088" y="3368150"/>
            <a:ext cx="802567" cy="82888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5C7606F-BE05-6C65-3A8D-55C756946723}"/>
              </a:ext>
            </a:extLst>
          </p:cNvPr>
          <p:cNvCxnSpPr/>
          <p:nvPr/>
        </p:nvCxnSpPr>
        <p:spPr>
          <a:xfrm flipV="1">
            <a:off x="4789088" y="2381387"/>
            <a:ext cx="2690572" cy="98676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35BB47D-0323-FCE6-BA0E-8267E6558FF0}"/>
              </a:ext>
            </a:extLst>
          </p:cNvPr>
          <p:cNvCxnSpPr>
            <a:cxnSpLocks/>
          </p:cNvCxnSpPr>
          <p:nvPr/>
        </p:nvCxnSpPr>
        <p:spPr>
          <a:xfrm>
            <a:off x="4789088" y="4197030"/>
            <a:ext cx="2690572" cy="67754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ight Brace 12">
            <a:extLst>
              <a:ext uri="{FF2B5EF4-FFF2-40B4-BE49-F238E27FC236}">
                <a16:creationId xmlns:a16="http://schemas.microsoft.com/office/drawing/2014/main" id="{F93BB77B-D332-F559-C473-C930126080FB}"/>
              </a:ext>
            </a:extLst>
          </p:cNvPr>
          <p:cNvSpPr/>
          <p:nvPr/>
        </p:nvSpPr>
        <p:spPr>
          <a:xfrm rot="5400000">
            <a:off x="2591897" y="4690412"/>
            <a:ext cx="78941" cy="77625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70EA364-38EB-C00A-7095-C9F1E038ACB5}"/>
              </a:ext>
            </a:extLst>
          </p:cNvPr>
          <p:cNvSpPr txBox="1"/>
          <p:nvPr/>
        </p:nvSpPr>
        <p:spPr>
          <a:xfrm>
            <a:off x="2243241" y="5078538"/>
            <a:ext cx="79541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Upper Byte</a:t>
            </a:r>
            <a:endParaRPr lang="LID4096" sz="1000" dirty="0"/>
          </a:p>
        </p:txBody>
      </p:sp>
      <p:sp>
        <p:nvSpPr>
          <p:cNvPr id="15" name="Right Brace 14">
            <a:extLst>
              <a:ext uri="{FF2B5EF4-FFF2-40B4-BE49-F238E27FC236}">
                <a16:creationId xmlns:a16="http://schemas.microsoft.com/office/drawing/2014/main" id="{28701935-3C55-128E-66DD-3345A53357D8}"/>
              </a:ext>
            </a:extLst>
          </p:cNvPr>
          <p:cNvSpPr/>
          <p:nvPr/>
        </p:nvSpPr>
        <p:spPr>
          <a:xfrm rot="5400000">
            <a:off x="3678432" y="4690412"/>
            <a:ext cx="78941" cy="77625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EAA6CDB-3C43-FF10-2016-E8465A14A1A7}"/>
              </a:ext>
            </a:extLst>
          </p:cNvPr>
          <p:cNvSpPr txBox="1"/>
          <p:nvPr/>
        </p:nvSpPr>
        <p:spPr>
          <a:xfrm>
            <a:off x="3329776" y="5078538"/>
            <a:ext cx="79220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Lower Byte</a:t>
            </a:r>
            <a:endParaRPr lang="LID4096" sz="1000" dirty="0"/>
          </a:p>
        </p:txBody>
      </p:sp>
      <p:sp>
        <p:nvSpPr>
          <p:cNvPr id="17" name="Right Brace 16">
            <a:extLst>
              <a:ext uri="{FF2B5EF4-FFF2-40B4-BE49-F238E27FC236}">
                <a16:creationId xmlns:a16="http://schemas.microsoft.com/office/drawing/2014/main" id="{4E2A9B11-6305-AFCF-EA57-7E343C5A33EF}"/>
              </a:ext>
            </a:extLst>
          </p:cNvPr>
          <p:cNvSpPr/>
          <p:nvPr/>
        </p:nvSpPr>
        <p:spPr>
          <a:xfrm rot="5400000">
            <a:off x="3138507" y="4380756"/>
            <a:ext cx="78941" cy="1888005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48DD4B5-8FDF-A23B-497D-F1BB7C05ADEF}"/>
              </a:ext>
            </a:extLst>
          </p:cNvPr>
          <p:cNvSpPr txBox="1"/>
          <p:nvPr/>
        </p:nvSpPr>
        <p:spPr>
          <a:xfrm>
            <a:off x="2640946" y="5364229"/>
            <a:ext cx="111973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GPIO Port E</a:t>
            </a:r>
            <a:endParaRPr lang="LID4096" sz="1400" b="1" dirty="0"/>
          </a:p>
        </p:txBody>
      </p:sp>
      <p:sp>
        <p:nvSpPr>
          <p:cNvPr id="21" name="Right Brace 20">
            <a:extLst>
              <a:ext uri="{FF2B5EF4-FFF2-40B4-BE49-F238E27FC236}">
                <a16:creationId xmlns:a16="http://schemas.microsoft.com/office/drawing/2014/main" id="{B82C5514-A1EE-B725-129D-3337AAA523ED}"/>
              </a:ext>
            </a:extLst>
          </p:cNvPr>
          <p:cNvSpPr/>
          <p:nvPr/>
        </p:nvSpPr>
        <p:spPr>
          <a:xfrm rot="5400000">
            <a:off x="4740039" y="4690412"/>
            <a:ext cx="78941" cy="77625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2C8F472-5AA4-2A80-9D66-C199BB2758DC}"/>
              </a:ext>
            </a:extLst>
          </p:cNvPr>
          <p:cNvSpPr txBox="1"/>
          <p:nvPr/>
        </p:nvSpPr>
        <p:spPr>
          <a:xfrm>
            <a:off x="4391383" y="5078538"/>
            <a:ext cx="79541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Upper Byte</a:t>
            </a:r>
            <a:endParaRPr lang="LID4096" sz="1000" dirty="0"/>
          </a:p>
        </p:txBody>
      </p:sp>
      <p:sp>
        <p:nvSpPr>
          <p:cNvPr id="23" name="Right Brace 22">
            <a:extLst>
              <a:ext uri="{FF2B5EF4-FFF2-40B4-BE49-F238E27FC236}">
                <a16:creationId xmlns:a16="http://schemas.microsoft.com/office/drawing/2014/main" id="{0CBA38D3-B702-F865-72B2-0F1B0241BAEC}"/>
              </a:ext>
            </a:extLst>
          </p:cNvPr>
          <p:cNvSpPr/>
          <p:nvPr/>
        </p:nvSpPr>
        <p:spPr>
          <a:xfrm rot="5400000">
            <a:off x="5826574" y="4690412"/>
            <a:ext cx="78941" cy="77625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E4C846C-2BF4-F7B2-E376-024C88BE0128}"/>
              </a:ext>
            </a:extLst>
          </p:cNvPr>
          <p:cNvSpPr txBox="1"/>
          <p:nvPr/>
        </p:nvSpPr>
        <p:spPr>
          <a:xfrm>
            <a:off x="5477918" y="5078538"/>
            <a:ext cx="79220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Lower Byte</a:t>
            </a:r>
            <a:endParaRPr lang="LID4096" sz="1000" dirty="0"/>
          </a:p>
        </p:txBody>
      </p:sp>
      <p:sp>
        <p:nvSpPr>
          <p:cNvPr id="25" name="Right Brace 24">
            <a:extLst>
              <a:ext uri="{FF2B5EF4-FFF2-40B4-BE49-F238E27FC236}">
                <a16:creationId xmlns:a16="http://schemas.microsoft.com/office/drawing/2014/main" id="{B7B7AB33-CEC8-1838-7786-8BE2FB61A9CA}"/>
              </a:ext>
            </a:extLst>
          </p:cNvPr>
          <p:cNvSpPr/>
          <p:nvPr/>
        </p:nvSpPr>
        <p:spPr>
          <a:xfrm rot="5400000">
            <a:off x="5286649" y="4380756"/>
            <a:ext cx="78941" cy="1888005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4492A0A-1979-7B55-D30F-C545D1B809D8}"/>
              </a:ext>
            </a:extLst>
          </p:cNvPr>
          <p:cNvSpPr txBox="1"/>
          <p:nvPr/>
        </p:nvSpPr>
        <p:spPr>
          <a:xfrm>
            <a:off x="4789088" y="5364229"/>
            <a:ext cx="11437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GPIO Port D</a:t>
            </a:r>
            <a:endParaRPr lang="LID4096" sz="1400" b="1" dirty="0"/>
          </a:p>
        </p:txBody>
      </p:sp>
      <p:sp>
        <p:nvSpPr>
          <p:cNvPr id="27" name="Right Brace 26">
            <a:extLst>
              <a:ext uri="{FF2B5EF4-FFF2-40B4-BE49-F238E27FC236}">
                <a16:creationId xmlns:a16="http://schemas.microsoft.com/office/drawing/2014/main" id="{B62FF8D5-3CB0-6DBF-A847-AF33D7CE456A}"/>
              </a:ext>
            </a:extLst>
          </p:cNvPr>
          <p:cNvSpPr/>
          <p:nvPr/>
        </p:nvSpPr>
        <p:spPr>
          <a:xfrm rot="16200000">
            <a:off x="4739261" y="868875"/>
            <a:ext cx="147597" cy="2680180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E15BBAA-7889-F57F-5251-1A0AD203D39B}"/>
              </a:ext>
            </a:extLst>
          </p:cNvPr>
          <p:cNvSpPr txBox="1"/>
          <p:nvPr/>
        </p:nvSpPr>
        <p:spPr>
          <a:xfrm>
            <a:off x="3829083" y="1827389"/>
            <a:ext cx="213417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All GPIO Pins (Ports A-E)</a:t>
            </a:r>
            <a:endParaRPr lang="LID4096" sz="1400" b="1" dirty="0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5D43038E-94EC-F41D-B310-733B92197D79}"/>
              </a:ext>
            </a:extLst>
          </p:cNvPr>
          <p:cNvSpPr/>
          <p:nvPr/>
        </p:nvSpPr>
        <p:spPr>
          <a:xfrm>
            <a:off x="2527300" y="3867150"/>
            <a:ext cx="2317750" cy="723900"/>
          </a:xfrm>
          <a:custGeom>
            <a:avLst/>
            <a:gdLst>
              <a:gd name="connsiteX0" fmla="*/ 2317750 w 2317750"/>
              <a:gd name="connsiteY0" fmla="*/ 0 h 723900"/>
              <a:gd name="connsiteX1" fmla="*/ 1022350 w 2317750"/>
              <a:gd name="connsiteY1" fmla="*/ 15875 h 723900"/>
              <a:gd name="connsiteX2" fmla="*/ 549275 w 2317750"/>
              <a:gd name="connsiteY2" fmla="*/ 482600 h 723900"/>
              <a:gd name="connsiteX3" fmla="*/ 228600 w 2317750"/>
              <a:gd name="connsiteY3" fmla="*/ 482600 h 723900"/>
              <a:gd name="connsiteX4" fmla="*/ 0 w 2317750"/>
              <a:gd name="connsiteY4" fmla="*/ 723900 h 723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17750" h="723900">
                <a:moveTo>
                  <a:pt x="2317750" y="0"/>
                </a:moveTo>
                <a:lnTo>
                  <a:pt x="1022350" y="15875"/>
                </a:lnTo>
                <a:lnTo>
                  <a:pt x="549275" y="482600"/>
                </a:lnTo>
                <a:lnTo>
                  <a:pt x="228600" y="482600"/>
                </a:lnTo>
                <a:lnTo>
                  <a:pt x="0" y="723900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183B1BDA-1B07-758C-A5A2-2FF6B463B05D}"/>
              </a:ext>
            </a:extLst>
          </p:cNvPr>
          <p:cNvSpPr/>
          <p:nvPr/>
        </p:nvSpPr>
        <p:spPr>
          <a:xfrm>
            <a:off x="2473325" y="4581525"/>
            <a:ext cx="73025" cy="73025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6519235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A024B2-F4F1-DE03-BB3B-C21370D107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5F44016-2520-8918-8208-02DB742201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296" y="2545839"/>
            <a:ext cx="5353797" cy="2772162"/>
          </a:xfrm>
          <a:prstGeom prst="rect">
            <a:avLst/>
          </a:prstGeom>
        </p:spPr>
      </p:pic>
      <p:sp>
        <p:nvSpPr>
          <p:cNvPr id="89" name="Rectangle 88">
            <a:extLst>
              <a:ext uri="{FF2B5EF4-FFF2-40B4-BE49-F238E27FC236}">
                <a16:creationId xmlns:a16="http://schemas.microsoft.com/office/drawing/2014/main" id="{9C31C63C-B3D3-032D-AFF4-1F1D95E6F7FF}"/>
              </a:ext>
            </a:extLst>
          </p:cNvPr>
          <p:cNvSpPr/>
          <p:nvPr/>
        </p:nvSpPr>
        <p:spPr>
          <a:xfrm>
            <a:off x="1578586" y="3558540"/>
            <a:ext cx="3381375" cy="140208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3DD2DAA-3A5E-3701-ABEB-350245EFEA18}"/>
              </a:ext>
            </a:extLst>
          </p:cNvPr>
          <p:cNvSpPr/>
          <p:nvPr/>
        </p:nvSpPr>
        <p:spPr>
          <a:xfrm>
            <a:off x="1436663" y="3406140"/>
            <a:ext cx="3787140" cy="259080"/>
          </a:xfrm>
          <a:custGeom>
            <a:avLst/>
            <a:gdLst>
              <a:gd name="connsiteX0" fmla="*/ 3406140 w 3825240"/>
              <a:gd name="connsiteY0" fmla="*/ 0 h 259080"/>
              <a:gd name="connsiteX1" fmla="*/ 0 w 3825240"/>
              <a:gd name="connsiteY1" fmla="*/ 68580 h 259080"/>
              <a:gd name="connsiteX2" fmla="*/ 228600 w 3825240"/>
              <a:gd name="connsiteY2" fmla="*/ 259080 h 259080"/>
              <a:gd name="connsiteX3" fmla="*/ 3825240 w 3825240"/>
              <a:gd name="connsiteY3" fmla="*/ 167640 h 259080"/>
              <a:gd name="connsiteX4" fmla="*/ 3406140 w 3825240"/>
              <a:gd name="connsiteY4" fmla="*/ 0 h 259080"/>
              <a:gd name="connsiteX0" fmla="*/ 3406140 w 3787140"/>
              <a:gd name="connsiteY0" fmla="*/ 0 h 259080"/>
              <a:gd name="connsiteX1" fmla="*/ 0 w 3787140"/>
              <a:gd name="connsiteY1" fmla="*/ 68580 h 259080"/>
              <a:gd name="connsiteX2" fmla="*/ 228600 w 3787140"/>
              <a:gd name="connsiteY2" fmla="*/ 259080 h 259080"/>
              <a:gd name="connsiteX3" fmla="*/ 3787140 w 3787140"/>
              <a:gd name="connsiteY3" fmla="*/ 153353 h 259080"/>
              <a:gd name="connsiteX4" fmla="*/ 3406140 w 3787140"/>
              <a:gd name="connsiteY4" fmla="*/ 0 h 259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787140" h="259080">
                <a:moveTo>
                  <a:pt x="3406140" y="0"/>
                </a:moveTo>
                <a:lnTo>
                  <a:pt x="0" y="68580"/>
                </a:lnTo>
                <a:lnTo>
                  <a:pt x="228600" y="259080"/>
                </a:lnTo>
                <a:lnTo>
                  <a:pt x="3787140" y="153353"/>
                </a:lnTo>
                <a:lnTo>
                  <a:pt x="3406140" y="0"/>
                </a:lnTo>
                <a:close/>
              </a:path>
            </a:pathLst>
          </a:custGeom>
          <a:solidFill>
            <a:schemeClr val="bg2">
              <a:lumMod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EA0B8ECF-7F99-E85F-2C09-46FA91C74FAD}"/>
              </a:ext>
            </a:extLst>
          </p:cNvPr>
          <p:cNvSpPr/>
          <p:nvPr/>
        </p:nvSpPr>
        <p:spPr>
          <a:xfrm>
            <a:off x="1459523" y="3482340"/>
            <a:ext cx="205740" cy="1714500"/>
          </a:xfrm>
          <a:custGeom>
            <a:avLst/>
            <a:gdLst>
              <a:gd name="connsiteX0" fmla="*/ 0 w 205740"/>
              <a:gd name="connsiteY0" fmla="*/ 0 h 1714500"/>
              <a:gd name="connsiteX1" fmla="*/ 30480 w 205740"/>
              <a:gd name="connsiteY1" fmla="*/ 1539240 h 1714500"/>
              <a:gd name="connsiteX2" fmla="*/ 205740 w 205740"/>
              <a:gd name="connsiteY2" fmla="*/ 1714500 h 1714500"/>
              <a:gd name="connsiteX3" fmla="*/ 198120 w 205740"/>
              <a:gd name="connsiteY3" fmla="*/ 167640 h 1714500"/>
              <a:gd name="connsiteX4" fmla="*/ 0 w 205740"/>
              <a:gd name="connsiteY4" fmla="*/ 0 h 1714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5740" h="1714500">
                <a:moveTo>
                  <a:pt x="0" y="0"/>
                </a:moveTo>
                <a:lnTo>
                  <a:pt x="30480" y="1539240"/>
                </a:lnTo>
                <a:lnTo>
                  <a:pt x="205740" y="1714500"/>
                </a:lnTo>
                <a:lnTo>
                  <a:pt x="198120" y="16764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28068516-C5F1-73B1-53D9-969A088D0B16}"/>
              </a:ext>
            </a:extLst>
          </p:cNvPr>
          <p:cNvSpPr/>
          <p:nvPr/>
        </p:nvSpPr>
        <p:spPr>
          <a:xfrm>
            <a:off x="1657643" y="3558540"/>
            <a:ext cx="3596640" cy="1653540"/>
          </a:xfrm>
          <a:custGeom>
            <a:avLst/>
            <a:gdLst>
              <a:gd name="connsiteX0" fmla="*/ 0 w 3680460"/>
              <a:gd name="connsiteY0" fmla="*/ 1653540 h 1653540"/>
              <a:gd name="connsiteX1" fmla="*/ 1463040 w 3680460"/>
              <a:gd name="connsiteY1" fmla="*/ 1592580 h 1653540"/>
              <a:gd name="connsiteX2" fmla="*/ 1463040 w 3680460"/>
              <a:gd name="connsiteY2" fmla="*/ 1417320 h 1653540"/>
              <a:gd name="connsiteX3" fmla="*/ 182880 w 3680460"/>
              <a:gd name="connsiteY3" fmla="*/ 1478280 h 1653540"/>
              <a:gd name="connsiteX4" fmla="*/ 160020 w 3680460"/>
              <a:gd name="connsiteY4" fmla="*/ 266700 h 1653540"/>
              <a:gd name="connsiteX5" fmla="*/ 3474720 w 3680460"/>
              <a:gd name="connsiteY5" fmla="*/ 160020 h 1653540"/>
              <a:gd name="connsiteX6" fmla="*/ 3467100 w 3680460"/>
              <a:gd name="connsiteY6" fmla="*/ 1424940 h 1653540"/>
              <a:gd name="connsiteX7" fmla="*/ 2278380 w 3680460"/>
              <a:gd name="connsiteY7" fmla="*/ 1432560 h 1653540"/>
              <a:gd name="connsiteX8" fmla="*/ 2263140 w 3680460"/>
              <a:gd name="connsiteY8" fmla="*/ 1584960 h 1653540"/>
              <a:gd name="connsiteX9" fmla="*/ 3680460 w 3680460"/>
              <a:gd name="connsiteY9" fmla="*/ 1546860 h 1653540"/>
              <a:gd name="connsiteX10" fmla="*/ 3589020 w 3680460"/>
              <a:gd name="connsiteY10" fmla="*/ 0 h 1653540"/>
              <a:gd name="connsiteX11" fmla="*/ 0 w 3680460"/>
              <a:gd name="connsiteY11" fmla="*/ 91440 h 1653540"/>
              <a:gd name="connsiteX12" fmla="*/ 0 w 3680460"/>
              <a:gd name="connsiteY12" fmla="*/ 1653540 h 1653540"/>
              <a:gd name="connsiteX0" fmla="*/ 0 w 3649980"/>
              <a:gd name="connsiteY0" fmla="*/ 1653540 h 1653540"/>
              <a:gd name="connsiteX1" fmla="*/ 1463040 w 3649980"/>
              <a:gd name="connsiteY1" fmla="*/ 1592580 h 1653540"/>
              <a:gd name="connsiteX2" fmla="*/ 1463040 w 3649980"/>
              <a:gd name="connsiteY2" fmla="*/ 1417320 h 1653540"/>
              <a:gd name="connsiteX3" fmla="*/ 182880 w 3649980"/>
              <a:gd name="connsiteY3" fmla="*/ 1478280 h 1653540"/>
              <a:gd name="connsiteX4" fmla="*/ 160020 w 3649980"/>
              <a:gd name="connsiteY4" fmla="*/ 266700 h 1653540"/>
              <a:gd name="connsiteX5" fmla="*/ 3474720 w 3649980"/>
              <a:gd name="connsiteY5" fmla="*/ 160020 h 1653540"/>
              <a:gd name="connsiteX6" fmla="*/ 3467100 w 3649980"/>
              <a:gd name="connsiteY6" fmla="*/ 1424940 h 1653540"/>
              <a:gd name="connsiteX7" fmla="*/ 2278380 w 3649980"/>
              <a:gd name="connsiteY7" fmla="*/ 1432560 h 1653540"/>
              <a:gd name="connsiteX8" fmla="*/ 2263140 w 3649980"/>
              <a:gd name="connsiteY8" fmla="*/ 1584960 h 1653540"/>
              <a:gd name="connsiteX9" fmla="*/ 3649980 w 3649980"/>
              <a:gd name="connsiteY9" fmla="*/ 1554480 h 1653540"/>
              <a:gd name="connsiteX10" fmla="*/ 3589020 w 3649980"/>
              <a:gd name="connsiteY10" fmla="*/ 0 h 1653540"/>
              <a:gd name="connsiteX11" fmla="*/ 0 w 3649980"/>
              <a:gd name="connsiteY11" fmla="*/ 91440 h 1653540"/>
              <a:gd name="connsiteX12" fmla="*/ 0 w 3649980"/>
              <a:gd name="connsiteY12" fmla="*/ 1653540 h 1653540"/>
              <a:gd name="connsiteX0" fmla="*/ 0 w 3596640"/>
              <a:gd name="connsiteY0" fmla="*/ 1653540 h 1653540"/>
              <a:gd name="connsiteX1" fmla="*/ 1463040 w 3596640"/>
              <a:gd name="connsiteY1" fmla="*/ 1592580 h 1653540"/>
              <a:gd name="connsiteX2" fmla="*/ 1463040 w 3596640"/>
              <a:gd name="connsiteY2" fmla="*/ 1417320 h 1653540"/>
              <a:gd name="connsiteX3" fmla="*/ 182880 w 3596640"/>
              <a:gd name="connsiteY3" fmla="*/ 1478280 h 1653540"/>
              <a:gd name="connsiteX4" fmla="*/ 160020 w 3596640"/>
              <a:gd name="connsiteY4" fmla="*/ 266700 h 1653540"/>
              <a:gd name="connsiteX5" fmla="*/ 3474720 w 3596640"/>
              <a:gd name="connsiteY5" fmla="*/ 160020 h 1653540"/>
              <a:gd name="connsiteX6" fmla="*/ 3467100 w 3596640"/>
              <a:gd name="connsiteY6" fmla="*/ 1424940 h 1653540"/>
              <a:gd name="connsiteX7" fmla="*/ 2278380 w 3596640"/>
              <a:gd name="connsiteY7" fmla="*/ 1432560 h 1653540"/>
              <a:gd name="connsiteX8" fmla="*/ 2263140 w 3596640"/>
              <a:gd name="connsiteY8" fmla="*/ 1584960 h 1653540"/>
              <a:gd name="connsiteX9" fmla="*/ 3596640 w 3596640"/>
              <a:gd name="connsiteY9" fmla="*/ 1546860 h 1653540"/>
              <a:gd name="connsiteX10" fmla="*/ 3589020 w 3596640"/>
              <a:gd name="connsiteY10" fmla="*/ 0 h 1653540"/>
              <a:gd name="connsiteX11" fmla="*/ 0 w 3596640"/>
              <a:gd name="connsiteY11" fmla="*/ 91440 h 1653540"/>
              <a:gd name="connsiteX12" fmla="*/ 0 w 3596640"/>
              <a:gd name="connsiteY12" fmla="*/ 1653540 h 1653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596640" h="1653540">
                <a:moveTo>
                  <a:pt x="0" y="1653540"/>
                </a:moveTo>
                <a:lnTo>
                  <a:pt x="1463040" y="1592580"/>
                </a:lnTo>
                <a:lnTo>
                  <a:pt x="1463040" y="1417320"/>
                </a:lnTo>
                <a:lnTo>
                  <a:pt x="182880" y="1478280"/>
                </a:lnTo>
                <a:lnTo>
                  <a:pt x="160020" y="266700"/>
                </a:lnTo>
                <a:lnTo>
                  <a:pt x="3474720" y="160020"/>
                </a:lnTo>
                <a:lnTo>
                  <a:pt x="3467100" y="1424940"/>
                </a:lnTo>
                <a:lnTo>
                  <a:pt x="2278380" y="1432560"/>
                </a:lnTo>
                <a:lnTo>
                  <a:pt x="2263140" y="1584960"/>
                </a:lnTo>
                <a:lnTo>
                  <a:pt x="3596640" y="1546860"/>
                </a:lnTo>
                <a:lnTo>
                  <a:pt x="3589020" y="0"/>
                </a:lnTo>
                <a:lnTo>
                  <a:pt x="0" y="91440"/>
                </a:lnTo>
                <a:lnTo>
                  <a:pt x="0" y="1653540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F97FBA48-F957-12F8-A329-E5F82A65B7FC}"/>
              </a:ext>
            </a:extLst>
          </p:cNvPr>
          <p:cNvSpPr/>
          <p:nvPr/>
        </p:nvSpPr>
        <p:spPr>
          <a:xfrm>
            <a:off x="1833379" y="3727133"/>
            <a:ext cx="3305175" cy="1312068"/>
          </a:xfrm>
          <a:custGeom>
            <a:avLst/>
            <a:gdLst>
              <a:gd name="connsiteX0" fmla="*/ 2943225 w 3305175"/>
              <a:gd name="connsiteY0" fmla="*/ 4762 h 1312068"/>
              <a:gd name="connsiteX1" fmla="*/ 2964657 w 3305175"/>
              <a:gd name="connsiteY1" fmla="*/ 1040606 h 1312068"/>
              <a:gd name="connsiteX2" fmla="*/ 0 w 3305175"/>
              <a:gd name="connsiteY2" fmla="*/ 1133475 h 1312068"/>
              <a:gd name="connsiteX3" fmla="*/ 7144 w 3305175"/>
              <a:gd name="connsiteY3" fmla="*/ 1312068 h 1312068"/>
              <a:gd name="connsiteX4" fmla="*/ 1290638 w 3305175"/>
              <a:gd name="connsiteY4" fmla="*/ 1254918 h 1312068"/>
              <a:gd name="connsiteX5" fmla="*/ 1362075 w 3305175"/>
              <a:gd name="connsiteY5" fmla="*/ 1202531 h 1312068"/>
              <a:gd name="connsiteX6" fmla="*/ 1431132 w 3305175"/>
              <a:gd name="connsiteY6" fmla="*/ 1185862 h 1312068"/>
              <a:gd name="connsiteX7" fmla="*/ 1735932 w 3305175"/>
              <a:gd name="connsiteY7" fmla="*/ 1171575 h 1312068"/>
              <a:gd name="connsiteX8" fmla="*/ 1902619 w 3305175"/>
              <a:gd name="connsiteY8" fmla="*/ 1178718 h 1312068"/>
              <a:gd name="connsiteX9" fmla="*/ 2100263 w 3305175"/>
              <a:gd name="connsiteY9" fmla="*/ 1264443 h 1312068"/>
              <a:gd name="connsiteX10" fmla="*/ 3300413 w 3305175"/>
              <a:gd name="connsiteY10" fmla="*/ 1257300 h 1312068"/>
              <a:gd name="connsiteX11" fmla="*/ 3305175 w 3305175"/>
              <a:gd name="connsiteY11" fmla="*/ 0 h 1312068"/>
              <a:gd name="connsiteX12" fmla="*/ 2943225 w 3305175"/>
              <a:gd name="connsiteY12" fmla="*/ 4762 h 1312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305175" h="1312068">
                <a:moveTo>
                  <a:pt x="2943225" y="4762"/>
                </a:moveTo>
                <a:lnTo>
                  <a:pt x="2964657" y="1040606"/>
                </a:lnTo>
                <a:lnTo>
                  <a:pt x="0" y="1133475"/>
                </a:lnTo>
                <a:lnTo>
                  <a:pt x="7144" y="1312068"/>
                </a:lnTo>
                <a:lnTo>
                  <a:pt x="1290638" y="1254918"/>
                </a:lnTo>
                <a:lnTo>
                  <a:pt x="1362075" y="1202531"/>
                </a:lnTo>
                <a:lnTo>
                  <a:pt x="1431132" y="1185862"/>
                </a:lnTo>
                <a:lnTo>
                  <a:pt x="1735932" y="1171575"/>
                </a:lnTo>
                <a:lnTo>
                  <a:pt x="1902619" y="1178718"/>
                </a:lnTo>
                <a:lnTo>
                  <a:pt x="2100263" y="1264443"/>
                </a:lnTo>
                <a:lnTo>
                  <a:pt x="3300413" y="1257300"/>
                </a:lnTo>
                <a:cubicBezTo>
                  <a:pt x="3302000" y="838200"/>
                  <a:pt x="3303588" y="419100"/>
                  <a:pt x="3305175" y="0"/>
                </a:cubicBezTo>
                <a:lnTo>
                  <a:pt x="2943225" y="4762"/>
                </a:lnTo>
                <a:close/>
              </a:path>
            </a:pathLst>
          </a:cu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9FDF8B3F-30CF-B907-5853-E3C796C2DF74}"/>
              </a:ext>
            </a:extLst>
          </p:cNvPr>
          <p:cNvSpPr/>
          <p:nvPr/>
        </p:nvSpPr>
        <p:spPr>
          <a:xfrm>
            <a:off x="3119254" y="4896326"/>
            <a:ext cx="819150" cy="247650"/>
          </a:xfrm>
          <a:custGeom>
            <a:avLst/>
            <a:gdLst>
              <a:gd name="connsiteX0" fmla="*/ 802482 w 819150"/>
              <a:gd name="connsiteY0" fmla="*/ 242888 h 247650"/>
              <a:gd name="connsiteX1" fmla="*/ 588169 w 819150"/>
              <a:gd name="connsiteY1" fmla="*/ 116682 h 247650"/>
              <a:gd name="connsiteX2" fmla="*/ 452438 w 819150"/>
              <a:gd name="connsiteY2" fmla="*/ 95250 h 247650"/>
              <a:gd name="connsiteX3" fmla="*/ 192882 w 819150"/>
              <a:gd name="connsiteY3" fmla="*/ 92869 h 247650"/>
              <a:gd name="connsiteX4" fmla="*/ 76200 w 819150"/>
              <a:gd name="connsiteY4" fmla="*/ 140494 h 247650"/>
              <a:gd name="connsiteX5" fmla="*/ 11907 w 819150"/>
              <a:gd name="connsiteY5" fmla="*/ 247650 h 247650"/>
              <a:gd name="connsiteX6" fmla="*/ 0 w 819150"/>
              <a:gd name="connsiteY6" fmla="*/ 85725 h 247650"/>
              <a:gd name="connsiteX7" fmla="*/ 76200 w 819150"/>
              <a:gd name="connsiteY7" fmla="*/ 33338 h 247650"/>
              <a:gd name="connsiteX8" fmla="*/ 173832 w 819150"/>
              <a:gd name="connsiteY8" fmla="*/ 14288 h 247650"/>
              <a:gd name="connsiteX9" fmla="*/ 469107 w 819150"/>
              <a:gd name="connsiteY9" fmla="*/ 0 h 247650"/>
              <a:gd name="connsiteX10" fmla="*/ 616744 w 819150"/>
              <a:gd name="connsiteY10" fmla="*/ 14288 h 247650"/>
              <a:gd name="connsiteX11" fmla="*/ 819150 w 819150"/>
              <a:gd name="connsiteY11" fmla="*/ 95250 h 247650"/>
              <a:gd name="connsiteX12" fmla="*/ 802482 w 819150"/>
              <a:gd name="connsiteY12" fmla="*/ 242888 h 247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819150" h="247650">
                <a:moveTo>
                  <a:pt x="802482" y="242888"/>
                </a:moveTo>
                <a:lnTo>
                  <a:pt x="588169" y="116682"/>
                </a:lnTo>
                <a:lnTo>
                  <a:pt x="452438" y="95250"/>
                </a:lnTo>
                <a:lnTo>
                  <a:pt x="192882" y="92869"/>
                </a:lnTo>
                <a:lnTo>
                  <a:pt x="76200" y="140494"/>
                </a:lnTo>
                <a:lnTo>
                  <a:pt x="11907" y="247650"/>
                </a:lnTo>
                <a:lnTo>
                  <a:pt x="0" y="85725"/>
                </a:lnTo>
                <a:lnTo>
                  <a:pt x="76200" y="33338"/>
                </a:lnTo>
                <a:lnTo>
                  <a:pt x="173832" y="14288"/>
                </a:lnTo>
                <a:lnTo>
                  <a:pt x="469107" y="0"/>
                </a:lnTo>
                <a:lnTo>
                  <a:pt x="616744" y="14288"/>
                </a:lnTo>
                <a:lnTo>
                  <a:pt x="819150" y="95250"/>
                </a:lnTo>
                <a:lnTo>
                  <a:pt x="802482" y="242888"/>
                </a:ln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1D65493E-2F16-9E98-9FF2-AAA7B728F33E}"/>
              </a:ext>
            </a:extLst>
          </p:cNvPr>
          <p:cNvGrpSpPr/>
          <p:nvPr/>
        </p:nvGrpSpPr>
        <p:grpSpPr>
          <a:xfrm>
            <a:off x="4243204" y="4020026"/>
            <a:ext cx="209550" cy="157163"/>
            <a:chOff x="6669881" y="4393406"/>
            <a:chExt cx="209550" cy="157163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D6CCC803-01B9-475F-36A7-4B2FA2B35678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2292FE8F-C860-DE72-286D-19C0AE17330B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BF26F472-87DE-9D70-743D-122581876E5F}"/>
              </a:ext>
            </a:extLst>
          </p:cNvPr>
          <p:cNvGrpSpPr/>
          <p:nvPr/>
        </p:nvGrpSpPr>
        <p:grpSpPr>
          <a:xfrm>
            <a:off x="3797910" y="4050982"/>
            <a:ext cx="209550" cy="157163"/>
            <a:chOff x="6669881" y="4393406"/>
            <a:chExt cx="209550" cy="157163"/>
          </a:xfrm>
        </p:grpSpPr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C7C74774-086A-B2F8-FC13-1099F51A9E82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1AF20588-D5D9-B723-475D-93E6352EE91B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09448F24-6E5A-47CA-B9E7-98025A4A5280}"/>
              </a:ext>
            </a:extLst>
          </p:cNvPr>
          <p:cNvGrpSpPr/>
          <p:nvPr/>
        </p:nvGrpSpPr>
        <p:grpSpPr>
          <a:xfrm>
            <a:off x="3352616" y="4081938"/>
            <a:ext cx="209550" cy="157163"/>
            <a:chOff x="6669881" y="4393406"/>
            <a:chExt cx="209550" cy="157163"/>
          </a:xfrm>
        </p:grpSpPr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377C63C8-EA25-C899-38AA-C364016DB510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4537A568-C58C-CD43-CE64-72C6822BA206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DE0044B3-58DA-E5AF-C1B9-FD7ACE844553}"/>
              </a:ext>
            </a:extLst>
          </p:cNvPr>
          <p:cNvGrpSpPr/>
          <p:nvPr/>
        </p:nvGrpSpPr>
        <p:grpSpPr>
          <a:xfrm>
            <a:off x="2851360" y="4093844"/>
            <a:ext cx="209550" cy="157163"/>
            <a:chOff x="6669881" y="4393406"/>
            <a:chExt cx="209550" cy="157163"/>
          </a:xfrm>
        </p:grpSpPr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8416A671-530E-EF8A-1D90-AC263D172BE2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46CA65C8-2534-84BC-A190-09DEC82AC2DF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83D7AED8-8D1F-FAF8-3CDE-7F896F5EB77C}"/>
              </a:ext>
            </a:extLst>
          </p:cNvPr>
          <p:cNvGrpSpPr/>
          <p:nvPr/>
        </p:nvGrpSpPr>
        <p:grpSpPr>
          <a:xfrm>
            <a:off x="2345112" y="4113567"/>
            <a:ext cx="209550" cy="157163"/>
            <a:chOff x="6669881" y="4393406"/>
            <a:chExt cx="209550" cy="157163"/>
          </a:xfrm>
        </p:grpSpPr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32261C2B-05C7-790D-CFCB-F96B1B034654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2B1F324D-4448-69A1-B541-78A050ACBD38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B981D7EA-BC9E-F738-4BA6-ECCCD0FE1FBA}"/>
              </a:ext>
            </a:extLst>
          </p:cNvPr>
          <p:cNvGrpSpPr/>
          <p:nvPr/>
        </p:nvGrpSpPr>
        <p:grpSpPr>
          <a:xfrm>
            <a:off x="2333205" y="4520758"/>
            <a:ext cx="209550" cy="157163"/>
            <a:chOff x="6669881" y="4393406"/>
            <a:chExt cx="209550" cy="157163"/>
          </a:xfrm>
        </p:grpSpPr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D56FA857-2E3A-6003-E684-57B4DBB50E02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FA66613C-21DE-A884-9675-9C3E05711122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B10C2771-EBA4-D928-60DA-D58EBBE34D4F}"/>
              </a:ext>
            </a:extLst>
          </p:cNvPr>
          <p:cNvGrpSpPr/>
          <p:nvPr/>
        </p:nvGrpSpPr>
        <p:grpSpPr>
          <a:xfrm>
            <a:off x="2848977" y="4506471"/>
            <a:ext cx="209550" cy="157163"/>
            <a:chOff x="6669881" y="4393406"/>
            <a:chExt cx="209550" cy="157163"/>
          </a:xfrm>
        </p:grpSpPr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3B58EEAC-CF25-C24E-074D-2D61F83C667E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32386D2F-EF23-2E06-478A-9D77E820B43F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C990B727-D7D6-2DB4-63C1-871636A014F6}"/>
              </a:ext>
            </a:extLst>
          </p:cNvPr>
          <p:cNvGrpSpPr/>
          <p:nvPr/>
        </p:nvGrpSpPr>
        <p:grpSpPr>
          <a:xfrm>
            <a:off x="3359757" y="4500001"/>
            <a:ext cx="209550" cy="157163"/>
            <a:chOff x="6669881" y="4393406"/>
            <a:chExt cx="209550" cy="157163"/>
          </a:xfrm>
        </p:grpSpPr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71070728-F7C5-1F96-C9DE-C3CD10968920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47FC1878-C15C-87D0-760A-E65F2190382F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AEF940E3-F317-0C45-EA8C-E214355F2ABE}"/>
              </a:ext>
            </a:extLst>
          </p:cNvPr>
          <p:cNvGrpSpPr/>
          <p:nvPr/>
        </p:nvGrpSpPr>
        <p:grpSpPr>
          <a:xfrm>
            <a:off x="3828863" y="4505748"/>
            <a:ext cx="209550" cy="157163"/>
            <a:chOff x="6669881" y="4393406"/>
            <a:chExt cx="209550" cy="157163"/>
          </a:xfrm>
        </p:grpSpPr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07C8ECD6-08F4-D2FD-279C-751FF143CD91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92C5A368-5553-425D-FAB9-124B63C21CDE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3190253D-8883-D003-A0F5-01BC0866B5E4}"/>
              </a:ext>
            </a:extLst>
          </p:cNvPr>
          <p:cNvGrpSpPr/>
          <p:nvPr/>
        </p:nvGrpSpPr>
        <p:grpSpPr>
          <a:xfrm>
            <a:off x="4271771" y="4495238"/>
            <a:ext cx="209550" cy="157163"/>
            <a:chOff x="6669881" y="4393406"/>
            <a:chExt cx="209550" cy="157163"/>
          </a:xfrm>
        </p:grpSpPr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3F93CBFD-2233-22D3-B6F2-E4539821BB6B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AAEC7B42-B370-9788-FF06-4C6F6997CBBA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95C30C3B-4ED3-2A6A-8C6B-BABB356AAFA0}"/>
              </a:ext>
            </a:extLst>
          </p:cNvPr>
          <p:cNvCxnSpPr>
            <a:cxnSpLocks/>
            <a:endCxn id="92" idx="0"/>
          </p:cNvCxnSpPr>
          <p:nvPr/>
        </p:nvCxnSpPr>
        <p:spPr>
          <a:xfrm flipH="1">
            <a:off x="2399207" y="4799291"/>
            <a:ext cx="5111" cy="105615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TextBox 91">
            <a:extLst>
              <a:ext uri="{FF2B5EF4-FFF2-40B4-BE49-F238E27FC236}">
                <a16:creationId xmlns:a16="http://schemas.microsoft.com/office/drawing/2014/main" id="{A1EDEB9A-06BF-364F-5F16-73D2A55190A8}"/>
              </a:ext>
            </a:extLst>
          </p:cNvPr>
          <p:cNvSpPr txBox="1"/>
          <p:nvPr/>
        </p:nvSpPr>
        <p:spPr>
          <a:xfrm>
            <a:off x="2059210" y="5855449"/>
            <a:ext cx="6799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GND</a:t>
            </a:r>
            <a:endParaRPr lang="LID4096" b="1" dirty="0"/>
          </a:p>
        </p:txBody>
      </p: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AC3473B5-C156-1E8D-638B-97739C0E5687}"/>
              </a:ext>
            </a:extLst>
          </p:cNvPr>
          <p:cNvCxnSpPr>
            <a:cxnSpLocks/>
          </p:cNvCxnSpPr>
          <p:nvPr/>
        </p:nvCxnSpPr>
        <p:spPr>
          <a:xfrm>
            <a:off x="4334743" y="2222017"/>
            <a:ext cx="27524" cy="1673166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TextBox 95">
            <a:extLst>
              <a:ext uri="{FF2B5EF4-FFF2-40B4-BE49-F238E27FC236}">
                <a16:creationId xmlns:a16="http://schemas.microsoft.com/office/drawing/2014/main" id="{2EC93A78-4DCB-8B19-B7F3-F3450CC405DD}"/>
              </a:ext>
            </a:extLst>
          </p:cNvPr>
          <p:cNvSpPr txBox="1"/>
          <p:nvPr/>
        </p:nvSpPr>
        <p:spPr>
          <a:xfrm>
            <a:off x="4007460" y="1807413"/>
            <a:ext cx="6431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3.3V</a:t>
            </a:r>
            <a:endParaRPr lang="LID4096" b="1" dirty="0"/>
          </a:p>
        </p:txBody>
      </p: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7A278C3B-EE4A-376E-C2DA-0E305C001320}"/>
              </a:ext>
            </a:extLst>
          </p:cNvPr>
          <p:cNvCxnSpPr>
            <a:cxnSpLocks/>
          </p:cNvCxnSpPr>
          <p:nvPr/>
        </p:nvCxnSpPr>
        <p:spPr>
          <a:xfrm>
            <a:off x="2399207" y="2350085"/>
            <a:ext cx="0" cy="154509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1F974211-45F4-5E26-A538-77BB5B9BA199}"/>
              </a:ext>
            </a:extLst>
          </p:cNvPr>
          <p:cNvSpPr txBox="1"/>
          <p:nvPr/>
        </p:nvSpPr>
        <p:spPr>
          <a:xfrm>
            <a:off x="2106211" y="2044273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bit0</a:t>
            </a:r>
            <a:endParaRPr lang="LID4096" b="1" dirty="0"/>
          </a:p>
        </p:txBody>
      </p: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1045091D-C324-E614-B1F3-4E9C3A890772}"/>
              </a:ext>
            </a:extLst>
          </p:cNvPr>
          <p:cNvCxnSpPr>
            <a:cxnSpLocks/>
          </p:cNvCxnSpPr>
          <p:nvPr/>
        </p:nvCxnSpPr>
        <p:spPr>
          <a:xfrm>
            <a:off x="2934442" y="2350085"/>
            <a:ext cx="0" cy="154509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32A9533B-39A3-D488-54B1-27590AD2344B}"/>
              </a:ext>
            </a:extLst>
          </p:cNvPr>
          <p:cNvSpPr txBox="1"/>
          <p:nvPr/>
        </p:nvSpPr>
        <p:spPr>
          <a:xfrm>
            <a:off x="2641446" y="2044273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bit2</a:t>
            </a:r>
            <a:endParaRPr lang="LID4096" b="1" dirty="0"/>
          </a:p>
        </p:txBody>
      </p: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89EBB79D-80D2-39AB-50EB-2209FDA8C7A1}"/>
              </a:ext>
            </a:extLst>
          </p:cNvPr>
          <p:cNvCxnSpPr>
            <a:cxnSpLocks/>
          </p:cNvCxnSpPr>
          <p:nvPr/>
        </p:nvCxnSpPr>
        <p:spPr>
          <a:xfrm>
            <a:off x="3453714" y="2350085"/>
            <a:ext cx="0" cy="154509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971B4834-6BF6-D3A6-E125-AEF52187C6D5}"/>
              </a:ext>
            </a:extLst>
          </p:cNvPr>
          <p:cNvSpPr txBox="1"/>
          <p:nvPr/>
        </p:nvSpPr>
        <p:spPr>
          <a:xfrm>
            <a:off x="3160718" y="2044273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bit4</a:t>
            </a:r>
            <a:endParaRPr lang="LID4096" b="1" dirty="0"/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047FA994-8578-A5D2-E24F-3FB090F7454F}"/>
              </a:ext>
            </a:extLst>
          </p:cNvPr>
          <p:cNvCxnSpPr>
            <a:cxnSpLocks/>
          </p:cNvCxnSpPr>
          <p:nvPr/>
        </p:nvCxnSpPr>
        <p:spPr>
          <a:xfrm>
            <a:off x="3907991" y="2335991"/>
            <a:ext cx="0" cy="154509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23E09081-AC34-BD4A-D39B-B3BD6CE42F43}"/>
              </a:ext>
            </a:extLst>
          </p:cNvPr>
          <p:cNvSpPr txBox="1"/>
          <p:nvPr/>
        </p:nvSpPr>
        <p:spPr>
          <a:xfrm>
            <a:off x="3614995" y="2030179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bit6</a:t>
            </a:r>
            <a:endParaRPr lang="LID4096" b="1" dirty="0"/>
          </a:p>
        </p:txBody>
      </p: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02D3CA94-3F00-868F-47F0-89317AAEEEE2}"/>
              </a:ext>
            </a:extLst>
          </p:cNvPr>
          <p:cNvCxnSpPr>
            <a:cxnSpLocks/>
          </p:cNvCxnSpPr>
          <p:nvPr/>
        </p:nvCxnSpPr>
        <p:spPr>
          <a:xfrm>
            <a:off x="2920379" y="4745914"/>
            <a:ext cx="0" cy="80981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E840B875-AF99-B34B-FBB3-EC0FB57A9827}"/>
              </a:ext>
            </a:extLst>
          </p:cNvPr>
          <p:cNvSpPr txBox="1"/>
          <p:nvPr/>
        </p:nvSpPr>
        <p:spPr>
          <a:xfrm>
            <a:off x="2634631" y="5516523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bit1</a:t>
            </a:r>
            <a:endParaRPr lang="LID4096" b="1" dirty="0"/>
          </a:p>
        </p:txBody>
      </p: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F0779239-4179-FE09-451F-6E0652F5A2CE}"/>
              </a:ext>
            </a:extLst>
          </p:cNvPr>
          <p:cNvCxnSpPr>
            <a:cxnSpLocks/>
          </p:cNvCxnSpPr>
          <p:nvPr/>
        </p:nvCxnSpPr>
        <p:spPr>
          <a:xfrm>
            <a:off x="3436440" y="4743886"/>
            <a:ext cx="0" cy="80981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7D850A4F-1625-123C-FC1C-65068FCFEF74}"/>
              </a:ext>
            </a:extLst>
          </p:cNvPr>
          <p:cNvSpPr txBox="1"/>
          <p:nvPr/>
        </p:nvSpPr>
        <p:spPr>
          <a:xfrm>
            <a:off x="3150692" y="5514495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bit3</a:t>
            </a:r>
            <a:endParaRPr lang="LID4096" b="1" dirty="0"/>
          </a:p>
        </p:txBody>
      </p: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1251E317-0820-0DD9-A73B-64FA723AB8A8}"/>
              </a:ext>
            </a:extLst>
          </p:cNvPr>
          <p:cNvCxnSpPr>
            <a:cxnSpLocks/>
          </p:cNvCxnSpPr>
          <p:nvPr/>
        </p:nvCxnSpPr>
        <p:spPr>
          <a:xfrm>
            <a:off x="3918887" y="4744900"/>
            <a:ext cx="0" cy="80981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TextBox 117">
            <a:extLst>
              <a:ext uri="{FF2B5EF4-FFF2-40B4-BE49-F238E27FC236}">
                <a16:creationId xmlns:a16="http://schemas.microsoft.com/office/drawing/2014/main" id="{269192A1-790F-8413-A58A-693151621356}"/>
              </a:ext>
            </a:extLst>
          </p:cNvPr>
          <p:cNvSpPr txBox="1"/>
          <p:nvPr/>
        </p:nvSpPr>
        <p:spPr>
          <a:xfrm>
            <a:off x="3633139" y="5515509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bit5</a:t>
            </a:r>
            <a:endParaRPr lang="LID4096" b="1" dirty="0"/>
          </a:p>
        </p:txBody>
      </p:sp>
      <p:cxnSp>
        <p:nvCxnSpPr>
          <p:cNvPr id="119" name="Straight Connector 118">
            <a:extLst>
              <a:ext uri="{FF2B5EF4-FFF2-40B4-BE49-F238E27FC236}">
                <a16:creationId xmlns:a16="http://schemas.microsoft.com/office/drawing/2014/main" id="{E09CBCBE-BA8E-FE64-2D4B-DFFAB01B1D54}"/>
              </a:ext>
            </a:extLst>
          </p:cNvPr>
          <p:cNvCxnSpPr>
            <a:cxnSpLocks/>
          </p:cNvCxnSpPr>
          <p:nvPr/>
        </p:nvCxnSpPr>
        <p:spPr>
          <a:xfrm>
            <a:off x="4372042" y="4743886"/>
            <a:ext cx="0" cy="80981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TextBox 119">
            <a:extLst>
              <a:ext uri="{FF2B5EF4-FFF2-40B4-BE49-F238E27FC236}">
                <a16:creationId xmlns:a16="http://schemas.microsoft.com/office/drawing/2014/main" id="{912CDF52-E518-3265-5FA8-04D6E42F5084}"/>
              </a:ext>
            </a:extLst>
          </p:cNvPr>
          <p:cNvSpPr txBox="1"/>
          <p:nvPr/>
        </p:nvSpPr>
        <p:spPr>
          <a:xfrm>
            <a:off x="4086294" y="5514495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bit7</a:t>
            </a:r>
            <a:endParaRPr lang="LID4096" b="1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60AF50C-6217-DB58-BB05-B497F7B4E244}"/>
              </a:ext>
            </a:extLst>
          </p:cNvPr>
          <p:cNvGrpSpPr/>
          <p:nvPr/>
        </p:nvGrpSpPr>
        <p:grpSpPr>
          <a:xfrm>
            <a:off x="8146258" y="2295653"/>
            <a:ext cx="2669370" cy="1907729"/>
            <a:chOff x="9519713" y="2988597"/>
            <a:chExt cx="1319935" cy="943323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FB67708D-5CE6-86FE-B604-40A10BAEC95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519713" y="2988597"/>
              <a:ext cx="1319935" cy="943323"/>
            </a:xfrm>
            <a:prstGeom prst="rect">
              <a:avLst/>
            </a:prstGeom>
          </p:spPr>
        </p:pic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18C7FA37-73D6-8F1E-F0A9-9E903F5DD0E0}"/>
                </a:ext>
              </a:extLst>
            </p:cNvPr>
            <p:cNvSpPr/>
            <p:nvPr/>
          </p:nvSpPr>
          <p:spPr>
            <a:xfrm rot="19997983">
              <a:off x="10475358" y="3191629"/>
              <a:ext cx="265922" cy="134378"/>
            </a:xfrm>
            <a:prstGeom prst="ellipse">
              <a:avLst/>
            </a:prstGeom>
            <a:noFill/>
            <a:ln w="127">
              <a:solidFill>
                <a:srgbClr val="FF0000"/>
              </a:solidFill>
            </a:ln>
            <a:effectLst>
              <a:glow rad="127000">
                <a:srgbClr val="FF0000">
                  <a:alpha val="61000"/>
                </a:srgbClr>
              </a:glo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1743F6B4-2DA2-0F57-36F0-16E48DF18E8F}"/>
              </a:ext>
            </a:extLst>
          </p:cNvPr>
          <p:cNvSpPr/>
          <p:nvPr/>
        </p:nvSpPr>
        <p:spPr>
          <a:xfrm>
            <a:off x="8124345" y="3953629"/>
            <a:ext cx="394705" cy="401283"/>
          </a:xfrm>
          <a:custGeom>
            <a:avLst/>
            <a:gdLst>
              <a:gd name="connsiteX0" fmla="*/ 394705 w 394705"/>
              <a:gd name="connsiteY0" fmla="*/ 0 h 401283"/>
              <a:gd name="connsiteX1" fmla="*/ 171039 w 394705"/>
              <a:gd name="connsiteY1" fmla="*/ 157882 h 401283"/>
              <a:gd name="connsiteX2" fmla="*/ 0 w 394705"/>
              <a:gd name="connsiteY2" fmla="*/ 401283 h 4012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94705" h="401283">
                <a:moveTo>
                  <a:pt x="394705" y="0"/>
                </a:moveTo>
                <a:cubicBezTo>
                  <a:pt x="315764" y="45501"/>
                  <a:pt x="236823" y="91002"/>
                  <a:pt x="171039" y="157882"/>
                </a:cubicBezTo>
                <a:cubicBezTo>
                  <a:pt x="105255" y="224763"/>
                  <a:pt x="52627" y="313023"/>
                  <a:pt x="0" y="401283"/>
                </a:cubicBezTo>
              </a:path>
            </a:pathLst>
          </a:custGeom>
          <a:noFill/>
          <a:ln w="381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185B09EE-93D8-8029-4540-11C28D093747}"/>
              </a:ext>
            </a:extLst>
          </p:cNvPr>
          <p:cNvSpPr/>
          <p:nvPr/>
        </p:nvSpPr>
        <p:spPr>
          <a:xfrm>
            <a:off x="2526112" y="4644363"/>
            <a:ext cx="5216685" cy="1237240"/>
          </a:xfrm>
          <a:custGeom>
            <a:avLst/>
            <a:gdLst>
              <a:gd name="connsiteX0" fmla="*/ 5216685 w 5216685"/>
              <a:gd name="connsiteY0" fmla="*/ 118411 h 1237240"/>
              <a:gd name="connsiteX1" fmla="*/ 3861531 w 5216685"/>
              <a:gd name="connsiteY1" fmla="*/ 1236742 h 1237240"/>
              <a:gd name="connsiteX2" fmla="*/ 0 w 5216685"/>
              <a:gd name="connsiteY2" fmla="*/ 0 h 12372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216685" h="1237240">
                <a:moveTo>
                  <a:pt x="5216685" y="118411"/>
                </a:moveTo>
                <a:cubicBezTo>
                  <a:pt x="4973831" y="687444"/>
                  <a:pt x="4730978" y="1256477"/>
                  <a:pt x="3861531" y="1236742"/>
                </a:cubicBezTo>
                <a:cubicBezTo>
                  <a:pt x="2992084" y="1217007"/>
                  <a:pt x="1496042" y="608503"/>
                  <a:pt x="0" y="0"/>
                </a:cubicBezTo>
              </a:path>
            </a:pathLst>
          </a:custGeom>
          <a:noFill/>
          <a:ln w="381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BE9B9503-DB71-6246-2A42-6F526C7C83DD}"/>
              </a:ext>
            </a:extLst>
          </p:cNvPr>
          <p:cNvSpPr/>
          <p:nvPr/>
        </p:nvSpPr>
        <p:spPr>
          <a:xfrm>
            <a:off x="3973364" y="3874688"/>
            <a:ext cx="4361491" cy="971359"/>
          </a:xfrm>
          <a:custGeom>
            <a:avLst/>
            <a:gdLst>
              <a:gd name="connsiteX0" fmla="*/ 4361491 w 4361491"/>
              <a:gd name="connsiteY0" fmla="*/ 0 h 971359"/>
              <a:gd name="connsiteX1" fmla="*/ 2414279 w 4361491"/>
              <a:gd name="connsiteY1" fmla="*/ 967027 h 971359"/>
              <a:gd name="connsiteX2" fmla="*/ 0 w 4361491"/>
              <a:gd name="connsiteY2" fmla="*/ 289450 h 9713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361491" h="971359">
                <a:moveTo>
                  <a:pt x="4361491" y="0"/>
                </a:moveTo>
                <a:cubicBezTo>
                  <a:pt x="3751342" y="459392"/>
                  <a:pt x="3141194" y="918785"/>
                  <a:pt x="2414279" y="967027"/>
                </a:cubicBezTo>
                <a:cubicBezTo>
                  <a:pt x="1687364" y="1015269"/>
                  <a:pt x="843682" y="652359"/>
                  <a:pt x="0" y="289450"/>
                </a:cubicBezTo>
              </a:path>
            </a:pathLst>
          </a:custGeom>
          <a:noFill/>
          <a:ln w="381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34CCA88B-1189-E6FA-67B2-C01B8F8BACAE}"/>
              </a:ext>
            </a:extLst>
          </p:cNvPr>
          <p:cNvGrpSpPr/>
          <p:nvPr/>
        </p:nvGrpSpPr>
        <p:grpSpPr>
          <a:xfrm rot="18737801">
            <a:off x="7671049" y="4464771"/>
            <a:ext cx="550143" cy="184758"/>
            <a:chOff x="7629989" y="5236460"/>
            <a:chExt cx="1027147" cy="344953"/>
          </a:xfrm>
        </p:grpSpPr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AA194F9C-88D6-4319-3EA9-5ACE4DFFB43B}"/>
                </a:ext>
              </a:extLst>
            </p:cNvPr>
            <p:cNvSpPr/>
            <p:nvPr/>
          </p:nvSpPr>
          <p:spPr>
            <a:xfrm>
              <a:off x="7629989" y="5236460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64DD08F2-0160-25D1-D65C-40F74012AD28}"/>
                </a:ext>
              </a:extLst>
            </p:cNvPr>
            <p:cNvSpPr/>
            <p:nvPr/>
          </p:nvSpPr>
          <p:spPr>
            <a:xfrm>
              <a:off x="8315512" y="5239789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469DD94C-B2D8-B8B9-61ED-42363ACB9357}"/>
                </a:ext>
              </a:extLst>
            </p:cNvPr>
            <p:cNvSpPr/>
            <p:nvPr/>
          </p:nvSpPr>
          <p:spPr>
            <a:xfrm>
              <a:off x="7866077" y="5260841"/>
              <a:ext cx="541140" cy="2928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89A326E8-AE32-C3CC-BA73-0C7210F15F76}"/>
                </a:ext>
              </a:extLst>
            </p:cNvPr>
            <p:cNvCxnSpPr/>
            <p:nvPr/>
          </p:nvCxnSpPr>
          <p:spPr>
            <a:xfrm>
              <a:off x="7953306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D93335A8-181E-3BD2-5531-546AB5CC26C8}"/>
                </a:ext>
              </a:extLst>
            </p:cNvPr>
            <p:cNvCxnSpPr/>
            <p:nvPr/>
          </p:nvCxnSpPr>
          <p:spPr>
            <a:xfrm>
              <a:off x="8266751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C32B0AAA-7F9F-F4D3-3864-E5B28A431B9F}"/>
                </a:ext>
              </a:extLst>
            </p:cNvPr>
            <p:cNvCxnSpPr/>
            <p:nvPr/>
          </p:nvCxnSpPr>
          <p:spPr>
            <a:xfrm>
              <a:off x="8099972" y="5260841"/>
              <a:ext cx="0" cy="292863"/>
            </a:xfrm>
            <a:prstGeom prst="line">
              <a:avLst/>
            </a:prstGeom>
            <a:ln w="508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0D78C407-115F-892F-1BBE-400846FDF841}"/>
                </a:ext>
              </a:extLst>
            </p:cNvPr>
            <p:cNvCxnSpPr/>
            <p:nvPr/>
          </p:nvCxnSpPr>
          <p:spPr>
            <a:xfrm>
              <a:off x="8196330" y="5260841"/>
              <a:ext cx="0" cy="292863"/>
            </a:xfrm>
            <a:prstGeom prst="line">
              <a:avLst/>
            </a:prstGeom>
            <a:ln w="508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2166181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BBEF93-4CAA-0AB7-78A8-B9287FCFAE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5B50886-5F6D-0A55-9A75-A3AA5C0030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800000">
            <a:off x="1099221" y="2243241"/>
            <a:ext cx="2583575" cy="2493188"/>
          </a:xfrm>
          <a:prstGeom prst="rect">
            <a:avLst/>
          </a:prstGeom>
          <a:ln w="50800">
            <a:solidFill>
              <a:schemeClr val="tx1"/>
            </a:solidFill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554C09C-B921-DFF1-1038-E272F33354F6}"/>
              </a:ext>
            </a:extLst>
          </p:cNvPr>
          <p:cNvSpPr txBox="1"/>
          <p:nvPr/>
        </p:nvSpPr>
        <p:spPr>
          <a:xfrm>
            <a:off x="1545929" y="2644523"/>
            <a:ext cx="947292" cy="73866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000" dirty="0" err="1"/>
              <a:t>Qingke</a:t>
            </a:r>
            <a:r>
              <a:rPr lang="en-US" sz="1000" dirty="0"/>
              <a:t> V4</a:t>
            </a:r>
          </a:p>
          <a:p>
            <a:pPr algn="ctr"/>
            <a:r>
              <a:rPr lang="en-US" sz="1000" dirty="0"/>
              <a:t>RISCV</a:t>
            </a:r>
            <a:r>
              <a:rPr lang="en-US" sz="1600" dirty="0"/>
              <a:t> CPU</a:t>
            </a:r>
            <a:endParaRPr lang="LID4096" sz="16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DFFADC1-F978-F20E-1CA3-B901D7FAFFC7}"/>
              </a:ext>
            </a:extLst>
          </p:cNvPr>
          <p:cNvSpPr txBox="1"/>
          <p:nvPr/>
        </p:nvSpPr>
        <p:spPr>
          <a:xfrm rot="16200000">
            <a:off x="2553523" y="3289780"/>
            <a:ext cx="947292" cy="400110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000" dirty="0"/>
              <a:t>Memory</a:t>
            </a:r>
            <a:br>
              <a:rPr lang="en-US" sz="1000" dirty="0"/>
            </a:br>
            <a:r>
              <a:rPr lang="en-US" sz="1000" dirty="0"/>
              <a:t>Subsystem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ABBAA12-17B8-03AE-D6FA-F35A36ED053C}"/>
              </a:ext>
            </a:extLst>
          </p:cNvPr>
          <p:cNvSpPr txBox="1"/>
          <p:nvPr/>
        </p:nvSpPr>
        <p:spPr>
          <a:xfrm>
            <a:off x="1820089" y="3869605"/>
            <a:ext cx="673132" cy="40011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000" dirty="0"/>
              <a:t>GPIO</a:t>
            </a:r>
            <a:br>
              <a:rPr lang="en-US" sz="1000" dirty="0"/>
            </a:br>
            <a:r>
              <a:rPr lang="en-US" sz="1000" dirty="0"/>
              <a:t>Module</a:t>
            </a:r>
            <a:endParaRPr lang="LID4096" sz="1600" dirty="0"/>
          </a:p>
        </p:txBody>
      </p:sp>
      <p:sp>
        <p:nvSpPr>
          <p:cNvPr id="11" name="Arrow: Up-Down 10">
            <a:extLst>
              <a:ext uri="{FF2B5EF4-FFF2-40B4-BE49-F238E27FC236}">
                <a16:creationId xmlns:a16="http://schemas.microsoft.com/office/drawing/2014/main" id="{8BEC0DDB-83B1-319A-739C-AB857491BC06}"/>
              </a:ext>
            </a:extLst>
          </p:cNvPr>
          <p:cNvSpPr/>
          <p:nvPr/>
        </p:nvSpPr>
        <p:spPr>
          <a:xfrm rot="18008206">
            <a:off x="2548333" y="2960390"/>
            <a:ext cx="223666" cy="434175"/>
          </a:xfrm>
          <a:prstGeom prst="upDownArrow">
            <a:avLst/>
          </a:prstGeom>
          <a:solidFill>
            <a:schemeClr val="bg1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" name="Arrow: Up-Down 11">
            <a:extLst>
              <a:ext uri="{FF2B5EF4-FFF2-40B4-BE49-F238E27FC236}">
                <a16:creationId xmlns:a16="http://schemas.microsoft.com/office/drawing/2014/main" id="{2F4DEB9A-5EDD-4CF8-563F-76DACFE7B238}"/>
              </a:ext>
            </a:extLst>
          </p:cNvPr>
          <p:cNvSpPr/>
          <p:nvPr/>
        </p:nvSpPr>
        <p:spPr>
          <a:xfrm rot="3255855">
            <a:off x="2545972" y="3635006"/>
            <a:ext cx="223666" cy="434175"/>
          </a:xfrm>
          <a:prstGeom prst="upDownArrow">
            <a:avLst/>
          </a:prstGeom>
          <a:solidFill>
            <a:schemeClr val="bg1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3D305CB6-46CD-F44B-978D-47EFEA3B78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276" y="2191288"/>
            <a:ext cx="8257899" cy="260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40361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753</TotalTime>
  <Words>534</Words>
  <Application>Microsoft Office PowerPoint</Application>
  <PresentationFormat>Widescreen</PresentationFormat>
  <Paragraphs>159</Paragraphs>
  <Slides>8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Aptos</vt:lpstr>
      <vt:lpstr>Aptos Display</vt:lpstr>
      <vt:lpstr>Arial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Erik Sintorn</dc:creator>
  <cp:lastModifiedBy>Erik Sintorn</cp:lastModifiedBy>
  <cp:revision>10</cp:revision>
  <dcterms:created xsi:type="dcterms:W3CDTF">2025-09-03T07:58:20Z</dcterms:created>
  <dcterms:modified xsi:type="dcterms:W3CDTF">2025-09-30T11:13:50Z</dcterms:modified>
</cp:coreProperties>
</file>