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7" r:id="rId2"/>
    <p:sldId id="256" r:id="rId3"/>
    <p:sldId id="371" r:id="rId4"/>
    <p:sldId id="372" r:id="rId5"/>
    <p:sldId id="373" r:id="rId6"/>
    <p:sldId id="374" r:id="rId7"/>
    <p:sldId id="294" r:id="rId8"/>
    <p:sldId id="405" r:id="rId9"/>
    <p:sldId id="375" r:id="rId10"/>
    <p:sldId id="376" r:id="rId11"/>
    <p:sldId id="377" r:id="rId12"/>
    <p:sldId id="406" r:id="rId13"/>
    <p:sldId id="379" r:id="rId14"/>
    <p:sldId id="380" r:id="rId15"/>
    <p:sldId id="407" r:id="rId16"/>
    <p:sldId id="378" r:id="rId17"/>
    <p:sldId id="385" r:id="rId18"/>
    <p:sldId id="388" r:id="rId19"/>
    <p:sldId id="389" r:id="rId20"/>
    <p:sldId id="408" r:id="rId21"/>
    <p:sldId id="390" r:id="rId22"/>
    <p:sldId id="391" r:id="rId23"/>
    <p:sldId id="392" r:id="rId24"/>
    <p:sldId id="400" r:id="rId25"/>
    <p:sldId id="401" r:id="rId26"/>
    <p:sldId id="402" r:id="rId27"/>
    <p:sldId id="403" r:id="rId28"/>
    <p:sldId id="409" r:id="rId29"/>
    <p:sldId id="395" r:id="rId30"/>
    <p:sldId id="396" r:id="rId31"/>
    <p:sldId id="404" r:id="rId32"/>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E61B486-9643-4A02-8A51-D34E00CDE215}">
          <p14:sldIdLst>
            <p14:sldId id="257"/>
            <p14:sldId id="256"/>
            <p14:sldId id="371"/>
            <p14:sldId id="372"/>
            <p14:sldId id="373"/>
            <p14:sldId id="374"/>
            <p14:sldId id="294"/>
            <p14:sldId id="405"/>
            <p14:sldId id="375"/>
            <p14:sldId id="376"/>
            <p14:sldId id="377"/>
            <p14:sldId id="406"/>
            <p14:sldId id="379"/>
            <p14:sldId id="380"/>
            <p14:sldId id="407"/>
            <p14:sldId id="378"/>
            <p14:sldId id="385"/>
            <p14:sldId id="388"/>
            <p14:sldId id="389"/>
            <p14:sldId id="408"/>
            <p14:sldId id="390"/>
            <p14:sldId id="391"/>
            <p14:sldId id="392"/>
            <p14:sldId id="400"/>
            <p14:sldId id="401"/>
            <p14:sldId id="402"/>
            <p14:sldId id="403"/>
            <p14:sldId id="409"/>
            <p14:sldId id="395"/>
            <p14:sldId id="396"/>
            <p14:sldId id="4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69391" autoAdjust="0"/>
  </p:normalViewPr>
  <p:slideViewPr>
    <p:cSldViewPr snapToGrid="0">
      <p:cViewPr>
        <p:scale>
          <a:sx n="125" d="100"/>
          <a:sy n="125" d="100"/>
        </p:scale>
        <p:origin x="3882" y="127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02/10/2026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i="0"/>
              <a:t>Lab preparation 2 ligger uppe p</a:t>
            </a:r>
            <a:r>
              <a:rPr lang="sv-SE" i="0"/>
              <a:t>å Canvas. </a:t>
            </a:r>
          </a:p>
          <a:p>
            <a:r>
              <a:rPr lang="sv-SE" i="0"/>
              <a:t>Vår mjuka deadline är på söndag. </a:t>
            </a:r>
          </a:p>
          <a:p>
            <a:r>
              <a:rPr lang="sv-SE" i="0"/>
              <a:t>Se till att ni har bokat ett labbpass i nästa vecka. </a:t>
            </a:r>
          </a:p>
          <a:p>
            <a:endParaRPr lang="sv-SE" i="0"/>
          </a:p>
          <a:p>
            <a:r>
              <a:rPr lang="sv-SE" i="0"/>
              <a:t>Ingen lektion på fredag, delvis för att ni har mycket självstudier att göra för att klara av lab 2.</a:t>
            </a:r>
          </a:p>
          <a:p>
            <a:endParaRPr lang="sv-SE" i="0"/>
          </a:p>
          <a:p>
            <a:r>
              <a:rPr lang="sv-SE" i="0"/>
              <a:t>Idag skall vi lära oss om mer avancerade typer i C. </a:t>
            </a:r>
          </a:p>
          <a:p>
            <a:r>
              <a:rPr lang="sv-SE" i="0"/>
              <a:t>Framförallt kommer vi lära oss om structures, och hur dom ger oss ett mycket trevligare sätt att arbeta med peripherals. </a:t>
            </a:r>
          </a:p>
          <a:p>
            <a:endParaRPr lang="LID4096" i="0" dirty="0"/>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Eller när man är osäker på vilken typ man vill använda och inte vill gå in och ändra på tusen ställen</a:t>
            </a:r>
          </a:p>
          <a:p>
            <a:endParaRPr lang="sv-SE" dirty="0"/>
          </a:p>
          <a:p>
            <a:r>
              <a:rPr lang="sv-SE" dirty="0"/>
              <a:t>Detta skiljer sig från #define, på så vis att kompilatorn känner till vad som har hänt och kan skriva mycket mer hjälpsam debug info. </a:t>
            </a:r>
          </a:p>
          <a:p>
            <a:endParaRPr lang="sv-SE" dirty="0"/>
          </a:p>
          <a:p>
            <a:r>
              <a:rPr lang="sv-SE" dirty="0"/>
              <a:t>Vi kommer se fler användningsområden om en liten stund. </a:t>
            </a:r>
            <a:endParaRPr lang="LID4096" dirty="0"/>
          </a:p>
        </p:txBody>
      </p:sp>
      <p:sp>
        <p:nvSpPr>
          <p:cNvPr id="4" name="Slide Number Placeholder 3"/>
          <p:cNvSpPr>
            <a:spLocks noGrp="1"/>
          </p:cNvSpPr>
          <p:nvPr>
            <p:ph type="sldNum" sz="quarter" idx="5"/>
          </p:nvPr>
        </p:nvSpPr>
        <p:spPr/>
        <p:txBody>
          <a:bodyPr/>
          <a:lstStyle/>
          <a:p>
            <a:fld id="{2476C796-BAB8-4B04-BD32-E3AC4AD1DCA6}" type="slidenum">
              <a:rPr lang="LID4096" smtClean="0"/>
              <a:t>3</a:t>
            </a:fld>
            <a:endParaRPr lang="LID4096"/>
          </a:p>
        </p:txBody>
      </p:sp>
    </p:spTree>
    <p:extLst>
      <p:ext uri="{BB962C8B-B14F-4D97-AF65-F5344CB8AC3E}">
        <p14:creationId xmlns:p14="http://schemas.microsoft.com/office/powerpoint/2010/main" val="219434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 igenom vad koden gör</a:t>
            </a:r>
          </a:p>
          <a:p>
            <a:r>
              <a:rPr lang="en-GB"/>
              <a:t>&lt;click&gt;</a:t>
            </a:r>
          </a:p>
          <a:p>
            <a:r>
              <a:rPr lang="en-GB"/>
              <a:t>J</a:t>
            </a:r>
            <a:r>
              <a:rPr lang="sv-SE"/>
              <a:t>ämför med klasser</a:t>
            </a:r>
            <a:endParaRPr lang="LID4096"/>
          </a:p>
        </p:txBody>
      </p:sp>
      <p:sp>
        <p:nvSpPr>
          <p:cNvPr id="4" name="Slide Number Placeholder 3"/>
          <p:cNvSpPr>
            <a:spLocks noGrp="1"/>
          </p:cNvSpPr>
          <p:nvPr>
            <p:ph type="sldNum" sz="quarter" idx="5"/>
          </p:nvPr>
        </p:nvSpPr>
        <p:spPr/>
        <p:txBody>
          <a:bodyPr/>
          <a:lstStyle/>
          <a:p>
            <a:fld id="{2476C796-BAB8-4B04-BD32-E3AC4AD1DCA6}" type="slidenum">
              <a:rPr lang="LID4096" smtClean="0"/>
              <a:t>4</a:t>
            </a:fld>
            <a:endParaRPr lang="LID4096"/>
          </a:p>
        </p:txBody>
      </p:sp>
    </p:spTree>
    <p:extLst>
      <p:ext uri="{BB962C8B-B14F-4D97-AF65-F5344CB8AC3E}">
        <p14:creationId xmlns:p14="http://schemas.microsoft.com/office/powerpoint/2010/main" val="763412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7471-8E1D-DA13-EECC-E87F1DA6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596F9-7197-782C-A7FF-C8C79E980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555C8-0C82-999E-1323-09E06BC06466}"/>
              </a:ext>
            </a:extLst>
          </p:cNvPr>
          <p:cNvSpPr>
            <a:spLocks noGrp="1"/>
          </p:cNvSpPr>
          <p:nvPr>
            <p:ph type="body" idx="1"/>
          </p:nvPr>
        </p:nvSpPr>
        <p:spPr/>
        <p:txBody>
          <a:bodyPr/>
          <a:lstStyle/>
          <a:p>
            <a:r>
              <a:rPr lang="sv-SE"/>
              <a:t>Då skall vi prata om hur medlemmarna hamnar i minnet. </a:t>
            </a:r>
          </a:p>
          <a:p>
            <a:r>
              <a:rPr lang="sv-SE"/>
              <a:t>Innan vi gör det måste jag påminna om alignment, som jag tjatat om några gånger. </a:t>
            </a:r>
            <a:endParaRPr lang="LID4096"/>
          </a:p>
        </p:txBody>
      </p:sp>
      <p:sp>
        <p:nvSpPr>
          <p:cNvPr id="4" name="Slide Number Placeholder 3">
            <a:extLst>
              <a:ext uri="{FF2B5EF4-FFF2-40B4-BE49-F238E27FC236}">
                <a16:creationId xmlns:a16="http://schemas.microsoft.com/office/drawing/2014/main" id="{9CF7A051-2B76-40DF-8A4A-8D29DFBBDB3F}"/>
              </a:ext>
            </a:extLst>
          </p:cNvPr>
          <p:cNvSpPr>
            <a:spLocks noGrp="1"/>
          </p:cNvSpPr>
          <p:nvPr>
            <p:ph type="sldNum" sz="quarter" idx="5"/>
          </p:nvPr>
        </p:nvSpPr>
        <p:spPr/>
        <p:txBody>
          <a:bodyPr/>
          <a:lstStyle/>
          <a:p>
            <a:fld id="{01B4E41B-EE32-43AA-BF26-21D12108C66F}" type="slidenum">
              <a:rPr lang="LID4096" smtClean="0"/>
              <a:t>7</a:t>
            </a:fld>
            <a:endParaRPr lang="LID4096"/>
          </a:p>
        </p:txBody>
      </p:sp>
    </p:spTree>
    <p:extLst>
      <p:ext uri="{BB962C8B-B14F-4D97-AF65-F5344CB8AC3E}">
        <p14:creationId xmlns:p14="http://schemas.microsoft.com/office/powerpoint/2010/main" val="21509299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Visa hur player one hamner i minnet. </a:t>
            </a:r>
          </a:p>
          <a:p>
            <a:r>
              <a:rPr lang="en-GB"/>
              <a:t>&lt;click&gt;</a:t>
            </a:r>
          </a:p>
          <a:p>
            <a:r>
              <a:rPr lang="en-GB"/>
              <a:t>P</a:t>
            </a:r>
            <a:r>
              <a:rPr lang="sv-SE"/>
              <a:t>å vilken address börjar player_two?</a:t>
            </a:r>
          </a:p>
          <a:p>
            <a:r>
              <a:rPr lang="en-GB"/>
              <a:t>&lt;click&gt;</a:t>
            </a:r>
          </a:p>
          <a:p>
            <a:r>
              <a:rPr lang="en-GB"/>
              <a:t>Japp, regeln </a:t>
            </a:r>
            <a:r>
              <a:rPr lang="sv-SE"/>
              <a:t>är att en struct måste vara lika alignad som dess största medlemsvariabel. </a:t>
            </a:r>
          </a:p>
          <a:p>
            <a:r>
              <a:rPr lang="sv-SE"/>
              <a:t>Om den bara innehåller shorts, t.ex., måste den vara på en address som är jämnt delbar med 2. Om den också innehåller en enda int så måste den vara alignad till 4 bytes. </a:t>
            </a:r>
            <a:endParaRPr lang="LID4096"/>
          </a:p>
        </p:txBody>
      </p:sp>
      <p:sp>
        <p:nvSpPr>
          <p:cNvPr id="4" name="Slide Number Placeholder 3"/>
          <p:cNvSpPr>
            <a:spLocks noGrp="1"/>
          </p:cNvSpPr>
          <p:nvPr>
            <p:ph type="sldNum" sz="quarter" idx="5"/>
          </p:nvPr>
        </p:nvSpPr>
        <p:spPr/>
        <p:txBody>
          <a:bodyPr/>
          <a:lstStyle/>
          <a:p>
            <a:fld id="{2476C796-BAB8-4B04-BD32-E3AC4AD1DCA6}" type="slidenum">
              <a:rPr lang="LID4096" smtClean="0"/>
              <a:t>9</a:t>
            </a:fld>
            <a:endParaRPr lang="LID4096"/>
          </a:p>
        </p:txBody>
      </p:sp>
    </p:spTree>
    <p:extLst>
      <p:ext uri="{BB962C8B-B14F-4D97-AF65-F5344CB8AC3E}">
        <p14:creationId xmlns:p14="http://schemas.microsoft.com/office/powerpoint/2010/main" val="371233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26AD3-2931-990B-5DE9-6F38E9C3A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983EE-14A5-69FC-F2C4-5DE01FE23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73D68-9D52-B162-1FEF-346BB6FBECA8}"/>
              </a:ext>
            </a:extLst>
          </p:cNvPr>
          <p:cNvSpPr>
            <a:spLocks noGrp="1"/>
          </p:cNvSpPr>
          <p:nvPr>
            <p:ph type="body" idx="1"/>
          </p:nvPr>
        </p:nvSpPr>
        <p:spPr/>
        <p:txBody>
          <a:bodyPr/>
          <a:lstStyle/>
          <a:p>
            <a:r>
              <a:rPr lang="sv-SE"/>
              <a:t>Vi ändrar score så den bara är en byte stor.</a:t>
            </a:r>
          </a:p>
          <a:p>
            <a:r>
              <a:rPr lang="sv-SE"/>
              <a:t>Hur stor plats tar hela structen upp? </a:t>
            </a:r>
          </a:p>
          <a:p>
            <a:r>
              <a:rPr lang="sv-SE"/>
              <a:t> </a:t>
            </a:r>
            <a:r>
              <a:rPr lang="en-GB"/>
              <a:t>&lt;click&gt;</a:t>
            </a:r>
          </a:p>
          <a:p>
            <a:r>
              <a:rPr lang="en-GB"/>
              <a:t>Elementen m</a:t>
            </a:r>
            <a:r>
              <a:rPr lang="sv-SE"/>
              <a:t>åste komma i rätt ordning. Eftersom health kommer efter score, och health måste ligga på en address som är jämnt delbar med fyra så får vi tre ”tomma” bytes i minnet. </a:t>
            </a:r>
          </a:p>
          <a:p>
            <a:endParaRPr lang="sv-SE"/>
          </a:p>
          <a:p>
            <a:r>
              <a:rPr lang="sv-SE"/>
              <a:t>Kompilatorn är inte ”smart” här och byter ordning eller gör något annat fiffigt, för om vi gjorde något annat än att följa dom enkla reglerna så vet ju inte annan kod hur vår strukt ser ut. </a:t>
            </a:r>
          </a:p>
          <a:p>
            <a:endParaRPr lang="sv-SE"/>
          </a:p>
          <a:p>
            <a:r>
              <a:rPr lang="sv-SE"/>
              <a:t>(nämn packing)</a:t>
            </a:r>
            <a:endParaRPr lang="LID4096"/>
          </a:p>
        </p:txBody>
      </p:sp>
      <p:sp>
        <p:nvSpPr>
          <p:cNvPr id="4" name="Slide Number Placeholder 3">
            <a:extLst>
              <a:ext uri="{FF2B5EF4-FFF2-40B4-BE49-F238E27FC236}">
                <a16:creationId xmlns:a16="http://schemas.microsoft.com/office/drawing/2014/main" id="{F60FB718-D462-5399-876E-2FFC69614BF2}"/>
              </a:ext>
            </a:extLst>
          </p:cNvPr>
          <p:cNvSpPr>
            <a:spLocks noGrp="1"/>
          </p:cNvSpPr>
          <p:nvPr>
            <p:ph type="sldNum" sz="quarter" idx="5"/>
          </p:nvPr>
        </p:nvSpPr>
        <p:spPr/>
        <p:txBody>
          <a:bodyPr/>
          <a:lstStyle/>
          <a:p>
            <a:fld id="{2476C796-BAB8-4B04-BD32-E3AC4AD1DCA6}" type="slidenum">
              <a:rPr lang="LID4096" smtClean="0"/>
              <a:t>10</a:t>
            </a:fld>
            <a:endParaRPr lang="LID4096"/>
          </a:p>
        </p:txBody>
      </p:sp>
    </p:spTree>
    <p:extLst>
      <p:ext uri="{BB962C8B-B14F-4D97-AF65-F5344CB8AC3E}">
        <p14:creationId xmlns:p14="http://schemas.microsoft.com/office/powerpoint/2010/main" val="1665481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ED868-5FF3-EF67-A041-A8761DBF4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E292ED-4670-FF25-E754-76C111A15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393857-0753-9FA1-3FBC-2F7754087242}"/>
              </a:ext>
            </a:extLst>
          </p:cNvPr>
          <p:cNvSpPr>
            <a:spLocks noGrp="1"/>
          </p:cNvSpPr>
          <p:nvPr>
            <p:ph type="body" idx="1"/>
          </p:nvPr>
        </p:nvSpPr>
        <p:spPr/>
        <p:txBody>
          <a:bodyPr/>
          <a:lstStyle/>
          <a:p>
            <a:r>
              <a:rPr lang="sv-SE"/>
              <a:t>(inga animationer)</a:t>
            </a:r>
          </a:p>
          <a:p>
            <a:r>
              <a:rPr lang="sv-SE"/>
              <a:t>Visa att Player innehåller ett Weapon, och att den hamnar i minnet precis som om Player hade Weapons medlemmar. </a:t>
            </a:r>
          </a:p>
          <a:p>
            <a:endParaRPr lang="sv-SE"/>
          </a:p>
          <a:p>
            <a:r>
              <a:rPr lang="sv-SE"/>
              <a:t>Peka också på </a:t>
            </a:r>
            <a:r>
              <a:rPr lang="sv-SE" b="1"/>
              <a:t>initialiseringen</a:t>
            </a:r>
            <a:endParaRPr lang="LID4096"/>
          </a:p>
        </p:txBody>
      </p:sp>
      <p:sp>
        <p:nvSpPr>
          <p:cNvPr id="4" name="Slide Number Placeholder 3">
            <a:extLst>
              <a:ext uri="{FF2B5EF4-FFF2-40B4-BE49-F238E27FC236}">
                <a16:creationId xmlns:a16="http://schemas.microsoft.com/office/drawing/2014/main" id="{A5CF693F-55BE-9BD1-4F21-42B36394E825}"/>
              </a:ext>
            </a:extLst>
          </p:cNvPr>
          <p:cNvSpPr>
            <a:spLocks noGrp="1"/>
          </p:cNvSpPr>
          <p:nvPr>
            <p:ph type="sldNum" sz="quarter" idx="5"/>
          </p:nvPr>
        </p:nvSpPr>
        <p:spPr/>
        <p:txBody>
          <a:bodyPr/>
          <a:lstStyle/>
          <a:p>
            <a:fld id="{2476C796-BAB8-4B04-BD32-E3AC4AD1DCA6}" type="slidenum">
              <a:rPr lang="LID4096" smtClean="0"/>
              <a:t>11</a:t>
            </a:fld>
            <a:endParaRPr lang="LID4096"/>
          </a:p>
        </p:txBody>
      </p:sp>
    </p:spTree>
    <p:extLst>
      <p:ext uri="{BB962C8B-B14F-4D97-AF65-F5344CB8AC3E}">
        <p14:creationId xmlns:p14="http://schemas.microsoft.com/office/powerpoint/2010/main" val="86621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 igenom koden. Någon som ser ett eventuellt problem med den? </a:t>
            </a:r>
          </a:p>
          <a:p>
            <a:endParaRPr lang="sv-SE"/>
          </a:p>
          <a:p>
            <a:r>
              <a:rPr lang="sv-SE"/>
              <a:t>Först allokerar vi minne för en bok på stacken.</a:t>
            </a:r>
          </a:p>
          <a:p>
            <a:r>
              <a:rPr lang="sv-SE"/>
              <a:t>Sedan lägger vi en kopia av den på stacken</a:t>
            </a:r>
          </a:p>
          <a:p>
            <a:r>
              <a:rPr lang="sv-SE"/>
              <a:t>Sedan lägger vi en ny kopia på stacken för att returna</a:t>
            </a:r>
          </a:p>
          <a:p>
            <a:r>
              <a:rPr lang="sv-SE"/>
              <a:t>och till slut kopierar vi den från stacken till ett nytt ställe på stacken som vi kallar processed book. </a:t>
            </a:r>
          </a:p>
          <a:p>
            <a:endParaRPr lang="sv-SE"/>
          </a:p>
          <a:p>
            <a:r>
              <a:rPr lang="sv-SE" i="1"/>
              <a:t>Egentligen behövde vi nog bara ha en bok i minnet?</a:t>
            </a:r>
            <a:endParaRPr lang="LID4096" i="1"/>
          </a:p>
        </p:txBody>
      </p:sp>
      <p:sp>
        <p:nvSpPr>
          <p:cNvPr id="4" name="Slide Number Placeholder 3"/>
          <p:cNvSpPr>
            <a:spLocks noGrp="1"/>
          </p:cNvSpPr>
          <p:nvPr>
            <p:ph type="sldNum" sz="quarter" idx="5"/>
          </p:nvPr>
        </p:nvSpPr>
        <p:spPr/>
        <p:txBody>
          <a:bodyPr/>
          <a:lstStyle/>
          <a:p>
            <a:fld id="{2476C796-BAB8-4B04-BD32-E3AC4AD1DCA6}" type="slidenum">
              <a:rPr lang="LID4096" smtClean="0"/>
              <a:t>13</a:t>
            </a:fld>
            <a:endParaRPr lang="LID4096"/>
          </a:p>
        </p:txBody>
      </p:sp>
    </p:spTree>
    <p:extLst>
      <p:ext uri="{BB962C8B-B14F-4D97-AF65-F5344CB8AC3E}">
        <p14:creationId xmlns:p14="http://schemas.microsoft.com/office/powerpoint/2010/main" val="15172157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33CEA-ACA8-3365-7828-C6E1C191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1C0171-6437-E159-4DD9-2B1E22A576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BA631B-AA7C-9F71-495D-9D589544BC5B}"/>
              </a:ext>
            </a:extLst>
          </p:cNvPr>
          <p:cNvSpPr>
            <a:spLocks noGrp="1"/>
          </p:cNvSpPr>
          <p:nvPr>
            <p:ph type="body" idx="1"/>
          </p:nvPr>
        </p:nvSpPr>
        <p:spPr/>
        <p:txBody>
          <a:bodyPr/>
          <a:lstStyle/>
          <a:p>
            <a:r>
              <a:rPr lang="sv-SE"/>
              <a:t>Istället kan vi göra så här. </a:t>
            </a:r>
          </a:p>
          <a:p>
            <a:r>
              <a:rPr lang="sv-SE"/>
              <a:t>Vi skapar boken på stacken en gång, sedan skickar vi en pekare till den, och processbook kan ändra direkt i minnet. </a:t>
            </a:r>
          </a:p>
          <a:p>
            <a:r>
              <a:rPr lang="en-GB"/>
              <a:t>&lt;click&gt;</a:t>
            </a:r>
          </a:p>
          <a:p>
            <a:r>
              <a:rPr lang="en-GB"/>
              <a:t>Pilnotation, g</a:t>
            </a:r>
            <a:r>
              <a:rPr lang="sv-SE"/>
              <a:t>å igenom första. </a:t>
            </a:r>
          </a:p>
          <a:p>
            <a:r>
              <a:rPr lang="sv-SE"/>
              <a:t>Visa att andra är snyggare och enklare och exakt samma sak. </a:t>
            </a:r>
            <a:endParaRPr lang="LID4096"/>
          </a:p>
        </p:txBody>
      </p:sp>
      <p:sp>
        <p:nvSpPr>
          <p:cNvPr id="4" name="Slide Number Placeholder 3">
            <a:extLst>
              <a:ext uri="{FF2B5EF4-FFF2-40B4-BE49-F238E27FC236}">
                <a16:creationId xmlns:a16="http://schemas.microsoft.com/office/drawing/2014/main" id="{77A117C0-8908-8EDC-CD55-FE1485AB91C2}"/>
              </a:ext>
            </a:extLst>
          </p:cNvPr>
          <p:cNvSpPr>
            <a:spLocks noGrp="1"/>
          </p:cNvSpPr>
          <p:nvPr>
            <p:ph type="sldNum" sz="quarter" idx="5"/>
          </p:nvPr>
        </p:nvSpPr>
        <p:spPr/>
        <p:txBody>
          <a:bodyPr/>
          <a:lstStyle/>
          <a:p>
            <a:fld id="{2476C796-BAB8-4B04-BD32-E3AC4AD1DCA6}" type="slidenum">
              <a:rPr lang="LID4096" smtClean="0"/>
              <a:t>14</a:t>
            </a:fld>
            <a:endParaRPr lang="LID4096"/>
          </a:p>
        </p:txBody>
      </p:sp>
    </p:spTree>
    <p:extLst>
      <p:ext uri="{BB962C8B-B14F-4D97-AF65-F5344CB8AC3E}">
        <p14:creationId xmlns:p14="http://schemas.microsoft.com/office/powerpoint/2010/main" val="23714448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Innan vi g</a:t>
            </a:r>
            <a:r>
              <a:rPr lang="sv-SE"/>
              <a:t>år in på lite mer avancerade saker om structs så skall vi ta ett litet exempel.</a:t>
            </a:r>
          </a:p>
          <a:p>
            <a:endParaRPr lang="sv-SE"/>
          </a:p>
          <a:p>
            <a:r>
              <a:rPr lang="sv-SE"/>
              <a:t>Och innan vi gör det så vill jag visa er hur en väldigt standard tentafråga brukar se ut. (fel maskin)</a:t>
            </a:r>
          </a:p>
          <a:p>
            <a:endParaRPr lang="sv-SE"/>
          </a:p>
          <a:p>
            <a:r>
              <a:rPr lang="sv-SE"/>
              <a:t>Kommer översätta åtminstone en tenta på semestern.</a:t>
            </a:r>
          </a:p>
          <a:p>
            <a:endParaRPr lang="sv-SE"/>
          </a:p>
          <a:p>
            <a:r>
              <a:rPr lang="sv-SE"/>
              <a:t>Kommer komma programmeringsövningar på det här inom några dagar.</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16</a:t>
            </a:fld>
            <a:endParaRPr lang="LID4096"/>
          </a:p>
        </p:txBody>
      </p:sp>
    </p:spTree>
    <p:extLst>
      <p:ext uri="{BB962C8B-B14F-4D97-AF65-F5344CB8AC3E}">
        <p14:creationId xmlns:p14="http://schemas.microsoft.com/office/powerpoint/2010/main" val="1203420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a:t>
            </a:r>
            <a:r>
              <a:rPr lang="sv-SE"/>
              <a:t>är har jag hittat på en struct som på något vis beskriver en fil. </a:t>
            </a:r>
          </a:p>
          <a:p>
            <a:r>
              <a:rPr lang="sv-SE"/>
              <a:t>Den här koden funkar, men är det någon som ser ett problem med den? </a:t>
            </a:r>
          </a:p>
          <a:p>
            <a:endParaRPr lang="sv-SE"/>
          </a:p>
          <a:p>
            <a:r>
              <a:rPr lang="sv-SE"/>
              <a:t>Storlek. Den här strukten blir fyra bytes, och egentligen behöver vi bara 1.</a:t>
            </a:r>
          </a:p>
          <a:p>
            <a:r>
              <a:rPr lang="en-GB"/>
              <a:t>&lt;click&gt;</a:t>
            </a:r>
          </a:p>
          <a:p>
            <a:endParaRPr lang="en-GB"/>
          </a:p>
          <a:p>
            <a:r>
              <a:rPr lang="en-GB"/>
              <a:t>Vi kan göra så här istället: </a:t>
            </a:r>
          </a:p>
          <a:p>
            <a:r>
              <a:rPr lang="en-GB"/>
              <a:t>Gå igenom. </a:t>
            </a:r>
          </a:p>
          <a:p>
            <a:r>
              <a:rPr lang="en-GB"/>
              <a:t>Men det är ju betydligt svårlästare...</a:t>
            </a:r>
          </a:p>
          <a:p>
            <a:endParaRPr lang="en-GB"/>
          </a:p>
          <a:p>
            <a:r>
              <a:rPr lang="en-GB"/>
              <a:t>&lt;click&gt;</a:t>
            </a:r>
          </a:p>
          <a:p>
            <a:r>
              <a:rPr lang="en-GB"/>
              <a:t>C l</a:t>
            </a:r>
            <a:r>
              <a:rPr lang="sv-SE"/>
              <a:t>åter oss göra så här istället. </a:t>
            </a:r>
          </a:p>
          <a:p>
            <a:r>
              <a:rPr lang="sv-SE"/>
              <a:t>Nu tar FileInfo bara upp en byte, och kompilatorn fixar allt bitfifflande åt oss!</a:t>
            </a:r>
          </a:p>
          <a:p>
            <a:endParaRPr lang="en-GB"/>
          </a:p>
          <a:p>
            <a:endParaRPr lang="en-GB"/>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13574528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
            </a:r>
            <a:r>
              <a:rPr lang="sv-SE" dirty="0"/>
              <a:t>å igenom de viktigaste </a:t>
            </a:r>
            <a:r>
              <a:rPr lang="sv-SE" dirty="0" err="1"/>
              <a:t>registrena</a:t>
            </a:r>
            <a:r>
              <a:rPr lang="sv-SE" dirty="0"/>
              <a:t>, men gör klart att dom inte egentligen behöver lära sig detta idag, utan att det handlar om </a:t>
            </a:r>
            <a:r>
              <a:rPr lang="sv-SE" dirty="0" err="1"/>
              <a:t>structures</a:t>
            </a:r>
            <a:r>
              <a:rPr lang="sv-SE" dirty="0"/>
              <a:t> än så länge. </a:t>
            </a:r>
          </a:p>
          <a:p>
            <a:endParaRPr lang="sv-SE" dirty="0"/>
          </a:p>
          <a:p>
            <a:r>
              <a:rPr lang="sv-SE" dirty="0"/>
              <a:t>Förklara ändå 16 bitar och </a:t>
            </a:r>
            <a:r>
              <a:rPr lang="sv-SE" dirty="0" err="1"/>
              <a:t>prescaler</a:t>
            </a:r>
            <a:endParaRPr lang="sv-SE" dirty="0"/>
          </a:p>
          <a:p>
            <a:endParaRPr lang="sv-SE" dirty="0"/>
          </a:p>
          <a:p>
            <a:r>
              <a:rPr lang="en-US" dirty="0"/>
              <a:t>&lt;click&gt;</a:t>
            </a:r>
          </a:p>
          <a:p>
            <a:endParaRPr lang="en-US" dirty="0"/>
          </a:p>
          <a:p>
            <a:r>
              <a:rPr lang="en-US" dirty="0"/>
              <a:t>Vi </a:t>
            </a:r>
            <a:r>
              <a:rPr lang="en-US" dirty="0" err="1"/>
              <a:t>har</a:t>
            </a:r>
            <a:r>
              <a:rPr lang="en-US" dirty="0"/>
              <a:t> l</a:t>
            </a:r>
            <a:r>
              <a:rPr lang="sv-SE" dirty="0"/>
              <a:t>ärt oss hur man kan skriva till dessa register, och har tidigare gjort så här. </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3820931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Skulle</a:t>
            </a:r>
            <a:r>
              <a:rPr lang="en-GB" dirty="0"/>
              <a:t> det </a:t>
            </a:r>
            <a:r>
              <a:rPr lang="en-GB" dirty="0" err="1"/>
              <a:t>här</a:t>
            </a:r>
            <a:r>
              <a:rPr lang="en-GB" dirty="0"/>
              <a:t> </a:t>
            </a:r>
            <a:r>
              <a:rPr lang="en-GB" dirty="0" err="1"/>
              <a:t>kunna</a:t>
            </a:r>
            <a:r>
              <a:rPr lang="en-GB" dirty="0"/>
              <a:t> </a:t>
            </a:r>
            <a:r>
              <a:rPr lang="en-GB" dirty="0" err="1"/>
              <a:t>funka</a:t>
            </a:r>
            <a:r>
              <a:rPr lang="en-GB" dirty="0"/>
              <a:t>? </a:t>
            </a:r>
          </a:p>
          <a:p>
            <a:endParaRPr lang="en-GB" dirty="0"/>
          </a:p>
          <a:p>
            <a:r>
              <a:rPr lang="en-GB" b="1" dirty="0" err="1"/>
              <a:t>Gå</a:t>
            </a:r>
            <a:r>
              <a:rPr lang="en-GB" b="1" dirty="0"/>
              <a:t> </a:t>
            </a:r>
            <a:r>
              <a:rPr lang="en-GB" b="1" dirty="0" err="1"/>
              <a:t>igenom</a:t>
            </a:r>
            <a:r>
              <a:rPr lang="en-GB" b="1" dirty="0"/>
              <a:t> </a:t>
            </a:r>
            <a:r>
              <a:rPr lang="en-GB" b="1" dirty="0" err="1"/>
              <a:t>hur</a:t>
            </a:r>
            <a:r>
              <a:rPr lang="en-GB" b="1" dirty="0"/>
              <a:t> </a:t>
            </a:r>
            <a:r>
              <a:rPr lang="en-GB" b="1" dirty="0" err="1"/>
              <a:t>kompilatorn</a:t>
            </a:r>
            <a:r>
              <a:rPr lang="en-GB" b="1" dirty="0"/>
              <a:t> </a:t>
            </a:r>
            <a:r>
              <a:rPr lang="en-GB" b="1" dirty="0" err="1"/>
              <a:t>räknar</a:t>
            </a:r>
            <a:r>
              <a:rPr lang="en-GB" b="1" dirty="0"/>
              <a:t> </a:t>
            </a:r>
            <a:r>
              <a:rPr lang="en-GB" b="1" dirty="0" err="1"/>
              <a:t>ut</a:t>
            </a:r>
            <a:r>
              <a:rPr lang="en-GB" b="1" dirty="0"/>
              <a:t> </a:t>
            </a:r>
            <a:r>
              <a:rPr lang="en-GB" b="1" dirty="0" err="1"/>
              <a:t>addressen</a:t>
            </a:r>
            <a:r>
              <a:rPr lang="en-GB" b="1" dirty="0"/>
              <a:t> till CTRL2.</a:t>
            </a:r>
            <a:r>
              <a:rPr lang="en-GB" b="0" dirty="0"/>
              <a:t> Vi </a:t>
            </a:r>
            <a:r>
              <a:rPr lang="en-GB" b="0" dirty="0" err="1"/>
              <a:t>lurar</a:t>
            </a:r>
            <a:r>
              <a:rPr lang="en-GB" b="0" dirty="0"/>
              <a:t> </a:t>
            </a:r>
            <a:r>
              <a:rPr lang="en-GB" b="0" dirty="0" err="1"/>
              <a:t>kompilatorn</a:t>
            </a:r>
            <a:r>
              <a:rPr lang="en-GB" b="0" dirty="0"/>
              <a:t> </a:t>
            </a:r>
            <a:r>
              <a:rPr lang="en-GB" b="0" dirty="0" err="1"/>
              <a:t>att</a:t>
            </a:r>
            <a:r>
              <a:rPr lang="en-GB" b="0" dirty="0"/>
              <a:t> </a:t>
            </a:r>
            <a:r>
              <a:rPr lang="en-GB" b="0" dirty="0" err="1"/>
              <a:t>göra</a:t>
            </a:r>
            <a:r>
              <a:rPr lang="en-GB" b="0" dirty="0"/>
              <a:t> </a:t>
            </a:r>
            <a:r>
              <a:rPr lang="en-GB" b="0" dirty="0" err="1"/>
              <a:t>addressräknandet</a:t>
            </a:r>
            <a:r>
              <a:rPr lang="en-GB" b="0" dirty="0"/>
              <a:t> </a:t>
            </a:r>
            <a:r>
              <a:rPr lang="en-GB" b="0" dirty="0" err="1"/>
              <a:t>åt</a:t>
            </a:r>
            <a:r>
              <a:rPr lang="en-GB" b="0" dirty="0"/>
              <a:t> </a:t>
            </a:r>
            <a:r>
              <a:rPr lang="en-GB" b="0" dirty="0" err="1"/>
              <a:t>oss</a:t>
            </a:r>
            <a:r>
              <a:rPr lang="en-GB" b="0" dirty="0"/>
              <a:t>!</a:t>
            </a:r>
            <a:endParaRPr lang="en-GB" b="1" dirty="0"/>
          </a:p>
          <a:p>
            <a:endParaRPr lang="en-GB" dirty="0"/>
          </a:p>
          <a:p>
            <a:r>
              <a:rPr lang="en-GB" dirty="0"/>
              <a:t>men...</a:t>
            </a:r>
          </a:p>
          <a:p>
            <a:endParaRPr lang="en-GB" dirty="0"/>
          </a:p>
          <a:p>
            <a:r>
              <a:rPr lang="en-US" dirty="0"/>
              <a:t>&lt;click&gt; </a:t>
            </a:r>
          </a:p>
          <a:p>
            <a:endParaRPr lang="en-US" dirty="0"/>
          </a:p>
          <a:p>
            <a:r>
              <a:rPr lang="en-US" dirty="0"/>
              <a:t>NAJ!! Kolla!</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42213422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8B710-F8F8-C225-A2EA-08177AAD3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0D16C-3342-D969-A867-50FC6E340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038AA4-90B7-7BC9-1E5F-867243771935}"/>
              </a:ext>
            </a:extLst>
          </p:cNvPr>
          <p:cNvSpPr>
            <a:spLocks noGrp="1"/>
          </p:cNvSpPr>
          <p:nvPr>
            <p:ph type="body" idx="1"/>
          </p:nvPr>
        </p:nvSpPr>
        <p:spPr/>
        <p:txBody>
          <a:bodyPr/>
          <a:lstStyle/>
          <a:p>
            <a:r>
              <a:rPr lang="en-US" dirty="0"/>
              <a:t>Okay, </a:t>
            </a:r>
            <a:r>
              <a:rPr lang="en-US" dirty="0" err="1"/>
              <a:t>skulle</a:t>
            </a:r>
            <a:r>
              <a:rPr lang="en-US" dirty="0"/>
              <a:t> det h</a:t>
            </a:r>
            <a:r>
              <a:rPr lang="sv-SE" dirty="0"/>
              <a:t>är kunna funka? </a:t>
            </a:r>
          </a:p>
          <a:p>
            <a:endParaRPr lang="sv-SE" dirty="0"/>
          </a:p>
          <a:p>
            <a:r>
              <a:rPr lang="sv-SE" dirty="0"/>
              <a:t>Japp, det funkar på hårdvaran, men lite av en slump.</a:t>
            </a:r>
          </a:p>
          <a:p>
            <a:r>
              <a:rPr lang="sv-SE" dirty="0" err="1"/>
              <a:t>Registrena</a:t>
            </a:r>
            <a:r>
              <a:rPr lang="sv-SE" dirty="0"/>
              <a:t> är ju 16 bitar stora, så vi kan inte vara säkra från specifikationen att det här är okay. </a:t>
            </a:r>
          </a:p>
        </p:txBody>
      </p:sp>
      <p:sp>
        <p:nvSpPr>
          <p:cNvPr id="4" name="Slide Number Placeholder 3">
            <a:extLst>
              <a:ext uri="{FF2B5EF4-FFF2-40B4-BE49-F238E27FC236}">
                <a16:creationId xmlns:a16="http://schemas.microsoft.com/office/drawing/2014/main" id="{3CB47793-85A9-FD0C-FC03-00ED6AEEEEFE}"/>
              </a:ext>
            </a:extLst>
          </p:cNvPr>
          <p:cNvSpPr>
            <a:spLocks noGrp="1"/>
          </p:cNvSpPr>
          <p:nvPr>
            <p:ph type="sldNum" sz="quarter" idx="5"/>
          </p:nvPr>
        </p:nvSpPr>
        <p:spPr/>
        <p:txBody>
          <a:bodyPr/>
          <a:lstStyle/>
          <a:p>
            <a:fld id="{01B4E41B-EE32-43AA-BF26-21D12108C66F}" type="slidenum">
              <a:rPr lang="LID4096" smtClean="0"/>
              <a:t>24</a:t>
            </a:fld>
            <a:endParaRPr lang="LID4096"/>
          </a:p>
        </p:txBody>
      </p:sp>
    </p:spTree>
    <p:extLst>
      <p:ext uri="{BB962C8B-B14F-4D97-AF65-F5344CB8AC3E}">
        <p14:creationId xmlns:p14="http://schemas.microsoft.com/office/powerpoint/2010/main" val="4919165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F747-C254-558E-F249-7A3B307430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EF217-FD3E-6EEB-BC00-AF21DF17B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8065B-B6F6-66F7-D4EB-195DBBF4C79B}"/>
              </a:ext>
            </a:extLst>
          </p:cNvPr>
          <p:cNvSpPr>
            <a:spLocks noGrp="1"/>
          </p:cNvSpPr>
          <p:nvPr>
            <p:ph type="body" idx="1"/>
          </p:nvPr>
        </p:nvSpPr>
        <p:spPr/>
        <p:txBody>
          <a:bodyPr/>
          <a:lstStyle/>
          <a:p>
            <a:r>
              <a:rPr lang="sv-SE" dirty="0"/>
              <a:t>Kan vi bara göra så här? </a:t>
            </a:r>
          </a:p>
          <a:p>
            <a:endParaRPr lang="sv-SE" dirty="0"/>
          </a:p>
          <a:p>
            <a:r>
              <a:rPr lang="sv-SE" dirty="0"/>
              <a:t>NAJ! </a:t>
            </a:r>
          </a:p>
          <a:p>
            <a:r>
              <a:rPr lang="en-US" dirty="0"/>
              <a:t>&lt;click&gt;</a:t>
            </a:r>
          </a:p>
          <a:p>
            <a:endParaRPr lang="sv-SE" dirty="0"/>
          </a:p>
          <a:p>
            <a:r>
              <a:rPr lang="sv-SE" dirty="0"/>
              <a:t>Nu hamnar ju CTLR2 på helt fel ställe och resten också!</a:t>
            </a:r>
          </a:p>
        </p:txBody>
      </p:sp>
      <p:sp>
        <p:nvSpPr>
          <p:cNvPr id="4" name="Slide Number Placeholder 3">
            <a:extLst>
              <a:ext uri="{FF2B5EF4-FFF2-40B4-BE49-F238E27FC236}">
                <a16:creationId xmlns:a16="http://schemas.microsoft.com/office/drawing/2014/main" id="{2DB85FCB-7DB6-08C6-6837-2A9850719313}"/>
              </a:ext>
            </a:extLst>
          </p:cNvPr>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1886676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9059E-5493-FAB1-CF99-D401E9D90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B91C9-E56A-759F-B09B-31262583CD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94681D-8B6C-6D31-E487-E2052227B9ED}"/>
              </a:ext>
            </a:extLst>
          </p:cNvPr>
          <p:cNvSpPr>
            <a:spLocks noGrp="1"/>
          </p:cNvSpPr>
          <p:nvPr>
            <p:ph type="body" idx="1"/>
          </p:nvPr>
        </p:nvSpPr>
        <p:spPr/>
        <p:txBody>
          <a:bodyPr/>
          <a:lstStyle/>
          <a:p>
            <a:r>
              <a:rPr lang="sv-SE" dirty="0"/>
              <a:t>Kan vi bara göra så här? </a:t>
            </a:r>
          </a:p>
          <a:p>
            <a:endParaRPr lang="sv-SE" dirty="0"/>
          </a:p>
          <a:p>
            <a:r>
              <a:rPr lang="sv-SE" dirty="0"/>
              <a:t>NAJ! </a:t>
            </a:r>
          </a:p>
          <a:p>
            <a:r>
              <a:rPr lang="en-US" dirty="0"/>
              <a:t>&lt;click&gt;</a:t>
            </a:r>
          </a:p>
          <a:p>
            <a:endParaRPr lang="sv-SE" dirty="0"/>
          </a:p>
          <a:p>
            <a:r>
              <a:rPr lang="sv-SE" dirty="0"/>
              <a:t>Nu hamnar ju CTLR2 på helt fel ställe och resten också!</a:t>
            </a:r>
          </a:p>
        </p:txBody>
      </p:sp>
      <p:sp>
        <p:nvSpPr>
          <p:cNvPr id="4" name="Slide Number Placeholder 3">
            <a:extLst>
              <a:ext uri="{FF2B5EF4-FFF2-40B4-BE49-F238E27FC236}">
                <a16:creationId xmlns:a16="http://schemas.microsoft.com/office/drawing/2014/main" id="{8AF1F7C9-B9CF-DE71-A4A3-51D85607E1A6}"/>
              </a:ext>
            </a:extLst>
          </p:cNvPr>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12712195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79512-9CEB-3F61-1541-98744544E1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A9A93-1FD8-092C-6652-EFCC59F50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55BCDC-4A7A-A8AD-BF27-0A0919C38C77}"/>
              </a:ext>
            </a:extLst>
          </p:cNvPr>
          <p:cNvSpPr>
            <a:spLocks noGrp="1"/>
          </p:cNvSpPr>
          <p:nvPr>
            <p:ph type="body" idx="1"/>
          </p:nvPr>
        </p:nvSpPr>
        <p:spPr/>
        <p:txBody>
          <a:bodyPr/>
          <a:lstStyle/>
          <a:p>
            <a:r>
              <a:rPr lang="sv-SE" dirty="0"/>
              <a:t>Nu då!?</a:t>
            </a:r>
          </a:p>
          <a:p>
            <a:endParaRPr lang="sv-SE" dirty="0"/>
          </a:p>
          <a:p>
            <a:r>
              <a:rPr lang="sv-SE" dirty="0"/>
              <a:t>Japp! Nu har vi korrekt </a:t>
            </a:r>
            <a:r>
              <a:rPr lang="sv-SE" dirty="0" err="1"/>
              <a:t>mappat</a:t>
            </a:r>
            <a:r>
              <a:rPr lang="sv-SE" dirty="0"/>
              <a:t> alla uint16_t till rätt register. </a:t>
            </a:r>
          </a:p>
          <a:p>
            <a:r>
              <a:rPr lang="sv-SE" dirty="0"/>
              <a:t>Då kan vi använda timern så här. Mycket elegant!</a:t>
            </a:r>
          </a:p>
        </p:txBody>
      </p:sp>
      <p:sp>
        <p:nvSpPr>
          <p:cNvPr id="4" name="Slide Number Placeholder 3">
            <a:extLst>
              <a:ext uri="{FF2B5EF4-FFF2-40B4-BE49-F238E27FC236}">
                <a16:creationId xmlns:a16="http://schemas.microsoft.com/office/drawing/2014/main" id="{6E28340D-6E6A-8F33-707D-60AE05657CE7}"/>
              </a:ext>
            </a:extLst>
          </p:cNvPr>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41205329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Men, vi kan göra det ännu elegantare. </a:t>
            </a:r>
          </a:p>
          <a:p>
            <a:r>
              <a:rPr lang="en-US" dirty="0"/>
              <a:t>CTLR1 </a:t>
            </a:r>
            <a:r>
              <a:rPr lang="en-US" dirty="0" err="1"/>
              <a:t>registret</a:t>
            </a:r>
            <a:r>
              <a:rPr lang="en-US" dirty="0"/>
              <a:t> </a:t>
            </a:r>
            <a:r>
              <a:rPr lang="en-US" dirty="0" err="1"/>
              <a:t>har</a:t>
            </a:r>
            <a:r>
              <a:rPr lang="en-US" dirty="0"/>
              <a:t> </a:t>
            </a:r>
            <a:r>
              <a:rPr lang="en-US" dirty="0" err="1"/>
              <a:t>dom</a:t>
            </a:r>
            <a:r>
              <a:rPr lang="en-US" dirty="0"/>
              <a:t> h</a:t>
            </a:r>
            <a:r>
              <a:rPr lang="sv-SE" dirty="0"/>
              <a:t>är individuella bitarna som vi kan vilja sätta. </a:t>
            </a:r>
          </a:p>
          <a:p>
            <a:r>
              <a:rPr lang="en-US" dirty="0"/>
              <a:t>&lt;click&gt; </a:t>
            </a:r>
          </a:p>
          <a:p>
            <a:r>
              <a:rPr lang="en-US" dirty="0" err="1"/>
              <a:t>Tidigare</a:t>
            </a:r>
            <a:r>
              <a:rPr lang="en-US" dirty="0"/>
              <a:t> </a:t>
            </a:r>
            <a:r>
              <a:rPr lang="en-US" dirty="0" err="1"/>
              <a:t>har</a:t>
            </a:r>
            <a:r>
              <a:rPr lang="en-US" dirty="0"/>
              <a:t> vi </a:t>
            </a:r>
            <a:r>
              <a:rPr lang="en-US" dirty="0" err="1"/>
              <a:t>gjort</a:t>
            </a:r>
            <a:r>
              <a:rPr lang="en-US" dirty="0"/>
              <a:t> det s</a:t>
            </a:r>
            <a:r>
              <a:rPr lang="sv-SE" dirty="0"/>
              <a:t>å här</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25564793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Varför inte</a:t>
            </a:r>
          </a:p>
          <a:p>
            <a:r>
              <a:rPr lang="en-US" dirty="0"/>
              <a:t>&lt;click&gt;</a:t>
            </a:r>
          </a:p>
          <a:p>
            <a:r>
              <a:rPr lang="en-US" dirty="0" err="1"/>
              <a:t>skapa</a:t>
            </a:r>
            <a:r>
              <a:rPr lang="en-US" dirty="0"/>
              <a:t> </a:t>
            </a:r>
            <a:r>
              <a:rPr lang="en-US" dirty="0" err="1"/>
              <a:t>en</a:t>
            </a:r>
            <a:r>
              <a:rPr lang="en-US" dirty="0"/>
              <a:t> struct </a:t>
            </a:r>
            <a:r>
              <a:rPr lang="en-US" dirty="0" err="1"/>
              <a:t>som</a:t>
            </a:r>
            <a:r>
              <a:rPr lang="en-US" dirty="0"/>
              <a:t> </a:t>
            </a:r>
            <a:r>
              <a:rPr lang="en-US" dirty="0" err="1"/>
              <a:t>beskriver</a:t>
            </a:r>
            <a:r>
              <a:rPr lang="en-US" dirty="0"/>
              <a:t> det h</a:t>
            </a:r>
            <a:r>
              <a:rPr lang="sv-SE" dirty="0"/>
              <a:t>ä</a:t>
            </a:r>
            <a:r>
              <a:rPr lang="en-US" dirty="0"/>
              <a:t>r </a:t>
            </a:r>
            <a:r>
              <a:rPr lang="en-US" dirty="0" err="1"/>
              <a:t>registret</a:t>
            </a:r>
            <a:r>
              <a:rPr lang="en-US" dirty="0"/>
              <a:t> med bitfields? </a:t>
            </a:r>
          </a:p>
          <a:p>
            <a:r>
              <a:rPr lang="en-US" dirty="0"/>
              <a:t>&lt;click&gt;</a:t>
            </a:r>
          </a:p>
          <a:p>
            <a:r>
              <a:rPr lang="en-US" dirty="0"/>
              <a:t>l</a:t>
            </a:r>
            <a:r>
              <a:rPr lang="sv-SE" dirty="0" err="1"/>
              <a:t>ägga</a:t>
            </a:r>
            <a:r>
              <a:rPr lang="sv-SE" dirty="0"/>
              <a:t> en sådan istället för vår uint16 i vår TIMER </a:t>
            </a:r>
            <a:r>
              <a:rPr lang="sv-SE" dirty="0" err="1"/>
              <a:t>struct</a:t>
            </a:r>
            <a:endParaRPr lang="sv-SE" dirty="0"/>
          </a:p>
          <a:p>
            <a:r>
              <a:rPr lang="sv-SE" dirty="0"/>
              <a:t>&lt;</a:t>
            </a:r>
            <a:r>
              <a:rPr lang="sv-SE" dirty="0" err="1"/>
              <a:t>click</a:t>
            </a:r>
            <a:r>
              <a:rPr lang="sv-SE" dirty="0"/>
              <a:t>&gt;</a:t>
            </a:r>
          </a:p>
          <a:p>
            <a:r>
              <a:rPr lang="sv-SE" dirty="0"/>
              <a:t>och sätta flaggorna så här tjusigt, i </a:t>
            </a:r>
            <a:r>
              <a:rPr lang="sv-SE" dirty="0" err="1"/>
              <a:t>main</a:t>
            </a:r>
            <a:r>
              <a:rPr lang="sv-SE" dirty="0"/>
              <a:t> koden? </a:t>
            </a:r>
          </a:p>
          <a:p>
            <a:endParaRPr lang="sv-SE" dirty="0"/>
          </a:p>
          <a:p>
            <a:endParaRPr lang="sv-SE" dirty="0"/>
          </a:p>
          <a:p>
            <a:r>
              <a:rPr lang="sv-SE" dirty="0"/>
              <a:t>Ja, VARFÖR INTE? </a:t>
            </a:r>
          </a:p>
          <a:p>
            <a:r>
              <a:rPr lang="sv-SE" dirty="0"/>
              <a:t>Båda raderna blir läs registret, sätt en bit, skriv tillbaka. </a:t>
            </a:r>
          </a:p>
          <a:p>
            <a:endParaRPr lang="sv-SE" dirty="0"/>
          </a:p>
          <a:p>
            <a:r>
              <a:rPr lang="sv-SE" dirty="0"/>
              <a:t>Ibland spelar det ingen roll, ibland är det väldigt långsamt gentemot att bara göra en skrivning. </a:t>
            </a:r>
          </a:p>
          <a:p>
            <a:endParaRPr lang="sv-SE" dirty="0"/>
          </a:p>
          <a:p>
            <a:r>
              <a:rPr lang="sv-SE" dirty="0"/>
              <a:t>Så.... egentligen skulle vi ju vilja kunna göra på båda visen. Hur löser vi det? </a:t>
            </a:r>
          </a:p>
          <a:p>
            <a:endParaRPr lang="sv-SE" dirty="0"/>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404384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A8153-748F-D321-F06A-3BC64B680E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4E7020-4AB5-B56F-43CD-98D5FB54FC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A4AD2-16BA-A908-E597-4B520D72D329}"/>
              </a:ext>
            </a:extLst>
          </p:cNvPr>
          <p:cNvSpPr>
            <a:spLocks noGrp="1"/>
          </p:cNvSpPr>
          <p:nvPr>
            <p:ph type="body" idx="1"/>
          </p:nvPr>
        </p:nvSpPr>
        <p:spPr/>
        <p:txBody>
          <a:bodyPr/>
          <a:lstStyle/>
          <a:p>
            <a:r>
              <a:rPr lang="sv-SE" dirty="0"/>
              <a:t>Ja, vi kan ju det!</a:t>
            </a:r>
          </a:p>
          <a:p>
            <a:endParaRPr lang="sv-SE" dirty="0"/>
          </a:p>
          <a:p>
            <a:r>
              <a:rPr lang="sv-SE" dirty="0"/>
              <a:t>Vi gör en union så att vi kan </a:t>
            </a:r>
            <a:r>
              <a:rPr lang="sv-SE" dirty="0" err="1"/>
              <a:t>accessa</a:t>
            </a:r>
            <a:r>
              <a:rPr lang="sv-SE" dirty="0"/>
              <a:t> den på båda visen!</a:t>
            </a:r>
          </a:p>
          <a:p>
            <a:endParaRPr lang="sv-SE" dirty="0"/>
          </a:p>
          <a:p>
            <a:endParaRPr lang="LID4096" dirty="0"/>
          </a:p>
        </p:txBody>
      </p:sp>
      <p:sp>
        <p:nvSpPr>
          <p:cNvPr id="4" name="Slide Number Placeholder 3">
            <a:extLst>
              <a:ext uri="{FF2B5EF4-FFF2-40B4-BE49-F238E27FC236}">
                <a16:creationId xmlns:a16="http://schemas.microsoft.com/office/drawing/2014/main" id="{83F450AC-BC0F-DB4E-B009-F214A7E8B135}"/>
              </a:ext>
            </a:extLst>
          </p:cNvPr>
          <p:cNvSpPr>
            <a:spLocks noGrp="1"/>
          </p:cNvSpPr>
          <p:nvPr>
            <p:ph type="sldNum" sz="quarter" idx="5"/>
          </p:nvPr>
        </p:nvSpPr>
        <p:spPr/>
        <p:txBody>
          <a:bodyPr/>
          <a:lstStyle/>
          <a:p>
            <a:fld id="{01B4E41B-EE32-43AA-BF26-21D12108C66F}" type="slidenum">
              <a:rPr lang="LID4096" smtClean="0"/>
              <a:t>31</a:t>
            </a:fld>
            <a:endParaRPr lang="LID4096"/>
          </a:p>
        </p:txBody>
      </p:sp>
    </p:spTree>
    <p:extLst>
      <p:ext uri="{BB962C8B-B14F-4D97-AF65-F5344CB8AC3E}">
        <p14:creationId xmlns:p14="http://schemas.microsoft.com/office/powerpoint/2010/main" val="24328606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224668-B732-F6E4-82FD-48279E8CE7C6}"/>
              </a:ext>
            </a:extLst>
          </p:cNvPr>
          <p:cNvSpPr>
            <a:spLocks noGrp="1" noRot="1" noMove="1" noResize="1" noEditPoints="1" noAdjustHandles="1" noChangeArrowheads="1" noChangeShapeType="1"/>
          </p:cNvSpPr>
          <p:nvPr userDrawn="1"/>
        </p:nvSpPr>
        <p:spPr>
          <a:xfrm>
            <a:off x="0" y="1690688"/>
            <a:ext cx="12192000" cy="516731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997508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
        <p:nvSpPr>
          <p:cNvPr id="8" name="Text Placeholder 7">
            <a:extLst>
              <a:ext uri="{FF2B5EF4-FFF2-40B4-BE49-F238E27FC236}">
                <a16:creationId xmlns:a16="http://schemas.microsoft.com/office/drawing/2014/main" id="{B2D43F1B-5C31-8357-7C5B-028155F6D017}"/>
              </a:ext>
            </a:extLst>
          </p:cNvPr>
          <p:cNvSpPr>
            <a:spLocks noGrp="1"/>
          </p:cNvSpPr>
          <p:nvPr>
            <p:ph type="body" sz="quarter" idx="13"/>
          </p:nvPr>
        </p:nvSpPr>
        <p:spPr>
          <a:xfrm>
            <a:off x="801688" y="1333500"/>
            <a:ext cx="10552112" cy="4702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41578348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Tree>
    <p:extLst>
      <p:ext uri="{BB962C8B-B14F-4D97-AF65-F5344CB8AC3E}">
        <p14:creationId xmlns:p14="http://schemas.microsoft.com/office/powerpoint/2010/main" val="1134523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02/10/2026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2" r:id="rId14"/>
    <p:sldLayoutId id="214748366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7276E-9F85-B144-AA57-AFF07C74E913}"/>
              </a:ext>
            </a:extLst>
          </p:cNvPr>
          <p:cNvSpPr>
            <a:spLocks noGrp="1"/>
          </p:cNvSpPr>
          <p:nvPr>
            <p:ph type="title"/>
          </p:nvPr>
        </p:nvSpPr>
        <p:spPr/>
        <p:txBody>
          <a:bodyPr/>
          <a:lstStyle/>
          <a:p>
            <a:r>
              <a:rPr lang="sv-SE"/>
              <a:t>Tråkigt att vänta på att lektionen skall börja?</a:t>
            </a:r>
            <a:endParaRPr lang="LID4096"/>
          </a:p>
        </p:txBody>
      </p:sp>
      <p:pic>
        <p:nvPicPr>
          <p:cNvPr id="5" name="Picture 4">
            <a:extLst>
              <a:ext uri="{FF2B5EF4-FFF2-40B4-BE49-F238E27FC236}">
                <a16:creationId xmlns:a16="http://schemas.microsoft.com/office/drawing/2014/main" id="{A06277A2-55DC-F3EF-D81C-BFD63651F523}"/>
              </a:ext>
            </a:extLst>
          </p:cNvPr>
          <p:cNvPicPr>
            <a:picLocks noChangeAspect="1"/>
          </p:cNvPicPr>
          <p:nvPr/>
        </p:nvPicPr>
        <p:blipFill>
          <a:blip r:embed="rId2"/>
          <a:stretch>
            <a:fillRect/>
          </a:stretch>
        </p:blipFill>
        <p:spPr>
          <a:xfrm>
            <a:off x="113465" y="2228682"/>
            <a:ext cx="11965070" cy="2400635"/>
          </a:xfrm>
          <a:prstGeom prst="rect">
            <a:avLst/>
          </a:prstGeom>
        </p:spPr>
      </p:pic>
      <p:sp>
        <p:nvSpPr>
          <p:cNvPr id="6" name="Rectangle: Rounded Corners 5">
            <a:extLst>
              <a:ext uri="{FF2B5EF4-FFF2-40B4-BE49-F238E27FC236}">
                <a16:creationId xmlns:a16="http://schemas.microsoft.com/office/drawing/2014/main" id="{82E5E4A7-1573-2138-49BD-9210007CA9BB}"/>
              </a:ext>
            </a:extLst>
          </p:cNvPr>
          <p:cNvSpPr/>
          <p:nvPr/>
        </p:nvSpPr>
        <p:spPr>
          <a:xfrm>
            <a:off x="489473" y="3700631"/>
            <a:ext cx="11236362" cy="720762"/>
          </a:xfrm>
          <a:custGeom>
            <a:avLst/>
            <a:gdLst>
              <a:gd name="csX0" fmla="*/ 0 w 11236362"/>
              <a:gd name="csY0" fmla="*/ 120129 h 720762"/>
              <a:gd name="csX1" fmla="*/ 120129 w 11236362"/>
              <a:gd name="csY1" fmla="*/ 0 h 720762"/>
              <a:gd name="csX2" fmla="*/ 1027308 w 11236362"/>
              <a:gd name="csY2" fmla="*/ 0 h 720762"/>
              <a:gd name="csX3" fmla="*/ 1604603 w 11236362"/>
              <a:gd name="csY3" fmla="*/ 0 h 720762"/>
              <a:gd name="csX4" fmla="*/ 2071937 w 11236362"/>
              <a:gd name="csY4" fmla="*/ 0 h 720762"/>
              <a:gd name="csX5" fmla="*/ 2869155 w 11236362"/>
              <a:gd name="csY5" fmla="*/ 0 h 720762"/>
              <a:gd name="csX6" fmla="*/ 3446450 w 11236362"/>
              <a:gd name="csY6" fmla="*/ 0 h 720762"/>
              <a:gd name="csX7" fmla="*/ 4353629 w 11236362"/>
              <a:gd name="csY7" fmla="*/ 0 h 720762"/>
              <a:gd name="csX8" fmla="*/ 4820963 w 11236362"/>
              <a:gd name="csY8" fmla="*/ 0 h 720762"/>
              <a:gd name="csX9" fmla="*/ 5728142 w 11236362"/>
              <a:gd name="csY9" fmla="*/ 0 h 720762"/>
              <a:gd name="csX10" fmla="*/ 6085515 w 11236362"/>
              <a:gd name="csY10" fmla="*/ 0 h 720762"/>
              <a:gd name="csX11" fmla="*/ 6772772 w 11236362"/>
              <a:gd name="csY11" fmla="*/ 0 h 720762"/>
              <a:gd name="csX12" fmla="*/ 7460028 w 11236362"/>
              <a:gd name="csY12" fmla="*/ 0 h 720762"/>
              <a:gd name="csX13" fmla="*/ 8037324 w 11236362"/>
              <a:gd name="csY13" fmla="*/ 0 h 720762"/>
              <a:gd name="csX14" fmla="*/ 8944502 w 11236362"/>
              <a:gd name="csY14" fmla="*/ 0 h 720762"/>
              <a:gd name="csX15" fmla="*/ 9851681 w 11236362"/>
              <a:gd name="csY15" fmla="*/ 0 h 720762"/>
              <a:gd name="csX16" fmla="*/ 10319015 w 11236362"/>
              <a:gd name="csY16" fmla="*/ 0 h 720762"/>
              <a:gd name="csX17" fmla="*/ 11116233 w 11236362"/>
              <a:gd name="csY17" fmla="*/ 0 h 720762"/>
              <a:gd name="csX18" fmla="*/ 11236362 w 11236362"/>
              <a:gd name="csY18" fmla="*/ 120129 h 720762"/>
              <a:gd name="csX19" fmla="*/ 11236362 w 11236362"/>
              <a:gd name="csY19" fmla="*/ 600633 h 720762"/>
              <a:gd name="csX20" fmla="*/ 11116233 w 11236362"/>
              <a:gd name="csY20" fmla="*/ 720762 h 720762"/>
              <a:gd name="csX21" fmla="*/ 10319015 w 11236362"/>
              <a:gd name="csY21" fmla="*/ 720762 h 720762"/>
              <a:gd name="csX22" fmla="*/ 9851681 w 11236362"/>
              <a:gd name="csY22" fmla="*/ 720762 h 720762"/>
              <a:gd name="csX23" fmla="*/ 9164425 w 11236362"/>
              <a:gd name="csY23" fmla="*/ 720762 h 720762"/>
              <a:gd name="csX24" fmla="*/ 8807051 w 11236362"/>
              <a:gd name="csY24" fmla="*/ 720762 h 720762"/>
              <a:gd name="csX25" fmla="*/ 8449678 w 11236362"/>
              <a:gd name="csY25" fmla="*/ 720762 h 720762"/>
              <a:gd name="csX26" fmla="*/ 7762421 w 11236362"/>
              <a:gd name="csY26" fmla="*/ 720762 h 720762"/>
              <a:gd name="csX27" fmla="*/ 7295087 w 11236362"/>
              <a:gd name="csY27" fmla="*/ 720762 h 720762"/>
              <a:gd name="csX28" fmla="*/ 6497869 w 11236362"/>
              <a:gd name="csY28" fmla="*/ 720762 h 720762"/>
              <a:gd name="csX29" fmla="*/ 6030535 w 11236362"/>
              <a:gd name="csY29" fmla="*/ 720762 h 720762"/>
              <a:gd name="csX30" fmla="*/ 5233317 w 11236362"/>
              <a:gd name="csY30" fmla="*/ 720762 h 720762"/>
              <a:gd name="csX31" fmla="*/ 4875944 w 11236362"/>
              <a:gd name="csY31" fmla="*/ 720762 h 720762"/>
              <a:gd name="csX32" fmla="*/ 4078726 w 11236362"/>
              <a:gd name="csY32" fmla="*/ 720762 h 720762"/>
              <a:gd name="csX33" fmla="*/ 3611392 w 11236362"/>
              <a:gd name="csY33" fmla="*/ 720762 h 720762"/>
              <a:gd name="csX34" fmla="*/ 3254019 w 11236362"/>
              <a:gd name="csY34" fmla="*/ 720762 h 720762"/>
              <a:gd name="csX35" fmla="*/ 2786684 w 11236362"/>
              <a:gd name="csY35" fmla="*/ 720762 h 720762"/>
              <a:gd name="csX36" fmla="*/ 1989467 w 11236362"/>
              <a:gd name="csY36" fmla="*/ 720762 h 720762"/>
              <a:gd name="csX37" fmla="*/ 1522132 w 11236362"/>
              <a:gd name="csY37" fmla="*/ 720762 h 720762"/>
              <a:gd name="csX38" fmla="*/ 1164759 w 11236362"/>
              <a:gd name="csY38" fmla="*/ 720762 h 720762"/>
              <a:gd name="csX39" fmla="*/ 120129 w 11236362"/>
              <a:gd name="csY39" fmla="*/ 720762 h 720762"/>
              <a:gd name="csX40" fmla="*/ 0 w 11236362"/>
              <a:gd name="csY40" fmla="*/ 600633 h 720762"/>
              <a:gd name="csX41" fmla="*/ 0 w 11236362"/>
              <a:gd name="csY41" fmla="*/ 120129 h 720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1236362" h="720762" extrusionOk="0">
                <a:moveTo>
                  <a:pt x="0" y="120129"/>
                </a:moveTo>
                <a:cubicBezTo>
                  <a:pt x="-12297" y="46199"/>
                  <a:pt x="42381" y="4280"/>
                  <a:pt x="120129" y="0"/>
                </a:cubicBezTo>
                <a:cubicBezTo>
                  <a:pt x="360653" y="18518"/>
                  <a:pt x="843036" y="-42653"/>
                  <a:pt x="1027308" y="0"/>
                </a:cubicBezTo>
                <a:cubicBezTo>
                  <a:pt x="1211580" y="42653"/>
                  <a:pt x="1415798" y="16005"/>
                  <a:pt x="1604603" y="0"/>
                </a:cubicBezTo>
                <a:cubicBezTo>
                  <a:pt x="1793409" y="-16005"/>
                  <a:pt x="1872792" y="794"/>
                  <a:pt x="2071937" y="0"/>
                </a:cubicBezTo>
                <a:cubicBezTo>
                  <a:pt x="2271082" y="-794"/>
                  <a:pt x="2484661" y="7247"/>
                  <a:pt x="2869155" y="0"/>
                </a:cubicBezTo>
                <a:cubicBezTo>
                  <a:pt x="3253649" y="-7247"/>
                  <a:pt x="3290875" y="-3974"/>
                  <a:pt x="3446450" y="0"/>
                </a:cubicBezTo>
                <a:cubicBezTo>
                  <a:pt x="3602025" y="3974"/>
                  <a:pt x="4106828" y="2496"/>
                  <a:pt x="4353629" y="0"/>
                </a:cubicBezTo>
                <a:cubicBezTo>
                  <a:pt x="4600430" y="-2496"/>
                  <a:pt x="4712209" y="3885"/>
                  <a:pt x="4820963" y="0"/>
                </a:cubicBezTo>
                <a:cubicBezTo>
                  <a:pt x="4929717" y="-3885"/>
                  <a:pt x="5324798" y="-12099"/>
                  <a:pt x="5728142" y="0"/>
                </a:cubicBezTo>
                <a:cubicBezTo>
                  <a:pt x="6131486" y="12099"/>
                  <a:pt x="5965988" y="8470"/>
                  <a:pt x="6085515" y="0"/>
                </a:cubicBezTo>
                <a:cubicBezTo>
                  <a:pt x="6205042" y="-8470"/>
                  <a:pt x="6493833" y="29736"/>
                  <a:pt x="6772772" y="0"/>
                </a:cubicBezTo>
                <a:cubicBezTo>
                  <a:pt x="7051711" y="-29736"/>
                  <a:pt x="7313427" y="8275"/>
                  <a:pt x="7460028" y="0"/>
                </a:cubicBezTo>
                <a:cubicBezTo>
                  <a:pt x="7606629" y="-8275"/>
                  <a:pt x="7908783" y="-3880"/>
                  <a:pt x="8037324" y="0"/>
                </a:cubicBezTo>
                <a:cubicBezTo>
                  <a:pt x="8165865" y="3880"/>
                  <a:pt x="8713910" y="-28367"/>
                  <a:pt x="8944502" y="0"/>
                </a:cubicBezTo>
                <a:cubicBezTo>
                  <a:pt x="9175094" y="28367"/>
                  <a:pt x="9582067" y="-39337"/>
                  <a:pt x="9851681" y="0"/>
                </a:cubicBezTo>
                <a:cubicBezTo>
                  <a:pt x="10121295" y="39337"/>
                  <a:pt x="10111807" y="-4033"/>
                  <a:pt x="10319015" y="0"/>
                </a:cubicBezTo>
                <a:cubicBezTo>
                  <a:pt x="10526223" y="4033"/>
                  <a:pt x="10791082" y="-32762"/>
                  <a:pt x="11116233" y="0"/>
                </a:cubicBezTo>
                <a:cubicBezTo>
                  <a:pt x="11176094" y="-13218"/>
                  <a:pt x="11236726" y="48859"/>
                  <a:pt x="11236362" y="120129"/>
                </a:cubicBezTo>
                <a:cubicBezTo>
                  <a:pt x="11248802" y="267189"/>
                  <a:pt x="11219158" y="496395"/>
                  <a:pt x="11236362" y="600633"/>
                </a:cubicBezTo>
                <a:cubicBezTo>
                  <a:pt x="11224389" y="667471"/>
                  <a:pt x="11186081" y="714447"/>
                  <a:pt x="11116233" y="720762"/>
                </a:cubicBezTo>
                <a:cubicBezTo>
                  <a:pt x="10814959" y="731314"/>
                  <a:pt x="10478490" y="735716"/>
                  <a:pt x="10319015" y="720762"/>
                </a:cubicBezTo>
                <a:cubicBezTo>
                  <a:pt x="10159540" y="705808"/>
                  <a:pt x="10001408" y="712113"/>
                  <a:pt x="9851681" y="720762"/>
                </a:cubicBezTo>
                <a:cubicBezTo>
                  <a:pt x="9701954" y="729411"/>
                  <a:pt x="9451742" y="735844"/>
                  <a:pt x="9164425" y="720762"/>
                </a:cubicBezTo>
                <a:cubicBezTo>
                  <a:pt x="8877108" y="705680"/>
                  <a:pt x="8909206" y="720333"/>
                  <a:pt x="8807051" y="720762"/>
                </a:cubicBezTo>
                <a:cubicBezTo>
                  <a:pt x="8704896" y="721191"/>
                  <a:pt x="8611461" y="736980"/>
                  <a:pt x="8449678" y="720762"/>
                </a:cubicBezTo>
                <a:cubicBezTo>
                  <a:pt x="8287895" y="704544"/>
                  <a:pt x="8012623" y="741560"/>
                  <a:pt x="7762421" y="720762"/>
                </a:cubicBezTo>
                <a:cubicBezTo>
                  <a:pt x="7512219" y="699964"/>
                  <a:pt x="7421464" y="699616"/>
                  <a:pt x="7295087" y="720762"/>
                </a:cubicBezTo>
                <a:cubicBezTo>
                  <a:pt x="7168710" y="741908"/>
                  <a:pt x="6663445" y="716263"/>
                  <a:pt x="6497869" y="720762"/>
                </a:cubicBezTo>
                <a:cubicBezTo>
                  <a:pt x="6332293" y="725261"/>
                  <a:pt x="6261192" y="727329"/>
                  <a:pt x="6030535" y="720762"/>
                </a:cubicBezTo>
                <a:cubicBezTo>
                  <a:pt x="5799878" y="714195"/>
                  <a:pt x="5398071" y="745167"/>
                  <a:pt x="5233317" y="720762"/>
                </a:cubicBezTo>
                <a:cubicBezTo>
                  <a:pt x="5068563" y="696357"/>
                  <a:pt x="4987264" y="734381"/>
                  <a:pt x="4875944" y="720762"/>
                </a:cubicBezTo>
                <a:cubicBezTo>
                  <a:pt x="4764624" y="707143"/>
                  <a:pt x="4276045" y="692846"/>
                  <a:pt x="4078726" y="720762"/>
                </a:cubicBezTo>
                <a:cubicBezTo>
                  <a:pt x="3881407" y="748678"/>
                  <a:pt x="3784433" y="733359"/>
                  <a:pt x="3611392" y="720762"/>
                </a:cubicBezTo>
                <a:cubicBezTo>
                  <a:pt x="3438351" y="708165"/>
                  <a:pt x="3386343" y="709318"/>
                  <a:pt x="3254019" y="720762"/>
                </a:cubicBezTo>
                <a:cubicBezTo>
                  <a:pt x="3121695" y="732206"/>
                  <a:pt x="3019307" y="711358"/>
                  <a:pt x="2786684" y="720762"/>
                </a:cubicBezTo>
                <a:cubicBezTo>
                  <a:pt x="2554062" y="730166"/>
                  <a:pt x="2253431" y="752546"/>
                  <a:pt x="1989467" y="720762"/>
                </a:cubicBezTo>
                <a:cubicBezTo>
                  <a:pt x="1725503" y="688978"/>
                  <a:pt x="1715815" y="709752"/>
                  <a:pt x="1522132" y="720762"/>
                </a:cubicBezTo>
                <a:cubicBezTo>
                  <a:pt x="1328450" y="731772"/>
                  <a:pt x="1257813" y="724636"/>
                  <a:pt x="1164759" y="720762"/>
                </a:cubicBezTo>
                <a:cubicBezTo>
                  <a:pt x="1071705" y="716888"/>
                  <a:pt x="371999" y="719237"/>
                  <a:pt x="120129" y="720762"/>
                </a:cubicBezTo>
                <a:cubicBezTo>
                  <a:pt x="57493" y="729828"/>
                  <a:pt x="3497" y="670438"/>
                  <a:pt x="0" y="600633"/>
                </a:cubicBezTo>
                <a:cubicBezTo>
                  <a:pt x="16248" y="453011"/>
                  <a:pt x="-10846" y="241063"/>
                  <a:pt x="0" y="120129"/>
                </a:cubicBezTo>
                <a:close/>
              </a:path>
            </a:pathLst>
          </a:custGeom>
          <a:noFill/>
          <a:ln w="25400">
            <a:solidFill>
              <a:srgbClr val="FFFF00"/>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TextBox 6">
            <a:extLst>
              <a:ext uri="{FF2B5EF4-FFF2-40B4-BE49-F238E27FC236}">
                <a16:creationId xmlns:a16="http://schemas.microsoft.com/office/drawing/2014/main" id="{D117B0DA-0741-E469-10A5-453BED525034}"/>
              </a:ext>
            </a:extLst>
          </p:cNvPr>
          <p:cNvSpPr txBox="1"/>
          <p:nvPr/>
        </p:nvSpPr>
        <p:spPr>
          <a:xfrm rot="19595072">
            <a:off x="5993423" y="3977783"/>
            <a:ext cx="3089564" cy="369332"/>
          </a:xfrm>
          <a:prstGeom prst="rect">
            <a:avLst/>
          </a:prstGeom>
          <a:solidFill>
            <a:schemeClr val="bg1"/>
          </a:solidFill>
          <a:ln w="19050">
            <a:solidFill>
              <a:schemeClr val="tx1"/>
            </a:solidFill>
          </a:ln>
        </p:spPr>
        <p:txBody>
          <a:bodyPr wrap="none" rtlCol="0">
            <a:spAutoFit/>
          </a:bodyPr>
          <a:lstStyle/>
          <a:p>
            <a:r>
              <a:rPr lang="en-US" dirty="0"/>
              <a:t>Tar 3 </a:t>
            </a:r>
            <a:r>
              <a:rPr lang="en-US" dirty="0" err="1"/>
              <a:t>Minuter</a:t>
            </a:r>
            <a:r>
              <a:rPr lang="en-US" dirty="0"/>
              <a:t>, Pretty Please! </a:t>
            </a:r>
            <a:r>
              <a:rPr lang="en-US" dirty="0">
                <a:sym typeface="Wingdings" panose="05000000000000000000" pitchFamily="2" charset="2"/>
              </a:rPr>
              <a:t></a:t>
            </a:r>
            <a:endParaRPr lang="en-US" dirty="0"/>
          </a:p>
        </p:txBody>
      </p:sp>
    </p:spTree>
    <p:extLst>
      <p:ext uri="{BB962C8B-B14F-4D97-AF65-F5344CB8AC3E}">
        <p14:creationId xmlns:p14="http://schemas.microsoft.com/office/powerpoint/2010/main" val="807789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repeatCount="indefinite" fill="hold" grpId="0" nodeType="withEffect">
                                  <p:stCondLst>
                                    <p:cond delay="0"/>
                                  </p:stCondLst>
                                  <p:childTnLst>
                                    <p:animScale>
                                      <p:cBhvr>
                                        <p:cTn id="6" dur="500" fill="hold"/>
                                        <p:tgtEl>
                                          <p:spTgt spid="6"/>
                                        </p:tgtEl>
                                      </p:cBhvr>
                                      <p:by x="102000" y="10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7</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Sammansatta Datatyper</a:t>
            </a:r>
          </a:p>
        </p:txBody>
      </p:sp>
    </p:spTree>
    <p:extLst>
      <p:ext uri="{BB962C8B-B14F-4D97-AF65-F5344CB8AC3E}">
        <p14:creationId xmlns:p14="http://schemas.microsoft.com/office/powerpoint/2010/main" val="3174365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E41CF-5B97-9F22-FA32-09BC4F8558D0}"/>
              </a:ext>
            </a:extLst>
          </p:cNvPr>
          <p:cNvSpPr>
            <a:spLocks noGrp="1"/>
          </p:cNvSpPr>
          <p:nvPr>
            <p:ph type="title"/>
          </p:nvPr>
        </p:nvSpPr>
        <p:spPr/>
        <p:txBody>
          <a:bodyPr/>
          <a:lstStyle/>
          <a:p>
            <a:r>
              <a:rPr lang="sv-SE"/>
              <a:t>typedef</a:t>
            </a:r>
            <a:endParaRPr lang="LID4096"/>
          </a:p>
        </p:txBody>
      </p:sp>
      <p:sp>
        <p:nvSpPr>
          <p:cNvPr id="8" name="Text Placeholder 7">
            <a:extLst>
              <a:ext uri="{FF2B5EF4-FFF2-40B4-BE49-F238E27FC236}">
                <a16:creationId xmlns:a16="http://schemas.microsoft.com/office/drawing/2014/main" id="{EDF89116-9988-A646-E48B-4E621323811C}"/>
              </a:ext>
            </a:extLst>
          </p:cNvPr>
          <p:cNvSpPr>
            <a:spLocks noGrp="1"/>
          </p:cNvSpPr>
          <p:nvPr>
            <p:ph idx="1"/>
          </p:nvPr>
        </p:nvSpPr>
        <p:spPr/>
        <p:txBody>
          <a:bodyPr/>
          <a:lstStyle/>
          <a:p>
            <a:pPr marL="0" indent="0">
              <a:buNone/>
            </a:pPr>
            <a:r>
              <a:rPr lang="sv-SE" sz="3200"/>
              <a:t>Sätt eget namn på existerande type med </a:t>
            </a:r>
            <a:r>
              <a:rPr lang="sv-SE" sz="3200">
                <a:latin typeface="Consolas" panose="020B0609020204030204" pitchFamily="49" charset="0"/>
              </a:rPr>
              <a:t>typedef</a:t>
            </a:r>
          </a:p>
          <a:p>
            <a:pPr marL="0" indent="0">
              <a:buNone/>
            </a:pPr>
            <a:br>
              <a:rPr lang="sv-SE" sz="1600">
                <a:latin typeface="Consolas" panose="020B0609020204030204" pitchFamily="49" charset="0"/>
              </a:rPr>
            </a:br>
            <a:r>
              <a:rPr lang="sv-SE" sz="1600">
                <a:latin typeface="Consolas" panose="020B0609020204030204" pitchFamily="49" charset="0"/>
              </a:rPr>
              <a:t>typedef </a:t>
            </a:r>
            <a:r>
              <a:rPr lang="sv-SE" sz="1600">
                <a:solidFill>
                  <a:schemeClr val="accent2">
                    <a:lumMod val="75000"/>
                  </a:schemeClr>
                </a:solidFill>
                <a:latin typeface="Consolas" panose="020B0609020204030204" pitchFamily="49" charset="0"/>
              </a:rPr>
              <a:t>&lt;existing type&gt; </a:t>
            </a:r>
            <a:r>
              <a:rPr lang="sv-SE" sz="1600">
                <a:solidFill>
                  <a:schemeClr val="accent6">
                    <a:lumMod val="75000"/>
                  </a:schemeClr>
                </a:solidFill>
                <a:latin typeface="Consolas" panose="020B0609020204030204" pitchFamily="49" charset="0"/>
              </a:rPr>
              <a:t>&lt;name of alias&gt;;</a:t>
            </a:r>
          </a:p>
          <a:p>
            <a:pPr marL="0" indent="0">
              <a:buNone/>
            </a:pPr>
            <a:endParaRPr lang="sv-SE" sz="1800"/>
          </a:p>
          <a:p>
            <a:pPr marL="0" indent="0">
              <a:buNone/>
            </a:pPr>
            <a:r>
              <a:rPr lang="sv-SE" sz="1800"/>
              <a:t>Vi har redan nämnt att typedef används i stdint.h för att ge </a:t>
            </a:r>
            <a:br>
              <a:rPr lang="sv-SE" sz="1800"/>
            </a:br>
            <a:r>
              <a:rPr lang="sv-SE" sz="1800"/>
              <a:t>lättlästare alias åt integer typer: </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char</a:t>
            </a:r>
            <a:r>
              <a:rPr lang="sv-SE" sz="1800">
                <a:latin typeface="Consolas" panose="020B0609020204030204" pitchFamily="49" charset="0"/>
              </a:rPr>
              <a:t>  </a:t>
            </a:r>
            <a:r>
              <a:rPr lang="sv-SE" sz="1800">
                <a:solidFill>
                  <a:schemeClr val="accent6">
                    <a:lumMod val="75000"/>
                  </a:schemeClr>
                </a:solidFill>
                <a:latin typeface="Consolas" panose="020B0609020204030204" pitchFamily="49" charset="0"/>
              </a:rPr>
              <a:t>uint8_t;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char    </a:t>
            </a:r>
            <a:r>
              <a:rPr lang="sv-SE" sz="1800">
                <a:solidFill>
                  <a:schemeClr val="accent6">
                    <a:lumMod val="75000"/>
                  </a:schemeClr>
                </a:solidFill>
                <a:latin typeface="Consolas" panose="020B0609020204030204" pitchFamily="49" charset="0"/>
              </a:rPr>
              <a:t>int8_t;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short</a:t>
            </a:r>
            <a:r>
              <a:rPr lang="sv-SE" sz="1800">
                <a:latin typeface="Consolas" panose="020B0609020204030204" pitchFamily="49" charset="0"/>
              </a:rPr>
              <a:t> </a:t>
            </a:r>
            <a:r>
              <a:rPr lang="sv-SE" sz="1800">
                <a:solidFill>
                  <a:schemeClr val="accent6">
                    <a:lumMod val="75000"/>
                  </a:schemeClr>
                </a:solidFill>
                <a:latin typeface="Consolas" panose="020B0609020204030204" pitchFamily="49" charset="0"/>
              </a:rPr>
              <a:t>uint16_t;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short   </a:t>
            </a:r>
            <a:r>
              <a:rPr lang="sv-SE" sz="1800">
                <a:solidFill>
                  <a:schemeClr val="accent6">
                    <a:lumMod val="75000"/>
                  </a:schemeClr>
                </a:solidFill>
                <a:latin typeface="Consolas" panose="020B0609020204030204" pitchFamily="49" charset="0"/>
              </a:rPr>
              <a:t>int16_t;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unsigned int   </a:t>
            </a:r>
            <a:r>
              <a:rPr lang="sv-SE" sz="1800">
                <a:solidFill>
                  <a:schemeClr val="accent6">
                    <a:lumMod val="75000"/>
                  </a:schemeClr>
                </a:solidFill>
                <a:latin typeface="Consolas" panose="020B0609020204030204" pitchFamily="49" charset="0"/>
              </a:rPr>
              <a:t>uint32_t;</a:t>
            </a:r>
          </a:p>
          <a:p>
            <a:pPr marL="0" indent="0">
              <a:buNone/>
            </a:pPr>
            <a:r>
              <a:rPr lang="sv-SE" sz="1800">
                <a:latin typeface="Consolas" panose="020B0609020204030204" pitchFamily="49" charset="0"/>
              </a:rPr>
              <a:t>typedef </a:t>
            </a:r>
            <a:r>
              <a:rPr lang="sv-SE" sz="1800">
                <a:solidFill>
                  <a:schemeClr val="accent2">
                    <a:lumMod val="75000"/>
                  </a:schemeClr>
                </a:solidFill>
                <a:latin typeface="Consolas" panose="020B0609020204030204" pitchFamily="49" charset="0"/>
              </a:rPr>
              <a:t>signed int     </a:t>
            </a:r>
            <a:r>
              <a:rPr lang="sv-SE" sz="1800">
                <a:solidFill>
                  <a:schemeClr val="accent6">
                    <a:lumMod val="75000"/>
                  </a:schemeClr>
                </a:solidFill>
                <a:latin typeface="Consolas" panose="020B0609020204030204" pitchFamily="49" charset="0"/>
              </a:rPr>
              <a:t>int32_t;</a:t>
            </a:r>
          </a:p>
          <a:p>
            <a:pPr marL="0" indent="0">
              <a:buNone/>
            </a:pPr>
            <a:endParaRPr lang="sv-SE" sz="1800">
              <a:solidFill>
                <a:schemeClr val="accent6">
                  <a:lumMod val="75000"/>
                </a:schemeClr>
              </a:solidFill>
              <a:latin typeface="Consolas" panose="020B0609020204030204" pitchFamily="49" charset="0"/>
            </a:endParaRPr>
          </a:p>
          <a:p>
            <a:pPr marL="0" indent="0">
              <a:buNone/>
            </a:pPr>
            <a:endParaRPr lang="sv-SE" sz="1800">
              <a:solidFill>
                <a:schemeClr val="accent6">
                  <a:lumMod val="75000"/>
                </a:schemeClr>
              </a:solidFill>
              <a:latin typeface="Consolas" panose="020B0609020204030204" pitchFamily="49" charset="0"/>
            </a:endParaRPr>
          </a:p>
          <a:p>
            <a:pPr marL="0" indent="0">
              <a:buNone/>
            </a:pPr>
            <a:endParaRPr lang="sv-SE" sz="1600">
              <a:solidFill>
                <a:schemeClr val="accent6">
                  <a:lumMod val="75000"/>
                </a:schemeClr>
              </a:solidFill>
              <a:latin typeface="Consolas" panose="020B0609020204030204" pitchFamily="49" charset="0"/>
            </a:endParaRPr>
          </a:p>
        </p:txBody>
      </p:sp>
      <p:sp>
        <p:nvSpPr>
          <p:cNvPr id="3" name="Date Placeholder 2">
            <a:extLst>
              <a:ext uri="{FF2B5EF4-FFF2-40B4-BE49-F238E27FC236}">
                <a16:creationId xmlns:a16="http://schemas.microsoft.com/office/drawing/2014/main" id="{0F7CB2DB-75C9-0CFC-EF73-837A25DDCF30}"/>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459AF945-DD24-11E1-AE0E-B8529FEF25FC}"/>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5CA939A-F711-501B-3439-83D5C28155C6}"/>
              </a:ext>
            </a:extLst>
          </p:cNvPr>
          <p:cNvSpPr>
            <a:spLocks noGrp="1"/>
          </p:cNvSpPr>
          <p:nvPr>
            <p:ph type="sldNum" sz="quarter" idx="12"/>
          </p:nvPr>
        </p:nvSpPr>
        <p:spPr/>
        <p:txBody>
          <a:bodyPr/>
          <a:lstStyle/>
          <a:p>
            <a:fld id="{E46909CE-3A1D-43F5-8F4E-45D6477AD820}" type="slidenum">
              <a:rPr lang="LID4096" smtClean="0"/>
              <a:t>3</a:t>
            </a:fld>
            <a:endParaRPr lang="LID4096"/>
          </a:p>
        </p:txBody>
      </p:sp>
      <p:sp>
        <p:nvSpPr>
          <p:cNvPr id="9" name="Text Placeholder 7">
            <a:extLst>
              <a:ext uri="{FF2B5EF4-FFF2-40B4-BE49-F238E27FC236}">
                <a16:creationId xmlns:a16="http://schemas.microsoft.com/office/drawing/2014/main" id="{8AA89B5C-E93E-BC1A-D4A9-80BBDF79A5FD}"/>
              </a:ext>
            </a:extLst>
          </p:cNvPr>
          <p:cNvSpPr txBox="1">
            <a:spLocks/>
          </p:cNvSpPr>
          <p:nvPr/>
        </p:nvSpPr>
        <p:spPr>
          <a:xfrm>
            <a:off x="6625360" y="3592063"/>
            <a:ext cx="5078222" cy="3069087"/>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800"/>
              <a:t>Kan också användas för att anpassa koden: </a:t>
            </a:r>
          </a:p>
          <a:p>
            <a:pPr marL="0" indent="0">
              <a:buFont typeface="Arial" panose="020B0604020202020204" pitchFamily="34" charset="0"/>
              <a:buNone/>
            </a:pPr>
            <a:endParaRPr lang="sv-SE" sz="1800"/>
          </a:p>
          <a:p>
            <a:pPr marL="0" indent="0">
              <a:buFont typeface="Arial" panose="020B0604020202020204" pitchFamily="34" charset="0"/>
              <a:buNone/>
            </a:pPr>
            <a:r>
              <a:rPr lang="sv-SE" sz="1800">
                <a:latin typeface="Consolas" panose="020B0609020204030204" pitchFamily="49" charset="0"/>
              </a:rPr>
              <a:t>#ifdef REALLY_GOOD_PRECISION</a:t>
            </a:r>
          </a:p>
          <a:p>
            <a:pPr marL="0" indent="0">
              <a:buFont typeface="Arial" panose="020B0604020202020204" pitchFamily="34" charset="0"/>
              <a:buNone/>
            </a:pPr>
            <a:r>
              <a:rPr lang="sv-SE" sz="1800">
                <a:latin typeface="Consolas" panose="020B0609020204030204" pitchFamily="49" charset="0"/>
              </a:rPr>
              <a:t>typedef double HighPrecisionFloat</a:t>
            </a:r>
          </a:p>
          <a:p>
            <a:pPr marL="0" indent="0">
              <a:buFont typeface="Arial" panose="020B0604020202020204" pitchFamily="34" charset="0"/>
              <a:buNone/>
            </a:pPr>
            <a:r>
              <a:rPr lang="sv-SE" sz="1800">
                <a:latin typeface="Consolas" panose="020B0609020204030204" pitchFamily="49" charset="0"/>
              </a:rPr>
              <a:t>#else </a:t>
            </a:r>
          </a:p>
          <a:p>
            <a:pPr marL="0" indent="0">
              <a:buFont typeface="Arial" panose="020B0604020202020204" pitchFamily="34" charset="0"/>
              <a:buNone/>
            </a:pPr>
            <a:r>
              <a:rPr lang="sv-SE" sz="1800">
                <a:latin typeface="Consolas" panose="020B0609020204030204" pitchFamily="49" charset="0"/>
              </a:rPr>
              <a:t>typedef float HighPrecisionFloat</a:t>
            </a:r>
          </a:p>
          <a:p>
            <a:pPr marL="0" indent="0">
              <a:buFont typeface="Arial" panose="020B0604020202020204" pitchFamily="34" charset="0"/>
              <a:buNone/>
            </a:pPr>
            <a:r>
              <a:rPr lang="sv-SE" sz="1800">
                <a:latin typeface="Consolas" panose="020B0609020204030204" pitchFamily="49" charset="0"/>
              </a:rPr>
              <a:t>#endif</a:t>
            </a:r>
          </a:p>
        </p:txBody>
      </p:sp>
    </p:spTree>
    <p:extLst>
      <p:ext uri="{BB962C8B-B14F-4D97-AF65-F5344CB8AC3E}">
        <p14:creationId xmlns:p14="http://schemas.microsoft.com/office/powerpoint/2010/main" val="3567726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3" end="3"/>
                                            </p:txEl>
                                          </p:spTgt>
                                        </p:tgtEl>
                                        <p:attrNameLst>
                                          <p:attrName>style.visibility</p:attrName>
                                        </p:attrNameLst>
                                      </p:cBhvr>
                                      <p:to>
                                        <p:strVal val="visible"/>
                                      </p:to>
                                    </p:set>
                                    <p:animEffect transition="in" filter="fade">
                                      <p:cBhvr>
                                        <p:cTn id="7" dur="500"/>
                                        <p:tgtEl>
                                          <p:spTgt spid="8">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xEl>
                                              <p:pRg st="4" end="4"/>
                                            </p:txEl>
                                          </p:spTgt>
                                        </p:tgtEl>
                                        <p:attrNameLst>
                                          <p:attrName>style.visibility</p:attrName>
                                        </p:attrNameLst>
                                      </p:cBhvr>
                                      <p:to>
                                        <p:strVal val="visible"/>
                                      </p:to>
                                    </p:set>
                                    <p:animEffect transition="in" filter="fade">
                                      <p:cBhvr>
                                        <p:cTn id="10" dur="500"/>
                                        <p:tgtEl>
                                          <p:spTgt spid="8">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8">
                                            <p:txEl>
                                              <p:pRg st="5" end="5"/>
                                            </p:txEl>
                                          </p:spTgt>
                                        </p:tgtEl>
                                        <p:attrNameLst>
                                          <p:attrName>style.visibility</p:attrName>
                                        </p:attrNameLst>
                                      </p:cBhvr>
                                      <p:to>
                                        <p:strVal val="visible"/>
                                      </p:to>
                                    </p:set>
                                    <p:animEffect transition="in" filter="fade">
                                      <p:cBhvr>
                                        <p:cTn id="13" dur="500"/>
                                        <p:tgtEl>
                                          <p:spTgt spid="8">
                                            <p:txEl>
                                              <p:pRg st="5" end="5"/>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8">
                                            <p:txEl>
                                              <p:pRg st="6" end="6"/>
                                            </p:txEl>
                                          </p:spTgt>
                                        </p:tgtEl>
                                        <p:attrNameLst>
                                          <p:attrName>style.visibility</p:attrName>
                                        </p:attrNameLst>
                                      </p:cBhvr>
                                      <p:to>
                                        <p:strVal val="visible"/>
                                      </p:to>
                                    </p:set>
                                    <p:animEffect transition="in" filter="fade">
                                      <p:cBhvr>
                                        <p:cTn id="16" dur="500"/>
                                        <p:tgtEl>
                                          <p:spTgt spid="8">
                                            <p:txEl>
                                              <p:pRg st="6" end="6"/>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8">
                                            <p:txEl>
                                              <p:pRg st="7" end="7"/>
                                            </p:txEl>
                                          </p:spTgt>
                                        </p:tgtEl>
                                        <p:attrNameLst>
                                          <p:attrName>style.visibility</p:attrName>
                                        </p:attrNameLst>
                                      </p:cBhvr>
                                      <p:to>
                                        <p:strVal val="visible"/>
                                      </p:to>
                                    </p:set>
                                    <p:animEffect transition="in" filter="fade">
                                      <p:cBhvr>
                                        <p:cTn id="19" dur="500"/>
                                        <p:tgtEl>
                                          <p:spTgt spid="8">
                                            <p:txEl>
                                              <p:pRg st="7" end="7"/>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8">
                                            <p:txEl>
                                              <p:pRg st="8" end="8"/>
                                            </p:txEl>
                                          </p:spTgt>
                                        </p:tgtEl>
                                        <p:attrNameLst>
                                          <p:attrName>style.visibility</p:attrName>
                                        </p:attrNameLst>
                                      </p:cBhvr>
                                      <p:to>
                                        <p:strVal val="visible"/>
                                      </p:to>
                                    </p:set>
                                    <p:animEffect transition="in" filter="fade">
                                      <p:cBhvr>
                                        <p:cTn id="22" dur="500"/>
                                        <p:tgtEl>
                                          <p:spTgt spid="8">
                                            <p:txEl>
                                              <p:pRg st="8" end="8"/>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8">
                                            <p:txEl>
                                              <p:pRg st="9" end="9"/>
                                            </p:txEl>
                                          </p:spTgt>
                                        </p:tgtEl>
                                        <p:attrNameLst>
                                          <p:attrName>style.visibility</p:attrName>
                                        </p:attrNameLst>
                                      </p:cBhvr>
                                      <p:to>
                                        <p:strVal val="visible"/>
                                      </p:to>
                                    </p:set>
                                    <p:animEffect transition="in" filter="fade">
                                      <p:cBhvr>
                                        <p:cTn id="25" dur="500"/>
                                        <p:tgtEl>
                                          <p:spTgt spid="8">
                                            <p:txEl>
                                              <p:pRg st="9" end="9"/>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B99CB-8678-35ED-A391-1723DCF64F58}"/>
              </a:ext>
            </a:extLst>
          </p:cNvPr>
          <p:cNvSpPr>
            <a:spLocks noGrp="1"/>
          </p:cNvSpPr>
          <p:nvPr>
            <p:ph type="title"/>
          </p:nvPr>
        </p:nvSpPr>
        <p:spPr/>
        <p:txBody>
          <a:bodyPr/>
          <a:lstStyle/>
          <a:p>
            <a:r>
              <a:rPr lang="sv-SE"/>
              <a:t>Structures</a:t>
            </a:r>
            <a:endParaRPr lang="LID4096"/>
          </a:p>
        </p:txBody>
      </p:sp>
      <p:sp>
        <p:nvSpPr>
          <p:cNvPr id="8" name="Text Placeholder 7">
            <a:extLst>
              <a:ext uri="{FF2B5EF4-FFF2-40B4-BE49-F238E27FC236}">
                <a16:creationId xmlns:a16="http://schemas.microsoft.com/office/drawing/2014/main" id="{47AD439F-BDE3-56A0-4D2F-8F4CB4682C30}"/>
              </a:ext>
            </a:extLst>
          </p:cNvPr>
          <p:cNvSpPr>
            <a:spLocks noGrp="1"/>
          </p:cNvSpPr>
          <p:nvPr>
            <p:ph idx="1"/>
          </p:nvPr>
        </p:nvSpPr>
        <p:spPr/>
        <p:txBody>
          <a:bodyPr/>
          <a:lstStyle/>
          <a:p>
            <a:pPr marL="0" indent="0">
              <a:buNone/>
            </a:pPr>
            <a:br>
              <a:rPr lang="sv-SE" sz="1600">
                <a:latin typeface="Consolas" panose="020B0609020204030204" pitchFamily="49" charset="0"/>
              </a:rPr>
            </a:br>
            <a:r>
              <a:rPr lang="sv-SE" sz="1600">
                <a:solidFill>
                  <a:schemeClr val="accent1">
                    <a:lumMod val="75000"/>
                  </a:schemeClr>
                </a:solidFill>
                <a:latin typeface="Consolas" panose="020B0609020204030204" pitchFamily="49" charset="0"/>
              </a:rPr>
              <a:t>struct</a:t>
            </a:r>
            <a:r>
              <a:rPr lang="sv-SE" sz="1600">
                <a:latin typeface="Consolas" panose="020B0609020204030204" pitchFamily="49" charset="0"/>
              </a:rPr>
              <a:t> Player </a:t>
            </a:r>
            <a:r>
              <a:rPr lang="en-GB" sz="1600">
                <a:latin typeface="Consolas" panose="020B0609020204030204" pitchFamily="49" charset="0"/>
              </a:rPr>
              <a:t>{</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score; </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health; </a:t>
            </a:r>
          </a:p>
          <a:p>
            <a:pPr marL="0" indent="0">
              <a:buNone/>
            </a:pPr>
            <a:r>
              <a:rPr lang="en-GB" sz="1600">
                <a:latin typeface="Consolas" panose="020B0609020204030204" pitchFamily="49" charset="0"/>
              </a:rPr>
              <a:t>};</a:t>
            </a:r>
          </a:p>
          <a:p>
            <a:pPr marL="0" indent="0">
              <a:buNone/>
            </a:pP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main()</a:t>
            </a:r>
          </a:p>
          <a:p>
            <a:pPr marL="0" indent="0">
              <a:buNone/>
            </a:pPr>
            <a:r>
              <a:rPr lang="en-GB" sz="1600">
                <a:latin typeface="Consolas" panose="020B0609020204030204" pitchFamily="49" charset="0"/>
              </a:rPr>
              <a:t>{</a:t>
            </a:r>
          </a:p>
          <a:p>
            <a:pPr marL="0" indent="0">
              <a:buNone/>
            </a:pP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struct</a:t>
            </a:r>
            <a:r>
              <a:rPr lang="en-GB" sz="1600">
                <a:latin typeface="Consolas" panose="020B0609020204030204" pitchFamily="49" charset="0"/>
              </a:rPr>
              <a:t> Player player_one; </a:t>
            </a:r>
          </a:p>
          <a:p>
            <a:pPr marL="0" indent="0">
              <a:buNone/>
            </a:pPr>
            <a:r>
              <a:rPr lang="en-GB" sz="1600">
                <a:latin typeface="Consolas" panose="020B0609020204030204" pitchFamily="49" charset="0"/>
              </a:rPr>
              <a:t>  player_one.score = 0; </a:t>
            </a:r>
          </a:p>
          <a:p>
            <a:pPr marL="0" indent="0">
              <a:buNone/>
            </a:pPr>
            <a:r>
              <a:rPr lang="en-GB" sz="1600">
                <a:latin typeface="Consolas" panose="020B0609020204030204" pitchFamily="49" charset="0"/>
              </a:rPr>
              <a:t>  player_one.health = 100;</a:t>
            </a:r>
          </a:p>
          <a:p>
            <a:pPr marL="0" indent="0">
              <a:buNone/>
            </a:pPr>
            <a:r>
              <a:rPr lang="en-GB" sz="1600">
                <a:latin typeface="Consolas" panose="020B0609020204030204" pitchFamily="49" charset="0"/>
              </a:rPr>
              <a:t>}</a:t>
            </a: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9CE3F354-E670-922B-FABD-790E22EE949F}"/>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0AE38C64-79A6-76FA-718F-097800ECCEAE}"/>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73A37B51-BB72-E239-DB3B-0D2C0297D5B3}"/>
              </a:ext>
            </a:extLst>
          </p:cNvPr>
          <p:cNvSpPr>
            <a:spLocks noGrp="1"/>
          </p:cNvSpPr>
          <p:nvPr>
            <p:ph type="sldNum" sz="quarter" idx="12"/>
          </p:nvPr>
        </p:nvSpPr>
        <p:spPr/>
        <p:txBody>
          <a:bodyPr/>
          <a:lstStyle/>
          <a:p>
            <a:fld id="{E46909CE-3A1D-43F5-8F4E-45D6477AD820}" type="slidenum">
              <a:rPr lang="LID4096" smtClean="0"/>
              <a:t>4</a:t>
            </a:fld>
            <a:endParaRPr lang="LID4096"/>
          </a:p>
        </p:txBody>
      </p:sp>
      <p:sp>
        <p:nvSpPr>
          <p:cNvPr id="9" name="Text Placeholder 7">
            <a:extLst>
              <a:ext uri="{FF2B5EF4-FFF2-40B4-BE49-F238E27FC236}">
                <a16:creationId xmlns:a16="http://schemas.microsoft.com/office/drawing/2014/main" id="{6AABF43D-0901-BA05-2A9A-06FDD58F0191}"/>
              </a:ext>
            </a:extLst>
          </p:cNvPr>
          <p:cNvSpPr txBox="1">
            <a:spLocks/>
          </p:cNvSpPr>
          <p:nvPr/>
        </p:nvSpPr>
        <p:spPr>
          <a:xfrm>
            <a:off x="6115844" y="1333501"/>
            <a:ext cx="4989512" cy="413925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a:t>Liknar </a:t>
            </a:r>
            <a:r>
              <a:rPr lang="en-GB" sz="2400" i="1"/>
              <a:t>klasser</a:t>
            </a:r>
            <a:r>
              <a:rPr lang="en-GB" sz="2400"/>
              <a:t> i Java? Men inte samma sak: </a:t>
            </a:r>
          </a:p>
          <a:p>
            <a:pPr lvl="1"/>
            <a:r>
              <a:rPr lang="en-GB" sz="2000"/>
              <a:t>Structures har </a:t>
            </a:r>
            <a:r>
              <a:rPr lang="en-GB" sz="2000" i="1"/>
              <a:t>inga metoder</a:t>
            </a:r>
          </a:p>
          <a:p>
            <a:pPr lvl="1"/>
            <a:r>
              <a:rPr lang="en-GB" sz="2000"/>
              <a:t>Inga </a:t>
            </a:r>
            <a:r>
              <a:rPr lang="en-GB" sz="2000" i="1"/>
              <a:t>konstruktorer </a:t>
            </a:r>
            <a:r>
              <a:rPr lang="en-GB" sz="2000"/>
              <a:t>eller </a:t>
            </a:r>
            <a:r>
              <a:rPr lang="en-GB" sz="2000" i="1"/>
              <a:t>destruktorer</a:t>
            </a:r>
          </a:p>
          <a:p>
            <a:pPr lvl="1"/>
            <a:r>
              <a:rPr lang="en-GB" sz="2000"/>
              <a:t>Inga </a:t>
            </a:r>
            <a:r>
              <a:rPr lang="en-GB" sz="2000" i="1"/>
              <a:t>public, private, </a:t>
            </a:r>
            <a:r>
              <a:rPr lang="en-GB" sz="2000"/>
              <a:t>o.s.v.</a:t>
            </a:r>
          </a:p>
          <a:p>
            <a:pPr lvl="1"/>
            <a:r>
              <a:rPr lang="en-GB" sz="2000"/>
              <a:t>Absolut ingen </a:t>
            </a:r>
            <a:r>
              <a:rPr lang="en-GB" sz="2000" i="1"/>
              <a:t>inheritance</a:t>
            </a:r>
          </a:p>
          <a:p>
            <a:r>
              <a:rPr lang="en-GB" sz="2400"/>
              <a:t>Structures </a:t>
            </a:r>
            <a:r>
              <a:rPr lang="sv-SE" sz="2400"/>
              <a:t>är bara en sammansättning av existerande datatyper</a:t>
            </a:r>
          </a:p>
          <a:p>
            <a:r>
              <a:rPr lang="sv-SE" sz="2400"/>
              <a:t>Vi vet exakt hur dom mappar till minnet.</a:t>
            </a:r>
            <a:endParaRPr lang="en-GB" sz="2400"/>
          </a:p>
        </p:txBody>
      </p:sp>
    </p:spTree>
    <p:extLst>
      <p:ext uri="{BB962C8B-B14F-4D97-AF65-F5344CB8AC3E}">
        <p14:creationId xmlns:p14="http://schemas.microsoft.com/office/powerpoint/2010/main" val="3014259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C5B7CAA-3E39-2389-4AE3-84B9838ED41E}"/>
              </a:ext>
            </a:extLst>
          </p:cNvPr>
          <p:cNvSpPr>
            <a:spLocks noGrp="1"/>
          </p:cNvSpPr>
          <p:nvPr>
            <p:ph type="title"/>
          </p:nvPr>
        </p:nvSpPr>
        <p:spPr/>
        <p:txBody>
          <a:bodyPr/>
          <a:lstStyle/>
          <a:p>
            <a:r>
              <a:rPr lang="sv-SE"/>
              <a:t>Structures - Syntax</a:t>
            </a:r>
            <a:endParaRPr lang="LID4096"/>
          </a:p>
        </p:txBody>
      </p:sp>
      <p:sp>
        <p:nvSpPr>
          <p:cNvPr id="6" name="Text Placeholder 5">
            <a:extLst>
              <a:ext uri="{FF2B5EF4-FFF2-40B4-BE49-F238E27FC236}">
                <a16:creationId xmlns:a16="http://schemas.microsoft.com/office/drawing/2014/main" id="{8B372426-AA00-E658-E066-24D11000E429}"/>
              </a:ext>
            </a:extLst>
          </p:cNvPr>
          <p:cNvSpPr>
            <a:spLocks noGrp="1"/>
          </p:cNvSpPr>
          <p:nvPr>
            <p:ph idx="1"/>
          </p:nvPr>
        </p:nvSpPr>
        <p:spPr>
          <a:xfrm>
            <a:off x="768276" y="1325319"/>
            <a:ext cx="10515600" cy="4351338"/>
          </a:xfrm>
        </p:spPr>
        <p:txBody>
          <a:bodyPr/>
          <a:lstStyle/>
          <a:p>
            <a:pPr marL="0" indent="0">
              <a:buNone/>
            </a:pPr>
            <a:endParaRPr lang="sv-SE"/>
          </a:p>
          <a:p>
            <a:pPr marL="0" indent="0">
              <a:buNone/>
            </a:pPr>
            <a:endParaRPr lang="sv-SE"/>
          </a:p>
          <a:p>
            <a:pPr marL="0" indent="0">
              <a:buNone/>
            </a:pPr>
            <a:r>
              <a:rPr lang="sv-SE" sz="1200">
                <a:solidFill>
                  <a:schemeClr val="accent1">
                    <a:lumMod val="75000"/>
                  </a:schemeClr>
                </a:solidFill>
                <a:latin typeface="Consolas" panose="020B0609020204030204" pitchFamily="49" charset="0"/>
              </a:rPr>
              <a:t>struct</a:t>
            </a:r>
            <a:r>
              <a:rPr lang="sv-SE" sz="1200">
                <a:latin typeface="Consolas" panose="020B0609020204030204" pitchFamily="49" charset="0"/>
              </a:rPr>
              <a:t> Player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player_one, player_two;</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struct</a:t>
            </a:r>
            <a:r>
              <a:rPr lang="en-GB" sz="1200">
                <a:latin typeface="Consolas" panose="020B0609020204030204" pitchFamily="49" charset="0"/>
              </a:rPr>
              <a:t> Player player_three; </a:t>
            </a:r>
          </a:p>
          <a:p>
            <a:pPr marL="0" indent="0">
              <a:buNone/>
            </a:pPr>
            <a:endParaRPr lang="sv-SE"/>
          </a:p>
        </p:txBody>
      </p:sp>
      <p:sp>
        <p:nvSpPr>
          <p:cNvPr id="3" name="Date Placeholder 2">
            <a:extLst>
              <a:ext uri="{FF2B5EF4-FFF2-40B4-BE49-F238E27FC236}">
                <a16:creationId xmlns:a16="http://schemas.microsoft.com/office/drawing/2014/main" id="{706EF49A-93E3-8D35-6FD5-4ADCE1CE6E9D}"/>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90CC2D56-5A15-2746-B3AB-68EAFA366DC4}"/>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27887A96-896B-5BCA-0754-CCE600C5F453}"/>
              </a:ext>
            </a:extLst>
          </p:cNvPr>
          <p:cNvSpPr>
            <a:spLocks noGrp="1"/>
          </p:cNvSpPr>
          <p:nvPr>
            <p:ph type="sldNum" sz="quarter" idx="12"/>
          </p:nvPr>
        </p:nvSpPr>
        <p:spPr/>
        <p:txBody>
          <a:bodyPr/>
          <a:lstStyle/>
          <a:p>
            <a:fld id="{E46909CE-3A1D-43F5-8F4E-45D6477AD820}" type="slidenum">
              <a:rPr lang="LID4096" smtClean="0"/>
              <a:t>5</a:t>
            </a:fld>
            <a:endParaRPr lang="LID4096"/>
          </a:p>
        </p:txBody>
      </p:sp>
      <p:grpSp>
        <p:nvGrpSpPr>
          <p:cNvPr id="13" name="Group 12">
            <a:extLst>
              <a:ext uri="{FF2B5EF4-FFF2-40B4-BE49-F238E27FC236}">
                <a16:creationId xmlns:a16="http://schemas.microsoft.com/office/drawing/2014/main" id="{E300C034-B6CC-3833-35AD-14FDFF127F55}"/>
              </a:ext>
            </a:extLst>
          </p:cNvPr>
          <p:cNvGrpSpPr/>
          <p:nvPr/>
        </p:nvGrpSpPr>
        <p:grpSpPr>
          <a:xfrm>
            <a:off x="1433015" y="2006220"/>
            <a:ext cx="2824346" cy="564108"/>
            <a:chOff x="1433015" y="2006220"/>
            <a:chExt cx="2824346" cy="564108"/>
          </a:xfrm>
        </p:grpSpPr>
        <p:sp>
          <p:nvSpPr>
            <p:cNvPr id="7" name="TextBox 6">
              <a:extLst>
                <a:ext uri="{FF2B5EF4-FFF2-40B4-BE49-F238E27FC236}">
                  <a16:creationId xmlns:a16="http://schemas.microsoft.com/office/drawing/2014/main" id="{FB724534-5CE7-68C0-8D72-0D30A1501354}"/>
                </a:ext>
              </a:extLst>
            </p:cNvPr>
            <p:cNvSpPr txBox="1"/>
            <p:nvPr/>
          </p:nvSpPr>
          <p:spPr>
            <a:xfrm>
              <a:off x="2615821" y="2006220"/>
              <a:ext cx="1641540" cy="369332"/>
            </a:xfrm>
            <a:prstGeom prst="rect">
              <a:avLst/>
            </a:prstGeom>
            <a:noFill/>
            <a:ln>
              <a:solidFill>
                <a:schemeClr val="tx1"/>
              </a:solidFill>
            </a:ln>
          </p:spPr>
          <p:txBody>
            <a:bodyPr wrap="none" rtlCol="0">
              <a:spAutoFit/>
            </a:bodyPr>
            <a:lstStyle/>
            <a:p>
              <a:r>
                <a:rPr lang="sv-SE"/>
                <a:t>structens namn</a:t>
              </a:r>
              <a:endParaRPr lang="LID4096"/>
            </a:p>
          </p:txBody>
        </p:sp>
        <p:sp>
          <p:nvSpPr>
            <p:cNvPr id="9" name="Rectangle 8">
              <a:extLst>
                <a:ext uri="{FF2B5EF4-FFF2-40B4-BE49-F238E27FC236}">
                  <a16:creationId xmlns:a16="http://schemas.microsoft.com/office/drawing/2014/main" id="{F861E92F-7CAB-5B07-57AB-CFA961E5C8D6}"/>
                </a:ext>
              </a:extLst>
            </p:cNvPr>
            <p:cNvSpPr/>
            <p:nvPr/>
          </p:nvSpPr>
          <p:spPr>
            <a:xfrm>
              <a:off x="1433015" y="2379260"/>
              <a:ext cx="586855"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1" name="Straight Connector 10">
              <a:extLst>
                <a:ext uri="{FF2B5EF4-FFF2-40B4-BE49-F238E27FC236}">
                  <a16:creationId xmlns:a16="http://schemas.microsoft.com/office/drawing/2014/main" id="{9A5042E7-1E26-8238-6343-3318E092004B}"/>
                </a:ext>
              </a:extLst>
            </p:cNvPr>
            <p:cNvCxnSpPr>
              <a:cxnSpLocks/>
              <a:stCxn id="7" idx="1"/>
              <a:endCxn id="9" idx="0"/>
            </p:cNvCxnSpPr>
            <p:nvPr/>
          </p:nvCxnSpPr>
          <p:spPr>
            <a:xfrm flipH="1">
              <a:off x="1726443" y="2190886"/>
              <a:ext cx="889378" cy="18837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BB3B060A-99A8-072D-61F9-2D666749CDB1}"/>
              </a:ext>
            </a:extLst>
          </p:cNvPr>
          <p:cNvGrpSpPr/>
          <p:nvPr/>
        </p:nvGrpSpPr>
        <p:grpSpPr>
          <a:xfrm>
            <a:off x="1012209" y="3256130"/>
            <a:ext cx="4093397" cy="891189"/>
            <a:chOff x="-696036" y="2115404"/>
            <a:chExt cx="4093397" cy="891189"/>
          </a:xfrm>
        </p:grpSpPr>
        <p:sp>
          <p:nvSpPr>
            <p:cNvPr id="15" name="TextBox 14">
              <a:extLst>
                <a:ext uri="{FF2B5EF4-FFF2-40B4-BE49-F238E27FC236}">
                  <a16:creationId xmlns:a16="http://schemas.microsoft.com/office/drawing/2014/main" id="{F9CF22DD-3BF9-E8AC-AC8A-29B71F4DE3A6}"/>
                </a:ext>
              </a:extLst>
            </p:cNvPr>
            <p:cNvSpPr txBox="1"/>
            <p:nvPr/>
          </p:nvSpPr>
          <p:spPr>
            <a:xfrm>
              <a:off x="1700871" y="2360262"/>
              <a:ext cx="1696490" cy="646331"/>
            </a:xfrm>
            <a:prstGeom prst="rect">
              <a:avLst/>
            </a:prstGeom>
            <a:noFill/>
            <a:ln>
              <a:solidFill>
                <a:schemeClr val="tx1"/>
              </a:solidFill>
            </a:ln>
          </p:spPr>
          <p:txBody>
            <a:bodyPr wrap="none" rtlCol="0">
              <a:spAutoFit/>
            </a:bodyPr>
            <a:lstStyle/>
            <a:p>
              <a:r>
                <a:rPr lang="sv-SE"/>
                <a:t>två instanser av </a:t>
              </a:r>
            </a:p>
            <a:p>
              <a:r>
                <a:rPr lang="sv-SE"/>
                <a:t>struct Player</a:t>
              </a:r>
              <a:endParaRPr lang="LID4096"/>
            </a:p>
          </p:txBody>
        </p:sp>
        <p:sp>
          <p:nvSpPr>
            <p:cNvPr id="16" name="Rectangle 15">
              <a:extLst>
                <a:ext uri="{FF2B5EF4-FFF2-40B4-BE49-F238E27FC236}">
                  <a16:creationId xmlns:a16="http://schemas.microsoft.com/office/drawing/2014/main" id="{25E34C4F-9C20-EB60-E134-D884AD7A3AC6}"/>
                </a:ext>
              </a:extLst>
            </p:cNvPr>
            <p:cNvSpPr/>
            <p:nvPr/>
          </p:nvSpPr>
          <p:spPr>
            <a:xfrm>
              <a:off x="-696036" y="2115404"/>
              <a:ext cx="907576"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7" name="Straight Connector 16">
              <a:extLst>
                <a:ext uri="{FF2B5EF4-FFF2-40B4-BE49-F238E27FC236}">
                  <a16:creationId xmlns:a16="http://schemas.microsoft.com/office/drawing/2014/main" id="{0925183B-C5C4-D785-1848-3AFA32AE4C8A}"/>
                </a:ext>
              </a:extLst>
            </p:cNvPr>
            <p:cNvCxnSpPr>
              <a:cxnSpLocks/>
              <a:stCxn id="15" idx="1"/>
              <a:endCxn id="16" idx="2"/>
            </p:cNvCxnSpPr>
            <p:nvPr/>
          </p:nvCxnSpPr>
          <p:spPr>
            <a:xfrm flipH="1" flipV="1">
              <a:off x="-242248" y="2306472"/>
              <a:ext cx="1943119" cy="37695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6437C72B-1A52-2EEE-4056-56EFC69D4E60}"/>
                </a:ext>
              </a:extLst>
            </p:cNvPr>
            <p:cNvSpPr/>
            <p:nvPr/>
          </p:nvSpPr>
          <p:spPr>
            <a:xfrm>
              <a:off x="311625" y="2119112"/>
              <a:ext cx="907576" cy="191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3" name="Straight Connector 22">
              <a:extLst>
                <a:ext uri="{FF2B5EF4-FFF2-40B4-BE49-F238E27FC236}">
                  <a16:creationId xmlns:a16="http://schemas.microsoft.com/office/drawing/2014/main" id="{EB1B1982-C46E-E3DF-E1FD-E9205729AD79}"/>
                </a:ext>
              </a:extLst>
            </p:cNvPr>
            <p:cNvCxnSpPr>
              <a:cxnSpLocks/>
              <a:stCxn id="15" idx="1"/>
              <a:endCxn id="22" idx="2"/>
            </p:cNvCxnSpPr>
            <p:nvPr/>
          </p:nvCxnSpPr>
          <p:spPr>
            <a:xfrm flipH="1" flipV="1">
              <a:off x="765413" y="2310180"/>
              <a:ext cx="935458" cy="373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BF3D3CAB-F87D-0BDC-9005-D4085E45886E}"/>
              </a:ext>
            </a:extLst>
          </p:cNvPr>
          <p:cNvGrpSpPr/>
          <p:nvPr/>
        </p:nvGrpSpPr>
        <p:grpSpPr>
          <a:xfrm>
            <a:off x="838200" y="3820445"/>
            <a:ext cx="4017819" cy="1713212"/>
            <a:chOff x="-999028" y="1171523"/>
            <a:chExt cx="4017819" cy="1713212"/>
          </a:xfrm>
        </p:grpSpPr>
        <p:sp>
          <p:nvSpPr>
            <p:cNvPr id="29" name="TextBox 28">
              <a:extLst>
                <a:ext uri="{FF2B5EF4-FFF2-40B4-BE49-F238E27FC236}">
                  <a16:creationId xmlns:a16="http://schemas.microsoft.com/office/drawing/2014/main" id="{9D6331F5-2DE9-23E1-707F-4038CAB688ED}"/>
                </a:ext>
              </a:extLst>
            </p:cNvPr>
            <p:cNvSpPr txBox="1"/>
            <p:nvPr/>
          </p:nvSpPr>
          <p:spPr>
            <a:xfrm>
              <a:off x="-838355" y="1961405"/>
              <a:ext cx="3857146" cy="923330"/>
            </a:xfrm>
            <a:prstGeom prst="rect">
              <a:avLst/>
            </a:prstGeom>
            <a:noFill/>
            <a:ln>
              <a:solidFill>
                <a:schemeClr val="tx1"/>
              </a:solidFill>
            </a:ln>
          </p:spPr>
          <p:txBody>
            <a:bodyPr wrap="none" rtlCol="0">
              <a:spAutoFit/>
            </a:bodyPr>
            <a:lstStyle/>
            <a:p>
              <a:r>
                <a:rPr lang="sv-SE"/>
                <a:t>En ny instans måste deklareras</a:t>
              </a:r>
            </a:p>
            <a:p>
              <a:r>
                <a:rPr lang="sv-SE"/>
                <a:t>som: </a:t>
              </a:r>
            </a:p>
            <a:p>
              <a:r>
                <a:rPr lang="sv-SE">
                  <a:latin typeface="Consolas" panose="020B0609020204030204" pitchFamily="49" charset="0"/>
                </a:rPr>
                <a:t>struct </a:t>
              </a:r>
              <a:r>
                <a:rPr lang="en-GB">
                  <a:latin typeface="Consolas" panose="020B0609020204030204" pitchFamily="49" charset="0"/>
                </a:rPr>
                <a:t>&lt;name&gt; &lt;instance name&gt;</a:t>
              </a:r>
              <a:endParaRPr lang="LID4096">
                <a:latin typeface="Consolas" panose="020B0609020204030204" pitchFamily="49" charset="0"/>
              </a:endParaRPr>
            </a:p>
          </p:txBody>
        </p:sp>
        <p:sp>
          <p:nvSpPr>
            <p:cNvPr id="30" name="Rectangle 29">
              <a:extLst>
                <a:ext uri="{FF2B5EF4-FFF2-40B4-BE49-F238E27FC236}">
                  <a16:creationId xmlns:a16="http://schemas.microsoft.com/office/drawing/2014/main" id="{2DD4680B-380E-8F55-653F-4DF01B930489}"/>
                </a:ext>
              </a:extLst>
            </p:cNvPr>
            <p:cNvSpPr/>
            <p:nvPr/>
          </p:nvSpPr>
          <p:spPr>
            <a:xfrm>
              <a:off x="-999028" y="1171523"/>
              <a:ext cx="2246194" cy="23293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31" name="Straight Connector 30">
              <a:extLst>
                <a:ext uri="{FF2B5EF4-FFF2-40B4-BE49-F238E27FC236}">
                  <a16:creationId xmlns:a16="http://schemas.microsoft.com/office/drawing/2014/main" id="{78740689-56D3-F8AD-2E45-DD3D60A7909C}"/>
                </a:ext>
              </a:extLst>
            </p:cNvPr>
            <p:cNvCxnSpPr>
              <a:cxnSpLocks/>
              <a:stCxn id="29" idx="0"/>
              <a:endCxn id="30" idx="2"/>
            </p:cNvCxnSpPr>
            <p:nvPr/>
          </p:nvCxnSpPr>
          <p:spPr>
            <a:xfrm flipH="1" flipV="1">
              <a:off x="124069" y="1404462"/>
              <a:ext cx="966149" cy="55694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Text Placeholder 5">
            <a:extLst>
              <a:ext uri="{FF2B5EF4-FFF2-40B4-BE49-F238E27FC236}">
                <a16:creationId xmlns:a16="http://schemas.microsoft.com/office/drawing/2014/main" id="{58A0C93A-38A5-EB45-759F-6B9FD12841B9}"/>
              </a:ext>
            </a:extLst>
          </p:cNvPr>
          <p:cNvSpPr txBox="1">
            <a:spLocks/>
          </p:cNvSpPr>
          <p:nvPr/>
        </p:nvSpPr>
        <p:spPr>
          <a:xfrm>
            <a:off x="5223249" y="1324343"/>
            <a:ext cx="2806184" cy="376627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2400" b="1" dirty="0">
                <a:latin typeface="+mj-lt"/>
              </a:rPr>
              <a:t>Namnlös struct</a:t>
            </a:r>
          </a:p>
          <a:p>
            <a:pPr marL="0" indent="0">
              <a:buFont typeface="Arial" panose="020B0604020202020204" pitchFamily="34" charset="0"/>
              <a:buNone/>
            </a:pPr>
            <a:r>
              <a:rPr lang="sv-SE" sz="1200" b="1" dirty="0">
                <a:latin typeface="+mj-lt"/>
              </a:rPr>
              <a:t>Vi kan skapa instanser av en strukt utan att ange struktens namn. Användbart när den bara behövs på ett ställe. </a:t>
            </a:r>
          </a:p>
          <a:p>
            <a:pPr marL="0" indent="0">
              <a:buFont typeface="Arial" panose="020B0604020202020204" pitchFamily="34" charset="0"/>
              <a:buNone/>
            </a:pPr>
            <a:br>
              <a:rPr lang="sv-SE" sz="1200" dirty="0">
                <a:solidFill>
                  <a:schemeClr val="accent1">
                    <a:lumMod val="75000"/>
                  </a:schemeClr>
                </a:solidFill>
                <a:latin typeface="Consolas" panose="020B0609020204030204" pitchFamily="49" charset="0"/>
              </a:rPr>
            </a:br>
            <a:r>
              <a:rPr lang="sv-SE" sz="1200" dirty="0">
                <a:solidFill>
                  <a:schemeClr val="accent1">
                    <a:lumMod val="75000"/>
                  </a:schemeClr>
                </a:solidFill>
                <a:latin typeface="Consolas" panose="020B0609020204030204" pitchFamily="49" charset="0"/>
              </a:rPr>
              <a:t>struct</a:t>
            </a:r>
            <a:r>
              <a:rPr lang="sv-SE" sz="1200" dirty="0">
                <a:latin typeface="Consolas" panose="020B0609020204030204" pitchFamily="49" charset="0"/>
              </a:rPr>
              <a:t> </a:t>
            </a:r>
            <a:r>
              <a:rPr lang="en-GB" sz="1200" dirty="0">
                <a:latin typeface="Consolas" panose="020B0609020204030204" pitchFamily="49" charset="0"/>
              </a:rPr>
              <a:t>{</a:t>
            </a:r>
          </a:p>
          <a:p>
            <a:pPr marL="0" indent="0">
              <a:buFont typeface="Arial" panose="020B0604020202020204" pitchFamily="34" charset="0"/>
              <a:buNone/>
            </a:pPr>
            <a:r>
              <a:rPr lang="en-GB" sz="1200" dirty="0">
                <a:latin typeface="Consolas" panose="020B0609020204030204" pitchFamily="49" charset="0"/>
              </a:rPr>
              <a:t>  </a:t>
            </a:r>
            <a:r>
              <a:rPr lang="en-GB" sz="1200" dirty="0">
                <a:solidFill>
                  <a:schemeClr val="accent1">
                    <a:lumMod val="75000"/>
                  </a:schemeClr>
                </a:solidFill>
                <a:latin typeface="Consolas" panose="020B0609020204030204" pitchFamily="49" charset="0"/>
              </a:rPr>
              <a:t>int</a:t>
            </a:r>
            <a:r>
              <a:rPr lang="en-GB" sz="1200" dirty="0">
                <a:latin typeface="Consolas" panose="020B0609020204030204" pitchFamily="49" charset="0"/>
              </a:rPr>
              <a:t> score; </a:t>
            </a:r>
          </a:p>
          <a:p>
            <a:pPr marL="0" indent="0">
              <a:buFont typeface="Arial" panose="020B0604020202020204" pitchFamily="34" charset="0"/>
              <a:buNone/>
            </a:pPr>
            <a:r>
              <a:rPr lang="en-GB" sz="1200" dirty="0">
                <a:latin typeface="Consolas" panose="020B0609020204030204" pitchFamily="49" charset="0"/>
              </a:rPr>
              <a:t>  </a:t>
            </a:r>
            <a:r>
              <a:rPr lang="en-GB" sz="1200" dirty="0">
                <a:solidFill>
                  <a:schemeClr val="accent1">
                    <a:lumMod val="75000"/>
                  </a:schemeClr>
                </a:solidFill>
                <a:latin typeface="Consolas" panose="020B0609020204030204" pitchFamily="49" charset="0"/>
              </a:rPr>
              <a:t>int</a:t>
            </a:r>
            <a:r>
              <a:rPr lang="en-GB" sz="1200" dirty="0">
                <a:latin typeface="Consolas" panose="020B0609020204030204" pitchFamily="49" charset="0"/>
              </a:rPr>
              <a:t> health; </a:t>
            </a:r>
          </a:p>
          <a:p>
            <a:pPr marL="0" indent="0">
              <a:buFont typeface="Arial" panose="020B0604020202020204" pitchFamily="34" charset="0"/>
              <a:buNone/>
            </a:pPr>
            <a:r>
              <a:rPr lang="en-GB" sz="1200" dirty="0">
                <a:latin typeface="Consolas" panose="020B0609020204030204" pitchFamily="49" charset="0"/>
              </a:rPr>
              <a:t>} </a:t>
            </a:r>
            <a:r>
              <a:rPr lang="en-GB" sz="1200" dirty="0" err="1">
                <a:latin typeface="Consolas" panose="020B0609020204030204" pitchFamily="49" charset="0"/>
              </a:rPr>
              <a:t>player_one</a:t>
            </a:r>
            <a:r>
              <a:rPr lang="en-GB" sz="1200" dirty="0">
                <a:latin typeface="Consolas" panose="020B0609020204030204" pitchFamily="49" charset="0"/>
              </a:rPr>
              <a:t>, </a:t>
            </a:r>
            <a:r>
              <a:rPr lang="en-GB" sz="1200" dirty="0" err="1">
                <a:latin typeface="Consolas" panose="020B0609020204030204" pitchFamily="49" charset="0"/>
              </a:rPr>
              <a:t>player_two</a:t>
            </a:r>
            <a:r>
              <a:rPr lang="en-GB" sz="1200" dirty="0">
                <a:latin typeface="Consolas" panose="020B0609020204030204" pitchFamily="49" charset="0"/>
              </a:rPr>
              <a:t>;</a:t>
            </a:r>
          </a:p>
          <a:p>
            <a:pPr marL="0" indent="0">
              <a:buFont typeface="Arial" panose="020B0604020202020204" pitchFamily="34" charset="0"/>
              <a:buNone/>
            </a:pPr>
            <a:endParaRPr lang="en-GB" sz="1200" dirty="0">
              <a:latin typeface="Consolas" panose="020B0609020204030204" pitchFamily="49" charset="0"/>
            </a:endParaRPr>
          </a:p>
          <a:p>
            <a:pPr marL="0" indent="0">
              <a:buFont typeface="Arial" panose="020B0604020202020204" pitchFamily="34" charset="0"/>
              <a:buNone/>
            </a:pPr>
            <a:r>
              <a:rPr lang="en-GB" sz="1200" dirty="0">
                <a:latin typeface="Consolas" panose="020B0609020204030204" pitchFamily="49" charset="0"/>
              </a:rPr>
              <a:t>void main() {</a:t>
            </a:r>
          </a:p>
          <a:p>
            <a:pPr marL="0" indent="0">
              <a:buFont typeface="Arial" panose="020B0604020202020204" pitchFamily="34" charset="0"/>
              <a:buNone/>
            </a:pPr>
            <a:r>
              <a:rPr lang="en-GB" sz="1200" dirty="0">
                <a:latin typeface="Consolas" panose="020B0609020204030204" pitchFamily="49" charset="0"/>
              </a:rPr>
              <a:t>  </a:t>
            </a:r>
            <a:r>
              <a:rPr lang="en-GB" sz="1200" dirty="0" err="1">
                <a:latin typeface="Consolas" panose="020B0609020204030204" pitchFamily="49" charset="0"/>
              </a:rPr>
              <a:t>player_one.health</a:t>
            </a:r>
            <a:r>
              <a:rPr lang="en-GB" sz="1200" dirty="0">
                <a:latin typeface="Consolas" panose="020B0609020204030204" pitchFamily="49" charset="0"/>
              </a:rPr>
              <a:t> = 1;</a:t>
            </a:r>
          </a:p>
          <a:p>
            <a:pPr marL="0" indent="0">
              <a:buFont typeface="Arial" panose="020B0604020202020204" pitchFamily="34" charset="0"/>
              <a:buNone/>
            </a:pPr>
            <a:r>
              <a:rPr lang="en-GB" sz="1200" dirty="0">
                <a:latin typeface="Consolas" panose="020B0609020204030204" pitchFamily="49" charset="0"/>
              </a:rPr>
              <a:t>}</a:t>
            </a:r>
          </a:p>
          <a:p>
            <a:pPr marL="0" indent="0">
              <a:buFont typeface="Arial" panose="020B0604020202020204" pitchFamily="34" charset="0"/>
              <a:buNone/>
            </a:pPr>
            <a:endParaRPr lang="sv-SE" dirty="0"/>
          </a:p>
        </p:txBody>
      </p:sp>
      <p:sp>
        <p:nvSpPr>
          <p:cNvPr id="40" name="Text Placeholder 5">
            <a:extLst>
              <a:ext uri="{FF2B5EF4-FFF2-40B4-BE49-F238E27FC236}">
                <a16:creationId xmlns:a16="http://schemas.microsoft.com/office/drawing/2014/main" id="{8C0648D5-35A7-59B8-0F5D-3470EEAC0D50}"/>
              </a:ext>
            </a:extLst>
          </p:cNvPr>
          <p:cNvSpPr txBox="1">
            <a:spLocks/>
          </p:cNvSpPr>
          <p:nvPr/>
        </p:nvSpPr>
        <p:spPr>
          <a:xfrm>
            <a:off x="8274454" y="1579160"/>
            <a:ext cx="3626393" cy="4603276"/>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2400" b="1">
                <a:latin typeface="+mj-lt"/>
              </a:rPr>
              <a:t>Namnlös struct med alias</a:t>
            </a:r>
          </a:p>
          <a:p>
            <a:pPr marL="0" indent="0">
              <a:buFont typeface="Arial" panose="020B0604020202020204" pitchFamily="34" charset="0"/>
              <a:buNone/>
            </a:pPr>
            <a:r>
              <a:rPr lang="sv-SE" sz="1200" b="1">
                <a:latin typeface="+mj-lt"/>
              </a:rPr>
              <a:t>Vi kan använda typedef för att ge ett alias till en namnlös struct, för att få en syntax vi är mer vana vid</a:t>
            </a:r>
          </a:p>
          <a:p>
            <a:pPr marL="0" indent="0">
              <a:buFont typeface="Arial" panose="020B0604020202020204" pitchFamily="34" charse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Font typeface="Arial" panose="020B0604020202020204" pitchFamily="34" charse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Font typeface="Arial" panose="020B0604020202020204" pitchFamily="34" charse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Font typeface="Arial" panose="020B0604020202020204" pitchFamily="34" charset="0"/>
              <a:buNone/>
            </a:pPr>
            <a:r>
              <a:rPr lang="en-GB" sz="1200">
                <a:latin typeface="Consolas" panose="020B0609020204030204" pitchFamily="49" charset="0"/>
              </a:rPr>
              <a:t>} Player; </a:t>
            </a:r>
          </a:p>
          <a:p>
            <a:pPr marL="0" indent="0">
              <a:buFont typeface="Arial" panose="020B0604020202020204" pitchFamily="34" charset="0"/>
              <a:buNone/>
            </a:pPr>
            <a:endParaRPr lang="en-GB" sz="1200">
              <a:latin typeface="Consolas" panose="020B0609020204030204" pitchFamily="49" charset="0"/>
            </a:endParaRPr>
          </a:p>
          <a:p>
            <a:pPr marL="0" indent="0">
              <a:buFont typeface="Arial" panose="020B0604020202020204" pitchFamily="34" charset="0"/>
              <a:buNone/>
            </a:pPr>
            <a:r>
              <a:rPr lang="en-GB" sz="1200">
                <a:latin typeface="Consolas" panose="020B0609020204030204" pitchFamily="49" charset="0"/>
              </a:rPr>
              <a:t>void main() {</a:t>
            </a:r>
          </a:p>
          <a:p>
            <a:pPr marL="0" indent="0">
              <a:buFont typeface="Arial" panose="020B0604020202020204" pitchFamily="34" charset="0"/>
              <a:buNone/>
            </a:pPr>
            <a:r>
              <a:rPr lang="en-GB" sz="1200">
                <a:latin typeface="Consolas" panose="020B0609020204030204" pitchFamily="49" charset="0"/>
              </a:rPr>
              <a:t>  Player player_one; </a:t>
            </a:r>
          </a:p>
          <a:p>
            <a:pPr marL="0" indent="0">
              <a:buFont typeface="Arial" panose="020B0604020202020204" pitchFamily="34" charset="0"/>
              <a:buNone/>
            </a:pPr>
            <a:r>
              <a:rPr lang="en-GB" sz="1200">
                <a:latin typeface="Consolas" panose="020B0609020204030204" pitchFamily="49" charset="0"/>
              </a:rPr>
              <a:t>  player_one.health = 1;</a:t>
            </a:r>
          </a:p>
          <a:p>
            <a:pPr marL="0" indent="0">
              <a:buFont typeface="Arial" panose="020B0604020202020204" pitchFamily="34" charset="0"/>
              <a:buNone/>
            </a:pPr>
            <a:r>
              <a:rPr lang="en-GB" sz="1200">
                <a:latin typeface="Consolas" panose="020B0609020204030204" pitchFamily="49" charset="0"/>
              </a:rPr>
              <a:t>}</a:t>
            </a:r>
          </a:p>
          <a:p>
            <a:pPr marL="0" indent="0">
              <a:buFont typeface="Arial" panose="020B0604020202020204" pitchFamily="34" charset="0"/>
              <a:buNone/>
            </a:pPr>
            <a:endParaRPr lang="sv-SE"/>
          </a:p>
        </p:txBody>
      </p:sp>
    </p:spTree>
    <p:extLst>
      <p:ext uri="{BB962C8B-B14F-4D97-AF65-F5344CB8AC3E}">
        <p14:creationId xmlns:p14="http://schemas.microsoft.com/office/powerpoint/2010/main" val="3905448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5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A720BB2-3DA6-C2EA-A7EA-F9B026FA3B08}"/>
              </a:ext>
            </a:extLst>
          </p:cNvPr>
          <p:cNvSpPr>
            <a:spLocks noGrp="1"/>
          </p:cNvSpPr>
          <p:nvPr>
            <p:ph type="title"/>
          </p:nvPr>
        </p:nvSpPr>
        <p:spPr/>
        <p:txBody>
          <a:bodyPr/>
          <a:lstStyle/>
          <a:p>
            <a:r>
              <a:rPr lang="sv-SE"/>
              <a:t>Structures - Initialisering</a:t>
            </a:r>
            <a:endParaRPr lang="LID4096"/>
          </a:p>
        </p:txBody>
      </p:sp>
      <p:sp>
        <p:nvSpPr>
          <p:cNvPr id="7" name="Text Placeholder 5">
            <a:extLst>
              <a:ext uri="{FF2B5EF4-FFF2-40B4-BE49-F238E27FC236}">
                <a16:creationId xmlns:a16="http://schemas.microsoft.com/office/drawing/2014/main" id="{BA0DBFD4-4ECB-FD93-0D8D-C3DD3BC8611F}"/>
              </a:ext>
            </a:extLst>
          </p:cNvPr>
          <p:cNvSpPr>
            <a:spLocks noGrp="1"/>
          </p:cNvSpPr>
          <p:nvPr>
            <p:ph idx="1"/>
          </p:nvPr>
        </p:nvSpPr>
        <p:spPr/>
        <p:txBody>
          <a:bodyPr/>
          <a:lstStyle/>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Initialiseras till 0</a:t>
            </a:r>
          </a:p>
          <a:p>
            <a:pPr marL="0" indent="0">
              <a:buNone/>
            </a:pPr>
            <a:r>
              <a:rPr lang="en-GB" sz="1200">
                <a:latin typeface="Consolas" panose="020B0609020204030204" pitchFamily="49" charset="0"/>
              </a:rPr>
              <a:t>                      // (hela uninitialized data arean)</a:t>
            </a:r>
            <a:endParaRPr lang="en-GB" sz="1200">
              <a:solidFill>
                <a:schemeClr val="accent1">
                  <a:lumMod val="75000"/>
                </a:schemeClr>
              </a:solidFill>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  Player player_two;                   // Initialiseras </a:t>
            </a:r>
            <a:r>
              <a:rPr lang="en-GB" sz="1200" i="1">
                <a:latin typeface="Consolas" panose="020B0609020204030204" pitchFamily="49" charset="0"/>
              </a:rPr>
              <a:t>inte</a:t>
            </a:r>
          </a:p>
          <a:p>
            <a:pPr marL="0" indent="0">
              <a:buNone/>
            </a:pPr>
            <a:r>
              <a:rPr lang="en-GB" sz="1200">
                <a:latin typeface="Consolas" panose="020B0609020204030204" pitchFamily="49" charset="0"/>
              </a:rPr>
              <a:t>  Player player_three = {0, 100};      // score 0, health 100</a:t>
            </a:r>
          </a:p>
          <a:p>
            <a:pPr marL="0" indent="0">
              <a:buNone/>
            </a:pPr>
            <a:r>
              <a:rPr lang="en-GB" sz="1200">
                <a:latin typeface="Consolas" panose="020B0609020204030204" pitchFamily="49" charset="0"/>
              </a:rPr>
              <a:t>  Player player_four = {5};            // score 5, health 0</a:t>
            </a:r>
          </a:p>
          <a:p>
            <a:pPr marL="0" indent="0">
              <a:buNone/>
            </a:pPr>
            <a:r>
              <a:rPr lang="en-GB" sz="1200">
                <a:latin typeface="Consolas" panose="020B0609020204030204" pitchFamily="49" charset="0"/>
              </a:rPr>
              <a:t>  Player player_five = {};             // score 0, health 0</a:t>
            </a:r>
          </a:p>
          <a:p>
            <a:pPr marL="0" indent="0">
              <a:buNone/>
            </a:pPr>
            <a:r>
              <a:rPr lang="en-GB" sz="1200">
                <a:latin typeface="Consolas" panose="020B0609020204030204" pitchFamily="49" charset="0"/>
              </a:rPr>
              <a:t>  Player player_six = {.health = 57}; // score 0, health 57</a:t>
            </a:r>
          </a:p>
          <a:p>
            <a:pPr marL="0" indent="0">
              <a:buNone/>
            </a:pPr>
            <a:r>
              <a:rPr lang="en-GB" sz="1200">
                <a:latin typeface="Consolas" panose="020B0609020204030204" pitchFamily="49" charset="0"/>
              </a:rPr>
              <a:t>}</a:t>
            </a:r>
          </a:p>
        </p:txBody>
      </p:sp>
      <p:sp>
        <p:nvSpPr>
          <p:cNvPr id="3" name="Date Placeholder 2">
            <a:extLst>
              <a:ext uri="{FF2B5EF4-FFF2-40B4-BE49-F238E27FC236}">
                <a16:creationId xmlns:a16="http://schemas.microsoft.com/office/drawing/2014/main" id="{680FD628-3C14-4A2C-88F1-10C81C7C954B}"/>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1287E34D-FD32-9383-F852-18B8982DBF0D}"/>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3A5C729D-B301-D24D-7B72-7A23C6B43331}"/>
              </a:ext>
            </a:extLst>
          </p:cNvPr>
          <p:cNvSpPr>
            <a:spLocks noGrp="1"/>
          </p:cNvSpPr>
          <p:nvPr>
            <p:ph type="sldNum" sz="quarter" idx="12"/>
          </p:nvPr>
        </p:nvSpPr>
        <p:spPr/>
        <p:txBody>
          <a:bodyPr/>
          <a:lstStyle/>
          <a:p>
            <a:fld id="{E46909CE-3A1D-43F5-8F4E-45D6477AD820}" type="slidenum">
              <a:rPr lang="LID4096" smtClean="0"/>
              <a:t>6</a:t>
            </a:fld>
            <a:endParaRPr lang="LID4096"/>
          </a:p>
        </p:txBody>
      </p:sp>
    </p:spTree>
    <p:extLst>
      <p:ext uri="{BB962C8B-B14F-4D97-AF65-F5344CB8AC3E}">
        <p14:creationId xmlns:p14="http://schemas.microsoft.com/office/powerpoint/2010/main" val="3464291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8" end="8"/>
                                            </p:txEl>
                                          </p:spTgt>
                                        </p:tgtEl>
                                        <p:attrNameLst>
                                          <p:attrName>style.visibility</p:attrName>
                                        </p:attrNameLst>
                                      </p:cBhvr>
                                      <p:to>
                                        <p:strVal val="visible"/>
                                      </p:to>
                                    </p:set>
                                    <p:animEffect transition="in" filter="fade">
                                      <p:cBhvr>
                                        <p:cTn id="7" dur="500"/>
                                        <p:tgtEl>
                                          <p:spTgt spid="7">
                                            <p:txEl>
                                              <p:pRg st="8" end="8"/>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9" end="9"/>
                                            </p:txEl>
                                          </p:spTgt>
                                        </p:tgtEl>
                                        <p:attrNameLst>
                                          <p:attrName>style.visibility</p:attrName>
                                        </p:attrNameLst>
                                      </p:cBhvr>
                                      <p:to>
                                        <p:strVal val="visible"/>
                                      </p:to>
                                    </p:set>
                                    <p:animEffect transition="in" filter="fade">
                                      <p:cBhvr>
                                        <p:cTn id="12" dur="500"/>
                                        <p:tgtEl>
                                          <p:spTgt spid="7">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10" end="10"/>
                                            </p:txEl>
                                          </p:spTgt>
                                        </p:tgtEl>
                                        <p:attrNameLst>
                                          <p:attrName>style.visibility</p:attrName>
                                        </p:attrNameLst>
                                      </p:cBhvr>
                                      <p:to>
                                        <p:strVal val="visible"/>
                                      </p:to>
                                    </p:set>
                                    <p:animEffect transition="in" filter="fade">
                                      <p:cBhvr>
                                        <p:cTn id="17" dur="500"/>
                                        <p:tgtEl>
                                          <p:spTgt spid="7">
                                            <p:txEl>
                                              <p:pRg st="10" end="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11" end="11"/>
                                            </p:txEl>
                                          </p:spTgt>
                                        </p:tgtEl>
                                        <p:attrNameLst>
                                          <p:attrName>style.visibility</p:attrName>
                                        </p:attrNameLst>
                                      </p:cBhvr>
                                      <p:to>
                                        <p:strVal val="visible"/>
                                      </p:to>
                                    </p:set>
                                    <p:animEffect transition="in" filter="fade">
                                      <p:cBhvr>
                                        <p:cTn id="22" dur="500"/>
                                        <p:tgtEl>
                                          <p:spTgt spid="7">
                                            <p:txEl>
                                              <p:pRg st="11" end="1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xEl>
                                              <p:pRg st="12" end="12"/>
                                            </p:txEl>
                                          </p:spTgt>
                                        </p:tgtEl>
                                        <p:attrNameLst>
                                          <p:attrName>style.visibility</p:attrName>
                                        </p:attrNameLst>
                                      </p:cBhvr>
                                      <p:to>
                                        <p:strVal val="visible"/>
                                      </p:to>
                                    </p:set>
                                    <p:animEffect transition="in" filter="fade">
                                      <p:cBhvr>
                                        <p:cTn id="27" dur="500"/>
                                        <p:tgtEl>
                                          <p:spTgt spid="7">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4F307-D522-3B18-42B5-830BA7D59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14FB1-B7BA-DD3C-E234-58C3D2EE8AEB}"/>
              </a:ext>
            </a:extLst>
          </p:cNvPr>
          <p:cNvSpPr>
            <a:spLocks noGrp="1"/>
          </p:cNvSpPr>
          <p:nvPr>
            <p:ph type="title"/>
          </p:nvPr>
        </p:nvSpPr>
        <p:spPr/>
        <p:txBody>
          <a:bodyPr/>
          <a:lstStyle/>
          <a:p>
            <a:r>
              <a:rPr lang="sv-SE"/>
              <a:t>Memory Alignment (repetition)</a:t>
            </a:r>
            <a:endParaRPr lang="LID4096"/>
          </a:p>
        </p:txBody>
      </p:sp>
      <p:pic>
        <p:nvPicPr>
          <p:cNvPr id="4" name="Picture 3">
            <a:extLst>
              <a:ext uri="{FF2B5EF4-FFF2-40B4-BE49-F238E27FC236}">
                <a16:creationId xmlns:a16="http://schemas.microsoft.com/office/drawing/2014/main" id="{4E738D9F-3B69-5412-B763-B4873DA794C0}"/>
              </a:ext>
            </a:extLst>
          </p:cNvPr>
          <p:cNvPicPr>
            <a:picLocks noChangeAspect="1"/>
          </p:cNvPicPr>
          <p:nvPr/>
        </p:nvPicPr>
        <p:blipFill>
          <a:blip r:embed="rId3"/>
          <a:stretch>
            <a:fillRect/>
          </a:stretch>
        </p:blipFill>
        <p:spPr>
          <a:xfrm>
            <a:off x="1012069" y="1985974"/>
            <a:ext cx="9948032" cy="4563157"/>
          </a:xfrm>
          <a:prstGeom prst="rect">
            <a:avLst/>
          </a:prstGeom>
        </p:spPr>
      </p:pic>
    </p:spTree>
    <p:extLst>
      <p:ext uri="{BB962C8B-B14F-4D97-AF65-F5344CB8AC3E}">
        <p14:creationId xmlns:p14="http://schemas.microsoft.com/office/powerpoint/2010/main" val="677052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86475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25">
            <a:extLst>
              <a:ext uri="{FF2B5EF4-FFF2-40B4-BE49-F238E27FC236}">
                <a16:creationId xmlns:a16="http://schemas.microsoft.com/office/drawing/2014/main" id="{7E920C08-FFD1-F38E-9E1B-9ECACB9D8EBC}"/>
              </a:ext>
            </a:extLst>
          </p:cNvPr>
          <p:cNvSpPr>
            <a:spLocks noGrp="1"/>
          </p:cNvSpPr>
          <p:nvPr>
            <p:ph type="title"/>
          </p:nvPr>
        </p:nvSpPr>
        <p:spPr/>
        <p:txBody>
          <a:bodyPr/>
          <a:lstStyle/>
          <a:p>
            <a:r>
              <a:rPr lang="sv-SE"/>
              <a:t>Structures i minnet</a:t>
            </a:r>
            <a:endParaRPr lang="LID4096"/>
          </a:p>
        </p:txBody>
      </p:sp>
      <p:sp>
        <p:nvSpPr>
          <p:cNvPr id="3" name="Date Placeholder 2">
            <a:extLst>
              <a:ext uri="{FF2B5EF4-FFF2-40B4-BE49-F238E27FC236}">
                <a16:creationId xmlns:a16="http://schemas.microsoft.com/office/drawing/2014/main" id="{0C3CAA80-17D4-95C1-B041-6C8881865198}"/>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DB93E2A1-95B2-774D-D3A4-71748DEE4C6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9B1ECDDF-7581-322D-65B5-B36FAF500D55}"/>
              </a:ext>
            </a:extLst>
          </p:cNvPr>
          <p:cNvSpPr>
            <a:spLocks noGrp="1"/>
          </p:cNvSpPr>
          <p:nvPr>
            <p:ph type="sldNum" sz="quarter" idx="12"/>
          </p:nvPr>
        </p:nvSpPr>
        <p:spPr/>
        <p:txBody>
          <a:bodyPr/>
          <a:lstStyle/>
          <a:p>
            <a:fld id="{E46909CE-3A1D-43F5-8F4E-45D6477AD820}" type="slidenum">
              <a:rPr lang="LID4096" smtClean="0"/>
              <a:t>9</a:t>
            </a:fld>
            <a:endParaRPr lang="LID4096"/>
          </a:p>
        </p:txBody>
      </p:sp>
      <p:sp>
        <p:nvSpPr>
          <p:cNvPr id="10" name="Content Placeholder 4">
            <a:extLst>
              <a:ext uri="{FF2B5EF4-FFF2-40B4-BE49-F238E27FC236}">
                <a16:creationId xmlns:a16="http://schemas.microsoft.com/office/drawing/2014/main" id="{880F4BA6-CC38-0E8F-348F-CF0CA5BC75AE}"/>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1200">
              <a:solidFill>
                <a:schemeClr val="accent1">
                  <a:lumMod val="75000"/>
                </a:schemeClr>
              </a:solidFill>
              <a:latin typeface="Consolas" panose="020B0609020204030204" pitchFamily="49" charset="0"/>
            </a:endParaRPr>
          </a:p>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short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{0, 100};</a:t>
            </a:r>
          </a:p>
          <a:p>
            <a:pPr marL="0" indent="0">
              <a:buNone/>
            </a:pPr>
            <a:r>
              <a:rPr lang="en-GB" sz="1200">
                <a:latin typeface="Consolas" panose="020B0609020204030204" pitchFamily="49" charset="0"/>
              </a:rPr>
              <a:t>Player player_two = {10, 200};</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a:t>
            </a:r>
          </a:p>
          <a:p>
            <a:pPr marL="0" indent="0">
              <a:buNone/>
            </a:pPr>
            <a:r>
              <a:rPr lang="en-GB" sz="1200">
                <a:latin typeface="Consolas" panose="020B0609020204030204" pitchFamily="49" charset="0"/>
              </a:rPr>
              <a:t>}</a:t>
            </a:r>
          </a:p>
        </p:txBody>
      </p:sp>
      <p:sp>
        <p:nvSpPr>
          <p:cNvPr id="11" name="Rectangle 10">
            <a:extLst>
              <a:ext uri="{FF2B5EF4-FFF2-40B4-BE49-F238E27FC236}">
                <a16:creationId xmlns:a16="http://schemas.microsoft.com/office/drawing/2014/main" id="{906B3BCD-AC9F-78C8-62D4-A411A0B739E3}"/>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82177E41-FCC3-E578-20DF-D53828E16AC3}"/>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83226401-C00E-8B8B-C72F-D815332151F1}"/>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4F66D607-0E0E-62EF-1934-C6D1A4C73107}"/>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238FD70D-5005-08D0-B1CF-65DCD60DC40E}"/>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4FDDA135-C277-E18B-8CCC-94D730696024}"/>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212D15C0-C2BA-27AC-630F-E3474E0F4C87}"/>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sp>
        <p:nvSpPr>
          <p:cNvPr id="18" name="TextBox 17">
            <a:extLst>
              <a:ext uri="{FF2B5EF4-FFF2-40B4-BE49-F238E27FC236}">
                <a16:creationId xmlns:a16="http://schemas.microsoft.com/office/drawing/2014/main" id="{C98F8E2E-0F2A-33B5-C5BA-B288F3C2B0BC}"/>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cxnSp>
        <p:nvCxnSpPr>
          <p:cNvPr id="20" name="Straight Arrow Connector 19">
            <a:extLst>
              <a:ext uri="{FF2B5EF4-FFF2-40B4-BE49-F238E27FC236}">
                <a16:creationId xmlns:a16="http://schemas.microsoft.com/office/drawing/2014/main" id="{624CEDFC-22DA-B240-88E4-1C75AA41BFAB}"/>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AEC34AA-F29C-BB30-B339-F82D0C6B4282}"/>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8BE51169-E97E-106F-A3BE-D5AEE62B4B28}"/>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23" name="Rectangle 22">
            <a:extLst>
              <a:ext uri="{FF2B5EF4-FFF2-40B4-BE49-F238E27FC236}">
                <a16:creationId xmlns:a16="http://schemas.microsoft.com/office/drawing/2014/main" id="{99A96C9A-A1C2-ABFE-680A-5CEE51FD3F22}"/>
              </a:ext>
            </a:extLst>
          </p:cNvPr>
          <p:cNvSpPr/>
          <p:nvPr/>
        </p:nvSpPr>
        <p:spPr>
          <a:xfrm>
            <a:off x="8014480" y="4127166"/>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5" name="TextBox 24">
            <a:extLst>
              <a:ext uri="{FF2B5EF4-FFF2-40B4-BE49-F238E27FC236}">
                <a16:creationId xmlns:a16="http://schemas.microsoft.com/office/drawing/2014/main" id="{308B7EDD-15FC-5944-0E54-453292B15433}"/>
              </a:ext>
            </a:extLst>
          </p:cNvPr>
          <p:cNvSpPr txBox="1"/>
          <p:nvPr/>
        </p:nvSpPr>
        <p:spPr>
          <a:xfrm>
            <a:off x="8403182" y="4135768"/>
            <a:ext cx="848309" cy="253916"/>
          </a:xfrm>
          <a:prstGeom prst="rect">
            <a:avLst/>
          </a:prstGeom>
          <a:noFill/>
        </p:spPr>
        <p:txBody>
          <a:bodyPr wrap="none" rtlCol="0">
            <a:spAutoFit/>
          </a:bodyPr>
          <a:lstStyle/>
          <a:p>
            <a:r>
              <a:rPr lang="sv-SE" sz="1050">
                <a:latin typeface="Consolas" panose="020B0609020204030204" pitchFamily="49" charset="0"/>
              </a:rPr>
              <a:t>score = 0</a:t>
            </a:r>
            <a:endParaRPr lang="LID4096" sz="1050">
              <a:latin typeface="Consolas" panose="020B0609020204030204" pitchFamily="49" charset="0"/>
            </a:endParaRPr>
          </a:p>
        </p:txBody>
      </p:sp>
      <p:sp>
        <p:nvSpPr>
          <p:cNvPr id="2" name="Rectangle 1">
            <a:extLst>
              <a:ext uri="{FF2B5EF4-FFF2-40B4-BE49-F238E27FC236}">
                <a16:creationId xmlns:a16="http://schemas.microsoft.com/office/drawing/2014/main" id="{929AF917-3E19-3E4B-31DD-1DAAF9267368}"/>
              </a:ext>
            </a:extLst>
          </p:cNvPr>
          <p:cNvSpPr/>
          <p:nvPr/>
        </p:nvSpPr>
        <p:spPr>
          <a:xfrm>
            <a:off x="8834650" y="3864648"/>
            <a:ext cx="849405"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108206C0-FB46-1806-7A3F-3F019AD90240}"/>
              </a:ext>
            </a:extLst>
          </p:cNvPr>
          <p:cNvSpPr txBox="1"/>
          <p:nvPr/>
        </p:nvSpPr>
        <p:spPr>
          <a:xfrm>
            <a:off x="8795330" y="3893506"/>
            <a:ext cx="954107" cy="230832"/>
          </a:xfrm>
          <a:prstGeom prst="rect">
            <a:avLst/>
          </a:prstGeom>
          <a:noFill/>
        </p:spPr>
        <p:txBody>
          <a:bodyPr wrap="non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8" name="TextBox 7">
            <a:extLst>
              <a:ext uri="{FF2B5EF4-FFF2-40B4-BE49-F238E27FC236}">
                <a16:creationId xmlns:a16="http://schemas.microsoft.com/office/drawing/2014/main" id="{4EFB6A7B-512E-0EB9-2FEF-3CE1C26137B0}"/>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EFE82248-D22C-2E8C-582A-89FCE83DCB13}"/>
              </a:ext>
            </a:extLst>
          </p:cNvPr>
          <p:cNvSpPr txBox="1">
            <a:spLocks/>
          </p:cNvSpPr>
          <p:nvPr/>
        </p:nvSpPr>
        <p:spPr>
          <a:xfrm>
            <a:off x="3292734" y="5064912"/>
            <a:ext cx="3235445" cy="897412"/>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Structens startaddress alignas så att den är jämnt delbar med storleken på den </a:t>
            </a:r>
            <a:r>
              <a:rPr lang="sv-SE" sz="1600" b="1" i="1">
                <a:latin typeface="+mj-lt"/>
              </a:rPr>
              <a:t>största ingående typen </a:t>
            </a:r>
            <a:r>
              <a:rPr lang="sv-SE" sz="1600" b="1">
                <a:latin typeface="+mj-lt"/>
              </a:rPr>
              <a:t>(int här).</a:t>
            </a:r>
          </a:p>
        </p:txBody>
      </p:sp>
      <p:sp>
        <p:nvSpPr>
          <p:cNvPr id="30" name="Rectangle 29">
            <a:extLst>
              <a:ext uri="{FF2B5EF4-FFF2-40B4-BE49-F238E27FC236}">
                <a16:creationId xmlns:a16="http://schemas.microsoft.com/office/drawing/2014/main" id="{1620F95D-3A5A-D2C3-30E2-B09375A2140B}"/>
              </a:ext>
            </a:extLst>
          </p:cNvPr>
          <p:cNvSpPr/>
          <p:nvPr/>
        </p:nvSpPr>
        <p:spPr>
          <a:xfrm>
            <a:off x="8024748" y="3876134"/>
            <a:ext cx="805740" cy="248204"/>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34" name="Group 33">
            <a:extLst>
              <a:ext uri="{FF2B5EF4-FFF2-40B4-BE49-F238E27FC236}">
                <a16:creationId xmlns:a16="http://schemas.microsoft.com/office/drawing/2014/main" id="{378491EE-D059-0DEB-ECC5-FDCA8EA3F901}"/>
              </a:ext>
            </a:extLst>
          </p:cNvPr>
          <p:cNvGrpSpPr/>
          <p:nvPr/>
        </p:nvGrpSpPr>
        <p:grpSpPr>
          <a:xfrm>
            <a:off x="5663435" y="3359333"/>
            <a:ext cx="4280664" cy="529986"/>
            <a:chOff x="5663435" y="3359333"/>
            <a:chExt cx="4280664" cy="529986"/>
          </a:xfrm>
        </p:grpSpPr>
        <p:sp>
          <p:nvSpPr>
            <p:cNvPr id="33" name="Rectangle 32">
              <a:extLst>
                <a:ext uri="{FF2B5EF4-FFF2-40B4-BE49-F238E27FC236}">
                  <a16:creationId xmlns:a16="http://schemas.microsoft.com/office/drawing/2014/main" id="{9E46B3E6-C3A0-A57E-7787-2FAAF59F96BA}"/>
                </a:ext>
              </a:extLst>
            </p:cNvPr>
            <p:cNvSpPr/>
            <p:nvPr/>
          </p:nvSpPr>
          <p:spPr>
            <a:xfrm>
              <a:off x="8825308" y="3359333"/>
              <a:ext cx="864947" cy="248204"/>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 name="TextBox 8">
              <a:extLst>
                <a:ext uri="{FF2B5EF4-FFF2-40B4-BE49-F238E27FC236}">
                  <a16:creationId xmlns:a16="http://schemas.microsoft.com/office/drawing/2014/main" id="{C0F9A779-3EDE-6B66-3A97-787D7D6E8847}"/>
                </a:ext>
              </a:extLst>
            </p:cNvPr>
            <p:cNvSpPr txBox="1"/>
            <p:nvPr/>
          </p:nvSpPr>
          <p:spPr>
            <a:xfrm>
              <a:off x="5663435" y="3627709"/>
              <a:ext cx="2390730" cy="261610"/>
            </a:xfrm>
            <a:prstGeom prst="rect">
              <a:avLst/>
            </a:prstGeom>
            <a:noFill/>
          </p:spPr>
          <p:txBody>
            <a:bodyPr wrap="square" rtlCol="0">
              <a:spAutoFit/>
            </a:bodyPr>
            <a:lstStyle/>
            <a:p>
              <a:pPr algn="r"/>
              <a:r>
                <a:rPr lang="sv-SE" sz="1100" b="1"/>
                <a:t>&amp;player_two: </a:t>
              </a:r>
              <a:r>
                <a:rPr lang="sv-SE" sz="1100"/>
                <a:t>0x21000108</a:t>
              </a:r>
              <a:endParaRPr lang="LID4096" sz="1100"/>
            </a:p>
          </p:txBody>
        </p:sp>
        <p:sp>
          <p:nvSpPr>
            <p:cNvPr id="19" name="Rectangle 18">
              <a:extLst>
                <a:ext uri="{FF2B5EF4-FFF2-40B4-BE49-F238E27FC236}">
                  <a16:creationId xmlns:a16="http://schemas.microsoft.com/office/drawing/2014/main" id="{3D374889-7496-C91A-8A00-57828C9C4D3A}"/>
                </a:ext>
              </a:extLst>
            </p:cNvPr>
            <p:cNvSpPr/>
            <p:nvPr/>
          </p:nvSpPr>
          <p:spPr>
            <a:xfrm>
              <a:off x="8018643" y="3607621"/>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953E6341-2A0D-AF46-C3B7-2A6847FBAE85}"/>
                </a:ext>
              </a:extLst>
            </p:cNvPr>
            <p:cNvSpPr txBox="1"/>
            <p:nvPr/>
          </p:nvSpPr>
          <p:spPr>
            <a:xfrm>
              <a:off x="8407345" y="3616223"/>
              <a:ext cx="922047" cy="253916"/>
            </a:xfrm>
            <a:prstGeom prst="rect">
              <a:avLst/>
            </a:prstGeom>
            <a:noFill/>
          </p:spPr>
          <p:txBody>
            <a:bodyPr wrap="none" rtlCol="0">
              <a:spAutoFit/>
            </a:bodyPr>
            <a:lstStyle/>
            <a:p>
              <a:r>
                <a:rPr lang="sv-SE" sz="1050">
                  <a:latin typeface="Consolas" panose="020B0609020204030204" pitchFamily="49" charset="0"/>
                </a:rPr>
                <a:t>score = 10</a:t>
              </a:r>
              <a:endParaRPr lang="LID4096" sz="1050">
                <a:latin typeface="Consolas" panose="020B0609020204030204" pitchFamily="49" charset="0"/>
              </a:endParaRPr>
            </a:p>
          </p:txBody>
        </p:sp>
        <p:sp>
          <p:nvSpPr>
            <p:cNvPr id="28" name="TextBox 27">
              <a:extLst>
                <a:ext uri="{FF2B5EF4-FFF2-40B4-BE49-F238E27FC236}">
                  <a16:creationId xmlns:a16="http://schemas.microsoft.com/office/drawing/2014/main" id="{0DA640CB-799C-8D4C-A98F-B61CFFBA8081}"/>
                </a:ext>
              </a:extLst>
            </p:cNvPr>
            <p:cNvSpPr txBox="1"/>
            <p:nvPr/>
          </p:nvSpPr>
          <p:spPr>
            <a:xfrm>
              <a:off x="5663772" y="3365645"/>
              <a:ext cx="2390730" cy="261610"/>
            </a:xfrm>
            <a:prstGeom prst="rect">
              <a:avLst/>
            </a:prstGeom>
            <a:noFill/>
          </p:spPr>
          <p:txBody>
            <a:bodyPr wrap="square" rtlCol="0">
              <a:spAutoFit/>
            </a:bodyPr>
            <a:lstStyle/>
            <a:p>
              <a:pPr algn="r"/>
              <a:r>
                <a:rPr lang="sv-SE" sz="1100"/>
                <a:t>0x2100010C</a:t>
              </a:r>
              <a:endParaRPr lang="LID4096" sz="1100"/>
            </a:p>
          </p:txBody>
        </p:sp>
        <p:sp>
          <p:nvSpPr>
            <p:cNvPr id="31" name="TextBox 30">
              <a:extLst>
                <a:ext uri="{FF2B5EF4-FFF2-40B4-BE49-F238E27FC236}">
                  <a16:creationId xmlns:a16="http://schemas.microsoft.com/office/drawing/2014/main" id="{ACA28DCB-AAB7-F037-3B6C-0921087BDB79}"/>
                </a:ext>
              </a:extLst>
            </p:cNvPr>
            <p:cNvSpPr txBox="1"/>
            <p:nvPr/>
          </p:nvSpPr>
          <p:spPr>
            <a:xfrm>
              <a:off x="8789152" y="3377431"/>
              <a:ext cx="1154947" cy="230832"/>
            </a:xfrm>
            <a:prstGeom prst="rect">
              <a:avLst/>
            </a:prstGeom>
            <a:noFill/>
          </p:spPr>
          <p:txBody>
            <a:bodyPr wrap="square" rtlCol="0">
              <a:spAutoFit/>
            </a:bodyPr>
            <a:lstStyle/>
            <a:p>
              <a:r>
                <a:rPr lang="sv-SE" sz="900">
                  <a:latin typeface="Consolas" panose="020B0609020204030204" pitchFamily="49" charset="0"/>
                </a:rPr>
                <a:t>health = 200</a:t>
              </a:r>
              <a:endParaRPr lang="LID4096" sz="900">
                <a:latin typeface="Consolas" panose="020B0609020204030204" pitchFamily="49" charset="0"/>
              </a:endParaRPr>
            </a:p>
          </p:txBody>
        </p:sp>
        <p:sp>
          <p:nvSpPr>
            <p:cNvPr id="32" name="Rectangle 31">
              <a:extLst>
                <a:ext uri="{FF2B5EF4-FFF2-40B4-BE49-F238E27FC236}">
                  <a16:creationId xmlns:a16="http://schemas.microsoft.com/office/drawing/2014/main" id="{08BE1B4A-BFD5-29DF-BBC2-4F19165B0F8D}"/>
                </a:ext>
              </a:extLst>
            </p:cNvPr>
            <p:cNvSpPr/>
            <p:nvPr/>
          </p:nvSpPr>
          <p:spPr>
            <a:xfrm>
              <a:off x="8018570" y="3360059"/>
              <a:ext cx="805740" cy="248204"/>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885108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7" end="7"/>
                                            </p:txEl>
                                          </p:spTgt>
                                        </p:tgtEl>
                                        <p:attrNameLst>
                                          <p:attrName>style.visibility</p:attrName>
                                        </p:attrNameLst>
                                      </p:cBhvr>
                                      <p:to>
                                        <p:strVal val="visible"/>
                                      </p:to>
                                    </p:set>
                                    <p:animEffect transition="in" filter="fade">
                                      <p:cBhvr>
                                        <p:cTn id="7" dur="500"/>
                                        <p:tgtEl>
                                          <p:spTgt spid="10">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par>
                                <p:cTn id="13" presetID="10"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054B1-468F-98DE-3488-84DC930F9E7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0AC11A8A-234E-0951-06C4-6173FF55BFAF}"/>
              </a:ext>
            </a:extLst>
          </p:cNvPr>
          <p:cNvSpPr>
            <a:spLocks noGrp="1"/>
          </p:cNvSpPr>
          <p:nvPr>
            <p:ph type="title"/>
          </p:nvPr>
        </p:nvSpPr>
        <p:spPr/>
        <p:txBody>
          <a:bodyPr/>
          <a:lstStyle/>
          <a:p>
            <a:r>
              <a:rPr lang="sv-SE"/>
              <a:t>Structures i minnet</a:t>
            </a:r>
            <a:endParaRPr lang="LID4096"/>
          </a:p>
        </p:txBody>
      </p:sp>
      <p:sp>
        <p:nvSpPr>
          <p:cNvPr id="3" name="Date Placeholder 2">
            <a:extLst>
              <a:ext uri="{FF2B5EF4-FFF2-40B4-BE49-F238E27FC236}">
                <a16:creationId xmlns:a16="http://schemas.microsoft.com/office/drawing/2014/main" id="{A7A364FD-7161-E82A-D43C-A805AFF2119D}"/>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F5FFE9F8-1BB8-270C-6FAF-980B8057FAD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BB6DACB-8C3F-4CDA-D5B3-28ECCDE56EB6}"/>
              </a:ext>
            </a:extLst>
          </p:cNvPr>
          <p:cNvSpPr>
            <a:spLocks noGrp="1"/>
          </p:cNvSpPr>
          <p:nvPr>
            <p:ph type="sldNum" sz="quarter" idx="12"/>
          </p:nvPr>
        </p:nvSpPr>
        <p:spPr/>
        <p:txBody>
          <a:bodyPr/>
          <a:lstStyle/>
          <a:p>
            <a:fld id="{E46909CE-3A1D-43F5-8F4E-45D6477AD820}" type="slidenum">
              <a:rPr lang="LID4096" smtClean="0"/>
              <a:t>10</a:t>
            </a:fld>
            <a:endParaRPr lang="LID4096"/>
          </a:p>
        </p:txBody>
      </p:sp>
      <p:sp>
        <p:nvSpPr>
          <p:cNvPr id="10" name="Content Placeholder 4">
            <a:extLst>
              <a:ext uri="{FF2B5EF4-FFF2-40B4-BE49-F238E27FC236}">
                <a16:creationId xmlns:a16="http://schemas.microsoft.com/office/drawing/2014/main" id="{28ECE494-7D7F-77CF-A516-6E3262FC1EE2}"/>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1200">
              <a:solidFill>
                <a:schemeClr val="accent1">
                  <a:lumMod val="75000"/>
                </a:schemeClr>
              </a:solidFill>
              <a:latin typeface="Consolas" panose="020B0609020204030204" pitchFamily="49" charset="0"/>
            </a:endParaRPr>
          </a:p>
          <a:p>
            <a:pPr marL="0" indent="0">
              <a:buNone/>
            </a:pPr>
            <a:br>
              <a:rPr lang="sv-SE" sz="1200">
                <a:solidFill>
                  <a:schemeClr val="accent1">
                    <a:lumMod val="75000"/>
                  </a:schemeClr>
                </a:solidFill>
                <a:latin typeface="Consolas" panose="020B0609020204030204" pitchFamily="49" charset="0"/>
              </a:rPr>
            </a:br>
            <a:r>
              <a:rPr lang="sv-SE" sz="1200">
                <a:solidFill>
                  <a:schemeClr val="accent1">
                    <a:lumMod val="75000"/>
                  </a:schemeClr>
                </a:solidFill>
                <a:latin typeface="Consolas" panose="020B0609020204030204" pitchFamily="49" charset="0"/>
              </a:rPr>
              <a:t>typedef struct</a:t>
            </a:r>
            <a:r>
              <a:rPr lang="sv-SE" sz="1200">
                <a:latin typeface="Consolas" panose="020B0609020204030204" pitchFamily="49" charset="0"/>
              </a:rPr>
              <a:t> </a:t>
            </a:r>
            <a:r>
              <a:rPr lang="en-GB" sz="1200">
                <a:latin typeface="Consolas" panose="020B0609020204030204" pitchFamily="49" charset="0"/>
              </a:rPr>
              <a:t>{</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char</a:t>
            </a:r>
            <a:r>
              <a:rPr lang="en-GB" sz="1200">
                <a:latin typeface="Consolas" panose="020B0609020204030204" pitchFamily="49" charset="0"/>
              </a:rPr>
              <a:t> score; </a:t>
            </a:r>
          </a:p>
          <a:p>
            <a:pPr marL="0" indent="0">
              <a:buNone/>
            </a:pPr>
            <a:r>
              <a:rPr lang="en-GB" sz="1200">
                <a:latin typeface="Consolas" panose="020B0609020204030204" pitchFamily="49" charset="0"/>
              </a:rPr>
              <a:t>  </a:t>
            </a:r>
            <a:r>
              <a:rPr lang="en-GB" sz="1200">
                <a:solidFill>
                  <a:schemeClr val="accent1">
                    <a:lumMod val="75000"/>
                  </a:schemeClr>
                </a:solidFill>
                <a:latin typeface="Consolas" panose="020B0609020204030204" pitchFamily="49" charset="0"/>
              </a:rPr>
              <a:t>int</a:t>
            </a:r>
            <a:r>
              <a:rPr lang="en-GB" sz="1200">
                <a:latin typeface="Consolas" panose="020B0609020204030204" pitchFamily="49" charset="0"/>
              </a:rPr>
              <a:t> health; </a:t>
            </a:r>
          </a:p>
          <a:p>
            <a:pPr marL="0" indent="0">
              <a:buNone/>
            </a:pPr>
            <a:r>
              <a:rPr lang="en-GB" sz="1200">
                <a:latin typeface="Consolas" panose="020B0609020204030204" pitchFamily="49" charset="0"/>
              </a:rPr>
              <a:t>} Player;</a:t>
            </a:r>
          </a:p>
          <a:p>
            <a:pPr marL="0" indent="0">
              <a:buNone/>
            </a:pPr>
            <a:endParaRPr lang="en-GB" sz="1200">
              <a:latin typeface="Consolas" panose="020B0609020204030204" pitchFamily="49" charset="0"/>
            </a:endParaRPr>
          </a:p>
          <a:p>
            <a:pPr marL="0" indent="0">
              <a:buNone/>
            </a:pPr>
            <a:r>
              <a:rPr lang="en-GB" sz="1200">
                <a:latin typeface="Consolas" panose="020B0609020204030204" pitchFamily="49" charset="0"/>
              </a:rPr>
              <a:t>Player player_one = {0, 100};</a:t>
            </a:r>
          </a:p>
          <a:p>
            <a:pPr marL="0" indent="0">
              <a:buNone/>
            </a:pPr>
            <a:endParaRPr lang="en-GB" sz="1200">
              <a:latin typeface="Consolas" panose="020B0609020204030204" pitchFamily="49" charset="0"/>
            </a:endParaRPr>
          </a:p>
          <a:p>
            <a:pPr marL="0" indent="0">
              <a:buNone/>
            </a:pPr>
            <a:r>
              <a:rPr lang="en-GB" sz="1200">
                <a:solidFill>
                  <a:schemeClr val="accent1">
                    <a:lumMod val="75000"/>
                  </a:schemeClr>
                </a:solidFill>
                <a:latin typeface="Consolas" panose="020B0609020204030204" pitchFamily="49" charset="0"/>
              </a:rPr>
              <a:t>void </a:t>
            </a:r>
            <a:r>
              <a:rPr lang="en-GB" sz="1200">
                <a:latin typeface="Consolas" panose="020B0609020204030204" pitchFamily="49" charset="0"/>
              </a:rPr>
              <a:t>main() </a:t>
            </a:r>
          </a:p>
          <a:p>
            <a:pPr marL="0" indent="0">
              <a:buNone/>
            </a:pPr>
            <a:r>
              <a:rPr lang="en-GB" sz="1200">
                <a:latin typeface="Consolas" panose="020B0609020204030204" pitchFamily="49" charset="0"/>
              </a:rPr>
              <a:t>{</a:t>
            </a:r>
          </a:p>
          <a:p>
            <a:pPr marL="0" indent="0">
              <a:buNone/>
            </a:pPr>
            <a:r>
              <a:rPr lang="en-GB" sz="1200">
                <a:latin typeface="Consolas" panose="020B0609020204030204" pitchFamily="49" charset="0"/>
              </a:rPr>
              <a:t>}</a:t>
            </a:r>
          </a:p>
        </p:txBody>
      </p:sp>
      <p:sp>
        <p:nvSpPr>
          <p:cNvPr id="11" name="Rectangle 10">
            <a:extLst>
              <a:ext uri="{FF2B5EF4-FFF2-40B4-BE49-F238E27FC236}">
                <a16:creationId xmlns:a16="http://schemas.microsoft.com/office/drawing/2014/main" id="{C33D0C92-A9F1-1991-8781-F8E58900AC0C}"/>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E0FB439D-35F9-E393-CF8A-EC245EE004B0}"/>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65EF05A0-CD93-A6BD-0998-5A91840866C1}"/>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B5AA0259-53AB-1CEA-E112-D6DBA43AE37C}"/>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2DDAC502-061C-8BD1-EC75-BDD906CF0952}"/>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42F1E106-E625-59B0-6F52-F3D98559526F}"/>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BFD2C9D1-C935-A95D-BB01-927D283847A3}"/>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cxnSp>
        <p:nvCxnSpPr>
          <p:cNvPr id="20" name="Straight Arrow Connector 19">
            <a:extLst>
              <a:ext uri="{FF2B5EF4-FFF2-40B4-BE49-F238E27FC236}">
                <a16:creationId xmlns:a16="http://schemas.microsoft.com/office/drawing/2014/main" id="{02DECD8C-0356-C3EF-470A-793DF2A45A4E}"/>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5660D98-59E1-6DF3-60A3-E9B902E055B6}"/>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351CF8E3-B390-B74B-E639-C9EC8001007E}"/>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8" name="TextBox 7">
            <a:extLst>
              <a:ext uri="{FF2B5EF4-FFF2-40B4-BE49-F238E27FC236}">
                <a16:creationId xmlns:a16="http://schemas.microsoft.com/office/drawing/2014/main" id="{ACB6EAB6-582B-D6F4-8FF3-01477FD22279}"/>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E478D334-2DDB-DC9D-B987-C1F7CF2E0577}"/>
              </a:ext>
            </a:extLst>
          </p:cNvPr>
          <p:cNvSpPr txBox="1">
            <a:spLocks/>
          </p:cNvSpPr>
          <p:nvPr/>
        </p:nvSpPr>
        <p:spPr>
          <a:xfrm>
            <a:off x="3292734" y="5064912"/>
            <a:ext cx="3470016" cy="106205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Structens element kommer i ordning i minnet, men måste alignas för sin datatyp. Detta innebär att vi kommer få </a:t>
            </a:r>
            <a:r>
              <a:rPr lang="sv-SE" sz="1600" b="1" i="1">
                <a:latin typeface="+mj-lt"/>
              </a:rPr>
              <a:t>padding </a:t>
            </a:r>
            <a:r>
              <a:rPr lang="sv-SE" sz="1600" b="1">
                <a:latin typeface="+mj-lt"/>
              </a:rPr>
              <a:t>(tomt utrymme) i minnet.</a:t>
            </a:r>
          </a:p>
        </p:txBody>
      </p:sp>
      <p:grpSp>
        <p:nvGrpSpPr>
          <p:cNvPr id="7" name="Group 6">
            <a:extLst>
              <a:ext uri="{FF2B5EF4-FFF2-40B4-BE49-F238E27FC236}">
                <a16:creationId xmlns:a16="http://schemas.microsoft.com/office/drawing/2014/main" id="{2037CF22-3068-6148-85DF-750B2A85C1DE}"/>
              </a:ext>
            </a:extLst>
          </p:cNvPr>
          <p:cNvGrpSpPr/>
          <p:nvPr/>
        </p:nvGrpSpPr>
        <p:grpSpPr>
          <a:xfrm>
            <a:off x="7184200" y="3864648"/>
            <a:ext cx="2499856" cy="729743"/>
            <a:chOff x="7184200" y="3864648"/>
            <a:chExt cx="2499856" cy="729743"/>
          </a:xfrm>
        </p:grpSpPr>
        <p:sp>
          <p:nvSpPr>
            <p:cNvPr id="18" name="TextBox 17">
              <a:extLst>
                <a:ext uri="{FF2B5EF4-FFF2-40B4-BE49-F238E27FC236}">
                  <a16:creationId xmlns:a16="http://schemas.microsoft.com/office/drawing/2014/main" id="{C6133A4A-B997-8B86-0371-1E12B054AA17}"/>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sp>
          <p:nvSpPr>
            <p:cNvPr id="23" name="Rectangle 22">
              <a:extLst>
                <a:ext uri="{FF2B5EF4-FFF2-40B4-BE49-F238E27FC236}">
                  <a16:creationId xmlns:a16="http://schemas.microsoft.com/office/drawing/2014/main" id="{65774A35-7FBC-908C-827C-DB792D8FDF07}"/>
                </a:ext>
              </a:extLst>
            </p:cNvPr>
            <p:cNvSpPr/>
            <p:nvPr/>
          </p:nvSpPr>
          <p:spPr>
            <a:xfrm>
              <a:off x="8014480" y="4127166"/>
              <a:ext cx="1669576"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5" name="TextBox 24">
              <a:extLst>
                <a:ext uri="{FF2B5EF4-FFF2-40B4-BE49-F238E27FC236}">
                  <a16:creationId xmlns:a16="http://schemas.microsoft.com/office/drawing/2014/main" id="{082C0A0B-FD96-E4C8-A84B-A9A01DF933F6}"/>
                </a:ext>
              </a:extLst>
            </p:cNvPr>
            <p:cNvSpPr txBox="1"/>
            <p:nvPr/>
          </p:nvSpPr>
          <p:spPr>
            <a:xfrm>
              <a:off x="9285229" y="4126008"/>
              <a:ext cx="393056" cy="276999"/>
            </a:xfrm>
            <a:prstGeom prst="rect">
              <a:avLst/>
            </a:prstGeom>
            <a:noFill/>
            <a:ln>
              <a:solidFill>
                <a:schemeClr val="tx1"/>
              </a:solidFill>
            </a:ln>
          </p:spPr>
          <p:txBody>
            <a:bodyPr wrap="none" rtlCol="0">
              <a:spAutoFit/>
            </a:bodyPr>
            <a:lstStyle/>
            <a:p>
              <a:r>
                <a:rPr lang="sv-SE" sz="600">
                  <a:latin typeface="Consolas" panose="020B0609020204030204" pitchFamily="49" charset="0"/>
                </a:rPr>
                <a:t>score</a:t>
              </a:r>
            </a:p>
            <a:p>
              <a:r>
                <a:rPr lang="sv-SE" sz="600">
                  <a:latin typeface="Consolas" panose="020B0609020204030204" pitchFamily="49" charset="0"/>
                </a:rPr>
                <a:t>= 0</a:t>
              </a:r>
              <a:endParaRPr lang="LID4096" sz="600">
                <a:latin typeface="Consolas" panose="020B0609020204030204" pitchFamily="49" charset="0"/>
              </a:endParaRPr>
            </a:p>
          </p:txBody>
        </p:sp>
        <p:sp>
          <p:nvSpPr>
            <p:cNvPr id="2" name="Rectangle 1">
              <a:extLst>
                <a:ext uri="{FF2B5EF4-FFF2-40B4-BE49-F238E27FC236}">
                  <a16:creationId xmlns:a16="http://schemas.microsoft.com/office/drawing/2014/main" id="{80F1B489-EF83-FE0F-CC95-1A48898BDFCD}"/>
                </a:ext>
              </a:extLst>
            </p:cNvPr>
            <p:cNvSpPr/>
            <p:nvPr/>
          </p:nvSpPr>
          <p:spPr>
            <a:xfrm>
              <a:off x="8013442" y="3864648"/>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CA3A5FA1-8EC2-5DFC-AF9A-9A86A41CA857}"/>
                </a:ext>
              </a:extLst>
            </p:cNvPr>
            <p:cNvSpPr txBox="1"/>
            <p:nvPr/>
          </p:nvSpPr>
          <p:spPr>
            <a:xfrm>
              <a:off x="8458790" y="3874634"/>
              <a:ext cx="954107" cy="230832"/>
            </a:xfrm>
            <a:prstGeom prst="rect">
              <a:avLst/>
            </a:prstGeom>
            <a:noFill/>
          </p:spPr>
          <p:txBody>
            <a:bodyPr wrap="non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30" name="Rectangle 29">
              <a:extLst>
                <a:ext uri="{FF2B5EF4-FFF2-40B4-BE49-F238E27FC236}">
                  <a16:creationId xmlns:a16="http://schemas.microsoft.com/office/drawing/2014/main" id="{3115C7B3-D727-3AE2-D09A-F144DA54FA08}"/>
                </a:ext>
              </a:extLst>
            </p:cNvPr>
            <p:cNvSpPr/>
            <p:nvPr/>
          </p:nvSpPr>
          <p:spPr>
            <a:xfrm>
              <a:off x="8019628" y="4119285"/>
              <a:ext cx="1252636" cy="276999"/>
            </a:xfrm>
            <a:prstGeom prst="rect">
              <a:avLst/>
            </a:prstGeom>
            <a:solidFill>
              <a:schemeClr val="bg1">
                <a:lumMod val="7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102701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5A82-7003-AE98-6A4D-F40DA64DE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8AF08-4CDD-DA4E-9286-153AC3878684}"/>
              </a:ext>
            </a:extLst>
          </p:cNvPr>
          <p:cNvSpPr>
            <a:spLocks noGrp="1"/>
          </p:cNvSpPr>
          <p:nvPr>
            <p:ph type="title"/>
          </p:nvPr>
        </p:nvSpPr>
        <p:spPr/>
        <p:txBody>
          <a:bodyPr/>
          <a:lstStyle/>
          <a:p>
            <a:r>
              <a:rPr lang="sv-SE"/>
              <a:t>Nästlade strukturer</a:t>
            </a:r>
            <a:endParaRPr lang="LID4096"/>
          </a:p>
        </p:txBody>
      </p:sp>
      <p:sp>
        <p:nvSpPr>
          <p:cNvPr id="3" name="Date Placeholder 2">
            <a:extLst>
              <a:ext uri="{FF2B5EF4-FFF2-40B4-BE49-F238E27FC236}">
                <a16:creationId xmlns:a16="http://schemas.microsoft.com/office/drawing/2014/main" id="{B575F6BA-877A-3F8C-44E4-28837AC48C0E}"/>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4E2DE400-CA82-35B6-410B-90A067271D7A}"/>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797D9E63-326D-5ACB-B369-6A222ED73021}"/>
              </a:ext>
            </a:extLst>
          </p:cNvPr>
          <p:cNvSpPr>
            <a:spLocks noGrp="1"/>
          </p:cNvSpPr>
          <p:nvPr>
            <p:ph type="sldNum" sz="quarter" idx="12"/>
          </p:nvPr>
        </p:nvSpPr>
        <p:spPr/>
        <p:txBody>
          <a:bodyPr/>
          <a:lstStyle/>
          <a:p>
            <a:fld id="{E46909CE-3A1D-43F5-8F4E-45D6477AD820}" type="slidenum">
              <a:rPr lang="LID4096" smtClean="0"/>
              <a:t>11</a:t>
            </a:fld>
            <a:endParaRPr lang="LID4096"/>
          </a:p>
        </p:txBody>
      </p:sp>
      <p:sp>
        <p:nvSpPr>
          <p:cNvPr id="10" name="Content Placeholder 4">
            <a:extLst>
              <a:ext uri="{FF2B5EF4-FFF2-40B4-BE49-F238E27FC236}">
                <a16:creationId xmlns:a16="http://schemas.microsoft.com/office/drawing/2014/main" id="{1B5F292C-F9D1-9F32-A657-6F9E23512346}"/>
              </a:ext>
            </a:extLst>
          </p:cNvPr>
          <p:cNvSpPr txBox="1">
            <a:spLocks/>
          </p:cNvSpPr>
          <p:nvPr/>
        </p:nvSpPr>
        <p:spPr>
          <a:xfrm>
            <a:off x="838200" y="1382242"/>
            <a:ext cx="5792859" cy="474472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sv-SE" sz="4000"/>
          </a:p>
          <a:p>
            <a:pPr marL="0" indent="0">
              <a:buNone/>
            </a:pPr>
            <a:br>
              <a:rPr lang="sv-SE" sz="1200">
                <a:solidFill>
                  <a:schemeClr val="accent1">
                    <a:lumMod val="75000"/>
                  </a:schemeClr>
                </a:solidFill>
                <a:latin typeface="Consolas" panose="020B0609020204030204" pitchFamily="49" charset="0"/>
              </a:rPr>
            </a:br>
            <a:r>
              <a:rPr lang="sv-SE" sz="1100">
                <a:solidFill>
                  <a:schemeClr val="accent1">
                    <a:lumMod val="75000"/>
                  </a:schemeClr>
                </a:solidFill>
                <a:latin typeface="Consolas" panose="020B0609020204030204" pitchFamily="49" charset="0"/>
              </a:rPr>
              <a:t>typedef struct</a:t>
            </a:r>
            <a:r>
              <a:rPr lang="sv-SE" sz="1100">
                <a:latin typeface="Consolas" panose="020B0609020204030204" pitchFamily="49" charset="0"/>
              </a:rPr>
              <a:t> </a:t>
            </a:r>
            <a:r>
              <a:rPr lang="en-GB" sz="1100">
                <a:latin typeface="Consolas" panose="020B0609020204030204" pitchFamily="49" charset="0"/>
              </a:rPr>
              <a:t>{</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short</a:t>
            </a:r>
            <a:r>
              <a:rPr lang="en-GB" sz="1100">
                <a:latin typeface="Consolas" panose="020B0609020204030204" pitchFamily="49" charset="0"/>
              </a:rPr>
              <a:t> weight; </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char </a:t>
            </a:r>
            <a:r>
              <a:rPr lang="en-GB" sz="1100">
                <a:latin typeface="Consolas" panose="020B0609020204030204" pitchFamily="49" charset="0"/>
              </a:rPr>
              <a:t>damage; </a:t>
            </a:r>
          </a:p>
          <a:p>
            <a:pPr marL="0" indent="0">
              <a:buNone/>
            </a:pPr>
            <a:r>
              <a:rPr lang="en-GB" sz="1100">
                <a:latin typeface="Consolas" panose="020B0609020204030204" pitchFamily="49" charset="0"/>
              </a:rPr>
              <a:t>} Weapon;</a:t>
            </a:r>
          </a:p>
          <a:p>
            <a:pPr marL="0" indent="0">
              <a:buNone/>
            </a:pPr>
            <a:endParaRPr lang="sv-SE" sz="1100">
              <a:solidFill>
                <a:schemeClr val="accent1">
                  <a:lumMod val="75000"/>
                </a:schemeClr>
              </a:solidFill>
              <a:latin typeface="Consolas" panose="020B0609020204030204" pitchFamily="49" charset="0"/>
            </a:endParaRPr>
          </a:p>
          <a:p>
            <a:pPr marL="0" indent="0">
              <a:buNone/>
            </a:pPr>
            <a:r>
              <a:rPr lang="sv-SE" sz="1100">
                <a:solidFill>
                  <a:schemeClr val="accent1">
                    <a:lumMod val="75000"/>
                  </a:schemeClr>
                </a:solidFill>
                <a:latin typeface="Consolas" panose="020B0609020204030204" pitchFamily="49" charset="0"/>
              </a:rPr>
              <a:t>typedef struct</a:t>
            </a:r>
            <a:r>
              <a:rPr lang="sv-SE" sz="1100">
                <a:latin typeface="Consolas" panose="020B0609020204030204" pitchFamily="49" charset="0"/>
              </a:rPr>
              <a:t> </a:t>
            </a:r>
            <a:r>
              <a:rPr lang="en-GB" sz="1100">
                <a:latin typeface="Consolas" panose="020B0609020204030204" pitchFamily="49" charset="0"/>
              </a:rPr>
              <a:t>{</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char</a:t>
            </a:r>
            <a:r>
              <a:rPr lang="en-GB" sz="1100">
                <a:latin typeface="Consolas" panose="020B0609020204030204" pitchFamily="49" charset="0"/>
              </a:rPr>
              <a:t> score; </a:t>
            </a:r>
          </a:p>
          <a:p>
            <a:pPr marL="0" indent="0">
              <a:buNone/>
            </a:pPr>
            <a:r>
              <a:rPr lang="en-GB" sz="1100">
                <a:latin typeface="Consolas" panose="020B0609020204030204" pitchFamily="49" charset="0"/>
              </a:rPr>
              <a:t>  </a:t>
            </a:r>
            <a:r>
              <a:rPr lang="en-GB" sz="1100">
                <a:solidFill>
                  <a:schemeClr val="accent1">
                    <a:lumMod val="75000"/>
                  </a:schemeClr>
                </a:solidFill>
                <a:latin typeface="Consolas" panose="020B0609020204030204" pitchFamily="49" charset="0"/>
              </a:rPr>
              <a:t>short </a:t>
            </a:r>
            <a:r>
              <a:rPr lang="en-GB" sz="1100">
                <a:latin typeface="Consolas" panose="020B0609020204030204" pitchFamily="49" charset="0"/>
              </a:rPr>
              <a:t>health; </a:t>
            </a:r>
          </a:p>
          <a:p>
            <a:pPr marL="0" indent="0">
              <a:buNone/>
            </a:pPr>
            <a:r>
              <a:rPr lang="en-GB" sz="1100">
                <a:latin typeface="Consolas" panose="020B0609020204030204" pitchFamily="49" charset="0"/>
              </a:rPr>
              <a:t>  Weapon weapon; </a:t>
            </a:r>
          </a:p>
          <a:p>
            <a:pPr marL="0" indent="0">
              <a:buNone/>
            </a:pPr>
            <a:r>
              <a:rPr lang="en-GB" sz="1100">
                <a:latin typeface="Consolas" panose="020B0609020204030204" pitchFamily="49" charset="0"/>
              </a:rPr>
              <a:t>} Player;</a:t>
            </a:r>
          </a:p>
          <a:p>
            <a:pPr marL="0" indent="0">
              <a:buNone/>
            </a:pPr>
            <a:endParaRPr lang="en-GB" sz="1100">
              <a:latin typeface="Consolas" panose="020B0609020204030204" pitchFamily="49" charset="0"/>
            </a:endParaRPr>
          </a:p>
          <a:p>
            <a:pPr marL="0" indent="0">
              <a:buNone/>
            </a:pPr>
            <a:r>
              <a:rPr lang="en-GB" sz="1100">
                <a:latin typeface="Consolas" panose="020B0609020204030204" pitchFamily="49" charset="0"/>
              </a:rPr>
              <a:t>Player player_one = {0, 100, {10, 45}};</a:t>
            </a:r>
          </a:p>
          <a:p>
            <a:pPr marL="0" indent="0">
              <a:buNone/>
            </a:pPr>
            <a:r>
              <a:rPr lang="en-GB" sz="1100">
                <a:solidFill>
                  <a:schemeClr val="accent1">
                    <a:lumMod val="75000"/>
                  </a:schemeClr>
                </a:solidFill>
                <a:latin typeface="Consolas" panose="020B0609020204030204" pitchFamily="49" charset="0"/>
              </a:rPr>
              <a:t>void </a:t>
            </a:r>
            <a:r>
              <a:rPr lang="en-GB" sz="1100">
                <a:latin typeface="Consolas" panose="020B0609020204030204" pitchFamily="49" charset="0"/>
              </a:rPr>
              <a:t>main() </a:t>
            </a:r>
          </a:p>
          <a:p>
            <a:pPr marL="0" indent="0">
              <a:buNone/>
            </a:pPr>
            <a:r>
              <a:rPr lang="en-GB" sz="1100">
                <a:latin typeface="Consolas" panose="020B0609020204030204" pitchFamily="49" charset="0"/>
              </a:rPr>
              <a:t>{</a:t>
            </a:r>
          </a:p>
          <a:p>
            <a:pPr marL="0" indent="0">
              <a:buNone/>
            </a:pPr>
            <a:r>
              <a:rPr lang="en-GB" sz="1100">
                <a:latin typeface="Consolas" panose="020B0609020204030204" pitchFamily="49" charset="0"/>
              </a:rPr>
              <a:t>}</a:t>
            </a:r>
          </a:p>
        </p:txBody>
      </p:sp>
      <p:sp>
        <p:nvSpPr>
          <p:cNvPr id="11" name="Rectangle 10">
            <a:extLst>
              <a:ext uri="{FF2B5EF4-FFF2-40B4-BE49-F238E27FC236}">
                <a16:creationId xmlns:a16="http://schemas.microsoft.com/office/drawing/2014/main" id="{A48BA470-6FAC-0E7E-74F8-15DF7DD73DCE}"/>
              </a:ext>
            </a:extLst>
          </p:cNvPr>
          <p:cNvSpPr/>
          <p:nvPr/>
        </p:nvSpPr>
        <p:spPr>
          <a:xfrm>
            <a:off x="8017605" y="4397380"/>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2" name="TextBox 11">
            <a:extLst>
              <a:ext uri="{FF2B5EF4-FFF2-40B4-BE49-F238E27FC236}">
                <a16:creationId xmlns:a16="http://schemas.microsoft.com/office/drawing/2014/main" id="{F4EFE831-17B7-F2D1-B162-F5AF035965A9}"/>
              </a:ext>
            </a:extLst>
          </p:cNvPr>
          <p:cNvSpPr txBox="1"/>
          <p:nvPr/>
        </p:nvSpPr>
        <p:spPr>
          <a:xfrm>
            <a:off x="7161057" y="5831519"/>
            <a:ext cx="894797" cy="261610"/>
          </a:xfrm>
          <a:prstGeom prst="rect">
            <a:avLst/>
          </a:prstGeom>
          <a:noFill/>
        </p:spPr>
        <p:txBody>
          <a:bodyPr wrap="none" rtlCol="0">
            <a:spAutoFit/>
          </a:bodyPr>
          <a:lstStyle/>
          <a:p>
            <a:r>
              <a:rPr lang="sv-SE" sz="1100"/>
              <a:t>0x20000000</a:t>
            </a:r>
            <a:endParaRPr lang="LID4096" sz="1100"/>
          </a:p>
        </p:txBody>
      </p:sp>
      <p:sp>
        <p:nvSpPr>
          <p:cNvPr id="13" name="Rectangle 12">
            <a:extLst>
              <a:ext uri="{FF2B5EF4-FFF2-40B4-BE49-F238E27FC236}">
                <a16:creationId xmlns:a16="http://schemas.microsoft.com/office/drawing/2014/main" id="{ADFFF9AA-2024-6427-B8A0-DFB549C716ED}"/>
              </a:ext>
            </a:extLst>
          </p:cNvPr>
          <p:cNvSpPr/>
          <p:nvPr/>
        </p:nvSpPr>
        <p:spPr>
          <a:xfrm>
            <a:off x="8017605" y="2879010"/>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Rectangle 13">
            <a:extLst>
              <a:ext uri="{FF2B5EF4-FFF2-40B4-BE49-F238E27FC236}">
                <a16:creationId xmlns:a16="http://schemas.microsoft.com/office/drawing/2014/main" id="{60C2054A-0F2C-CD56-D581-1CF09FDF7F15}"/>
              </a:ext>
            </a:extLst>
          </p:cNvPr>
          <p:cNvSpPr/>
          <p:nvPr/>
        </p:nvSpPr>
        <p:spPr>
          <a:xfrm>
            <a:off x="8017605" y="2295624"/>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77774563-BC1B-B28A-AED2-A98DCCB28BD7}"/>
              </a:ext>
            </a:extLst>
          </p:cNvPr>
          <p:cNvSpPr/>
          <p:nvPr/>
        </p:nvSpPr>
        <p:spPr>
          <a:xfrm>
            <a:off x="8017605" y="1782660"/>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6" name="Right Brace 15">
            <a:extLst>
              <a:ext uri="{FF2B5EF4-FFF2-40B4-BE49-F238E27FC236}">
                <a16:creationId xmlns:a16="http://schemas.microsoft.com/office/drawing/2014/main" id="{9B14DCD8-BF6E-7398-C3B7-CAA48859B2D3}"/>
              </a:ext>
            </a:extLst>
          </p:cNvPr>
          <p:cNvSpPr/>
          <p:nvPr/>
        </p:nvSpPr>
        <p:spPr>
          <a:xfrm>
            <a:off x="9753600" y="3345103"/>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7" name="TextBox 16">
            <a:extLst>
              <a:ext uri="{FF2B5EF4-FFF2-40B4-BE49-F238E27FC236}">
                <a16:creationId xmlns:a16="http://schemas.microsoft.com/office/drawing/2014/main" id="{BAA3BFB9-1E9C-5F7D-5B43-4B51610F5968}"/>
              </a:ext>
            </a:extLst>
          </p:cNvPr>
          <p:cNvSpPr txBox="1"/>
          <p:nvPr/>
        </p:nvSpPr>
        <p:spPr>
          <a:xfrm>
            <a:off x="9849134" y="3699834"/>
            <a:ext cx="2021387" cy="369332"/>
          </a:xfrm>
          <a:prstGeom prst="rect">
            <a:avLst/>
          </a:prstGeom>
          <a:noFill/>
        </p:spPr>
        <p:txBody>
          <a:bodyPr wrap="none" rtlCol="0">
            <a:spAutoFit/>
          </a:bodyPr>
          <a:lstStyle/>
          <a:p>
            <a:r>
              <a:rPr lang="sv-SE"/>
              <a:t>Initialized data area</a:t>
            </a:r>
            <a:endParaRPr lang="LID4096"/>
          </a:p>
        </p:txBody>
      </p:sp>
      <p:sp>
        <p:nvSpPr>
          <p:cNvPr id="18" name="TextBox 17">
            <a:extLst>
              <a:ext uri="{FF2B5EF4-FFF2-40B4-BE49-F238E27FC236}">
                <a16:creationId xmlns:a16="http://schemas.microsoft.com/office/drawing/2014/main" id="{53614936-0018-D4B2-AF16-112421EE7C3F}"/>
              </a:ext>
            </a:extLst>
          </p:cNvPr>
          <p:cNvSpPr txBox="1"/>
          <p:nvPr/>
        </p:nvSpPr>
        <p:spPr>
          <a:xfrm>
            <a:off x="7184200" y="4332781"/>
            <a:ext cx="878767" cy="261610"/>
          </a:xfrm>
          <a:prstGeom prst="rect">
            <a:avLst/>
          </a:prstGeom>
          <a:noFill/>
        </p:spPr>
        <p:txBody>
          <a:bodyPr wrap="none" rtlCol="0">
            <a:spAutoFit/>
          </a:bodyPr>
          <a:lstStyle/>
          <a:p>
            <a:r>
              <a:rPr lang="sv-SE" sz="1100"/>
              <a:t>0x200000FF</a:t>
            </a:r>
            <a:endParaRPr lang="LID4096" sz="1100"/>
          </a:p>
        </p:txBody>
      </p:sp>
      <p:cxnSp>
        <p:nvCxnSpPr>
          <p:cNvPr id="20" name="Straight Arrow Connector 19">
            <a:extLst>
              <a:ext uri="{FF2B5EF4-FFF2-40B4-BE49-F238E27FC236}">
                <a16:creationId xmlns:a16="http://schemas.microsoft.com/office/drawing/2014/main" id="{21DAE979-3477-1DE7-B6F2-F3E2F9C84998}"/>
              </a:ext>
            </a:extLst>
          </p:cNvPr>
          <p:cNvCxnSpPr/>
          <p:nvPr/>
        </p:nvCxnSpPr>
        <p:spPr>
          <a:xfrm>
            <a:off x="8017604" y="1535901"/>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9BD6594-5C87-092F-0C16-8617F81AF670}"/>
              </a:ext>
            </a:extLst>
          </p:cNvPr>
          <p:cNvSpPr txBox="1"/>
          <p:nvPr/>
        </p:nvSpPr>
        <p:spPr>
          <a:xfrm>
            <a:off x="8488382" y="1049215"/>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sp>
        <p:nvSpPr>
          <p:cNvPr id="22" name="TextBox 21">
            <a:extLst>
              <a:ext uri="{FF2B5EF4-FFF2-40B4-BE49-F238E27FC236}">
                <a16:creationId xmlns:a16="http://schemas.microsoft.com/office/drawing/2014/main" id="{F45A843B-1A29-A847-CAAD-F3AB5015231A}"/>
              </a:ext>
            </a:extLst>
          </p:cNvPr>
          <p:cNvSpPr txBox="1"/>
          <p:nvPr/>
        </p:nvSpPr>
        <p:spPr>
          <a:xfrm>
            <a:off x="5659272" y="4147254"/>
            <a:ext cx="2390730" cy="261610"/>
          </a:xfrm>
          <a:prstGeom prst="rect">
            <a:avLst/>
          </a:prstGeom>
          <a:noFill/>
        </p:spPr>
        <p:txBody>
          <a:bodyPr wrap="square" rtlCol="0">
            <a:spAutoFit/>
          </a:bodyPr>
          <a:lstStyle/>
          <a:p>
            <a:pPr algn="r"/>
            <a:r>
              <a:rPr lang="sv-SE" sz="1100" b="1"/>
              <a:t>&amp;player_one: </a:t>
            </a:r>
            <a:r>
              <a:rPr lang="sv-SE" sz="1100"/>
              <a:t>0x21000100</a:t>
            </a:r>
            <a:endParaRPr lang="LID4096" sz="1100"/>
          </a:p>
        </p:txBody>
      </p:sp>
      <p:sp>
        <p:nvSpPr>
          <p:cNvPr id="25" name="TextBox 24">
            <a:extLst>
              <a:ext uri="{FF2B5EF4-FFF2-40B4-BE49-F238E27FC236}">
                <a16:creationId xmlns:a16="http://schemas.microsoft.com/office/drawing/2014/main" id="{59FC9697-8FE4-599E-FE56-E40E2E27A7B9}"/>
              </a:ext>
            </a:extLst>
          </p:cNvPr>
          <p:cNvSpPr txBox="1"/>
          <p:nvPr/>
        </p:nvSpPr>
        <p:spPr>
          <a:xfrm>
            <a:off x="9284892" y="4131747"/>
            <a:ext cx="393393" cy="271260"/>
          </a:xfrm>
          <a:prstGeom prst="rect">
            <a:avLst/>
          </a:prstGeom>
          <a:noFill/>
          <a:ln>
            <a:solidFill>
              <a:schemeClr val="tx1"/>
            </a:solidFill>
          </a:ln>
        </p:spPr>
        <p:txBody>
          <a:bodyPr wrap="square" rtlCol="0">
            <a:noAutofit/>
          </a:bodyPr>
          <a:lstStyle/>
          <a:p>
            <a:r>
              <a:rPr lang="sv-SE" sz="600">
                <a:latin typeface="Consolas" panose="020B0609020204030204" pitchFamily="49" charset="0"/>
              </a:rPr>
              <a:t>score</a:t>
            </a:r>
          </a:p>
          <a:p>
            <a:r>
              <a:rPr lang="sv-SE" sz="600">
                <a:latin typeface="Consolas" panose="020B0609020204030204" pitchFamily="49" charset="0"/>
              </a:rPr>
              <a:t>= 0</a:t>
            </a:r>
            <a:endParaRPr lang="LID4096" sz="600">
              <a:latin typeface="Consolas" panose="020B0609020204030204" pitchFamily="49" charset="0"/>
            </a:endParaRPr>
          </a:p>
        </p:txBody>
      </p:sp>
      <p:sp>
        <p:nvSpPr>
          <p:cNvPr id="6" name="TextBox 5">
            <a:extLst>
              <a:ext uri="{FF2B5EF4-FFF2-40B4-BE49-F238E27FC236}">
                <a16:creationId xmlns:a16="http://schemas.microsoft.com/office/drawing/2014/main" id="{310B114A-BD00-1F36-034C-34051783DC31}"/>
              </a:ext>
            </a:extLst>
          </p:cNvPr>
          <p:cNvSpPr txBox="1"/>
          <p:nvPr/>
        </p:nvSpPr>
        <p:spPr>
          <a:xfrm>
            <a:off x="7956652" y="4139162"/>
            <a:ext cx="1063460" cy="230832"/>
          </a:xfrm>
          <a:prstGeom prst="rect">
            <a:avLst/>
          </a:prstGeom>
          <a:noFill/>
        </p:spPr>
        <p:txBody>
          <a:bodyPr wrap="square" rtlCol="0">
            <a:spAutoFit/>
          </a:bodyPr>
          <a:lstStyle/>
          <a:p>
            <a:r>
              <a:rPr lang="sv-SE" sz="900">
                <a:latin typeface="Consolas" panose="020B0609020204030204" pitchFamily="49" charset="0"/>
              </a:rPr>
              <a:t>health = 100</a:t>
            </a:r>
            <a:endParaRPr lang="LID4096" sz="900">
              <a:latin typeface="Consolas" panose="020B0609020204030204" pitchFamily="49" charset="0"/>
            </a:endParaRPr>
          </a:p>
        </p:txBody>
      </p:sp>
      <p:sp>
        <p:nvSpPr>
          <p:cNvPr id="8" name="TextBox 7">
            <a:extLst>
              <a:ext uri="{FF2B5EF4-FFF2-40B4-BE49-F238E27FC236}">
                <a16:creationId xmlns:a16="http://schemas.microsoft.com/office/drawing/2014/main" id="{F98F5B51-8A60-7E0E-3857-3C74A3FED934}"/>
              </a:ext>
            </a:extLst>
          </p:cNvPr>
          <p:cNvSpPr txBox="1"/>
          <p:nvPr/>
        </p:nvSpPr>
        <p:spPr>
          <a:xfrm>
            <a:off x="5659609" y="3885190"/>
            <a:ext cx="2390730" cy="261610"/>
          </a:xfrm>
          <a:prstGeom prst="rect">
            <a:avLst/>
          </a:prstGeom>
          <a:noFill/>
        </p:spPr>
        <p:txBody>
          <a:bodyPr wrap="square" rtlCol="0">
            <a:spAutoFit/>
          </a:bodyPr>
          <a:lstStyle/>
          <a:p>
            <a:pPr algn="r"/>
            <a:r>
              <a:rPr lang="sv-SE" sz="1100"/>
              <a:t>0x21000104</a:t>
            </a:r>
            <a:endParaRPr lang="LID4096" sz="1100"/>
          </a:p>
        </p:txBody>
      </p:sp>
      <p:sp>
        <p:nvSpPr>
          <p:cNvPr id="29" name="Text Placeholder 5">
            <a:extLst>
              <a:ext uri="{FF2B5EF4-FFF2-40B4-BE49-F238E27FC236}">
                <a16:creationId xmlns:a16="http://schemas.microsoft.com/office/drawing/2014/main" id="{D2E1A2E3-09E0-595E-5FEC-9B67A8F8A4CB}"/>
              </a:ext>
            </a:extLst>
          </p:cNvPr>
          <p:cNvSpPr txBox="1">
            <a:spLocks/>
          </p:cNvSpPr>
          <p:nvPr/>
        </p:nvSpPr>
        <p:spPr>
          <a:xfrm>
            <a:off x="3581400" y="5562100"/>
            <a:ext cx="3470016" cy="828091"/>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Elementen i nestade structs placeras precis som om dom vore del av den ”ägande” structen.</a:t>
            </a:r>
          </a:p>
        </p:txBody>
      </p:sp>
      <p:sp>
        <p:nvSpPr>
          <p:cNvPr id="19" name="Rectangle 18">
            <a:extLst>
              <a:ext uri="{FF2B5EF4-FFF2-40B4-BE49-F238E27FC236}">
                <a16:creationId xmlns:a16="http://schemas.microsoft.com/office/drawing/2014/main" id="{CF475EA2-0E04-D883-B458-F127D3E2CB26}"/>
              </a:ext>
            </a:extLst>
          </p:cNvPr>
          <p:cNvSpPr/>
          <p:nvPr/>
        </p:nvSpPr>
        <p:spPr>
          <a:xfrm>
            <a:off x="8016569" y="4131748"/>
            <a:ext cx="836920"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Rectangle 23">
            <a:extLst>
              <a:ext uri="{FF2B5EF4-FFF2-40B4-BE49-F238E27FC236}">
                <a16:creationId xmlns:a16="http://schemas.microsoft.com/office/drawing/2014/main" id="{18C60F2B-6049-5ABE-3A41-8637D774D26F}"/>
              </a:ext>
            </a:extLst>
          </p:cNvPr>
          <p:cNvSpPr/>
          <p:nvPr/>
        </p:nvSpPr>
        <p:spPr>
          <a:xfrm>
            <a:off x="8852392" y="4131747"/>
            <a:ext cx="432500" cy="261611"/>
          </a:xfrm>
          <a:prstGeom prst="rect">
            <a:avLst/>
          </a:prstGeom>
          <a:solidFill>
            <a:schemeClr val="bg1">
              <a:lumMod val="65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6" name="TextBox 25">
            <a:extLst>
              <a:ext uri="{FF2B5EF4-FFF2-40B4-BE49-F238E27FC236}">
                <a16:creationId xmlns:a16="http://schemas.microsoft.com/office/drawing/2014/main" id="{AB13FC99-5D5E-EC22-73A8-B3AED8E165F0}"/>
              </a:ext>
            </a:extLst>
          </p:cNvPr>
          <p:cNvSpPr txBox="1"/>
          <p:nvPr/>
        </p:nvSpPr>
        <p:spPr>
          <a:xfrm>
            <a:off x="8466613" y="3867724"/>
            <a:ext cx="393393" cy="271260"/>
          </a:xfrm>
          <a:prstGeom prst="rect">
            <a:avLst/>
          </a:prstGeom>
          <a:noFill/>
          <a:ln>
            <a:solidFill>
              <a:schemeClr val="tx1"/>
            </a:solidFill>
          </a:ln>
        </p:spPr>
        <p:txBody>
          <a:bodyPr wrap="square" rtlCol="0">
            <a:noAutofit/>
          </a:bodyPr>
          <a:lstStyle/>
          <a:p>
            <a:r>
              <a:rPr lang="sv-SE" sz="500">
                <a:latin typeface="Consolas" panose="020B0609020204030204" pitchFamily="49" charset="0"/>
              </a:rPr>
              <a:t>damage = 45</a:t>
            </a:r>
            <a:endParaRPr lang="LID4096" sz="500">
              <a:latin typeface="Consolas" panose="020B0609020204030204" pitchFamily="49" charset="0"/>
            </a:endParaRPr>
          </a:p>
        </p:txBody>
      </p:sp>
      <p:sp>
        <p:nvSpPr>
          <p:cNvPr id="27" name="TextBox 26">
            <a:extLst>
              <a:ext uri="{FF2B5EF4-FFF2-40B4-BE49-F238E27FC236}">
                <a16:creationId xmlns:a16="http://schemas.microsoft.com/office/drawing/2014/main" id="{F84F9A5B-6A1A-6E04-83C9-78DEC2142F4D}"/>
              </a:ext>
            </a:extLst>
          </p:cNvPr>
          <p:cNvSpPr txBox="1"/>
          <p:nvPr/>
        </p:nvSpPr>
        <p:spPr>
          <a:xfrm>
            <a:off x="8828516" y="3892941"/>
            <a:ext cx="1063460" cy="230832"/>
          </a:xfrm>
          <a:prstGeom prst="rect">
            <a:avLst/>
          </a:prstGeom>
          <a:noFill/>
        </p:spPr>
        <p:txBody>
          <a:bodyPr wrap="square" rtlCol="0">
            <a:spAutoFit/>
          </a:bodyPr>
          <a:lstStyle/>
          <a:p>
            <a:r>
              <a:rPr lang="sv-SE" sz="900">
                <a:latin typeface="Consolas" panose="020B0609020204030204" pitchFamily="49" charset="0"/>
              </a:rPr>
              <a:t>weight = 10</a:t>
            </a:r>
            <a:endParaRPr lang="LID4096" sz="900">
              <a:latin typeface="Consolas" panose="020B0609020204030204" pitchFamily="49" charset="0"/>
            </a:endParaRPr>
          </a:p>
        </p:txBody>
      </p:sp>
      <p:sp>
        <p:nvSpPr>
          <p:cNvPr id="28" name="Rectangle 27">
            <a:extLst>
              <a:ext uri="{FF2B5EF4-FFF2-40B4-BE49-F238E27FC236}">
                <a16:creationId xmlns:a16="http://schemas.microsoft.com/office/drawing/2014/main" id="{7F0AA0BB-869A-1112-9388-8D0DFA4E84ED}"/>
              </a:ext>
            </a:extLst>
          </p:cNvPr>
          <p:cNvSpPr/>
          <p:nvPr/>
        </p:nvSpPr>
        <p:spPr>
          <a:xfrm>
            <a:off x="8860006" y="3864492"/>
            <a:ext cx="825852"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1" name="Rectangle 30">
            <a:extLst>
              <a:ext uri="{FF2B5EF4-FFF2-40B4-BE49-F238E27FC236}">
                <a16:creationId xmlns:a16="http://schemas.microsoft.com/office/drawing/2014/main" id="{430A16CF-14B8-3F75-3748-4D64878593F0}"/>
              </a:ext>
            </a:extLst>
          </p:cNvPr>
          <p:cNvSpPr/>
          <p:nvPr/>
        </p:nvSpPr>
        <p:spPr>
          <a:xfrm>
            <a:off x="8024368" y="3869683"/>
            <a:ext cx="432500" cy="261611"/>
          </a:xfrm>
          <a:prstGeom prst="rect">
            <a:avLst/>
          </a:prstGeom>
          <a:solidFill>
            <a:schemeClr val="bg1">
              <a:lumMod val="65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1179449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45096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CADB3-BA87-03BC-AE9A-A8E2A286DA01}"/>
              </a:ext>
            </a:extLst>
          </p:cNvPr>
          <p:cNvSpPr>
            <a:spLocks noGrp="1"/>
          </p:cNvSpPr>
          <p:nvPr>
            <p:ph type="title"/>
          </p:nvPr>
        </p:nvSpPr>
        <p:spPr/>
        <p:txBody>
          <a:bodyPr/>
          <a:lstStyle/>
          <a:p>
            <a:r>
              <a:rPr lang="sv-SE"/>
              <a:t>Pekare till strukturer</a:t>
            </a:r>
            <a:endParaRPr lang="LID4096"/>
          </a:p>
        </p:txBody>
      </p:sp>
      <p:sp>
        <p:nvSpPr>
          <p:cNvPr id="8" name="Text Placeholder 7">
            <a:extLst>
              <a:ext uri="{FF2B5EF4-FFF2-40B4-BE49-F238E27FC236}">
                <a16:creationId xmlns:a16="http://schemas.microsoft.com/office/drawing/2014/main" id="{B2AFA328-B6B0-8C80-7052-B265D428B106}"/>
              </a:ext>
            </a:extLst>
          </p:cNvPr>
          <p:cNvSpPr>
            <a:spLocks noGrp="1"/>
          </p:cNvSpPr>
          <p:nvPr>
            <p:ph idx="1"/>
          </p:nvPr>
        </p:nvSpPr>
        <p:spPr/>
        <p:txBody>
          <a:bodyPr/>
          <a:lstStyle/>
          <a:p>
            <a:pPr marL="0" indent="0">
              <a:buNone/>
            </a:pP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typedef struct</a:t>
            </a:r>
            <a:r>
              <a:rPr lang="en-GB" sz="1600">
                <a:latin typeface="Consolas" panose="020B0609020204030204" pitchFamily="49" charset="0"/>
              </a:rPr>
              <a:t> </a:t>
            </a:r>
            <a:br>
              <a:rPr lang="en-GB" sz="1600">
                <a:latin typeface="Consolas" panose="020B0609020204030204" pitchFamily="49" charset="0"/>
              </a:rPr>
            </a:b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title[100];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author[100];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num_pages;</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short</a:t>
            </a:r>
            <a:r>
              <a:rPr lang="en-GB" sz="1600">
                <a:latin typeface="Consolas" panose="020B0609020204030204" pitchFamily="49" charset="0"/>
              </a:rPr>
              <a:t> ISBN;</a:t>
            </a:r>
            <a:br>
              <a:rPr lang="en-GB" sz="1600">
                <a:latin typeface="Consolas" panose="020B0609020204030204" pitchFamily="49" charset="0"/>
              </a:rPr>
            </a:br>
            <a:r>
              <a:rPr lang="en-GB" sz="1600">
                <a:latin typeface="Consolas" panose="020B0609020204030204" pitchFamily="49" charset="0"/>
              </a:rPr>
              <a:t>} Book;</a:t>
            </a:r>
            <a:br>
              <a:rPr lang="en-GB" sz="1600">
                <a:latin typeface="Consolas" panose="020B0609020204030204" pitchFamily="49" charset="0"/>
              </a:rPr>
            </a:b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Book</a:t>
            </a:r>
            <a:r>
              <a:rPr lang="en-GB" sz="1600">
                <a:latin typeface="Consolas" panose="020B0609020204030204" pitchFamily="49" charset="0"/>
              </a:rPr>
              <a:t> ProcessBook( Book book );</a:t>
            </a:r>
            <a:br>
              <a:rPr lang="en-GB" sz="1600">
                <a:latin typeface="Consolas" panose="020B0609020204030204" pitchFamily="49" charset="0"/>
              </a:rPr>
            </a:b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main() {</a:t>
            </a:r>
            <a:br>
              <a:rPr lang="en-GB" sz="1600">
                <a:latin typeface="Consolas" panose="020B0609020204030204" pitchFamily="49" charset="0"/>
              </a:rPr>
            </a:br>
            <a:r>
              <a:rPr lang="en-GB" sz="1600">
                <a:latin typeface="Consolas" panose="020B0609020204030204" pitchFamily="49" charset="0"/>
              </a:rPr>
              <a:t>  Book book = { "Middlemarch", </a:t>
            </a:r>
            <a:br>
              <a:rPr lang="en-GB" sz="1600">
                <a:latin typeface="Consolas" panose="020B0609020204030204" pitchFamily="49" charset="0"/>
              </a:rPr>
            </a:br>
            <a:r>
              <a:rPr lang="en-GB" sz="1600">
                <a:latin typeface="Consolas" panose="020B0609020204030204" pitchFamily="49" charset="0"/>
              </a:rPr>
              <a:t>                "George Elliot", </a:t>
            </a:r>
            <a:br>
              <a:rPr lang="en-GB" sz="1600">
                <a:latin typeface="Consolas" panose="020B0609020204030204" pitchFamily="49" charset="0"/>
              </a:rPr>
            </a:br>
            <a:r>
              <a:rPr lang="en-GB" sz="1600">
                <a:latin typeface="Consolas" panose="020B0609020204030204" pitchFamily="49" charset="0"/>
              </a:rPr>
              <a:t>                370, 1234 };</a:t>
            </a:r>
          </a:p>
          <a:p>
            <a:pPr marL="0" indent="0">
              <a:buNone/>
            </a:pPr>
            <a:r>
              <a:rPr lang="en-GB" sz="1600">
                <a:latin typeface="Consolas" panose="020B0609020204030204" pitchFamily="49" charset="0"/>
              </a:rPr>
              <a:t>  Book processed_book = ProcessBook(book);</a:t>
            </a:r>
            <a:br>
              <a:rPr lang="en-GB" sz="1600">
                <a:latin typeface="Consolas" panose="020B0609020204030204" pitchFamily="49" charset="0"/>
              </a:rPr>
            </a:br>
            <a:r>
              <a:rPr lang="en-GB" sz="1600">
                <a:latin typeface="Consolas" panose="020B0609020204030204" pitchFamily="49" charset="0"/>
              </a:rPr>
              <a:t>}</a:t>
            </a:r>
          </a:p>
          <a:p>
            <a:pPr marL="0" indent="0">
              <a:buNone/>
            </a:pP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394F72B2-BBAD-90FC-E133-B29486550355}"/>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5D3096ED-7E93-00E2-8134-7E427C8F1CE0}"/>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6669D15F-E237-91E4-C6C2-25DB5FEB34CF}"/>
              </a:ext>
            </a:extLst>
          </p:cNvPr>
          <p:cNvSpPr>
            <a:spLocks noGrp="1"/>
          </p:cNvSpPr>
          <p:nvPr>
            <p:ph type="sldNum" sz="quarter" idx="12"/>
          </p:nvPr>
        </p:nvSpPr>
        <p:spPr/>
        <p:txBody>
          <a:bodyPr/>
          <a:lstStyle/>
          <a:p>
            <a:fld id="{E46909CE-3A1D-43F5-8F4E-45D6477AD820}" type="slidenum">
              <a:rPr lang="LID4096" smtClean="0"/>
              <a:t>13</a:t>
            </a:fld>
            <a:endParaRPr lang="LID4096"/>
          </a:p>
        </p:txBody>
      </p:sp>
      <p:grpSp>
        <p:nvGrpSpPr>
          <p:cNvPr id="9" name="Group 8">
            <a:extLst>
              <a:ext uri="{FF2B5EF4-FFF2-40B4-BE49-F238E27FC236}">
                <a16:creationId xmlns:a16="http://schemas.microsoft.com/office/drawing/2014/main" id="{1FDD3029-70ED-EA85-5696-723A61962D80}"/>
              </a:ext>
            </a:extLst>
          </p:cNvPr>
          <p:cNvGrpSpPr/>
          <p:nvPr/>
        </p:nvGrpSpPr>
        <p:grpSpPr>
          <a:xfrm>
            <a:off x="2897982" y="2267316"/>
            <a:ext cx="6396036" cy="1936066"/>
            <a:chOff x="-23811" y="905724"/>
            <a:chExt cx="6396036" cy="1936066"/>
          </a:xfrm>
        </p:grpSpPr>
        <p:sp>
          <p:nvSpPr>
            <p:cNvPr id="10" name="TextBox 9">
              <a:extLst>
                <a:ext uri="{FF2B5EF4-FFF2-40B4-BE49-F238E27FC236}">
                  <a16:creationId xmlns:a16="http://schemas.microsoft.com/office/drawing/2014/main" id="{2B39AEDD-3FD8-8747-1FDD-4560A145E27B}"/>
                </a:ext>
              </a:extLst>
            </p:cNvPr>
            <p:cNvSpPr txBox="1"/>
            <p:nvPr/>
          </p:nvSpPr>
          <p:spPr>
            <a:xfrm>
              <a:off x="2115758" y="905724"/>
              <a:ext cx="4256467" cy="1200329"/>
            </a:xfrm>
            <a:prstGeom prst="rect">
              <a:avLst/>
            </a:prstGeom>
            <a:noFill/>
            <a:ln>
              <a:solidFill>
                <a:schemeClr val="tx1"/>
              </a:solidFill>
            </a:ln>
          </p:spPr>
          <p:txBody>
            <a:bodyPr wrap="square" rtlCol="0">
              <a:spAutoFit/>
            </a:bodyPr>
            <a:lstStyle/>
            <a:p>
              <a:r>
                <a:rPr lang="sv-SE"/>
                <a:t>Funktionen tar som parameter en hel ”book” (208 bytes). Dessa måste då kopieras till stacken (igen) varje gång funktionen kallas. </a:t>
              </a:r>
              <a:endParaRPr lang="LID4096">
                <a:latin typeface="Consolas" panose="020B0609020204030204" pitchFamily="49" charset="0"/>
              </a:endParaRPr>
            </a:p>
          </p:txBody>
        </p:sp>
        <p:sp>
          <p:nvSpPr>
            <p:cNvPr id="11" name="Rectangle 10">
              <a:extLst>
                <a:ext uri="{FF2B5EF4-FFF2-40B4-BE49-F238E27FC236}">
                  <a16:creationId xmlns:a16="http://schemas.microsoft.com/office/drawing/2014/main" id="{5BF4AB58-3A45-825C-8A28-5A51141E70EC}"/>
                </a:ext>
              </a:extLst>
            </p:cNvPr>
            <p:cNvSpPr/>
            <p:nvPr/>
          </p:nvSpPr>
          <p:spPr>
            <a:xfrm>
              <a:off x="-23811" y="2603666"/>
              <a:ext cx="1162049" cy="2381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 name="Straight Connector 11">
              <a:extLst>
                <a:ext uri="{FF2B5EF4-FFF2-40B4-BE49-F238E27FC236}">
                  <a16:creationId xmlns:a16="http://schemas.microsoft.com/office/drawing/2014/main" id="{60C07B8D-8053-DD51-AFB0-2297E58932A1}"/>
                </a:ext>
              </a:extLst>
            </p:cNvPr>
            <p:cNvCxnSpPr>
              <a:cxnSpLocks/>
              <a:stCxn id="10" idx="1"/>
              <a:endCxn id="11" idx="0"/>
            </p:cNvCxnSpPr>
            <p:nvPr/>
          </p:nvCxnSpPr>
          <p:spPr>
            <a:xfrm flipH="1">
              <a:off x="557214" y="1505889"/>
              <a:ext cx="1558544" cy="10977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18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47B14-C783-C541-118F-CF754D54C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BDC1F-89C9-3247-3F4C-5C63A38D1306}"/>
              </a:ext>
            </a:extLst>
          </p:cNvPr>
          <p:cNvSpPr>
            <a:spLocks noGrp="1"/>
          </p:cNvSpPr>
          <p:nvPr>
            <p:ph type="title"/>
          </p:nvPr>
        </p:nvSpPr>
        <p:spPr/>
        <p:txBody>
          <a:bodyPr/>
          <a:lstStyle/>
          <a:p>
            <a:r>
              <a:rPr lang="sv-SE"/>
              <a:t>Pekare till strukturer</a:t>
            </a:r>
            <a:endParaRPr lang="LID4096"/>
          </a:p>
        </p:txBody>
      </p:sp>
      <p:sp>
        <p:nvSpPr>
          <p:cNvPr id="8" name="Text Placeholder 7">
            <a:extLst>
              <a:ext uri="{FF2B5EF4-FFF2-40B4-BE49-F238E27FC236}">
                <a16:creationId xmlns:a16="http://schemas.microsoft.com/office/drawing/2014/main" id="{CB665B75-02F3-7E7E-C7D6-3F9463E540AB}"/>
              </a:ext>
            </a:extLst>
          </p:cNvPr>
          <p:cNvSpPr>
            <a:spLocks noGrp="1"/>
          </p:cNvSpPr>
          <p:nvPr>
            <p:ph idx="1"/>
          </p:nvPr>
        </p:nvSpPr>
        <p:spPr/>
        <p:txBody>
          <a:bodyPr/>
          <a:lstStyle/>
          <a:p>
            <a:pPr marL="0" indent="0">
              <a:buNone/>
            </a:pP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typedef struct</a:t>
            </a:r>
            <a:r>
              <a:rPr lang="en-GB" sz="1600">
                <a:latin typeface="Consolas" panose="020B0609020204030204" pitchFamily="49" charset="0"/>
              </a:rPr>
              <a:t> </a:t>
            </a:r>
            <a:br>
              <a:rPr lang="en-GB" sz="1600">
                <a:latin typeface="Consolas" panose="020B0609020204030204" pitchFamily="49" charset="0"/>
              </a:rPr>
            </a:b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title[100];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char</a:t>
            </a:r>
            <a:r>
              <a:rPr lang="en-GB" sz="1600">
                <a:latin typeface="Consolas" panose="020B0609020204030204" pitchFamily="49" charset="0"/>
              </a:rPr>
              <a:t> author[100];</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num_pages;</a:t>
            </a:r>
            <a:br>
              <a:rPr lang="en-GB" sz="1600">
                <a:latin typeface="Consolas" panose="020B0609020204030204" pitchFamily="49" charset="0"/>
              </a:rPr>
            </a:br>
            <a:r>
              <a:rPr lang="en-GB" sz="1600">
                <a:latin typeface="Consolas" panose="020B0609020204030204" pitchFamily="49" charset="0"/>
              </a:rPr>
              <a:t>  </a:t>
            </a:r>
            <a:r>
              <a:rPr lang="en-GB" sz="1600">
                <a:solidFill>
                  <a:schemeClr val="accent1">
                    <a:lumMod val="75000"/>
                  </a:schemeClr>
                </a:solidFill>
                <a:latin typeface="Consolas" panose="020B0609020204030204" pitchFamily="49" charset="0"/>
              </a:rPr>
              <a:t>short</a:t>
            </a:r>
            <a:r>
              <a:rPr lang="en-GB" sz="1600">
                <a:latin typeface="Consolas" panose="020B0609020204030204" pitchFamily="49" charset="0"/>
              </a:rPr>
              <a:t> ISBN;</a:t>
            </a:r>
            <a:br>
              <a:rPr lang="en-GB" sz="1600">
                <a:latin typeface="Consolas" panose="020B0609020204030204" pitchFamily="49" charset="0"/>
              </a:rPr>
            </a:br>
            <a:r>
              <a:rPr lang="en-GB" sz="1600">
                <a:latin typeface="Consolas" panose="020B0609020204030204" pitchFamily="49" charset="0"/>
              </a:rPr>
              <a:t>} Book;</a:t>
            </a:r>
            <a:br>
              <a:rPr lang="en-GB" sz="1600">
                <a:latin typeface="Consolas" panose="020B0609020204030204" pitchFamily="49" charset="0"/>
              </a:rPr>
            </a:br>
            <a:endParaRPr lang="en-GB" sz="1600">
              <a:latin typeface="Consolas" panose="020B0609020204030204" pitchFamily="49" charset="0"/>
            </a:endParaRPr>
          </a:p>
          <a:p>
            <a:pPr marL="0" inden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a:t>
            </a:r>
            <a:r>
              <a:rPr lang="en-GB" sz="1600">
                <a:solidFill>
                  <a:schemeClr val="accent6">
                    <a:lumMod val="60000"/>
                    <a:lumOff val="40000"/>
                  </a:schemeClr>
                </a:solidFill>
                <a:latin typeface="Consolas" panose="020B0609020204030204" pitchFamily="49" charset="0"/>
              </a:rPr>
              <a:t>Book *book</a:t>
            </a:r>
            <a:r>
              <a:rPr lang="en-GB" sz="1600">
                <a:latin typeface="Consolas" panose="020B0609020204030204" pitchFamily="49" charset="0"/>
              </a:rPr>
              <a:t> );</a:t>
            </a:r>
            <a:br>
              <a:rPr lang="en-GB" sz="1600">
                <a:latin typeface="Consolas" panose="020B0609020204030204" pitchFamily="49" charset="0"/>
              </a:rPr>
            </a:br>
            <a:br>
              <a:rPr lang="en-GB" sz="1600">
                <a:latin typeface="Consolas" panose="020B0609020204030204" pitchFamily="49" charset="0"/>
              </a:rPr>
            </a:br>
            <a:r>
              <a:rPr lang="en-GB" sz="1600">
                <a:solidFill>
                  <a:schemeClr val="accent1">
                    <a:lumMod val="75000"/>
                  </a:schemeClr>
                </a:solidFill>
                <a:latin typeface="Consolas" panose="020B0609020204030204" pitchFamily="49" charset="0"/>
              </a:rPr>
              <a:t>int</a:t>
            </a:r>
            <a:r>
              <a:rPr lang="en-GB" sz="1600">
                <a:latin typeface="Consolas" panose="020B0609020204030204" pitchFamily="49" charset="0"/>
              </a:rPr>
              <a:t> main() {</a:t>
            </a:r>
            <a:br>
              <a:rPr lang="en-GB" sz="1600">
                <a:latin typeface="Consolas" panose="020B0609020204030204" pitchFamily="49" charset="0"/>
              </a:rPr>
            </a:br>
            <a:r>
              <a:rPr lang="en-GB" sz="1600">
                <a:latin typeface="Consolas" panose="020B0609020204030204" pitchFamily="49" charset="0"/>
              </a:rPr>
              <a:t>  Book book = { "Middlemarch", </a:t>
            </a:r>
            <a:br>
              <a:rPr lang="en-GB" sz="1600">
                <a:latin typeface="Consolas" panose="020B0609020204030204" pitchFamily="49" charset="0"/>
              </a:rPr>
            </a:br>
            <a:r>
              <a:rPr lang="en-GB" sz="1600">
                <a:latin typeface="Consolas" panose="020B0609020204030204" pitchFamily="49" charset="0"/>
              </a:rPr>
              <a:t>                "George Elliot", </a:t>
            </a:r>
            <a:br>
              <a:rPr lang="en-GB" sz="1600">
                <a:latin typeface="Consolas" panose="020B0609020204030204" pitchFamily="49" charset="0"/>
              </a:rPr>
            </a:br>
            <a:r>
              <a:rPr lang="en-GB" sz="1600">
                <a:latin typeface="Consolas" panose="020B0609020204030204" pitchFamily="49" charset="0"/>
              </a:rPr>
              <a:t>                370, 1234 };</a:t>
            </a:r>
            <a:br>
              <a:rPr lang="en-GB" sz="1600">
                <a:latin typeface="Consolas" panose="020B0609020204030204" pitchFamily="49" charset="0"/>
              </a:rPr>
            </a:br>
            <a:r>
              <a:rPr lang="en-GB" sz="1600">
                <a:latin typeface="Consolas" panose="020B0609020204030204" pitchFamily="49" charset="0"/>
              </a:rPr>
              <a:t>  ProcessBook(</a:t>
            </a:r>
            <a:r>
              <a:rPr lang="en-GB" sz="1600">
                <a:solidFill>
                  <a:schemeClr val="accent6">
                    <a:lumMod val="60000"/>
                    <a:lumOff val="40000"/>
                  </a:schemeClr>
                </a:solidFill>
                <a:latin typeface="Consolas" panose="020B0609020204030204" pitchFamily="49" charset="0"/>
              </a:rPr>
              <a:t>&amp;book</a:t>
            </a:r>
            <a:r>
              <a:rPr lang="en-GB" sz="1600">
                <a:latin typeface="Consolas" panose="020B0609020204030204" pitchFamily="49" charset="0"/>
              </a:rPr>
              <a:t>);</a:t>
            </a:r>
            <a:br>
              <a:rPr lang="en-GB" sz="1600">
                <a:latin typeface="Consolas" panose="020B0609020204030204" pitchFamily="49" charset="0"/>
              </a:rPr>
            </a:br>
            <a:r>
              <a:rPr lang="en-GB" sz="1600">
                <a:latin typeface="Consolas" panose="020B0609020204030204" pitchFamily="49" charset="0"/>
              </a:rPr>
              <a:t>}</a:t>
            </a:r>
          </a:p>
          <a:p>
            <a:pPr marL="0" indent="0">
              <a:buNone/>
            </a:pPr>
            <a:endParaRPr lang="LID4096" sz="1600">
              <a:latin typeface="Consolas" panose="020B0609020204030204" pitchFamily="49" charset="0"/>
            </a:endParaRPr>
          </a:p>
        </p:txBody>
      </p:sp>
      <p:sp>
        <p:nvSpPr>
          <p:cNvPr id="3" name="Date Placeholder 2">
            <a:extLst>
              <a:ext uri="{FF2B5EF4-FFF2-40B4-BE49-F238E27FC236}">
                <a16:creationId xmlns:a16="http://schemas.microsoft.com/office/drawing/2014/main" id="{5133DDB3-6E39-BF31-91E6-821AD15ABAEA}"/>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1B5D212F-FF82-AD96-4447-F5CC851ECBE8}"/>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A3621A9A-54B4-21F1-04A2-F104150B34CD}"/>
              </a:ext>
            </a:extLst>
          </p:cNvPr>
          <p:cNvSpPr>
            <a:spLocks noGrp="1"/>
          </p:cNvSpPr>
          <p:nvPr>
            <p:ph type="sldNum" sz="quarter" idx="12"/>
          </p:nvPr>
        </p:nvSpPr>
        <p:spPr/>
        <p:txBody>
          <a:bodyPr/>
          <a:lstStyle/>
          <a:p>
            <a:fld id="{E46909CE-3A1D-43F5-8F4E-45D6477AD820}" type="slidenum">
              <a:rPr lang="LID4096" smtClean="0"/>
              <a:t>14</a:t>
            </a:fld>
            <a:endParaRPr lang="LID4096"/>
          </a:p>
        </p:txBody>
      </p:sp>
      <p:grpSp>
        <p:nvGrpSpPr>
          <p:cNvPr id="9" name="Group 8">
            <a:extLst>
              <a:ext uri="{FF2B5EF4-FFF2-40B4-BE49-F238E27FC236}">
                <a16:creationId xmlns:a16="http://schemas.microsoft.com/office/drawing/2014/main" id="{12A0529E-00C6-467D-5B26-B18D16494B2D}"/>
              </a:ext>
            </a:extLst>
          </p:cNvPr>
          <p:cNvGrpSpPr/>
          <p:nvPr/>
        </p:nvGrpSpPr>
        <p:grpSpPr>
          <a:xfrm>
            <a:off x="2871789" y="1690688"/>
            <a:ext cx="4367211" cy="2483861"/>
            <a:chOff x="-23811" y="357929"/>
            <a:chExt cx="4367211" cy="2483861"/>
          </a:xfrm>
        </p:grpSpPr>
        <p:sp>
          <p:nvSpPr>
            <p:cNvPr id="10" name="TextBox 9">
              <a:extLst>
                <a:ext uri="{FF2B5EF4-FFF2-40B4-BE49-F238E27FC236}">
                  <a16:creationId xmlns:a16="http://schemas.microsoft.com/office/drawing/2014/main" id="{5ECE5489-0620-0A61-6C5E-3188F89DFE1A}"/>
                </a:ext>
              </a:extLst>
            </p:cNvPr>
            <p:cNvSpPr txBox="1"/>
            <p:nvPr/>
          </p:nvSpPr>
          <p:spPr>
            <a:xfrm>
              <a:off x="86933" y="357929"/>
              <a:ext cx="4256467" cy="646331"/>
            </a:xfrm>
            <a:prstGeom prst="rect">
              <a:avLst/>
            </a:prstGeom>
            <a:noFill/>
            <a:ln>
              <a:solidFill>
                <a:schemeClr val="tx1"/>
              </a:solidFill>
            </a:ln>
          </p:spPr>
          <p:txBody>
            <a:bodyPr wrap="square" rtlCol="0">
              <a:spAutoFit/>
            </a:bodyPr>
            <a:lstStyle/>
            <a:p>
              <a:r>
                <a:rPr lang="sv-SE"/>
                <a:t>Det är oftast bättre att bara skicka en </a:t>
              </a:r>
              <a:r>
                <a:rPr lang="sv-SE" i="1"/>
                <a:t>pekare</a:t>
              </a:r>
              <a:r>
                <a:rPr lang="sv-SE"/>
                <a:t> (addressen) till en stor structure.</a:t>
              </a:r>
              <a:endParaRPr lang="LID4096"/>
            </a:p>
          </p:txBody>
        </p:sp>
        <p:sp>
          <p:nvSpPr>
            <p:cNvPr id="11" name="Rectangle 10">
              <a:extLst>
                <a:ext uri="{FF2B5EF4-FFF2-40B4-BE49-F238E27FC236}">
                  <a16:creationId xmlns:a16="http://schemas.microsoft.com/office/drawing/2014/main" id="{B697CAEB-CF84-8D1E-A80B-8B0E19FD551B}"/>
                </a:ext>
              </a:extLst>
            </p:cNvPr>
            <p:cNvSpPr/>
            <p:nvPr/>
          </p:nvSpPr>
          <p:spPr>
            <a:xfrm>
              <a:off x="-23811" y="2603666"/>
              <a:ext cx="1276349" cy="2381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 name="Straight Connector 11">
              <a:extLst>
                <a:ext uri="{FF2B5EF4-FFF2-40B4-BE49-F238E27FC236}">
                  <a16:creationId xmlns:a16="http://schemas.microsoft.com/office/drawing/2014/main" id="{BB52E8FD-BDDB-0662-CA78-1C34364B9570}"/>
                </a:ext>
              </a:extLst>
            </p:cNvPr>
            <p:cNvCxnSpPr>
              <a:cxnSpLocks/>
              <a:stCxn id="10" idx="2"/>
              <a:endCxn id="11" idx="0"/>
            </p:cNvCxnSpPr>
            <p:nvPr/>
          </p:nvCxnSpPr>
          <p:spPr>
            <a:xfrm flipH="1">
              <a:off x="614364" y="1004260"/>
              <a:ext cx="1600803" cy="15994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 name="Text Placeholder 7">
            <a:extLst>
              <a:ext uri="{FF2B5EF4-FFF2-40B4-BE49-F238E27FC236}">
                <a16:creationId xmlns:a16="http://schemas.microsoft.com/office/drawing/2014/main" id="{CCE290FE-87B1-695B-1631-239EAD6885E9}"/>
              </a:ext>
            </a:extLst>
          </p:cNvPr>
          <p:cNvSpPr txBox="1">
            <a:spLocks/>
          </p:cNvSpPr>
          <p:nvPr/>
        </p:nvSpPr>
        <p:spPr>
          <a:xfrm>
            <a:off x="7629525" y="1120775"/>
            <a:ext cx="4114800" cy="5235575"/>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a:t>Pilnotation</a:t>
            </a:r>
          </a:p>
          <a:p>
            <a:pPr marL="0" indent="0">
              <a:buFont typeface="Arial" panose="020B0604020202020204" pitchFamily="34" charse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Book *book )</a:t>
            </a:r>
          </a:p>
          <a:p>
            <a:pPr marL="0" indent="0">
              <a:buFont typeface="Arial" panose="020B0604020202020204" pitchFamily="34" charset="0"/>
              <a:buNone/>
            </a:pPr>
            <a:r>
              <a:rPr lang="en-GB" sz="1600">
                <a:latin typeface="Consolas" panose="020B0609020204030204" pitchFamily="49" charset="0"/>
              </a:rPr>
              <a:t>{</a:t>
            </a:r>
          </a:p>
          <a:p>
            <a:pPr marL="0" indent="0">
              <a:buFont typeface="Arial" panose="020B0604020202020204" pitchFamily="34" charset="0"/>
              <a:buNone/>
            </a:pPr>
            <a:r>
              <a:rPr lang="en-GB" sz="1600">
                <a:latin typeface="Consolas" panose="020B0609020204030204" pitchFamily="49" charset="0"/>
              </a:rPr>
              <a:t>  if((*book).num_pages &gt; 100) {</a:t>
            </a:r>
          </a:p>
          <a:p>
            <a:pPr marL="0" indent="0">
              <a:buFont typeface="Arial" panose="020B0604020202020204" pitchFamily="34" charset="0"/>
              <a:buNone/>
            </a:pPr>
            <a:r>
              <a:rPr lang="en-GB" sz="1600">
                <a:solidFill>
                  <a:schemeClr val="accent6">
                    <a:lumMod val="75000"/>
                  </a:schemeClr>
                </a:solidFill>
                <a:latin typeface="Consolas" panose="020B0609020204030204" pitchFamily="49" charset="0"/>
              </a:rPr>
              <a:t>     // Book is too long. Panic!</a:t>
            </a:r>
          </a:p>
          <a:p>
            <a:pPr marL="0" indent="0">
              <a:buFont typeface="Arial" panose="020B0604020202020204" pitchFamily="34" charset="0"/>
              <a:buNone/>
            </a:pPr>
            <a:r>
              <a:rPr lang="en-GB" sz="1600">
                <a:latin typeface="Consolas" panose="020B0609020204030204" pitchFamily="49" charset="0"/>
              </a:rPr>
              <a:t>  }</a:t>
            </a:r>
          </a:p>
          <a:p>
            <a:pPr marL="0" indent="0">
              <a:buFont typeface="Arial" panose="020B0604020202020204" pitchFamily="34" charset="0"/>
              <a:buNone/>
            </a:pPr>
            <a:r>
              <a:rPr lang="en-GB" sz="1600">
                <a:latin typeface="Consolas" panose="020B0609020204030204" pitchFamily="49" charset="0"/>
              </a:rPr>
              <a:t>}</a:t>
            </a:r>
            <a:br>
              <a:rPr lang="en-GB" sz="1600">
                <a:latin typeface="Consolas" panose="020B0609020204030204" pitchFamily="49" charset="0"/>
              </a:rPr>
            </a:br>
            <a:endParaRPr lang="en-GB" sz="1600">
              <a:latin typeface="Consolas" panose="020B0609020204030204" pitchFamily="49" charset="0"/>
            </a:endParaRPr>
          </a:p>
          <a:p>
            <a:pPr marL="0" indent="0">
              <a:buFont typeface="Arial" panose="020B0604020202020204" pitchFamily="34" charset="0"/>
              <a:buNone/>
            </a:pPr>
            <a:r>
              <a:rPr lang="en-GB" sz="1600" b="1"/>
              <a:t>Ekvivalent: </a:t>
            </a:r>
            <a:endParaRPr lang="en-GB" sz="1600">
              <a:latin typeface="Consolas" panose="020B0609020204030204" pitchFamily="49" charset="0"/>
            </a:endParaRPr>
          </a:p>
          <a:p>
            <a:pPr marL="0" indent="0">
              <a:buFont typeface="Arial" panose="020B0604020202020204" pitchFamily="34" charset="0"/>
              <a:buNone/>
            </a:pPr>
            <a:r>
              <a:rPr lang="en-GB" sz="1600">
                <a:solidFill>
                  <a:schemeClr val="accent1">
                    <a:lumMod val="75000"/>
                  </a:schemeClr>
                </a:solidFill>
                <a:latin typeface="Consolas" panose="020B0609020204030204" pitchFamily="49" charset="0"/>
              </a:rPr>
              <a:t>void</a:t>
            </a:r>
            <a:r>
              <a:rPr lang="en-GB" sz="1600">
                <a:latin typeface="Consolas" panose="020B0609020204030204" pitchFamily="49" charset="0"/>
              </a:rPr>
              <a:t> ProcessBook( Book *book )</a:t>
            </a:r>
          </a:p>
          <a:p>
            <a:pPr marL="0" indent="0">
              <a:buFont typeface="Arial" panose="020B0604020202020204" pitchFamily="34" charset="0"/>
              <a:buNone/>
            </a:pPr>
            <a:r>
              <a:rPr lang="en-GB" sz="1600">
                <a:latin typeface="Consolas" panose="020B0609020204030204" pitchFamily="49" charset="0"/>
              </a:rPr>
              <a:t>{</a:t>
            </a:r>
          </a:p>
          <a:p>
            <a:pPr marL="0" indent="0">
              <a:buFont typeface="Arial" panose="020B0604020202020204" pitchFamily="34" charset="0"/>
              <a:buNone/>
            </a:pPr>
            <a:r>
              <a:rPr lang="en-GB" sz="1600">
                <a:latin typeface="Consolas" panose="020B0609020204030204" pitchFamily="49" charset="0"/>
              </a:rPr>
              <a:t>  if(</a:t>
            </a:r>
            <a:r>
              <a:rPr lang="en-GB" sz="1600" b="1">
                <a:solidFill>
                  <a:schemeClr val="accent5">
                    <a:lumMod val="60000"/>
                    <a:lumOff val="40000"/>
                  </a:schemeClr>
                </a:solidFill>
                <a:latin typeface="Consolas" panose="020B0609020204030204" pitchFamily="49" charset="0"/>
              </a:rPr>
              <a:t>book-&gt;num_pages </a:t>
            </a:r>
            <a:r>
              <a:rPr lang="en-GB" sz="1600">
                <a:latin typeface="Consolas" panose="020B0609020204030204" pitchFamily="49" charset="0"/>
              </a:rPr>
              <a:t>&gt; 100) {</a:t>
            </a:r>
          </a:p>
          <a:p>
            <a:pPr marL="0" indent="0">
              <a:buFont typeface="Arial" panose="020B0604020202020204" pitchFamily="34" charset="0"/>
              <a:buNone/>
            </a:pPr>
            <a:r>
              <a:rPr lang="en-GB" sz="1600">
                <a:solidFill>
                  <a:schemeClr val="accent6">
                    <a:lumMod val="75000"/>
                  </a:schemeClr>
                </a:solidFill>
                <a:latin typeface="Consolas" panose="020B0609020204030204" pitchFamily="49" charset="0"/>
              </a:rPr>
              <a:t>     // Book is too long. Panic!</a:t>
            </a:r>
          </a:p>
          <a:p>
            <a:pPr marL="0" indent="0">
              <a:buFont typeface="Arial" panose="020B0604020202020204" pitchFamily="34" charset="0"/>
              <a:buNone/>
            </a:pPr>
            <a:r>
              <a:rPr lang="en-GB" sz="1600">
                <a:latin typeface="Consolas" panose="020B0609020204030204" pitchFamily="49" charset="0"/>
              </a:rPr>
              <a:t>  }</a:t>
            </a:r>
          </a:p>
          <a:p>
            <a:pPr marL="0" indent="0">
              <a:buFont typeface="Arial" panose="020B0604020202020204" pitchFamily="34" charset="0"/>
              <a:buNone/>
            </a:pPr>
            <a:r>
              <a:rPr lang="en-GB" sz="1600">
                <a:latin typeface="Consolas" panose="020B0609020204030204" pitchFamily="49" charset="0"/>
              </a:rPr>
              <a:t>}</a:t>
            </a:r>
            <a:br>
              <a:rPr lang="en-GB" sz="1600">
                <a:latin typeface="Consolas" panose="020B0609020204030204" pitchFamily="49" charset="0"/>
              </a:rPr>
            </a:br>
            <a:endParaRPr lang="LID4096" sz="1600">
              <a:latin typeface="Consolas" panose="020B0609020204030204" pitchFamily="49" charset="0"/>
            </a:endParaRPr>
          </a:p>
        </p:txBody>
      </p:sp>
    </p:spTree>
    <p:extLst>
      <p:ext uri="{BB962C8B-B14F-4D97-AF65-F5344CB8AC3E}">
        <p14:creationId xmlns:p14="http://schemas.microsoft.com/office/powerpoint/2010/main" val="2130961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bg/>
                                          </p:spTgt>
                                        </p:tgtEl>
                                        <p:attrNameLst>
                                          <p:attrName>style.visibility</p:attrName>
                                        </p:attrNameLst>
                                      </p:cBhvr>
                                      <p:to>
                                        <p:strVal val="visible"/>
                                      </p:to>
                                    </p:set>
                                    <p:animEffect transition="in" filter="fade">
                                      <p:cBhvr>
                                        <p:cTn id="12" dur="500"/>
                                        <p:tgtEl>
                                          <p:spTgt spid="6">
                                            <p:bg/>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fade">
                                      <p:cBhvr>
                                        <p:cTn id="15" dur="500"/>
                                        <p:tgtEl>
                                          <p:spTgt spid="6">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xEl>
                                              <p:pRg st="1" end="1"/>
                                            </p:txEl>
                                          </p:spTgt>
                                        </p:tgtEl>
                                        <p:attrNameLst>
                                          <p:attrName>style.visibility</p:attrName>
                                        </p:attrNameLst>
                                      </p:cBhvr>
                                      <p:to>
                                        <p:strVal val="visible"/>
                                      </p:to>
                                    </p:set>
                                    <p:animEffect transition="in" filter="fade">
                                      <p:cBhvr>
                                        <p:cTn id="18" dur="500"/>
                                        <p:tgtEl>
                                          <p:spTgt spid="6">
                                            <p:txEl>
                                              <p:pRg st="1" end="1"/>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500"/>
                                        <p:tgtEl>
                                          <p:spTgt spid="6">
                                            <p:txEl>
                                              <p:pRg st="2" end="2"/>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
                                            <p:txEl>
                                              <p:pRg st="3" end="3"/>
                                            </p:txEl>
                                          </p:spTgt>
                                        </p:tgtEl>
                                        <p:attrNameLst>
                                          <p:attrName>style.visibility</p:attrName>
                                        </p:attrNameLst>
                                      </p:cBhvr>
                                      <p:to>
                                        <p:strVal val="visible"/>
                                      </p:to>
                                    </p:set>
                                    <p:animEffect transition="in" filter="fade">
                                      <p:cBhvr>
                                        <p:cTn id="24" dur="500"/>
                                        <p:tgtEl>
                                          <p:spTgt spid="6">
                                            <p:txEl>
                                              <p:pRg st="3" end="3"/>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fade">
                                      <p:cBhvr>
                                        <p:cTn id="27" dur="500"/>
                                        <p:tgtEl>
                                          <p:spTgt spid="6">
                                            <p:txEl>
                                              <p:pRg st="4" end="4"/>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
                                            <p:txEl>
                                              <p:pRg st="5" end="5"/>
                                            </p:txEl>
                                          </p:spTgt>
                                        </p:tgtEl>
                                        <p:attrNameLst>
                                          <p:attrName>style.visibility</p:attrName>
                                        </p:attrNameLst>
                                      </p:cBhvr>
                                      <p:to>
                                        <p:strVal val="visible"/>
                                      </p:to>
                                    </p:set>
                                    <p:animEffect transition="in" filter="fade">
                                      <p:cBhvr>
                                        <p:cTn id="30" dur="500"/>
                                        <p:tgtEl>
                                          <p:spTgt spid="6">
                                            <p:txEl>
                                              <p:pRg st="5" end="5"/>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animEffect transition="in" filter="fade">
                                      <p:cBhvr>
                                        <p:cTn id="33" dur="500"/>
                                        <p:tgtEl>
                                          <p:spTgt spid="6">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
                                            <p:txEl>
                                              <p:pRg st="7" end="7"/>
                                            </p:txEl>
                                          </p:spTgt>
                                        </p:tgtEl>
                                        <p:attrNameLst>
                                          <p:attrName>style.visibility</p:attrName>
                                        </p:attrNameLst>
                                      </p:cBhvr>
                                      <p:to>
                                        <p:strVal val="visible"/>
                                      </p:to>
                                    </p:set>
                                    <p:animEffect transition="in" filter="fade">
                                      <p:cBhvr>
                                        <p:cTn id="36" dur="500"/>
                                        <p:tgtEl>
                                          <p:spTgt spid="6">
                                            <p:txEl>
                                              <p:pRg st="7" end="7"/>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
                                            <p:txEl>
                                              <p:pRg st="8" end="8"/>
                                            </p:txEl>
                                          </p:spTgt>
                                        </p:tgtEl>
                                        <p:attrNameLst>
                                          <p:attrName>style.visibility</p:attrName>
                                        </p:attrNameLst>
                                      </p:cBhvr>
                                      <p:to>
                                        <p:strVal val="visible"/>
                                      </p:to>
                                    </p:set>
                                    <p:animEffect transition="in" filter="fade">
                                      <p:cBhvr>
                                        <p:cTn id="39" dur="500"/>
                                        <p:tgtEl>
                                          <p:spTgt spid="6">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
                                            <p:txEl>
                                              <p:pRg st="9" end="9"/>
                                            </p:txEl>
                                          </p:spTgt>
                                        </p:tgtEl>
                                        <p:attrNameLst>
                                          <p:attrName>style.visibility</p:attrName>
                                        </p:attrNameLst>
                                      </p:cBhvr>
                                      <p:to>
                                        <p:strVal val="visible"/>
                                      </p:to>
                                    </p:set>
                                    <p:animEffect transition="in" filter="fade">
                                      <p:cBhvr>
                                        <p:cTn id="42" dur="500"/>
                                        <p:tgtEl>
                                          <p:spTgt spid="6">
                                            <p:txEl>
                                              <p:pRg st="9" end="9"/>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
                                            <p:txEl>
                                              <p:pRg st="10" end="10"/>
                                            </p:txEl>
                                          </p:spTgt>
                                        </p:tgtEl>
                                        <p:attrNameLst>
                                          <p:attrName>style.visibility</p:attrName>
                                        </p:attrNameLst>
                                      </p:cBhvr>
                                      <p:to>
                                        <p:strVal val="visible"/>
                                      </p:to>
                                    </p:set>
                                    <p:animEffect transition="in" filter="fade">
                                      <p:cBhvr>
                                        <p:cTn id="45" dur="500"/>
                                        <p:tgtEl>
                                          <p:spTgt spid="6">
                                            <p:txEl>
                                              <p:pRg st="10" end="10"/>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
                                            <p:txEl>
                                              <p:pRg st="11" end="11"/>
                                            </p:txEl>
                                          </p:spTgt>
                                        </p:tgtEl>
                                        <p:attrNameLst>
                                          <p:attrName>style.visibility</p:attrName>
                                        </p:attrNameLst>
                                      </p:cBhvr>
                                      <p:to>
                                        <p:strVal val="visible"/>
                                      </p:to>
                                    </p:set>
                                    <p:animEffect transition="in" filter="fade">
                                      <p:cBhvr>
                                        <p:cTn id="48" dur="500"/>
                                        <p:tgtEl>
                                          <p:spTgt spid="6">
                                            <p:txEl>
                                              <p:pRg st="11" end="11"/>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
                                            <p:txEl>
                                              <p:pRg st="12" end="12"/>
                                            </p:txEl>
                                          </p:spTgt>
                                        </p:tgtEl>
                                        <p:attrNameLst>
                                          <p:attrName>style.visibility</p:attrName>
                                        </p:attrNameLst>
                                      </p:cBhvr>
                                      <p:to>
                                        <p:strVal val="visible"/>
                                      </p:to>
                                    </p:set>
                                    <p:animEffect transition="in" filter="fade">
                                      <p:cBhvr>
                                        <p:cTn id="51" dur="500"/>
                                        <p:tgtEl>
                                          <p:spTgt spid="6">
                                            <p:txEl>
                                              <p:pRg st="12" end="12"/>
                                            </p:txEl>
                                          </p:spTgt>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6">
                                            <p:txEl>
                                              <p:pRg st="13" end="13"/>
                                            </p:txEl>
                                          </p:spTgt>
                                        </p:tgtEl>
                                        <p:attrNameLst>
                                          <p:attrName>style.visibility</p:attrName>
                                        </p:attrNameLst>
                                      </p:cBhvr>
                                      <p:to>
                                        <p:strVal val="visible"/>
                                      </p:to>
                                    </p:set>
                                    <p:animEffect transition="in" filter="fade">
                                      <p:cBhvr>
                                        <p:cTn id="54" dur="500"/>
                                        <p:tgtEl>
                                          <p:spTgt spid="6">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0B197-2273-9E4C-7908-CE49791DBD90}"/>
            </a:ext>
          </a:extLst>
        </p:cNvPr>
        <p:cNvGrpSpPr/>
        <p:nvPr/>
      </p:nvGrpSpPr>
      <p:grpSpPr>
        <a:xfrm>
          <a:off x="0" y="0"/>
          <a:ext cx="0" cy="0"/>
          <a:chOff x="0" y="0"/>
          <a:chExt cx="0" cy="0"/>
        </a:xfrm>
      </p:grpSpPr>
    </p:spTree>
    <p:extLst>
      <p:ext uri="{BB962C8B-B14F-4D97-AF65-F5344CB8AC3E}">
        <p14:creationId xmlns:p14="http://schemas.microsoft.com/office/powerpoint/2010/main" val="668194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BC630-EE5A-590D-3C43-D95886E4EE6D}"/>
              </a:ext>
            </a:extLst>
          </p:cNvPr>
          <p:cNvSpPr>
            <a:spLocks noGrp="1"/>
          </p:cNvSpPr>
          <p:nvPr>
            <p:ph type="title"/>
          </p:nvPr>
        </p:nvSpPr>
        <p:spPr/>
        <p:txBody>
          <a:bodyPr/>
          <a:lstStyle/>
          <a:p>
            <a:r>
              <a:rPr lang="sv-SE"/>
              <a:t>Exempel (typisk tentafråga)</a:t>
            </a:r>
            <a:endParaRPr lang="LID4096"/>
          </a:p>
        </p:txBody>
      </p:sp>
      <p:sp>
        <p:nvSpPr>
          <p:cNvPr id="3" name="Date Placeholder 2">
            <a:extLst>
              <a:ext uri="{FF2B5EF4-FFF2-40B4-BE49-F238E27FC236}">
                <a16:creationId xmlns:a16="http://schemas.microsoft.com/office/drawing/2014/main" id="{37435985-74CF-E702-6CA1-FF1CBB8B0F7B}"/>
              </a:ext>
            </a:extLst>
          </p:cNvPr>
          <p:cNvSpPr>
            <a:spLocks noGrp="1"/>
          </p:cNvSpPr>
          <p:nvPr>
            <p:ph type="dt" sz="half" idx="10"/>
          </p:nvPr>
        </p:nvSpPr>
        <p:spPr/>
        <p:txBody>
          <a:bodyPr/>
          <a:lstStyle/>
          <a:p>
            <a:fld id="{10ECE148-BD56-4755-B580-741EAF415DA4}" type="datetime1">
              <a:rPr lang="LID4096" smtClean="0"/>
              <a:t>02/10/2026</a:t>
            </a:fld>
            <a:endParaRPr lang="LID4096"/>
          </a:p>
        </p:txBody>
      </p:sp>
      <p:sp>
        <p:nvSpPr>
          <p:cNvPr id="4" name="Footer Placeholder 3">
            <a:extLst>
              <a:ext uri="{FF2B5EF4-FFF2-40B4-BE49-F238E27FC236}">
                <a16:creationId xmlns:a16="http://schemas.microsoft.com/office/drawing/2014/main" id="{1A60766B-01E1-0121-489F-CA0B5A909852}"/>
              </a:ext>
            </a:extLst>
          </p:cNvPr>
          <p:cNvSpPr>
            <a:spLocks noGrp="1"/>
          </p:cNvSpPr>
          <p:nvPr>
            <p:ph type="ftr" sz="quarter" idx="11"/>
          </p:nvPr>
        </p:nvSpPr>
        <p:spPr/>
        <p:txBody>
          <a:bodyPr/>
          <a:lstStyle/>
          <a:p>
            <a:r>
              <a:rPr lang="en-GB"/>
              <a:t>Maskinorienterad Programmering</a:t>
            </a:r>
            <a:endParaRPr lang="LID4096"/>
          </a:p>
        </p:txBody>
      </p:sp>
      <p:sp>
        <p:nvSpPr>
          <p:cNvPr id="5" name="Slide Number Placeholder 4">
            <a:extLst>
              <a:ext uri="{FF2B5EF4-FFF2-40B4-BE49-F238E27FC236}">
                <a16:creationId xmlns:a16="http://schemas.microsoft.com/office/drawing/2014/main" id="{7FC345C0-44D2-4CB2-FC63-C7545486F988}"/>
              </a:ext>
            </a:extLst>
          </p:cNvPr>
          <p:cNvSpPr>
            <a:spLocks noGrp="1"/>
          </p:cNvSpPr>
          <p:nvPr>
            <p:ph type="sldNum" sz="quarter" idx="12"/>
          </p:nvPr>
        </p:nvSpPr>
        <p:spPr/>
        <p:txBody>
          <a:bodyPr/>
          <a:lstStyle/>
          <a:p>
            <a:fld id="{E46909CE-3A1D-43F5-8F4E-45D6477AD820}" type="slidenum">
              <a:rPr lang="LID4096" smtClean="0"/>
              <a:t>16</a:t>
            </a:fld>
            <a:endParaRPr lang="LID4096"/>
          </a:p>
        </p:txBody>
      </p:sp>
      <p:pic>
        <p:nvPicPr>
          <p:cNvPr id="11" name="Picture 10">
            <a:extLst>
              <a:ext uri="{FF2B5EF4-FFF2-40B4-BE49-F238E27FC236}">
                <a16:creationId xmlns:a16="http://schemas.microsoft.com/office/drawing/2014/main" id="{8B07886E-B1AB-2EE6-1DFB-95DAF2581281}"/>
              </a:ext>
            </a:extLst>
          </p:cNvPr>
          <p:cNvPicPr>
            <a:picLocks noChangeAspect="1"/>
          </p:cNvPicPr>
          <p:nvPr/>
        </p:nvPicPr>
        <p:blipFill>
          <a:blip r:embed="rId3"/>
          <a:stretch>
            <a:fillRect/>
          </a:stretch>
        </p:blipFill>
        <p:spPr>
          <a:xfrm>
            <a:off x="450876" y="2485898"/>
            <a:ext cx="5299213" cy="255295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2287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2D33B-3A68-BFA4-B281-9B251DBBC003}"/>
              </a:ext>
            </a:extLst>
          </p:cNvPr>
          <p:cNvSpPr>
            <a:spLocks noGrp="1"/>
          </p:cNvSpPr>
          <p:nvPr>
            <p:ph type="title"/>
          </p:nvPr>
        </p:nvSpPr>
        <p:spPr/>
        <p:txBody>
          <a:bodyPr/>
          <a:lstStyle/>
          <a:p>
            <a:r>
              <a:rPr lang="sv-SE"/>
              <a:t>Unions</a:t>
            </a:r>
            <a:endParaRPr lang="LID4096"/>
          </a:p>
        </p:txBody>
      </p:sp>
      <p:sp>
        <p:nvSpPr>
          <p:cNvPr id="8" name="Text Placeholder 7">
            <a:extLst>
              <a:ext uri="{FF2B5EF4-FFF2-40B4-BE49-F238E27FC236}">
                <a16:creationId xmlns:a16="http://schemas.microsoft.com/office/drawing/2014/main" id="{A28F4A84-6D2B-76FA-72F2-555AB1795490}"/>
              </a:ext>
            </a:extLst>
          </p:cNvPr>
          <p:cNvSpPr>
            <a:spLocks noGrp="1"/>
          </p:cNvSpPr>
          <p:nvPr>
            <p:ph idx="1"/>
          </p:nvPr>
        </p:nvSpPr>
        <p:spPr/>
        <p:txBody>
          <a:bodyPr>
            <a:normAutofit lnSpcReduction="10000"/>
          </a:bodyPr>
          <a:lstStyle/>
          <a:p>
            <a:pPr marL="0" indent="0">
              <a:buNone/>
            </a:pPr>
            <a:r>
              <a:rPr lang="en-GB" sz="3200" dirty="0"/>
              <a:t>Unions l</a:t>
            </a:r>
            <a:r>
              <a:rPr lang="sv-SE" sz="3200" dirty="0"/>
              <a:t>åter oss ha två eller flera </a:t>
            </a:r>
          </a:p>
          <a:p>
            <a:pPr marL="0" indent="0">
              <a:buNone/>
            </a:pPr>
            <a:r>
              <a:rPr lang="sv-SE" sz="3200" dirty="0"/>
              <a:t>variabler </a:t>
            </a:r>
            <a:r>
              <a:rPr lang="sv-SE" sz="3200" i="1" dirty="0"/>
              <a:t>på samma plats i minnet</a:t>
            </a:r>
          </a:p>
          <a:p>
            <a:pPr marL="0" indent="0">
              <a:buNone/>
            </a:pPr>
            <a:endParaRPr lang="sv-SE" sz="4000" i="1" dirty="0"/>
          </a:p>
          <a:p>
            <a:pPr marL="0" indent="0">
              <a:buNone/>
            </a:pPr>
            <a:r>
              <a:rPr lang="en-GB" sz="1600" dirty="0">
                <a:solidFill>
                  <a:srgbClr val="0000FF"/>
                </a:solidFill>
                <a:latin typeface="Consolas" panose="020B0609020204030204" pitchFamily="49" charset="0"/>
              </a:rPr>
              <a:t>union</a:t>
            </a:r>
            <a:r>
              <a:rPr lang="en-GB" sz="1600" dirty="0">
                <a:solidFill>
                  <a:srgbClr val="000000"/>
                </a:solidFill>
                <a:latin typeface="Consolas" panose="020B0609020204030204" pitchFamily="49" charset="0"/>
              </a:rPr>
              <a:t> {</a:t>
            </a:r>
            <a:br>
              <a:rPr lang="en-GB" sz="1600" dirty="0">
                <a:solidFill>
                  <a:srgbClr val="000000"/>
                </a:solidFill>
                <a:latin typeface="Consolas" panose="020B0609020204030204" pitchFamily="49" charset="0"/>
              </a:rPr>
            </a:br>
            <a:r>
              <a:rPr lang="en-GB" sz="1600" dirty="0">
                <a:solidFill>
                  <a:srgbClr val="0000FF"/>
                </a:solidFill>
                <a:latin typeface="Consolas" panose="020B0609020204030204" pitchFamily="49" charset="0"/>
              </a:rPr>
              <a:t>   int</a:t>
            </a:r>
            <a:r>
              <a:rPr lang="en-GB" sz="1600" dirty="0">
                <a:solidFill>
                  <a:srgbClr val="000000"/>
                </a:solidFill>
                <a:latin typeface="Consolas" panose="020B0609020204030204" pitchFamily="49" charset="0"/>
              </a:rPr>
              <a:t> integer;</a:t>
            </a:r>
            <a:br>
              <a:rPr lang="en-GB" sz="1600" dirty="0">
                <a:solidFill>
                  <a:srgbClr val="000000"/>
                </a:solidFill>
                <a:latin typeface="Consolas" panose="020B0609020204030204" pitchFamily="49" charset="0"/>
              </a:rPr>
            </a:br>
            <a:r>
              <a:rPr lang="en-GB" sz="1600" dirty="0">
                <a:solidFill>
                  <a:srgbClr val="0000FF"/>
                </a:solidFill>
                <a:latin typeface="Consolas" panose="020B0609020204030204" pitchFamily="49" charset="0"/>
              </a:rPr>
              <a:t>   float</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floating_point</a:t>
            </a:r>
            <a:r>
              <a:rPr lang="en-GB" sz="1600" dirty="0">
                <a:solidFill>
                  <a:srgbClr val="000000"/>
                </a:solidFill>
                <a:latin typeface="Consolas" panose="020B0609020204030204" pitchFamily="49" charset="0"/>
              </a:rPr>
              <a:t>; </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 u;</a:t>
            </a:r>
            <a:endParaRPr lang="en-GB" sz="1600" dirty="0">
              <a:solidFill>
                <a:srgbClr val="0000FF"/>
              </a:solidFill>
              <a:latin typeface="Consolas" panose="020B0609020204030204" pitchFamily="49" charset="0"/>
            </a:endParaRPr>
          </a:p>
          <a:p>
            <a:pPr marL="0" indent="0">
              <a:buNone/>
            </a:pPr>
            <a:r>
              <a:rPr lang="en-GB" sz="1600" dirty="0">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main()</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a:t>
            </a:r>
          </a:p>
          <a:p>
            <a:pPr marL="0" indent="0">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u.integer</a:t>
            </a:r>
            <a:r>
              <a:rPr lang="en-GB" sz="1600" dirty="0">
                <a:solidFill>
                  <a:srgbClr val="000000"/>
                </a:solidFill>
                <a:latin typeface="Consolas" panose="020B0609020204030204" pitchFamily="49" charset="0"/>
              </a:rPr>
              <a:t> = 0xAABBCCDD;</a:t>
            </a:r>
          </a:p>
          <a:p>
            <a:pPr marL="0" indent="0">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u.floating_point</a:t>
            </a:r>
            <a:r>
              <a:rPr lang="en-GB" sz="1600" dirty="0">
                <a:solidFill>
                  <a:srgbClr val="000000"/>
                </a:solidFill>
                <a:latin typeface="Consolas" panose="020B0609020204030204" pitchFamily="49" charset="0"/>
              </a:rPr>
              <a:t> = 100.0f; </a:t>
            </a:r>
          </a:p>
          <a:p>
            <a:pPr marL="0" indent="0">
              <a:buNone/>
            </a:pPr>
            <a:r>
              <a:rPr lang="en-GB" sz="1600" dirty="0">
                <a:solidFill>
                  <a:srgbClr val="000000"/>
                </a:solidFill>
                <a:latin typeface="Consolas" panose="020B0609020204030204" pitchFamily="49" charset="0"/>
              </a:rPr>
              <a:t>}</a:t>
            </a:r>
          </a:p>
          <a:p>
            <a:pPr marL="0" indent="0">
              <a:buNone/>
            </a:pPr>
            <a:endParaRPr lang="LID4096" sz="4000" dirty="0"/>
          </a:p>
        </p:txBody>
      </p:sp>
      <p:sp>
        <p:nvSpPr>
          <p:cNvPr id="3" name="Date Placeholder 2">
            <a:extLst>
              <a:ext uri="{FF2B5EF4-FFF2-40B4-BE49-F238E27FC236}">
                <a16:creationId xmlns:a16="http://schemas.microsoft.com/office/drawing/2014/main" id="{6261474C-38AB-4678-AF91-AFBD3375A304}"/>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9508064B-8330-9706-CC98-0F2C14DE9EC2}"/>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B5FDFCB8-D552-419B-D5F7-B6E83D9E4AE2}"/>
              </a:ext>
            </a:extLst>
          </p:cNvPr>
          <p:cNvSpPr>
            <a:spLocks noGrp="1"/>
          </p:cNvSpPr>
          <p:nvPr>
            <p:ph type="sldNum" sz="quarter" idx="12"/>
          </p:nvPr>
        </p:nvSpPr>
        <p:spPr/>
        <p:txBody>
          <a:bodyPr/>
          <a:lstStyle/>
          <a:p>
            <a:fld id="{E46909CE-3A1D-43F5-8F4E-45D6477AD820}" type="slidenum">
              <a:rPr lang="LID4096" smtClean="0"/>
              <a:t>17</a:t>
            </a:fld>
            <a:endParaRPr lang="LID4096"/>
          </a:p>
        </p:txBody>
      </p:sp>
      <p:sp>
        <p:nvSpPr>
          <p:cNvPr id="9" name="Rectangle 8">
            <a:extLst>
              <a:ext uri="{FF2B5EF4-FFF2-40B4-BE49-F238E27FC236}">
                <a16:creationId xmlns:a16="http://schemas.microsoft.com/office/drawing/2014/main" id="{38EF5E19-3407-E119-B0D4-809CBF2F70A1}"/>
              </a:ext>
            </a:extLst>
          </p:cNvPr>
          <p:cNvSpPr/>
          <p:nvPr/>
        </p:nvSpPr>
        <p:spPr>
          <a:xfrm>
            <a:off x="7808339" y="4770419"/>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0" name="TextBox 9">
            <a:extLst>
              <a:ext uri="{FF2B5EF4-FFF2-40B4-BE49-F238E27FC236}">
                <a16:creationId xmlns:a16="http://schemas.microsoft.com/office/drawing/2014/main" id="{CF3CEFCD-C1B0-35C9-ACA7-B653DECFAD20}"/>
              </a:ext>
            </a:extLst>
          </p:cNvPr>
          <p:cNvSpPr txBox="1"/>
          <p:nvPr/>
        </p:nvSpPr>
        <p:spPr>
          <a:xfrm>
            <a:off x="6951791" y="6204558"/>
            <a:ext cx="894797" cy="261610"/>
          </a:xfrm>
          <a:prstGeom prst="rect">
            <a:avLst/>
          </a:prstGeom>
          <a:noFill/>
        </p:spPr>
        <p:txBody>
          <a:bodyPr wrap="none" rtlCol="0">
            <a:spAutoFit/>
          </a:bodyPr>
          <a:lstStyle/>
          <a:p>
            <a:r>
              <a:rPr lang="sv-SE" sz="1100"/>
              <a:t>0x20000000</a:t>
            </a:r>
            <a:endParaRPr lang="LID4096" sz="1100"/>
          </a:p>
        </p:txBody>
      </p:sp>
      <p:sp>
        <p:nvSpPr>
          <p:cNvPr id="11" name="Rectangle 10">
            <a:extLst>
              <a:ext uri="{FF2B5EF4-FFF2-40B4-BE49-F238E27FC236}">
                <a16:creationId xmlns:a16="http://schemas.microsoft.com/office/drawing/2014/main" id="{4E0EA2D5-E612-A271-BEE5-45F23CF8B5E1}"/>
              </a:ext>
            </a:extLst>
          </p:cNvPr>
          <p:cNvSpPr/>
          <p:nvPr/>
        </p:nvSpPr>
        <p:spPr>
          <a:xfrm>
            <a:off x="7808339" y="3252049"/>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11">
            <a:extLst>
              <a:ext uri="{FF2B5EF4-FFF2-40B4-BE49-F238E27FC236}">
                <a16:creationId xmlns:a16="http://schemas.microsoft.com/office/drawing/2014/main" id="{9AE23A00-AA74-F39B-2649-8B5D2146CB04}"/>
              </a:ext>
            </a:extLst>
          </p:cNvPr>
          <p:cNvSpPr/>
          <p:nvPr/>
        </p:nvSpPr>
        <p:spPr>
          <a:xfrm>
            <a:off x="7808339" y="2668663"/>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12">
            <a:extLst>
              <a:ext uri="{FF2B5EF4-FFF2-40B4-BE49-F238E27FC236}">
                <a16:creationId xmlns:a16="http://schemas.microsoft.com/office/drawing/2014/main" id="{5493F35C-15C0-D8A9-CD69-9C4B0D1C99F2}"/>
              </a:ext>
            </a:extLst>
          </p:cNvPr>
          <p:cNvSpPr/>
          <p:nvPr/>
        </p:nvSpPr>
        <p:spPr>
          <a:xfrm>
            <a:off x="7808339" y="2155699"/>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4" name="Right Brace 13">
            <a:extLst>
              <a:ext uri="{FF2B5EF4-FFF2-40B4-BE49-F238E27FC236}">
                <a16:creationId xmlns:a16="http://schemas.microsoft.com/office/drawing/2014/main" id="{9EE9BCEC-3442-2742-04F7-23D963ED9F37}"/>
              </a:ext>
            </a:extLst>
          </p:cNvPr>
          <p:cNvSpPr/>
          <p:nvPr/>
        </p:nvSpPr>
        <p:spPr>
          <a:xfrm>
            <a:off x="9544334" y="3718142"/>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5" name="TextBox 14">
            <a:extLst>
              <a:ext uri="{FF2B5EF4-FFF2-40B4-BE49-F238E27FC236}">
                <a16:creationId xmlns:a16="http://schemas.microsoft.com/office/drawing/2014/main" id="{0059F66C-682D-3C59-1A91-68EEBD7B743F}"/>
              </a:ext>
            </a:extLst>
          </p:cNvPr>
          <p:cNvSpPr txBox="1"/>
          <p:nvPr/>
        </p:nvSpPr>
        <p:spPr>
          <a:xfrm>
            <a:off x="9639868" y="4072873"/>
            <a:ext cx="2021387" cy="369332"/>
          </a:xfrm>
          <a:prstGeom prst="rect">
            <a:avLst/>
          </a:prstGeom>
          <a:noFill/>
        </p:spPr>
        <p:txBody>
          <a:bodyPr wrap="none" rtlCol="0">
            <a:spAutoFit/>
          </a:bodyPr>
          <a:lstStyle/>
          <a:p>
            <a:r>
              <a:rPr lang="sv-SE"/>
              <a:t>Initialized data area</a:t>
            </a:r>
            <a:endParaRPr lang="LID4096"/>
          </a:p>
        </p:txBody>
      </p:sp>
      <p:sp>
        <p:nvSpPr>
          <p:cNvPr id="16" name="TextBox 15">
            <a:extLst>
              <a:ext uri="{FF2B5EF4-FFF2-40B4-BE49-F238E27FC236}">
                <a16:creationId xmlns:a16="http://schemas.microsoft.com/office/drawing/2014/main" id="{12909D7D-7354-BBF7-F205-4D168AC56209}"/>
              </a:ext>
            </a:extLst>
          </p:cNvPr>
          <p:cNvSpPr txBox="1"/>
          <p:nvPr/>
        </p:nvSpPr>
        <p:spPr>
          <a:xfrm>
            <a:off x="6974934" y="4705820"/>
            <a:ext cx="878767" cy="261610"/>
          </a:xfrm>
          <a:prstGeom prst="rect">
            <a:avLst/>
          </a:prstGeom>
          <a:noFill/>
        </p:spPr>
        <p:txBody>
          <a:bodyPr wrap="none" rtlCol="0">
            <a:spAutoFit/>
          </a:bodyPr>
          <a:lstStyle/>
          <a:p>
            <a:r>
              <a:rPr lang="sv-SE" sz="1100"/>
              <a:t>0x200000FF</a:t>
            </a:r>
            <a:endParaRPr lang="LID4096" sz="1100"/>
          </a:p>
        </p:txBody>
      </p:sp>
      <p:cxnSp>
        <p:nvCxnSpPr>
          <p:cNvPr id="17" name="Straight Arrow Connector 16">
            <a:extLst>
              <a:ext uri="{FF2B5EF4-FFF2-40B4-BE49-F238E27FC236}">
                <a16:creationId xmlns:a16="http://schemas.microsoft.com/office/drawing/2014/main" id="{A0AB6A1F-47C4-FD87-0B29-0BD9C2A5FE07}"/>
              </a:ext>
            </a:extLst>
          </p:cNvPr>
          <p:cNvCxnSpPr/>
          <p:nvPr/>
        </p:nvCxnSpPr>
        <p:spPr>
          <a:xfrm>
            <a:off x="7808338" y="1908940"/>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13AFC0F-399F-C1D6-6C43-B029256081B7}"/>
              </a:ext>
            </a:extLst>
          </p:cNvPr>
          <p:cNvSpPr txBox="1"/>
          <p:nvPr/>
        </p:nvSpPr>
        <p:spPr>
          <a:xfrm>
            <a:off x="8279116" y="1422254"/>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grpSp>
        <p:nvGrpSpPr>
          <p:cNvPr id="26" name="Group 25">
            <a:extLst>
              <a:ext uri="{FF2B5EF4-FFF2-40B4-BE49-F238E27FC236}">
                <a16:creationId xmlns:a16="http://schemas.microsoft.com/office/drawing/2014/main" id="{0C97BF6C-ABFF-60B0-69DE-8479B647D97A}"/>
              </a:ext>
            </a:extLst>
          </p:cNvPr>
          <p:cNvGrpSpPr/>
          <p:nvPr/>
        </p:nvGrpSpPr>
        <p:grpSpPr>
          <a:xfrm>
            <a:off x="5450006" y="4508582"/>
            <a:ext cx="4027909" cy="273321"/>
            <a:chOff x="5450006" y="4508582"/>
            <a:chExt cx="4027909" cy="273321"/>
          </a:xfrm>
        </p:grpSpPr>
        <p:sp>
          <p:nvSpPr>
            <p:cNvPr id="19" name="TextBox 18">
              <a:extLst>
                <a:ext uri="{FF2B5EF4-FFF2-40B4-BE49-F238E27FC236}">
                  <a16:creationId xmlns:a16="http://schemas.microsoft.com/office/drawing/2014/main" id="{0FA3B0D8-C40F-1F56-DAF5-B64FE48F7934}"/>
                </a:ext>
              </a:extLst>
            </p:cNvPr>
            <p:cNvSpPr txBox="1"/>
            <p:nvPr/>
          </p:nvSpPr>
          <p:spPr>
            <a:xfrm>
              <a:off x="5450006" y="4520293"/>
              <a:ext cx="2390730" cy="261610"/>
            </a:xfrm>
            <a:prstGeom prst="rect">
              <a:avLst/>
            </a:prstGeom>
            <a:noFill/>
          </p:spPr>
          <p:txBody>
            <a:bodyPr wrap="square" rtlCol="0">
              <a:spAutoFit/>
            </a:bodyPr>
            <a:lstStyle/>
            <a:p>
              <a:pPr algn="r"/>
              <a:r>
                <a:rPr lang="sv-SE" sz="1100" b="1"/>
                <a:t>&amp;u.integer: </a:t>
              </a:r>
              <a:r>
                <a:rPr lang="sv-SE" sz="1100"/>
                <a:t>0x21000100</a:t>
              </a:r>
              <a:endParaRPr lang="LID4096" sz="1100"/>
            </a:p>
          </p:txBody>
        </p:sp>
        <p:sp>
          <p:nvSpPr>
            <p:cNvPr id="22" name="Rectangle 21">
              <a:extLst>
                <a:ext uri="{FF2B5EF4-FFF2-40B4-BE49-F238E27FC236}">
                  <a16:creationId xmlns:a16="http://schemas.microsoft.com/office/drawing/2014/main" id="{CC53EA33-E970-7343-6032-514D7039132E}"/>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TextBox 22">
              <a:extLst>
                <a:ext uri="{FF2B5EF4-FFF2-40B4-BE49-F238E27FC236}">
                  <a16:creationId xmlns:a16="http://schemas.microsoft.com/office/drawing/2014/main" id="{2665F159-FDC6-93C7-A3C0-E7B8F149DB19}"/>
                </a:ext>
              </a:extLst>
            </p:cNvPr>
            <p:cNvSpPr txBox="1"/>
            <p:nvPr/>
          </p:nvSpPr>
          <p:spPr>
            <a:xfrm>
              <a:off x="8197666" y="4535682"/>
              <a:ext cx="825867" cy="230832"/>
            </a:xfrm>
            <a:prstGeom prst="rect">
              <a:avLst/>
            </a:prstGeom>
            <a:noFill/>
          </p:spPr>
          <p:txBody>
            <a:bodyPr wrap="none" rtlCol="0">
              <a:spAutoFit/>
            </a:bodyPr>
            <a:lstStyle/>
            <a:p>
              <a:r>
                <a:rPr lang="sv-SE" sz="900" dirty="0">
                  <a:latin typeface="Consolas" panose="020B0609020204030204" pitchFamily="49" charset="0"/>
                </a:rPr>
                <a:t>0xAABBCCDD</a:t>
              </a:r>
              <a:endParaRPr lang="LID4096" sz="900" dirty="0">
                <a:latin typeface="Consolas" panose="020B0609020204030204" pitchFamily="49" charset="0"/>
              </a:endParaRPr>
            </a:p>
          </p:txBody>
        </p:sp>
      </p:grpSp>
      <p:grpSp>
        <p:nvGrpSpPr>
          <p:cNvPr id="27" name="Group 26">
            <a:extLst>
              <a:ext uri="{FF2B5EF4-FFF2-40B4-BE49-F238E27FC236}">
                <a16:creationId xmlns:a16="http://schemas.microsoft.com/office/drawing/2014/main" id="{E91B71C6-B67B-3DB6-A3D6-3F950BAF211E}"/>
              </a:ext>
            </a:extLst>
          </p:cNvPr>
          <p:cNvGrpSpPr/>
          <p:nvPr/>
        </p:nvGrpSpPr>
        <p:grpSpPr>
          <a:xfrm>
            <a:off x="4562901" y="4504549"/>
            <a:ext cx="4915014" cy="273321"/>
            <a:chOff x="4562901" y="4508582"/>
            <a:chExt cx="4915014" cy="273321"/>
          </a:xfrm>
        </p:grpSpPr>
        <p:sp>
          <p:nvSpPr>
            <p:cNvPr id="28" name="TextBox 27">
              <a:extLst>
                <a:ext uri="{FF2B5EF4-FFF2-40B4-BE49-F238E27FC236}">
                  <a16:creationId xmlns:a16="http://schemas.microsoft.com/office/drawing/2014/main" id="{2C1B4B29-6B0A-E9B4-74D9-E8A03A2A5F2B}"/>
                </a:ext>
              </a:extLst>
            </p:cNvPr>
            <p:cNvSpPr txBox="1"/>
            <p:nvPr/>
          </p:nvSpPr>
          <p:spPr>
            <a:xfrm>
              <a:off x="4562901" y="4520293"/>
              <a:ext cx="3277835" cy="261610"/>
            </a:xfrm>
            <a:prstGeom prst="rect">
              <a:avLst/>
            </a:prstGeom>
            <a:noFill/>
          </p:spPr>
          <p:txBody>
            <a:bodyPr wrap="square" rtlCol="0">
              <a:spAutoFit/>
            </a:bodyPr>
            <a:lstStyle/>
            <a:p>
              <a:pPr algn="r"/>
              <a:r>
                <a:rPr lang="sv-SE" sz="1100" b="1" dirty="0">
                  <a:solidFill>
                    <a:srgbClr val="FF0000"/>
                  </a:solidFill>
                </a:rPr>
                <a:t>&amp;u.floating_point </a:t>
              </a:r>
              <a:r>
                <a:rPr lang="sv-SE" sz="1100" b="1" dirty="0"/>
                <a:t>= &amp;u.integer: </a:t>
              </a:r>
              <a:r>
                <a:rPr lang="sv-SE" sz="1100" dirty="0"/>
                <a:t>0x21000100</a:t>
              </a:r>
              <a:endParaRPr lang="LID4096" sz="1100" dirty="0"/>
            </a:p>
          </p:txBody>
        </p:sp>
        <p:sp>
          <p:nvSpPr>
            <p:cNvPr id="29" name="Rectangle 28">
              <a:extLst>
                <a:ext uri="{FF2B5EF4-FFF2-40B4-BE49-F238E27FC236}">
                  <a16:creationId xmlns:a16="http://schemas.microsoft.com/office/drawing/2014/main" id="{D34546B6-F975-9EDD-C167-CD211AAAD075}"/>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0" name="TextBox 29">
              <a:extLst>
                <a:ext uri="{FF2B5EF4-FFF2-40B4-BE49-F238E27FC236}">
                  <a16:creationId xmlns:a16="http://schemas.microsoft.com/office/drawing/2014/main" id="{BB088EDD-1B1E-72D9-D049-C548646294BB}"/>
                </a:ext>
              </a:extLst>
            </p:cNvPr>
            <p:cNvSpPr txBox="1"/>
            <p:nvPr/>
          </p:nvSpPr>
          <p:spPr>
            <a:xfrm>
              <a:off x="8197665" y="4533127"/>
              <a:ext cx="825867" cy="230832"/>
            </a:xfrm>
            <a:prstGeom prst="rect">
              <a:avLst/>
            </a:prstGeom>
            <a:noFill/>
          </p:spPr>
          <p:txBody>
            <a:bodyPr wrap="none" rtlCol="0">
              <a:spAutoFit/>
            </a:bodyPr>
            <a:lstStyle/>
            <a:p>
              <a:r>
                <a:rPr lang="sv-SE" sz="900" dirty="0">
                  <a:solidFill>
                    <a:srgbClr val="FF0000"/>
                  </a:solidFill>
                  <a:latin typeface="Consolas" panose="020B0609020204030204" pitchFamily="49" charset="0"/>
                </a:rPr>
                <a:t>0x42c80000</a:t>
              </a:r>
              <a:endParaRPr lang="LID4096" sz="900" dirty="0">
                <a:solidFill>
                  <a:srgbClr val="FF0000"/>
                </a:solidFill>
                <a:latin typeface="Consolas" panose="020B0609020204030204" pitchFamily="49" charset="0"/>
              </a:endParaRPr>
            </a:p>
          </p:txBody>
        </p:sp>
      </p:grpSp>
      <p:sp>
        <p:nvSpPr>
          <p:cNvPr id="31" name="Text Placeholder 5">
            <a:extLst>
              <a:ext uri="{FF2B5EF4-FFF2-40B4-BE49-F238E27FC236}">
                <a16:creationId xmlns:a16="http://schemas.microsoft.com/office/drawing/2014/main" id="{61C318B6-729B-464B-EF1D-3DF60AAF3FAB}"/>
              </a:ext>
            </a:extLst>
          </p:cNvPr>
          <p:cNvSpPr txBox="1">
            <a:spLocks/>
          </p:cNvSpPr>
          <p:nvPr/>
        </p:nvSpPr>
        <p:spPr>
          <a:xfrm>
            <a:off x="2954530" y="2926228"/>
            <a:ext cx="4020404" cy="76099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Praktiskt när vi vill kunna tyda samma data på olika sätt, </a:t>
            </a:r>
            <a:r>
              <a:rPr lang="sv-SE" sz="1600" b="1" i="1">
                <a:latin typeface="+mj-lt"/>
              </a:rPr>
              <a:t>eller</a:t>
            </a:r>
            <a:r>
              <a:rPr lang="sv-SE" sz="1600" b="1">
                <a:latin typeface="+mj-lt"/>
              </a:rPr>
              <a:t> när vi vill spara minne och vet att två variabler är mutually exclusive.</a:t>
            </a:r>
          </a:p>
        </p:txBody>
      </p:sp>
    </p:spTree>
    <p:extLst>
      <p:ext uri="{BB962C8B-B14F-4D97-AF65-F5344CB8AC3E}">
        <p14:creationId xmlns:p14="http://schemas.microsoft.com/office/powerpoint/2010/main" val="1320054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5" end="5"/>
                                            </p:txEl>
                                          </p:spTgt>
                                        </p:tgtEl>
                                        <p:attrNameLst>
                                          <p:attrName>style.visibility</p:attrName>
                                        </p:attrNameLst>
                                      </p:cBhvr>
                                      <p:to>
                                        <p:strVal val="visible"/>
                                      </p:to>
                                    </p:set>
                                    <p:animEffect transition="in" filter="fade">
                                      <p:cBhvr>
                                        <p:cTn id="7" dur="500"/>
                                        <p:tgtEl>
                                          <p:spTgt spid="8">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animEffect transition="in" filter="fade">
                                      <p:cBhvr>
                                        <p:cTn id="15" dur="500"/>
                                        <p:tgtEl>
                                          <p:spTgt spid="8">
                                            <p:txEl>
                                              <p:pRg st="6" end="6"/>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par>
                                <p:cTn id="19" presetID="10" presetClass="exit" presetSubtype="0" fill="hold" nodeType="withEffect">
                                  <p:stCondLst>
                                    <p:cond delay="0"/>
                                  </p:stCondLst>
                                  <p:childTnLst>
                                    <p:animEffect transition="out" filter="fade">
                                      <p:cBhvr>
                                        <p:cTn id="20" dur="500"/>
                                        <p:tgtEl>
                                          <p:spTgt spid="26"/>
                                        </p:tgtEl>
                                      </p:cBhvr>
                                    </p:animEffect>
                                    <p:set>
                                      <p:cBhvr>
                                        <p:cTn id="21" dur="1" fill="hold">
                                          <p:stCondLst>
                                            <p:cond delay="499"/>
                                          </p:stCondLst>
                                        </p:cTn>
                                        <p:tgtEl>
                                          <p:spTgt spid="26"/>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E603-29A8-C938-43EC-B38F432A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7F8A8D-9CC4-804B-56E4-FCD83FB4E57D}"/>
              </a:ext>
            </a:extLst>
          </p:cNvPr>
          <p:cNvSpPr>
            <a:spLocks noGrp="1"/>
          </p:cNvSpPr>
          <p:nvPr>
            <p:ph type="title"/>
          </p:nvPr>
        </p:nvSpPr>
        <p:spPr/>
        <p:txBody>
          <a:bodyPr/>
          <a:lstStyle/>
          <a:p>
            <a:r>
              <a:rPr lang="sv-SE"/>
              <a:t>Unions</a:t>
            </a:r>
            <a:endParaRPr lang="LID4096"/>
          </a:p>
        </p:txBody>
      </p:sp>
      <p:sp>
        <p:nvSpPr>
          <p:cNvPr id="8" name="Text Placeholder 7">
            <a:extLst>
              <a:ext uri="{FF2B5EF4-FFF2-40B4-BE49-F238E27FC236}">
                <a16:creationId xmlns:a16="http://schemas.microsoft.com/office/drawing/2014/main" id="{3E5B3CBD-0BBD-0A44-A74E-02FC680F0A2E}"/>
              </a:ext>
            </a:extLst>
          </p:cNvPr>
          <p:cNvSpPr>
            <a:spLocks noGrp="1"/>
          </p:cNvSpPr>
          <p:nvPr>
            <p:ph idx="1"/>
          </p:nvPr>
        </p:nvSpPr>
        <p:spPr/>
        <p:txBody>
          <a:bodyPr>
            <a:normAutofit lnSpcReduction="10000"/>
          </a:bodyPr>
          <a:lstStyle/>
          <a:p>
            <a:pPr marL="0" indent="0">
              <a:buNone/>
            </a:pPr>
            <a:r>
              <a:rPr lang="en-GB" sz="3200"/>
              <a:t>Unions l</a:t>
            </a:r>
            <a:r>
              <a:rPr lang="sv-SE" sz="3200"/>
              <a:t>åter oss ha två eller flera </a:t>
            </a:r>
          </a:p>
          <a:p>
            <a:pPr marL="0" indent="0">
              <a:buNone/>
            </a:pPr>
            <a:r>
              <a:rPr lang="sv-SE" sz="3200"/>
              <a:t>variabler </a:t>
            </a:r>
            <a:r>
              <a:rPr lang="sv-SE" sz="3200" i="1"/>
              <a:t>på samma plats i minnet</a:t>
            </a:r>
          </a:p>
          <a:p>
            <a:pPr marL="0" indent="0">
              <a:buNone/>
            </a:pPr>
            <a:endParaRPr lang="sv-SE" sz="4000" i="1"/>
          </a:p>
          <a:p>
            <a:pPr marL="0" indent="0">
              <a:buNone/>
            </a:pPr>
            <a:r>
              <a:rPr lang="en-GB" sz="1600">
                <a:solidFill>
                  <a:srgbClr val="0000FF"/>
                </a:solidFill>
                <a:latin typeface="Consolas" panose="020B0609020204030204" pitchFamily="49" charset="0"/>
              </a:rPr>
              <a:t>int</a:t>
            </a:r>
            <a:r>
              <a:rPr lang="en-GB" sz="1600">
                <a:solidFill>
                  <a:srgbClr val="000000"/>
                </a:solidFill>
                <a:latin typeface="Consolas" panose="020B0609020204030204" pitchFamily="49" charset="0"/>
              </a:rPr>
              <a:t> main()</a:t>
            </a:r>
            <a:br>
              <a:rPr lang="en-GB" sz="1600">
                <a:solidFill>
                  <a:srgbClr val="000000"/>
                </a:solidFill>
                <a:latin typeface="Consolas" panose="020B0609020204030204" pitchFamily="49" charset="0"/>
              </a:rPr>
            </a:br>
            <a:r>
              <a:rPr lang="en-GB" sz="1600">
                <a:solidFill>
                  <a:srgbClr val="000000"/>
                </a:solidFill>
                <a:latin typeface="Consolas" panose="020B0609020204030204" pitchFamily="49" charset="0"/>
              </a:rPr>
              <a:t>{</a:t>
            </a:r>
          </a:p>
          <a:p>
            <a:pPr marL="0" indent="0">
              <a:buNone/>
            </a:pPr>
            <a:r>
              <a:rPr lang="en-GB" sz="1600">
                <a:solidFill>
                  <a:srgbClr val="0000FF"/>
                </a:solidFill>
                <a:latin typeface="Consolas" panose="020B0609020204030204" pitchFamily="49" charset="0"/>
              </a:rPr>
              <a:t>  union</a:t>
            </a:r>
            <a:r>
              <a:rPr lang="en-GB" sz="1600">
                <a:solidFill>
                  <a:srgbClr val="000000"/>
                </a:solidFill>
                <a:latin typeface="Consolas" panose="020B0609020204030204" pitchFamily="49" charset="0"/>
              </a:rPr>
              <a:t> {</a:t>
            </a:r>
            <a:br>
              <a:rPr lang="en-GB" sz="1600">
                <a:solidFill>
                  <a:srgbClr val="000000"/>
                </a:solidFill>
                <a:latin typeface="Consolas" panose="020B0609020204030204" pitchFamily="49" charset="0"/>
              </a:rPr>
            </a:br>
            <a:r>
              <a:rPr lang="en-GB" sz="1600">
                <a:solidFill>
                  <a:srgbClr val="0000FF"/>
                </a:solidFill>
                <a:latin typeface="Consolas" panose="020B0609020204030204" pitchFamily="49" charset="0"/>
              </a:rPr>
              <a:t>    int</a:t>
            </a:r>
            <a:r>
              <a:rPr lang="en-GB" sz="1600">
                <a:solidFill>
                  <a:srgbClr val="000000"/>
                </a:solidFill>
                <a:latin typeface="Consolas" panose="020B0609020204030204" pitchFamily="49" charset="0"/>
              </a:rPr>
              <a:t> integer;</a:t>
            </a:r>
            <a:br>
              <a:rPr lang="en-GB" sz="1600">
                <a:solidFill>
                  <a:srgbClr val="000000"/>
                </a:solidFill>
                <a:latin typeface="Consolas" panose="020B0609020204030204" pitchFamily="49" charset="0"/>
              </a:rPr>
            </a:br>
            <a:r>
              <a:rPr lang="en-GB" sz="1600">
                <a:solidFill>
                  <a:srgbClr val="0000FF"/>
                </a:solidFill>
                <a:latin typeface="Consolas" panose="020B0609020204030204" pitchFamily="49" charset="0"/>
              </a:rPr>
              <a:t>    float</a:t>
            </a:r>
            <a:r>
              <a:rPr lang="en-GB" sz="1600">
                <a:solidFill>
                  <a:srgbClr val="000000"/>
                </a:solidFill>
                <a:latin typeface="Consolas" panose="020B0609020204030204" pitchFamily="49" charset="0"/>
              </a:rPr>
              <a:t> floating_point; </a:t>
            </a:r>
            <a:br>
              <a:rPr lang="en-GB" sz="1600">
                <a:solidFill>
                  <a:srgbClr val="000000"/>
                </a:solidFill>
                <a:latin typeface="Consolas" panose="020B0609020204030204" pitchFamily="49" charset="0"/>
              </a:rPr>
            </a:br>
            <a:r>
              <a:rPr lang="en-GB" sz="1600">
                <a:solidFill>
                  <a:srgbClr val="000000"/>
                </a:solidFill>
                <a:latin typeface="Consolas" panose="020B0609020204030204" pitchFamily="49" charset="0"/>
              </a:rPr>
              <a:t>  } u;</a:t>
            </a:r>
          </a:p>
          <a:p>
            <a:pPr marL="0" indent="0">
              <a:buNone/>
            </a:pPr>
            <a:r>
              <a:rPr lang="en-GB" sz="1600">
                <a:solidFill>
                  <a:srgbClr val="000000"/>
                </a:solidFill>
                <a:latin typeface="Consolas" panose="020B0609020204030204" pitchFamily="49" charset="0"/>
              </a:rPr>
              <a:t>  u.integer = 0x42c40000;</a:t>
            </a:r>
          </a:p>
          <a:p>
            <a:pPr marL="0" indent="0">
              <a:buNone/>
            </a:pPr>
            <a:r>
              <a:rPr lang="en-GB" sz="1600">
                <a:solidFill>
                  <a:srgbClr val="000000"/>
                </a:solidFill>
                <a:latin typeface="Consolas" panose="020B0609020204030204" pitchFamily="49" charset="0"/>
              </a:rPr>
              <a:t>  u.floating_point = 100.0f; </a:t>
            </a:r>
          </a:p>
          <a:p>
            <a:pPr marL="0" indent="0">
              <a:buNone/>
            </a:pPr>
            <a:r>
              <a:rPr lang="en-GB" sz="1600">
                <a:solidFill>
                  <a:srgbClr val="000000"/>
                </a:solidFill>
                <a:latin typeface="Consolas" panose="020B0609020204030204" pitchFamily="49" charset="0"/>
              </a:rPr>
              <a:t>}</a:t>
            </a:r>
          </a:p>
          <a:p>
            <a:pPr marL="0" indent="0">
              <a:buNone/>
            </a:pPr>
            <a:endParaRPr lang="LID4096" sz="4000"/>
          </a:p>
        </p:txBody>
      </p:sp>
      <p:sp>
        <p:nvSpPr>
          <p:cNvPr id="3" name="Date Placeholder 2">
            <a:extLst>
              <a:ext uri="{FF2B5EF4-FFF2-40B4-BE49-F238E27FC236}">
                <a16:creationId xmlns:a16="http://schemas.microsoft.com/office/drawing/2014/main" id="{050BA2AF-F717-736C-A2C8-5D52B5B40452}"/>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F237C77F-D440-48E9-2D5B-F94DB7C405DC}"/>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C4540371-CE52-072B-4508-86C6FCF20699}"/>
              </a:ext>
            </a:extLst>
          </p:cNvPr>
          <p:cNvSpPr>
            <a:spLocks noGrp="1"/>
          </p:cNvSpPr>
          <p:nvPr>
            <p:ph type="sldNum" sz="quarter" idx="12"/>
          </p:nvPr>
        </p:nvSpPr>
        <p:spPr/>
        <p:txBody>
          <a:bodyPr/>
          <a:lstStyle/>
          <a:p>
            <a:fld id="{E46909CE-3A1D-43F5-8F4E-45D6477AD820}" type="slidenum">
              <a:rPr lang="LID4096" smtClean="0"/>
              <a:t>18</a:t>
            </a:fld>
            <a:endParaRPr lang="LID4096"/>
          </a:p>
        </p:txBody>
      </p:sp>
      <p:sp>
        <p:nvSpPr>
          <p:cNvPr id="9" name="Rectangle 8">
            <a:extLst>
              <a:ext uri="{FF2B5EF4-FFF2-40B4-BE49-F238E27FC236}">
                <a16:creationId xmlns:a16="http://schemas.microsoft.com/office/drawing/2014/main" id="{CA628D48-2335-8107-BA4C-8CE2A1F6EC26}"/>
              </a:ext>
            </a:extLst>
          </p:cNvPr>
          <p:cNvSpPr/>
          <p:nvPr/>
        </p:nvSpPr>
        <p:spPr>
          <a:xfrm>
            <a:off x="7808339" y="4770419"/>
            <a:ext cx="1669576" cy="15649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Program Code</a:t>
            </a:r>
            <a:endParaRPr lang="LID4096"/>
          </a:p>
        </p:txBody>
      </p:sp>
      <p:sp>
        <p:nvSpPr>
          <p:cNvPr id="10" name="TextBox 9">
            <a:extLst>
              <a:ext uri="{FF2B5EF4-FFF2-40B4-BE49-F238E27FC236}">
                <a16:creationId xmlns:a16="http://schemas.microsoft.com/office/drawing/2014/main" id="{3F103C4E-EA0F-871E-AA96-19DB28772432}"/>
              </a:ext>
            </a:extLst>
          </p:cNvPr>
          <p:cNvSpPr txBox="1"/>
          <p:nvPr/>
        </p:nvSpPr>
        <p:spPr>
          <a:xfrm>
            <a:off x="6951791" y="6204558"/>
            <a:ext cx="894797" cy="261610"/>
          </a:xfrm>
          <a:prstGeom prst="rect">
            <a:avLst/>
          </a:prstGeom>
          <a:noFill/>
        </p:spPr>
        <p:txBody>
          <a:bodyPr wrap="none" rtlCol="0">
            <a:spAutoFit/>
          </a:bodyPr>
          <a:lstStyle/>
          <a:p>
            <a:r>
              <a:rPr lang="sv-SE" sz="1100"/>
              <a:t>0x20000000</a:t>
            </a:r>
            <a:endParaRPr lang="LID4096" sz="1100"/>
          </a:p>
        </p:txBody>
      </p:sp>
      <p:sp>
        <p:nvSpPr>
          <p:cNvPr id="11" name="Rectangle 10">
            <a:extLst>
              <a:ext uri="{FF2B5EF4-FFF2-40B4-BE49-F238E27FC236}">
                <a16:creationId xmlns:a16="http://schemas.microsoft.com/office/drawing/2014/main" id="{BBCBA1CE-DF60-5984-D261-02389E14D67B}"/>
              </a:ext>
            </a:extLst>
          </p:cNvPr>
          <p:cNvSpPr/>
          <p:nvPr/>
        </p:nvSpPr>
        <p:spPr>
          <a:xfrm>
            <a:off x="7808339" y="3252049"/>
            <a:ext cx="1669576" cy="15183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11">
            <a:extLst>
              <a:ext uri="{FF2B5EF4-FFF2-40B4-BE49-F238E27FC236}">
                <a16:creationId xmlns:a16="http://schemas.microsoft.com/office/drawing/2014/main" id="{B67A8A20-4C48-B214-5DE2-4D5EE5BECB9D}"/>
              </a:ext>
            </a:extLst>
          </p:cNvPr>
          <p:cNvSpPr/>
          <p:nvPr/>
        </p:nvSpPr>
        <p:spPr>
          <a:xfrm>
            <a:off x="7808339" y="2668663"/>
            <a:ext cx="1669576" cy="583385"/>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12">
            <a:extLst>
              <a:ext uri="{FF2B5EF4-FFF2-40B4-BE49-F238E27FC236}">
                <a16:creationId xmlns:a16="http://schemas.microsoft.com/office/drawing/2014/main" id="{FE5F64B0-B576-1D55-4BD7-7582805D29FB}"/>
              </a:ext>
            </a:extLst>
          </p:cNvPr>
          <p:cNvSpPr/>
          <p:nvPr/>
        </p:nvSpPr>
        <p:spPr>
          <a:xfrm>
            <a:off x="7808339" y="2155699"/>
            <a:ext cx="1669576" cy="512963"/>
          </a:xfrm>
          <a:prstGeom prst="rect">
            <a:avLst/>
          </a:prstGeom>
          <a:solidFill>
            <a:schemeClr val="bg1">
              <a:lumMod val="65000"/>
            </a:schemeClr>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a:t>Stack</a:t>
            </a:r>
            <a:endParaRPr lang="LID4096"/>
          </a:p>
        </p:txBody>
      </p:sp>
      <p:sp>
        <p:nvSpPr>
          <p:cNvPr id="14" name="Right Brace 13">
            <a:extLst>
              <a:ext uri="{FF2B5EF4-FFF2-40B4-BE49-F238E27FC236}">
                <a16:creationId xmlns:a16="http://schemas.microsoft.com/office/drawing/2014/main" id="{BCFA42A5-9506-DCE2-CBF5-00F46DDF3276}"/>
              </a:ext>
            </a:extLst>
          </p:cNvPr>
          <p:cNvSpPr/>
          <p:nvPr/>
        </p:nvSpPr>
        <p:spPr>
          <a:xfrm>
            <a:off x="9544334" y="3718142"/>
            <a:ext cx="68123" cy="105227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LID4096"/>
          </a:p>
        </p:txBody>
      </p:sp>
      <p:sp>
        <p:nvSpPr>
          <p:cNvPr id="15" name="TextBox 14">
            <a:extLst>
              <a:ext uri="{FF2B5EF4-FFF2-40B4-BE49-F238E27FC236}">
                <a16:creationId xmlns:a16="http://schemas.microsoft.com/office/drawing/2014/main" id="{570EE7BB-CA12-B19F-B9DD-D655ED232D4A}"/>
              </a:ext>
            </a:extLst>
          </p:cNvPr>
          <p:cNvSpPr txBox="1"/>
          <p:nvPr/>
        </p:nvSpPr>
        <p:spPr>
          <a:xfrm>
            <a:off x="9639868" y="4072873"/>
            <a:ext cx="2021387" cy="369332"/>
          </a:xfrm>
          <a:prstGeom prst="rect">
            <a:avLst/>
          </a:prstGeom>
          <a:noFill/>
        </p:spPr>
        <p:txBody>
          <a:bodyPr wrap="none" rtlCol="0">
            <a:spAutoFit/>
          </a:bodyPr>
          <a:lstStyle/>
          <a:p>
            <a:r>
              <a:rPr lang="sv-SE"/>
              <a:t>Initialized data area</a:t>
            </a:r>
            <a:endParaRPr lang="LID4096"/>
          </a:p>
        </p:txBody>
      </p:sp>
      <p:sp>
        <p:nvSpPr>
          <p:cNvPr id="16" name="TextBox 15">
            <a:extLst>
              <a:ext uri="{FF2B5EF4-FFF2-40B4-BE49-F238E27FC236}">
                <a16:creationId xmlns:a16="http://schemas.microsoft.com/office/drawing/2014/main" id="{28467B5C-0BBE-7E99-68AF-A42E2B28BA48}"/>
              </a:ext>
            </a:extLst>
          </p:cNvPr>
          <p:cNvSpPr txBox="1"/>
          <p:nvPr/>
        </p:nvSpPr>
        <p:spPr>
          <a:xfrm>
            <a:off x="6974934" y="4705820"/>
            <a:ext cx="878767" cy="261610"/>
          </a:xfrm>
          <a:prstGeom prst="rect">
            <a:avLst/>
          </a:prstGeom>
          <a:noFill/>
        </p:spPr>
        <p:txBody>
          <a:bodyPr wrap="none" rtlCol="0">
            <a:spAutoFit/>
          </a:bodyPr>
          <a:lstStyle/>
          <a:p>
            <a:r>
              <a:rPr lang="sv-SE" sz="1100"/>
              <a:t>0x200000FF</a:t>
            </a:r>
            <a:endParaRPr lang="LID4096" sz="1100"/>
          </a:p>
        </p:txBody>
      </p:sp>
      <p:cxnSp>
        <p:nvCxnSpPr>
          <p:cNvPr id="17" name="Straight Arrow Connector 16">
            <a:extLst>
              <a:ext uri="{FF2B5EF4-FFF2-40B4-BE49-F238E27FC236}">
                <a16:creationId xmlns:a16="http://schemas.microsoft.com/office/drawing/2014/main" id="{BB21FD69-1677-9C22-5B82-651F7B4A6CE3}"/>
              </a:ext>
            </a:extLst>
          </p:cNvPr>
          <p:cNvCxnSpPr/>
          <p:nvPr/>
        </p:nvCxnSpPr>
        <p:spPr>
          <a:xfrm>
            <a:off x="7808338" y="1908940"/>
            <a:ext cx="1669577"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3EDBB42-D205-FFB8-28E9-650C64821F02}"/>
              </a:ext>
            </a:extLst>
          </p:cNvPr>
          <p:cNvSpPr txBox="1"/>
          <p:nvPr/>
        </p:nvSpPr>
        <p:spPr>
          <a:xfrm>
            <a:off x="8279116" y="1422254"/>
            <a:ext cx="728020" cy="461665"/>
          </a:xfrm>
          <a:prstGeom prst="rect">
            <a:avLst/>
          </a:prstGeom>
          <a:noFill/>
        </p:spPr>
        <p:txBody>
          <a:bodyPr wrap="none" rtlCol="0">
            <a:spAutoFit/>
          </a:bodyPr>
          <a:lstStyle/>
          <a:p>
            <a:pPr algn="ctr"/>
            <a:r>
              <a:rPr lang="sv-SE" sz="1200"/>
              <a:t>32 bits</a:t>
            </a:r>
          </a:p>
          <a:p>
            <a:pPr algn="ctr"/>
            <a:r>
              <a:rPr lang="sv-SE" sz="1200"/>
              <a:t>(4 bytes)</a:t>
            </a:r>
            <a:endParaRPr lang="LID4096" sz="1200"/>
          </a:p>
        </p:txBody>
      </p:sp>
      <p:grpSp>
        <p:nvGrpSpPr>
          <p:cNvPr id="26" name="Group 25">
            <a:extLst>
              <a:ext uri="{FF2B5EF4-FFF2-40B4-BE49-F238E27FC236}">
                <a16:creationId xmlns:a16="http://schemas.microsoft.com/office/drawing/2014/main" id="{35B874D9-AD65-0B23-7C64-3120C3F89A0C}"/>
              </a:ext>
            </a:extLst>
          </p:cNvPr>
          <p:cNvGrpSpPr/>
          <p:nvPr/>
        </p:nvGrpSpPr>
        <p:grpSpPr>
          <a:xfrm>
            <a:off x="5450006" y="4508582"/>
            <a:ext cx="4027909" cy="273321"/>
            <a:chOff x="5450006" y="4508582"/>
            <a:chExt cx="4027909" cy="273321"/>
          </a:xfrm>
        </p:grpSpPr>
        <p:sp>
          <p:nvSpPr>
            <p:cNvPr id="19" name="TextBox 18">
              <a:extLst>
                <a:ext uri="{FF2B5EF4-FFF2-40B4-BE49-F238E27FC236}">
                  <a16:creationId xmlns:a16="http://schemas.microsoft.com/office/drawing/2014/main" id="{C29EA56B-B5EF-38F4-D2DC-6C2C240E86C8}"/>
                </a:ext>
              </a:extLst>
            </p:cNvPr>
            <p:cNvSpPr txBox="1"/>
            <p:nvPr/>
          </p:nvSpPr>
          <p:spPr>
            <a:xfrm>
              <a:off x="5450006" y="4520293"/>
              <a:ext cx="2390730" cy="261610"/>
            </a:xfrm>
            <a:prstGeom prst="rect">
              <a:avLst/>
            </a:prstGeom>
            <a:noFill/>
          </p:spPr>
          <p:txBody>
            <a:bodyPr wrap="square" rtlCol="0">
              <a:spAutoFit/>
            </a:bodyPr>
            <a:lstStyle/>
            <a:p>
              <a:pPr algn="r"/>
              <a:r>
                <a:rPr lang="sv-SE" sz="1100" b="1"/>
                <a:t>&amp;u.integer: </a:t>
              </a:r>
              <a:r>
                <a:rPr lang="sv-SE" sz="1100"/>
                <a:t>0x21000100</a:t>
              </a:r>
              <a:endParaRPr lang="LID4096" sz="1100"/>
            </a:p>
          </p:txBody>
        </p:sp>
        <p:sp>
          <p:nvSpPr>
            <p:cNvPr id="22" name="Rectangle 21">
              <a:extLst>
                <a:ext uri="{FF2B5EF4-FFF2-40B4-BE49-F238E27FC236}">
                  <a16:creationId xmlns:a16="http://schemas.microsoft.com/office/drawing/2014/main" id="{104FB838-3837-7725-D231-CE4DAD701028}"/>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TextBox 22">
              <a:extLst>
                <a:ext uri="{FF2B5EF4-FFF2-40B4-BE49-F238E27FC236}">
                  <a16:creationId xmlns:a16="http://schemas.microsoft.com/office/drawing/2014/main" id="{7ED9F1BD-A891-F5F7-E439-E224BA989D03}"/>
                </a:ext>
              </a:extLst>
            </p:cNvPr>
            <p:cNvSpPr txBox="1"/>
            <p:nvPr/>
          </p:nvSpPr>
          <p:spPr>
            <a:xfrm>
              <a:off x="8197666" y="4535682"/>
              <a:ext cx="825867" cy="230832"/>
            </a:xfrm>
            <a:prstGeom prst="rect">
              <a:avLst/>
            </a:prstGeom>
            <a:noFill/>
          </p:spPr>
          <p:txBody>
            <a:bodyPr wrap="none" rtlCol="0">
              <a:spAutoFit/>
            </a:bodyPr>
            <a:lstStyle/>
            <a:p>
              <a:r>
                <a:rPr lang="sv-SE" sz="900">
                  <a:latin typeface="Consolas" panose="020B0609020204030204" pitchFamily="49" charset="0"/>
                </a:rPr>
                <a:t>0x42c40000</a:t>
              </a:r>
              <a:endParaRPr lang="LID4096" sz="900">
                <a:latin typeface="Consolas" panose="020B0609020204030204" pitchFamily="49" charset="0"/>
              </a:endParaRPr>
            </a:p>
          </p:txBody>
        </p:sp>
      </p:grpSp>
      <p:sp>
        <p:nvSpPr>
          <p:cNvPr id="24" name="TextBox 23">
            <a:extLst>
              <a:ext uri="{FF2B5EF4-FFF2-40B4-BE49-F238E27FC236}">
                <a16:creationId xmlns:a16="http://schemas.microsoft.com/office/drawing/2014/main" id="{1CECF92D-344F-0455-2868-CBF3BD155099}"/>
              </a:ext>
            </a:extLst>
          </p:cNvPr>
          <p:cNvSpPr txBox="1"/>
          <p:nvPr/>
        </p:nvSpPr>
        <p:spPr>
          <a:xfrm>
            <a:off x="5450343" y="4258229"/>
            <a:ext cx="2390730" cy="261610"/>
          </a:xfrm>
          <a:prstGeom prst="rect">
            <a:avLst/>
          </a:prstGeom>
          <a:noFill/>
        </p:spPr>
        <p:txBody>
          <a:bodyPr wrap="square" rtlCol="0">
            <a:spAutoFit/>
          </a:bodyPr>
          <a:lstStyle/>
          <a:p>
            <a:pPr algn="r"/>
            <a:r>
              <a:rPr lang="sv-SE" sz="1100"/>
              <a:t>0x21000104</a:t>
            </a:r>
            <a:endParaRPr lang="LID4096" sz="1100"/>
          </a:p>
        </p:txBody>
      </p:sp>
      <p:grpSp>
        <p:nvGrpSpPr>
          <p:cNvPr id="27" name="Group 26">
            <a:extLst>
              <a:ext uri="{FF2B5EF4-FFF2-40B4-BE49-F238E27FC236}">
                <a16:creationId xmlns:a16="http://schemas.microsoft.com/office/drawing/2014/main" id="{2E136B30-80E8-7733-2AC4-52FD635E89DF}"/>
              </a:ext>
            </a:extLst>
          </p:cNvPr>
          <p:cNvGrpSpPr/>
          <p:nvPr/>
        </p:nvGrpSpPr>
        <p:grpSpPr>
          <a:xfrm>
            <a:off x="4562901" y="4504549"/>
            <a:ext cx="4915014" cy="273321"/>
            <a:chOff x="4562901" y="4508582"/>
            <a:chExt cx="4915014" cy="273321"/>
          </a:xfrm>
        </p:grpSpPr>
        <p:sp>
          <p:nvSpPr>
            <p:cNvPr id="28" name="TextBox 27">
              <a:extLst>
                <a:ext uri="{FF2B5EF4-FFF2-40B4-BE49-F238E27FC236}">
                  <a16:creationId xmlns:a16="http://schemas.microsoft.com/office/drawing/2014/main" id="{5701BF40-AE5E-3D33-9E99-EC39AE5B1BCD}"/>
                </a:ext>
              </a:extLst>
            </p:cNvPr>
            <p:cNvSpPr txBox="1"/>
            <p:nvPr/>
          </p:nvSpPr>
          <p:spPr>
            <a:xfrm>
              <a:off x="4562901" y="4520293"/>
              <a:ext cx="3277835" cy="261610"/>
            </a:xfrm>
            <a:prstGeom prst="rect">
              <a:avLst/>
            </a:prstGeom>
            <a:noFill/>
          </p:spPr>
          <p:txBody>
            <a:bodyPr wrap="square" rtlCol="0">
              <a:spAutoFit/>
            </a:bodyPr>
            <a:lstStyle/>
            <a:p>
              <a:pPr algn="r"/>
              <a:r>
                <a:rPr lang="sv-SE" sz="1100" b="1">
                  <a:solidFill>
                    <a:srgbClr val="FF0000"/>
                  </a:solidFill>
                </a:rPr>
                <a:t>&amp;u.floating_point </a:t>
              </a:r>
              <a:r>
                <a:rPr lang="sv-SE" sz="1100" b="1"/>
                <a:t>= &amp;u.integer: </a:t>
              </a:r>
              <a:r>
                <a:rPr lang="sv-SE" sz="1100"/>
                <a:t>0x21000100</a:t>
              </a:r>
              <a:endParaRPr lang="LID4096" sz="1100"/>
            </a:p>
          </p:txBody>
        </p:sp>
        <p:sp>
          <p:nvSpPr>
            <p:cNvPr id="29" name="Rectangle 28">
              <a:extLst>
                <a:ext uri="{FF2B5EF4-FFF2-40B4-BE49-F238E27FC236}">
                  <a16:creationId xmlns:a16="http://schemas.microsoft.com/office/drawing/2014/main" id="{B36511E3-604A-F319-F35A-AEFF1140C9AF}"/>
                </a:ext>
              </a:extLst>
            </p:cNvPr>
            <p:cNvSpPr/>
            <p:nvPr/>
          </p:nvSpPr>
          <p:spPr>
            <a:xfrm>
              <a:off x="7807302" y="4508582"/>
              <a:ext cx="1670613" cy="261610"/>
            </a:xfrm>
            <a:prstGeom prst="rect">
              <a:avLst/>
            </a:prstGeom>
            <a:no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0" name="TextBox 29">
              <a:extLst>
                <a:ext uri="{FF2B5EF4-FFF2-40B4-BE49-F238E27FC236}">
                  <a16:creationId xmlns:a16="http://schemas.microsoft.com/office/drawing/2014/main" id="{FB66FBCE-180B-814F-B1B6-40BABA3FA4F8}"/>
                </a:ext>
              </a:extLst>
            </p:cNvPr>
            <p:cNvSpPr txBox="1"/>
            <p:nvPr/>
          </p:nvSpPr>
          <p:spPr>
            <a:xfrm>
              <a:off x="8197666" y="4535682"/>
              <a:ext cx="825867" cy="230832"/>
            </a:xfrm>
            <a:prstGeom prst="rect">
              <a:avLst/>
            </a:prstGeom>
            <a:noFill/>
          </p:spPr>
          <p:txBody>
            <a:bodyPr wrap="none" rtlCol="0">
              <a:spAutoFit/>
            </a:bodyPr>
            <a:lstStyle/>
            <a:p>
              <a:r>
                <a:rPr lang="sv-SE" sz="900">
                  <a:solidFill>
                    <a:srgbClr val="FF0000"/>
                  </a:solidFill>
                  <a:latin typeface="Consolas" panose="020B0609020204030204" pitchFamily="49" charset="0"/>
                </a:rPr>
                <a:t>0x42c80000</a:t>
              </a:r>
              <a:endParaRPr lang="LID4096" sz="900">
                <a:solidFill>
                  <a:srgbClr val="FF0000"/>
                </a:solidFill>
                <a:latin typeface="Consolas" panose="020B0609020204030204" pitchFamily="49" charset="0"/>
              </a:endParaRPr>
            </a:p>
          </p:txBody>
        </p:sp>
      </p:grpSp>
      <p:sp>
        <p:nvSpPr>
          <p:cNvPr id="31" name="Text Placeholder 5">
            <a:extLst>
              <a:ext uri="{FF2B5EF4-FFF2-40B4-BE49-F238E27FC236}">
                <a16:creationId xmlns:a16="http://schemas.microsoft.com/office/drawing/2014/main" id="{B0784CBB-3DDE-DA30-C156-5B59AF1AB405}"/>
              </a:ext>
            </a:extLst>
          </p:cNvPr>
          <p:cNvSpPr txBox="1">
            <a:spLocks/>
          </p:cNvSpPr>
          <p:nvPr/>
        </p:nvSpPr>
        <p:spPr>
          <a:xfrm>
            <a:off x="3044588" y="2546310"/>
            <a:ext cx="4020404" cy="760998"/>
          </a:xfrm>
          <a:prstGeom prst="rect">
            <a:avLst/>
          </a:prstGeom>
          <a:solidFill>
            <a:schemeClr val="bg1"/>
          </a:solidFill>
          <a:effectLst>
            <a:outerShdw blurRad="50800" dist="38100" dir="2700000" algn="tl" rotWithShape="0">
              <a:prstClr val="black">
                <a:alpha val="40000"/>
              </a:prstClr>
            </a:outerShdw>
          </a:effectLst>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sv-SE" sz="1600" b="1">
                <a:latin typeface="+mj-lt"/>
              </a:rPr>
              <a:t>Praktiskt när vi vill kunna tyda samma data på olika sätt, </a:t>
            </a:r>
            <a:r>
              <a:rPr lang="sv-SE" sz="1600" b="1" i="1">
                <a:latin typeface="+mj-lt"/>
              </a:rPr>
              <a:t>eller</a:t>
            </a:r>
            <a:r>
              <a:rPr lang="sv-SE" sz="1600" b="1">
                <a:latin typeface="+mj-lt"/>
              </a:rPr>
              <a:t> när vi vill spara minne och vet att två variabler är mutually exclusive.</a:t>
            </a:r>
          </a:p>
        </p:txBody>
      </p:sp>
      <p:pic>
        <p:nvPicPr>
          <p:cNvPr id="21" name="Picture 20">
            <a:extLst>
              <a:ext uri="{FF2B5EF4-FFF2-40B4-BE49-F238E27FC236}">
                <a16:creationId xmlns:a16="http://schemas.microsoft.com/office/drawing/2014/main" id="{AD4F527C-5342-A2C5-D032-9F2EF2CC3FD7}"/>
              </a:ext>
            </a:extLst>
          </p:cNvPr>
          <p:cNvPicPr>
            <a:picLocks noChangeAspect="1"/>
          </p:cNvPicPr>
          <p:nvPr/>
        </p:nvPicPr>
        <p:blipFill>
          <a:blip r:embed="rId2"/>
          <a:stretch>
            <a:fillRect/>
          </a:stretch>
        </p:blipFill>
        <p:spPr>
          <a:xfrm>
            <a:off x="2617792" y="3126150"/>
            <a:ext cx="8741693" cy="244545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380194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7D62E-A414-DE5D-A736-EEDB69A947F8}"/>
              </a:ext>
            </a:extLst>
          </p:cNvPr>
          <p:cNvSpPr>
            <a:spLocks noGrp="1"/>
          </p:cNvSpPr>
          <p:nvPr>
            <p:ph type="title"/>
          </p:nvPr>
        </p:nvSpPr>
        <p:spPr/>
        <p:txBody>
          <a:bodyPr/>
          <a:lstStyle/>
          <a:p>
            <a:r>
              <a:rPr lang="sv-SE"/>
              <a:t>Enums</a:t>
            </a:r>
            <a:endParaRPr lang="LID4096"/>
          </a:p>
        </p:txBody>
      </p:sp>
      <p:sp>
        <p:nvSpPr>
          <p:cNvPr id="8" name="Text Placeholder 7">
            <a:extLst>
              <a:ext uri="{FF2B5EF4-FFF2-40B4-BE49-F238E27FC236}">
                <a16:creationId xmlns:a16="http://schemas.microsoft.com/office/drawing/2014/main" id="{D991EB92-6AB0-75E3-DDFD-B36F806ABC1D}"/>
              </a:ext>
            </a:extLst>
          </p:cNvPr>
          <p:cNvSpPr>
            <a:spLocks noGrp="1"/>
          </p:cNvSpPr>
          <p:nvPr>
            <p:ph idx="1"/>
          </p:nvPr>
        </p:nvSpPr>
        <p:spPr/>
        <p:txBody>
          <a:bodyPr/>
          <a:lstStyle/>
          <a:p>
            <a:pPr marL="0" indent="0">
              <a:buNone/>
            </a:pPr>
            <a:r>
              <a:rPr lang="sv-SE" sz="3600"/>
              <a:t>Enums ger oss uppräkningsbara typer med namn</a:t>
            </a:r>
            <a:endParaRPr lang="LID4096" sz="3600"/>
          </a:p>
        </p:txBody>
      </p:sp>
      <p:sp>
        <p:nvSpPr>
          <p:cNvPr id="3" name="Date Placeholder 2">
            <a:extLst>
              <a:ext uri="{FF2B5EF4-FFF2-40B4-BE49-F238E27FC236}">
                <a16:creationId xmlns:a16="http://schemas.microsoft.com/office/drawing/2014/main" id="{6B41F771-1690-0D04-9A03-284A56C49147}"/>
              </a:ext>
            </a:extLst>
          </p:cNvPr>
          <p:cNvSpPr>
            <a:spLocks noGrp="1"/>
          </p:cNvSpPr>
          <p:nvPr>
            <p:ph type="dt" sz="half" idx="10"/>
          </p:nvPr>
        </p:nvSpPr>
        <p:spPr/>
        <p:txBody>
          <a:bodyPr/>
          <a:lstStyle/>
          <a:p>
            <a:fld id="{9D7AC8C6-7D5A-454E-9AA8-5FD8ED471EB1}" type="datetime1">
              <a:rPr lang="LID4096" smtClean="0"/>
              <a:t>02/10/2026</a:t>
            </a:fld>
            <a:endParaRPr lang="LID4096"/>
          </a:p>
        </p:txBody>
      </p:sp>
      <p:sp>
        <p:nvSpPr>
          <p:cNvPr id="4" name="Footer Placeholder 3">
            <a:extLst>
              <a:ext uri="{FF2B5EF4-FFF2-40B4-BE49-F238E27FC236}">
                <a16:creationId xmlns:a16="http://schemas.microsoft.com/office/drawing/2014/main" id="{0D87DACE-6230-FF6F-EB18-089F9BA309F1}"/>
              </a:ext>
            </a:extLst>
          </p:cNvPr>
          <p:cNvSpPr>
            <a:spLocks noGrp="1"/>
          </p:cNvSpPr>
          <p:nvPr>
            <p:ph type="ftr" sz="quarter" idx="11"/>
          </p:nvPr>
        </p:nvSpPr>
        <p:spPr/>
        <p:txBody>
          <a:bodyPr/>
          <a:lstStyle/>
          <a:p>
            <a:r>
              <a:rPr lang="sv-SE"/>
              <a:t>Maskinorienterad Programmering</a:t>
            </a:r>
            <a:endParaRPr lang="LID4096"/>
          </a:p>
        </p:txBody>
      </p:sp>
      <p:sp>
        <p:nvSpPr>
          <p:cNvPr id="5" name="Slide Number Placeholder 4">
            <a:extLst>
              <a:ext uri="{FF2B5EF4-FFF2-40B4-BE49-F238E27FC236}">
                <a16:creationId xmlns:a16="http://schemas.microsoft.com/office/drawing/2014/main" id="{3A329896-FDAC-1D6F-6C84-8715F0B90D51}"/>
              </a:ext>
            </a:extLst>
          </p:cNvPr>
          <p:cNvSpPr>
            <a:spLocks noGrp="1"/>
          </p:cNvSpPr>
          <p:nvPr>
            <p:ph type="sldNum" sz="quarter" idx="12"/>
          </p:nvPr>
        </p:nvSpPr>
        <p:spPr/>
        <p:txBody>
          <a:bodyPr/>
          <a:lstStyle/>
          <a:p>
            <a:fld id="{E46909CE-3A1D-43F5-8F4E-45D6477AD820}" type="slidenum">
              <a:rPr lang="LID4096" smtClean="0"/>
              <a:t>19</a:t>
            </a:fld>
            <a:endParaRPr lang="LID4096"/>
          </a:p>
        </p:txBody>
      </p:sp>
      <p:pic>
        <p:nvPicPr>
          <p:cNvPr id="10" name="Picture 9">
            <a:extLst>
              <a:ext uri="{FF2B5EF4-FFF2-40B4-BE49-F238E27FC236}">
                <a16:creationId xmlns:a16="http://schemas.microsoft.com/office/drawing/2014/main" id="{E5C2FD67-BE3A-B575-AB55-EE5825933D90}"/>
              </a:ext>
            </a:extLst>
          </p:cNvPr>
          <p:cNvPicPr>
            <a:picLocks noChangeAspect="1"/>
          </p:cNvPicPr>
          <p:nvPr/>
        </p:nvPicPr>
        <p:blipFill>
          <a:blip r:embed="rId2"/>
          <a:stretch>
            <a:fillRect/>
          </a:stretch>
        </p:blipFill>
        <p:spPr>
          <a:xfrm>
            <a:off x="940369" y="2588957"/>
            <a:ext cx="8741693" cy="2445450"/>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D2EFED3F-20D6-4BE8-70AE-B4085A59DF71}"/>
              </a:ext>
            </a:extLst>
          </p:cNvPr>
          <p:cNvPicPr>
            <a:picLocks noChangeAspect="1"/>
          </p:cNvPicPr>
          <p:nvPr/>
        </p:nvPicPr>
        <p:blipFill>
          <a:blip r:embed="rId3"/>
          <a:stretch>
            <a:fillRect/>
          </a:stretch>
        </p:blipFill>
        <p:spPr>
          <a:xfrm>
            <a:off x="6464489" y="3534585"/>
            <a:ext cx="4375681" cy="26614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12516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18445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8BEB1-32DC-14F9-A873-EC4345CCD533}"/>
              </a:ext>
            </a:extLst>
          </p:cNvPr>
          <p:cNvSpPr>
            <a:spLocks noGrp="1"/>
          </p:cNvSpPr>
          <p:nvPr>
            <p:ph type="title"/>
          </p:nvPr>
        </p:nvSpPr>
        <p:spPr/>
        <p:txBody>
          <a:bodyPr/>
          <a:lstStyle/>
          <a:p>
            <a:r>
              <a:rPr lang="sv-SE"/>
              <a:t>Bitfields</a:t>
            </a:r>
            <a:endParaRPr lang="LID4096"/>
          </a:p>
        </p:txBody>
      </p:sp>
      <p:sp>
        <p:nvSpPr>
          <p:cNvPr id="5" name="TextBox 4">
            <a:extLst>
              <a:ext uri="{FF2B5EF4-FFF2-40B4-BE49-F238E27FC236}">
                <a16:creationId xmlns:a16="http://schemas.microsoft.com/office/drawing/2014/main" id="{0AF9429D-5EC1-D5EE-58D0-5E4D84D4E5D6}"/>
              </a:ext>
            </a:extLst>
          </p:cNvPr>
          <p:cNvSpPr txBox="1"/>
          <p:nvPr/>
        </p:nvSpPr>
        <p:spPr>
          <a:xfrm>
            <a:off x="256838" y="1865666"/>
            <a:ext cx="6096896" cy="3539430"/>
          </a:xfrm>
          <a:prstGeom prst="rect">
            <a:avLst/>
          </a:prstGeom>
          <a:solidFill>
            <a:schemeClr val="tx1">
              <a:lumMod val="85000"/>
              <a:lumOff val="15000"/>
            </a:schemeClr>
          </a:solidFill>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struct</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1 = true, 0 = false</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a:t>
            </a:r>
            <a:r>
              <a:rPr lang="en-GB" sz="1400" b="0">
                <a:solidFill>
                  <a:srgbClr val="6A9955"/>
                </a:solidFill>
                <a:effectLst/>
                <a:latin typeface="Consolas" panose="020B0609020204030204" pitchFamily="49" charset="0"/>
              </a:rPr>
              <a:t>    // 0-31 (0 = lowest, 31 = highest)</a:t>
            </a:r>
            <a:endParaRPr lang="en-GB" sz="1400" b="0">
              <a:solidFill>
                <a:srgbClr val="CCCCCC"/>
              </a:solidFill>
              <a:effectLst/>
              <a:latin typeface="Consolas" panose="020B0609020204030204" pitchFamily="49" charset="0"/>
            </a:endParaRP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0</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7A77FA1B-7CF5-1DB3-2F63-54829369604F}"/>
              </a:ext>
            </a:extLst>
          </p:cNvPr>
          <p:cNvSpPr txBox="1"/>
          <p:nvPr/>
        </p:nvSpPr>
        <p:spPr>
          <a:xfrm>
            <a:off x="3305286" y="3170916"/>
            <a:ext cx="6096896" cy="3539430"/>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FILE_READABLE </a:t>
            </a:r>
            <a:r>
              <a:rPr lang="en-GB" sz="1400" b="0">
                <a:solidFill>
                  <a:srgbClr val="B5CEA8"/>
                </a:solidFill>
                <a:effectLst/>
                <a:latin typeface="Consolas" panose="020B0609020204030204" pitchFamily="49" charset="0"/>
              </a:rPr>
              <a:t>0x01</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FILE_WRITABLE </a:t>
            </a:r>
            <a:r>
              <a:rPr lang="en-GB" sz="1400" b="0">
                <a:solidFill>
                  <a:srgbClr val="B5CEA8"/>
                </a:solidFill>
                <a:effectLst/>
                <a:latin typeface="Consolas" panose="020B0609020204030204" pitchFamily="49" charset="0"/>
              </a:rPr>
              <a:t>0x02</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FILE_EXECUTABLE </a:t>
            </a:r>
            <a:r>
              <a:rPr lang="en-GB" sz="1400" b="0">
                <a:solidFill>
                  <a:srgbClr val="B5CEA8"/>
                </a:solidFill>
                <a:effectLst/>
                <a:latin typeface="Consolas" panose="020B0609020204030204" pitchFamily="49" charset="0"/>
              </a:rPr>
              <a:t>0x04</a:t>
            </a:r>
            <a:endParaRPr lang="en-GB" sz="1400" b="0">
              <a:solidFill>
                <a:srgbClr val="CCCCCC"/>
              </a:solidFill>
              <a:effectLst/>
              <a:latin typeface="Consolas" panose="020B0609020204030204" pitchFamily="49" charset="0"/>
            </a:endParaRPr>
          </a:p>
          <a:p>
            <a:pPr>
              <a:buNone/>
            </a:pPr>
            <a:r>
              <a:rPr lang="en-GB" sz="1400" b="0">
                <a:solidFill>
                  <a:srgbClr val="C586C0"/>
                </a:solidFill>
                <a:effectLst/>
                <a:latin typeface="Consolas" panose="020B0609020204030204" pitchFamily="49" charset="0"/>
              </a:rPr>
              <a:t>#define</a:t>
            </a:r>
            <a:r>
              <a:rPr lang="en-GB" sz="1400" b="0">
                <a:solidFill>
                  <a:srgbClr val="569CD6"/>
                </a:solidFill>
                <a:effectLst/>
                <a:latin typeface="Consolas" panose="020B0609020204030204" pitchFamily="49" charset="0"/>
              </a:rPr>
              <a:t> FILE_PRIORITY_MASK </a:t>
            </a:r>
            <a:r>
              <a:rPr lang="en-GB" sz="1400" b="0">
                <a:solidFill>
                  <a:srgbClr val="B5CEA8"/>
                </a:solidFill>
                <a:effectLst/>
                <a:latin typeface="Consolas" panose="020B0609020204030204" pitchFamily="49" charset="0"/>
              </a:rPr>
              <a:t>0xF8</a:t>
            </a:r>
            <a:endParaRPr lang="en-GB" sz="1400" b="0">
              <a:solidFill>
                <a:srgbClr val="CCCCCC"/>
              </a:solidFill>
              <a:effectLst/>
              <a:latin typeface="Consolas" panose="020B0609020204030204" pitchFamily="49" charset="0"/>
            </a:endParaRP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FILE_READABLE</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&amp;=</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569CD6"/>
                </a:solidFill>
                <a:effectLst/>
                <a:latin typeface="Consolas" panose="020B0609020204030204" pitchFamily="49" charset="0"/>
              </a:rPr>
              <a:t>FILE_WRITABLE</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FILE_EXECUTABLE</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&amp;=</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569CD6"/>
                </a:solidFill>
                <a:effectLst/>
                <a:latin typeface="Consolas" panose="020B0609020204030204" pitchFamily="49" charset="0"/>
              </a:rPr>
              <a:t>FILE_PRIORITY_MASK</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&lt;&lt;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3</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endParaRPr lang="en-GB" b="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C8671C9-532B-8A72-A6B5-F68F74A22406}"/>
              </a:ext>
            </a:extLst>
          </p:cNvPr>
          <p:cNvSpPr txBox="1"/>
          <p:nvPr/>
        </p:nvSpPr>
        <p:spPr>
          <a:xfrm>
            <a:off x="7109908" y="2086186"/>
            <a:ext cx="3464860" cy="3539430"/>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569CD6"/>
                </a:solidFill>
                <a:effectLst/>
                <a:latin typeface="Consolas" panose="020B0609020204030204" pitchFamily="49" charset="0"/>
              </a:rPr>
              <a:t>typedef</a:t>
            </a:r>
            <a:r>
              <a:rPr lang="en-GB" sz="1400" b="0">
                <a:solidFill>
                  <a:srgbClr val="CCCCCC"/>
                </a:solidFill>
                <a:effectLst/>
                <a:latin typeface="Consolas" panose="020B0609020204030204" pitchFamily="49" charset="0"/>
              </a:rPr>
              <a:t> </a:t>
            </a:r>
            <a:r>
              <a:rPr lang="en-GB" sz="1400" b="0">
                <a:solidFill>
                  <a:srgbClr val="569CD6"/>
                </a:solidFill>
                <a:effectLst/>
                <a:latin typeface="Consolas" panose="020B0609020204030204" pitchFamily="49" charset="0"/>
              </a:rPr>
              <a:t>struct</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uint8_t</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br>
              <a:rPr lang="en-GB" sz="1400" b="0">
                <a:solidFill>
                  <a:srgbClr val="CCCCCC"/>
                </a:solidFill>
                <a:effectLst/>
                <a:latin typeface="Consolas" panose="020B0609020204030204" pitchFamily="49" charset="0"/>
              </a:rPr>
            </a:br>
            <a:endParaRPr lang="en-GB" sz="1400" b="0">
              <a:solidFill>
                <a:srgbClr val="CCCCCC"/>
              </a:solidFill>
              <a:effectLst/>
              <a:latin typeface="Consolas" panose="020B0609020204030204" pitchFamily="49" charset="0"/>
            </a:endParaRPr>
          </a:p>
          <a:p>
            <a:pPr>
              <a:buNone/>
            </a:pPr>
            <a:r>
              <a:rPr lang="en-GB" sz="1400" b="0">
                <a:solidFill>
                  <a:srgbClr val="569CD6"/>
                </a:solidFill>
                <a:effectLst/>
                <a:latin typeface="Consolas" panose="020B0609020204030204" pitchFamily="49" charset="0"/>
              </a:rPr>
              <a:t>int</a:t>
            </a:r>
            <a:r>
              <a:rPr lang="en-GB" sz="1400" b="0">
                <a:solidFill>
                  <a:srgbClr val="CCCCCC"/>
                </a:solidFill>
                <a:effectLst/>
                <a:latin typeface="Consolas" panose="020B0609020204030204" pitchFamily="49" charset="0"/>
              </a:rPr>
              <a:t> </a:t>
            </a:r>
            <a:r>
              <a:rPr lang="en-GB" sz="1400" b="0">
                <a:solidFill>
                  <a:srgbClr val="DCDCAA"/>
                </a:solidFill>
                <a:effectLst/>
                <a:latin typeface="Consolas" panose="020B0609020204030204" pitchFamily="49" charset="0"/>
              </a:rPr>
              <a:t>main</a:t>
            </a:r>
            <a:r>
              <a:rPr lang="en-GB" sz="1400" b="0">
                <a:solidFill>
                  <a:srgbClr val="CCCCCC"/>
                </a:solidFill>
                <a:effectLst/>
                <a:latin typeface="Consolas" panose="020B0609020204030204" pitchFamily="49" charset="0"/>
              </a:rPr>
              <a:t>(</a:t>
            </a:r>
            <a:r>
              <a:rPr lang="en-GB" sz="1400" b="0">
                <a:solidFill>
                  <a:srgbClr val="569CD6"/>
                </a:solidFill>
                <a:effectLst/>
                <a:latin typeface="Consolas" panose="020B0609020204030204" pitchFamily="49" charset="0"/>
              </a:rPr>
              <a:t>void</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4EC9B0"/>
                </a:solidFill>
                <a:effectLst/>
                <a:latin typeface="Consolas" panose="020B0609020204030204" pitchFamily="49" charset="0"/>
              </a:rPr>
              <a:t>FileInfo</a:t>
            </a: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readable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 </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writable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0</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executable</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1</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    </a:t>
            </a:r>
            <a:r>
              <a:rPr lang="en-GB" sz="1400" b="0">
                <a:solidFill>
                  <a:srgbClr val="9CDCFE"/>
                </a:solidFill>
                <a:effectLst/>
                <a:latin typeface="Consolas" panose="020B0609020204030204" pitchFamily="49" charset="0"/>
              </a:rPr>
              <a:t>fileInfo</a:t>
            </a:r>
            <a:r>
              <a:rPr lang="en-GB" sz="1400" b="0">
                <a:solidFill>
                  <a:srgbClr val="CCCCCC"/>
                </a:solidFill>
                <a:effectLst/>
                <a:latin typeface="Consolas" panose="020B0609020204030204" pitchFamily="49" charset="0"/>
              </a:rPr>
              <a:t>.</a:t>
            </a:r>
            <a:r>
              <a:rPr lang="en-GB" sz="1400" b="0">
                <a:solidFill>
                  <a:srgbClr val="9CDCFE"/>
                </a:solidFill>
                <a:effectLst/>
                <a:latin typeface="Consolas" panose="020B0609020204030204" pitchFamily="49" charset="0"/>
              </a:rPr>
              <a:t>priority</a:t>
            </a:r>
            <a:r>
              <a:rPr lang="en-GB" sz="1400" b="0">
                <a:solidFill>
                  <a:srgbClr val="CCCCCC"/>
                </a:solidFill>
                <a:effectLst/>
                <a:latin typeface="Consolas" panose="020B0609020204030204" pitchFamily="49" charset="0"/>
              </a:rPr>
              <a:t> </a:t>
            </a:r>
            <a:r>
              <a:rPr lang="en-GB" sz="1400" b="0">
                <a:solidFill>
                  <a:srgbClr val="D4D4D4"/>
                </a:solidFill>
                <a:effectLst/>
                <a:latin typeface="Consolas" panose="020B0609020204030204" pitchFamily="49" charset="0"/>
              </a:rPr>
              <a:t>=</a:t>
            </a:r>
            <a:r>
              <a:rPr lang="en-GB" sz="1400" b="0">
                <a:solidFill>
                  <a:srgbClr val="CCCCCC"/>
                </a:solidFill>
                <a:effectLst/>
                <a:latin typeface="Consolas" panose="020B0609020204030204" pitchFamily="49" charset="0"/>
              </a:rPr>
              <a:t> </a:t>
            </a:r>
            <a:r>
              <a:rPr lang="en-GB" sz="1400" b="0">
                <a:solidFill>
                  <a:srgbClr val="B5CEA8"/>
                </a:solidFill>
                <a:effectLst/>
                <a:latin typeface="Consolas" panose="020B0609020204030204" pitchFamily="49" charset="0"/>
              </a:rPr>
              <a:t>5</a:t>
            </a:r>
            <a:r>
              <a:rPr lang="en-GB" sz="1400" b="0">
                <a:solidFill>
                  <a:srgbClr val="CCCCCC"/>
                </a:solidFill>
                <a:effectLst/>
                <a:latin typeface="Consolas" panose="020B0609020204030204" pitchFamily="49" charset="0"/>
              </a:rPr>
              <a:t>;</a:t>
            </a:r>
          </a:p>
          <a:p>
            <a:pPr>
              <a:buNone/>
            </a:pPr>
            <a:r>
              <a:rPr lang="en-GB" sz="1400" b="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2458864-D6E7-63EC-1165-430C8900DEB5}"/>
              </a:ext>
            </a:extLst>
          </p:cNvPr>
          <p:cNvSpPr txBox="1"/>
          <p:nvPr/>
        </p:nvSpPr>
        <p:spPr>
          <a:xfrm>
            <a:off x="7912024" y="5107880"/>
            <a:ext cx="4152902" cy="1384995"/>
          </a:xfrm>
          <a:prstGeom prst="rect">
            <a:avLst/>
          </a:prstGeom>
          <a:solidFill>
            <a:schemeClr val="tx1">
              <a:lumMod val="85000"/>
              <a:lumOff val="15000"/>
            </a:schemeClr>
          </a:solidFill>
          <a:ln>
            <a:solidFill>
              <a:schemeClr val="bg1"/>
            </a:solidFill>
          </a:ln>
        </p:spPr>
        <p:txBody>
          <a:bodyPr wrap="square">
            <a:spAutoFit/>
          </a:bodyPr>
          <a:lstStyle/>
          <a:p>
            <a:pPr>
              <a:buNone/>
            </a:pPr>
            <a:r>
              <a:rPr lang="en-GB" sz="1400" b="0">
                <a:solidFill>
                  <a:srgbClr val="FF0000"/>
                </a:solidFill>
                <a:effectLst/>
                <a:latin typeface="Consolas" panose="020B0609020204030204" pitchFamily="49" charset="0"/>
              </a:rPr>
              <a:t>WARNING: </a:t>
            </a:r>
            <a:r>
              <a:rPr lang="en-GB" sz="1400" b="0">
                <a:solidFill>
                  <a:schemeClr val="bg1"/>
                </a:solidFill>
                <a:effectLst/>
                <a:latin typeface="Consolas" panose="020B0609020204030204" pitchFamily="49" charset="0"/>
              </a:rPr>
              <a:t>Bitfields är VÄLDIGT implementationsberoende och svårportade.</a:t>
            </a:r>
          </a:p>
          <a:p>
            <a:pPr>
              <a:buNone/>
            </a:pPr>
            <a:endParaRPr lang="en-GB" sz="1400">
              <a:solidFill>
                <a:schemeClr val="bg1"/>
              </a:solidFill>
              <a:latin typeface="Consolas" panose="020B0609020204030204" pitchFamily="49" charset="0"/>
            </a:endParaRPr>
          </a:p>
          <a:p>
            <a:pPr>
              <a:buNone/>
            </a:pPr>
            <a:r>
              <a:rPr lang="en-GB" sz="1400" b="0">
                <a:solidFill>
                  <a:schemeClr val="bg1"/>
                </a:solidFill>
                <a:effectLst/>
                <a:latin typeface="Consolas" panose="020B0609020204030204" pitchFamily="49" charset="0"/>
              </a:rPr>
              <a:t>Men väldigt användbara när hårdvara, kompilator och ABI är kända och inte ändras.  </a:t>
            </a:r>
            <a:r>
              <a:rPr lang="en-GB" sz="1400" b="0">
                <a:solidFill>
                  <a:srgbClr val="FF0000"/>
                </a:solidFill>
                <a:effectLst/>
                <a:latin typeface="Consolas" panose="020B0609020204030204" pitchFamily="49" charset="0"/>
              </a:rPr>
              <a:t> </a:t>
            </a:r>
          </a:p>
        </p:txBody>
      </p:sp>
    </p:spTree>
    <p:extLst>
      <p:ext uri="{BB962C8B-B14F-4D97-AF65-F5344CB8AC3E}">
        <p14:creationId xmlns:p14="http://schemas.microsoft.com/office/powerpoint/2010/main" val="320297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CFDE5-22DE-313B-D7BC-988485158652}"/>
              </a:ext>
            </a:extLst>
          </p:cNvPr>
          <p:cNvSpPr>
            <a:spLocks noGrp="1"/>
          </p:cNvSpPr>
          <p:nvPr>
            <p:ph type="title"/>
          </p:nvPr>
        </p:nvSpPr>
        <p:spPr/>
        <p:txBody>
          <a:bodyPr/>
          <a:lstStyle/>
          <a:p>
            <a:r>
              <a:rPr lang="sv-SE"/>
              <a:t>Sneak Peak: Basic Timers</a:t>
            </a:r>
            <a:endParaRPr lang="LID4096"/>
          </a:p>
        </p:txBody>
      </p:sp>
      <p:pic>
        <p:nvPicPr>
          <p:cNvPr id="5" name="Picture 4">
            <a:extLst>
              <a:ext uri="{FF2B5EF4-FFF2-40B4-BE49-F238E27FC236}">
                <a16:creationId xmlns:a16="http://schemas.microsoft.com/office/drawing/2014/main" id="{8D02A4FD-60C4-E047-97A0-E342FB41DCEE}"/>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8" name="TextBox 7">
            <a:extLst>
              <a:ext uri="{FF2B5EF4-FFF2-40B4-BE49-F238E27FC236}">
                <a16:creationId xmlns:a16="http://schemas.microsoft.com/office/drawing/2014/main" id="{455A222C-AA34-54F2-ACA3-6FE889B20116}"/>
              </a:ext>
            </a:extLst>
          </p:cNvPr>
          <p:cNvSpPr txBox="1"/>
          <p:nvPr/>
        </p:nvSpPr>
        <p:spPr>
          <a:xfrm>
            <a:off x="274320" y="2477906"/>
            <a:ext cx="6515100" cy="2308324"/>
          </a:xfrm>
          <a:prstGeom prst="rect">
            <a:avLst/>
          </a:prstGeom>
          <a:solidFill>
            <a:schemeClr val="tx1">
              <a:lumMod val="85000"/>
              <a:lumOff val="15000"/>
            </a:schemeClr>
          </a:solidFill>
        </p:spPr>
        <p:txBody>
          <a:bodyPr wrap="square">
            <a:spAutoFit/>
          </a:bodyPr>
          <a:lstStyle/>
          <a:p>
            <a:pPr>
              <a:buNone/>
            </a:pPr>
            <a:r>
              <a:rPr lang="en-US" b="0" dirty="0">
                <a:solidFill>
                  <a:srgbClr val="C586C0"/>
                </a:solidFill>
                <a:effectLst/>
                <a:latin typeface="Consolas" panose="020B0609020204030204" pitchFamily="49" charset="0"/>
              </a:rPr>
              <a:t>#define</a:t>
            </a:r>
            <a:r>
              <a:rPr lang="en-US" b="0" dirty="0">
                <a:solidFill>
                  <a:srgbClr val="569CD6"/>
                </a:solidFill>
                <a:effectLst/>
                <a:latin typeface="Consolas" panose="020B0609020204030204" pitchFamily="49" charset="0"/>
              </a:rPr>
              <a:t> TIM6_CTLR1 ((volatile </a:t>
            </a:r>
            <a:r>
              <a:rPr lang="en-US" b="0" dirty="0">
                <a:solidFill>
                  <a:srgbClr val="4EC9B0"/>
                </a:solidFill>
                <a:effectLst/>
                <a:latin typeface="Consolas" panose="020B0609020204030204" pitchFamily="49" charset="0"/>
              </a:rPr>
              <a:t>uint16_t</a:t>
            </a:r>
            <a:r>
              <a:rPr lang="en-US" b="0" dirty="0">
                <a:solidFill>
                  <a:srgbClr val="569CD6"/>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0x40001000</a:t>
            </a:r>
            <a:r>
              <a:rPr lang="en-US" b="0" dirty="0">
                <a:solidFill>
                  <a:srgbClr val="569CD6"/>
                </a:solidFill>
                <a:effectLst/>
                <a:latin typeface="Consolas" panose="020B0609020204030204" pitchFamily="49" charset="0"/>
              </a:rPr>
              <a:t>)</a:t>
            </a:r>
            <a:endParaRPr lang="en-US" b="0" dirty="0">
              <a:solidFill>
                <a:srgbClr val="CCCCCC"/>
              </a:solidFill>
              <a:effectLst/>
              <a:latin typeface="Consolas" panose="020B0609020204030204" pitchFamily="49" charset="0"/>
            </a:endParaRPr>
          </a:p>
          <a:p>
            <a:pPr>
              <a:buNone/>
            </a:pPr>
            <a:r>
              <a:rPr lang="en-US" b="0" dirty="0">
                <a:solidFill>
                  <a:srgbClr val="C586C0"/>
                </a:solidFill>
                <a:effectLst/>
                <a:latin typeface="Consolas" panose="020B0609020204030204" pitchFamily="49" charset="0"/>
              </a:rPr>
              <a:t>#define</a:t>
            </a:r>
            <a:r>
              <a:rPr lang="en-US" b="0" dirty="0">
                <a:solidFill>
                  <a:srgbClr val="569CD6"/>
                </a:solidFill>
                <a:effectLst/>
                <a:latin typeface="Consolas" panose="020B0609020204030204" pitchFamily="49" charset="0"/>
              </a:rPr>
              <a:t> TIM6_CTLR2 ((volatile </a:t>
            </a:r>
            <a:r>
              <a:rPr lang="en-US" b="0" dirty="0">
                <a:solidFill>
                  <a:srgbClr val="4EC9B0"/>
                </a:solidFill>
                <a:effectLst/>
                <a:latin typeface="Consolas" panose="020B0609020204030204" pitchFamily="49" charset="0"/>
              </a:rPr>
              <a:t>uint16_t</a:t>
            </a:r>
            <a:r>
              <a:rPr lang="en-US" b="0" dirty="0">
                <a:solidFill>
                  <a:srgbClr val="569CD6"/>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0x40001004</a:t>
            </a:r>
            <a:r>
              <a:rPr lang="en-US" b="0" dirty="0">
                <a:solidFill>
                  <a:srgbClr val="569CD6"/>
                </a:solidFill>
                <a:effectLst/>
                <a:latin typeface="Consolas" panose="020B0609020204030204" pitchFamily="49" charset="0"/>
              </a:rPr>
              <a:t>)</a:t>
            </a:r>
            <a:endParaRPr lang="en-US" b="0" dirty="0">
              <a:solidFill>
                <a:srgbClr val="CCCCCC"/>
              </a:solidFill>
              <a:effectLst/>
              <a:latin typeface="Consolas" panose="020B0609020204030204" pitchFamily="49" charset="0"/>
            </a:endParaRPr>
          </a:p>
          <a:p>
            <a:pPr>
              <a:buNone/>
            </a:pPr>
            <a:r>
              <a:rPr lang="en-US" b="0" dirty="0">
                <a:solidFill>
                  <a:srgbClr val="6A9955"/>
                </a:solidFill>
                <a:effectLst/>
                <a:latin typeface="Consolas" panose="020B0609020204030204" pitchFamily="49" charset="0"/>
              </a:rPr>
              <a:t>// &lt;same for remaining register&gt;, and then </a:t>
            </a:r>
            <a:endParaRPr lang="en-US" b="0" dirty="0">
              <a:solidFill>
                <a:srgbClr val="CCCCCC"/>
              </a:solidFill>
              <a:effectLst/>
              <a:latin typeface="Consolas" panose="020B0609020204030204" pitchFamily="49" charset="0"/>
            </a:endParaRPr>
          </a:p>
          <a:p>
            <a:pPr>
              <a:buNone/>
            </a:pPr>
            <a:r>
              <a:rPr lang="en-US" b="0" dirty="0">
                <a:solidFill>
                  <a:srgbClr val="C586C0"/>
                </a:solidFill>
                <a:effectLst/>
                <a:latin typeface="Consolas" panose="020B0609020204030204" pitchFamily="49" charset="0"/>
              </a:rPr>
              <a:t>#define</a:t>
            </a:r>
            <a:r>
              <a:rPr lang="en-US" b="0" dirty="0">
                <a:solidFill>
                  <a:srgbClr val="569CD6"/>
                </a:solidFill>
                <a:effectLst/>
                <a:latin typeface="Consolas" panose="020B0609020204030204" pitchFamily="49" charset="0"/>
              </a:rPr>
              <a:t> TIM7_CTLR1 ((volatile </a:t>
            </a:r>
            <a:r>
              <a:rPr lang="en-US" b="0" dirty="0">
                <a:solidFill>
                  <a:srgbClr val="4EC9B0"/>
                </a:solidFill>
                <a:effectLst/>
                <a:latin typeface="Consolas" panose="020B0609020204030204" pitchFamily="49" charset="0"/>
              </a:rPr>
              <a:t>uint16_t</a:t>
            </a:r>
            <a:r>
              <a:rPr lang="en-US" b="0" dirty="0">
                <a:solidFill>
                  <a:srgbClr val="569CD6"/>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0x40001000</a:t>
            </a:r>
            <a:r>
              <a:rPr lang="en-US" b="0" dirty="0">
                <a:solidFill>
                  <a:srgbClr val="569CD6"/>
                </a:solidFill>
                <a:effectLst/>
                <a:latin typeface="Consolas" panose="020B0609020204030204" pitchFamily="49" charset="0"/>
              </a:rPr>
              <a:t>)</a:t>
            </a:r>
            <a:endParaRPr lang="en-US" b="0" dirty="0">
              <a:solidFill>
                <a:srgbClr val="CCCCCC"/>
              </a:solidFill>
              <a:effectLst/>
              <a:latin typeface="Consolas" panose="020B0609020204030204" pitchFamily="49" charset="0"/>
            </a:endParaRPr>
          </a:p>
          <a:p>
            <a:pPr>
              <a:buNone/>
            </a:pPr>
            <a:r>
              <a:rPr lang="en-US" b="0" dirty="0">
                <a:solidFill>
                  <a:srgbClr val="6A9955"/>
                </a:solidFill>
                <a:effectLst/>
                <a:latin typeface="Consolas" panose="020B0609020204030204" pitchFamily="49" charset="0"/>
              </a:rPr>
              <a:t>// ...</a:t>
            </a:r>
            <a:endParaRPr lang="en-US"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280446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BB5F0-F457-A59B-81F5-1E8BC57FE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6CBFB-00E9-027D-06AB-8891F9B6BF9F}"/>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4F71D7C2-9D66-6ACC-1A35-4351130B60C6}"/>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6" name="TextBox 5">
            <a:extLst>
              <a:ext uri="{FF2B5EF4-FFF2-40B4-BE49-F238E27FC236}">
                <a16:creationId xmlns:a16="http://schemas.microsoft.com/office/drawing/2014/main" id="{714A3E4F-0AF1-A4BA-423E-04CCF4F0F8D9}"/>
              </a:ext>
            </a:extLst>
          </p:cNvPr>
          <p:cNvSpPr txBox="1"/>
          <p:nvPr/>
        </p:nvSpPr>
        <p:spPr>
          <a:xfrm>
            <a:off x="502920" y="2053404"/>
            <a:ext cx="6096000" cy="3970318"/>
          </a:xfrm>
          <a:prstGeom prst="rect">
            <a:avLst/>
          </a:prstGeom>
          <a:solidFill>
            <a:schemeClr val="tx1">
              <a:lumMod val="85000"/>
              <a:lumOff val="15000"/>
            </a:schemeClr>
          </a:solidFill>
        </p:spPr>
        <p:txBody>
          <a:bodyPr wrap="square">
            <a:spAutoFit/>
          </a:bodyPr>
          <a:lstStyle/>
          <a:p>
            <a:pPr>
              <a:buNone/>
            </a:pPr>
            <a:r>
              <a:rPr lang="en-US" sz="1200" b="0" dirty="0">
                <a:solidFill>
                  <a:srgbClr val="569CD6"/>
                </a:solidFill>
                <a:effectLst/>
                <a:latin typeface="Consolas" panose="020B0609020204030204" pitchFamily="49" charset="0"/>
              </a:rPr>
              <a:t>typedef</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struct</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CTLR1</a:t>
            </a:r>
            <a:r>
              <a:rPr lang="en-US" sz="1200" b="0" dirty="0">
                <a:solidFill>
                  <a:srgbClr val="CCCCCC"/>
                </a:solidFill>
                <a:effectLst/>
                <a:latin typeface="Consolas" panose="020B0609020204030204" pitchFamily="49" charset="0"/>
              </a:rPr>
              <a:t>;</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CTLR2</a:t>
            </a:r>
            <a:r>
              <a:rPr lang="en-US" sz="1200" b="0" dirty="0">
                <a:solidFill>
                  <a:srgbClr val="CCCCCC"/>
                </a:solidFill>
                <a:effectLst/>
                <a:latin typeface="Consolas" panose="020B0609020204030204" pitchFamily="49" charset="0"/>
              </a:rPr>
              <a:t>;</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DMAINTENR</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INTFR</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SWEVGR</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CNT</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PSC</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uint32_t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ATRLR</a:t>
            </a:r>
            <a:r>
              <a:rPr lang="en-US" sz="1200" b="0" dirty="0">
                <a:solidFill>
                  <a:srgbClr val="CCCCCC"/>
                </a:solidFill>
                <a:effectLst/>
                <a:latin typeface="Consolas" panose="020B0609020204030204" pitchFamily="49" charset="0"/>
              </a:rPr>
              <a:t>; </a:t>
            </a:r>
          </a:p>
          <a:p>
            <a:pPr>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p>
          <a:p>
            <a:pPr>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buNone/>
            </a:pPr>
            <a:r>
              <a:rPr lang="en-US" sz="1200" b="0" dirty="0">
                <a:solidFill>
                  <a:srgbClr val="569CD6"/>
                </a:solidFill>
                <a:effectLst/>
                <a:latin typeface="Consolas" panose="020B0609020204030204" pitchFamily="49" charset="0"/>
              </a:rPr>
              <a:t>volatile</a:t>
            </a: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a:t>
            </a:r>
            <a:r>
              <a:rPr lang="en-US" sz="1200" b="0" dirty="0">
                <a:solidFill>
                  <a:srgbClr val="B5CEA8"/>
                </a:solidFill>
                <a:effectLst/>
                <a:latin typeface="Consolas" panose="020B0609020204030204" pitchFamily="49" charset="0"/>
              </a:rPr>
              <a:t>0x40001000</a:t>
            </a:r>
            <a:r>
              <a:rPr lang="en-US" sz="1200" b="0" dirty="0">
                <a:solidFill>
                  <a:srgbClr val="CCCCCC"/>
                </a:solidFill>
                <a:effectLst/>
                <a:latin typeface="Consolas" panose="020B0609020204030204" pitchFamily="49" charset="0"/>
              </a:rPr>
              <a:t>;</a:t>
            </a:r>
          </a:p>
          <a:p>
            <a:pPr>
              <a:buNone/>
            </a:pPr>
            <a:r>
              <a:rPr lang="en-US" sz="1200" b="0" dirty="0">
                <a:solidFill>
                  <a:srgbClr val="569CD6"/>
                </a:solidFill>
                <a:effectLst/>
                <a:latin typeface="Consolas" panose="020B0609020204030204" pitchFamily="49" charset="0"/>
              </a:rPr>
              <a:t>volatile</a:t>
            </a: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timer7</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a:t>
            </a:r>
            <a:r>
              <a:rPr lang="en-US" sz="1200" b="0" dirty="0">
                <a:solidFill>
                  <a:srgbClr val="B5CEA8"/>
                </a:solidFill>
                <a:effectLst/>
                <a:latin typeface="Consolas" panose="020B0609020204030204" pitchFamily="49" charset="0"/>
              </a:rPr>
              <a:t>0x40001400</a:t>
            </a:r>
            <a:r>
              <a:rPr lang="en-US" sz="1200" b="0" dirty="0">
                <a:solidFill>
                  <a:srgbClr val="CCCCCC"/>
                </a:solidFill>
                <a:effectLst/>
                <a:latin typeface="Consolas" panose="020B0609020204030204" pitchFamily="49" charset="0"/>
              </a:rPr>
              <a:t>; </a:t>
            </a:r>
          </a:p>
          <a:p>
            <a:pPr>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buNone/>
            </a:pPr>
            <a:r>
              <a:rPr lang="en-US" sz="1200" b="0" dirty="0">
                <a:solidFill>
                  <a:srgbClr val="569CD6"/>
                </a:solidFill>
                <a:effectLst/>
                <a:latin typeface="Consolas" panose="020B0609020204030204" pitchFamily="49" charset="0"/>
              </a:rPr>
              <a:t>void</a:t>
            </a:r>
            <a:r>
              <a:rPr lang="en-US" sz="1200" b="0" dirty="0">
                <a:solidFill>
                  <a:srgbClr val="CCCCCC"/>
                </a:solidFill>
                <a:effectLst/>
                <a:latin typeface="Consolas" panose="020B0609020204030204" pitchFamily="49" charset="0"/>
              </a:rPr>
              <a:t> </a:t>
            </a:r>
            <a:r>
              <a:rPr lang="en-US" sz="1200" b="0" dirty="0">
                <a:solidFill>
                  <a:srgbClr val="DCDCAA"/>
                </a:solidFill>
                <a:effectLst/>
                <a:latin typeface="Consolas" panose="020B0609020204030204" pitchFamily="49" charset="0"/>
              </a:rPr>
              <a:t>main</a:t>
            </a:r>
            <a:r>
              <a:rPr lang="en-US" sz="1200" b="0" dirty="0">
                <a:solidFill>
                  <a:srgbClr val="CCCCCC"/>
                </a:solidFill>
                <a:effectLst/>
                <a:latin typeface="Consolas" panose="020B0609020204030204" pitchFamily="49" charset="0"/>
              </a:rPr>
              <a:t>()</a:t>
            </a:r>
          </a:p>
          <a:p>
            <a:pPr>
              <a:buNone/>
            </a:pPr>
            <a:r>
              <a:rPr lang="en-US" sz="1200" b="0" dirty="0">
                <a:solidFill>
                  <a:srgbClr val="CCCCCC"/>
                </a:solidFill>
                <a:effectLst/>
                <a:latin typeface="Consolas" panose="020B0609020204030204" pitchFamily="49" charset="0"/>
              </a:rPr>
              <a:t>{</a:t>
            </a:r>
          </a:p>
          <a:p>
            <a:pPr>
              <a:buNone/>
            </a:pP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CNT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Clear the counter</a:t>
            </a:r>
            <a:endParaRPr lang="en-US" sz="1200" b="0" dirty="0">
              <a:solidFill>
                <a:srgbClr val="CCCCCC"/>
              </a:solidFill>
              <a:effectLst/>
              <a:latin typeface="Consolas" panose="020B0609020204030204" pitchFamily="49" charset="0"/>
            </a:endParaRPr>
          </a:p>
          <a:p>
            <a:pPr>
              <a:buNone/>
            </a:pPr>
            <a:r>
              <a:rPr lang="en-US" sz="1200" b="0" dirty="0">
                <a:solidFill>
                  <a:srgbClr val="CCCCCC"/>
                </a:solidFill>
                <a:effectLst/>
                <a:latin typeface="Consolas" panose="020B0609020204030204" pitchFamily="49" charset="0"/>
              </a:rPr>
              <a:t>    </a:t>
            </a:r>
            <a:r>
              <a:rPr lang="en-US" sz="1200" b="0" dirty="0">
                <a:solidFill>
                  <a:srgbClr val="6A9955"/>
                </a:solidFill>
                <a:effectLst/>
                <a:latin typeface="Consolas" panose="020B0609020204030204" pitchFamily="49" charset="0"/>
              </a:rPr>
              <a:t>// ...</a:t>
            </a:r>
            <a:endParaRPr lang="en-US" sz="1200" b="0" dirty="0">
              <a:solidFill>
                <a:srgbClr val="CCCCCC"/>
              </a:solidFill>
              <a:effectLst/>
              <a:latin typeface="Consolas" panose="020B0609020204030204" pitchFamily="49" charset="0"/>
            </a:endParaRPr>
          </a:p>
          <a:p>
            <a:pPr>
              <a:buNone/>
            </a:pPr>
            <a:r>
              <a:rPr lang="en-US" sz="1200" b="0" dirty="0">
                <a:solidFill>
                  <a:srgbClr val="CCCCCC"/>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6A82A401-391A-FECC-7E72-D64B31ABE199}"/>
              </a:ext>
            </a:extLst>
          </p:cNvPr>
          <p:cNvSpPr/>
          <p:nvPr/>
        </p:nvSpPr>
        <p:spPr>
          <a:xfrm>
            <a:off x="7385050" y="2377440"/>
            <a:ext cx="585470" cy="34290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BD68862D-9B9E-D7CC-B374-90C9EA46D61F}"/>
              </a:ext>
            </a:extLst>
          </p:cNvPr>
          <p:cNvSpPr/>
          <p:nvPr/>
        </p:nvSpPr>
        <p:spPr>
          <a:xfrm>
            <a:off x="7385050" y="2865120"/>
            <a:ext cx="585470" cy="34290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607898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76F2E-8719-FF35-6128-8E7FD2D47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3C7AFA-F286-E3C4-4852-208EFF531DCD}"/>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09E56EE6-DEF8-4D6D-3904-C5D0A19C2809}"/>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6" name="TextBox 5">
            <a:extLst>
              <a:ext uri="{FF2B5EF4-FFF2-40B4-BE49-F238E27FC236}">
                <a16:creationId xmlns:a16="http://schemas.microsoft.com/office/drawing/2014/main" id="{250CD404-3871-2356-994B-FFBC0FA40EF1}"/>
              </a:ext>
            </a:extLst>
          </p:cNvPr>
          <p:cNvSpPr txBox="1"/>
          <p:nvPr/>
        </p:nvSpPr>
        <p:spPr>
          <a:xfrm>
            <a:off x="441960" y="1824804"/>
            <a:ext cx="6096000" cy="4760278"/>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CTLR2</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DMAINTENR</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INTFR</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SWEVGR</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reserved2</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reserved3</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PSC</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ATRLR</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timer7</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0x40001400</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Clear the counter</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6A9955"/>
                </a:solidFill>
                <a:latin typeface="Consolas" panose="020B0609020204030204" pitchFamily="49" charset="0"/>
              </a:rPr>
              <a:t>// ...</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a:t>
            </a:r>
          </a:p>
        </p:txBody>
      </p:sp>
      <p:sp>
        <p:nvSpPr>
          <p:cNvPr id="7" name="Rectangle: Rounded Corners 6">
            <a:extLst>
              <a:ext uri="{FF2B5EF4-FFF2-40B4-BE49-F238E27FC236}">
                <a16:creationId xmlns:a16="http://schemas.microsoft.com/office/drawing/2014/main" id="{2A916A90-DCF1-9DA4-FBF1-930D19430A09}"/>
              </a:ext>
            </a:extLst>
          </p:cNvPr>
          <p:cNvSpPr/>
          <p:nvPr/>
        </p:nvSpPr>
        <p:spPr>
          <a:xfrm>
            <a:off x="7385050" y="2377440"/>
            <a:ext cx="585470" cy="34290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C2C30900-A4BA-8477-1E45-A263320E10C6}"/>
              </a:ext>
            </a:extLst>
          </p:cNvPr>
          <p:cNvSpPr/>
          <p:nvPr/>
        </p:nvSpPr>
        <p:spPr>
          <a:xfrm>
            <a:off x="7385050" y="2865120"/>
            <a:ext cx="585470" cy="34290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112121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1886E-0F1D-6C56-75D0-AA1067F26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A09ABD-8066-D51C-4F87-2D97B6AB2AFE}"/>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3BE0C2C6-41FE-872F-A080-AC6C3D06BDEF}"/>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6" name="TextBox 5">
            <a:extLst>
              <a:ext uri="{FF2B5EF4-FFF2-40B4-BE49-F238E27FC236}">
                <a16:creationId xmlns:a16="http://schemas.microsoft.com/office/drawing/2014/main" id="{AF1F7C5E-2D0D-ADD2-824E-5E15A8C91972}"/>
              </a:ext>
            </a:extLst>
          </p:cNvPr>
          <p:cNvSpPr txBox="1"/>
          <p:nvPr/>
        </p:nvSpPr>
        <p:spPr>
          <a:xfrm>
            <a:off x="441960" y="1824804"/>
            <a:ext cx="6096000" cy="4760278"/>
          </a:xfrm>
          <a:prstGeom prst="rect">
            <a:avLst/>
          </a:prstGeom>
          <a:solidFill>
            <a:schemeClr val="tx1">
              <a:lumMod val="85000"/>
              <a:lumOff val="15000"/>
            </a:schemeClr>
          </a:solid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typedef</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struct</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CTLR1</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CTLR2</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reserved0</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DMAINTENR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INTFR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SWEVGR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reserved1</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reserved2</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reserved3</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CNT</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PSC</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ATRLR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timer7</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0x40001400</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Clear the counter</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6A9955"/>
                </a:solidFill>
                <a:latin typeface="Consolas" panose="020B0609020204030204" pitchFamily="49" charset="0"/>
              </a:rPr>
              <a:t>// ...</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a:t>
            </a:r>
          </a:p>
        </p:txBody>
      </p:sp>
      <p:sp>
        <p:nvSpPr>
          <p:cNvPr id="3" name="Rectangle: Rounded Corners 2">
            <a:extLst>
              <a:ext uri="{FF2B5EF4-FFF2-40B4-BE49-F238E27FC236}">
                <a16:creationId xmlns:a16="http://schemas.microsoft.com/office/drawing/2014/main" id="{4D2C3E3B-B2BC-6786-8C0D-0DC6F1B4CB04}"/>
              </a:ext>
            </a:extLst>
          </p:cNvPr>
          <p:cNvSpPr/>
          <p:nvPr/>
        </p:nvSpPr>
        <p:spPr>
          <a:xfrm>
            <a:off x="838200" y="2240280"/>
            <a:ext cx="1295400" cy="16764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 name="Rectangle: Rounded Corners 3">
            <a:extLst>
              <a:ext uri="{FF2B5EF4-FFF2-40B4-BE49-F238E27FC236}">
                <a16:creationId xmlns:a16="http://schemas.microsoft.com/office/drawing/2014/main" id="{C26721C2-D266-0E5A-D3A4-EC064BC770F3}"/>
              </a:ext>
            </a:extLst>
          </p:cNvPr>
          <p:cNvSpPr/>
          <p:nvPr/>
        </p:nvSpPr>
        <p:spPr>
          <a:xfrm>
            <a:off x="7924800" y="2240280"/>
            <a:ext cx="1943100" cy="16764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1550761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A766C-D4DC-7D19-5699-6A08CADD4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21E835-D258-A3AB-4604-9CE1A6662C07}"/>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34819C0A-7CAE-7B57-7CB7-CBF5A6F23DF0}"/>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6" name="TextBox 5">
            <a:extLst>
              <a:ext uri="{FF2B5EF4-FFF2-40B4-BE49-F238E27FC236}">
                <a16:creationId xmlns:a16="http://schemas.microsoft.com/office/drawing/2014/main" id="{4CC86C65-92E2-42A8-CE09-042656156EFC}"/>
              </a:ext>
            </a:extLst>
          </p:cNvPr>
          <p:cNvSpPr txBox="1"/>
          <p:nvPr/>
        </p:nvSpPr>
        <p:spPr>
          <a:xfrm>
            <a:off x="441960" y="1824804"/>
            <a:ext cx="6096000" cy="4760278"/>
          </a:xfrm>
          <a:prstGeom prst="rect">
            <a:avLst/>
          </a:prstGeom>
          <a:solidFill>
            <a:schemeClr val="tx1">
              <a:lumMod val="85000"/>
              <a:lumOff val="15000"/>
            </a:schemeClr>
          </a:solid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typedef</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struct</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CTLR1</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CTLR2</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reserved0</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DMAINTENR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INTFR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SWEVGR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reserved1</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reserved2</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reserved3</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CNT</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PSC</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uint16_t</a:t>
            </a: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ATRLR</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4EC9B0"/>
                </a:solidFill>
                <a:effectLst/>
                <a:latin typeface="Consolas" panose="020B0609020204030204" pitchFamily="49" charset="0"/>
              </a:rPr>
              <a:t>TIMER</a:t>
            </a:r>
            <a:r>
              <a:rPr lang="en-US" sz="1200" b="0" dirty="0">
                <a:solidFill>
                  <a:srgbClr val="CCCCCC"/>
                </a:solidFill>
                <a:effectLst/>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timer7</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0x40001400</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Clear the counter</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6A9955"/>
                </a:solidFill>
                <a:latin typeface="Consolas" panose="020B0609020204030204" pitchFamily="49" charset="0"/>
              </a:rPr>
              <a:t>// ...</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a:t>
            </a:r>
          </a:p>
        </p:txBody>
      </p:sp>
      <p:sp>
        <p:nvSpPr>
          <p:cNvPr id="3" name="Rectangle: Rounded Corners 2">
            <a:extLst>
              <a:ext uri="{FF2B5EF4-FFF2-40B4-BE49-F238E27FC236}">
                <a16:creationId xmlns:a16="http://schemas.microsoft.com/office/drawing/2014/main" id="{706BE58C-241C-C5C2-FD5B-01DACB12EA5E}"/>
              </a:ext>
            </a:extLst>
          </p:cNvPr>
          <p:cNvSpPr/>
          <p:nvPr/>
        </p:nvSpPr>
        <p:spPr>
          <a:xfrm>
            <a:off x="838200" y="2240280"/>
            <a:ext cx="1295400" cy="16764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 name="Rectangle: Rounded Corners 3">
            <a:extLst>
              <a:ext uri="{FF2B5EF4-FFF2-40B4-BE49-F238E27FC236}">
                <a16:creationId xmlns:a16="http://schemas.microsoft.com/office/drawing/2014/main" id="{800F01B7-9D1E-859E-2B68-F15D385A595F}"/>
              </a:ext>
            </a:extLst>
          </p:cNvPr>
          <p:cNvSpPr/>
          <p:nvPr/>
        </p:nvSpPr>
        <p:spPr>
          <a:xfrm>
            <a:off x="7924800" y="2240280"/>
            <a:ext cx="1943100" cy="16764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38858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B8445-B11A-C7C4-7644-A0DEF2AF5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63669B-FD0D-3CCB-17DB-44713F22C217}"/>
              </a:ext>
            </a:extLst>
          </p:cNvPr>
          <p:cNvSpPr>
            <a:spLocks noGrp="1"/>
          </p:cNvSpPr>
          <p:nvPr>
            <p:ph type="title"/>
          </p:nvPr>
        </p:nvSpPr>
        <p:spPr/>
        <p:txBody>
          <a:bodyPr/>
          <a:lstStyle/>
          <a:p>
            <a:r>
              <a:rPr lang="sv-SE"/>
              <a:t>Basic Timers – With struct?</a:t>
            </a:r>
            <a:endParaRPr lang="LID4096"/>
          </a:p>
        </p:txBody>
      </p:sp>
      <p:pic>
        <p:nvPicPr>
          <p:cNvPr id="5" name="Picture 4">
            <a:extLst>
              <a:ext uri="{FF2B5EF4-FFF2-40B4-BE49-F238E27FC236}">
                <a16:creationId xmlns:a16="http://schemas.microsoft.com/office/drawing/2014/main" id="{CB661C3E-5D04-71CE-9FCD-3091C4E7AB99}"/>
              </a:ext>
            </a:extLst>
          </p:cNvPr>
          <p:cNvPicPr>
            <a:picLocks noChangeAspect="1"/>
          </p:cNvPicPr>
          <p:nvPr/>
        </p:nvPicPr>
        <p:blipFill>
          <a:blip r:embed="rId3"/>
          <a:stretch>
            <a:fillRect/>
          </a:stretch>
        </p:blipFill>
        <p:spPr>
          <a:xfrm>
            <a:off x="7338549" y="1693971"/>
            <a:ext cx="4853451" cy="5164029"/>
          </a:xfrm>
          <a:prstGeom prst="rect">
            <a:avLst/>
          </a:prstGeom>
        </p:spPr>
      </p:pic>
      <p:sp>
        <p:nvSpPr>
          <p:cNvPr id="6" name="TextBox 5">
            <a:extLst>
              <a:ext uri="{FF2B5EF4-FFF2-40B4-BE49-F238E27FC236}">
                <a16:creationId xmlns:a16="http://schemas.microsoft.com/office/drawing/2014/main" id="{7E02B2FA-D977-52BD-E42B-1FDEDF754BAD}"/>
              </a:ext>
            </a:extLst>
          </p:cNvPr>
          <p:cNvSpPr txBox="1"/>
          <p:nvPr/>
        </p:nvSpPr>
        <p:spPr>
          <a:xfrm>
            <a:off x="441960" y="1824804"/>
            <a:ext cx="6096000" cy="3144451"/>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CTLR2</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DMAINTENR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_pad2</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INTFR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_pad3</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SWEVGR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_pad4</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reserved2</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reserved3</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_pad5</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PSC</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_pad6</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ATRLR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_pad7</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timer7</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0x40001400</a:t>
            </a:r>
            <a:r>
              <a:rPr lang="en-US" sz="1200" dirty="0">
                <a:solidFill>
                  <a:srgbClr val="CCCCCC"/>
                </a:solidFill>
                <a:latin typeface="Consolas" panose="020B0609020204030204" pitchFamily="49" charset="0"/>
              </a:rPr>
              <a:t>; </a:t>
            </a:r>
          </a:p>
        </p:txBody>
      </p:sp>
      <p:sp>
        <p:nvSpPr>
          <p:cNvPr id="7" name="TextBox 6">
            <a:extLst>
              <a:ext uri="{FF2B5EF4-FFF2-40B4-BE49-F238E27FC236}">
                <a16:creationId xmlns:a16="http://schemas.microsoft.com/office/drawing/2014/main" id="{5836C74E-091E-BEF4-5329-47C824E2C24F}"/>
              </a:ext>
            </a:extLst>
          </p:cNvPr>
          <p:cNvSpPr txBox="1"/>
          <p:nvPr/>
        </p:nvSpPr>
        <p:spPr>
          <a:xfrm>
            <a:off x="944880" y="5103371"/>
            <a:ext cx="6096000" cy="1528624"/>
          </a:xfrm>
          <a:prstGeom prst="rect">
            <a:avLst/>
          </a:prstGeom>
          <a:solidFill>
            <a:schemeClr val="tx1">
              <a:lumMod val="85000"/>
              <a:lumOff val="15000"/>
            </a:schemeClr>
          </a:solid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void</a:t>
            </a:r>
            <a:r>
              <a:rPr lang="en-US" sz="1200" b="0" dirty="0">
                <a:solidFill>
                  <a:srgbClr val="CCCCCC"/>
                </a:solidFill>
                <a:effectLst/>
                <a:latin typeface="Consolas" panose="020B0609020204030204" pitchFamily="49" charset="0"/>
              </a:rPr>
              <a:t> </a:t>
            </a:r>
            <a:r>
              <a:rPr lang="en-US" sz="1200" b="0" dirty="0">
                <a:solidFill>
                  <a:srgbClr val="DCDCAA"/>
                </a:solidFill>
                <a:effectLst/>
                <a:latin typeface="Consolas" panose="020B0609020204030204" pitchFamily="49" charset="0"/>
              </a:rPr>
              <a:t>main</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ATRLR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14400</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a:t>
            </a:r>
            <a:r>
              <a:rPr lang="en-US" sz="1200" b="0" dirty="0" err="1">
                <a:solidFill>
                  <a:srgbClr val="6A9955"/>
                </a:solidFill>
                <a:effectLst/>
                <a:latin typeface="Consolas" panose="020B0609020204030204" pitchFamily="49" charset="0"/>
              </a:rPr>
              <a:t>Vänta</a:t>
            </a:r>
            <a:r>
              <a:rPr lang="en-US" sz="1200" b="0" dirty="0">
                <a:solidFill>
                  <a:srgbClr val="6A9955"/>
                </a:solidFill>
                <a:effectLst/>
                <a:latin typeface="Consolas" panose="020B0609020204030204" pitchFamily="49" charset="0"/>
              </a:rPr>
              <a:t> 100us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PSC</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Ingen </a:t>
            </a:r>
            <a:r>
              <a:rPr lang="en-US" sz="1200" b="0" dirty="0" err="1">
                <a:solidFill>
                  <a:srgbClr val="6A9955"/>
                </a:solidFill>
                <a:effectLst/>
                <a:latin typeface="Consolas" panose="020B0609020204030204" pitchFamily="49" charset="0"/>
              </a:rPr>
              <a:t>prescaler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CNT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Clear the counter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CTLR1</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0x1</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a:t>
            </a:r>
            <a:r>
              <a:rPr lang="en-US" sz="1200" b="0" dirty="0" err="1">
                <a:solidFill>
                  <a:srgbClr val="6A9955"/>
                </a:solidFill>
                <a:effectLst/>
                <a:latin typeface="Consolas" panose="020B0609020204030204" pitchFamily="49" charset="0"/>
              </a:rPr>
              <a:t>Starta</a:t>
            </a:r>
            <a:r>
              <a:rPr lang="en-US" sz="1200" b="0" dirty="0">
                <a:solidFill>
                  <a:srgbClr val="6A9955"/>
                </a:solidFill>
                <a:effectLst/>
                <a:latin typeface="Consolas" panose="020B0609020204030204" pitchFamily="49" charset="0"/>
              </a:rPr>
              <a:t> </a:t>
            </a:r>
            <a:r>
              <a:rPr lang="en-US" sz="1200" b="0" dirty="0" err="1">
                <a:solidFill>
                  <a:srgbClr val="6A9955"/>
                </a:solidFill>
                <a:effectLst/>
                <a:latin typeface="Consolas" panose="020B0609020204030204" pitchFamily="49" charset="0"/>
              </a:rPr>
              <a:t>timern</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C586C0"/>
                </a:solidFill>
                <a:effectLst/>
                <a:latin typeface="Consolas" panose="020B0609020204030204" pitchFamily="49" charset="0"/>
              </a:rPr>
              <a:t>while</a:t>
            </a:r>
            <a:r>
              <a:rPr lang="en-US" sz="1200" b="0" dirty="0">
                <a:solidFill>
                  <a:srgbClr val="CCCCCC"/>
                </a:solidFill>
                <a:effectLst/>
                <a:latin typeface="Consolas" panose="020B0609020204030204" pitchFamily="49" charset="0"/>
              </a:rPr>
              <a:t>(</a:t>
            </a:r>
            <a:r>
              <a:rPr lang="en-US" sz="1200" b="0" dirty="0">
                <a:solidFill>
                  <a:srgbClr val="9CDCFE"/>
                </a:solidFill>
                <a:effectLst/>
                <a:latin typeface="Consolas" panose="020B0609020204030204" pitchFamily="49" charset="0"/>
              </a:rPr>
              <a:t>timer6</a:t>
            </a:r>
            <a:r>
              <a:rPr lang="en-US" sz="1200" b="0" dirty="0">
                <a:solidFill>
                  <a:srgbClr val="CCCCCC"/>
                </a:solidFill>
                <a:effectLst/>
                <a:latin typeface="Consolas" panose="020B0609020204030204" pitchFamily="49" charset="0"/>
              </a:rPr>
              <a:t>-&gt;</a:t>
            </a:r>
            <a:r>
              <a:rPr lang="en-US" sz="1200" b="0" dirty="0">
                <a:solidFill>
                  <a:srgbClr val="9CDCFE"/>
                </a:solidFill>
                <a:effectLst/>
                <a:latin typeface="Consolas" panose="020B0609020204030204" pitchFamily="49" charset="0"/>
              </a:rPr>
              <a:t>INTFR</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CCCCCC"/>
                </a:solidFill>
                <a:effectLst/>
                <a:latin typeface="Consolas" panose="020B0609020204030204" pitchFamily="49" charset="0"/>
              </a:rPr>
              <a:t>);</a:t>
            </a:r>
            <a:r>
              <a:rPr lang="en-US" sz="1200" b="0" dirty="0">
                <a:solidFill>
                  <a:srgbClr val="6A9955"/>
                </a:solidFill>
                <a:effectLst/>
                <a:latin typeface="Consolas" panose="020B0609020204030204" pitchFamily="49" charset="0"/>
              </a:rPr>
              <a:t> // </a:t>
            </a:r>
            <a:r>
              <a:rPr lang="en-US" sz="1200" b="0" dirty="0" err="1">
                <a:solidFill>
                  <a:srgbClr val="6A9955"/>
                </a:solidFill>
                <a:effectLst/>
                <a:latin typeface="Consolas" panose="020B0609020204030204" pitchFamily="49" charset="0"/>
              </a:rPr>
              <a:t>Vänta</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85268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AA513-2735-AAE2-38C8-4A816A08302D}"/>
            </a:ext>
          </a:extLst>
        </p:cNvPr>
        <p:cNvGrpSpPr/>
        <p:nvPr/>
      </p:nvGrpSpPr>
      <p:grpSpPr>
        <a:xfrm>
          <a:off x="0" y="0"/>
          <a:ext cx="0" cy="0"/>
          <a:chOff x="0" y="0"/>
          <a:chExt cx="0" cy="0"/>
        </a:xfrm>
      </p:grpSpPr>
    </p:spTree>
    <p:extLst>
      <p:ext uri="{BB962C8B-B14F-4D97-AF65-F5344CB8AC3E}">
        <p14:creationId xmlns:p14="http://schemas.microsoft.com/office/powerpoint/2010/main" val="35304903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E2214-B006-D5AC-8B52-86993045EECD}"/>
              </a:ext>
            </a:extLst>
          </p:cNvPr>
          <p:cNvSpPr>
            <a:spLocks noGrp="1"/>
          </p:cNvSpPr>
          <p:nvPr>
            <p:ph type="title"/>
          </p:nvPr>
        </p:nvSpPr>
        <p:spPr/>
        <p:txBody>
          <a:bodyPr/>
          <a:lstStyle/>
          <a:p>
            <a:r>
              <a:rPr lang="sv-SE"/>
              <a:t>Bit access</a:t>
            </a:r>
            <a:endParaRPr lang="LID4096"/>
          </a:p>
        </p:txBody>
      </p:sp>
      <p:pic>
        <p:nvPicPr>
          <p:cNvPr id="7" name="Picture 6">
            <a:extLst>
              <a:ext uri="{FF2B5EF4-FFF2-40B4-BE49-F238E27FC236}">
                <a16:creationId xmlns:a16="http://schemas.microsoft.com/office/drawing/2014/main" id="{E222E975-31D3-051C-ABFA-1420F7E1C183}"/>
              </a:ext>
            </a:extLst>
          </p:cNvPr>
          <p:cNvPicPr>
            <a:picLocks noChangeAspect="1"/>
          </p:cNvPicPr>
          <p:nvPr/>
        </p:nvPicPr>
        <p:blipFill>
          <a:blip r:embed="rId3"/>
          <a:stretch>
            <a:fillRect/>
          </a:stretch>
        </p:blipFill>
        <p:spPr>
          <a:xfrm>
            <a:off x="1461440" y="2057208"/>
            <a:ext cx="9269119" cy="2743583"/>
          </a:xfrm>
          <a:prstGeom prst="rect">
            <a:avLst/>
          </a:prstGeom>
        </p:spPr>
      </p:pic>
      <p:sp>
        <p:nvSpPr>
          <p:cNvPr id="3" name="TextBox 2">
            <a:extLst>
              <a:ext uri="{FF2B5EF4-FFF2-40B4-BE49-F238E27FC236}">
                <a16:creationId xmlns:a16="http://schemas.microsoft.com/office/drawing/2014/main" id="{4538EBF6-4FFE-97DB-0151-019EAD6E91F6}"/>
              </a:ext>
            </a:extLst>
          </p:cNvPr>
          <p:cNvSpPr txBox="1"/>
          <p:nvPr/>
        </p:nvSpPr>
        <p:spPr>
          <a:xfrm>
            <a:off x="4634559" y="3954158"/>
            <a:ext cx="6096000" cy="2426305"/>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C586C0"/>
                </a:solidFill>
                <a:latin typeface="Consolas" panose="020B0609020204030204" pitchFamily="49" charset="0"/>
              </a:rPr>
              <a:t>#define</a:t>
            </a:r>
            <a:r>
              <a:rPr lang="en-US" sz="1200" dirty="0">
                <a:solidFill>
                  <a:srgbClr val="569CD6"/>
                </a:solidFill>
                <a:latin typeface="Consolas" panose="020B0609020204030204" pitchFamily="49" charset="0"/>
              </a:rPr>
              <a:t> TIM6_CTLR1_CEN_BIT </a:t>
            </a:r>
            <a:r>
              <a:rPr lang="en-US" sz="1200" dirty="0">
                <a:solidFill>
                  <a:srgbClr val="B5CEA8"/>
                </a:solidFill>
                <a:latin typeface="Consolas" panose="020B0609020204030204" pitchFamily="49" charset="0"/>
              </a:rPr>
              <a:t>0x1</a:t>
            </a:r>
            <a:endParaRPr lang="en-US" sz="1200" dirty="0">
              <a:solidFill>
                <a:srgbClr val="CCCCCC"/>
              </a:solidFill>
              <a:latin typeface="Consolas" panose="020B0609020204030204" pitchFamily="49" charset="0"/>
            </a:endParaRPr>
          </a:p>
          <a:p>
            <a:pPr>
              <a:lnSpc>
                <a:spcPts val="1425"/>
              </a:lnSpc>
              <a:buNone/>
            </a:pPr>
            <a:r>
              <a:rPr lang="en-US" sz="1200" dirty="0">
                <a:solidFill>
                  <a:srgbClr val="C586C0"/>
                </a:solidFill>
                <a:latin typeface="Consolas" panose="020B0609020204030204" pitchFamily="49" charset="0"/>
              </a:rPr>
              <a:t>#define</a:t>
            </a:r>
            <a:r>
              <a:rPr lang="en-US" sz="1200" dirty="0">
                <a:solidFill>
                  <a:srgbClr val="569CD6"/>
                </a:solidFill>
                <a:latin typeface="Consolas" panose="020B0609020204030204" pitchFamily="49" charset="0"/>
              </a:rPr>
              <a:t> TIM6_CTLR1_OPM_BIT </a:t>
            </a:r>
            <a:r>
              <a:rPr lang="en-US" sz="1200" dirty="0">
                <a:solidFill>
                  <a:srgbClr val="B5CEA8"/>
                </a:solidFill>
                <a:latin typeface="Consolas" panose="020B0609020204030204" pitchFamily="49" charset="0"/>
              </a:rPr>
              <a:t>0x8</a:t>
            </a:r>
            <a:endParaRPr lang="en-US" sz="1200" dirty="0">
              <a:solidFill>
                <a:srgbClr val="CCCCCC"/>
              </a:solidFill>
              <a:latin typeface="Consolas" panose="020B0609020204030204" pitchFamily="49" charset="0"/>
            </a:endParaRP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ATRLR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14400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a:t>
            </a:r>
            <a:r>
              <a:rPr lang="en-US" sz="1200" dirty="0" err="1">
                <a:solidFill>
                  <a:srgbClr val="6A9955"/>
                </a:solidFill>
                <a:latin typeface="Consolas" panose="020B0609020204030204" pitchFamily="49" charset="0"/>
              </a:rPr>
              <a:t>Vänta</a:t>
            </a:r>
            <a:r>
              <a:rPr lang="en-US" sz="1200" dirty="0">
                <a:solidFill>
                  <a:srgbClr val="6A9955"/>
                </a:solidFill>
                <a:latin typeface="Consolas" panose="020B0609020204030204" pitchFamily="49" charset="0"/>
              </a:rPr>
              <a:t> 100us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PSC</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Ingen </a:t>
            </a:r>
            <a:r>
              <a:rPr lang="en-US" sz="1200" dirty="0" err="1">
                <a:solidFill>
                  <a:srgbClr val="6A9955"/>
                </a:solidFill>
                <a:latin typeface="Consolas" panose="020B0609020204030204" pitchFamily="49" charset="0"/>
              </a:rPr>
              <a:t>prescaler</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Clear the counter</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6A9955"/>
                </a:solidFill>
                <a:latin typeface="Consolas" panose="020B0609020204030204" pitchFamily="49" charset="0"/>
              </a:rPr>
              <a:t>// </a:t>
            </a:r>
            <a:r>
              <a:rPr lang="en-US" sz="1200" dirty="0" err="1">
                <a:solidFill>
                  <a:srgbClr val="6A9955"/>
                </a:solidFill>
                <a:latin typeface="Consolas" panose="020B0609020204030204" pitchFamily="49" charset="0"/>
              </a:rPr>
              <a:t>Starta</a:t>
            </a:r>
            <a:r>
              <a:rPr lang="en-US" sz="1200" dirty="0">
                <a:solidFill>
                  <a:srgbClr val="6A9955"/>
                </a:solidFill>
                <a:latin typeface="Consolas" panose="020B0609020204030204" pitchFamily="49" charset="0"/>
              </a:rPr>
              <a:t> </a:t>
            </a:r>
            <a:r>
              <a:rPr lang="en-US" sz="1200" dirty="0" err="1">
                <a:solidFill>
                  <a:srgbClr val="6A9955"/>
                </a:solidFill>
                <a:latin typeface="Consolas" panose="020B0609020204030204" pitchFamily="49" charset="0"/>
              </a:rPr>
              <a:t>timern</a:t>
            </a:r>
            <a:r>
              <a:rPr lang="en-US" sz="1200" dirty="0">
                <a:solidFill>
                  <a:srgbClr val="6A9955"/>
                </a:solidFill>
                <a:latin typeface="Consolas" panose="020B0609020204030204" pitchFamily="49" charset="0"/>
              </a:rPr>
              <a:t> </a:t>
            </a:r>
            <a:r>
              <a:rPr lang="en-US" sz="1200" dirty="0" err="1">
                <a:solidFill>
                  <a:srgbClr val="6A9955"/>
                </a:solidFill>
                <a:latin typeface="Consolas" panose="020B0609020204030204" pitchFamily="49" charset="0"/>
              </a:rPr>
              <a:t>i</a:t>
            </a:r>
            <a:r>
              <a:rPr lang="en-US" sz="1200" dirty="0">
                <a:solidFill>
                  <a:srgbClr val="6A9955"/>
                </a:solidFill>
                <a:latin typeface="Consolas" panose="020B0609020204030204" pitchFamily="49" charset="0"/>
              </a:rPr>
              <a:t> One Pulse Mode</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TIM6_CTLR1_OPM_BIT</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TIM6_CTLR1_OPM_BIT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C586C0"/>
                </a:solidFill>
                <a:latin typeface="Consolas" panose="020B0609020204030204" pitchFamily="49" charset="0"/>
              </a:rPr>
              <a:t>while</a:t>
            </a:r>
            <a:r>
              <a:rPr lang="en-US" sz="1200" dirty="0">
                <a:solidFill>
                  <a:srgbClr val="CCCCCC"/>
                </a:solidFill>
                <a:latin typeface="Consolas" panose="020B0609020204030204" pitchFamily="49" charset="0"/>
              </a:rPr>
              <a:t>(</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INTFR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a:t>
            </a:r>
            <a:r>
              <a:rPr lang="en-US" sz="1200" dirty="0" err="1">
                <a:solidFill>
                  <a:srgbClr val="6A9955"/>
                </a:solidFill>
                <a:latin typeface="Consolas" panose="020B0609020204030204" pitchFamily="49" charset="0"/>
              </a:rPr>
              <a:t>Vänta</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a:t>
            </a:r>
          </a:p>
        </p:txBody>
      </p:sp>
    </p:spTree>
    <p:extLst>
      <p:ext uri="{BB962C8B-B14F-4D97-AF65-F5344CB8AC3E}">
        <p14:creationId xmlns:p14="http://schemas.microsoft.com/office/powerpoint/2010/main" val="2987909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54812-096C-EB9C-3E3C-FE2A6FAFDF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D231B-E914-B0AD-9D0D-B5507A49C7F6}"/>
              </a:ext>
            </a:extLst>
          </p:cNvPr>
          <p:cNvSpPr>
            <a:spLocks noGrp="1"/>
          </p:cNvSpPr>
          <p:nvPr>
            <p:ph type="title"/>
          </p:nvPr>
        </p:nvSpPr>
        <p:spPr/>
        <p:txBody>
          <a:bodyPr/>
          <a:lstStyle/>
          <a:p>
            <a:r>
              <a:rPr lang="sv-SE"/>
              <a:t>Bit access</a:t>
            </a:r>
            <a:endParaRPr lang="LID4096"/>
          </a:p>
        </p:txBody>
      </p:sp>
      <p:pic>
        <p:nvPicPr>
          <p:cNvPr id="7" name="Picture 6">
            <a:extLst>
              <a:ext uri="{FF2B5EF4-FFF2-40B4-BE49-F238E27FC236}">
                <a16:creationId xmlns:a16="http://schemas.microsoft.com/office/drawing/2014/main" id="{F045B33D-68B2-D218-AAFF-1FDD9AC5498C}"/>
              </a:ext>
            </a:extLst>
          </p:cNvPr>
          <p:cNvPicPr>
            <a:picLocks noChangeAspect="1"/>
          </p:cNvPicPr>
          <p:nvPr/>
        </p:nvPicPr>
        <p:blipFill>
          <a:blip r:embed="rId3"/>
          <a:stretch>
            <a:fillRect/>
          </a:stretch>
        </p:blipFill>
        <p:spPr>
          <a:xfrm>
            <a:off x="1461440" y="2057208"/>
            <a:ext cx="9269119" cy="2743583"/>
          </a:xfrm>
          <a:prstGeom prst="rect">
            <a:avLst/>
          </a:prstGeom>
        </p:spPr>
      </p:pic>
      <p:sp>
        <p:nvSpPr>
          <p:cNvPr id="3" name="TextBox 2">
            <a:extLst>
              <a:ext uri="{FF2B5EF4-FFF2-40B4-BE49-F238E27FC236}">
                <a16:creationId xmlns:a16="http://schemas.microsoft.com/office/drawing/2014/main" id="{E7CDC29F-3469-DA99-A97F-0EF373F7CE1E}"/>
              </a:ext>
            </a:extLst>
          </p:cNvPr>
          <p:cNvSpPr txBox="1"/>
          <p:nvPr/>
        </p:nvSpPr>
        <p:spPr>
          <a:xfrm>
            <a:off x="778839" y="3895443"/>
            <a:ext cx="3732201" cy="1708160"/>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cen</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udis</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urs</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opm</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3</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Three reserved bits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arpe</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8</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Eight reserved bits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CTLR1_t</a:t>
            </a:r>
            <a:r>
              <a:rPr lang="en-US" sz="1200" dirty="0">
                <a:solidFill>
                  <a:srgbClr val="CCCCCC"/>
                </a:solidFill>
                <a:latin typeface="Consolas" panose="020B0609020204030204" pitchFamily="49" charset="0"/>
              </a:rPr>
              <a:t>;</a:t>
            </a:r>
          </a:p>
        </p:txBody>
      </p:sp>
      <p:sp>
        <p:nvSpPr>
          <p:cNvPr id="8" name="TextBox 7">
            <a:extLst>
              <a:ext uri="{FF2B5EF4-FFF2-40B4-BE49-F238E27FC236}">
                <a16:creationId xmlns:a16="http://schemas.microsoft.com/office/drawing/2014/main" id="{1F68BD06-1E0D-AC90-D9A9-55CF1AE5E107}"/>
              </a:ext>
            </a:extLst>
          </p:cNvPr>
          <p:cNvSpPr txBox="1"/>
          <p:nvPr/>
        </p:nvSpPr>
        <p:spPr>
          <a:xfrm>
            <a:off x="4827253" y="2782138"/>
            <a:ext cx="3732201" cy="3503523"/>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CTLR1_t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CTLR2</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DMAINTENR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_pad2</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INTFR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_pad3</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SWEVGR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_pad4</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reserved2</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reserved3</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_pad5</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PSC</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_pad6</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ATRLR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_pad7</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endParaRPr lang="en-US" sz="1200" dirty="0">
              <a:solidFill>
                <a:srgbClr val="CCCCCC"/>
              </a:solidFill>
              <a:latin typeface="Consolas" panose="020B0609020204030204" pitchFamily="49" charset="0"/>
            </a:endParaRPr>
          </a:p>
          <a:p>
            <a:pPr>
              <a:lnSpc>
                <a:spcPts val="1425"/>
              </a:lnSpc>
              <a:buNone/>
            </a:pP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endParaRPr lang="en-US" sz="1200" dirty="0">
              <a:solidFill>
                <a:srgbClr val="CCCCCC"/>
              </a:solidFill>
              <a:latin typeface="Consolas" panose="020B0609020204030204" pitchFamily="49" charset="0"/>
            </a:endParaRPr>
          </a:p>
        </p:txBody>
      </p:sp>
      <p:sp>
        <p:nvSpPr>
          <p:cNvPr id="9" name="TextBox 8">
            <a:extLst>
              <a:ext uri="{FF2B5EF4-FFF2-40B4-BE49-F238E27FC236}">
                <a16:creationId xmlns:a16="http://schemas.microsoft.com/office/drawing/2014/main" id="{1AFC4E9C-EB1D-5126-B8AE-3FDB65063BEB}"/>
              </a:ext>
            </a:extLst>
          </p:cNvPr>
          <p:cNvSpPr txBox="1"/>
          <p:nvPr/>
        </p:nvSpPr>
        <p:spPr>
          <a:xfrm>
            <a:off x="8964913" y="4533899"/>
            <a:ext cx="2815607" cy="1169551"/>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int</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ctrl1</a:t>
            </a:r>
            <a:r>
              <a:rPr lang="en-US" sz="1200" dirty="0">
                <a:solidFill>
                  <a:srgbClr val="CCCCCC"/>
                </a:solidFill>
                <a:latin typeface="Consolas" panose="020B0609020204030204" pitchFamily="49" charset="0"/>
              </a:rPr>
              <a:t>.</a:t>
            </a:r>
            <a:r>
              <a:rPr lang="en-US" sz="1200" dirty="0">
                <a:solidFill>
                  <a:srgbClr val="9CDCFE"/>
                </a:solidFill>
                <a:latin typeface="Consolas" panose="020B0609020204030204" pitchFamily="49" charset="0"/>
              </a:rPr>
              <a:t>opm</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ctrl1</a:t>
            </a:r>
            <a:r>
              <a:rPr lang="en-US" sz="1200" dirty="0">
                <a:solidFill>
                  <a:srgbClr val="CCCCCC"/>
                </a:solidFill>
                <a:latin typeface="Consolas" panose="020B0609020204030204" pitchFamily="49" charset="0"/>
              </a:rPr>
              <a:t>.</a:t>
            </a:r>
            <a:r>
              <a:rPr lang="en-US" sz="1200" dirty="0">
                <a:solidFill>
                  <a:srgbClr val="9CDCFE"/>
                </a:solidFill>
                <a:latin typeface="Consolas" panose="020B0609020204030204" pitchFamily="49" charset="0"/>
              </a:rPr>
              <a:t>cen</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a:t>
            </a:r>
          </a:p>
          <a:p>
            <a:pPr>
              <a:lnSpc>
                <a:spcPts val="1425"/>
              </a:lnSpc>
              <a:buNone/>
            </a:pPr>
            <a:endParaRPr lang="en-US" sz="120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135006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0D4FB-FD1B-2FAD-B78B-FAC4E66D1E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368C39-4E16-765C-57CE-9F103D3C47AA}"/>
              </a:ext>
            </a:extLst>
          </p:cNvPr>
          <p:cNvSpPr>
            <a:spLocks noGrp="1"/>
          </p:cNvSpPr>
          <p:nvPr>
            <p:ph type="title"/>
          </p:nvPr>
        </p:nvSpPr>
        <p:spPr/>
        <p:txBody>
          <a:bodyPr/>
          <a:lstStyle/>
          <a:p>
            <a:r>
              <a:rPr lang="sv-SE"/>
              <a:t>Bit access</a:t>
            </a:r>
            <a:endParaRPr lang="LID4096"/>
          </a:p>
        </p:txBody>
      </p:sp>
      <p:pic>
        <p:nvPicPr>
          <p:cNvPr id="7" name="Picture 6">
            <a:extLst>
              <a:ext uri="{FF2B5EF4-FFF2-40B4-BE49-F238E27FC236}">
                <a16:creationId xmlns:a16="http://schemas.microsoft.com/office/drawing/2014/main" id="{8B3FAF64-911E-865B-297D-68E17B6FDF94}"/>
              </a:ext>
            </a:extLst>
          </p:cNvPr>
          <p:cNvPicPr>
            <a:picLocks noChangeAspect="1"/>
          </p:cNvPicPr>
          <p:nvPr/>
        </p:nvPicPr>
        <p:blipFill>
          <a:blip r:embed="rId3"/>
          <a:stretch>
            <a:fillRect/>
          </a:stretch>
        </p:blipFill>
        <p:spPr>
          <a:xfrm>
            <a:off x="1461440" y="2057208"/>
            <a:ext cx="9269119" cy="2743583"/>
          </a:xfrm>
          <a:prstGeom prst="rect">
            <a:avLst/>
          </a:prstGeom>
        </p:spPr>
      </p:pic>
      <p:sp>
        <p:nvSpPr>
          <p:cNvPr id="3" name="TextBox 2">
            <a:extLst>
              <a:ext uri="{FF2B5EF4-FFF2-40B4-BE49-F238E27FC236}">
                <a16:creationId xmlns:a16="http://schemas.microsoft.com/office/drawing/2014/main" id="{324EFC85-0D81-F1C4-0D63-92DCED81B267}"/>
              </a:ext>
            </a:extLst>
          </p:cNvPr>
          <p:cNvSpPr txBox="1"/>
          <p:nvPr/>
        </p:nvSpPr>
        <p:spPr>
          <a:xfrm>
            <a:off x="778839" y="3895443"/>
            <a:ext cx="3732201" cy="1708160"/>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cen</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udis</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urs</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opm</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3</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Three reserved bits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arpe</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8</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Eight reserved bits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CTLR1_t</a:t>
            </a:r>
            <a:r>
              <a:rPr lang="en-US" sz="1200" dirty="0">
                <a:solidFill>
                  <a:srgbClr val="CCCCCC"/>
                </a:solidFill>
                <a:latin typeface="Consolas" panose="020B0609020204030204" pitchFamily="49" charset="0"/>
              </a:rPr>
              <a:t>;</a:t>
            </a:r>
          </a:p>
        </p:txBody>
      </p:sp>
      <p:sp>
        <p:nvSpPr>
          <p:cNvPr id="8" name="TextBox 7">
            <a:extLst>
              <a:ext uri="{FF2B5EF4-FFF2-40B4-BE49-F238E27FC236}">
                <a16:creationId xmlns:a16="http://schemas.microsoft.com/office/drawing/2014/main" id="{E3CA326A-3300-3BCB-C08A-3725ECD70CA9}"/>
              </a:ext>
            </a:extLst>
          </p:cNvPr>
          <p:cNvSpPr txBox="1"/>
          <p:nvPr/>
        </p:nvSpPr>
        <p:spPr>
          <a:xfrm>
            <a:off x="4659613" y="1889490"/>
            <a:ext cx="5551187" cy="3144451"/>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typedef</a:t>
            </a:r>
            <a:r>
              <a:rPr lang="en-US" sz="1200" dirty="0">
                <a:solidFill>
                  <a:srgbClr val="CCCCCC"/>
                </a:solidFill>
                <a:latin typeface="Consolas" panose="020B0609020204030204" pitchFamily="49" charset="0"/>
              </a:rPr>
              <a:t> </a:t>
            </a:r>
            <a:r>
              <a:rPr lang="en-US" sz="1200" dirty="0">
                <a:solidFill>
                  <a:srgbClr val="569CD6"/>
                </a:solidFill>
                <a:latin typeface="Consolas" panose="020B0609020204030204" pitchFamily="49" charset="0"/>
              </a:rPr>
              <a:t>struct</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b="1" dirty="0">
                <a:solidFill>
                  <a:srgbClr val="569CD6"/>
                </a:solidFill>
                <a:latin typeface="Consolas" panose="020B0609020204030204" pitchFamily="49" charset="0"/>
              </a:rPr>
              <a:t>union</a:t>
            </a:r>
            <a:r>
              <a:rPr lang="en-US" sz="1200" b="1" dirty="0">
                <a:solidFill>
                  <a:srgbClr val="CCCCCC"/>
                </a:solidFill>
                <a:latin typeface="Consolas" panose="020B0609020204030204" pitchFamily="49" charset="0"/>
              </a:rPr>
              <a:t> { </a:t>
            </a:r>
            <a:r>
              <a:rPr lang="en-US" sz="1200" b="1" dirty="0">
                <a:solidFill>
                  <a:srgbClr val="4EC9B0"/>
                </a:solidFill>
                <a:latin typeface="Consolas" panose="020B0609020204030204" pitchFamily="49" charset="0"/>
              </a:rPr>
              <a:t>uint16_t</a:t>
            </a:r>
            <a:r>
              <a:rPr lang="en-US" sz="1200" b="1" dirty="0">
                <a:solidFill>
                  <a:srgbClr val="CCCCCC"/>
                </a:solidFill>
                <a:latin typeface="Consolas" panose="020B0609020204030204" pitchFamily="49" charset="0"/>
              </a:rPr>
              <a:t> </a:t>
            </a:r>
            <a:r>
              <a:rPr lang="en-US" sz="1200" b="1" dirty="0">
                <a:solidFill>
                  <a:srgbClr val="9CDCFE"/>
                </a:solidFill>
                <a:latin typeface="Consolas" panose="020B0609020204030204" pitchFamily="49" charset="0"/>
              </a:rPr>
              <a:t>CTLR1</a:t>
            </a:r>
            <a:r>
              <a:rPr lang="en-US" sz="1200" b="1" dirty="0">
                <a:solidFill>
                  <a:srgbClr val="CCCCCC"/>
                </a:solidFill>
                <a:latin typeface="Consolas" panose="020B0609020204030204" pitchFamily="49" charset="0"/>
              </a:rPr>
              <a:t>; </a:t>
            </a:r>
            <a:r>
              <a:rPr lang="en-US" sz="1200" b="1" dirty="0">
                <a:solidFill>
                  <a:srgbClr val="4EC9B0"/>
                </a:solidFill>
                <a:latin typeface="Consolas" panose="020B0609020204030204" pitchFamily="49" charset="0"/>
              </a:rPr>
              <a:t>CTLR1_t</a:t>
            </a:r>
            <a:r>
              <a:rPr lang="en-US" sz="1200" b="1" dirty="0">
                <a:solidFill>
                  <a:srgbClr val="CCCCCC"/>
                </a:solidFill>
                <a:latin typeface="Consolas" panose="020B0609020204030204" pitchFamily="49" charset="0"/>
              </a:rPr>
              <a:t> </a:t>
            </a:r>
            <a:r>
              <a:rPr lang="en-US" sz="1200" b="1" dirty="0">
                <a:solidFill>
                  <a:srgbClr val="9CDCFE"/>
                </a:solidFill>
                <a:latin typeface="Consolas" panose="020B0609020204030204" pitchFamily="49" charset="0"/>
              </a:rPr>
              <a:t>ctlr1</a:t>
            </a:r>
            <a:r>
              <a:rPr lang="en-US" sz="1200" b="1" dirty="0">
                <a:solidFill>
                  <a:srgbClr val="CCCCCC"/>
                </a:solidFill>
                <a:latin typeface="Consolas" panose="020B0609020204030204" pitchFamily="49" charset="0"/>
              </a:rPr>
              <a:t>; };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CTLR2</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_pad1</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reserved0</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DMAINTENR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_pad2</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INTFR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_pad3</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SWEVGR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_pad4</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reserved1</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reserved2</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uint32_t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reserved3</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CNT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_pad5</a:t>
            </a:r>
            <a:r>
              <a:rPr lang="en-US" sz="1200" dirty="0">
                <a:solidFill>
                  <a:srgbClr val="CCCCCC"/>
                </a:solidFill>
                <a:latin typeface="Consolas" panose="020B0609020204030204" pitchFamily="49" charset="0"/>
              </a:rPr>
              <a:t>; </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PSC</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_pad6</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ATRLR</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uint16_t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_pad7</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p>
          <a:p>
            <a:pPr>
              <a:lnSpc>
                <a:spcPts val="1425"/>
              </a:lnSpc>
              <a:buNone/>
            </a:pPr>
            <a:br>
              <a:rPr lang="en-US" sz="1200" dirty="0">
                <a:solidFill>
                  <a:srgbClr val="CCCCCC"/>
                </a:solidFill>
                <a:latin typeface="Consolas" panose="020B0609020204030204" pitchFamily="49" charset="0"/>
              </a:rPr>
            </a:br>
            <a:r>
              <a:rPr lang="en-US" sz="1200" dirty="0">
                <a:solidFill>
                  <a:srgbClr val="569CD6"/>
                </a:solidFill>
                <a:latin typeface="Consolas" panose="020B0609020204030204" pitchFamily="49" charset="0"/>
              </a:rPr>
              <a:t>volatile</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4EC9B0"/>
                </a:solidFill>
                <a:latin typeface="Consolas" panose="020B0609020204030204" pitchFamily="49" charset="0"/>
              </a:rPr>
              <a:t>TIMER</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a:t>
            </a:r>
            <a:r>
              <a:rPr lang="en-US" sz="1200" dirty="0">
                <a:solidFill>
                  <a:srgbClr val="B5CEA8"/>
                </a:solidFill>
                <a:latin typeface="Consolas" panose="020B0609020204030204" pitchFamily="49" charset="0"/>
              </a:rPr>
              <a:t>0x40001000</a:t>
            </a:r>
            <a:r>
              <a:rPr lang="en-US" sz="1200" dirty="0">
                <a:solidFill>
                  <a:srgbClr val="CCCCCC"/>
                </a:solidFill>
                <a:latin typeface="Consolas" panose="020B0609020204030204" pitchFamily="49" charset="0"/>
              </a:rPr>
              <a:t>;</a:t>
            </a:r>
          </a:p>
          <a:p>
            <a:pPr>
              <a:lnSpc>
                <a:spcPts val="1425"/>
              </a:lnSpc>
              <a:buNone/>
            </a:pPr>
            <a:endParaRPr lang="en-US" sz="1200" dirty="0">
              <a:solidFill>
                <a:srgbClr val="CCCCCC"/>
              </a:solidFill>
              <a:latin typeface="Consolas" panose="020B0609020204030204" pitchFamily="49" charset="0"/>
            </a:endParaRPr>
          </a:p>
        </p:txBody>
      </p:sp>
      <p:sp>
        <p:nvSpPr>
          <p:cNvPr id="9" name="TextBox 8">
            <a:extLst>
              <a:ext uri="{FF2B5EF4-FFF2-40B4-BE49-F238E27FC236}">
                <a16:creationId xmlns:a16="http://schemas.microsoft.com/office/drawing/2014/main" id="{10FDDCEF-1E79-6D19-F061-7B4A8DD6A7B3}"/>
              </a:ext>
            </a:extLst>
          </p:cNvPr>
          <p:cNvSpPr txBox="1"/>
          <p:nvPr/>
        </p:nvSpPr>
        <p:spPr>
          <a:xfrm>
            <a:off x="5387341" y="5167311"/>
            <a:ext cx="6499860" cy="990015"/>
          </a:xfrm>
          <a:prstGeom prst="rect">
            <a:avLst/>
          </a:prstGeom>
          <a:solidFill>
            <a:schemeClr val="tx1">
              <a:lumMod val="85000"/>
              <a:lumOff val="15000"/>
            </a:schemeClr>
          </a:solidFill>
        </p:spPr>
        <p:txBody>
          <a:bodyPr wrap="square">
            <a:spAutoFit/>
          </a:bodyPr>
          <a:lstStyle/>
          <a:p>
            <a:pPr>
              <a:lnSpc>
                <a:spcPts val="1425"/>
              </a:lnSpc>
              <a:buNone/>
            </a:pPr>
            <a:r>
              <a:rPr lang="en-US" sz="1200" dirty="0">
                <a:solidFill>
                  <a:srgbClr val="569CD6"/>
                </a:solidFill>
                <a:latin typeface="Consolas" panose="020B0609020204030204" pitchFamily="49" charset="0"/>
              </a:rPr>
              <a:t>int</a:t>
            </a:r>
            <a:r>
              <a:rPr lang="en-US" sz="1200" dirty="0">
                <a:solidFill>
                  <a:srgbClr val="CCCCCC"/>
                </a:solidFill>
                <a:latin typeface="Consolas" panose="020B0609020204030204" pitchFamily="49" charset="0"/>
              </a:rPr>
              <a:t> </a:t>
            </a:r>
            <a:r>
              <a:rPr lang="en-US" sz="1200" dirty="0">
                <a:solidFill>
                  <a:srgbClr val="DCDCAA"/>
                </a:solidFill>
                <a:latin typeface="Consolas" panose="020B0609020204030204" pitchFamily="49" charset="0"/>
              </a:rPr>
              <a:t>main</a:t>
            </a:r>
            <a:r>
              <a:rPr lang="en-US" sz="1200" dirty="0">
                <a:solidFill>
                  <a:srgbClr val="CCCCCC"/>
                </a:solidFill>
                <a:latin typeface="Consolas" panose="020B0609020204030204" pitchFamily="49" charset="0"/>
              </a:rPr>
              <a:t>(</a:t>
            </a:r>
            <a:r>
              <a:rPr lang="en-US" sz="1200" dirty="0">
                <a:solidFill>
                  <a:srgbClr val="569CD6"/>
                </a:solidFill>
                <a:latin typeface="Consolas" panose="020B0609020204030204" pitchFamily="49" charset="0"/>
              </a:rPr>
              <a:t>void</a:t>
            </a: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a:t>
            </a: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0b1011</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fast, single write</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    </a:t>
            </a:r>
            <a:r>
              <a:rPr lang="en-US" sz="1200" dirty="0">
                <a:solidFill>
                  <a:srgbClr val="9CDCFE"/>
                </a:solidFill>
                <a:latin typeface="Consolas" panose="020B0609020204030204" pitchFamily="49" charset="0"/>
              </a:rPr>
              <a:t>timer6</a:t>
            </a:r>
            <a:r>
              <a:rPr lang="en-US" sz="1200" dirty="0">
                <a:solidFill>
                  <a:srgbClr val="CCCCCC"/>
                </a:solidFill>
                <a:latin typeface="Consolas" panose="020B0609020204030204" pitchFamily="49" charset="0"/>
              </a:rPr>
              <a:t>-&gt;</a:t>
            </a:r>
            <a:r>
              <a:rPr lang="en-US" sz="1200" dirty="0">
                <a:solidFill>
                  <a:srgbClr val="9CDCFE"/>
                </a:solidFill>
                <a:latin typeface="Consolas" panose="020B0609020204030204" pitchFamily="49" charset="0"/>
              </a:rPr>
              <a:t>ctlr1</a:t>
            </a:r>
            <a:r>
              <a:rPr lang="en-US" sz="1200" dirty="0">
                <a:solidFill>
                  <a:srgbClr val="CCCCCC"/>
                </a:solidFill>
                <a:latin typeface="Consolas" panose="020B0609020204030204" pitchFamily="49" charset="0"/>
              </a:rPr>
              <a:t>.</a:t>
            </a:r>
            <a:r>
              <a:rPr lang="en-US" sz="1200" dirty="0">
                <a:solidFill>
                  <a:srgbClr val="9CDCFE"/>
                </a:solidFill>
                <a:latin typeface="Consolas" panose="020B0609020204030204" pitchFamily="49" charset="0"/>
              </a:rPr>
              <a:t>arpe</a:t>
            </a:r>
            <a:r>
              <a:rPr lang="en-US" sz="1200" dirty="0">
                <a:solidFill>
                  <a:srgbClr val="CCCCCC"/>
                </a:solidFill>
                <a:latin typeface="Consolas" panose="020B0609020204030204" pitchFamily="49" charset="0"/>
              </a:rPr>
              <a:t> </a:t>
            </a:r>
            <a:r>
              <a:rPr lang="en-US" sz="1200" dirty="0">
                <a:solidFill>
                  <a:srgbClr val="D4D4D4"/>
                </a:solidFill>
                <a:latin typeface="Consolas" panose="020B0609020204030204" pitchFamily="49" charset="0"/>
              </a:rPr>
              <a:t>=</a:t>
            </a:r>
            <a:r>
              <a:rPr lang="en-US" sz="1200" dirty="0">
                <a:solidFill>
                  <a:srgbClr val="CCCCCC"/>
                </a:solidFill>
                <a:latin typeface="Consolas" panose="020B0609020204030204" pitchFamily="49" charset="0"/>
              </a:rPr>
              <a:t> </a:t>
            </a:r>
            <a:r>
              <a:rPr lang="en-US" sz="1200" dirty="0">
                <a:solidFill>
                  <a:srgbClr val="B5CEA8"/>
                </a:solidFill>
                <a:latin typeface="Consolas" panose="020B0609020204030204" pitchFamily="49" charset="0"/>
              </a:rPr>
              <a:t>1</a:t>
            </a:r>
            <a:r>
              <a:rPr lang="en-US" sz="1200" dirty="0">
                <a:solidFill>
                  <a:srgbClr val="CCCCCC"/>
                </a:solidFill>
                <a:latin typeface="Consolas" panose="020B0609020204030204" pitchFamily="49" charset="0"/>
              </a:rPr>
              <a:t>;</a:t>
            </a:r>
            <a:r>
              <a:rPr lang="en-US" sz="1200" dirty="0">
                <a:solidFill>
                  <a:srgbClr val="6A9955"/>
                </a:solidFill>
                <a:latin typeface="Consolas" panose="020B0609020204030204" pitchFamily="49" charset="0"/>
              </a:rPr>
              <a:t>     // readable, fine-grained access</a:t>
            </a:r>
            <a:endParaRPr lang="en-US" sz="1200" dirty="0">
              <a:solidFill>
                <a:srgbClr val="CCCCCC"/>
              </a:solidFill>
              <a:latin typeface="Consolas" panose="020B0609020204030204" pitchFamily="49" charset="0"/>
            </a:endParaRPr>
          </a:p>
          <a:p>
            <a:pPr>
              <a:lnSpc>
                <a:spcPts val="1425"/>
              </a:lnSpc>
              <a:buNone/>
            </a:pPr>
            <a:r>
              <a:rPr lang="en-US" sz="1200" dirty="0">
                <a:solidFill>
                  <a:srgbClr val="CCCCCC"/>
                </a:solidFill>
                <a:latin typeface="Consolas" panose="020B0609020204030204" pitchFamily="49" charset="0"/>
              </a:rPr>
              <a:t>}</a:t>
            </a:r>
          </a:p>
        </p:txBody>
      </p:sp>
    </p:spTree>
    <p:extLst>
      <p:ext uri="{BB962C8B-B14F-4D97-AF65-F5344CB8AC3E}">
        <p14:creationId xmlns:p14="http://schemas.microsoft.com/office/powerpoint/2010/main" val="38404028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4001</TotalTime>
  <Words>4070</Words>
  <Application>Microsoft Office PowerPoint</Application>
  <PresentationFormat>Widescreen</PresentationFormat>
  <Paragraphs>682</Paragraphs>
  <Slides>31</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Consolas</vt:lpstr>
      <vt:lpstr>Wingdings</vt:lpstr>
      <vt:lpstr>Office Theme</vt:lpstr>
      <vt:lpstr>Tråkigt att vänta på att lektionen skall börja?</vt:lpstr>
      <vt:lpstr>Lektion 7</vt:lpstr>
      <vt:lpstr>typedef</vt:lpstr>
      <vt:lpstr>Structures</vt:lpstr>
      <vt:lpstr>Structures - Syntax</vt:lpstr>
      <vt:lpstr>Structures - Initialisering</vt:lpstr>
      <vt:lpstr>Memory Alignment (repetition)</vt:lpstr>
      <vt:lpstr>PowerPoint Presentation</vt:lpstr>
      <vt:lpstr>Structures i minnet</vt:lpstr>
      <vt:lpstr>Structures i minnet</vt:lpstr>
      <vt:lpstr>Nästlade strukturer</vt:lpstr>
      <vt:lpstr>PowerPoint Presentation</vt:lpstr>
      <vt:lpstr>Pekare till strukturer</vt:lpstr>
      <vt:lpstr>Pekare till strukturer</vt:lpstr>
      <vt:lpstr>PowerPoint Presentation</vt:lpstr>
      <vt:lpstr>Exempel (typisk tentafråga)</vt:lpstr>
      <vt:lpstr>Unions</vt:lpstr>
      <vt:lpstr>Unions</vt:lpstr>
      <vt:lpstr>Enums</vt:lpstr>
      <vt:lpstr>PowerPoint Presentation</vt:lpstr>
      <vt:lpstr>Bitfields</vt:lpstr>
      <vt:lpstr>Sneak Peak: Basic Timers</vt:lpstr>
      <vt:lpstr>Basic Timers – With struct?</vt:lpstr>
      <vt:lpstr>Basic Timers – With struct?</vt:lpstr>
      <vt:lpstr>Basic Timers – With struct?</vt:lpstr>
      <vt:lpstr>Basic Timers – With struct?</vt:lpstr>
      <vt:lpstr>Basic Timers – With struct?</vt:lpstr>
      <vt:lpstr>PowerPoint Presentation</vt:lpstr>
      <vt:lpstr>Bit access</vt:lpstr>
      <vt:lpstr>Bit access</vt:lpstr>
      <vt:lpstr>Bit access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72</cp:revision>
  <dcterms:created xsi:type="dcterms:W3CDTF">2026-01-14T14:09:03Z</dcterms:created>
  <dcterms:modified xsi:type="dcterms:W3CDTF">2026-02-10T13:10:53Z</dcterms:modified>
</cp:coreProperties>
</file>