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12"/>
    <p:sldId id="282" r:id="rId13"/>
    <p:sldId id="283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>
        <p:scale>
          <a:sx n="150" d="100"/>
          <a:sy n="150" d="100"/>
        </p:scale>
        <p:origin x="3252" y="17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657E-FDB3-4206-AA4E-9AE2AAB0A71C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41B-EE32-43AA-BF26-21D12108C6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014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Förklara vad en ISA är. Gå igenom de som finns. </a:t>
            </a:r>
          </a:p>
          <a:p>
            <a:r>
              <a:rPr lang="sv-SE"/>
              <a:t>RISC-V är intressant för:</a:t>
            </a:r>
            <a:br>
              <a:rPr lang="sv-SE"/>
            </a:br>
            <a:r>
              <a:rPr lang="sv-SE"/>
              <a:t>* modernt (lärt sig av misstag)</a:t>
            </a:r>
          </a:p>
          <a:p>
            <a:r>
              <a:rPr lang="sv-SE"/>
              <a:t>* öppet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9565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2888-A922-E761-9C22-6D359397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19AEC-BE8B-DCBF-064B-E53B13EE9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8B55C-2FA3-1BB7-3563-9A169629B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Ställ frågan</a:t>
            </a:r>
          </a:p>
          <a:p>
            <a:r>
              <a:rPr lang="sv-SE"/>
              <a:t>Gå igenom</a:t>
            </a:r>
          </a:p>
          <a:p>
            <a:r>
              <a:rPr lang="sv-SE"/>
              <a:t>Att utveckla allt detta blir dyrare än att designa själva processorn.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63E60-F8DD-30F1-5F31-FAAEDD7A2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3340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Få med immediate, riktning</a:t>
            </a:r>
          </a:p>
          <a:p>
            <a:endParaRPr lang="sv-SE"/>
          </a:p>
          <a:p>
            <a:r>
              <a:rPr lang="sv-SE"/>
              <a:t>Förmodligen visa i VSCode.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7502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Använd samma exempel som i texten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4691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Visa quickguide, register och instruktioner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9419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lb, lh, lw</a:t>
            </a:r>
          </a:p>
          <a:p>
            <a:endParaRPr lang="en-GB"/>
          </a:p>
          <a:p>
            <a:r>
              <a:rPr lang="en-GB"/>
              <a:t>sign extension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11978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.byte .hword, .word, .space</a:t>
            </a:r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5916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Load and store global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99534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a+b + c+d, signedness, wordsize, align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7899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AAEC-3E6C-4451-F486-87E023A51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3331C-A0B6-0FB2-3F60-753189EC5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49D7-5229-A7AD-747E-E6E2A948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05F1-D570-FD0F-514D-706EC471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2FFF5-DA5D-BE5F-C578-D94F74E2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326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4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AE1C-835E-4237-40BE-548098F7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0726C-642C-40B9-29E4-8CB64383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861FB-8DCF-74EB-CB4F-6C8C5FDA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EE97-CCFB-62D1-AD51-EC2640FF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E895-9CC8-B3E0-C23B-C34A3154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0833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A9653-920E-A3FB-A09E-24B10BF25882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12F9C-95D6-9F26-CB8F-4684FA3B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225D4-B7C6-E53C-86CB-746972F8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E4528-78B3-D076-447C-021E6D75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D6A9B-7759-36F2-D666-8667C8DE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1CEAB-5EF1-8A74-8968-8F0DB2B2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40A9C-A1CD-86C2-36E4-17DFA2A9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813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C8CFAD-2C3B-E51D-4FD9-E852766792F8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A55E2-B180-DE62-C73A-B825DAA5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EA99E-F1A7-2F45-FDF1-5E254A755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B4C4-573F-7FAB-48DA-DAF978149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018C2-E8F6-E5E6-79EA-3155C3450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AF297-CD62-07D0-9158-3B908BD1C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7138E-77A6-33DA-62AD-A97A7ECC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97087-613E-94E4-030D-9C72E53C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AB01B-9183-BED8-5270-E118181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291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0351AC-8666-6A69-B402-81D189976CE4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C8B82-510D-675C-90C7-E85E633B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BD4E8-F59F-752C-FE4A-3B1CDA10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4A05F-55BF-5716-B67E-826F7B5A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E29FC-9E20-22D5-23DC-B42B2A2F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469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A2B7A-FCD7-89EB-1A96-B7932F96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27F0C-76DF-9396-D50C-E80D75E8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1C10-AF5A-33B6-0088-2D81FA27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724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353D-A96C-86D7-3B51-4AEF89B0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26A3-8A7E-2232-C68D-B497DB40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EDFD2-8147-E4EA-30DB-B6EE92AF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2C160-1681-9853-0D30-D48019EF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D775-8CC4-1D89-390B-CBE113AF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6AE1-23BA-5111-5A0E-06335408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032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0FD3-1A53-ADC5-6F25-17D89C1E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D64E3-FFB1-8C2C-B98F-A7A970F3E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39862-B6A9-674B-99C4-8ABD188F1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084A-CEA6-A23A-8D58-A22A15A2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3325F-BB03-5E1E-8BBA-77021E9F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E28DD-BD5D-D807-4F41-CEA2BBBE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2367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E742-C2AD-6643-CED1-AFDDE4FC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C0158-1729-4A7E-7B94-781E31237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27F6-811A-D0A0-06B1-41B03656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2C692-F6C8-CB76-B789-5004D960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7830-571D-5B23-D628-16DCF365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151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C0549-8A95-0497-7701-706A861F1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EBB1F-4FAC-A79D-8CEF-065067FC0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3EFF8-EAC7-D303-AE5E-3FC052A5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0B46-B5A1-A5C4-7709-AF9C579E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8CE26-1654-5732-2FCC-D9586B0F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7791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3BB9D5-722B-FDAA-6867-63BCE26A0024}"/>
              </a:ext>
            </a:extLst>
          </p:cNvPr>
          <p:cNvSpPr txBox="1"/>
          <p:nvPr userDrawn="1"/>
        </p:nvSpPr>
        <p:spPr>
          <a:xfrm>
            <a:off x="4705350" y="-139700"/>
            <a:ext cx="2508250" cy="448945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lIns="0" tIns="0" rIns="0" bIns="0" rtlCol="0">
            <a:noAutofit/>
          </a:bodyPr>
          <a:lstStyle/>
          <a:p>
            <a:r>
              <a:rPr lang="sv-SE" sz="38000" b="1"/>
              <a:t>?</a:t>
            </a:r>
            <a:endParaRPr lang="LID4096" sz="38000" b="1"/>
          </a:p>
        </p:txBody>
      </p:sp>
    </p:spTree>
    <p:extLst>
      <p:ext uri="{BB962C8B-B14F-4D97-AF65-F5344CB8AC3E}">
        <p14:creationId xmlns:p14="http://schemas.microsoft.com/office/powerpoint/2010/main" val="79750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2C8A0-0DE0-C4FC-A8FB-D00A440D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F994-83D9-1216-3BA3-76E9A3D4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BF0C-3972-8E81-14A3-E51F00088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EB631-5B1A-4879-85E7-A8D4C94FBFC5}" type="datetimeFigureOut">
              <a:rPr lang="LID4096" smtClean="0"/>
              <a:t>01/22/2026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C7A3-C949-61E8-A947-BF7E59CD9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1E2F-B9DE-A2C3-9386-5BE1861F0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542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52DF-D5C9-52BE-066B-17C7A4BFA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Lektion 2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0E2CB-296B-2D3A-2C5D-AF9D01690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Assembler på RISC-V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436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F2E1-3C49-2806-295F-F733D095A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Instruction Set Architecture (ISA)</a:t>
            </a:r>
            <a:endParaRPr lang="LID4096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5DD4650-1CD9-455B-A5C1-70A1AA633BF7}"/>
              </a:ext>
            </a:extLst>
          </p:cNvPr>
          <p:cNvGrpSpPr/>
          <p:nvPr/>
        </p:nvGrpSpPr>
        <p:grpSpPr>
          <a:xfrm>
            <a:off x="4074016" y="1931831"/>
            <a:ext cx="3627549" cy="2494207"/>
            <a:chOff x="4031087" y="3176789"/>
            <a:chExt cx="3627549" cy="249420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65AC28E-C1D1-B03B-F3AB-B01EC89F4652}"/>
                </a:ext>
              </a:extLst>
            </p:cNvPr>
            <p:cNvSpPr/>
            <p:nvPr/>
          </p:nvSpPr>
          <p:spPr>
            <a:xfrm>
              <a:off x="4031087" y="3176789"/>
              <a:ext cx="3576034" cy="2494207"/>
            </a:xfrm>
            <a:prstGeom prst="roundRect">
              <a:avLst>
                <a:gd name="adj" fmla="val 92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1CEE5F-074B-0C86-E13C-09231EE9D588}"/>
                </a:ext>
              </a:extLst>
            </p:cNvPr>
            <p:cNvSpPr txBox="1"/>
            <p:nvPr/>
          </p:nvSpPr>
          <p:spPr>
            <a:xfrm>
              <a:off x="4142703" y="3230278"/>
              <a:ext cx="3515933" cy="2400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sv-SE" sz="1600" b="1"/>
                <a:t>ISA (Instruction Set Architecture)</a:t>
              </a:r>
            </a:p>
            <a:p>
              <a:br>
                <a:rPr lang="sv-SE" sz="1600"/>
              </a:br>
              <a:r>
                <a:rPr lang="sv-SE" sz="1400"/>
                <a:t>Specificerar en processors beteende i termer av </a:t>
              </a:r>
              <a:r>
                <a:rPr lang="sv-SE" sz="1400" b="1"/>
                <a:t>instruktionsuppsättning</a:t>
              </a:r>
              <a:r>
                <a:rPr lang="sv-SE" sz="1400"/>
                <a:t>, </a:t>
              </a:r>
              <a:r>
                <a:rPr lang="sv-SE" sz="1400" b="1"/>
                <a:t>register</a:t>
              </a:r>
              <a:r>
                <a:rPr lang="sv-SE" sz="1400"/>
                <a:t> och </a:t>
              </a:r>
              <a:r>
                <a:rPr lang="sv-SE" sz="1400" b="1"/>
                <a:t>minnesmodell</a:t>
              </a:r>
              <a:r>
                <a:rPr lang="sv-SE" sz="1400"/>
                <a:t>, samt hur dessa komponenter samverkar.</a:t>
              </a:r>
            </a:p>
            <a:p>
              <a:endParaRPr lang="sv-SE" sz="1400"/>
            </a:p>
            <a:p>
              <a:r>
                <a:rPr lang="sv-SE" sz="1200" i="1"/>
                <a:t>Om en processor korrekt implementerar en ISA, kommer varje korrekt kompilerat program som är riktat mot denna ISA att exekveras korrekt på processorn.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A2675E2-1E15-D9E1-2FA9-19F2AE8F837F}"/>
              </a:ext>
            </a:extLst>
          </p:cNvPr>
          <p:cNvGrpSpPr/>
          <p:nvPr/>
        </p:nvGrpSpPr>
        <p:grpSpPr>
          <a:xfrm>
            <a:off x="970583" y="2994267"/>
            <a:ext cx="9920785" cy="3596957"/>
            <a:chOff x="970583" y="2994267"/>
            <a:chExt cx="9920785" cy="359695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790283-BE97-03E2-711A-4E3CF9ADEC66}"/>
                </a:ext>
              </a:extLst>
            </p:cNvPr>
            <p:cNvSpPr txBox="1"/>
            <p:nvPr/>
          </p:nvSpPr>
          <p:spPr>
            <a:xfrm>
              <a:off x="8462498" y="3117379"/>
              <a:ext cx="2428870" cy="461665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sv-SE" sz="800"/>
                <a:t>Others: </a:t>
              </a:r>
              <a:br>
                <a:rPr lang="sv-SE" sz="800"/>
              </a:br>
              <a:r>
                <a:rPr lang="sv-SE" sz="800"/>
                <a:t>MIPS, Nintendo, NVIDIA, etc</a:t>
              </a:r>
              <a:br>
                <a:rPr lang="sv-SE" sz="800"/>
              </a:br>
              <a:r>
                <a:rPr lang="sv-SE" sz="800"/>
                <a:t>Special purpose, historical, or very small user base</a:t>
              </a:r>
              <a:endParaRPr lang="LID4096" sz="80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FDE01B0-7D27-5537-8B71-65F31C6AB02B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 flipV="1">
              <a:off x="7650050" y="3309870"/>
              <a:ext cx="812448" cy="383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D7169D0-90AA-C2DB-82B6-680EF63DCA5A}"/>
                </a:ext>
              </a:extLst>
            </p:cNvPr>
            <p:cNvSpPr txBox="1"/>
            <p:nvPr/>
          </p:nvSpPr>
          <p:spPr>
            <a:xfrm>
              <a:off x="970583" y="2994267"/>
              <a:ext cx="2058577" cy="830997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sv-SE"/>
                <a:t>(Intel/AMD) x86</a:t>
              </a:r>
            </a:p>
            <a:p>
              <a:pPr algn="ctr"/>
              <a:r>
                <a:rPr lang="sv-SE" sz="1400"/>
                <a:t>1978 -</a:t>
              </a:r>
            </a:p>
            <a:p>
              <a:pPr algn="ctr"/>
              <a:r>
                <a:rPr lang="sv-SE" sz="800">
                  <a:solidFill>
                    <a:srgbClr val="C00000"/>
                  </a:solidFill>
                </a:rPr>
                <a:t>only AMD and Intel are allowed to use</a:t>
              </a:r>
            </a:p>
            <a:p>
              <a:pPr algn="ctr"/>
              <a:r>
                <a:rPr lang="sv-SE" sz="800"/>
                <a:t>(persondatorer, servers, hpc workstations)</a:t>
              </a:r>
              <a:endParaRPr lang="LID4096" sz="80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C589799-4321-A29B-D906-5ACF6669C76B}"/>
                </a:ext>
              </a:extLst>
            </p:cNvPr>
            <p:cNvSpPr txBox="1"/>
            <p:nvPr/>
          </p:nvSpPr>
          <p:spPr>
            <a:xfrm>
              <a:off x="1402111" y="4717961"/>
              <a:ext cx="2270173" cy="954107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sv-SE"/>
                <a:t>ARM</a:t>
              </a:r>
            </a:p>
            <a:p>
              <a:pPr algn="ctr"/>
              <a:r>
                <a:rPr lang="sv-SE" sz="1400"/>
                <a:t>1985 -</a:t>
              </a:r>
            </a:p>
            <a:p>
              <a:pPr algn="ctr"/>
              <a:r>
                <a:rPr lang="sv-SE" sz="800">
                  <a:solidFill>
                    <a:srgbClr val="C00000"/>
                  </a:solidFill>
                </a:rPr>
                <a:t>pay licence to ARM if you want to use</a:t>
              </a:r>
              <a:br>
                <a:rPr lang="sv-SE" sz="800">
                  <a:solidFill>
                    <a:srgbClr val="C00000"/>
                  </a:solidFill>
                </a:rPr>
              </a:br>
              <a:r>
                <a:rPr lang="sv-SE" sz="800"/>
                <a:t>(phones, tablets, embedded, IoT, servers, mac)</a:t>
              </a:r>
              <a:endParaRPr lang="LID4096" sz="800"/>
            </a:p>
            <a:p>
              <a:pPr algn="ctr"/>
              <a:endParaRPr lang="LID4096" sz="8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3DB4DA0-1AF2-5976-8C13-9C07934F9A29}"/>
                </a:ext>
              </a:extLst>
            </p:cNvPr>
            <p:cNvSpPr txBox="1"/>
            <p:nvPr/>
          </p:nvSpPr>
          <p:spPr>
            <a:xfrm>
              <a:off x="4431192" y="4990786"/>
              <a:ext cx="2861681" cy="1600438"/>
            </a:xfrm>
            <a:prstGeom prst="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sv-SE" sz="2800"/>
                <a:t>RISC-V</a:t>
              </a:r>
            </a:p>
            <a:p>
              <a:pPr algn="ctr"/>
              <a:r>
                <a:rPr lang="sv-SE" sz="2800"/>
                <a:t>2010 - </a:t>
              </a:r>
            </a:p>
            <a:p>
              <a:pPr algn="ctr"/>
              <a:r>
                <a:rPr lang="sv-SE" sz="1050" b="1">
                  <a:solidFill>
                    <a:schemeClr val="accent6">
                      <a:lumMod val="75000"/>
                    </a:schemeClr>
                  </a:solidFill>
                </a:rPr>
                <a:t>free to use for anyone</a:t>
              </a:r>
            </a:p>
            <a:p>
              <a:pPr algn="ctr"/>
              <a:r>
                <a:rPr lang="sv-SE" sz="1050"/>
                <a:t>(embedded systems, microcontrollers, </a:t>
              </a:r>
              <a:br>
                <a:rPr lang="sv-SE" sz="1050"/>
              </a:br>
              <a:r>
                <a:rPr lang="sv-SE" sz="1050"/>
                <a:t>domain-specific accelerators, men växer fort!)</a:t>
              </a:r>
              <a:br>
                <a:rPr lang="sv-SE" sz="1050">
                  <a:solidFill>
                    <a:schemeClr val="accent6">
                      <a:lumMod val="75000"/>
                    </a:schemeClr>
                  </a:solidFill>
                </a:rPr>
              </a:br>
              <a:endParaRPr lang="LID4096" sz="105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23E1548-472D-788A-9349-DDA2E9BBC1A9}"/>
                </a:ext>
              </a:extLst>
            </p:cNvPr>
            <p:cNvSpPr txBox="1"/>
            <p:nvPr/>
          </p:nvSpPr>
          <p:spPr>
            <a:xfrm>
              <a:off x="8122279" y="4717961"/>
              <a:ext cx="1387816" cy="892552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sv-SE"/>
                <a:t>IBM POWER</a:t>
              </a:r>
            </a:p>
            <a:p>
              <a:pPr algn="ctr"/>
              <a:r>
                <a:rPr lang="sv-SE"/>
                <a:t>1990 -</a:t>
              </a:r>
              <a:br>
                <a:rPr lang="sv-SE"/>
              </a:br>
              <a:r>
                <a:rPr lang="sv-SE" sz="800">
                  <a:solidFill>
                    <a:srgbClr val="C00000"/>
                  </a:solidFill>
                </a:rPr>
                <a:t>only IBM uses (these days)</a:t>
              </a:r>
            </a:p>
            <a:p>
              <a:pPr algn="ctr"/>
              <a:r>
                <a:rPr lang="sv-SE" sz="800"/>
                <a:t>(enterprise servers, hpc)</a:t>
              </a:r>
              <a:endParaRPr lang="LID4096" sz="80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772F008-52B7-5E20-87D3-B9E8898712DC}"/>
                </a:ext>
              </a:extLst>
            </p:cNvPr>
            <p:cNvCxnSpPr>
              <a:stCxn id="36" idx="3"/>
            </p:cNvCxnSpPr>
            <p:nvPr/>
          </p:nvCxnSpPr>
          <p:spPr>
            <a:xfrm flipV="1">
              <a:off x="3029160" y="3178935"/>
              <a:ext cx="1044856" cy="2308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C79BE79-F37B-B6E2-C449-952D2901F2D5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V="1">
              <a:off x="3672284" y="4426038"/>
              <a:ext cx="573451" cy="768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67E0B3F-9D6F-450B-D23A-21473DA73D5D}"/>
                </a:ext>
              </a:extLst>
            </p:cNvPr>
            <p:cNvCxnSpPr>
              <a:cxnSpLocks/>
              <a:stCxn id="38" idx="0"/>
            </p:cNvCxnSpPr>
            <p:nvPr/>
          </p:nvCxnSpPr>
          <p:spPr>
            <a:xfrm flipV="1">
              <a:off x="5862033" y="4426038"/>
              <a:ext cx="0" cy="564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F631DAB-5C64-F566-BAED-C7DAF59318C2}"/>
                </a:ext>
              </a:extLst>
            </p:cNvPr>
            <p:cNvCxnSpPr>
              <a:cxnSpLocks/>
              <a:stCxn id="39" idx="0"/>
            </p:cNvCxnSpPr>
            <p:nvPr/>
          </p:nvCxnSpPr>
          <p:spPr>
            <a:xfrm flipH="1" flipV="1">
              <a:off x="7650050" y="4177048"/>
              <a:ext cx="1166137" cy="5409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49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797DD-7F2A-9FBA-E409-B79FD9C94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87A51E-BDD3-2A60-34B4-21D3438E4590}"/>
              </a:ext>
            </a:extLst>
          </p:cNvPr>
          <p:cNvSpPr txBox="1"/>
          <p:nvPr/>
        </p:nvSpPr>
        <p:spPr>
          <a:xfrm>
            <a:off x="8122279" y="1978605"/>
            <a:ext cx="362573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/>
              <a:t>Gösta skall bygga en processor, </a:t>
            </a:r>
          </a:p>
          <a:p>
            <a:r>
              <a:rPr lang="sv-SE"/>
              <a:t>men gillar inte RISC-V. Han vill göra</a:t>
            </a:r>
            <a:br>
              <a:rPr lang="sv-SE"/>
            </a:br>
            <a:r>
              <a:rPr lang="sv-SE"/>
              <a:t>sin egen ISA till sin nya </a:t>
            </a:r>
            <a:br>
              <a:rPr lang="sv-SE"/>
            </a:br>
            <a:r>
              <a:rPr lang="sv-SE"/>
              <a:t>laptopprocessor. </a:t>
            </a:r>
          </a:p>
          <a:p>
            <a:endParaRPr lang="sv-SE"/>
          </a:p>
          <a:p>
            <a:r>
              <a:rPr lang="sv-SE"/>
              <a:t>Varför kommer det bli</a:t>
            </a:r>
          </a:p>
          <a:p>
            <a:r>
              <a:rPr lang="sv-SE"/>
              <a:t>dyrt för Gösta? </a:t>
            </a:r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9F772-8840-9CAC-5967-ACD89D271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Instruction Set Architecture (ISA)</a:t>
            </a:r>
            <a:endParaRPr lang="LID4096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9ECF206-DFA1-B830-1A8B-776CFD344365}"/>
              </a:ext>
            </a:extLst>
          </p:cNvPr>
          <p:cNvGrpSpPr/>
          <p:nvPr/>
        </p:nvGrpSpPr>
        <p:grpSpPr>
          <a:xfrm>
            <a:off x="4074016" y="1931831"/>
            <a:ext cx="3627549" cy="2494207"/>
            <a:chOff x="4031087" y="3176789"/>
            <a:chExt cx="3627549" cy="249420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7166E1C-5F66-E259-9677-4641DBE5B9DF}"/>
                </a:ext>
              </a:extLst>
            </p:cNvPr>
            <p:cNvSpPr/>
            <p:nvPr/>
          </p:nvSpPr>
          <p:spPr>
            <a:xfrm>
              <a:off x="4031087" y="3176789"/>
              <a:ext cx="3576034" cy="2494207"/>
            </a:xfrm>
            <a:prstGeom prst="roundRect">
              <a:avLst>
                <a:gd name="adj" fmla="val 928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FCFA64-B196-BF70-AF32-B752AEBBE375}"/>
                </a:ext>
              </a:extLst>
            </p:cNvPr>
            <p:cNvSpPr txBox="1"/>
            <p:nvPr/>
          </p:nvSpPr>
          <p:spPr>
            <a:xfrm>
              <a:off x="4142703" y="3230278"/>
              <a:ext cx="3515933" cy="2400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sv-SE" sz="1600" b="1"/>
                <a:t>ISA (Instruction Set Architecture)</a:t>
              </a:r>
            </a:p>
            <a:p>
              <a:br>
                <a:rPr lang="sv-SE" sz="1600"/>
              </a:br>
              <a:r>
                <a:rPr lang="sv-SE" sz="1400"/>
                <a:t>Specificerar en processors beteende i termer av </a:t>
              </a:r>
              <a:r>
                <a:rPr lang="sv-SE" sz="1400" b="1"/>
                <a:t>instruktionsuppsättning</a:t>
              </a:r>
              <a:r>
                <a:rPr lang="sv-SE" sz="1400"/>
                <a:t>, </a:t>
              </a:r>
              <a:r>
                <a:rPr lang="sv-SE" sz="1400" b="1"/>
                <a:t>register</a:t>
              </a:r>
              <a:r>
                <a:rPr lang="sv-SE" sz="1400"/>
                <a:t> och </a:t>
              </a:r>
              <a:r>
                <a:rPr lang="sv-SE" sz="1400" b="1"/>
                <a:t>minnesmodell</a:t>
              </a:r>
              <a:r>
                <a:rPr lang="sv-SE" sz="1400"/>
                <a:t>, samt hur dessa komponenter samverkar.</a:t>
              </a:r>
            </a:p>
            <a:p>
              <a:endParaRPr lang="sv-SE" sz="1400"/>
            </a:p>
            <a:p>
              <a:r>
                <a:rPr lang="sv-SE" sz="1200" i="1"/>
                <a:t>Om en processor korrekt implementerar en ISA, kommer varje korrekt kompilerat program som är riktat mot denna ISA att exekveras korrekt på processorn.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E58017A-5C0F-8658-0425-4E92B38FC87C}"/>
              </a:ext>
            </a:extLst>
          </p:cNvPr>
          <p:cNvSpPr txBox="1"/>
          <p:nvPr/>
        </p:nvSpPr>
        <p:spPr>
          <a:xfrm>
            <a:off x="970583" y="2994267"/>
            <a:ext cx="2058577" cy="830997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sv-SE"/>
              <a:t>(Intel/AMD) x86</a:t>
            </a:r>
          </a:p>
          <a:p>
            <a:pPr algn="ctr"/>
            <a:r>
              <a:rPr lang="sv-SE" sz="1400"/>
              <a:t>1978 -</a:t>
            </a:r>
          </a:p>
          <a:p>
            <a:pPr algn="ctr"/>
            <a:r>
              <a:rPr lang="sv-SE" sz="800">
                <a:solidFill>
                  <a:srgbClr val="C00000"/>
                </a:solidFill>
              </a:rPr>
              <a:t>only AMD and Intel are allowed to use</a:t>
            </a:r>
          </a:p>
          <a:p>
            <a:pPr algn="ctr"/>
            <a:r>
              <a:rPr lang="sv-SE" sz="800"/>
              <a:t>(persondatorer, servers, hpc workstations)</a:t>
            </a:r>
            <a:endParaRPr lang="LID4096" sz="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C7C2D-D5E8-95AF-9999-94C8F7998130}"/>
              </a:ext>
            </a:extLst>
          </p:cNvPr>
          <p:cNvSpPr txBox="1"/>
          <p:nvPr/>
        </p:nvSpPr>
        <p:spPr>
          <a:xfrm>
            <a:off x="1402111" y="4717961"/>
            <a:ext cx="2270173" cy="954107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sv-SE"/>
              <a:t>ARM</a:t>
            </a:r>
          </a:p>
          <a:p>
            <a:pPr algn="ctr"/>
            <a:r>
              <a:rPr lang="sv-SE" sz="1400"/>
              <a:t>1985 -</a:t>
            </a:r>
          </a:p>
          <a:p>
            <a:pPr algn="ctr"/>
            <a:r>
              <a:rPr lang="sv-SE" sz="800">
                <a:solidFill>
                  <a:srgbClr val="C00000"/>
                </a:solidFill>
              </a:rPr>
              <a:t>pay licence to ARM if you want to use</a:t>
            </a:r>
            <a:br>
              <a:rPr lang="sv-SE" sz="800">
                <a:solidFill>
                  <a:srgbClr val="C00000"/>
                </a:solidFill>
              </a:rPr>
            </a:br>
            <a:r>
              <a:rPr lang="sv-SE" sz="800"/>
              <a:t>(phones, tablets, embedded, IoT, servers, mac)</a:t>
            </a:r>
            <a:endParaRPr lang="LID4096" sz="800"/>
          </a:p>
          <a:p>
            <a:pPr algn="ctr"/>
            <a:endParaRPr lang="LID4096" sz="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8DBD8-47FC-21BC-8F5A-589949D6585A}"/>
              </a:ext>
            </a:extLst>
          </p:cNvPr>
          <p:cNvSpPr txBox="1"/>
          <p:nvPr/>
        </p:nvSpPr>
        <p:spPr>
          <a:xfrm>
            <a:off x="4431192" y="4990786"/>
            <a:ext cx="2861681" cy="1600438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sv-SE" sz="2800"/>
              <a:t>RISC-V</a:t>
            </a:r>
          </a:p>
          <a:p>
            <a:pPr algn="ctr"/>
            <a:r>
              <a:rPr lang="sv-SE" sz="2800"/>
              <a:t>2010 - </a:t>
            </a:r>
          </a:p>
          <a:p>
            <a:pPr algn="ctr"/>
            <a:r>
              <a:rPr lang="sv-SE" sz="1050" b="1">
                <a:solidFill>
                  <a:schemeClr val="accent6">
                    <a:lumMod val="75000"/>
                  </a:schemeClr>
                </a:solidFill>
              </a:rPr>
              <a:t>free to use for anyone</a:t>
            </a:r>
          </a:p>
          <a:p>
            <a:pPr algn="ctr"/>
            <a:r>
              <a:rPr lang="sv-SE" sz="1050"/>
              <a:t>(embedded systems, microcontrollers, </a:t>
            </a:r>
            <a:br>
              <a:rPr lang="sv-SE" sz="1050"/>
            </a:br>
            <a:r>
              <a:rPr lang="sv-SE" sz="1050"/>
              <a:t>domain-specific accelerators, men växer fort!)</a:t>
            </a:r>
            <a:br>
              <a:rPr lang="sv-SE" sz="1050">
                <a:solidFill>
                  <a:schemeClr val="accent6">
                    <a:lumMod val="75000"/>
                  </a:schemeClr>
                </a:solidFill>
              </a:rPr>
            </a:br>
            <a:endParaRPr lang="LID4096" sz="10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649859-9520-FB0E-B5E0-BFA01DA052C9}"/>
              </a:ext>
            </a:extLst>
          </p:cNvPr>
          <p:cNvSpPr txBox="1"/>
          <p:nvPr/>
        </p:nvSpPr>
        <p:spPr>
          <a:xfrm>
            <a:off x="8122279" y="4717961"/>
            <a:ext cx="1387816" cy="89255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sv-SE"/>
              <a:t>IBM POWER</a:t>
            </a:r>
          </a:p>
          <a:p>
            <a:pPr algn="ctr"/>
            <a:r>
              <a:rPr lang="sv-SE"/>
              <a:t>1990 -</a:t>
            </a:r>
            <a:br>
              <a:rPr lang="sv-SE"/>
            </a:br>
            <a:r>
              <a:rPr lang="sv-SE" sz="800">
                <a:solidFill>
                  <a:srgbClr val="C00000"/>
                </a:solidFill>
              </a:rPr>
              <a:t>only IBM uses (these days)</a:t>
            </a:r>
          </a:p>
          <a:p>
            <a:pPr algn="ctr"/>
            <a:r>
              <a:rPr lang="sv-SE" sz="800"/>
              <a:t>(enterprise servers, hpc)</a:t>
            </a:r>
            <a:endParaRPr lang="LID4096" sz="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E35DC7E-0D25-BA9E-5C00-1BE4C451C227}"/>
              </a:ext>
            </a:extLst>
          </p:cNvPr>
          <p:cNvCxnSpPr>
            <a:stCxn id="10" idx="3"/>
            <a:endCxn id="4" idx="1"/>
          </p:cNvCxnSpPr>
          <p:nvPr/>
        </p:nvCxnSpPr>
        <p:spPr>
          <a:xfrm flipV="1">
            <a:off x="3029160" y="3178935"/>
            <a:ext cx="1044856" cy="2308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8C926A-4ACA-8F21-17C3-A97AC7A7D009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672284" y="4426038"/>
            <a:ext cx="573451" cy="7689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22BD50-4A2E-8E1A-46A4-13DA4E575C36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flipV="1">
            <a:off x="5862033" y="4426038"/>
            <a:ext cx="0" cy="564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9F1DA2-1C63-DDEF-7523-431D5F99F46B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7650050" y="4177048"/>
            <a:ext cx="1166137" cy="5409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6BFCCE86-ABA5-2E90-CDAA-CFA104A9C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968" y="3579044"/>
            <a:ext cx="1742237" cy="327895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3F7B7F0-3E0D-7D25-B7E6-6048A1D080D4}"/>
              </a:ext>
            </a:extLst>
          </p:cNvPr>
          <p:cNvGrpSpPr/>
          <p:nvPr/>
        </p:nvGrpSpPr>
        <p:grpSpPr>
          <a:xfrm>
            <a:off x="7950775" y="4077166"/>
            <a:ext cx="2465652" cy="2814106"/>
            <a:chOff x="7950775" y="4077166"/>
            <a:chExt cx="2465652" cy="281410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816B1D0-AF29-489F-A882-8B9A9472FA45}"/>
                </a:ext>
              </a:extLst>
            </p:cNvPr>
            <p:cNvSpPr txBox="1"/>
            <p:nvPr/>
          </p:nvSpPr>
          <p:spPr>
            <a:xfrm rot="1348636">
              <a:off x="9323771" y="4077166"/>
              <a:ext cx="9460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200">
                  <a:latin typeface="Amasis MT Pro Medium" panose="02040604050005020304" pitchFamily="18" charset="0"/>
                  <a:cs typeface="Aldhabi" panose="020F0502020204030204" pitchFamily="2" charset="-78"/>
                </a:rPr>
                <a:t>kompilator</a:t>
              </a:r>
              <a:endParaRPr lang="LID4096" sz="1200">
                <a:latin typeface="Amasis MT Pro Medium" panose="02040604050005020304" pitchFamily="18" charset="0"/>
                <a:cs typeface="Aldhabi" panose="020F0502020204030204" pitchFamily="2" charset="-7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E777C6-FD08-31F7-DE38-0FEAA117B269}"/>
                </a:ext>
              </a:extLst>
            </p:cNvPr>
            <p:cNvSpPr txBox="1"/>
            <p:nvPr/>
          </p:nvSpPr>
          <p:spPr>
            <a:xfrm rot="898342">
              <a:off x="9067505" y="4385977"/>
              <a:ext cx="8851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200">
                  <a:latin typeface="Amasis MT Pro Medium" panose="02040604050005020304" pitchFamily="18" charset="0"/>
                  <a:cs typeface="Aldhabi" panose="020F0502020204030204" pitchFamily="2" charset="-78"/>
                </a:rPr>
                <a:t>assembler</a:t>
              </a:r>
              <a:endParaRPr lang="LID4096" sz="1200">
                <a:latin typeface="Amasis MT Pro Medium" panose="02040604050005020304" pitchFamily="18" charset="0"/>
                <a:cs typeface="Aldhabi" panose="020F0502020204030204" pitchFamily="2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2F8E5D-0737-CC5A-23F9-F5BC8FEAB65A}"/>
                </a:ext>
              </a:extLst>
            </p:cNvPr>
            <p:cNvSpPr txBox="1"/>
            <p:nvPr/>
          </p:nvSpPr>
          <p:spPr>
            <a:xfrm>
              <a:off x="9572124" y="4852287"/>
              <a:ext cx="7040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200">
                  <a:latin typeface="Amasis MT Pro Medium" panose="02040604050005020304" pitchFamily="18" charset="0"/>
                  <a:cs typeface="Aldhabi" panose="020F0502020204030204" pitchFamily="2" charset="-78"/>
                </a:rPr>
                <a:t>länkare</a:t>
              </a:r>
              <a:endParaRPr lang="LID4096" sz="1200">
                <a:latin typeface="Amasis MT Pro Medium" panose="02040604050005020304" pitchFamily="18" charset="0"/>
                <a:cs typeface="Aldhabi" panose="020F0502020204030204" pitchFamily="2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EF7C7E-6F3F-6736-381C-254925A2ADE5}"/>
                </a:ext>
              </a:extLst>
            </p:cNvPr>
            <p:cNvSpPr txBox="1"/>
            <p:nvPr/>
          </p:nvSpPr>
          <p:spPr>
            <a:xfrm rot="20820615">
              <a:off x="9156132" y="5396413"/>
              <a:ext cx="9476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200">
                  <a:latin typeface="Amasis MT Pro Medium" panose="02040604050005020304" pitchFamily="18" charset="0"/>
                  <a:cs typeface="Aldhabi" panose="020F0502020204030204" pitchFamily="2" charset="-78"/>
                </a:rPr>
                <a:t>optimerare</a:t>
              </a:r>
              <a:endParaRPr lang="LID4096" sz="1200">
                <a:latin typeface="Amasis MT Pro Medium" panose="02040604050005020304" pitchFamily="18" charset="0"/>
                <a:cs typeface="Aldhabi" panose="020F0502020204030204" pitchFamily="2" charset="-7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C0259BB-87AF-CBA2-DC57-68766C804F85}"/>
                </a:ext>
              </a:extLst>
            </p:cNvPr>
            <p:cNvSpPr txBox="1"/>
            <p:nvPr/>
          </p:nvSpPr>
          <p:spPr>
            <a:xfrm rot="19570960">
              <a:off x="9431862" y="5853868"/>
              <a:ext cx="9845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200">
                  <a:latin typeface="Amasis MT Pro Medium" panose="02040604050005020304" pitchFamily="18" charset="0"/>
                  <a:cs typeface="Aldhabi" panose="020F0502020204030204" pitchFamily="2" charset="-78"/>
                </a:rPr>
                <a:t>debug tools</a:t>
              </a:r>
              <a:endParaRPr lang="LID4096" sz="1200">
                <a:latin typeface="Amasis MT Pro Medium" panose="02040604050005020304" pitchFamily="18" charset="0"/>
                <a:cs typeface="Aldhabi" panose="020F0502020204030204" pitchFamily="2" charset="-78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7EC8610-8433-6796-5D17-468199E06656}"/>
                </a:ext>
              </a:extLst>
            </p:cNvPr>
            <p:cNvSpPr txBox="1"/>
            <p:nvPr/>
          </p:nvSpPr>
          <p:spPr>
            <a:xfrm rot="20956128">
              <a:off x="7950775" y="5808202"/>
              <a:ext cx="1779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>
                  <a:latin typeface="Amasis MT Pro Medium" panose="02040604050005020304" pitchFamily="18" charset="0"/>
                  <a:cs typeface="Aldhabi" panose="020F0502020204030204" pitchFamily="2" charset="-78"/>
                </a:rPr>
                <a:t>operativsystem</a:t>
              </a:r>
              <a:endParaRPr lang="LID4096">
                <a:latin typeface="Amasis MT Pro Medium" panose="02040604050005020304" pitchFamily="18" charset="0"/>
                <a:cs typeface="Aldhabi" panose="020F0502020204030204" pitchFamily="2" charset="-78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B1DBE7-7A68-18F8-EF44-A27F3AF1F79E}"/>
                </a:ext>
              </a:extLst>
            </p:cNvPr>
            <p:cNvSpPr txBox="1"/>
            <p:nvPr/>
          </p:nvSpPr>
          <p:spPr>
            <a:xfrm rot="18531493">
              <a:off x="9506006" y="6254560"/>
              <a:ext cx="9348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600">
                  <a:latin typeface="Amasis MT Pro Medium" panose="02040604050005020304" pitchFamily="18" charset="0"/>
                  <a:cs typeface="Aldhabi" panose="020F0502020204030204" pitchFamily="2" charset="-78"/>
                </a:rPr>
                <a:t>libraries</a:t>
              </a:r>
              <a:endParaRPr lang="LID4096" sz="1600">
                <a:latin typeface="Amasis MT Pro Medium" panose="02040604050005020304" pitchFamily="18" charset="0"/>
                <a:cs typeface="Aldhabi" panose="020F0502020204030204" pitchFamily="2" charset="-78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AB3843-85FC-7011-7F5A-1C2A2961543B}"/>
                </a:ext>
              </a:extLst>
            </p:cNvPr>
            <p:cNvSpPr txBox="1"/>
            <p:nvPr/>
          </p:nvSpPr>
          <p:spPr>
            <a:xfrm rot="20250798">
              <a:off x="9188034" y="6222204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200">
                  <a:latin typeface="Amasis MT Pro Medium" panose="02040604050005020304" pitchFamily="18" charset="0"/>
                  <a:cs typeface="Aldhabi" panose="020F0502020204030204" pitchFamily="2" charset="-78"/>
                </a:rPr>
                <a:t>...</a:t>
              </a:r>
              <a:endParaRPr lang="LID4096" sz="1200">
                <a:latin typeface="Amasis MT Pro Medium" panose="02040604050005020304" pitchFamily="18" charset="0"/>
                <a:cs typeface="Aldhabi" panose="020F0502020204030204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054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F4CC2-268B-7D8B-DDAB-B7D0B335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RISC-V - Varianter och extensions</a:t>
            </a:r>
            <a:endParaRPr lang="LID409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C37481-E257-ACC9-DAF8-51AA117B85A7}"/>
              </a:ext>
            </a:extLst>
          </p:cNvPr>
          <p:cNvGrpSpPr/>
          <p:nvPr/>
        </p:nvGrpSpPr>
        <p:grpSpPr>
          <a:xfrm>
            <a:off x="940157" y="2194199"/>
            <a:ext cx="2745290" cy="3966539"/>
            <a:chOff x="995966" y="2370210"/>
            <a:chExt cx="2745290" cy="39665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1EA4480-7CAA-128F-BEA8-4BDFEC38C065}"/>
                </a:ext>
              </a:extLst>
            </p:cNvPr>
            <p:cNvSpPr txBox="1"/>
            <p:nvPr/>
          </p:nvSpPr>
          <p:spPr>
            <a:xfrm>
              <a:off x="1094704" y="2902039"/>
              <a:ext cx="2637966" cy="11079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b="1"/>
                <a:t>RV32I</a:t>
              </a:r>
              <a:br>
                <a:rPr lang="sv-SE"/>
              </a:br>
              <a:r>
                <a:rPr lang="sv-SE" sz="1200"/>
                <a:t>basinstruktionsuppsättning för heltal</a:t>
              </a:r>
              <a:br>
                <a:rPr lang="sv-SE" sz="1200"/>
              </a:br>
              <a:r>
                <a:rPr lang="sv-SE" sz="1200"/>
                <a:t>47 instruktioner</a:t>
              </a:r>
              <a:br>
                <a:rPr lang="sv-SE" sz="1200"/>
              </a:br>
              <a:r>
                <a:rPr lang="sv-SE" sz="1200"/>
                <a:t>32 st </a:t>
              </a:r>
              <a:r>
                <a:rPr lang="sv-SE" sz="1200" b="1"/>
                <a:t>32</a:t>
              </a:r>
              <a:r>
                <a:rPr lang="sv-SE" sz="1200"/>
                <a:t>-bitars register</a:t>
              </a:r>
            </a:p>
            <a:p>
              <a:r>
                <a:rPr lang="sv-SE" sz="1200" b="1"/>
                <a:t>32</a:t>
              </a:r>
              <a:r>
                <a:rPr lang="sv-SE" sz="1200"/>
                <a:t>-bitars addressrymd</a:t>
              </a:r>
              <a:endParaRPr lang="LID4096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9D7982-D573-A2C4-078F-A0195402BCD0}"/>
                </a:ext>
              </a:extLst>
            </p:cNvPr>
            <p:cNvSpPr txBox="1"/>
            <p:nvPr/>
          </p:nvSpPr>
          <p:spPr>
            <a:xfrm>
              <a:off x="1103290" y="4157729"/>
              <a:ext cx="2637966" cy="11079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b="1"/>
                <a:t>RV64I</a:t>
              </a:r>
              <a:br>
                <a:rPr lang="sv-SE"/>
              </a:br>
              <a:r>
                <a:rPr lang="sv-SE" sz="1200"/>
                <a:t>basinstruktionsuppsättning för heltal</a:t>
              </a:r>
              <a:br>
                <a:rPr lang="sv-SE" sz="1200"/>
              </a:br>
              <a:r>
                <a:rPr lang="sv-SE" sz="1200"/>
                <a:t>47 instruktioner</a:t>
              </a:r>
              <a:br>
                <a:rPr lang="sv-SE" sz="1200"/>
              </a:br>
              <a:r>
                <a:rPr lang="sv-SE" sz="1200"/>
                <a:t>32 st </a:t>
              </a:r>
              <a:r>
                <a:rPr lang="sv-SE" sz="1200" b="1"/>
                <a:t>64</a:t>
              </a:r>
              <a:r>
                <a:rPr lang="sv-SE" sz="1200"/>
                <a:t>-bitars register</a:t>
              </a:r>
            </a:p>
            <a:p>
              <a:r>
                <a:rPr lang="sv-SE" sz="1200" b="1"/>
                <a:t>64</a:t>
              </a:r>
              <a:r>
                <a:rPr lang="sv-SE" sz="1200"/>
                <a:t>-bitars addressrymd</a:t>
              </a:r>
              <a:endParaRPr lang="LID4096" sz="12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6D3B81D-6BF1-2B41-337D-8809E81352DA}"/>
                </a:ext>
              </a:extLst>
            </p:cNvPr>
            <p:cNvSpPr txBox="1"/>
            <p:nvPr/>
          </p:nvSpPr>
          <p:spPr>
            <a:xfrm>
              <a:off x="1094704" y="5413419"/>
              <a:ext cx="2577885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b="1"/>
                <a:t>RV128I</a:t>
              </a:r>
              <a:br>
                <a:rPr lang="sv-SE"/>
              </a:br>
              <a:r>
                <a:rPr lang="sv-SE" sz="1200"/>
                <a:t>(specifikationen finns, men används</a:t>
              </a:r>
              <a:br>
                <a:rPr lang="sv-SE" sz="1200"/>
              </a:br>
              <a:r>
                <a:rPr lang="sv-SE" sz="1200"/>
                <a:t> inte vad jag vet. Ingen efterfrågan </a:t>
              </a:r>
              <a:br>
                <a:rPr lang="sv-SE" sz="1200"/>
              </a:br>
              <a:r>
                <a:rPr lang="sv-SE" sz="1200"/>
                <a:t>och mycket svårare att bygga)</a:t>
              </a:r>
              <a:endParaRPr lang="LID4096" sz="12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9009CC-E6EC-8B43-889F-8A8DD4F2C128}"/>
                </a:ext>
              </a:extLst>
            </p:cNvPr>
            <p:cNvSpPr txBox="1"/>
            <p:nvPr/>
          </p:nvSpPr>
          <p:spPr>
            <a:xfrm>
              <a:off x="995966" y="2370210"/>
              <a:ext cx="1257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b="1"/>
                <a:t>Varianter: </a:t>
              </a:r>
              <a:endParaRPr lang="LID4096" b="1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02193A6-075C-CDEB-4620-E03200045CD7}"/>
              </a:ext>
            </a:extLst>
          </p:cNvPr>
          <p:cNvSpPr txBox="1"/>
          <p:nvPr/>
        </p:nvSpPr>
        <p:spPr>
          <a:xfrm>
            <a:off x="4067577" y="2194199"/>
            <a:ext cx="145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Extensions: </a:t>
            </a:r>
            <a:endParaRPr lang="LID4096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BB046-2878-C5D5-8E0A-0097029766E8}"/>
              </a:ext>
            </a:extLst>
          </p:cNvPr>
          <p:cNvSpPr txBox="1"/>
          <p:nvPr/>
        </p:nvSpPr>
        <p:spPr>
          <a:xfrm>
            <a:off x="4149143" y="2616558"/>
            <a:ext cx="230357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F </a:t>
            </a:r>
            <a:r>
              <a:rPr lang="sv-SE" sz="1200"/>
              <a:t>single precision floating point</a:t>
            </a:r>
            <a:br>
              <a:rPr lang="sv-SE"/>
            </a:br>
            <a:r>
              <a:rPr lang="sv-SE" sz="1200"/>
              <a:t>26 instruktioner</a:t>
            </a:r>
          </a:p>
          <a:p>
            <a:r>
              <a:rPr lang="sv-SE" sz="1200"/>
              <a:t>32 st 32-bitars flyttalsregister</a:t>
            </a:r>
            <a:endParaRPr lang="LID4096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A04108-47B1-952C-9332-748C54D37BEC}"/>
              </a:ext>
            </a:extLst>
          </p:cNvPr>
          <p:cNvSpPr txBox="1"/>
          <p:nvPr/>
        </p:nvSpPr>
        <p:spPr>
          <a:xfrm>
            <a:off x="4149142" y="3408249"/>
            <a:ext cx="241579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D </a:t>
            </a:r>
            <a:r>
              <a:rPr lang="sv-SE" sz="1200"/>
              <a:t>double precision floating point</a:t>
            </a:r>
            <a:br>
              <a:rPr lang="sv-SE"/>
            </a:br>
            <a:r>
              <a:rPr lang="sv-SE" sz="1200"/>
              <a:t>26 instruktioner</a:t>
            </a:r>
          </a:p>
          <a:p>
            <a:r>
              <a:rPr lang="sv-SE" sz="1200"/>
              <a:t>32 st 64-bitars flyttalsregister</a:t>
            </a:r>
            <a:endParaRPr lang="LID4096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FDE5F5-A1CD-CC06-4902-D2937CD9A3B6}"/>
              </a:ext>
            </a:extLst>
          </p:cNvPr>
          <p:cNvSpPr txBox="1"/>
          <p:nvPr/>
        </p:nvSpPr>
        <p:spPr>
          <a:xfrm>
            <a:off x="4149142" y="4199940"/>
            <a:ext cx="2115387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C </a:t>
            </a:r>
            <a:r>
              <a:rPr lang="sv-SE" sz="1200"/>
              <a:t>compressed instructions</a:t>
            </a:r>
          </a:p>
          <a:p>
            <a:r>
              <a:rPr lang="sv-SE" sz="1200"/>
              <a:t>34 st 16-bitars instruktioner</a:t>
            </a:r>
            <a:endParaRPr lang="LID4096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75B604-891D-1429-ADB4-498EE3324632}"/>
              </a:ext>
            </a:extLst>
          </p:cNvPr>
          <p:cNvSpPr txBox="1"/>
          <p:nvPr/>
        </p:nvSpPr>
        <p:spPr>
          <a:xfrm>
            <a:off x="4149141" y="5413990"/>
            <a:ext cx="16862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Sv32 </a:t>
            </a:r>
            <a:r>
              <a:rPr lang="sv-SE" sz="1200"/>
              <a:t>virtuellt minne</a:t>
            </a:r>
            <a:endParaRPr lang="LID4096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E457A7-B952-6D8E-7B0F-E8E8687E3850}"/>
              </a:ext>
            </a:extLst>
          </p:cNvPr>
          <p:cNvSpPr txBox="1"/>
          <p:nvPr/>
        </p:nvSpPr>
        <p:spPr>
          <a:xfrm>
            <a:off x="4149141" y="4868076"/>
            <a:ext cx="17891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A </a:t>
            </a:r>
            <a:r>
              <a:rPr lang="sv-SE" sz="1200"/>
              <a:t>atomiska operationer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5375BD-3991-5DD6-9A72-B1326722B92E}"/>
              </a:ext>
            </a:extLst>
          </p:cNvPr>
          <p:cNvSpPr txBox="1"/>
          <p:nvPr/>
        </p:nvSpPr>
        <p:spPr>
          <a:xfrm>
            <a:off x="4139981" y="5864474"/>
            <a:ext cx="391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...</a:t>
            </a:r>
            <a:endParaRPr lang="LID4096" sz="1200"/>
          </a:p>
        </p:txBody>
      </p:sp>
    </p:spTree>
    <p:extLst>
      <p:ext uri="{BB962C8B-B14F-4D97-AF65-F5344CB8AC3E}">
        <p14:creationId xmlns:p14="http://schemas.microsoft.com/office/powerpoint/2010/main" val="3305752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B824-B7D5-1420-2D5D-DC0D40BF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E794-0452-29A4-3CC1-A76A4FEE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RISC-V - Varianter och extensions</a:t>
            </a:r>
            <a:endParaRPr lang="LID409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050D185-AF5E-3658-98BF-BD3C9AD2F113}"/>
              </a:ext>
            </a:extLst>
          </p:cNvPr>
          <p:cNvGrpSpPr/>
          <p:nvPr/>
        </p:nvGrpSpPr>
        <p:grpSpPr>
          <a:xfrm>
            <a:off x="940157" y="2194199"/>
            <a:ext cx="2745290" cy="3966539"/>
            <a:chOff x="995966" y="2370210"/>
            <a:chExt cx="2745290" cy="39665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D3C2649-0497-D07D-2D15-3FF0359A11E0}"/>
                </a:ext>
              </a:extLst>
            </p:cNvPr>
            <p:cNvSpPr txBox="1"/>
            <p:nvPr/>
          </p:nvSpPr>
          <p:spPr>
            <a:xfrm>
              <a:off x="1094704" y="2902039"/>
              <a:ext cx="2637966" cy="110799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b="1"/>
                <a:t>RV32I</a:t>
              </a:r>
              <a:br>
                <a:rPr lang="sv-SE"/>
              </a:br>
              <a:r>
                <a:rPr lang="sv-SE" sz="1200"/>
                <a:t>basinstruktionsuppsättning för heltal</a:t>
              </a:r>
              <a:br>
                <a:rPr lang="sv-SE" sz="1200"/>
              </a:br>
              <a:r>
                <a:rPr lang="sv-SE" sz="1200"/>
                <a:t>47 instruktioner</a:t>
              </a:r>
              <a:br>
                <a:rPr lang="sv-SE" sz="1200"/>
              </a:br>
              <a:r>
                <a:rPr lang="sv-SE" sz="1200"/>
                <a:t>32 st </a:t>
              </a:r>
              <a:r>
                <a:rPr lang="sv-SE" sz="1200" b="1"/>
                <a:t>32</a:t>
              </a:r>
              <a:r>
                <a:rPr lang="sv-SE" sz="1200"/>
                <a:t>-bitars register</a:t>
              </a:r>
            </a:p>
            <a:p>
              <a:r>
                <a:rPr lang="sv-SE" sz="1200" b="1"/>
                <a:t>32</a:t>
              </a:r>
              <a:r>
                <a:rPr lang="sv-SE" sz="1200"/>
                <a:t>-bitars addressrymd</a:t>
              </a:r>
              <a:endParaRPr lang="LID4096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3C5FFF-9B58-5F8D-5F90-E2E2D4856236}"/>
                </a:ext>
              </a:extLst>
            </p:cNvPr>
            <p:cNvSpPr txBox="1"/>
            <p:nvPr/>
          </p:nvSpPr>
          <p:spPr>
            <a:xfrm>
              <a:off x="1103290" y="4157729"/>
              <a:ext cx="2637966" cy="11079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b="1"/>
                <a:t>RV64I</a:t>
              </a:r>
              <a:br>
                <a:rPr lang="sv-SE"/>
              </a:br>
              <a:r>
                <a:rPr lang="sv-SE" sz="1200"/>
                <a:t>basinstruktionsuppsättning för heltal</a:t>
              </a:r>
              <a:br>
                <a:rPr lang="sv-SE" sz="1200"/>
              </a:br>
              <a:r>
                <a:rPr lang="sv-SE" sz="1200"/>
                <a:t>47 instruktioner</a:t>
              </a:r>
              <a:br>
                <a:rPr lang="sv-SE" sz="1200"/>
              </a:br>
              <a:r>
                <a:rPr lang="sv-SE" sz="1200"/>
                <a:t>32 st </a:t>
              </a:r>
              <a:r>
                <a:rPr lang="sv-SE" sz="1200" b="1"/>
                <a:t>64</a:t>
              </a:r>
              <a:r>
                <a:rPr lang="sv-SE" sz="1200"/>
                <a:t>-bitars register</a:t>
              </a:r>
            </a:p>
            <a:p>
              <a:r>
                <a:rPr lang="sv-SE" sz="1200" b="1"/>
                <a:t>64</a:t>
              </a:r>
              <a:r>
                <a:rPr lang="sv-SE" sz="1200"/>
                <a:t>-bitars addressrymd</a:t>
              </a:r>
              <a:endParaRPr lang="LID4096" sz="12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082149-EF03-EB06-7776-460C949E75C5}"/>
                </a:ext>
              </a:extLst>
            </p:cNvPr>
            <p:cNvSpPr txBox="1"/>
            <p:nvPr/>
          </p:nvSpPr>
          <p:spPr>
            <a:xfrm>
              <a:off x="1094704" y="5413419"/>
              <a:ext cx="2577885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b="1"/>
                <a:t>RV128I</a:t>
              </a:r>
              <a:br>
                <a:rPr lang="sv-SE"/>
              </a:br>
              <a:r>
                <a:rPr lang="sv-SE" sz="1200"/>
                <a:t>(specifikationen finns, men används</a:t>
              </a:r>
              <a:br>
                <a:rPr lang="sv-SE" sz="1200"/>
              </a:br>
              <a:r>
                <a:rPr lang="sv-SE" sz="1200"/>
                <a:t> inte vad jag vet. Ingen efterfrågan </a:t>
              </a:r>
              <a:br>
                <a:rPr lang="sv-SE" sz="1200"/>
              </a:br>
              <a:r>
                <a:rPr lang="sv-SE" sz="1200"/>
                <a:t>och mycket svårare att bygga)</a:t>
              </a:r>
              <a:endParaRPr lang="LID4096" sz="12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51C767-1EF8-C3B5-B632-62DFAA4E0C7A}"/>
                </a:ext>
              </a:extLst>
            </p:cNvPr>
            <p:cNvSpPr txBox="1"/>
            <p:nvPr/>
          </p:nvSpPr>
          <p:spPr>
            <a:xfrm>
              <a:off x="995966" y="2370210"/>
              <a:ext cx="1257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b="1"/>
                <a:t>Varianter: </a:t>
              </a:r>
              <a:endParaRPr lang="LID4096" b="1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9F304CA-01A6-E331-6DA9-0D022A67678E}"/>
              </a:ext>
            </a:extLst>
          </p:cNvPr>
          <p:cNvSpPr txBox="1"/>
          <p:nvPr/>
        </p:nvSpPr>
        <p:spPr>
          <a:xfrm>
            <a:off x="4067577" y="2194199"/>
            <a:ext cx="145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Extensions: </a:t>
            </a:r>
            <a:endParaRPr lang="LID4096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760174-A6EA-A611-BB4C-6C111B5B5364}"/>
              </a:ext>
            </a:extLst>
          </p:cNvPr>
          <p:cNvSpPr txBox="1"/>
          <p:nvPr/>
        </p:nvSpPr>
        <p:spPr>
          <a:xfrm>
            <a:off x="4149143" y="2616558"/>
            <a:ext cx="230357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F </a:t>
            </a:r>
            <a:r>
              <a:rPr lang="sv-SE" sz="1200"/>
              <a:t>single precision floating point</a:t>
            </a:r>
            <a:br>
              <a:rPr lang="sv-SE"/>
            </a:br>
            <a:r>
              <a:rPr lang="sv-SE" sz="1200"/>
              <a:t>26 instruktioner</a:t>
            </a:r>
          </a:p>
          <a:p>
            <a:r>
              <a:rPr lang="sv-SE" sz="1200"/>
              <a:t>32 st 32-bitars flyttalsregister</a:t>
            </a:r>
            <a:endParaRPr lang="LID4096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A192C1-5317-C232-04F7-D7C1B615467C}"/>
              </a:ext>
            </a:extLst>
          </p:cNvPr>
          <p:cNvSpPr txBox="1"/>
          <p:nvPr/>
        </p:nvSpPr>
        <p:spPr>
          <a:xfrm>
            <a:off x="4149142" y="3408249"/>
            <a:ext cx="241579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D </a:t>
            </a:r>
            <a:r>
              <a:rPr lang="sv-SE" sz="1200"/>
              <a:t>double precision floating point</a:t>
            </a:r>
            <a:br>
              <a:rPr lang="sv-SE"/>
            </a:br>
            <a:r>
              <a:rPr lang="sv-SE" sz="1200"/>
              <a:t>26 instruktioner</a:t>
            </a:r>
          </a:p>
          <a:p>
            <a:r>
              <a:rPr lang="sv-SE" sz="1200"/>
              <a:t>32 st 64-bitars flyttalsregister</a:t>
            </a:r>
            <a:endParaRPr lang="LID4096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F543E1-9E15-E153-8A1C-56981959A644}"/>
              </a:ext>
            </a:extLst>
          </p:cNvPr>
          <p:cNvSpPr txBox="1"/>
          <p:nvPr/>
        </p:nvSpPr>
        <p:spPr>
          <a:xfrm>
            <a:off x="4149142" y="4199940"/>
            <a:ext cx="2115387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C </a:t>
            </a:r>
            <a:r>
              <a:rPr lang="sv-SE" sz="1200"/>
              <a:t>compressed instructions</a:t>
            </a:r>
          </a:p>
          <a:p>
            <a:r>
              <a:rPr lang="sv-SE" sz="1200"/>
              <a:t>34 st 16-bitars instruktioner</a:t>
            </a:r>
            <a:endParaRPr lang="LID4096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EBB976-DC7C-CE94-7662-38E2365F112C}"/>
              </a:ext>
            </a:extLst>
          </p:cNvPr>
          <p:cNvSpPr txBox="1"/>
          <p:nvPr/>
        </p:nvSpPr>
        <p:spPr>
          <a:xfrm>
            <a:off x="4149141" y="5413990"/>
            <a:ext cx="16862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Sv32 </a:t>
            </a:r>
            <a:r>
              <a:rPr lang="sv-SE" sz="1200"/>
              <a:t>virtuellt minne</a:t>
            </a:r>
            <a:endParaRPr lang="LID4096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17B71F-5AA9-FFA8-FF32-AD2E42BCE6DE}"/>
              </a:ext>
            </a:extLst>
          </p:cNvPr>
          <p:cNvSpPr txBox="1"/>
          <p:nvPr/>
        </p:nvSpPr>
        <p:spPr>
          <a:xfrm>
            <a:off x="4149141" y="4868076"/>
            <a:ext cx="17891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A </a:t>
            </a:r>
            <a:r>
              <a:rPr lang="sv-SE" sz="1200"/>
              <a:t>atomiska operationer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283749-CB03-C7E5-B558-65ADA989BE74}"/>
              </a:ext>
            </a:extLst>
          </p:cNvPr>
          <p:cNvSpPr txBox="1"/>
          <p:nvPr/>
        </p:nvSpPr>
        <p:spPr>
          <a:xfrm>
            <a:off x="4139981" y="5864474"/>
            <a:ext cx="391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...</a:t>
            </a:r>
            <a:endParaRPr lang="LID4096" sz="12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2F5784-52EF-2784-DAC6-938E797FA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157" y="2563531"/>
            <a:ext cx="2198772" cy="343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89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1716A-90F3-0E2E-BDB2-62B1D1940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8630-3C2E-6423-7130-C03194FBC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RISC-V - Varianter och extensions</a:t>
            </a:r>
            <a:endParaRPr lang="LID409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EB737E-3995-6A9D-8F6A-80D0DEFF1B6C}"/>
              </a:ext>
            </a:extLst>
          </p:cNvPr>
          <p:cNvGrpSpPr/>
          <p:nvPr/>
        </p:nvGrpSpPr>
        <p:grpSpPr>
          <a:xfrm>
            <a:off x="940157" y="2194199"/>
            <a:ext cx="2745290" cy="3966539"/>
            <a:chOff x="995966" y="2370210"/>
            <a:chExt cx="2745290" cy="39665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ABC8C79-42E5-4E1F-F5CB-652ADE91CA8B}"/>
                </a:ext>
              </a:extLst>
            </p:cNvPr>
            <p:cNvSpPr txBox="1"/>
            <p:nvPr/>
          </p:nvSpPr>
          <p:spPr>
            <a:xfrm>
              <a:off x="1094704" y="2902039"/>
              <a:ext cx="2637966" cy="110799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b="1"/>
                <a:t>RV32I</a:t>
              </a:r>
              <a:br>
                <a:rPr lang="sv-SE"/>
              </a:br>
              <a:r>
                <a:rPr lang="sv-SE" sz="1200"/>
                <a:t>basinstruktionsuppsättning för heltal</a:t>
              </a:r>
              <a:br>
                <a:rPr lang="sv-SE" sz="1200"/>
              </a:br>
              <a:r>
                <a:rPr lang="sv-SE" sz="1200"/>
                <a:t>47 instruktioner</a:t>
              </a:r>
              <a:br>
                <a:rPr lang="sv-SE" sz="1200"/>
              </a:br>
              <a:r>
                <a:rPr lang="sv-SE" sz="1200"/>
                <a:t>32 st </a:t>
              </a:r>
              <a:r>
                <a:rPr lang="sv-SE" sz="1200" b="1"/>
                <a:t>32</a:t>
              </a:r>
              <a:r>
                <a:rPr lang="sv-SE" sz="1200"/>
                <a:t>-bitars register</a:t>
              </a:r>
            </a:p>
            <a:p>
              <a:r>
                <a:rPr lang="sv-SE" sz="1200" b="1"/>
                <a:t>32</a:t>
              </a:r>
              <a:r>
                <a:rPr lang="sv-SE" sz="1200"/>
                <a:t>-bitars addressrymd</a:t>
              </a:r>
              <a:endParaRPr lang="LID4096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DA73CD3-48DF-B457-4E9D-CCF4911AA11B}"/>
                </a:ext>
              </a:extLst>
            </p:cNvPr>
            <p:cNvSpPr txBox="1"/>
            <p:nvPr/>
          </p:nvSpPr>
          <p:spPr>
            <a:xfrm>
              <a:off x="1103290" y="4157729"/>
              <a:ext cx="2637966" cy="110799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b="1"/>
                <a:t>RV64I</a:t>
              </a:r>
              <a:br>
                <a:rPr lang="sv-SE"/>
              </a:br>
              <a:r>
                <a:rPr lang="sv-SE" sz="1200"/>
                <a:t>basinstruktionsuppsättning för heltal</a:t>
              </a:r>
              <a:br>
                <a:rPr lang="sv-SE" sz="1200"/>
              </a:br>
              <a:r>
                <a:rPr lang="sv-SE" sz="1200"/>
                <a:t>47 instruktioner</a:t>
              </a:r>
              <a:br>
                <a:rPr lang="sv-SE" sz="1200"/>
              </a:br>
              <a:r>
                <a:rPr lang="sv-SE" sz="1200"/>
                <a:t>32 st </a:t>
              </a:r>
              <a:r>
                <a:rPr lang="sv-SE" sz="1200" b="1"/>
                <a:t>64</a:t>
              </a:r>
              <a:r>
                <a:rPr lang="sv-SE" sz="1200"/>
                <a:t>-bitars register</a:t>
              </a:r>
            </a:p>
            <a:p>
              <a:r>
                <a:rPr lang="sv-SE" sz="1200" b="1"/>
                <a:t>64</a:t>
              </a:r>
              <a:r>
                <a:rPr lang="sv-SE" sz="1200"/>
                <a:t>-bitars addressrymd</a:t>
              </a:r>
              <a:endParaRPr lang="LID4096" sz="12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08D2AE-725A-EE92-F312-82B758260B15}"/>
                </a:ext>
              </a:extLst>
            </p:cNvPr>
            <p:cNvSpPr txBox="1"/>
            <p:nvPr/>
          </p:nvSpPr>
          <p:spPr>
            <a:xfrm>
              <a:off x="1094704" y="5413419"/>
              <a:ext cx="2577885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b="1"/>
                <a:t>RV128I</a:t>
              </a:r>
              <a:br>
                <a:rPr lang="sv-SE"/>
              </a:br>
              <a:r>
                <a:rPr lang="sv-SE" sz="1200"/>
                <a:t>(specifikationen finns, men används</a:t>
              </a:r>
              <a:br>
                <a:rPr lang="sv-SE" sz="1200"/>
              </a:br>
              <a:r>
                <a:rPr lang="sv-SE" sz="1200"/>
                <a:t> inte vad jag vet. Ingen efterfrågan </a:t>
              </a:r>
              <a:br>
                <a:rPr lang="sv-SE" sz="1200"/>
              </a:br>
              <a:r>
                <a:rPr lang="sv-SE" sz="1200"/>
                <a:t>och mycket svårare att bygga)</a:t>
              </a:r>
              <a:endParaRPr lang="LID4096" sz="12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86352A-B928-D066-3596-F0A80AB90BD0}"/>
                </a:ext>
              </a:extLst>
            </p:cNvPr>
            <p:cNvSpPr txBox="1"/>
            <p:nvPr/>
          </p:nvSpPr>
          <p:spPr>
            <a:xfrm>
              <a:off x="995966" y="2370210"/>
              <a:ext cx="1257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b="1"/>
                <a:t>Varianter: </a:t>
              </a:r>
              <a:endParaRPr lang="LID4096" b="1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8136CDE-8603-49F2-A33E-3B6063EF9BC0}"/>
              </a:ext>
            </a:extLst>
          </p:cNvPr>
          <p:cNvSpPr txBox="1"/>
          <p:nvPr/>
        </p:nvSpPr>
        <p:spPr>
          <a:xfrm>
            <a:off x="4067577" y="2194199"/>
            <a:ext cx="145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Extensions: </a:t>
            </a:r>
            <a:endParaRPr lang="LID4096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ED03E-1E58-6137-0453-C6DA6FA777D7}"/>
              </a:ext>
            </a:extLst>
          </p:cNvPr>
          <p:cNvSpPr txBox="1"/>
          <p:nvPr/>
        </p:nvSpPr>
        <p:spPr>
          <a:xfrm>
            <a:off x="4149143" y="2616558"/>
            <a:ext cx="2303579" cy="7386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F </a:t>
            </a:r>
            <a:r>
              <a:rPr lang="sv-SE" sz="1200"/>
              <a:t>single precision floating point</a:t>
            </a:r>
            <a:br>
              <a:rPr lang="sv-SE"/>
            </a:br>
            <a:r>
              <a:rPr lang="sv-SE" sz="1200"/>
              <a:t>26 instruktioner</a:t>
            </a:r>
          </a:p>
          <a:p>
            <a:r>
              <a:rPr lang="sv-SE" sz="1200"/>
              <a:t>32 st 32-bitars flyttalsregister</a:t>
            </a:r>
            <a:endParaRPr lang="LID4096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95B7D-3EB7-C9B8-0207-9A5E3DD0D184}"/>
              </a:ext>
            </a:extLst>
          </p:cNvPr>
          <p:cNvSpPr txBox="1"/>
          <p:nvPr/>
        </p:nvSpPr>
        <p:spPr>
          <a:xfrm>
            <a:off x="4149142" y="3408249"/>
            <a:ext cx="241579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D </a:t>
            </a:r>
            <a:r>
              <a:rPr lang="sv-SE" sz="1200"/>
              <a:t>double precision floating point</a:t>
            </a:r>
            <a:br>
              <a:rPr lang="sv-SE"/>
            </a:br>
            <a:r>
              <a:rPr lang="sv-SE" sz="1200"/>
              <a:t>26 instruktioner</a:t>
            </a:r>
          </a:p>
          <a:p>
            <a:r>
              <a:rPr lang="sv-SE" sz="1200"/>
              <a:t>32 st 64-bitars flyttalsregister</a:t>
            </a:r>
            <a:endParaRPr lang="LID4096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C637C-B39A-43A9-222B-1A4FE862D895}"/>
              </a:ext>
            </a:extLst>
          </p:cNvPr>
          <p:cNvSpPr txBox="1"/>
          <p:nvPr/>
        </p:nvSpPr>
        <p:spPr>
          <a:xfrm>
            <a:off x="4149142" y="4199940"/>
            <a:ext cx="2115387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C </a:t>
            </a:r>
            <a:r>
              <a:rPr lang="sv-SE" sz="1200"/>
              <a:t>compressed instructions</a:t>
            </a:r>
          </a:p>
          <a:p>
            <a:r>
              <a:rPr lang="sv-SE" sz="1200"/>
              <a:t>34 st 16-bitars instruktioner</a:t>
            </a:r>
            <a:endParaRPr lang="LID4096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4FE69C-D2D2-C69F-9AF5-DC13C2FD640D}"/>
              </a:ext>
            </a:extLst>
          </p:cNvPr>
          <p:cNvSpPr txBox="1"/>
          <p:nvPr/>
        </p:nvSpPr>
        <p:spPr>
          <a:xfrm>
            <a:off x="4149141" y="5413990"/>
            <a:ext cx="16862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Sv32 </a:t>
            </a:r>
            <a:r>
              <a:rPr lang="sv-SE" sz="1200"/>
              <a:t>virtuellt minne</a:t>
            </a:r>
            <a:endParaRPr lang="LID4096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B482A5-CD19-0674-4E70-1B4518795130}"/>
              </a:ext>
            </a:extLst>
          </p:cNvPr>
          <p:cNvSpPr txBox="1"/>
          <p:nvPr/>
        </p:nvSpPr>
        <p:spPr>
          <a:xfrm>
            <a:off x="4149141" y="4868076"/>
            <a:ext cx="17891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A </a:t>
            </a:r>
            <a:r>
              <a:rPr lang="sv-SE" sz="1200"/>
              <a:t>atomiska operationer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C294E2-09DE-FBCF-22C1-BA19415CE11B}"/>
              </a:ext>
            </a:extLst>
          </p:cNvPr>
          <p:cNvSpPr txBox="1"/>
          <p:nvPr/>
        </p:nvSpPr>
        <p:spPr>
          <a:xfrm>
            <a:off x="4139981" y="5864474"/>
            <a:ext cx="391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...</a:t>
            </a:r>
            <a:endParaRPr lang="LID4096" sz="12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82B5EA-973B-D5FE-6706-3BDBBBC86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567" y="2549757"/>
            <a:ext cx="3436141" cy="349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06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BA57C-48E8-EFA5-FF28-84CF466A8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CA59-3775-C5D4-CD91-A685EAC26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RISC-V - Varianter och extensions</a:t>
            </a:r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5FB873-2FE1-2093-7BF4-C7A924176614}"/>
              </a:ext>
            </a:extLst>
          </p:cNvPr>
          <p:cNvSpPr txBox="1"/>
          <p:nvPr/>
        </p:nvSpPr>
        <p:spPr>
          <a:xfrm>
            <a:off x="1038895" y="2726028"/>
            <a:ext cx="2637966" cy="110799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RV32I</a:t>
            </a:r>
            <a:br>
              <a:rPr lang="sv-SE"/>
            </a:br>
            <a:r>
              <a:rPr lang="sv-SE" sz="1200"/>
              <a:t>basinstruktionsuppsättning för heltal</a:t>
            </a:r>
            <a:br>
              <a:rPr lang="sv-SE" sz="1200"/>
            </a:br>
            <a:r>
              <a:rPr lang="sv-SE" sz="1200"/>
              <a:t>47 instruktioner</a:t>
            </a:r>
            <a:br>
              <a:rPr lang="sv-SE" sz="1200"/>
            </a:br>
            <a:r>
              <a:rPr lang="sv-SE" sz="1200"/>
              <a:t>32 st </a:t>
            </a:r>
            <a:r>
              <a:rPr lang="sv-SE" sz="1200" b="1"/>
              <a:t>32</a:t>
            </a:r>
            <a:r>
              <a:rPr lang="sv-SE" sz="1200"/>
              <a:t>-bitars register</a:t>
            </a:r>
          </a:p>
          <a:p>
            <a:r>
              <a:rPr lang="sv-SE" sz="1200" b="1"/>
              <a:t>32</a:t>
            </a:r>
            <a:r>
              <a:rPr lang="sv-SE" sz="1200"/>
              <a:t>-bitars addressrymd</a:t>
            </a:r>
            <a:endParaRPr lang="LID4096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700BA5-CE8E-E990-328C-A656605116EB}"/>
              </a:ext>
            </a:extLst>
          </p:cNvPr>
          <p:cNvSpPr txBox="1"/>
          <p:nvPr/>
        </p:nvSpPr>
        <p:spPr>
          <a:xfrm>
            <a:off x="1047481" y="3981718"/>
            <a:ext cx="2637966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RV64I</a:t>
            </a:r>
            <a:br>
              <a:rPr lang="sv-SE"/>
            </a:br>
            <a:r>
              <a:rPr lang="sv-SE" sz="1200"/>
              <a:t>basinstruktionsuppsättning för heltal</a:t>
            </a:r>
            <a:br>
              <a:rPr lang="sv-SE" sz="1200"/>
            </a:br>
            <a:r>
              <a:rPr lang="sv-SE" sz="1200"/>
              <a:t>47 instruktioner</a:t>
            </a:r>
            <a:br>
              <a:rPr lang="sv-SE" sz="1200"/>
            </a:br>
            <a:r>
              <a:rPr lang="sv-SE" sz="1200"/>
              <a:t>32 st </a:t>
            </a:r>
            <a:r>
              <a:rPr lang="sv-SE" sz="1200" b="1"/>
              <a:t>64</a:t>
            </a:r>
            <a:r>
              <a:rPr lang="sv-SE" sz="1200"/>
              <a:t>-bitars register</a:t>
            </a:r>
          </a:p>
          <a:p>
            <a:r>
              <a:rPr lang="sv-SE" sz="1200" b="1"/>
              <a:t>64</a:t>
            </a:r>
            <a:r>
              <a:rPr lang="sv-SE" sz="1200"/>
              <a:t>-bitars addressrymd</a:t>
            </a:r>
            <a:endParaRPr lang="LID4096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0607A-9E04-1AF7-16E9-F1B679A6B049}"/>
              </a:ext>
            </a:extLst>
          </p:cNvPr>
          <p:cNvSpPr txBox="1"/>
          <p:nvPr/>
        </p:nvSpPr>
        <p:spPr>
          <a:xfrm>
            <a:off x="1038895" y="5237408"/>
            <a:ext cx="257788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RV128I</a:t>
            </a:r>
            <a:br>
              <a:rPr lang="sv-SE"/>
            </a:br>
            <a:r>
              <a:rPr lang="sv-SE" sz="1200"/>
              <a:t>(specifikationen finns, men används</a:t>
            </a:r>
            <a:br>
              <a:rPr lang="sv-SE" sz="1200"/>
            </a:br>
            <a:r>
              <a:rPr lang="sv-SE" sz="1200"/>
              <a:t> inte vad jag vet. Ingen efterfrågan </a:t>
            </a:r>
            <a:br>
              <a:rPr lang="sv-SE" sz="1200"/>
            </a:br>
            <a:r>
              <a:rPr lang="sv-SE" sz="1200"/>
              <a:t>och mycket svårare att bygga)</a:t>
            </a:r>
            <a:endParaRPr lang="LID4096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6EC28-845F-779E-CF5D-A7D29B01A5E4}"/>
              </a:ext>
            </a:extLst>
          </p:cNvPr>
          <p:cNvSpPr txBox="1"/>
          <p:nvPr/>
        </p:nvSpPr>
        <p:spPr>
          <a:xfrm>
            <a:off x="940157" y="2194199"/>
            <a:ext cx="1257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Varianter: </a:t>
            </a:r>
            <a:endParaRPr lang="LID4096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DF3838-5520-DF98-6ED0-30DFAFE7A37C}"/>
              </a:ext>
            </a:extLst>
          </p:cNvPr>
          <p:cNvSpPr txBox="1"/>
          <p:nvPr/>
        </p:nvSpPr>
        <p:spPr>
          <a:xfrm>
            <a:off x="4067577" y="2194199"/>
            <a:ext cx="145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Extensions: </a:t>
            </a:r>
            <a:endParaRPr lang="LID4096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BDE782-B4E9-FB35-3B5E-F2EE00B1B2EE}"/>
              </a:ext>
            </a:extLst>
          </p:cNvPr>
          <p:cNvSpPr txBox="1"/>
          <p:nvPr/>
        </p:nvSpPr>
        <p:spPr>
          <a:xfrm>
            <a:off x="4149143" y="2616558"/>
            <a:ext cx="230357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F </a:t>
            </a:r>
            <a:r>
              <a:rPr lang="sv-SE" sz="1200"/>
              <a:t>single precision floating point</a:t>
            </a:r>
            <a:br>
              <a:rPr lang="sv-SE"/>
            </a:br>
            <a:r>
              <a:rPr lang="sv-SE" sz="1200"/>
              <a:t>26 instruktioner</a:t>
            </a:r>
          </a:p>
          <a:p>
            <a:r>
              <a:rPr lang="sv-SE" sz="1200"/>
              <a:t>32 st 32-bitars flyttalsregister</a:t>
            </a:r>
            <a:endParaRPr lang="LID4096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1A9FDB-4D0A-9B1B-AA74-4FD368B2A2A0}"/>
              </a:ext>
            </a:extLst>
          </p:cNvPr>
          <p:cNvSpPr txBox="1"/>
          <p:nvPr/>
        </p:nvSpPr>
        <p:spPr>
          <a:xfrm>
            <a:off x="4149142" y="3408249"/>
            <a:ext cx="241579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D </a:t>
            </a:r>
            <a:r>
              <a:rPr lang="sv-SE" sz="1200"/>
              <a:t>double precision floating point</a:t>
            </a:r>
            <a:br>
              <a:rPr lang="sv-SE"/>
            </a:br>
            <a:r>
              <a:rPr lang="sv-SE" sz="1200"/>
              <a:t>26 instruktioner</a:t>
            </a:r>
          </a:p>
          <a:p>
            <a:r>
              <a:rPr lang="sv-SE" sz="1200"/>
              <a:t>32 st 64-bitars flyttalsregister</a:t>
            </a:r>
            <a:endParaRPr lang="LID4096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6C03A-8069-EC42-BCCC-4F4DB96A3F01}"/>
              </a:ext>
            </a:extLst>
          </p:cNvPr>
          <p:cNvSpPr txBox="1"/>
          <p:nvPr/>
        </p:nvSpPr>
        <p:spPr>
          <a:xfrm>
            <a:off x="4149142" y="4199940"/>
            <a:ext cx="2115387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C </a:t>
            </a:r>
            <a:r>
              <a:rPr lang="sv-SE" sz="1200"/>
              <a:t>compressed instructions</a:t>
            </a:r>
          </a:p>
          <a:p>
            <a:r>
              <a:rPr lang="sv-SE" sz="1200"/>
              <a:t>34 st 16-bitars instruktioner</a:t>
            </a:r>
            <a:endParaRPr lang="LID4096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337E76-6358-918B-437E-52347B726D4D}"/>
              </a:ext>
            </a:extLst>
          </p:cNvPr>
          <p:cNvSpPr txBox="1"/>
          <p:nvPr/>
        </p:nvSpPr>
        <p:spPr>
          <a:xfrm>
            <a:off x="4149141" y="5413990"/>
            <a:ext cx="16862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Sv32 </a:t>
            </a:r>
            <a:r>
              <a:rPr lang="sv-SE" sz="1200"/>
              <a:t>virtuellt minne</a:t>
            </a:r>
            <a:endParaRPr lang="LID4096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FE78F3-C704-627E-66A8-1F981E580A4D}"/>
              </a:ext>
            </a:extLst>
          </p:cNvPr>
          <p:cNvSpPr txBox="1"/>
          <p:nvPr/>
        </p:nvSpPr>
        <p:spPr>
          <a:xfrm>
            <a:off x="4149141" y="4868076"/>
            <a:ext cx="17891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A </a:t>
            </a:r>
            <a:r>
              <a:rPr lang="sv-SE" sz="1200"/>
              <a:t>atomiska operationer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04ED8A-D317-54D4-8497-CB72E3A1C45D}"/>
              </a:ext>
            </a:extLst>
          </p:cNvPr>
          <p:cNvSpPr txBox="1"/>
          <p:nvPr/>
        </p:nvSpPr>
        <p:spPr>
          <a:xfrm>
            <a:off x="4139981" y="5864474"/>
            <a:ext cx="391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...</a:t>
            </a:r>
            <a:endParaRPr lang="LID4096" sz="12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C8F4F6-E762-B746-00E6-0274B1C0A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916" y="2320344"/>
            <a:ext cx="2734691" cy="405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19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7D9D8-04B3-516B-976C-9FE6F44A0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437D-4523-3FD0-1D85-4FA40F6B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RISC-V - Varianter och extensions</a:t>
            </a:r>
            <a:endParaRPr lang="LID409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6BBD32A-633F-3ABC-E161-1FF186BBD275}"/>
              </a:ext>
            </a:extLst>
          </p:cNvPr>
          <p:cNvGrpSpPr/>
          <p:nvPr/>
        </p:nvGrpSpPr>
        <p:grpSpPr>
          <a:xfrm>
            <a:off x="940157" y="2194199"/>
            <a:ext cx="2745290" cy="3966539"/>
            <a:chOff x="995966" y="2370210"/>
            <a:chExt cx="2745290" cy="39665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425BCF4-B9C0-4B84-3221-01E2146FFD50}"/>
                </a:ext>
              </a:extLst>
            </p:cNvPr>
            <p:cNvSpPr txBox="1"/>
            <p:nvPr/>
          </p:nvSpPr>
          <p:spPr>
            <a:xfrm>
              <a:off x="1094704" y="2902039"/>
              <a:ext cx="2637966" cy="11079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b="1"/>
                <a:t>RV32I</a:t>
              </a:r>
              <a:br>
                <a:rPr lang="sv-SE"/>
              </a:br>
              <a:r>
                <a:rPr lang="sv-SE" sz="1200"/>
                <a:t>basinstruktionsuppsättning för heltal</a:t>
              </a:r>
              <a:br>
                <a:rPr lang="sv-SE" sz="1200"/>
              </a:br>
              <a:r>
                <a:rPr lang="sv-SE" sz="1200"/>
                <a:t>47 instruktioner</a:t>
              </a:r>
              <a:br>
                <a:rPr lang="sv-SE" sz="1200"/>
              </a:br>
              <a:r>
                <a:rPr lang="sv-SE" sz="1200"/>
                <a:t>32 st </a:t>
              </a:r>
              <a:r>
                <a:rPr lang="sv-SE" sz="1200" b="1"/>
                <a:t>32</a:t>
              </a:r>
              <a:r>
                <a:rPr lang="sv-SE" sz="1200"/>
                <a:t>-bitars register</a:t>
              </a:r>
            </a:p>
            <a:p>
              <a:r>
                <a:rPr lang="sv-SE" sz="1200" b="1"/>
                <a:t>32</a:t>
              </a:r>
              <a:r>
                <a:rPr lang="sv-SE" sz="1200"/>
                <a:t>-bitars addressrymd</a:t>
              </a:r>
              <a:endParaRPr lang="LID4096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E9CF07-B484-48DD-27EC-A3AC371891E9}"/>
                </a:ext>
              </a:extLst>
            </p:cNvPr>
            <p:cNvSpPr txBox="1"/>
            <p:nvPr/>
          </p:nvSpPr>
          <p:spPr>
            <a:xfrm>
              <a:off x="1103290" y="4157729"/>
              <a:ext cx="2637966" cy="110799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b="1"/>
                <a:t>RV64I</a:t>
              </a:r>
              <a:br>
                <a:rPr lang="sv-SE"/>
              </a:br>
              <a:r>
                <a:rPr lang="sv-SE" sz="1200"/>
                <a:t>basinstruktionsuppsättning för heltal</a:t>
              </a:r>
              <a:br>
                <a:rPr lang="sv-SE" sz="1200"/>
              </a:br>
              <a:r>
                <a:rPr lang="sv-SE" sz="1200"/>
                <a:t>47 instruktioner</a:t>
              </a:r>
              <a:br>
                <a:rPr lang="sv-SE" sz="1200"/>
              </a:br>
              <a:r>
                <a:rPr lang="sv-SE" sz="1200"/>
                <a:t>32 st </a:t>
              </a:r>
              <a:r>
                <a:rPr lang="sv-SE" sz="1200" b="1"/>
                <a:t>64</a:t>
              </a:r>
              <a:r>
                <a:rPr lang="sv-SE" sz="1200"/>
                <a:t>-bitars register</a:t>
              </a:r>
            </a:p>
            <a:p>
              <a:r>
                <a:rPr lang="sv-SE" sz="1200" b="1"/>
                <a:t>64</a:t>
              </a:r>
              <a:r>
                <a:rPr lang="sv-SE" sz="1200"/>
                <a:t>-bitars addressrymd</a:t>
              </a:r>
              <a:endParaRPr lang="LID4096" sz="12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F630510-E3A8-D1CE-9676-4C62C2AA38CA}"/>
                </a:ext>
              </a:extLst>
            </p:cNvPr>
            <p:cNvSpPr txBox="1"/>
            <p:nvPr/>
          </p:nvSpPr>
          <p:spPr>
            <a:xfrm>
              <a:off x="1094704" y="5413419"/>
              <a:ext cx="2577885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 b="1"/>
                <a:t>RV128I</a:t>
              </a:r>
              <a:br>
                <a:rPr lang="sv-SE"/>
              </a:br>
              <a:r>
                <a:rPr lang="sv-SE" sz="1200"/>
                <a:t>(specifikationen finns, men används</a:t>
              </a:r>
              <a:br>
                <a:rPr lang="sv-SE" sz="1200"/>
              </a:br>
              <a:r>
                <a:rPr lang="sv-SE" sz="1200"/>
                <a:t> inte vad jag vet. Ingen efterfrågan </a:t>
              </a:r>
              <a:br>
                <a:rPr lang="sv-SE" sz="1200"/>
              </a:br>
              <a:r>
                <a:rPr lang="sv-SE" sz="1200"/>
                <a:t>och mycket svårare att bygga)</a:t>
              </a:r>
              <a:endParaRPr lang="LID4096" sz="12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510D80-E265-0294-19B7-79D09E026A1A}"/>
                </a:ext>
              </a:extLst>
            </p:cNvPr>
            <p:cNvSpPr txBox="1"/>
            <p:nvPr/>
          </p:nvSpPr>
          <p:spPr>
            <a:xfrm>
              <a:off x="995966" y="2370210"/>
              <a:ext cx="1257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b="1"/>
                <a:t>Varianter: </a:t>
              </a:r>
              <a:endParaRPr lang="LID4096" b="1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4C527F1-6D12-6778-7403-B9B701231078}"/>
              </a:ext>
            </a:extLst>
          </p:cNvPr>
          <p:cNvSpPr txBox="1"/>
          <p:nvPr/>
        </p:nvSpPr>
        <p:spPr>
          <a:xfrm>
            <a:off x="4067577" y="2194199"/>
            <a:ext cx="145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Extensions: </a:t>
            </a:r>
            <a:endParaRPr lang="LID4096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BB911A-09F4-F5AB-1588-2C046D83859F}"/>
              </a:ext>
            </a:extLst>
          </p:cNvPr>
          <p:cNvSpPr txBox="1"/>
          <p:nvPr/>
        </p:nvSpPr>
        <p:spPr>
          <a:xfrm>
            <a:off x="4149143" y="2616558"/>
            <a:ext cx="2303579" cy="7386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F </a:t>
            </a:r>
            <a:r>
              <a:rPr lang="sv-SE" sz="1200"/>
              <a:t>single precision floating point</a:t>
            </a:r>
            <a:br>
              <a:rPr lang="sv-SE"/>
            </a:br>
            <a:r>
              <a:rPr lang="sv-SE" sz="1200"/>
              <a:t>26 instruktioner</a:t>
            </a:r>
          </a:p>
          <a:p>
            <a:r>
              <a:rPr lang="sv-SE" sz="1200"/>
              <a:t>32 st 32-bitars flyttalsregister</a:t>
            </a:r>
            <a:endParaRPr lang="LID4096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4D4B3B-C690-47C9-2311-248C73483E8E}"/>
              </a:ext>
            </a:extLst>
          </p:cNvPr>
          <p:cNvSpPr txBox="1"/>
          <p:nvPr/>
        </p:nvSpPr>
        <p:spPr>
          <a:xfrm>
            <a:off x="4149142" y="3408249"/>
            <a:ext cx="2415790" cy="7386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D </a:t>
            </a:r>
            <a:r>
              <a:rPr lang="sv-SE" sz="1200"/>
              <a:t>double precision floating point</a:t>
            </a:r>
            <a:br>
              <a:rPr lang="sv-SE"/>
            </a:br>
            <a:r>
              <a:rPr lang="sv-SE" sz="1200"/>
              <a:t>26 instruktioner</a:t>
            </a:r>
          </a:p>
          <a:p>
            <a:r>
              <a:rPr lang="sv-SE" sz="1200"/>
              <a:t>32 st 64-bitars flyttalsregister</a:t>
            </a:r>
            <a:endParaRPr lang="LID4096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FE855F-0B6A-0F44-DDAD-316182D07CA7}"/>
              </a:ext>
            </a:extLst>
          </p:cNvPr>
          <p:cNvSpPr txBox="1"/>
          <p:nvPr/>
        </p:nvSpPr>
        <p:spPr>
          <a:xfrm>
            <a:off x="4149142" y="4199940"/>
            <a:ext cx="2115387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C </a:t>
            </a:r>
            <a:r>
              <a:rPr lang="sv-SE" sz="1200"/>
              <a:t>compressed instructions</a:t>
            </a:r>
          </a:p>
          <a:p>
            <a:r>
              <a:rPr lang="sv-SE" sz="1200"/>
              <a:t>34 st 16-bitars instruktioner</a:t>
            </a:r>
            <a:endParaRPr lang="LID4096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7E56FE-12FF-9F86-B2E6-F054757359E2}"/>
              </a:ext>
            </a:extLst>
          </p:cNvPr>
          <p:cNvSpPr txBox="1"/>
          <p:nvPr/>
        </p:nvSpPr>
        <p:spPr>
          <a:xfrm>
            <a:off x="4149141" y="5413990"/>
            <a:ext cx="1686231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Sv32 </a:t>
            </a:r>
            <a:r>
              <a:rPr lang="sv-SE" sz="1200"/>
              <a:t>virtuellt minne</a:t>
            </a:r>
            <a:endParaRPr lang="LID4096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6DFF2F-8730-F7D7-1AD5-DC46A7AC3F60}"/>
              </a:ext>
            </a:extLst>
          </p:cNvPr>
          <p:cNvSpPr txBox="1"/>
          <p:nvPr/>
        </p:nvSpPr>
        <p:spPr>
          <a:xfrm>
            <a:off x="4149141" y="4868076"/>
            <a:ext cx="1789144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A </a:t>
            </a:r>
            <a:r>
              <a:rPr lang="sv-SE" sz="1200"/>
              <a:t>atomiska operationer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B04B6B-A4FF-3E86-C321-45E65B5265A7}"/>
              </a:ext>
            </a:extLst>
          </p:cNvPr>
          <p:cNvSpPr txBox="1"/>
          <p:nvPr/>
        </p:nvSpPr>
        <p:spPr>
          <a:xfrm>
            <a:off x="4139981" y="5864474"/>
            <a:ext cx="391454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...</a:t>
            </a:r>
            <a:endParaRPr lang="LID4096" sz="12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76E6634-328D-E3AC-8731-01B1F36D4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186" y="2736561"/>
            <a:ext cx="3900476" cy="331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643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8932D-CEE0-174C-7244-37E8407A1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9910-EBC5-44BE-0430-816AEF3BF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RISC-V - Varianter och extensions</a:t>
            </a:r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FBD34-F8D3-6EA4-C03D-EA411D2899C2}"/>
              </a:ext>
            </a:extLst>
          </p:cNvPr>
          <p:cNvSpPr txBox="1"/>
          <p:nvPr/>
        </p:nvSpPr>
        <p:spPr>
          <a:xfrm>
            <a:off x="1038895" y="2726028"/>
            <a:ext cx="2637966" cy="110799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RV32I</a:t>
            </a:r>
            <a:br>
              <a:rPr lang="sv-SE"/>
            </a:br>
            <a:r>
              <a:rPr lang="sv-SE" sz="1200"/>
              <a:t>basinstruktionsuppsättning för heltal</a:t>
            </a:r>
            <a:br>
              <a:rPr lang="sv-SE" sz="1200"/>
            </a:br>
            <a:r>
              <a:rPr lang="sv-SE" sz="1200"/>
              <a:t>47 instruktioner</a:t>
            </a:r>
            <a:br>
              <a:rPr lang="sv-SE" sz="1200"/>
            </a:br>
            <a:r>
              <a:rPr lang="sv-SE" sz="1200"/>
              <a:t>32 st </a:t>
            </a:r>
            <a:r>
              <a:rPr lang="sv-SE" sz="1200" b="1"/>
              <a:t>32</a:t>
            </a:r>
            <a:r>
              <a:rPr lang="sv-SE" sz="1200"/>
              <a:t>-bitars register</a:t>
            </a:r>
          </a:p>
          <a:p>
            <a:r>
              <a:rPr lang="sv-SE" sz="1200" b="1"/>
              <a:t>32</a:t>
            </a:r>
            <a:r>
              <a:rPr lang="sv-SE" sz="1200"/>
              <a:t>-bitars addressrymd</a:t>
            </a:r>
            <a:endParaRPr lang="LID4096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A932E-F65E-A433-E3AC-3E23F60FDCA5}"/>
              </a:ext>
            </a:extLst>
          </p:cNvPr>
          <p:cNvSpPr txBox="1"/>
          <p:nvPr/>
        </p:nvSpPr>
        <p:spPr>
          <a:xfrm>
            <a:off x="1047481" y="3981718"/>
            <a:ext cx="2637966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RV64I</a:t>
            </a:r>
            <a:br>
              <a:rPr lang="sv-SE"/>
            </a:br>
            <a:r>
              <a:rPr lang="sv-SE" sz="1200"/>
              <a:t>basinstruktionsuppsättning för heltal</a:t>
            </a:r>
            <a:br>
              <a:rPr lang="sv-SE" sz="1200"/>
            </a:br>
            <a:r>
              <a:rPr lang="sv-SE" sz="1200"/>
              <a:t>47 instruktioner</a:t>
            </a:r>
            <a:br>
              <a:rPr lang="sv-SE" sz="1200"/>
            </a:br>
            <a:r>
              <a:rPr lang="sv-SE" sz="1200"/>
              <a:t>32 st </a:t>
            </a:r>
            <a:r>
              <a:rPr lang="sv-SE" sz="1200" b="1"/>
              <a:t>64</a:t>
            </a:r>
            <a:r>
              <a:rPr lang="sv-SE" sz="1200"/>
              <a:t>-bitars register</a:t>
            </a:r>
          </a:p>
          <a:p>
            <a:r>
              <a:rPr lang="sv-SE" sz="1200" b="1"/>
              <a:t>64</a:t>
            </a:r>
            <a:r>
              <a:rPr lang="sv-SE" sz="1200"/>
              <a:t>-bitars addressrymd</a:t>
            </a:r>
            <a:endParaRPr lang="LID4096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0D389-DB9F-3094-6239-561E42144B49}"/>
              </a:ext>
            </a:extLst>
          </p:cNvPr>
          <p:cNvSpPr txBox="1"/>
          <p:nvPr/>
        </p:nvSpPr>
        <p:spPr>
          <a:xfrm>
            <a:off x="1038895" y="5237408"/>
            <a:ext cx="257788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RV128I</a:t>
            </a:r>
            <a:br>
              <a:rPr lang="sv-SE"/>
            </a:br>
            <a:r>
              <a:rPr lang="sv-SE" sz="1200"/>
              <a:t>(specifikationen finns, men används</a:t>
            </a:r>
            <a:br>
              <a:rPr lang="sv-SE" sz="1200"/>
            </a:br>
            <a:r>
              <a:rPr lang="sv-SE" sz="1200"/>
              <a:t> inte vad jag vet. Ingen efterfrågan </a:t>
            </a:r>
            <a:br>
              <a:rPr lang="sv-SE" sz="1200"/>
            </a:br>
            <a:r>
              <a:rPr lang="sv-SE" sz="1200"/>
              <a:t>och mycket svårare att bygga)</a:t>
            </a:r>
            <a:endParaRPr lang="LID4096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F9D9FD-E408-5741-CEA8-4CD964CC397A}"/>
              </a:ext>
            </a:extLst>
          </p:cNvPr>
          <p:cNvSpPr txBox="1"/>
          <p:nvPr/>
        </p:nvSpPr>
        <p:spPr>
          <a:xfrm>
            <a:off x="940157" y="2194199"/>
            <a:ext cx="1257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Varianter: </a:t>
            </a:r>
            <a:endParaRPr lang="LID4096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1DD06-AD6C-DAB1-B9D1-FBC83038200D}"/>
              </a:ext>
            </a:extLst>
          </p:cNvPr>
          <p:cNvSpPr txBox="1"/>
          <p:nvPr/>
        </p:nvSpPr>
        <p:spPr>
          <a:xfrm>
            <a:off x="4067577" y="2194199"/>
            <a:ext cx="145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/>
              <a:t>Extensions: </a:t>
            </a:r>
            <a:endParaRPr lang="LID4096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E6E42B-D78A-5E43-787C-48C6BB813DEA}"/>
              </a:ext>
            </a:extLst>
          </p:cNvPr>
          <p:cNvSpPr txBox="1"/>
          <p:nvPr/>
        </p:nvSpPr>
        <p:spPr>
          <a:xfrm>
            <a:off x="4149143" y="2616558"/>
            <a:ext cx="2303579" cy="7386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F </a:t>
            </a:r>
            <a:r>
              <a:rPr lang="sv-SE" sz="1200"/>
              <a:t>single precision floating point</a:t>
            </a:r>
            <a:br>
              <a:rPr lang="sv-SE"/>
            </a:br>
            <a:r>
              <a:rPr lang="sv-SE" sz="1200"/>
              <a:t>26 instruktioner</a:t>
            </a:r>
          </a:p>
          <a:p>
            <a:r>
              <a:rPr lang="sv-SE" sz="1200"/>
              <a:t>32 st 32-bitars flyttalsregister</a:t>
            </a:r>
            <a:endParaRPr lang="LID4096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D3C6AF-8ED8-EA7A-B593-546178DFA43B}"/>
              </a:ext>
            </a:extLst>
          </p:cNvPr>
          <p:cNvSpPr txBox="1"/>
          <p:nvPr/>
        </p:nvSpPr>
        <p:spPr>
          <a:xfrm>
            <a:off x="4149142" y="3408249"/>
            <a:ext cx="241579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D </a:t>
            </a:r>
            <a:r>
              <a:rPr lang="sv-SE" sz="1200"/>
              <a:t>double precision floating point</a:t>
            </a:r>
            <a:br>
              <a:rPr lang="sv-SE"/>
            </a:br>
            <a:r>
              <a:rPr lang="sv-SE" sz="1200"/>
              <a:t>26 instruktioner</a:t>
            </a:r>
          </a:p>
          <a:p>
            <a:r>
              <a:rPr lang="sv-SE" sz="1200"/>
              <a:t>32 st 64-bitars flyttalsregister</a:t>
            </a:r>
            <a:endParaRPr lang="LID4096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0380B0-4449-ADE9-79AF-F5DD24BA0FCC}"/>
              </a:ext>
            </a:extLst>
          </p:cNvPr>
          <p:cNvSpPr txBox="1"/>
          <p:nvPr/>
        </p:nvSpPr>
        <p:spPr>
          <a:xfrm>
            <a:off x="4149142" y="4199940"/>
            <a:ext cx="2115387" cy="5539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C </a:t>
            </a:r>
            <a:r>
              <a:rPr lang="sv-SE" sz="1200"/>
              <a:t>compressed instructions</a:t>
            </a:r>
          </a:p>
          <a:p>
            <a:r>
              <a:rPr lang="sv-SE" sz="1200"/>
              <a:t>34 st 16-bitars instruktioner</a:t>
            </a:r>
            <a:endParaRPr lang="LID4096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65596B-B532-92CC-CD33-A4E6D07DE92D}"/>
              </a:ext>
            </a:extLst>
          </p:cNvPr>
          <p:cNvSpPr txBox="1"/>
          <p:nvPr/>
        </p:nvSpPr>
        <p:spPr>
          <a:xfrm>
            <a:off x="4149141" y="5413990"/>
            <a:ext cx="16862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Sv32 </a:t>
            </a:r>
            <a:r>
              <a:rPr lang="sv-SE" sz="1200"/>
              <a:t>virtuellt minne</a:t>
            </a:r>
            <a:endParaRPr lang="LID4096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A174B0-9C09-8530-6241-37D8765C8D7F}"/>
              </a:ext>
            </a:extLst>
          </p:cNvPr>
          <p:cNvSpPr txBox="1"/>
          <p:nvPr/>
        </p:nvSpPr>
        <p:spPr>
          <a:xfrm>
            <a:off x="4149141" y="4868076"/>
            <a:ext cx="1789144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A </a:t>
            </a:r>
            <a:r>
              <a:rPr lang="sv-SE" sz="1200"/>
              <a:t>atomiska operationer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7D61D-05AA-27C9-F722-5259F920CF36}"/>
              </a:ext>
            </a:extLst>
          </p:cNvPr>
          <p:cNvSpPr txBox="1"/>
          <p:nvPr/>
        </p:nvSpPr>
        <p:spPr>
          <a:xfrm>
            <a:off x="4139981" y="5864474"/>
            <a:ext cx="391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b="1"/>
              <a:t>...</a:t>
            </a:r>
            <a:endParaRPr lang="LID4096" sz="12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A0869E-3676-70D8-5A2F-4A64B7D1FE8E}"/>
              </a:ext>
            </a:extLst>
          </p:cNvPr>
          <p:cNvGrpSpPr/>
          <p:nvPr/>
        </p:nvGrpSpPr>
        <p:grpSpPr>
          <a:xfrm>
            <a:off x="7706482" y="2726028"/>
            <a:ext cx="5244607" cy="2949294"/>
            <a:chOff x="1275631" y="2434252"/>
            <a:chExt cx="5244607" cy="2949294"/>
          </a:xfrm>
        </p:grpSpPr>
        <p:pic>
          <p:nvPicPr>
            <p:cNvPr id="16" name="Picture 15" descr="A close-up of a circuit board&#10;&#10;AI-generated content may be incorrect.">
              <a:extLst>
                <a:ext uri="{FF2B5EF4-FFF2-40B4-BE49-F238E27FC236}">
                  <a16:creationId xmlns:a16="http://schemas.microsoft.com/office/drawing/2014/main" id="{ACFF4857-2D64-28AD-C166-7451E1785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  <a14:imgEffect>
                        <a14:brightnessContrast bright="33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59597">
              <a:off x="1275631" y="2756063"/>
              <a:ext cx="5244607" cy="262748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BC1868E-2AAB-6DF0-258C-0F2CBFECA151}"/>
                </a:ext>
              </a:extLst>
            </p:cNvPr>
            <p:cNvSpPr txBox="1"/>
            <p:nvPr/>
          </p:nvSpPr>
          <p:spPr>
            <a:xfrm rot="20924799">
              <a:off x="2020268" y="2434252"/>
              <a:ext cx="3192875" cy="3684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MD307 – Development Board</a:t>
              </a:r>
              <a:endParaRPr lang="LID4096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351735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BI0">
            <a:extLst>
              <a:ext uri="{FF2B5EF4-FFF2-40B4-BE49-F238E27FC236}">
                <a16:creationId xmlns:a16="http://schemas.microsoft.com/office/drawing/2014/main" id="{66657D7F-8B64-6F6A-0C1B-80FE98FE9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021012"/>
            <a:ext cx="7620000" cy="508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40D270-1B4A-C386-8252-F1491862E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Application Binary Interface (ABI)</a:t>
            </a:r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6F4E14-D50B-B5CF-F02D-23114114763B}"/>
              </a:ext>
            </a:extLst>
          </p:cNvPr>
          <p:cNvSpPr/>
          <p:nvPr/>
        </p:nvSpPr>
        <p:spPr>
          <a:xfrm>
            <a:off x="9823450" y="2825750"/>
            <a:ext cx="768350" cy="4832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517690-8E01-0D89-A3BE-59F07E165446}"/>
              </a:ext>
            </a:extLst>
          </p:cNvPr>
          <p:cNvSpPr txBox="1"/>
          <p:nvPr/>
        </p:nvSpPr>
        <p:spPr>
          <a:xfrm>
            <a:off x="412750" y="1986518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Mitt library är klart!</a:t>
            </a:r>
            <a:endParaRPr lang="LID4096" b="1">
              <a:latin typeface="Segoe Print" panose="020006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9A69D9-A895-B9AA-8019-4920ADD9FF6B}"/>
              </a:ext>
            </a:extLst>
          </p:cNvPr>
          <p:cNvSpPr txBox="1"/>
          <p:nvPr/>
        </p:nvSpPr>
        <p:spPr>
          <a:xfrm>
            <a:off x="8966200" y="2123837"/>
            <a:ext cx="2702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Toppen! Då kallar jag</a:t>
            </a:r>
            <a:br>
              <a:rPr lang="sv-SE" b="1">
                <a:latin typeface="Segoe Print" panose="02000600000000000000" pitchFamily="2" charset="0"/>
              </a:rPr>
            </a:br>
            <a:r>
              <a:rPr lang="sv-SE" b="1">
                <a:latin typeface="Segoe Print" panose="02000600000000000000" pitchFamily="2" charset="0"/>
              </a:rPr>
              <a:t>f(x,y) nu.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E6EB33-4692-CE95-CFC4-ABC9678E6C84}"/>
              </a:ext>
            </a:extLst>
          </p:cNvPr>
          <p:cNvSpPr txBox="1"/>
          <p:nvPr/>
        </p:nvSpPr>
        <p:spPr>
          <a:xfrm>
            <a:off x="10136716" y="2710924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Funkar inte...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17899F-A25F-7622-EC87-158709D01720}"/>
              </a:ext>
            </a:extLst>
          </p:cNvPr>
          <p:cNvSpPr txBox="1"/>
          <p:nvPr/>
        </p:nvSpPr>
        <p:spPr>
          <a:xfrm>
            <a:off x="412750" y="3105834"/>
            <a:ext cx="4891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Jo, det funkar. La du parametrarna på </a:t>
            </a:r>
            <a:br>
              <a:rPr lang="sv-SE" b="1">
                <a:latin typeface="Segoe Print" panose="02000600000000000000" pitchFamily="2" charset="0"/>
              </a:rPr>
            </a:br>
            <a:r>
              <a:rPr lang="sv-SE" b="1">
                <a:latin typeface="Segoe Print" panose="02000600000000000000" pitchFamily="2" charset="0"/>
              </a:rPr>
              <a:t>stacken?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2D4E4A-7EF7-48FF-DEEC-1DB492212FDB}"/>
              </a:ext>
            </a:extLst>
          </p:cNvPr>
          <p:cNvSpPr txBox="1"/>
          <p:nvPr/>
        </p:nvSpPr>
        <p:spPr>
          <a:xfrm>
            <a:off x="9442292" y="3902858"/>
            <a:ext cx="2226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Nej, jag la dom i </a:t>
            </a:r>
            <a:br>
              <a:rPr lang="sv-SE" b="1">
                <a:latin typeface="Segoe Print" panose="02000600000000000000" pitchFamily="2" charset="0"/>
              </a:rPr>
            </a:br>
            <a:r>
              <a:rPr lang="sv-SE" b="1">
                <a:latin typeface="Segoe Print" panose="02000600000000000000" pitchFamily="2" charset="0"/>
              </a:rPr>
              <a:t>x1 och x2!</a:t>
            </a:r>
          </a:p>
        </p:txBody>
      </p:sp>
    </p:spTree>
    <p:extLst>
      <p:ext uri="{BB962C8B-B14F-4D97-AF65-F5344CB8AC3E}">
        <p14:creationId xmlns:p14="http://schemas.microsoft.com/office/powerpoint/2010/main" val="368319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18460-DF55-B9FF-0C70-EC8652123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BI1">
            <a:extLst>
              <a:ext uri="{FF2B5EF4-FFF2-40B4-BE49-F238E27FC236}">
                <a16:creationId xmlns:a16="http://schemas.microsoft.com/office/drawing/2014/main" id="{88235733-EA38-0EBE-A74B-FF01F58E7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021012"/>
            <a:ext cx="7620000" cy="5076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5C705F-3D68-3A90-92F3-658BB1244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Application Binary Interface (ABI)</a:t>
            </a:r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175BA-B6AE-C898-C562-5A372421A744}"/>
              </a:ext>
            </a:extLst>
          </p:cNvPr>
          <p:cNvSpPr/>
          <p:nvPr/>
        </p:nvSpPr>
        <p:spPr>
          <a:xfrm>
            <a:off x="9823450" y="2825750"/>
            <a:ext cx="768350" cy="4832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86B8D-947C-D230-66E1-E4977F0F4440}"/>
              </a:ext>
            </a:extLst>
          </p:cNvPr>
          <p:cNvSpPr txBox="1"/>
          <p:nvPr/>
        </p:nvSpPr>
        <p:spPr>
          <a:xfrm>
            <a:off x="412750" y="1986518"/>
            <a:ext cx="219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Hrrm... fixar... så!</a:t>
            </a:r>
            <a:endParaRPr lang="LID4096" b="1">
              <a:latin typeface="Segoe Print" panose="020006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E23991-390E-129F-FBEB-C329017747F2}"/>
              </a:ext>
            </a:extLst>
          </p:cNvPr>
          <p:cNvSpPr txBox="1"/>
          <p:nvPr/>
        </p:nvSpPr>
        <p:spPr>
          <a:xfrm>
            <a:off x="8442181" y="2222455"/>
            <a:ext cx="3389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Toppen! Då testar jag igen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FF2609-A57E-7195-8084-6EA839FE2197}"/>
              </a:ext>
            </a:extLst>
          </p:cNvPr>
          <p:cNvSpPr txBox="1"/>
          <p:nvPr/>
        </p:nvSpPr>
        <p:spPr>
          <a:xfrm>
            <a:off x="10136716" y="2710924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Funkar inte...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A375D4-F8B9-E628-3712-29AAC6314274}"/>
              </a:ext>
            </a:extLst>
          </p:cNvPr>
          <p:cNvSpPr txBox="1"/>
          <p:nvPr/>
        </p:nvSpPr>
        <p:spPr>
          <a:xfrm>
            <a:off x="857244" y="3115458"/>
            <a:ext cx="4200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Va? Hämtar du returvärdet i x5?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42A7A6-2BBE-3A10-740E-5E3F5C4838D3}"/>
              </a:ext>
            </a:extLst>
          </p:cNvPr>
          <p:cNvSpPr txBox="1"/>
          <p:nvPr/>
        </p:nvSpPr>
        <p:spPr>
          <a:xfrm>
            <a:off x="9407809" y="3384333"/>
            <a:ext cx="2836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Eh? Nej. Det trodde </a:t>
            </a:r>
            <a:br>
              <a:rPr lang="sv-SE" b="1">
                <a:latin typeface="Segoe Print" panose="02000600000000000000" pitchFamily="2" charset="0"/>
              </a:rPr>
            </a:br>
            <a:r>
              <a:rPr lang="sv-SE" b="1">
                <a:latin typeface="Segoe Print" panose="02000600000000000000" pitchFamily="2" charset="0"/>
              </a:rPr>
              <a:t>jag du lagt på stacken.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96240-E772-2FB7-6135-B4D85ABFB693}"/>
              </a:ext>
            </a:extLst>
          </p:cNvPr>
          <p:cNvSpPr txBox="1"/>
          <p:nvPr/>
        </p:nvSpPr>
        <p:spPr>
          <a:xfrm>
            <a:off x="458629" y="3845998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Nej x5.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B2B7F-7DD5-4EC9-6A66-10ECF98C7FBE}"/>
              </a:ext>
            </a:extLst>
          </p:cNvPr>
          <p:cNvSpPr txBox="1"/>
          <p:nvPr/>
        </p:nvSpPr>
        <p:spPr>
          <a:xfrm>
            <a:off x="9766698" y="4326494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Okay.. fixar.</a:t>
            </a:r>
          </a:p>
        </p:txBody>
      </p:sp>
    </p:spTree>
    <p:extLst>
      <p:ext uri="{BB962C8B-B14F-4D97-AF65-F5344CB8AC3E}">
        <p14:creationId xmlns:p14="http://schemas.microsoft.com/office/powerpoint/2010/main" val="387776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1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14968-0D13-926C-CCB7-06E744B3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BI2">
            <a:extLst>
              <a:ext uri="{FF2B5EF4-FFF2-40B4-BE49-F238E27FC236}">
                <a16:creationId xmlns:a16="http://schemas.microsoft.com/office/drawing/2014/main" id="{7833D354-80E6-C12A-EBA8-90B36F42B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024187"/>
            <a:ext cx="7620000" cy="5076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5C877E-253B-77BD-528B-BA6BA5CC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Application Binary Interface (ABI)</a:t>
            </a:r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0F778E-2B19-047E-1F3E-0BCE2C1D4899}"/>
              </a:ext>
            </a:extLst>
          </p:cNvPr>
          <p:cNvSpPr/>
          <p:nvPr/>
        </p:nvSpPr>
        <p:spPr>
          <a:xfrm>
            <a:off x="9823450" y="2825750"/>
            <a:ext cx="768350" cy="4832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1962BE-D4F2-66DA-A9F5-AEC480FC6159}"/>
              </a:ext>
            </a:extLst>
          </p:cNvPr>
          <p:cNvSpPr txBox="1"/>
          <p:nvPr/>
        </p:nvSpPr>
        <p:spPr>
          <a:xfrm>
            <a:off x="336550" y="2964418"/>
            <a:ext cx="4347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Öh.. hur skall jag skriva en funktion</a:t>
            </a:r>
            <a:br>
              <a:rPr lang="sv-SE" b="1">
                <a:latin typeface="Segoe Print" panose="02000600000000000000" pitchFamily="2" charset="0"/>
              </a:rPr>
            </a:br>
            <a:r>
              <a:rPr lang="sv-SE" b="1">
                <a:latin typeface="Segoe Print" panose="02000600000000000000" pitchFamily="2" charset="0"/>
              </a:rPr>
              <a:t>utan att skriva över register? </a:t>
            </a:r>
            <a:endParaRPr lang="LID4096" b="1">
              <a:latin typeface="Segoe Print" panose="020006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79B2C1-0EB2-EF75-AD52-FBD992ED2949}"/>
              </a:ext>
            </a:extLst>
          </p:cNvPr>
          <p:cNvSpPr txBox="1"/>
          <p:nvPr/>
        </p:nvSpPr>
        <p:spPr>
          <a:xfrm>
            <a:off x="8966200" y="2123837"/>
            <a:ext cx="3142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Funkar fortfarande inte...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39327A-C5DC-7ED7-ADB7-09B47D352DF4}"/>
              </a:ext>
            </a:extLst>
          </p:cNvPr>
          <p:cNvSpPr txBox="1"/>
          <p:nvPr/>
        </p:nvSpPr>
        <p:spPr>
          <a:xfrm>
            <a:off x="8555566" y="2579836"/>
            <a:ext cx="2922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Du skriver väl inte över</a:t>
            </a:r>
            <a:br>
              <a:rPr lang="sv-SE" b="1">
                <a:latin typeface="Segoe Print" panose="02000600000000000000" pitchFamily="2" charset="0"/>
              </a:rPr>
            </a:br>
            <a:r>
              <a:rPr lang="sv-SE" b="1">
                <a:latin typeface="Segoe Print" panose="02000600000000000000" pitchFamily="2" charset="0"/>
              </a:rPr>
              <a:t>något av registrena va?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F029FC-754C-B6B8-4429-5423B8E00CBE}"/>
              </a:ext>
            </a:extLst>
          </p:cNvPr>
          <p:cNvSpPr txBox="1"/>
          <p:nvPr/>
        </p:nvSpPr>
        <p:spPr>
          <a:xfrm>
            <a:off x="9432611" y="3441502"/>
            <a:ext cx="28520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Men då får du väl </a:t>
            </a:r>
            <a:br>
              <a:rPr lang="sv-SE" b="1">
                <a:latin typeface="Segoe Print" panose="02000600000000000000" pitchFamily="2" charset="0"/>
              </a:rPr>
            </a:br>
            <a:r>
              <a:rPr lang="sv-SE" b="1">
                <a:latin typeface="Segoe Print" panose="02000600000000000000" pitchFamily="2" charset="0"/>
              </a:rPr>
              <a:t>spara dom på stacken </a:t>
            </a:r>
            <a:br>
              <a:rPr lang="sv-SE" b="1">
                <a:latin typeface="Segoe Print" panose="02000600000000000000" pitchFamily="2" charset="0"/>
              </a:rPr>
            </a:br>
            <a:r>
              <a:rPr lang="sv-SE" b="1">
                <a:latin typeface="Segoe Print" panose="02000600000000000000" pitchFamily="2" charset="0"/>
              </a:rPr>
              <a:t>först!? </a:t>
            </a:r>
          </a:p>
        </p:txBody>
      </p:sp>
    </p:spTree>
    <p:extLst>
      <p:ext uri="{BB962C8B-B14F-4D97-AF65-F5344CB8AC3E}">
        <p14:creationId xmlns:p14="http://schemas.microsoft.com/office/powerpoint/2010/main" val="89991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7C2D-90C2-D6B1-7457-5A01B6873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BI3">
            <a:extLst>
              <a:ext uri="{FF2B5EF4-FFF2-40B4-BE49-F238E27FC236}">
                <a16:creationId xmlns:a16="http://schemas.microsoft.com/office/drawing/2014/main" id="{BF4C8AFE-328E-F3D4-9F1E-3FB1CE758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024187"/>
            <a:ext cx="7620000" cy="5076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CDE7AC-19A3-CE45-D6D2-63C0B24C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Application Binary Interface (ABI)</a:t>
            </a:r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1D3D03-CA48-2F35-80A9-520C9899CD3D}"/>
              </a:ext>
            </a:extLst>
          </p:cNvPr>
          <p:cNvSpPr/>
          <p:nvPr/>
        </p:nvSpPr>
        <p:spPr>
          <a:xfrm>
            <a:off x="9823450" y="2825750"/>
            <a:ext cx="768350" cy="4832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433051-D5A7-F5A8-B27C-2234EEAC91C9}"/>
              </a:ext>
            </a:extLst>
          </p:cNvPr>
          <p:cNvSpPr txBox="1"/>
          <p:nvPr/>
        </p:nvSpPr>
        <p:spPr>
          <a:xfrm>
            <a:off x="412750" y="1986518"/>
            <a:ext cx="2807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Det kan väl du göra!? </a:t>
            </a:r>
            <a:endParaRPr lang="LID4096" b="1">
              <a:latin typeface="Segoe Print" panose="020006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8D602B-8B5B-8F38-CAEC-FB5CDA681D87}"/>
              </a:ext>
            </a:extLst>
          </p:cNvPr>
          <p:cNvSpPr txBox="1"/>
          <p:nvPr/>
        </p:nvSpPr>
        <p:spPr>
          <a:xfrm>
            <a:off x="8554508" y="2324273"/>
            <a:ext cx="3544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Nä! Det är ju du som skriver</a:t>
            </a:r>
            <a:br>
              <a:rPr lang="sv-SE" b="1">
                <a:latin typeface="Segoe Print" panose="02000600000000000000" pitchFamily="2" charset="0"/>
              </a:rPr>
            </a:br>
            <a:r>
              <a:rPr lang="sv-SE" b="1">
                <a:latin typeface="Segoe Print" panose="02000600000000000000" pitchFamily="2" charset="0"/>
              </a:rPr>
              <a:t>över dem!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7F5C03-C0B3-F10B-C16A-3E836FC72A5B}"/>
              </a:ext>
            </a:extLst>
          </p:cNvPr>
          <p:cNvSpPr txBox="1"/>
          <p:nvPr/>
        </p:nvSpPr>
        <p:spPr>
          <a:xfrm>
            <a:off x="10019811" y="3797077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PUCKO!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101656-0F8B-C204-AB96-9FFC26B58543}"/>
              </a:ext>
            </a:extLst>
          </p:cNvPr>
          <p:cNvSpPr txBox="1"/>
          <p:nvPr/>
        </p:nvSpPr>
        <p:spPr>
          <a:xfrm>
            <a:off x="949011" y="2825750"/>
            <a:ext cx="3116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Ja men det är ju du som</a:t>
            </a:r>
            <a:br>
              <a:rPr lang="sv-SE" b="1">
                <a:latin typeface="Segoe Print" panose="02000600000000000000" pitchFamily="2" charset="0"/>
              </a:rPr>
            </a:br>
            <a:r>
              <a:rPr lang="sv-SE" b="1">
                <a:latin typeface="Segoe Print" panose="02000600000000000000" pitchFamily="2" charset="0"/>
              </a:rPr>
              <a:t>vet vilka du behöver!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62824F-14A0-ED64-137F-09386BB689F2}"/>
              </a:ext>
            </a:extLst>
          </p:cNvPr>
          <p:cNvSpPr txBox="1"/>
          <p:nvPr/>
        </p:nvSpPr>
        <p:spPr>
          <a:xfrm>
            <a:off x="1115649" y="4022396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>
                <a:latin typeface="Segoe Print" panose="02000600000000000000" pitchFamily="2" charset="0"/>
              </a:rPr>
              <a:t>NOOB!</a:t>
            </a:r>
          </a:p>
        </p:txBody>
      </p:sp>
    </p:spTree>
    <p:extLst>
      <p:ext uri="{BB962C8B-B14F-4D97-AF65-F5344CB8AC3E}">
        <p14:creationId xmlns:p14="http://schemas.microsoft.com/office/powerpoint/2010/main" val="345980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51CDD-6C56-C6A5-0941-E1CC49710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RV32I - Register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823A0-3E46-BD2F-E389-5D777D23C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253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11A6-523B-3EC0-AA0C-778C9E7DE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Pseudo Instruktioner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B023-0FFE-E9EC-4DD3-E102CF997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E2C67-B3D6-3099-8E8F-5745028C0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650" y="2979475"/>
            <a:ext cx="9043358" cy="22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81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8AB2-B398-0889-A6EA-EE7C340B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Load/Store arkitektur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6AB60-E2BA-5439-D16F-86301680F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0818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A684D-2FD2-1AA0-7028-96DD0B20A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Instruction cycle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F0D5F-BF19-C26B-BF82-1DC1D1114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4240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3391-374A-6F1C-B281-FFAE66F2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Ett första, enkelt, program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958DF-6BC9-5C0B-EFA2-8E2FE9D6E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9029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6E1FE-24F2-650A-737C-F63CD3C87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Pseudo vs machine code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88524-A973-E253-C4F1-3E48973CB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1164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42A8-51E4-4FA3-643F-85903467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QuickGuide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C6745-AE55-F27F-35DC-1F6BBAE4A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41564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6F09A-66A2-7D24-6293-BD89865CA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Minnesrymd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33505-E230-F420-078E-4693C1DEC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3FD82-BB5D-3A6E-BF77-DA00A6D1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365" y="2738887"/>
            <a:ext cx="7876722" cy="324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90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1759-D40E-79F3-212F-E3A95B08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Loading data from memory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3D843-FBCF-4E2F-6DC2-6F84976B1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8166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EB910-1D52-0EFE-64A1-3601CDE25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Storing data to memory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AC899-5E13-6218-3C0F-2DA116D84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4505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E5390-2679-E209-41C8-0BDA775B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Variables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E1FD2-D9FD-8AFD-2746-E14244C08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6100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6FB8F-8013-14D4-E05A-B65F9D0F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Load and Store Global (pseudo instructions)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D3FB0-EA11-8584-EF7C-F0C5D4416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4089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AE7D-9EC3-67AE-2ED8-36123A068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Memory Alignment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5EBF4-FEDD-0DEC-E7B4-75751ECE4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48265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DAA1A-481E-FFAD-C393-EC489616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Closing example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190EE-BBCD-5274-7BE3-8C3F957DE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8028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1316</Words>
  <Application>Microsoft Office PowerPoint</Application>
  <PresentationFormat>Widescreen</PresentationFormat>
  <Paragraphs>222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Amasis MT Pro Medium</vt:lpstr>
      <vt:lpstr>Aptos</vt:lpstr>
      <vt:lpstr>Aptos Display</vt:lpstr>
      <vt:lpstr>Arial</vt:lpstr>
      <vt:lpstr>Segoe Print</vt:lpstr>
      <vt:lpstr>Office Theme</vt:lpstr>
      <vt:lpstr>Lektion 2</vt:lpstr>
      <vt:lpstr>Instruction Set Architecture (ISA)</vt:lpstr>
      <vt:lpstr>Instruction Set Architecture (ISA)</vt:lpstr>
      <vt:lpstr>RISC-V - Varianter och extensions</vt:lpstr>
      <vt:lpstr>RISC-V - Varianter och extensions</vt:lpstr>
      <vt:lpstr>RISC-V - Varianter och extensions</vt:lpstr>
      <vt:lpstr>RISC-V - Varianter och extensions</vt:lpstr>
      <vt:lpstr>RISC-V - Varianter och extensions</vt:lpstr>
      <vt:lpstr>RISC-V - Varianter och extensions</vt:lpstr>
      <vt:lpstr>Application Binary Interface (ABI)</vt:lpstr>
      <vt:lpstr>Application Binary Interface (ABI)</vt:lpstr>
      <vt:lpstr>Application Binary Interface (ABI)</vt:lpstr>
      <vt:lpstr>Application Binary Interface (ABI)</vt:lpstr>
      <vt:lpstr>RV32I - Register</vt:lpstr>
      <vt:lpstr>Pseudo Instruktioner</vt:lpstr>
      <vt:lpstr>Load/Store arkitektur</vt:lpstr>
      <vt:lpstr>Instruction cycle</vt:lpstr>
      <vt:lpstr>Ett första, enkelt, program</vt:lpstr>
      <vt:lpstr>Pseudo vs machine code</vt:lpstr>
      <vt:lpstr>QuickGuide</vt:lpstr>
      <vt:lpstr>Minnesrymd</vt:lpstr>
      <vt:lpstr>Loading data from memory</vt:lpstr>
      <vt:lpstr>Storing data to memory</vt:lpstr>
      <vt:lpstr>Variables</vt:lpstr>
      <vt:lpstr>Load and Store Global (pseudo instructions)</vt:lpstr>
      <vt:lpstr>Memory Alignment</vt:lpstr>
      <vt:lpstr>Closing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12</cp:revision>
  <dcterms:created xsi:type="dcterms:W3CDTF">2026-01-14T14:09:03Z</dcterms:created>
  <dcterms:modified xsi:type="dcterms:W3CDTF">2026-01-22T09:20:59Z</dcterms:modified>
</cp:coreProperties>
</file>