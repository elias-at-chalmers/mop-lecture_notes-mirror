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9" r:id="rId4"/>
    <p:sldId id="273" r:id="rId5"/>
    <p:sldId id="274" r:id="rId6"/>
    <p:sldId id="275" r:id="rId7"/>
    <p:sldId id="276" r:id="rId8"/>
    <p:sldId id="277" r:id="rId9"/>
    <p:sldId id="260" r:id="rId10"/>
    <p:sldId id="278" r:id="rId11"/>
    <p:sldId id="279" r:id="rId12"/>
    <p:sldId id="262" r:id="rId13"/>
    <p:sldId id="263" r:id="rId14"/>
    <p:sldId id="264" r:id="rId15"/>
    <p:sldId id="284" r:id="rId16"/>
    <p:sldId id="285" r:id="rId17"/>
    <p:sldId id="280" r:id="rId18"/>
    <p:sldId id="286" r:id="rId19"/>
    <p:sldId id="270" r:id="rId20"/>
    <p:sldId id="265" r:id="rId21"/>
    <p:sldId id="266" r:id="rId22"/>
    <p:sldId id="282" r:id="rId23"/>
    <p:sldId id="283" r:id="rId24"/>
    <p:sldId id="267" r:id="rId25"/>
    <p:sldId id="287" r:id="rId26"/>
    <p:sldId id="271" r:id="rId2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3" autoAdjust="0"/>
    <p:restoredTop sz="86416" autoAdjust="0"/>
  </p:normalViewPr>
  <p:slideViewPr>
    <p:cSldViewPr snapToGrid="0">
      <p:cViewPr varScale="1">
        <p:scale>
          <a:sx n="222" d="100"/>
          <a:sy n="222" d="100"/>
        </p:scale>
        <p:origin x="330" y="1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C9657E-FDB3-4206-AA4E-9AE2AAB0A71C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B4E41B-EE32-43AA-BF26-21D12108C66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40149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Labbprep 1 skall vara inne på söndag, och ni kan klara den efter dagens lektion.</a:t>
            </a:r>
          </a:p>
          <a:p>
            <a:r>
              <a:rPr lang="en-GB"/>
              <a:t>Idag skall vi g</a:t>
            </a:r>
            <a:r>
              <a:rPr lang="sv-SE"/>
              <a:t>å igenom mer assembler. </a:t>
            </a:r>
          </a:p>
          <a:p>
            <a:r>
              <a:rPr lang="sv-SE"/>
              <a:t>På fredag skall vi äntligen börja tända lampor.</a:t>
            </a:r>
          </a:p>
          <a:p>
            <a:r>
              <a:rPr lang="sv-SE"/>
              <a:t>Frågor om något?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1937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</a:t>
            </a:r>
            <a:r>
              <a:rPr lang="en-US" dirty="0" err="1"/>
              <a:t>skall</a:t>
            </a:r>
            <a:r>
              <a:rPr lang="en-US" dirty="0"/>
              <a:t> prata om </a:t>
            </a:r>
            <a:r>
              <a:rPr lang="en-US" dirty="0" err="1"/>
              <a:t>funktioner</a:t>
            </a:r>
            <a:r>
              <a:rPr lang="en-US" dirty="0"/>
              <a:t>.</a:t>
            </a:r>
          </a:p>
          <a:p>
            <a:r>
              <a:rPr lang="en-US" dirty="0"/>
              <a:t>Prata </a:t>
            </a:r>
            <a:r>
              <a:rPr lang="en-US" dirty="0" err="1"/>
              <a:t>igenom</a:t>
            </a:r>
            <a:r>
              <a:rPr lang="en-US" dirty="0"/>
              <a:t> </a:t>
            </a:r>
            <a:r>
              <a:rPr lang="en-US" dirty="0" err="1"/>
              <a:t>grundexemplet</a:t>
            </a:r>
            <a:r>
              <a:rPr lang="en-US" dirty="0"/>
              <a:t>. main l</a:t>
            </a:r>
            <a:r>
              <a:rPr lang="sv-SE" dirty="0" err="1"/>
              <a:t>äser</a:t>
            </a:r>
            <a:r>
              <a:rPr lang="sv-SE" dirty="0"/>
              <a:t> två värden från minnet och behöver köra en funktion för att få reda på det minsta. </a:t>
            </a:r>
          </a:p>
          <a:p>
            <a:r>
              <a:rPr lang="sv-SE" dirty="0"/>
              <a:t>Varför kan vi inte bara säga BRA? (</a:t>
            </a:r>
            <a:r>
              <a:rPr lang="sv-SE" dirty="0" err="1"/>
              <a:t>returaddress</a:t>
            </a:r>
            <a:r>
              <a:rPr lang="sv-SE" dirty="0"/>
              <a:t>)</a:t>
            </a:r>
          </a:p>
          <a:p>
            <a:r>
              <a:rPr lang="en-US" dirty="0"/>
              <a:t>&lt;click&gt; Vi </a:t>
            </a:r>
            <a:r>
              <a:rPr lang="en-US" dirty="0" err="1"/>
              <a:t>kollar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quickguiden</a:t>
            </a:r>
            <a:r>
              <a:rPr lang="en-US" dirty="0"/>
              <a:t> och </a:t>
            </a:r>
            <a:r>
              <a:rPr lang="en-US" dirty="0" err="1"/>
              <a:t>hittar</a:t>
            </a:r>
            <a:r>
              <a:rPr lang="en-US" dirty="0"/>
              <a:t> den h</a:t>
            </a:r>
            <a:r>
              <a:rPr lang="sv-SE" dirty="0"/>
              <a:t>är instruktionen (</a:t>
            </a:r>
            <a:r>
              <a:rPr lang="sv-SE" dirty="0" err="1"/>
              <a:t>jump</a:t>
            </a:r>
            <a:r>
              <a:rPr lang="sv-SE" dirty="0"/>
              <a:t> an </a:t>
            </a:r>
            <a:r>
              <a:rPr lang="sv-SE" dirty="0" err="1"/>
              <a:t>link</a:t>
            </a:r>
            <a:r>
              <a:rPr lang="sv-SE" dirty="0"/>
              <a:t>)</a:t>
            </a:r>
          </a:p>
          <a:p>
            <a:r>
              <a:rPr lang="sv-SE" dirty="0"/>
              <a:t>"Link" betyder spara </a:t>
            </a:r>
            <a:r>
              <a:rPr lang="sv-SE" dirty="0" err="1"/>
              <a:t>returaddress</a:t>
            </a:r>
            <a:r>
              <a:rPr lang="sv-SE" dirty="0"/>
              <a:t>. </a:t>
            </a:r>
          </a:p>
          <a:p>
            <a:endParaRPr lang="sv-SE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6836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C0536-50E3-FF99-786A-093B3A0A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AF551-D738-65B4-97AD-CC4C94BB5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85874-2B36-6910-E8AF-3F3D3C794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Vi </a:t>
            </a:r>
            <a:r>
              <a:rPr lang="sv-SE" i="1" dirty="0"/>
              <a:t>kan</a:t>
            </a:r>
            <a:r>
              <a:rPr lang="sv-SE" i="0" dirty="0"/>
              <a:t> spara </a:t>
            </a:r>
            <a:r>
              <a:rPr lang="sv-SE" i="0" dirty="0" err="1"/>
              <a:t>returaddressen</a:t>
            </a:r>
            <a:r>
              <a:rPr lang="sv-SE" i="0" dirty="0"/>
              <a:t> var vi vill, men </a:t>
            </a:r>
            <a:r>
              <a:rPr lang="sv-SE" i="0" dirty="0" err="1"/>
              <a:t>ABI:n</a:t>
            </a:r>
            <a:r>
              <a:rPr lang="sv-SE" i="0" dirty="0"/>
              <a:t> säger att vi skall använda register </a:t>
            </a:r>
            <a:r>
              <a:rPr lang="sv-SE" b="1" i="0" dirty="0" err="1"/>
              <a:t>ra</a:t>
            </a:r>
            <a:r>
              <a:rPr lang="sv-SE" i="0" dirty="0"/>
              <a:t>.</a:t>
            </a:r>
          </a:p>
          <a:p>
            <a:r>
              <a:rPr lang="sv-SE" i="1" dirty="0"/>
              <a:t>offset</a:t>
            </a:r>
            <a:r>
              <a:rPr lang="sv-SE" i="0" dirty="0"/>
              <a:t> räknar </a:t>
            </a:r>
            <a:r>
              <a:rPr lang="sv-SE" i="0" dirty="0" err="1"/>
              <a:t>assemblatorn</a:t>
            </a:r>
            <a:r>
              <a:rPr lang="sv-SE" i="0" dirty="0"/>
              <a:t> ut åt oss. </a:t>
            </a:r>
          </a:p>
          <a:p>
            <a:r>
              <a:rPr lang="sv-SE" i="0" dirty="0"/>
              <a:t>offset är 20 bitar (</a:t>
            </a:r>
            <a:r>
              <a:rPr lang="sv-SE" i="0" dirty="0" err="1"/>
              <a:t>signed</a:t>
            </a:r>
            <a:r>
              <a:rPr lang="sv-SE" i="0" dirty="0"/>
              <a:t>) så tillåter ett hopp +/- 1MB. </a:t>
            </a:r>
          </a:p>
          <a:p>
            <a:r>
              <a:rPr lang="sv-SE" i="0" dirty="0"/>
              <a:t>På vår maskin är det nästan alltid tillräckligt, men vad gör vi annars? </a:t>
            </a:r>
          </a:p>
          <a:p>
            <a:r>
              <a:rPr lang="sv-SE" i="0" dirty="0"/>
              <a:t>Och hur hoppar vi tillbaka efter min? </a:t>
            </a:r>
          </a:p>
          <a:p>
            <a:endParaRPr lang="LID4096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908E0-C914-9891-C434-2085E044E4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088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9935-E98B-F061-CFBE-26C13D4E3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41F9F9-4A94-3F29-962D-91197DEA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404FC-AA44-BF8A-9586-B7798BEC1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 dirty="0"/>
              <a:t>Lösningen på båda problemen: </a:t>
            </a:r>
            <a:r>
              <a:rPr lang="sv-SE" i="0" dirty="0" err="1"/>
              <a:t>jalr</a:t>
            </a:r>
            <a:endParaRPr lang="sv-SE" i="0" dirty="0"/>
          </a:p>
          <a:p>
            <a:r>
              <a:rPr lang="sv-SE" i="0" dirty="0"/>
              <a:t>Den låter oss ange en direkt </a:t>
            </a:r>
            <a:r>
              <a:rPr lang="sv-SE" i="0" dirty="0" err="1"/>
              <a:t>address</a:t>
            </a:r>
            <a:r>
              <a:rPr lang="sv-SE" i="0" dirty="0"/>
              <a:t> att hoppa till (</a:t>
            </a:r>
            <a:r>
              <a:rPr lang="sv-SE" i="0" dirty="0" err="1"/>
              <a:t>ra</a:t>
            </a:r>
            <a:r>
              <a:rPr lang="sv-SE" i="0" dirty="0"/>
              <a:t>) +/- ett litet offset. </a:t>
            </a:r>
          </a:p>
          <a:p>
            <a:r>
              <a:rPr lang="sv-SE" i="0" dirty="0"/>
              <a:t>I det här fallet behöver vi inget </a:t>
            </a:r>
            <a:r>
              <a:rPr lang="sv-SE" i="0" dirty="0" err="1"/>
              <a:t>återhoppsaddress</a:t>
            </a:r>
            <a:r>
              <a:rPr lang="sv-SE" i="0" dirty="0"/>
              <a:t>, så vi skriver den till </a:t>
            </a:r>
            <a:r>
              <a:rPr lang="sv-SE" i="0" dirty="0" err="1"/>
              <a:t>zero</a:t>
            </a:r>
            <a:r>
              <a:rPr lang="sv-SE" i="0" dirty="0"/>
              <a:t>. </a:t>
            </a:r>
          </a:p>
          <a:p>
            <a:endParaRPr lang="sv-SE" i="0" dirty="0"/>
          </a:p>
          <a:p>
            <a:r>
              <a:rPr lang="sv-SE" i="0" dirty="0"/>
              <a:t>Varför behövs då JAL? (en instruktion och oftast tillräcklig)</a:t>
            </a:r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4F128-85FC-1687-2FB2-984058D99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72064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61CBE-B964-01AB-4AF6-C86E741DC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9E654A-8B92-6B34-AB46-EE5E5F912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1E3B03-FC69-B866-77BF-3FDB841FF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i="0" dirty="0"/>
              <a:t>På större problem blir det väldigt jobbigt att hålla koll på om funktionen vi hoppar till ligger "nära nog". </a:t>
            </a:r>
          </a:p>
          <a:p>
            <a:r>
              <a:rPr lang="sv-SE" i="0" dirty="0"/>
              <a:t>Därför finns en </a:t>
            </a:r>
            <a:r>
              <a:rPr lang="sv-SE" i="0" dirty="0" err="1"/>
              <a:t>pseudoinstruktion</a:t>
            </a:r>
            <a:r>
              <a:rPr lang="sv-SE" i="0" dirty="0"/>
              <a:t> "call" där </a:t>
            </a:r>
            <a:r>
              <a:rPr lang="sv-SE" i="0" dirty="0" err="1"/>
              <a:t>assemblatorn</a:t>
            </a:r>
            <a:r>
              <a:rPr lang="sv-SE" i="0" dirty="0"/>
              <a:t> bestämmer om vi skall använda JAL eller JALR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/>
              <a:t>Och </a:t>
            </a:r>
            <a:r>
              <a:rPr lang="en-US" i="0" dirty="0" err="1"/>
              <a:t>syntaxen</a:t>
            </a:r>
            <a:r>
              <a:rPr lang="en-US" i="0" dirty="0"/>
              <a:t> f</a:t>
            </a:r>
            <a:r>
              <a:rPr lang="sv-SE" i="0" dirty="0"/>
              <a:t>ör </a:t>
            </a:r>
            <a:r>
              <a:rPr lang="sv-SE" i="0" dirty="0" err="1"/>
              <a:t>return</a:t>
            </a:r>
            <a:r>
              <a:rPr lang="sv-SE" i="0" dirty="0"/>
              <a:t> är knölig och otydlig. Svårt att läsa om det här är en </a:t>
            </a:r>
            <a:r>
              <a:rPr lang="sv-SE" i="0" dirty="0" err="1"/>
              <a:t>return</a:t>
            </a:r>
            <a:r>
              <a:rPr lang="sv-SE" i="0" dirty="0"/>
              <a:t> eller bara ett krångligt hopp. Därför finns </a:t>
            </a:r>
            <a:r>
              <a:rPr lang="sv-SE" i="0" dirty="0" err="1"/>
              <a:t>pseudoinstruktionen</a:t>
            </a:r>
            <a:r>
              <a:rPr lang="sv-SE" i="0" dirty="0"/>
              <a:t> "</a:t>
            </a:r>
            <a:r>
              <a:rPr lang="sv-SE" i="0" dirty="0" err="1"/>
              <a:t>ret</a:t>
            </a:r>
            <a:r>
              <a:rPr lang="sv-SE" i="0" dirty="0"/>
              <a:t>"</a:t>
            </a:r>
          </a:p>
          <a:p>
            <a:r>
              <a:rPr lang="en-US" i="0" dirty="0"/>
              <a:t>&lt;click&gt;</a:t>
            </a:r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7B048-E2BC-B623-B545-BE36FD659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176177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98290-85B4-3522-9841-D82274523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0AF592-74EC-6FE7-06CB-DBB8F5AB5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4CA4C9-32B3-D44A-8162-77570D8E4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/>
              <a:t>S</a:t>
            </a:r>
            <a:r>
              <a:rPr lang="sv-SE" i="0" dirty="0"/>
              <a:t>å, nu kan vi kalla en funktion, och returnera från den. </a:t>
            </a:r>
          </a:p>
          <a:p>
            <a:r>
              <a:rPr lang="sv-SE" i="0" dirty="0"/>
              <a:t>Men en funktion är inte mycket utan parametrar. </a:t>
            </a:r>
          </a:p>
          <a:p>
            <a:r>
              <a:rPr lang="sv-SE" i="0" dirty="0"/>
              <a:t>I det här fallet vet vi ju att våra parametrar ligger i t0 och t1, men det är ju slump. </a:t>
            </a:r>
          </a:p>
          <a:p>
            <a:r>
              <a:rPr lang="sv-SE" i="0" dirty="0"/>
              <a:t>Den som skriver min funktionen har ju ingen aning om var vi har dem. </a:t>
            </a:r>
          </a:p>
          <a:p>
            <a:r>
              <a:rPr lang="sv-SE" i="0" dirty="0" err="1"/>
              <a:t>ABI:n</a:t>
            </a:r>
            <a:r>
              <a:rPr lang="sv-SE" i="0" dirty="0"/>
              <a:t> säger att vi skall lägga våra parametrar, i ordning, i </a:t>
            </a:r>
            <a:r>
              <a:rPr lang="sv-SE" i="0" dirty="0" err="1"/>
              <a:t>registrena</a:t>
            </a:r>
            <a:r>
              <a:rPr lang="sv-SE" i="0" dirty="0"/>
              <a:t> a0-a6.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/>
              <a:t>Nu </a:t>
            </a:r>
            <a:r>
              <a:rPr lang="en-US" i="0" dirty="0" err="1"/>
              <a:t>kan</a:t>
            </a:r>
            <a:r>
              <a:rPr lang="en-US" i="0" dirty="0"/>
              <a:t> vi </a:t>
            </a:r>
            <a:r>
              <a:rPr lang="en-US" i="0" dirty="0" err="1"/>
              <a:t>skriva</a:t>
            </a:r>
            <a:r>
              <a:rPr lang="en-US" i="0" dirty="0"/>
              <a:t> </a:t>
            </a:r>
            <a:r>
              <a:rPr lang="en-US" i="0" dirty="0" err="1"/>
              <a:t>vår</a:t>
            </a:r>
            <a:r>
              <a:rPr lang="en-US" i="0" dirty="0"/>
              <a:t> min function. </a:t>
            </a:r>
          </a:p>
          <a:p>
            <a:r>
              <a:rPr lang="en-US" i="0" dirty="0" err="1"/>
              <a:t>ABI:n</a:t>
            </a:r>
            <a:r>
              <a:rPr lang="en-US" i="0" dirty="0"/>
              <a:t> sager </a:t>
            </a:r>
            <a:r>
              <a:rPr lang="en-US" i="0" dirty="0" err="1"/>
              <a:t>att</a:t>
            </a:r>
            <a:r>
              <a:rPr lang="en-US" i="0" dirty="0"/>
              <a:t> vi </a:t>
            </a:r>
            <a:r>
              <a:rPr lang="en-US" i="0" dirty="0" err="1"/>
              <a:t>lägger</a:t>
            </a:r>
            <a:r>
              <a:rPr lang="en-US" i="0" dirty="0"/>
              <a:t> </a:t>
            </a:r>
            <a:r>
              <a:rPr lang="en-US" i="0" dirty="0" err="1"/>
              <a:t>returvärdet</a:t>
            </a:r>
            <a:r>
              <a:rPr lang="en-US" i="0" dirty="0"/>
              <a:t> </a:t>
            </a:r>
            <a:r>
              <a:rPr lang="en-US" i="0" dirty="0" err="1"/>
              <a:t>i</a:t>
            </a:r>
            <a:r>
              <a:rPr lang="en-US" i="0" dirty="0"/>
              <a:t> a0.</a:t>
            </a:r>
          </a:p>
          <a:p>
            <a:r>
              <a:rPr lang="en-US" i="0" dirty="0"/>
              <a:t>&lt;click&gt;</a:t>
            </a:r>
          </a:p>
          <a:p>
            <a:r>
              <a:rPr lang="en-US" i="0" dirty="0" err="1"/>
              <a:t>Så</a:t>
            </a:r>
            <a:r>
              <a:rPr lang="en-US" i="0" dirty="0"/>
              <a:t>! Nu </a:t>
            </a:r>
            <a:r>
              <a:rPr lang="en-US" i="0" dirty="0" err="1"/>
              <a:t>kommer</a:t>
            </a:r>
            <a:r>
              <a:rPr lang="en-US" i="0" dirty="0"/>
              <a:t> vi </a:t>
            </a:r>
            <a:r>
              <a:rPr lang="en-US" i="0" dirty="0" err="1"/>
              <a:t>tillbaka</a:t>
            </a:r>
            <a:r>
              <a:rPr lang="en-US" i="0" dirty="0"/>
              <a:t> </a:t>
            </a:r>
            <a:r>
              <a:rPr lang="en-US" i="0" dirty="0" err="1"/>
              <a:t>från</a:t>
            </a:r>
            <a:r>
              <a:rPr lang="en-US" i="0" dirty="0"/>
              <a:t> </a:t>
            </a:r>
            <a:r>
              <a:rPr lang="en-US" i="0" dirty="0" err="1"/>
              <a:t>funktionen</a:t>
            </a:r>
            <a:r>
              <a:rPr lang="en-US" i="0" dirty="0"/>
              <a:t> min och det </a:t>
            </a:r>
            <a:r>
              <a:rPr lang="en-US" i="0" dirty="0" err="1"/>
              <a:t>lägsta</a:t>
            </a:r>
            <a:r>
              <a:rPr lang="en-US" i="0" dirty="0"/>
              <a:t> </a:t>
            </a:r>
            <a:r>
              <a:rPr lang="en-US" i="0" dirty="0" err="1"/>
              <a:t>värdet</a:t>
            </a:r>
            <a:r>
              <a:rPr lang="en-US" i="0" dirty="0"/>
              <a:t> ligger </a:t>
            </a:r>
            <a:r>
              <a:rPr lang="en-US" i="0" dirty="0" err="1"/>
              <a:t>i</a:t>
            </a:r>
            <a:r>
              <a:rPr lang="en-US" i="0" dirty="0"/>
              <a:t> a0.</a:t>
            </a:r>
          </a:p>
          <a:p>
            <a:endParaRPr lang="en-US" i="0" dirty="0"/>
          </a:p>
          <a:p>
            <a:r>
              <a:rPr lang="en-US" i="0" dirty="0"/>
              <a:t>Innan vi </a:t>
            </a:r>
            <a:r>
              <a:rPr lang="en-US" i="0" dirty="0" err="1"/>
              <a:t>fortsätter</a:t>
            </a:r>
            <a:r>
              <a:rPr lang="en-US" i="0" dirty="0"/>
              <a:t> </a:t>
            </a:r>
            <a:r>
              <a:rPr lang="en-US" i="0" dirty="0" err="1"/>
              <a:t>snyggar</a:t>
            </a:r>
            <a:r>
              <a:rPr lang="en-US" i="0" dirty="0"/>
              <a:t> vi till min </a:t>
            </a:r>
            <a:r>
              <a:rPr lang="en-US" i="0" dirty="0" err="1"/>
              <a:t>funktionen</a:t>
            </a:r>
            <a:r>
              <a:rPr lang="en-US" i="0" dirty="0"/>
              <a:t> (bara för </a:t>
            </a:r>
            <a:r>
              <a:rPr lang="en-US" i="0" dirty="0" err="1"/>
              <a:t>att</a:t>
            </a:r>
            <a:r>
              <a:rPr lang="en-US" i="0" dirty="0"/>
              <a:t> vi </a:t>
            </a:r>
            <a:r>
              <a:rPr lang="en-US" i="0" dirty="0" err="1"/>
              <a:t>vill</a:t>
            </a:r>
            <a:r>
              <a:rPr lang="en-US" i="0" dirty="0"/>
              <a:t>)</a:t>
            </a:r>
          </a:p>
          <a:p>
            <a:endParaRPr lang="sv-SE" i="0" dirty="0"/>
          </a:p>
          <a:p>
            <a:endParaRPr lang="sv-SE" i="0" dirty="0"/>
          </a:p>
          <a:p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28C1E-984E-992F-3951-944F74D17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46599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26570-5CAC-CA9F-4110-67B6A05A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C7D423-8F88-0D63-0512-606908A6F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A644C-0F20-8CC2-5A77-33AD947B9D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i="0" dirty="0"/>
          </a:p>
          <a:p>
            <a:endParaRPr lang="sv-SE" i="0" dirty="0"/>
          </a:p>
          <a:p>
            <a:endParaRPr lang="LID4096" i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FE299-20C2-1B52-F602-E9623C48A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40089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Gå igenom koden rad för rad. </a:t>
            </a:r>
          </a:p>
          <a:p>
            <a:r>
              <a:rPr lang="en-GB"/>
              <a:t>&lt;click&gt;</a:t>
            </a:r>
          </a:p>
          <a:p>
            <a:r>
              <a:rPr lang="en-GB"/>
              <a:t>Vad kan g[ fel h</a:t>
            </a:r>
            <a:r>
              <a:rPr lang="sv-SE"/>
              <a:t>är?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64935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Berätta kort om ascii codes. 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54012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skall vi byta spår en stund och prata om arrays istället. </a:t>
            </a:r>
          </a:p>
          <a:p>
            <a:r>
              <a:rPr lang="sv-SE"/>
              <a:t>Ni har stött på arrays förut (i Java) och skrivit sådana här saker. </a:t>
            </a:r>
          </a:p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23326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Poäng: När jag vill skicka en array till en funktion skickar jag helt enkelt addressen till första elementet. </a:t>
            </a:r>
          </a:p>
          <a:p>
            <a:r>
              <a:rPr lang="sv-SE"/>
              <a:t>Eftersom inte är en del av språket måste jag i regel skicka med hur lång arrayen är. </a:t>
            </a:r>
          </a:p>
          <a:p>
            <a:r>
              <a:rPr lang="en-GB"/>
              <a:t>&lt;click&gt;</a:t>
            </a:r>
          </a:p>
          <a:p>
            <a:r>
              <a:rPr lang="en-GB"/>
              <a:t>Det finns ett lite snyggare s</a:t>
            </a:r>
            <a:r>
              <a:rPr lang="sv-SE"/>
              <a:t>ätt att göra t3 = i*4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B4E41B-EE32-43AA-BF26-21D12108C66F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9510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AAEC-3E6C-4451-F486-87E023A511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3331C-A0B6-0FB2-3F60-753189EC5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F49D7-5229-A7AD-747E-E6E2A9480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705F1-D570-FD0F-514D-706EC471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2FFF5-DA5D-BE5F-C578-D94F74E2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3267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61E56A-61B1-4728-4B29-992DB3EED2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76953-890A-D048-2193-B60830D7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33386-BED0-D084-18B4-677D6B198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72D33-941F-13F9-A7E8-260FC6E52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59F51-CB1B-DF9A-5CC0-93AFDF675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42DB4-6401-3763-4016-068E35BF8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8842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AE1C-835E-4237-40BE-548098F75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0726C-642C-40B9-29E4-8CB64383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861FB-8DCF-74EB-CB4F-6C8C5FDA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0EE97-CCFB-62D1-AD51-EC2640FFF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4E895-9CC8-B3E0-C23B-C34A3154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0833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ADA9653-920E-A3FB-A09E-24B10BF25882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12F9C-95D6-9F26-CB8F-4684FA3BC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225D4-B7C6-E53C-86CB-746972F8B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E4528-78B3-D076-447C-021E6D75A5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FD6A9B-7759-36F2-D666-8667C8DE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1CEAB-5EF1-8A74-8968-8F0DB2B2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40A9C-A1CD-86C2-36E4-17DFA2A93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813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C8CFAD-2C3B-E51D-4FD9-E852766792F8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A55E2-B180-DE62-C73A-B825DAA5C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EA99E-F1A7-2F45-FDF1-5E254A755E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AB4C4-573F-7FAB-48DA-DAF97814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018C2-E8F6-E5E6-79EA-3155C34500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AF297-CD62-07D0-9158-3B908BD1C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D7138E-77A6-33DA-62AD-A97A7ECC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97087-613E-94E4-030D-9C72E53CB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3AB01B-9183-BED8-5270-E118181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2914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0351AC-8666-6A69-B402-81D189976CE4}"/>
              </a:ext>
            </a:extLst>
          </p:cNvPr>
          <p:cNvSpPr/>
          <p:nvPr userDrawn="1"/>
        </p:nvSpPr>
        <p:spPr>
          <a:xfrm>
            <a:off x="0" y="0"/>
            <a:ext cx="12192000" cy="16906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DC8B82-510D-675C-90C7-E85E633B5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FBD4E8-F59F-752C-FE4A-3B1CDA10D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05F-55BF-5716-B67E-826F7B5AC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8E29FC-9E20-22D5-23DC-B42B2A2F2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4693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8A2B7A-FCD7-89EB-1A96-B7932F96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727F0C-76DF-9396-D50C-E80D75E88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71C10-AF5A-33B6-0088-2D81FA27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67246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7353D-A96C-86D7-3B51-4AEF89B0E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426A3-8A7E-2232-C68D-B497DB402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AEDFD2-8147-E4EA-30DB-B6EE92AFAC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2C160-1681-9853-0D30-D48019EF3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BD775-8CC4-1D89-390B-CBE113AFF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56AE1-23BA-5111-5A0E-06335408D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0325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B0FD3-1A53-ADC5-6F25-17D89C1E9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0D64E3-FFB1-8C2C-B98F-A7A970F3E2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39862-B6A9-674B-99C4-8ABD188F1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A0084A-CEA6-A23A-8D58-A22A15A2D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3325F-BB03-5E1E-8BBA-77021E9FA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FE28DD-BD5D-D807-4F41-CEA2BBBEB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8236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E742-C2AD-6643-CED1-AFDDE4FC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C0158-1729-4A7E-7B94-781E312375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D27F6-811A-D0A0-06B1-41B03656D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2C692-F6C8-CB76-B789-5004D960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F7830-571D-5B23-D628-16DCF365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51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FC0549-8A95-0497-7701-706A861F1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EEBB1F-4FAC-A79D-8CEF-065067FC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3EFF8-EAC7-D303-AE5E-3FC052A59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40B46-B5A1-A5C4-7709-AF9C579E6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8CE26-1654-5732-2FCC-D9586B0F1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77913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3BB9D5-722B-FDAA-6867-63BCE26A0024}"/>
              </a:ext>
            </a:extLst>
          </p:cNvPr>
          <p:cNvSpPr txBox="1"/>
          <p:nvPr userDrawn="1"/>
        </p:nvSpPr>
        <p:spPr>
          <a:xfrm>
            <a:off x="4705350" y="-139700"/>
            <a:ext cx="2508250" cy="4489450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</a:effectLst>
        </p:spPr>
        <p:txBody>
          <a:bodyPr wrap="square" lIns="0" tIns="0" rIns="0" bIns="0" rtlCol="0">
            <a:noAutofit/>
          </a:bodyPr>
          <a:lstStyle/>
          <a:p>
            <a:r>
              <a:rPr lang="sv-SE" sz="38000" b="1"/>
              <a:t>?</a:t>
            </a:r>
            <a:endParaRPr lang="LID4096" sz="38000" b="1"/>
          </a:p>
        </p:txBody>
      </p:sp>
    </p:spTree>
    <p:extLst>
      <p:ext uri="{BB962C8B-B14F-4D97-AF65-F5344CB8AC3E}">
        <p14:creationId xmlns:p14="http://schemas.microsoft.com/office/powerpoint/2010/main" val="797509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92C8A0-0DE0-C4FC-A8FB-D00A440D0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4CF994-83D9-1216-3BA3-76E9A3D4D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6BF0C-3972-8E81-14A3-E51F00088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6EB631-5B1A-4879-85E7-A8D4C94FBFC5}" type="datetimeFigureOut">
              <a:rPr lang="LID4096" smtClean="0"/>
              <a:t>01/27/2026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6C7A3-C949-61E8-A947-BF7E59CD91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1E2F-B9DE-A2C3-9386-5BE1861F0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89057-92C1-481C-81FE-C4EA53628E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429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52DF-D5C9-52BE-066B-17C7A4BFAA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Lektion 3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50E2CB-296B-2D3A-2C5D-AF9D01690A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/>
              <a:t>Mer assembler på RISC-V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436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A84019-4B33-655E-4D2A-E72271095E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27000"/>
          </a:blip>
          <a:stretch>
            <a:fillRect/>
          </a:stretch>
        </p:blipFill>
        <p:spPr>
          <a:xfrm>
            <a:off x="6650893" y="1719069"/>
            <a:ext cx="5541108" cy="513893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7F8499-24AC-AFDF-B7BF-7C81D7DA659D}"/>
              </a:ext>
            </a:extLst>
          </p:cNvPr>
          <p:cNvSpPr/>
          <p:nvPr/>
        </p:nvSpPr>
        <p:spPr>
          <a:xfrm rot="18721477">
            <a:off x="5634723" y="1518235"/>
            <a:ext cx="922554" cy="922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7E668-4960-2AAB-B13E-FD6363A8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Branches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CE2A3-9259-728D-E6CB-2B582D4FAFF6}"/>
              </a:ext>
            </a:extLst>
          </p:cNvPr>
          <p:cNvSpPr txBox="1"/>
          <p:nvPr/>
        </p:nvSpPr>
        <p:spPr>
          <a:xfrm>
            <a:off x="5579766" y="179484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t0 &lt; t1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E185CF-8280-1EA3-118A-E0161293E824}"/>
              </a:ext>
            </a:extLst>
          </p:cNvPr>
          <p:cNvSpPr txBox="1"/>
          <p:nvPr/>
        </p:nvSpPr>
        <p:spPr>
          <a:xfrm>
            <a:off x="6470759" y="2630975"/>
            <a:ext cx="915187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 that</a:t>
            </a:r>
            <a:endParaRPr lang="LID4096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B47C8B-1910-2C20-D979-3BEE359E2D3F}"/>
              </a:ext>
            </a:extLst>
          </p:cNvPr>
          <p:cNvSpPr txBox="1"/>
          <p:nvPr/>
        </p:nvSpPr>
        <p:spPr>
          <a:xfrm>
            <a:off x="4846987" y="2647445"/>
            <a:ext cx="885179" cy="36933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 this</a:t>
            </a:r>
            <a:endParaRPr lang="LID4096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26C67E0-53AD-A717-2BD6-04FB808ABF1F}"/>
              </a:ext>
            </a:extLst>
          </p:cNvPr>
          <p:cNvSpPr/>
          <p:nvPr/>
        </p:nvSpPr>
        <p:spPr>
          <a:xfrm>
            <a:off x="5205834" y="2006416"/>
            <a:ext cx="230245" cy="638106"/>
          </a:xfrm>
          <a:custGeom>
            <a:avLst/>
            <a:gdLst>
              <a:gd name="csX0" fmla="*/ 230245 w 230245"/>
              <a:gd name="csY0" fmla="*/ 0 h 638106"/>
              <a:gd name="csX1" fmla="*/ 0 w 230245"/>
              <a:gd name="csY1" fmla="*/ 0 h 638106"/>
              <a:gd name="csX2" fmla="*/ 0 w 230245"/>
              <a:gd name="csY2" fmla="*/ 638106 h 638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0245" h="638106">
                <a:moveTo>
                  <a:pt x="230245" y="0"/>
                </a:moveTo>
                <a:lnTo>
                  <a:pt x="0" y="0"/>
                </a:lnTo>
                <a:lnTo>
                  <a:pt x="0" y="63810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3287BDF-84AA-7F5B-1BBD-FA5D6A792A73}"/>
              </a:ext>
            </a:extLst>
          </p:cNvPr>
          <p:cNvSpPr/>
          <p:nvPr/>
        </p:nvSpPr>
        <p:spPr>
          <a:xfrm>
            <a:off x="6758340" y="1934053"/>
            <a:ext cx="223667" cy="690734"/>
          </a:xfrm>
          <a:custGeom>
            <a:avLst/>
            <a:gdLst>
              <a:gd name="csX0" fmla="*/ 0 w 223667"/>
              <a:gd name="csY0" fmla="*/ 0 h 690734"/>
              <a:gd name="csX1" fmla="*/ 223667 w 223667"/>
              <a:gd name="csY1" fmla="*/ 0 h 690734"/>
              <a:gd name="csX2" fmla="*/ 223667 w 223667"/>
              <a:gd name="csY2" fmla="*/ 690734 h 6907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3667" h="690734">
                <a:moveTo>
                  <a:pt x="0" y="0"/>
                </a:moveTo>
                <a:lnTo>
                  <a:pt x="223667" y="0"/>
                </a:lnTo>
                <a:lnTo>
                  <a:pt x="223667" y="690734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01EC48-0838-521E-2A28-50A93AEE0388}"/>
              </a:ext>
            </a:extLst>
          </p:cNvPr>
          <p:cNvSpPr txBox="1"/>
          <p:nvPr/>
        </p:nvSpPr>
        <p:spPr>
          <a:xfrm>
            <a:off x="5018162" y="1783335"/>
            <a:ext cx="4154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latin typeface="Consolas" panose="020B0609020204030204" pitchFamily="49" charset="0"/>
              </a:rPr>
              <a:t>yes</a:t>
            </a:r>
            <a:endParaRPr lang="LID4096" sz="1050" b="1" dirty="0"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D4A6F0-E61D-5D07-3F56-057AC94C3429}"/>
              </a:ext>
            </a:extLst>
          </p:cNvPr>
          <p:cNvSpPr txBox="1"/>
          <p:nvPr/>
        </p:nvSpPr>
        <p:spPr>
          <a:xfrm>
            <a:off x="6747465" y="1717901"/>
            <a:ext cx="33214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latin typeface="Consolas" panose="020B0609020204030204" pitchFamily="49" charset="0"/>
              </a:rPr>
              <a:t>no</a:t>
            </a:r>
            <a:endParaRPr lang="LID4096" sz="1050" b="1" dirty="0"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3C137E-2D2C-90BA-F2BD-E47401B2DB2C}"/>
              </a:ext>
            </a:extLst>
          </p:cNvPr>
          <p:cNvSpPr txBox="1"/>
          <p:nvPr/>
        </p:nvSpPr>
        <p:spPr>
          <a:xfrm>
            <a:off x="1152751" y="3249738"/>
            <a:ext cx="3039229" cy="2862322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 dirty="0"/>
              <a:t>FLISP</a:t>
            </a:r>
            <a:r>
              <a:rPr lang="sv-SE" dirty="0"/>
              <a:t> (and x86, ARM):</a:t>
            </a:r>
          </a:p>
          <a:p>
            <a:endParaRPr lang="sv-SE" dirty="0"/>
          </a:p>
          <a:p>
            <a:r>
              <a:rPr lang="sv-SE" dirty="0">
                <a:latin typeface="Consolas" panose="020B0609020204030204" pitchFamily="49" charset="0"/>
              </a:rPr>
              <a:t>CMP X, Y</a:t>
            </a:r>
          </a:p>
          <a:p>
            <a:r>
              <a:rPr lang="sv-SE" dirty="0">
                <a:latin typeface="Consolas" panose="020B0609020204030204" pitchFamily="49" charset="0"/>
              </a:rPr>
              <a:t>BLT </a:t>
            </a:r>
            <a:r>
              <a:rPr lang="sv-SE" dirty="0" err="1">
                <a:latin typeface="Consolas" panose="020B0609020204030204" pitchFamily="49" charset="0"/>
              </a:rPr>
              <a:t>this</a:t>
            </a:r>
            <a:endParaRPr lang="sv-SE" dirty="0">
              <a:latin typeface="Consolas" panose="020B0609020204030204" pitchFamily="49" charset="0"/>
            </a:endParaRPr>
          </a:p>
          <a:p>
            <a:r>
              <a:rPr lang="sv-SE" dirty="0" err="1">
                <a:latin typeface="Consolas" panose="020B0609020204030204" pitchFamily="49" charset="0"/>
              </a:rPr>
              <a:t>that</a:t>
            </a:r>
            <a:r>
              <a:rPr lang="sv-SE" dirty="0">
                <a:latin typeface="Consolas" panose="020B0609020204030204" pitchFamily="49" charset="0"/>
              </a:rPr>
              <a:t>:</a:t>
            </a:r>
          </a:p>
          <a:p>
            <a:r>
              <a:rPr lang="sv-SE" dirty="0">
                <a:latin typeface="Consolas" panose="020B0609020204030204" pitchFamily="49" charset="0"/>
              </a:rPr>
              <a:t>  ...</a:t>
            </a:r>
          </a:p>
          <a:p>
            <a:r>
              <a:rPr lang="sv-SE" dirty="0">
                <a:latin typeface="Consolas" panose="020B0609020204030204" pitchFamily="49" charset="0"/>
              </a:rPr>
              <a:t>  JMP </a:t>
            </a:r>
            <a:r>
              <a:rPr lang="sv-SE" dirty="0" err="1">
                <a:latin typeface="Consolas" panose="020B0609020204030204" pitchFamily="49" charset="0"/>
              </a:rPr>
              <a:t>done</a:t>
            </a:r>
            <a:endParaRPr lang="sv-SE" dirty="0">
              <a:latin typeface="Consolas" panose="020B0609020204030204" pitchFamily="49" charset="0"/>
            </a:endParaRPr>
          </a:p>
          <a:p>
            <a:r>
              <a:rPr lang="sv-SE" dirty="0" err="1">
                <a:latin typeface="Consolas" panose="020B0609020204030204" pitchFamily="49" charset="0"/>
              </a:rPr>
              <a:t>this</a:t>
            </a:r>
            <a:r>
              <a:rPr lang="sv-SE" dirty="0">
                <a:latin typeface="Consolas" panose="020B0609020204030204" pitchFamily="49" charset="0"/>
              </a:rPr>
              <a:t>:</a:t>
            </a:r>
          </a:p>
          <a:p>
            <a:r>
              <a:rPr lang="sv-SE" dirty="0">
                <a:latin typeface="Consolas" panose="020B0609020204030204" pitchFamily="49" charset="0"/>
              </a:rPr>
              <a:t>  ...</a:t>
            </a:r>
          </a:p>
          <a:p>
            <a:r>
              <a:rPr lang="sv-SE" dirty="0" err="1">
                <a:latin typeface="Consolas" panose="020B0609020204030204" pitchFamily="49" charset="0"/>
              </a:rPr>
              <a:t>done</a:t>
            </a:r>
            <a:r>
              <a:rPr lang="sv-SE" dirty="0">
                <a:latin typeface="Consolas" panose="020B0609020204030204" pitchFamily="49" charset="0"/>
              </a:rPr>
              <a:t>: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9916E4-F0C2-68C3-41AA-3F814DAE3893}"/>
              </a:ext>
            </a:extLst>
          </p:cNvPr>
          <p:cNvSpPr txBox="1"/>
          <p:nvPr/>
        </p:nvSpPr>
        <p:spPr>
          <a:xfrm>
            <a:off x="8295679" y="3249738"/>
            <a:ext cx="314350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 dirty="0"/>
              <a:t>RISC-V:</a:t>
            </a:r>
          </a:p>
          <a:p>
            <a:endParaRPr lang="sv-SE" dirty="0"/>
          </a:p>
          <a:p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t0, t1, this 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&lt;that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  j done</a:t>
            </a:r>
          </a:p>
          <a:p>
            <a:r>
              <a:rPr lang="en-US" dirty="0">
                <a:latin typeface="Consolas" panose="020B0609020204030204" pitchFamily="49" charset="0"/>
              </a:rPr>
              <a:t>this: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done: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1428DC-FE0A-397F-8A0C-D95FBFF5DEA8}"/>
              </a:ext>
            </a:extLst>
          </p:cNvPr>
          <p:cNvSpPr txBox="1"/>
          <p:nvPr/>
        </p:nvSpPr>
        <p:spPr>
          <a:xfrm>
            <a:off x="2743200" y="3618130"/>
            <a:ext cx="190571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"Compare" two values</a:t>
            </a:r>
            <a:br>
              <a:rPr lang="en-US" sz="1400" dirty="0"/>
            </a:br>
            <a:r>
              <a:rPr lang="en-US" sz="1400" dirty="0"/>
              <a:t>in the ALU. Set flags.</a:t>
            </a:r>
            <a:endParaRPr lang="LID4096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C4C9C4-D87E-9489-D4F4-B9361F28BE60}"/>
              </a:ext>
            </a:extLst>
          </p:cNvPr>
          <p:cNvSpPr txBox="1"/>
          <p:nvPr/>
        </p:nvSpPr>
        <p:spPr>
          <a:xfrm>
            <a:off x="2743200" y="4248132"/>
            <a:ext cx="189616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Branch based on flags</a:t>
            </a:r>
            <a:endParaRPr lang="LID4096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86938-A227-083F-CCED-C62E94111C5C}"/>
              </a:ext>
            </a:extLst>
          </p:cNvPr>
          <p:cNvSpPr txBox="1"/>
          <p:nvPr/>
        </p:nvSpPr>
        <p:spPr>
          <a:xfrm>
            <a:off x="6082945" y="3659465"/>
            <a:ext cx="1775358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Always compare in a</a:t>
            </a:r>
            <a:br>
              <a:rPr lang="en-US" sz="1400" dirty="0"/>
            </a:br>
            <a:r>
              <a:rPr lang="en-US" sz="1400" dirty="0"/>
              <a:t>branch instruction</a:t>
            </a:r>
            <a:endParaRPr lang="LID4096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4D1CC4-A972-CA2E-F5DC-97C3843EF9A6}"/>
              </a:ext>
            </a:extLst>
          </p:cNvPr>
          <p:cNvSpPr txBox="1"/>
          <p:nvPr/>
        </p:nvSpPr>
        <p:spPr>
          <a:xfrm>
            <a:off x="5816943" y="4211066"/>
            <a:ext cx="20389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There </a:t>
            </a:r>
            <a:r>
              <a:rPr lang="en-US" sz="1400" b="1" dirty="0"/>
              <a:t>is no flag register</a:t>
            </a:r>
            <a:endParaRPr lang="LID4096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DEBBBB-0048-6975-413B-8C79F262FD6C}"/>
              </a:ext>
            </a:extLst>
          </p:cNvPr>
          <p:cNvSpPr txBox="1"/>
          <p:nvPr/>
        </p:nvSpPr>
        <p:spPr>
          <a:xfrm>
            <a:off x="2756366" y="5914903"/>
            <a:ext cx="2394758" cy="30777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+ Allows some optimizations</a:t>
            </a:r>
            <a:endParaRPr lang="LID4096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8AB1E0-19FF-BE88-1FE6-B24939D932AB}"/>
              </a:ext>
            </a:extLst>
          </p:cNvPr>
          <p:cNvSpPr txBox="1"/>
          <p:nvPr/>
        </p:nvSpPr>
        <p:spPr>
          <a:xfrm>
            <a:off x="6534225" y="6134442"/>
            <a:ext cx="334277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1400" dirty="0"/>
              <a:t>+ Avoiding "hidden state"</a:t>
            </a:r>
            <a:br>
              <a:rPr lang="en-US" sz="1400" dirty="0"/>
            </a:br>
            <a:r>
              <a:rPr lang="en-US" sz="1400" dirty="0"/>
              <a:t>+ Much easier for hardware </a:t>
            </a:r>
            <a:r>
              <a:rPr lang="en-US" sz="1400" i="1" dirty="0"/>
              <a:t>and</a:t>
            </a:r>
            <a:r>
              <a:rPr lang="en-US" sz="1400" dirty="0"/>
              <a:t> compiler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514247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39C5A-EAC0-F668-9A81-BFB49078A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94F3A5-876C-10DA-599B-5FDEC685F45A}"/>
              </a:ext>
            </a:extLst>
          </p:cNvPr>
          <p:cNvSpPr txBox="1"/>
          <p:nvPr/>
        </p:nvSpPr>
        <p:spPr>
          <a:xfrm>
            <a:off x="838200" y="2157721"/>
            <a:ext cx="3143506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DD4010-A184-3FBA-705E-B4F67C280D06}"/>
              </a:ext>
            </a:extLst>
          </p:cNvPr>
          <p:cNvSpPr txBox="1"/>
          <p:nvPr/>
        </p:nvSpPr>
        <p:spPr>
          <a:xfrm>
            <a:off x="8674191" y="3308943"/>
            <a:ext cx="3143506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D85BC1-B875-CBD8-4FB6-F118A5034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4949" y="1767728"/>
            <a:ext cx="8697539" cy="1105054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828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365D-D28C-C831-5F0B-F908F8D35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75643-5A36-7F2E-C717-F1954459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1554DA-9C6C-4577-A6FC-83F72E88EB55}"/>
              </a:ext>
            </a:extLst>
          </p:cNvPr>
          <p:cNvSpPr txBox="1"/>
          <p:nvPr/>
        </p:nvSpPr>
        <p:spPr>
          <a:xfrm>
            <a:off x="838200" y="2157721"/>
            <a:ext cx="3143506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C504A6-91AB-E790-0F12-C1B6A2ACEF30}"/>
              </a:ext>
            </a:extLst>
          </p:cNvPr>
          <p:cNvSpPr txBox="1"/>
          <p:nvPr/>
        </p:nvSpPr>
        <p:spPr>
          <a:xfrm>
            <a:off x="8674191" y="3308943"/>
            <a:ext cx="3143506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200E10-BA44-0DC0-1CCE-C22259B15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630" y="1892223"/>
            <a:ext cx="8697539" cy="1105054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7493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C12EE-54A5-6F67-2D76-ABAD87763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C536C-250C-8E63-6FE9-5BFD00F5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(subrutiner)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7E9B9F-5446-6D45-9E93-4423D6708A54}"/>
              </a:ext>
            </a:extLst>
          </p:cNvPr>
          <p:cNvSpPr txBox="1"/>
          <p:nvPr/>
        </p:nvSpPr>
        <p:spPr>
          <a:xfrm>
            <a:off x="838200" y="2157721"/>
            <a:ext cx="3143506" cy="452431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F1E47F-E80D-104F-0ED0-7010FF3E7E05}"/>
              </a:ext>
            </a:extLst>
          </p:cNvPr>
          <p:cNvSpPr txBox="1"/>
          <p:nvPr/>
        </p:nvSpPr>
        <p:spPr>
          <a:xfrm>
            <a:off x="8674191" y="3308943"/>
            <a:ext cx="314350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jalr</a:t>
            </a:r>
            <a:r>
              <a:rPr lang="en-US" b="1" dirty="0">
                <a:latin typeface="Consolas" panose="020B0609020204030204" pitchFamily="49" charset="0"/>
              </a:rPr>
              <a:t> zero, 0(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73DEA-C3F6-F5A5-EC73-0C5187467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305" y="1875841"/>
            <a:ext cx="8621328" cy="1247949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F5B09A5-A599-1A05-40F6-AB3BF9AD5464}"/>
              </a:ext>
            </a:extLst>
          </p:cNvPr>
          <p:cNvGrpSpPr/>
          <p:nvPr/>
        </p:nvGrpSpPr>
        <p:grpSpPr>
          <a:xfrm>
            <a:off x="3176386" y="2611157"/>
            <a:ext cx="7401463" cy="1912685"/>
            <a:chOff x="2180419" y="4481848"/>
            <a:chExt cx="7401463" cy="1912685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79684A6-81C8-7FC1-76CC-4FE6582C3CD0}"/>
                </a:ext>
              </a:extLst>
            </p:cNvPr>
            <p:cNvSpPr/>
            <p:nvPr/>
          </p:nvSpPr>
          <p:spPr>
            <a:xfrm>
              <a:off x="2180419" y="4481848"/>
              <a:ext cx="1275412" cy="1451020"/>
            </a:xfrm>
            <a:custGeom>
              <a:avLst/>
              <a:gdLst>
                <a:gd name="csX0" fmla="*/ 0 w 1275008"/>
                <a:gd name="csY0" fmla="*/ 0 h 1451020"/>
                <a:gd name="csX1" fmla="*/ 1275008 w 1275008"/>
                <a:gd name="csY1" fmla="*/ 1451020 h 1451020"/>
                <a:gd name="csX0" fmla="*/ 142 w 1275150"/>
                <a:gd name="csY0" fmla="*/ 0 h 1451020"/>
                <a:gd name="csX1" fmla="*/ 1275150 w 1275150"/>
                <a:gd name="csY1" fmla="*/ 1451020 h 1451020"/>
                <a:gd name="csX0" fmla="*/ 248 w 1275256"/>
                <a:gd name="csY0" fmla="*/ 0 h 1452435"/>
                <a:gd name="csX1" fmla="*/ 1275256 w 1275256"/>
                <a:gd name="csY1" fmla="*/ 1451020 h 1452435"/>
                <a:gd name="csX0" fmla="*/ 404 w 1275412"/>
                <a:gd name="csY0" fmla="*/ 0 h 1451020"/>
                <a:gd name="csX1" fmla="*/ 1275412 w 1275412"/>
                <a:gd name="csY1" fmla="*/ 1451020 h 145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5412" h="1451020">
                  <a:moveTo>
                    <a:pt x="404" y="0"/>
                  </a:moveTo>
                  <a:cubicBezTo>
                    <a:pt x="-12474" y="672563"/>
                    <a:pt x="279446" y="1405229"/>
                    <a:pt x="1275412" y="145102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  <a:head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ACDEC86-1233-6BD1-86E7-5BD6BFAEC151}"/>
                </a:ext>
              </a:extLst>
            </p:cNvPr>
            <p:cNvSpPr txBox="1"/>
            <p:nvPr/>
          </p:nvSpPr>
          <p:spPr>
            <a:xfrm>
              <a:off x="3485882" y="5748202"/>
              <a:ext cx="609600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GB" b="0">
                  <a:effectLst/>
                  <a:latin typeface="Consolas" panose="020B0609020204030204" pitchFamily="49" charset="0"/>
                </a:rPr>
                <a:t>offset är 20 bitar</a:t>
              </a:r>
              <a:br>
                <a:rPr lang="en-GB" b="0">
                  <a:effectLst/>
                  <a:latin typeface="Consolas" panose="020B0609020204030204" pitchFamily="49" charset="0"/>
                </a:rPr>
              </a:br>
              <a:r>
                <a:rPr lang="en-GB" b="0">
                  <a:effectLst/>
                  <a:latin typeface="Consolas" panose="020B0609020204030204" pitchFamily="49" charset="0"/>
                </a:rPr>
                <a:t>(+/- 1MB)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443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317EB-57DE-DFB0-5B8C-7C7C088E0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F0124-1665-1A40-3A49-8D8EDE3CC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(call och </a:t>
            </a:r>
            <a:r>
              <a:rPr lang="sv-SE" dirty="0" err="1"/>
              <a:t>return</a:t>
            </a:r>
            <a:r>
              <a:rPr lang="sv-SE" dirty="0"/>
              <a:t>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CF08E5-3A0E-9F91-7552-8511BD25D567}"/>
              </a:ext>
            </a:extLst>
          </p:cNvPr>
          <p:cNvSpPr txBox="1"/>
          <p:nvPr/>
        </p:nvSpPr>
        <p:spPr>
          <a:xfrm>
            <a:off x="838200" y="1844022"/>
            <a:ext cx="3873964" cy="480131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, min</a:t>
            </a:r>
          </a:p>
          <a:p>
            <a:r>
              <a:rPr lang="en-US" b="1" dirty="0">
                <a:latin typeface="Consolas" panose="020B0609020204030204" pitchFamily="49" charset="0"/>
              </a:rPr>
              <a:t>  call min # </a:t>
            </a:r>
            <a:r>
              <a:rPr lang="en-US" b="1" dirty="0" err="1">
                <a:latin typeface="Consolas" panose="020B0609020204030204" pitchFamily="49" charset="0"/>
              </a:rPr>
              <a:t>Ekvivalent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...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# use smallest value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AE8DD7-4C43-EFDA-14CA-2F313ADDF422}"/>
              </a:ext>
            </a:extLst>
          </p:cNvPr>
          <p:cNvSpPr txBox="1"/>
          <p:nvPr/>
        </p:nvSpPr>
        <p:spPr>
          <a:xfrm>
            <a:off x="8674191" y="3308943"/>
            <a:ext cx="3143506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return smallest of</a:t>
            </a:r>
          </a:p>
          <a:p>
            <a:r>
              <a:rPr lang="en-US" dirty="0">
                <a:latin typeface="Consolas" panose="020B0609020204030204" pitchFamily="49" charset="0"/>
              </a:rPr>
              <a:t>  # two parameters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</a:rPr>
              <a:t>jalr</a:t>
            </a:r>
            <a:r>
              <a:rPr lang="en-US" b="1" dirty="0">
                <a:latin typeface="Consolas" panose="020B0609020204030204" pitchFamily="49" charset="0"/>
              </a:rPr>
              <a:t> zero, 0(</a:t>
            </a:r>
            <a:r>
              <a:rPr lang="en-US" b="1" dirty="0" err="1">
                <a:latin typeface="Consolas" panose="020B0609020204030204" pitchFamily="49" charset="0"/>
              </a:rPr>
              <a:t>ra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</a:p>
          <a:p>
            <a:r>
              <a:rPr lang="en-US" b="1" dirty="0">
                <a:latin typeface="Consolas" panose="020B0609020204030204" pitchFamily="49" charset="0"/>
              </a:rPr>
              <a:t>  ret  # </a:t>
            </a:r>
            <a:r>
              <a:rPr lang="en-US" b="1" dirty="0" err="1">
                <a:latin typeface="Consolas" panose="020B0609020204030204" pitchFamily="49" charset="0"/>
              </a:rPr>
              <a:t>Ekvivalent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458960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33108-666A-FAAD-935E-93E6E3350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4944E-13BE-25A3-8420-9F215D6ED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(parametrar)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FAD3DF-872C-A327-5924-F29ED1C42883}"/>
              </a:ext>
            </a:extLst>
          </p:cNvPr>
          <p:cNvSpPr txBox="1"/>
          <p:nvPr/>
        </p:nvSpPr>
        <p:spPr>
          <a:xfrm>
            <a:off x="838199" y="1844022"/>
            <a:ext cx="5043791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t0  # </a:t>
            </a:r>
            <a:r>
              <a:rPr lang="en-US" b="1" dirty="0" err="1">
                <a:latin typeface="Consolas" panose="020B0609020204030204" pitchFamily="49" charset="0"/>
              </a:rPr>
              <a:t>Första</a:t>
            </a:r>
            <a:r>
              <a:rPr lang="en-US" b="1" dirty="0">
                <a:latin typeface="Consolas" panose="020B0609020204030204" pitchFamily="49" charset="0"/>
              </a:rPr>
              <a:t>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a0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a1, t1  # Andra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a1</a:t>
            </a:r>
          </a:p>
          <a:p>
            <a:r>
              <a:rPr lang="en-US" dirty="0">
                <a:latin typeface="Consolas" panose="020B0609020204030204" pitchFamily="49" charset="0"/>
              </a:rPr>
              <a:t>  call min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latin typeface="Consolas" panose="020B0609020204030204" pitchFamily="49" charset="0"/>
              </a:rPr>
              <a:t># Smallest of x and y is now in a0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6720B-6C11-B3FD-7513-52D6E044FFF9}"/>
              </a:ext>
            </a:extLst>
          </p:cNvPr>
          <p:cNvSpPr txBox="1"/>
          <p:nvPr/>
        </p:nvSpPr>
        <p:spPr>
          <a:xfrm>
            <a:off x="7328170" y="2522557"/>
            <a:ext cx="445061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j    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sv-SE" b="1" dirty="0">
                <a:latin typeface="Consolas" panose="020B0609020204030204" pitchFamily="49" charset="0"/>
              </a:rPr>
              <a:t>mv a0, a0   # Lite fånigt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741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381AA-6C7F-3FA9-9FE6-60A711145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24E8-49A7-D5C6-C16B-CACBDF8D7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Funktioner (parametrar)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CED252-8794-00A1-86C6-9E1016FD7916}"/>
              </a:ext>
            </a:extLst>
          </p:cNvPr>
          <p:cNvSpPr txBox="1"/>
          <p:nvPr/>
        </p:nvSpPr>
        <p:spPr>
          <a:xfrm>
            <a:off x="838199" y="1844022"/>
            <a:ext cx="5043791" cy="424731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main:</a:t>
            </a:r>
          </a:p>
          <a:p>
            <a:r>
              <a:rPr lang="en-US" dirty="0">
                <a:latin typeface="Consolas" panose="020B0609020204030204" pitchFamily="49" charset="0"/>
              </a:rPr>
              <a:t>  la t0, x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t0, 0(t0)</a:t>
            </a:r>
          </a:p>
          <a:p>
            <a:r>
              <a:rPr lang="en-US" dirty="0">
                <a:latin typeface="Consolas" panose="020B0609020204030204" pitchFamily="49" charset="0"/>
              </a:rPr>
              <a:t>  la t1, y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lw</a:t>
            </a:r>
            <a:r>
              <a:rPr lang="en-US" dirty="0">
                <a:latin typeface="Consolas" panose="020B0609020204030204" pitchFamily="49" charset="0"/>
              </a:rPr>
              <a:t> t1, 0(t1)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# need t0 = min(x, y)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t0  # </a:t>
            </a:r>
            <a:r>
              <a:rPr lang="en-US" b="1" dirty="0" err="1">
                <a:latin typeface="Consolas" panose="020B0609020204030204" pitchFamily="49" charset="0"/>
              </a:rPr>
              <a:t>Första</a:t>
            </a:r>
            <a:r>
              <a:rPr lang="en-US" b="1" dirty="0">
                <a:latin typeface="Consolas" panose="020B0609020204030204" pitchFamily="49" charset="0"/>
              </a:rPr>
              <a:t>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a0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a1, t1  # Andra parameter </a:t>
            </a:r>
            <a:r>
              <a:rPr lang="en-US" b="1" dirty="0" err="1">
                <a:latin typeface="Consolas" panose="020B06090202040302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</a:rPr>
              <a:t> a1</a:t>
            </a:r>
          </a:p>
          <a:p>
            <a:r>
              <a:rPr lang="en-US" dirty="0">
                <a:latin typeface="Consolas" panose="020B0609020204030204" pitchFamily="49" charset="0"/>
              </a:rPr>
              <a:t>  call min 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b="1" dirty="0">
                <a:latin typeface="Consolas" panose="020B0609020204030204" pitchFamily="49" charset="0"/>
              </a:rPr>
              <a:t># Smallest of x and y is now in a0</a:t>
            </a:r>
          </a:p>
          <a:p>
            <a:r>
              <a:rPr lang="en-US" dirty="0">
                <a:latin typeface="Consolas" panose="020B0609020204030204" pitchFamily="49" charset="0"/>
              </a:rPr>
              <a:t>  ... </a:t>
            </a:r>
          </a:p>
          <a:p>
            <a:r>
              <a:rPr lang="en-US" dirty="0">
                <a:latin typeface="Consolas" panose="020B0609020204030204" pitchFamily="49" charset="0"/>
              </a:rPr>
              <a:t>x: .word 10</a:t>
            </a:r>
          </a:p>
          <a:p>
            <a:r>
              <a:rPr lang="en-US" dirty="0">
                <a:latin typeface="Consolas" panose="020B0609020204030204" pitchFamily="49" charset="0"/>
              </a:rPr>
              <a:t>y: .word 20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CD4CE-5FF1-C24D-DE74-B5D19DD1C869}"/>
              </a:ext>
            </a:extLst>
          </p:cNvPr>
          <p:cNvSpPr txBox="1"/>
          <p:nvPr/>
        </p:nvSpPr>
        <p:spPr>
          <a:xfrm>
            <a:off x="7204953" y="843677"/>
            <a:ext cx="4450616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blt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j    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first_is_smallest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</a:t>
            </a:r>
            <a:r>
              <a:rPr lang="sv-SE" b="1" dirty="0">
                <a:latin typeface="Consolas" panose="020B0609020204030204" pitchFamily="49" charset="0"/>
              </a:rPr>
              <a:t>mv a0, a0   # Lite fånigt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202704-2F0C-F3CD-9D93-8AA1121CDAB9}"/>
              </a:ext>
            </a:extLst>
          </p:cNvPr>
          <p:cNvSpPr txBox="1"/>
          <p:nvPr/>
        </p:nvSpPr>
        <p:spPr>
          <a:xfrm>
            <a:off x="7204953" y="3635515"/>
            <a:ext cx="445061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min: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bge</a:t>
            </a:r>
            <a:r>
              <a:rPr lang="en-US" dirty="0">
                <a:latin typeface="Consolas" panose="020B0609020204030204" pitchFamily="49" charset="0"/>
              </a:rPr>
              <a:t>   a0, a1, </a:t>
            </a:r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ret</a:t>
            </a:r>
          </a:p>
          <a:p>
            <a:r>
              <a:rPr lang="en-US" dirty="0" err="1">
                <a:latin typeface="Consolas" panose="020B0609020204030204" pitchFamily="49" charset="0"/>
              </a:rPr>
              <a:t>second_is_smallest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b="1" dirty="0">
                <a:latin typeface="Consolas" panose="020B0609020204030204" pitchFamily="49" charset="0"/>
              </a:rPr>
              <a:t>  mv a0, a1</a:t>
            </a:r>
          </a:p>
          <a:p>
            <a:r>
              <a:rPr lang="en-US" dirty="0">
                <a:latin typeface="Consolas" panose="020B0609020204030204" pitchFamily="49" charset="0"/>
              </a:rPr>
              <a:t>  ret</a:t>
            </a:r>
            <a:endParaRPr lang="LID4096" dirty="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28CB26-BEC1-D7F6-7FFD-4E5C92839C26}"/>
              </a:ext>
            </a:extLst>
          </p:cNvPr>
          <p:cNvSpPr/>
          <p:nvPr/>
        </p:nvSpPr>
        <p:spPr>
          <a:xfrm>
            <a:off x="7204953" y="830094"/>
            <a:ext cx="4450616" cy="2598906"/>
          </a:xfrm>
          <a:prstGeom prst="rect">
            <a:avLst/>
          </a:prstGeom>
          <a:solidFill>
            <a:schemeClr val="tx1">
              <a:alpha val="24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758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F6DF7-8245-4515-D1C6-324C7599A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925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5AA07-B2D8-1B70-3C80-CEBB5836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Stacken</a:t>
            </a:r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89525E-896C-E730-5F60-2610F49D93D9}"/>
              </a:ext>
            </a:extLst>
          </p:cNvPr>
          <p:cNvSpPr/>
          <p:nvPr/>
        </p:nvSpPr>
        <p:spPr>
          <a:xfrm>
            <a:off x="9714963" y="2193701"/>
            <a:ext cx="1360868" cy="429917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79C0A9-756D-D42F-B9AD-6DE58D108F83}"/>
              </a:ext>
            </a:extLst>
          </p:cNvPr>
          <p:cNvSpPr txBox="1"/>
          <p:nvPr/>
        </p:nvSpPr>
        <p:spPr>
          <a:xfrm>
            <a:off x="9714962" y="5969655"/>
            <a:ext cx="1360867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FLASH</a:t>
            </a:r>
            <a:br>
              <a:rPr lang="en-GB"/>
            </a:br>
            <a:r>
              <a:rPr lang="en-GB" sz="700"/>
              <a:t>0x00000000-</a:t>
            </a:r>
            <a:br>
              <a:rPr lang="en-GB" sz="700"/>
            </a:br>
            <a:r>
              <a:rPr lang="en-GB" sz="700"/>
              <a:t>0x00047FFF</a:t>
            </a:r>
            <a:endParaRPr lang="LID4096" sz="7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187D8-7DA6-1828-E1C2-74DA6C46C186}"/>
              </a:ext>
            </a:extLst>
          </p:cNvPr>
          <p:cNvSpPr txBox="1"/>
          <p:nvPr/>
        </p:nvSpPr>
        <p:spPr>
          <a:xfrm>
            <a:off x="9714961" y="3661893"/>
            <a:ext cx="1360867" cy="20562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SRAM</a:t>
            </a:r>
            <a:br>
              <a:rPr lang="en-GB" sz="1400"/>
            </a:br>
            <a:r>
              <a:rPr lang="en-GB" sz="700"/>
              <a:t>0x20000000-</a:t>
            </a:r>
            <a:br>
              <a:rPr lang="en-GB" sz="700"/>
            </a:br>
            <a:r>
              <a:rPr lang="en-GB" sz="700"/>
              <a:t>0x2001FFFF</a:t>
            </a:r>
            <a:endParaRPr lang="LID4096" sz="7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989CA-E2CA-C771-F95C-7C29D17111D8}"/>
              </a:ext>
            </a:extLst>
          </p:cNvPr>
          <p:cNvSpPr txBox="1"/>
          <p:nvPr/>
        </p:nvSpPr>
        <p:spPr>
          <a:xfrm>
            <a:off x="9714960" y="2580067"/>
            <a:ext cx="1360867" cy="8303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Peripherals</a:t>
            </a:r>
            <a:br>
              <a:rPr lang="en-GB" sz="1400"/>
            </a:br>
            <a:r>
              <a:rPr lang="en-GB" sz="700"/>
              <a:t>0x40000000-</a:t>
            </a:r>
            <a:br>
              <a:rPr lang="en-GB" sz="700"/>
            </a:br>
            <a:r>
              <a:rPr lang="en-GB" sz="700"/>
              <a:t>0x40007FFF</a:t>
            </a:r>
            <a:endParaRPr lang="LID4096" sz="7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652EB4-3CF1-DD7A-B927-44B2223EDB5D}"/>
              </a:ext>
            </a:extLst>
          </p:cNvPr>
          <p:cNvSpPr txBox="1"/>
          <p:nvPr/>
        </p:nvSpPr>
        <p:spPr>
          <a:xfrm>
            <a:off x="9755746" y="5014175"/>
            <a:ext cx="1294328" cy="6651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your code</a:t>
            </a:r>
            <a:br>
              <a:rPr lang="en-GB" sz="1400"/>
            </a:br>
            <a:r>
              <a:rPr lang="en-GB" sz="1400"/>
              <a:t>goes here</a:t>
            </a:r>
            <a:br>
              <a:rPr lang="en-GB" sz="1400"/>
            </a:br>
            <a:r>
              <a:rPr lang="en-GB" sz="700"/>
              <a:t>0x20000000-0x???</a:t>
            </a:r>
            <a:br>
              <a:rPr lang="en-GB" sz="700"/>
            </a:br>
            <a:endParaRPr lang="LID4096" sz="7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C333DF-27D1-1A9F-7986-942B534D84BD}"/>
              </a:ext>
            </a:extLst>
          </p:cNvPr>
          <p:cNvSpPr txBox="1"/>
          <p:nvPr/>
        </p:nvSpPr>
        <p:spPr>
          <a:xfrm>
            <a:off x="9755746" y="3692244"/>
            <a:ext cx="1294328" cy="6651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GB" sz="1400"/>
              <a:t>stack goes here</a:t>
            </a:r>
            <a:br>
              <a:rPr lang="en-GB" sz="1400"/>
            </a:br>
            <a:r>
              <a:rPr lang="en-GB" sz="700"/>
              <a:t>0x???-</a:t>
            </a:r>
            <a:br>
              <a:rPr lang="en-GB" sz="700"/>
            </a:br>
            <a:r>
              <a:rPr lang="en-GB" sz="700"/>
              <a:t>0x2001FFFF</a:t>
            </a:r>
            <a:br>
              <a:rPr lang="en-GB" sz="700"/>
            </a:br>
            <a:endParaRPr lang="LID4096" sz="7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D5499F-144B-7272-14FF-2015A30869DF}"/>
              </a:ext>
            </a:extLst>
          </p:cNvPr>
          <p:cNvSpPr txBox="1"/>
          <p:nvPr/>
        </p:nvSpPr>
        <p:spPr>
          <a:xfrm>
            <a:off x="598959" y="2653017"/>
            <a:ext cx="4033142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/>
              <a:t>FLISP</a:t>
            </a:r>
            <a:r>
              <a:rPr lang="sv-SE"/>
              <a:t> (och </a:t>
            </a:r>
            <a:r>
              <a:rPr lang="sv-SE" dirty="0"/>
              <a:t>x86</a:t>
            </a:r>
            <a:r>
              <a:rPr lang="sv-SE"/>
              <a:t>, och (äldre) ARM</a:t>
            </a:r>
            <a:r>
              <a:rPr lang="sv-SE" dirty="0"/>
              <a:t>):</a:t>
            </a:r>
          </a:p>
          <a:p>
            <a:endParaRPr lang="sv-SE"/>
          </a:p>
          <a:p>
            <a:r>
              <a:rPr lang="sv-SE" sz="1400">
                <a:latin typeface="Consolas" panose="020B0609020204030204" pitchFamily="49" charset="0"/>
              </a:rPr>
              <a:t># Vi behöver spara undan ett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register för det behövs till 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annat</a:t>
            </a:r>
          </a:p>
          <a:p>
            <a:r>
              <a:rPr lang="sv-SE" sz="1400">
                <a:latin typeface="Consolas" panose="020B0609020204030204" pitchFamily="49" charset="0"/>
              </a:rPr>
              <a:t>PUSH r0</a:t>
            </a:r>
          </a:p>
          <a:p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Nu kan vi använda registret</a:t>
            </a:r>
            <a:br>
              <a:rPr lang="sv-SE" sz="1400">
                <a:latin typeface="Consolas" panose="020B0609020204030204" pitchFamily="49" charset="0"/>
              </a:rPr>
            </a:br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# Återställ registrets värde</a:t>
            </a:r>
          </a:p>
          <a:p>
            <a:r>
              <a:rPr lang="sv-SE" sz="1400">
                <a:latin typeface="Consolas" panose="020B0609020204030204" pitchFamily="49" charset="0"/>
              </a:rPr>
              <a:t>POP r0</a:t>
            </a:r>
            <a:endParaRPr lang="sv-SE" sz="1400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7E1581-D1D8-9977-089B-29DAC5717E44}"/>
              </a:ext>
            </a:extLst>
          </p:cNvPr>
          <p:cNvSpPr txBox="1"/>
          <p:nvPr/>
        </p:nvSpPr>
        <p:spPr>
          <a:xfrm>
            <a:off x="5170405" y="2653017"/>
            <a:ext cx="4317032" cy="2800767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b="1"/>
              <a:t>RISC-V:</a:t>
            </a:r>
          </a:p>
          <a:p>
            <a:endParaRPr lang="sv-SE" b="1"/>
          </a:p>
          <a:p>
            <a:r>
              <a:rPr lang="sv-SE" sz="1400">
                <a:latin typeface="Consolas" panose="020B0609020204030204" pitchFamily="49" charset="0"/>
              </a:rPr>
              <a:t># Vi behöver spara undan ett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register för det behövs till </a:t>
            </a:r>
            <a:br>
              <a:rPr lang="sv-SE" sz="1400">
                <a:latin typeface="Consolas" panose="020B0609020204030204" pitchFamily="49" charset="0"/>
              </a:rPr>
            </a:br>
            <a:r>
              <a:rPr lang="sv-SE" sz="1400">
                <a:latin typeface="Consolas" panose="020B0609020204030204" pitchFamily="49" charset="0"/>
              </a:rPr>
              <a:t># annat</a:t>
            </a:r>
          </a:p>
          <a:p>
            <a:r>
              <a:rPr lang="sv-SE" sz="1400">
                <a:latin typeface="Consolas" panose="020B0609020204030204" pitchFamily="49" charset="0"/>
              </a:rPr>
              <a:t>sw t0, 0(sp)    # Spara t0 till M(sp)</a:t>
            </a:r>
          </a:p>
          <a:p>
            <a:r>
              <a:rPr lang="sv-SE" sz="1400">
                <a:latin typeface="Consolas" panose="020B0609020204030204" pitchFamily="49" charset="0"/>
              </a:rPr>
              <a:t>addi sp, sp, -4 # Flytta ned stackpekaren</a:t>
            </a:r>
            <a:br>
              <a:rPr lang="sv-SE" sz="1400">
                <a:latin typeface="Consolas" panose="020B0609020204030204" pitchFamily="49" charset="0"/>
              </a:rPr>
            </a:br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# Nu kan vi använda registret</a:t>
            </a:r>
          </a:p>
          <a:p>
            <a:endParaRPr lang="sv-SE" sz="1400">
              <a:latin typeface="Consolas" panose="020B0609020204030204" pitchFamily="49" charset="0"/>
            </a:endParaRPr>
          </a:p>
          <a:p>
            <a:r>
              <a:rPr lang="sv-SE" sz="1400">
                <a:latin typeface="Consolas" panose="020B0609020204030204" pitchFamily="49" charset="0"/>
              </a:rPr>
              <a:t>addi sp, sp, 4 # Flytta upp stackpekaren</a:t>
            </a:r>
          </a:p>
          <a:p>
            <a:r>
              <a:rPr lang="sv-SE" sz="1400">
                <a:latin typeface="Consolas" panose="020B0609020204030204" pitchFamily="49" charset="0"/>
              </a:rPr>
              <a:t>lw t0, 0(sp)</a:t>
            </a:r>
            <a:endParaRPr lang="sv-S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555DD4-2E97-B7E2-43C6-70DF2343D774}"/>
              </a:ext>
            </a:extLst>
          </p:cNvPr>
          <p:cNvSpPr txBox="1"/>
          <p:nvPr/>
        </p:nvSpPr>
        <p:spPr>
          <a:xfrm>
            <a:off x="1518402" y="3684068"/>
            <a:ext cx="338285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400"/>
              <a:t>Spara r0 till M(sp)</a:t>
            </a:r>
            <a:br>
              <a:rPr lang="sv-SE" sz="1400"/>
            </a:br>
            <a:r>
              <a:rPr lang="sv-SE" sz="1400"/>
              <a:t>Flytta ned stackpekaren, </a:t>
            </a:r>
            <a:endParaRPr lang="LID4096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82AC7F-008F-D140-17D2-EE7BE7C3AE7D}"/>
              </a:ext>
            </a:extLst>
          </p:cNvPr>
          <p:cNvSpPr txBox="1"/>
          <p:nvPr/>
        </p:nvSpPr>
        <p:spPr>
          <a:xfrm>
            <a:off x="1416674" y="5014175"/>
            <a:ext cx="338285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sv-SE" sz="1400"/>
              <a:t>Flytta upp stackpekaren</a:t>
            </a:r>
            <a:br>
              <a:rPr lang="sv-SE" sz="1400"/>
            </a:br>
            <a:r>
              <a:rPr lang="sv-SE" sz="1400"/>
              <a:t>Läs tillbaka r0 från M(sp)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3526660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F771A-7F3C-4D37-856D-01BE2476C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69114-7D7F-1BDF-B52C-C4CF9685F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279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sv-SE"/>
              <a:t>Vi vill hitta max(x, y, z) = max(max(x,y),z)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27A6BE-8C79-895D-B118-168D8985D8BE}"/>
              </a:ext>
            </a:extLst>
          </p:cNvPr>
          <p:cNvSpPr txBox="1"/>
          <p:nvPr/>
        </p:nvSpPr>
        <p:spPr>
          <a:xfrm>
            <a:off x="1155341" y="2556654"/>
            <a:ext cx="9881317" cy="3139321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# t0 = x, t1 = y, t2 = z</a:t>
            </a:r>
          </a:p>
          <a:p>
            <a:r>
              <a:rPr lang="en-US">
                <a:latin typeface="Consolas" panose="020B0609020204030204" pitchFamily="49" charset="0"/>
              </a:rPr>
              <a:t>main:</a:t>
            </a:r>
          </a:p>
          <a:p>
            <a:r>
              <a:rPr lang="en-US">
                <a:latin typeface="Consolas" panose="020B0609020204030204" pitchFamily="49" charset="0"/>
              </a:rPr>
              <a:t>mv a0, t0        # </a:t>
            </a:r>
            <a:r>
              <a:rPr lang="en-US">
                <a:latin typeface="+mj-lt"/>
              </a:rPr>
              <a:t>Use t0 as the first parameter</a:t>
            </a:r>
          </a:p>
          <a:p>
            <a:r>
              <a:rPr lang="en-US">
                <a:latin typeface="Consolas" panose="020B0609020204030204" pitchFamily="49" charset="0"/>
              </a:rPr>
              <a:t>mv a1, t1        # </a:t>
            </a:r>
            <a:r>
              <a:rPr lang="en-US">
                <a:latin typeface="+mj-lt"/>
              </a:rPr>
              <a:t>and t1 as the second parameter</a:t>
            </a:r>
          </a:p>
          <a:p>
            <a:r>
              <a:rPr lang="en-US">
                <a:latin typeface="Consolas" panose="020B0609020204030204" pitchFamily="49" charset="0"/>
              </a:rPr>
              <a:t>call max         # </a:t>
            </a:r>
            <a:r>
              <a:rPr lang="en-US">
                <a:latin typeface="+mj-lt"/>
              </a:rPr>
              <a:t>After this line, the maximum of t0 and t1 is in a0.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>
                <a:latin typeface="+mj-lt"/>
              </a:rPr>
              <a:t>Since a0 is already max(t0, t1) we do not have to             </a:t>
            </a:r>
          </a:p>
          <a:p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>
                <a:latin typeface="+mj-lt"/>
              </a:rPr>
              <a:t>do anything for the first parameter</a:t>
            </a:r>
          </a:p>
          <a:p>
            <a:r>
              <a:rPr lang="en-US">
                <a:latin typeface="Consolas" panose="020B0609020204030204" pitchFamily="49" charset="0"/>
              </a:rPr>
              <a:t>mv a1, t2        # </a:t>
            </a:r>
            <a:r>
              <a:rPr lang="en-US">
                <a:latin typeface="+mj-lt"/>
              </a:rPr>
              <a:t>Use t2 as the second parameter</a:t>
            </a:r>
          </a:p>
          <a:p>
            <a:r>
              <a:rPr lang="en-US">
                <a:latin typeface="Consolas" panose="020B0609020204030204" pitchFamily="49" charset="0"/>
              </a:rPr>
              <a:t>call max         # </a:t>
            </a:r>
            <a:r>
              <a:rPr lang="en-US">
                <a:latin typeface="+mj-lt"/>
              </a:rPr>
              <a:t>After this line a0 should contain max(max(t0, t1), t2)...</a:t>
            </a:r>
          </a:p>
          <a:p>
            <a:r>
              <a:rPr lang="en-US">
                <a:latin typeface="Consolas" panose="020B0609020204030204" pitchFamily="49" charset="0"/>
              </a:rPr>
              <a:t>                 # </a:t>
            </a:r>
            <a:r>
              <a:rPr lang="en-US" b="1">
                <a:solidFill>
                  <a:srgbClr val="C00000"/>
                </a:solidFill>
                <a:latin typeface="Harrington" panose="04040505050A02020702" pitchFamily="82" charset="0"/>
              </a:rPr>
              <a:t>Or should it...</a:t>
            </a:r>
            <a:endParaRPr lang="en-US" b="1" dirty="0">
              <a:solidFill>
                <a:srgbClr val="C00000"/>
              </a:solidFill>
              <a:latin typeface="Harrington" panose="04040505050A02020702" pitchFamily="82" charset="0"/>
            </a:endParaRPr>
          </a:p>
          <a:p>
            <a:r>
              <a:rPr lang="en-US">
                <a:latin typeface="Consolas" panose="020B0609020204030204" pitchFamily="49" charset="0"/>
              </a:rPr>
              <a:t>  </a:t>
            </a:r>
            <a:endParaRPr lang="LID4096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3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2B6DF-2E34-9694-7818-8ACDECBC8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6E6C2-0DC3-4D26-184A-F0BF515DB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v-SE"/>
              <a:t>Vi måste komma överens om vem som sparar registrena när </a:t>
            </a:r>
            <a:r>
              <a:rPr lang="sv-SE" b="1"/>
              <a:t>caller</a:t>
            </a:r>
            <a:r>
              <a:rPr lang="sv-SE"/>
              <a:t>() kallar </a:t>
            </a:r>
            <a:r>
              <a:rPr lang="sv-SE" b="1"/>
              <a:t>callee</a:t>
            </a:r>
            <a:r>
              <a:rPr lang="sv-SE"/>
              <a:t>()</a:t>
            </a:r>
          </a:p>
          <a:p>
            <a:r>
              <a:rPr lang="sv-SE" b="1"/>
              <a:t>Förslag #1</a:t>
            </a:r>
            <a:r>
              <a:rPr lang="sv-SE"/>
              <a:t>: </a:t>
            </a:r>
            <a:br>
              <a:rPr lang="sv-SE"/>
            </a:br>
            <a:r>
              <a:rPr lang="sv-SE" b="1"/>
              <a:t>caller </a:t>
            </a:r>
            <a:r>
              <a:rPr lang="sv-SE"/>
              <a:t>sparar alla register den behöver ha kvar värdet på? </a:t>
            </a:r>
          </a:p>
          <a:p>
            <a:pPr lvl="1"/>
            <a:r>
              <a:rPr lang="sv-SE"/>
              <a:t>Om </a:t>
            </a:r>
            <a:r>
              <a:rPr lang="sv-SE" b="1"/>
              <a:t>callee</a:t>
            </a:r>
            <a:r>
              <a:rPr lang="sv-SE"/>
              <a:t> bara använder 1 register är det ju väldigt onödigt.</a:t>
            </a:r>
          </a:p>
          <a:p>
            <a:r>
              <a:rPr lang="sv-SE" b="1"/>
              <a:t>Förslag #2: </a:t>
            </a:r>
            <a:br>
              <a:rPr lang="sv-SE" b="1"/>
            </a:br>
            <a:r>
              <a:rPr lang="sv-SE" b="1"/>
              <a:t>callee</a:t>
            </a:r>
            <a:r>
              <a:rPr lang="sv-SE"/>
              <a:t> sparar alla register den tänker skriva över?</a:t>
            </a:r>
          </a:p>
          <a:p>
            <a:pPr lvl="1"/>
            <a:r>
              <a:rPr lang="sv-SE"/>
              <a:t>Om </a:t>
            </a:r>
            <a:r>
              <a:rPr lang="sv-SE" b="1"/>
              <a:t>caller</a:t>
            </a:r>
            <a:r>
              <a:rPr lang="sv-SE"/>
              <a:t> inte behöver något av de registrena blir det ju väldigt onödigt.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C5D588D-7212-9D1D-0DAF-74D77B1598BD}"/>
              </a:ext>
            </a:extLst>
          </p:cNvPr>
          <p:cNvGrpSpPr/>
          <p:nvPr/>
        </p:nvGrpSpPr>
        <p:grpSpPr>
          <a:xfrm>
            <a:off x="676982" y="5653743"/>
            <a:ext cx="9728308" cy="307777"/>
            <a:chOff x="676982" y="5653743"/>
            <a:chExt cx="9728308" cy="30777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30EC6A3-2B59-DC86-2EDF-5D80AE708F9E}"/>
                </a:ext>
              </a:extLst>
            </p:cNvPr>
            <p:cNvSpPr txBox="1"/>
            <p:nvPr/>
          </p:nvSpPr>
          <p:spPr>
            <a:xfrm>
              <a:off x="676982" y="5653743"/>
              <a:ext cx="514856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400"/>
                <a:t>bara </a:t>
              </a:r>
              <a:r>
                <a:rPr lang="sv-SE" sz="1400" b="1"/>
                <a:t>caller</a:t>
              </a:r>
              <a:r>
                <a:rPr lang="sv-SE" sz="1400"/>
                <a:t> vet vilka register den behöver efter funktionsanropet</a:t>
              </a:r>
              <a:endParaRPr lang="LID4096" sz="1400" b="1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0C4335-0512-FBA3-70CD-A4E5AF595CE1}"/>
                </a:ext>
              </a:extLst>
            </p:cNvPr>
            <p:cNvSpPr txBox="1"/>
            <p:nvPr/>
          </p:nvSpPr>
          <p:spPr>
            <a:xfrm>
              <a:off x="6366458" y="5653743"/>
              <a:ext cx="4038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>
                  <a:shade val="1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sv-SE" sz="1400"/>
                <a:t>bara </a:t>
              </a:r>
              <a:r>
                <a:rPr lang="sv-SE" sz="1400" b="1"/>
                <a:t>callee</a:t>
              </a:r>
              <a:r>
                <a:rPr lang="sv-SE" sz="1400"/>
                <a:t> vet vilka register den tänker skriva över</a:t>
              </a:r>
              <a:endParaRPr lang="LID4096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6026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7D8-3ED7-38D5-4231-2A5D1AD9F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 vid Funktionsanrop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7C576-7072-68EC-5F4D-1936ABA02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v-SE"/>
              <a:t>ABI Konvention (kompromiss): </a:t>
            </a:r>
            <a:endParaRPr lang="LID4096"/>
          </a:p>
          <a:p>
            <a:pPr lvl="1"/>
            <a:r>
              <a:rPr lang="sv-SE" b="1"/>
              <a:t>caller</a:t>
            </a:r>
            <a:r>
              <a:rPr lang="sv-SE"/>
              <a:t> sparar </a:t>
            </a:r>
            <a:r>
              <a:rPr lang="sv-SE" b="1"/>
              <a:t>t</a:t>
            </a:r>
            <a:r>
              <a:rPr lang="sv-SE"/>
              <a:t> (temp) registrena, </a:t>
            </a:r>
            <a:r>
              <a:rPr lang="sv-SE" b="1"/>
              <a:t>a</a:t>
            </a:r>
            <a:r>
              <a:rPr lang="sv-SE"/>
              <a:t> (argument registrena), och </a:t>
            </a:r>
            <a:r>
              <a:rPr lang="sv-SE" b="1"/>
              <a:t>ra</a:t>
            </a:r>
            <a:r>
              <a:rPr lang="sv-SE"/>
              <a:t> </a:t>
            </a:r>
            <a:br>
              <a:rPr lang="sv-SE"/>
            </a:br>
            <a:r>
              <a:rPr lang="sv-SE" sz="1600"/>
              <a:t>(om den behöver dem).</a:t>
            </a:r>
          </a:p>
          <a:p>
            <a:pPr lvl="1"/>
            <a:r>
              <a:rPr lang="sv-SE" b="1"/>
              <a:t>callee</a:t>
            </a:r>
            <a:r>
              <a:rPr lang="sv-SE"/>
              <a:t> sparar alla andra register </a:t>
            </a:r>
            <a:br>
              <a:rPr lang="sv-SE"/>
            </a:br>
            <a:r>
              <a:rPr lang="sv-SE" sz="1600"/>
              <a:t>(om den behöver skriva över dem)</a:t>
            </a:r>
          </a:p>
          <a:p>
            <a:pPr marL="0" indent="0">
              <a:buNone/>
            </a:pPr>
            <a:r>
              <a:rPr lang="sv-SE" sz="2000"/>
              <a:t>Tänk på att en funktion ofta är </a:t>
            </a:r>
            <a:r>
              <a:rPr lang="sv-SE" sz="2000" i="1"/>
              <a:t>både</a:t>
            </a:r>
            <a:r>
              <a:rPr lang="sv-SE" sz="2000"/>
              <a:t> </a:t>
            </a:r>
            <a:r>
              <a:rPr lang="sv-SE" sz="2000" b="1"/>
              <a:t>callee</a:t>
            </a:r>
            <a:r>
              <a:rPr lang="sv-SE" sz="2000"/>
              <a:t> och </a:t>
            </a:r>
            <a:r>
              <a:rPr lang="sv-SE" sz="2000" b="1"/>
              <a:t>caller</a:t>
            </a:r>
            <a:r>
              <a:rPr lang="sv-SE" sz="2000"/>
              <a:t>. </a:t>
            </a:r>
          </a:p>
          <a:p>
            <a:pPr marL="0" indent="0">
              <a:buNone/>
            </a:pPr>
            <a:r>
              <a:rPr lang="sv-SE" b="1"/>
              <a:t>Best Practice: </a:t>
            </a:r>
          </a:p>
          <a:p>
            <a:r>
              <a:rPr lang="sv-SE" sz="2000"/>
              <a:t>Använd </a:t>
            </a:r>
            <a:r>
              <a:rPr lang="sv-SE" sz="1800" b="1">
                <a:latin typeface="Consolas" panose="020B0609020204030204" pitchFamily="49" charset="0"/>
              </a:rPr>
              <a:t>t0-t6</a:t>
            </a:r>
            <a:r>
              <a:rPr lang="sv-SE" sz="2000"/>
              <a:t> för det mesta. </a:t>
            </a:r>
            <a:r>
              <a:rPr lang="sv-SE" sz="1600"/>
              <a:t>(du behöver inte oroa dig för att spara undan dem)</a:t>
            </a:r>
          </a:p>
          <a:p>
            <a:r>
              <a:rPr lang="sv-SE" sz="2000"/>
              <a:t>Om du behöver spara ett värde över ett funktionsanrop, använd </a:t>
            </a:r>
            <a:r>
              <a:rPr lang="sv-SE" sz="1800" b="1">
                <a:latin typeface="Consolas" panose="020B0609020204030204" pitchFamily="49" charset="0"/>
              </a:rPr>
              <a:t>s0-s11</a:t>
            </a:r>
            <a:r>
              <a:rPr lang="sv-SE" sz="2000"/>
              <a:t> istället. </a:t>
            </a:r>
            <a:r>
              <a:rPr lang="sv-SE" sz="1600"/>
              <a:t>(funktionen du kallar får inte skriva över dem utan att återställa)</a:t>
            </a:r>
          </a:p>
          <a:p>
            <a:r>
              <a:rPr lang="sv-SE" sz="2000"/>
              <a:t>Håll koll på vilka </a:t>
            </a:r>
            <a:r>
              <a:rPr lang="sv-SE" sz="1800" b="1">
                <a:latin typeface="Consolas" panose="020B0609020204030204" pitchFamily="49" charset="0"/>
              </a:rPr>
              <a:t>s</a:t>
            </a:r>
            <a:r>
              <a:rPr lang="sv-SE" sz="2000"/>
              <a:t> (eller andra callee-saved) register du använder och se till att spara undan dem i början av funktionen, och återställa i slutet.</a:t>
            </a:r>
            <a:br>
              <a:rPr lang="sv-SE" sz="2400"/>
            </a:br>
            <a:endParaRPr lang="sv-SE"/>
          </a:p>
          <a:p>
            <a:pPr lvl="1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0928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1DA21-300C-43E3-3FC0-40EADD2B8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exempel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74403D-4B00-5AA2-1246-34DE9585E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13" y="1690688"/>
            <a:ext cx="5800308" cy="516731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E458AF-7003-2975-5176-A4F418F81944}"/>
              </a:ext>
            </a:extLst>
          </p:cNvPr>
          <p:cNvSpPr txBox="1"/>
          <p:nvPr/>
        </p:nvSpPr>
        <p:spPr>
          <a:xfrm>
            <a:off x="10270350" y="2644461"/>
            <a:ext cx="818084" cy="1669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STACK</a:t>
            </a:r>
            <a:endParaRPr lang="LID4096" sz="7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13A6459-51D7-D70C-EB48-B9C1850B194E}"/>
              </a:ext>
            </a:extLst>
          </p:cNvPr>
          <p:cNvGrpSpPr/>
          <p:nvPr/>
        </p:nvGrpSpPr>
        <p:grpSpPr>
          <a:xfrm>
            <a:off x="9646739" y="2459795"/>
            <a:ext cx="491602" cy="369332"/>
            <a:chOff x="9316182" y="2586220"/>
            <a:chExt cx="491602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5C47DAF-E634-BD37-7A5E-CADC1CB94EC8}"/>
                </a:ext>
              </a:extLst>
            </p:cNvPr>
            <p:cNvSpPr txBox="1"/>
            <p:nvPr/>
          </p:nvSpPr>
          <p:spPr>
            <a:xfrm>
              <a:off x="9316182" y="258622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latin typeface="Consolas" panose="020B0609020204030204" pitchFamily="49" charset="0"/>
                </a:rPr>
                <a:t>sp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78AAF5CB-7929-FE35-30A6-B8ADCB5B695F}"/>
                </a:ext>
              </a:extLst>
            </p:cNvPr>
            <p:cNvSpPr/>
            <p:nvPr/>
          </p:nvSpPr>
          <p:spPr>
            <a:xfrm>
              <a:off x="9700460" y="2702198"/>
              <a:ext cx="107324" cy="137375"/>
            </a:xfrm>
            <a:prstGeom prst="rightArrow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51391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63A-B186-2D7A-8C69-D60B83A41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0333E-BA59-6BFF-0AE4-E50D75DF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exempel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B6A542-05DD-2E27-67CB-1C2D3BD1A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13" y="1690688"/>
            <a:ext cx="5800308" cy="516731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81567A-E95D-935D-11AC-9260211B7DE8}"/>
              </a:ext>
            </a:extLst>
          </p:cNvPr>
          <p:cNvSpPr txBox="1"/>
          <p:nvPr/>
        </p:nvSpPr>
        <p:spPr>
          <a:xfrm>
            <a:off x="10270350" y="2644461"/>
            <a:ext cx="818084" cy="1669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STACK</a:t>
            </a:r>
            <a:endParaRPr lang="LID4096" sz="7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0907F-E121-E373-8301-36D48D08F9BC}"/>
              </a:ext>
            </a:extLst>
          </p:cNvPr>
          <p:cNvSpPr txBox="1"/>
          <p:nvPr/>
        </p:nvSpPr>
        <p:spPr>
          <a:xfrm>
            <a:off x="10292366" y="2661935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/>
              <a:t>s0</a:t>
            </a:r>
            <a:endParaRPr lang="LID4096" sz="10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0C7EF70-E288-DDF1-27A3-54268A8CF150}"/>
              </a:ext>
            </a:extLst>
          </p:cNvPr>
          <p:cNvGrpSpPr/>
          <p:nvPr/>
        </p:nvGrpSpPr>
        <p:grpSpPr>
          <a:xfrm>
            <a:off x="9672498" y="2983537"/>
            <a:ext cx="491602" cy="369332"/>
            <a:chOff x="9316182" y="2586220"/>
            <a:chExt cx="491602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44EEBFD-04B2-D7DA-1997-0D52F833A031}"/>
                </a:ext>
              </a:extLst>
            </p:cNvPr>
            <p:cNvSpPr txBox="1"/>
            <p:nvPr/>
          </p:nvSpPr>
          <p:spPr>
            <a:xfrm>
              <a:off x="9316182" y="258622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latin typeface="Consolas" panose="020B0609020204030204" pitchFamily="49" charset="0"/>
                </a:rPr>
                <a:t>sp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D5F6B78E-07E8-C98A-9BD7-121E30838D2A}"/>
                </a:ext>
              </a:extLst>
            </p:cNvPr>
            <p:cNvSpPr/>
            <p:nvPr/>
          </p:nvSpPr>
          <p:spPr>
            <a:xfrm>
              <a:off x="9700460" y="2702198"/>
              <a:ext cx="107324" cy="137375"/>
            </a:xfrm>
            <a:prstGeom prst="rightArrow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86D66A7-689F-C1E6-219D-F239996EB2F8}"/>
              </a:ext>
            </a:extLst>
          </p:cNvPr>
          <p:cNvSpPr txBox="1"/>
          <p:nvPr/>
        </p:nvSpPr>
        <p:spPr>
          <a:xfrm>
            <a:off x="10292366" y="2923806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/>
              <a:t>ra</a:t>
            </a:r>
            <a:endParaRPr lang="LID4096" sz="1000"/>
          </a:p>
        </p:txBody>
      </p:sp>
    </p:spTree>
    <p:extLst>
      <p:ext uri="{BB962C8B-B14F-4D97-AF65-F5344CB8AC3E}">
        <p14:creationId xmlns:p14="http://schemas.microsoft.com/office/powerpoint/2010/main" val="2086375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6EF6E-2756-AA97-F534-BF62DFEA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505C-AB4A-9FA4-8C48-734EE8ABB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Register saving, exempel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F2C9B-F5DB-7652-922B-F7D3A04D3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313" y="1690688"/>
            <a:ext cx="5800308" cy="516731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0E250F8-65EA-4AE5-6887-625E277975DC}"/>
              </a:ext>
            </a:extLst>
          </p:cNvPr>
          <p:cNvSpPr txBox="1"/>
          <p:nvPr/>
        </p:nvSpPr>
        <p:spPr>
          <a:xfrm>
            <a:off x="10270350" y="2644461"/>
            <a:ext cx="818084" cy="1669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 anchor="ctr">
            <a:noAutofit/>
          </a:bodyPr>
          <a:lstStyle/>
          <a:p>
            <a:pPr algn="ctr"/>
            <a:r>
              <a:rPr lang="en-GB" sz="1400"/>
              <a:t>STACK</a:t>
            </a:r>
            <a:endParaRPr lang="LID4096" sz="7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54706C-0DE5-FEE6-CD53-77F2B5DD21A6}"/>
              </a:ext>
            </a:extLst>
          </p:cNvPr>
          <p:cNvSpPr txBox="1"/>
          <p:nvPr/>
        </p:nvSpPr>
        <p:spPr>
          <a:xfrm>
            <a:off x="10292366" y="2661935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>
                <a:solidFill>
                  <a:schemeClr val="bg1">
                    <a:lumMod val="85000"/>
                  </a:schemeClr>
                </a:solidFill>
              </a:rPr>
              <a:t>s0</a:t>
            </a:r>
            <a:endParaRPr lang="LID4096" sz="1000">
              <a:solidFill>
                <a:schemeClr val="bg1">
                  <a:lumMod val="85000"/>
                </a:schemeClr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4ADD7AF-7703-7139-FF7B-D3ADA4116615}"/>
              </a:ext>
            </a:extLst>
          </p:cNvPr>
          <p:cNvGrpSpPr/>
          <p:nvPr/>
        </p:nvGrpSpPr>
        <p:grpSpPr>
          <a:xfrm>
            <a:off x="9689670" y="2459795"/>
            <a:ext cx="491602" cy="369332"/>
            <a:chOff x="9316182" y="2586220"/>
            <a:chExt cx="491602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F1350E-BD91-019D-9B07-A068A9446E6E}"/>
                </a:ext>
              </a:extLst>
            </p:cNvPr>
            <p:cNvSpPr txBox="1"/>
            <p:nvPr/>
          </p:nvSpPr>
          <p:spPr>
            <a:xfrm>
              <a:off x="9316182" y="258622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latin typeface="Consolas" panose="020B0609020204030204" pitchFamily="49" charset="0"/>
                </a:rPr>
                <a:t>sp</a:t>
              </a:r>
              <a:endParaRPr lang="LID4096">
                <a:latin typeface="Consolas" panose="020B0609020204030204" pitchFamily="49" charset="0"/>
              </a:endParaRP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641082D1-DA40-C5C5-110F-B97B9E49C4A7}"/>
                </a:ext>
              </a:extLst>
            </p:cNvPr>
            <p:cNvSpPr/>
            <p:nvPr/>
          </p:nvSpPr>
          <p:spPr>
            <a:xfrm>
              <a:off x="9700460" y="2702198"/>
              <a:ext cx="107324" cy="137375"/>
            </a:xfrm>
            <a:prstGeom prst="rightArrow">
              <a:avLst/>
            </a:prstGeom>
            <a:solidFill>
              <a:schemeClr val="bg1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B11B4E3-3324-5A52-454E-E8821CF3568E}"/>
              </a:ext>
            </a:extLst>
          </p:cNvPr>
          <p:cNvSpPr txBox="1"/>
          <p:nvPr/>
        </p:nvSpPr>
        <p:spPr>
          <a:xfrm>
            <a:off x="10292366" y="2923806"/>
            <a:ext cx="774879" cy="2443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sv-SE" sz="1000">
                <a:solidFill>
                  <a:schemeClr val="bg1">
                    <a:lumMod val="85000"/>
                  </a:schemeClr>
                </a:solidFill>
              </a:rPr>
              <a:t>ra</a:t>
            </a:r>
            <a:endParaRPr lang="LID4096" sz="100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51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8C54-4B75-31FB-FCA5-819B7E55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8863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5F067-B0FE-FC2B-ECE4-F8600A49A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ASCII</a:t>
            </a:r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27B900-5039-84E4-C6CC-141FEEF27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184" y="1771565"/>
            <a:ext cx="8395013" cy="4808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576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0F3C1-E18A-20E7-894E-E0521936A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Lecture03/Example01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5628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8AE2-2115-6850-8CE0-B9CFE803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D4DF9B-E989-60E2-2A08-E9D95DD6655F}"/>
              </a:ext>
            </a:extLst>
          </p:cNvPr>
          <p:cNvSpPr txBox="1"/>
          <p:nvPr/>
        </p:nvSpPr>
        <p:spPr>
          <a:xfrm>
            <a:off x="579547" y="3052551"/>
            <a:ext cx="11131641" cy="19483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>
                <a:solidFill>
                  <a:srgbClr val="569CD6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// Allocate memory space for 10 chars (bytes)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 // Write a value into the first element of the array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20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 //          ...           second         ....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9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   //          ...           last           ...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>
                <a:solidFill>
                  <a:srgbClr val="569CD6"/>
                </a:solidFill>
                <a:latin typeface="Consolas" panose="020B0609020204030204" pitchFamily="49" charset="0"/>
              </a:rPr>
              <a:t>char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9CDCFE"/>
                </a:solidFill>
                <a:latin typeface="Consolas" panose="020B0609020204030204" pitchFamily="49" charset="0"/>
              </a:rPr>
              <a:t>numbers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>
                <a:solidFill>
                  <a:srgbClr val="B5CEA8"/>
                </a:solidFill>
                <a:latin typeface="Consolas" panose="020B0609020204030204" pitchFamily="49" charset="0"/>
              </a:rPr>
              <a:t>9</a:t>
            </a:r>
            <a:r>
              <a:rPr lang="en-US">
                <a:solidFill>
                  <a:srgbClr val="CCCCCC"/>
                </a:solidFill>
                <a:latin typeface="Consolas" panose="020B0609020204030204" pitchFamily="49" charset="0"/>
              </a:rPr>
              <a:t>];</a:t>
            </a:r>
            <a:r>
              <a:rPr lang="en-US">
                <a:solidFill>
                  <a:srgbClr val="6A9955"/>
                </a:solidFill>
                <a:latin typeface="Consolas" panose="020B0609020204030204" pitchFamily="49" charset="0"/>
              </a:rPr>
              <a:t>       // Read the last element of the array into another variable</a:t>
            </a:r>
            <a:endParaRPr lang="en-US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1785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5BEE-B0F7-60DD-3EE5-996ECF634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9C3FC-6170-57D2-8C86-9AD690798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8A3C55-A241-3545-5BD0-218CAD8EA41B}"/>
              </a:ext>
            </a:extLst>
          </p:cNvPr>
          <p:cNvSpPr txBox="1"/>
          <p:nvPr/>
        </p:nvSpPr>
        <p:spPr>
          <a:xfrm>
            <a:off x="888641" y="3318714"/>
            <a:ext cx="9255618" cy="25023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numbers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Ladda addressen till arrayen i t0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t1 &lt;- numbers[0]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fr-FR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)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t2 &lt;- numbers[1]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DCDCAA"/>
                </a:solidFill>
                <a:latin typeface="Consolas" panose="020B0609020204030204" pitchFamily="49" charset="0"/>
              </a:rPr>
              <a:t>numbers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:                </a:t>
            </a:r>
            <a:r>
              <a:rPr lang="fr-FR">
                <a:solidFill>
                  <a:srgbClr val="6A9955"/>
                </a:solidFill>
                <a:latin typeface="Consolas" panose="020B0609020204030204" pitchFamily="49" charset="0"/>
              </a:rPr>
              <a:t># Deklarera numbers[5]</a:t>
            </a:r>
            <a:endParaRPr lang="fr-FR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>
                <a:solidFill>
                  <a:srgbClr val="569CD6"/>
                </a:solidFill>
                <a:latin typeface="Consolas" panose="020B0609020204030204" pitchFamily="49" charset="0"/>
              </a:rPr>
              <a:t>.space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fr-FR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fr-FR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7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35451-C6F2-6450-AD81-023365723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7B32B-B814-4E29-C5E7-67E14787D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(igen, med shorts)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1EAB1-A68F-9D22-B839-E5AA80E5E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5049B-E606-00BB-DF30-54447186D08A}"/>
              </a:ext>
            </a:extLst>
          </p:cNvPr>
          <p:cNvSpPr txBox="1"/>
          <p:nvPr/>
        </p:nvSpPr>
        <p:spPr>
          <a:xfrm>
            <a:off x="888641" y="3318714"/>
            <a:ext cx="9255618" cy="22253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Ladda addressen till arrayen i t0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&lt;- numbers[0]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t2 &lt;- numbers[1]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 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Glöm inte align!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             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Deklarera short numbers[5] = {10, 20, ..., 50}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.hword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5320BBF-E931-4178-6D38-B7EED1406580}"/>
              </a:ext>
            </a:extLst>
          </p:cNvPr>
          <p:cNvGrpSpPr/>
          <p:nvPr/>
        </p:nvGrpSpPr>
        <p:grpSpPr>
          <a:xfrm>
            <a:off x="2180419" y="4481848"/>
            <a:ext cx="7401463" cy="1635686"/>
            <a:chOff x="2180419" y="4481848"/>
            <a:chExt cx="7401463" cy="163568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1AFAE99-4A9B-63FC-471E-CF964236C3B2}"/>
                </a:ext>
              </a:extLst>
            </p:cNvPr>
            <p:cNvSpPr/>
            <p:nvPr/>
          </p:nvSpPr>
          <p:spPr>
            <a:xfrm>
              <a:off x="2180419" y="4481848"/>
              <a:ext cx="1275412" cy="1451020"/>
            </a:xfrm>
            <a:custGeom>
              <a:avLst/>
              <a:gdLst>
                <a:gd name="csX0" fmla="*/ 0 w 1275008"/>
                <a:gd name="csY0" fmla="*/ 0 h 1451020"/>
                <a:gd name="csX1" fmla="*/ 1275008 w 1275008"/>
                <a:gd name="csY1" fmla="*/ 1451020 h 1451020"/>
                <a:gd name="csX0" fmla="*/ 142 w 1275150"/>
                <a:gd name="csY0" fmla="*/ 0 h 1451020"/>
                <a:gd name="csX1" fmla="*/ 1275150 w 1275150"/>
                <a:gd name="csY1" fmla="*/ 1451020 h 1451020"/>
                <a:gd name="csX0" fmla="*/ 248 w 1275256"/>
                <a:gd name="csY0" fmla="*/ 0 h 1452435"/>
                <a:gd name="csX1" fmla="*/ 1275256 w 1275256"/>
                <a:gd name="csY1" fmla="*/ 1451020 h 1452435"/>
                <a:gd name="csX0" fmla="*/ 404 w 1275412"/>
                <a:gd name="csY0" fmla="*/ 0 h 1451020"/>
                <a:gd name="csX1" fmla="*/ 1275412 w 1275412"/>
                <a:gd name="csY1" fmla="*/ 1451020 h 145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75412" h="1451020">
                  <a:moveTo>
                    <a:pt x="404" y="0"/>
                  </a:moveTo>
                  <a:cubicBezTo>
                    <a:pt x="-12474" y="672563"/>
                    <a:pt x="279446" y="1405229"/>
                    <a:pt x="1275412" y="1451020"/>
                  </a:cubicBezTo>
                </a:path>
              </a:pathLst>
            </a:custGeom>
            <a:noFill/>
            <a:ln w="38100">
              <a:solidFill>
                <a:srgbClr val="C00000"/>
              </a:solidFill>
              <a:head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0EF53D-AEB0-1148-75E2-BB7AE4EBD6A3}"/>
                </a:ext>
              </a:extLst>
            </p:cNvPr>
            <p:cNvSpPr txBox="1"/>
            <p:nvPr/>
          </p:nvSpPr>
          <p:spPr>
            <a:xfrm>
              <a:off x="3485882" y="5748202"/>
              <a:ext cx="6096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GB" b="0">
                  <a:effectLst/>
                  <a:latin typeface="Consolas" panose="020B0609020204030204" pitchFamily="49" charset="0"/>
                </a:rPr>
                <a:t>offset är i </a:t>
              </a:r>
              <a:r>
                <a:rPr lang="en-GB" b="1">
                  <a:effectLst/>
                  <a:latin typeface="Consolas" panose="020B0609020204030204" pitchFamily="49" charset="0"/>
                </a:rPr>
                <a:t>bytes</a:t>
              </a:r>
              <a:endParaRPr lang="en-GB" b="0"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32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3351A-8B4B-7EDA-9D87-4ADFF0954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8024E-6B80-A2ED-EE36-AB75424D5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Arrays (igen, med shorts)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4D730-FD6E-3622-6877-91A1DE004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786" y="1825625"/>
            <a:ext cx="10515600" cy="1076414"/>
          </a:xfrm>
        </p:spPr>
        <p:txBody>
          <a:bodyPr/>
          <a:lstStyle/>
          <a:p>
            <a:r>
              <a:rPr lang="sv-SE"/>
              <a:t>I assembler finns inga speciella instruktioner för arrays. </a:t>
            </a:r>
          </a:p>
          <a:p>
            <a:r>
              <a:rPr lang="sv-SE"/>
              <a:t>En array är bara en rad variabler av samma typ.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0AA64F-B93D-9FA8-880F-877BBB42C31F}"/>
              </a:ext>
            </a:extLst>
          </p:cNvPr>
          <p:cNvSpPr txBox="1"/>
          <p:nvPr/>
        </p:nvSpPr>
        <p:spPr>
          <a:xfrm>
            <a:off x="888641" y="3318714"/>
            <a:ext cx="9255618" cy="22253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Ladda addressen till arrayen i t0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&lt;- numbers[0]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t2 &lt;- numbers[1]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 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</a:t>
            </a:r>
            <a:r>
              <a:rPr lang="en-GB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Glöm inte align!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             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Deklarera short numbers[5]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.space 5*2		  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# Varje element </a:t>
            </a:r>
            <a:r>
              <a:rPr lang="sv-SE">
                <a:solidFill>
                  <a:srgbClr val="6A9955"/>
                </a:solidFill>
                <a:latin typeface="Consolas" panose="020B0609020204030204" pitchFamily="49" charset="0"/>
              </a:rPr>
              <a:t>är 2 bytes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</a:p>
          <a:p>
            <a:pPr>
              <a:lnSpc>
                <a:spcPts val="1425"/>
              </a:lnSpc>
              <a:buNone/>
            </a:pP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9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A3EBD-DCAC-F2A4-A314-969FE5411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Iterera över en array</a:t>
            </a:r>
            <a:endParaRPr lang="LID4096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282E66-82DB-21FB-DC4A-D21E677972E2}"/>
              </a:ext>
            </a:extLst>
          </p:cNvPr>
          <p:cNvSpPr txBox="1"/>
          <p:nvPr/>
        </p:nvSpPr>
        <p:spPr>
          <a:xfrm>
            <a:off x="1029235" y="2195591"/>
            <a:ext cx="10324565" cy="440120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main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We use t0 for i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We use t1 for the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la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numbers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t2 &lt;- address of first element in array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loop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&lt;- 4, the number of bytes per element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mul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i * 4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address of array + i * (4 bytes)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lw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)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numbers[i]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add element to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addi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i++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li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t3 &lt;- 10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blt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9CDCFE"/>
                </a:solidFill>
                <a:latin typeface="Consolas" panose="020B0609020204030204" pitchFamily="49" charset="0"/>
              </a:rPr>
              <a:t>t3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loop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iterate while i &lt; 10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done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t1 now contains the sum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569CD6"/>
                </a:solidFill>
                <a:latin typeface="Consolas" panose="020B0609020204030204" pitchFamily="49" charset="0"/>
              </a:rPr>
              <a:t>.balign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                                   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Make sure our numbers are aligned to 4 bytes</a:t>
            </a:r>
            <a:endParaRPr lang="en-GB" sz="14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400">
                <a:solidFill>
                  <a:srgbClr val="DCDCAA"/>
                </a:solidFill>
                <a:latin typeface="Consolas" panose="020B0609020204030204" pitchFamily="49" charset="0"/>
              </a:rPr>
              <a:t>numbers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GB" sz="1400">
                <a:solidFill>
                  <a:srgbClr val="569CD6"/>
                </a:solidFill>
                <a:latin typeface="Consolas" panose="020B0609020204030204" pitchFamily="49" charset="0"/>
              </a:rPr>
              <a:t>.word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6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8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GB" sz="1400">
                <a:solidFill>
                  <a:srgbClr val="B5CEA8"/>
                </a:solidFill>
                <a:latin typeface="Consolas" panose="020B0609020204030204" pitchFamily="49" charset="0"/>
              </a:rPr>
              <a:t>5</a:t>
            </a:r>
            <a:r>
              <a:rPr lang="en-GB" sz="1400">
                <a:solidFill>
                  <a:srgbClr val="CCCCCC"/>
                </a:solidFill>
                <a:latin typeface="Consolas" panose="020B0609020204030204" pitchFamily="49" charset="0"/>
              </a:rPr>
              <a:t>         </a:t>
            </a:r>
            <a:r>
              <a:rPr lang="en-GB" sz="1400">
                <a:solidFill>
                  <a:srgbClr val="6A9955"/>
                </a:solidFill>
                <a:latin typeface="Consolas" panose="020B0609020204030204" pitchFamily="49" charset="0"/>
              </a:rPr>
              <a:t># Allocate 10*4 bytes for the array</a:t>
            </a:r>
            <a:endParaRPr lang="en-GB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C3C1B-C276-79CD-CAFE-077B90E66BA2}"/>
              </a:ext>
            </a:extLst>
          </p:cNvPr>
          <p:cNvSpPr txBox="1"/>
          <p:nvPr/>
        </p:nvSpPr>
        <p:spPr>
          <a:xfrm>
            <a:off x="3133860" y="1824507"/>
            <a:ext cx="2821606" cy="10772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sum +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  <a:endParaRPr lang="LID4096" sz="800"/>
          </a:p>
        </p:txBody>
      </p:sp>
    </p:spTree>
    <p:extLst>
      <p:ext uri="{BB962C8B-B14F-4D97-AF65-F5344CB8AC3E}">
        <p14:creationId xmlns:p14="http://schemas.microsoft.com/office/powerpoint/2010/main" val="3197991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84319-10A4-4BC9-68E0-13F788A6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D17B-BC54-00F7-D4EE-A9A110909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Iterera över en array</a:t>
            </a:r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8B319-967E-5CC2-3E74-EDD4884AE831}"/>
              </a:ext>
            </a:extLst>
          </p:cNvPr>
          <p:cNvSpPr txBox="1"/>
          <p:nvPr/>
        </p:nvSpPr>
        <p:spPr>
          <a:xfrm>
            <a:off x="7030732" y="1958240"/>
            <a:ext cx="2821606" cy="181588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GB" sz="8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GB" sz="8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8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8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8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8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8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814EB-E282-1323-091F-BC18E787AE0E}"/>
              </a:ext>
            </a:extLst>
          </p:cNvPr>
          <p:cNvSpPr txBox="1"/>
          <p:nvPr/>
        </p:nvSpPr>
        <p:spPr>
          <a:xfrm>
            <a:off x="838200" y="1958240"/>
            <a:ext cx="6096000" cy="429348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sum - a0 is address to first element, a1 is number of elements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Använder inga register som måste sparas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t0 is i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t1 is sum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sum_loop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mul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t3 &lt;- i*4 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t3 &lt;- n[i]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sum += n[i]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i++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blt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sum_loop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mv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return sum in a0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ret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la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numbers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sum</a:t>
            </a:r>
          </a:p>
          <a:p>
            <a:pPr>
              <a:buNone/>
            </a:pP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105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a0 now contains the sum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.balign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GB" sz="105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105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GB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.word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05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sz="105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031022-0B81-7465-7521-F257139DCE71}"/>
              </a:ext>
            </a:extLst>
          </p:cNvPr>
          <p:cNvSpPr txBox="1"/>
          <p:nvPr/>
        </p:nvSpPr>
        <p:spPr>
          <a:xfrm>
            <a:off x="1026017" y="2939932"/>
            <a:ext cx="3820733" cy="36933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slli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t3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fr-FR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t3 = i * 4</a:t>
            </a:r>
            <a:endParaRPr lang="fr-FR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204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BE40A-0791-23EB-2804-6CAC680E3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Lecture03/Example02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6399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1896</TotalTime>
  <Words>2822</Words>
  <Application>Microsoft Office PowerPoint</Application>
  <PresentationFormat>Widescreen</PresentationFormat>
  <Paragraphs>404</Paragraphs>
  <Slides>26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Consolas</vt:lpstr>
      <vt:lpstr>Harrington</vt:lpstr>
      <vt:lpstr>Office Theme</vt:lpstr>
      <vt:lpstr>Lektion 3</vt:lpstr>
      <vt:lpstr>Branches</vt:lpstr>
      <vt:lpstr>Funktioner (subrutiner)</vt:lpstr>
      <vt:lpstr>Funktioner (subrutiner)</vt:lpstr>
      <vt:lpstr>Funktioner (subrutiner)</vt:lpstr>
      <vt:lpstr>Funktioner (call och return)</vt:lpstr>
      <vt:lpstr>Funktioner (parametrar)</vt:lpstr>
      <vt:lpstr>Funktioner (parametrar)</vt:lpstr>
      <vt:lpstr>PowerPoint Presentation</vt:lpstr>
      <vt:lpstr>Stacken</vt:lpstr>
      <vt:lpstr>Register Saving vid Funktionsanrop</vt:lpstr>
      <vt:lpstr>Register Saving vid Funktionsanrop</vt:lpstr>
      <vt:lpstr>Register Saving vid Funktionsanrop</vt:lpstr>
      <vt:lpstr>Register saving, exempel</vt:lpstr>
      <vt:lpstr>Register saving, exempel</vt:lpstr>
      <vt:lpstr>Register saving, exempel</vt:lpstr>
      <vt:lpstr>PowerPoint Presentation</vt:lpstr>
      <vt:lpstr>ASCII</vt:lpstr>
      <vt:lpstr>Lecture03/Example01</vt:lpstr>
      <vt:lpstr>Arrays</vt:lpstr>
      <vt:lpstr>Arrays</vt:lpstr>
      <vt:lpstr>Arrays (igen, med shorts)</vt:lpstr>
      <vt:lpstr>Arrays (igen, med shorts)</vt:lpstr>
      <vt:lpstr>Iterera över en array</vt:lpstr>
      <vt:lpstr>Iterera över en array</vt:lpstr>
      <vt:lpstr>Lecture03/Example02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28</cp:revision>
  <dcterms:created xsi:type="dcterms:W3CDTF">2026-01-14T14:09:03Z</dcterms:created>
  <dcterms:modified xsi:type="dcterms:W3CDTF">2026-01-27T12:24:58Z</dcterms:modified>
</cp:coreProperties>
</file>