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88" r:id="rId2"/>
    <p:sldId id="256" r:id="rId3"/>
    <p:sldId id="257" r:id="rId4"/>
    <p:sldId id="278" r:id="rId5"/>
    <p:sldId id="280" r:id="rId6"/>
    <p:sldId id="281" r:id="rId7"/>
    <p:sldId id="289" r:id="rId8"/>
    <p:sldId id="258" r:id="rId9"/>
    <p:sldId id="282" r:id="rId10"/>
    <p:sldId id="283" r:id="rId11"/>
    <p:sldId id="284" r:id="rId12"/>
    <p:sldId id="285" r:id="rId13"/>
    <p:sldId id="286" r:id="rId14"/>
    <p:sldId id="287" r:id="rId15"/>
    <p:sldId id="263" r:id="rId16"/>
    <p:sldId id="291" r:id="rId17"/>
    <p:sldId id="290" r:id="rId18"/>
    <p:sldId id="279" r:id="rId19"/>
    <p:sldId id="264" r:id="rId20"/>
    <p:sldId id="266" r:id="rId21"/>
    <p:sldId id="267" r:id="rId22"/>
    <p:sldId id="268" r:id="rId23"/>
    <p:sldId id="269" r:id="rId24"/>
    <p:sldId id="293" r:id="rId25"/>
    <p:sldId id="270" r:id="rId26"/>
    <p:sldId id="271" r:id="rId27"/>
    <p:sldId id="273" r:id="rId28"/>
    <p:sldId id="274" r:id="rId29"/>
    <p:sldId id="275" r:id="rId30"/>
    <p:sldId id="276" r:id="rId31"/>
    <p:sldId id="277" r:id="rId32"/>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4E61B486-9643-4A02-8A51-D34E00CDE215}">
          <p14:sldIdLst>
            <p14:sldId id="288"/>
            <p14:sldId id="256"/>
          </p14:sldIdLst>
        </p14:section>
        <p14:section name="Intro to GPIO" id="{EEA59C5C-A125-41EF-8610-EF063FBE2499}">
          <p14:sldIdLst>
            <p14:sldId id="257"/>
            <p14:sldId id="278"/>
            <p14:sldId id="280"/>
            <p14:sldId id="281"/>
            <p14:sldId id="289"/>
            <p14:sldId id="258"/>
            <p14:sldId id="282"/>
            <p14:sldId id="283"/>
            <p14:sldId id="284"/>
            <p14:sldId id="285"/>
            <p14:sldId id="286"/>
            <p14:sldId id="287"/>
            <p14:sldId id="263"/>
            <p14:sldId id="291"/>
            <p14:sldId id="290"/>
          </p14:sldIdLst>
        </p14:section>
        <p14:section name="Intro to C" id="{03018DD8-BD7F-4A15-B3B6-2978EAFE681D}">
          <p14:sldIdLst>
            <p14:sldId id="279"/>
            <p14:sldId id="264"/>
            <p14:sldId id="266"/>
            <p14:sldId id="267"/>
            <p14:sldId id="268"/>
            <p14:sldId id="269"/>
            <p14:sldId id="293"/>
            <p14:sldId id="270"/>
            <p14:sldId id="271"/>
            <p14:sldId id="273"/>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73" autoAdjust="0"/>
    <p:restoredTop sz="86416" autoAdjust="0"/>
  </p:normalViewPr>
  <p:slideViewPr>
    <p:cSldViewPr snapToGrid="0">
      <p:cViewPr>
        <p:scale>
          <a:sx n="200" d="100"/>
          <a:sy n="200" d="100"/>
        </p:scale>
        <p:origin x="1452" y="64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C9657E-FDB3-4206-AA4E-9AE2AAB0A71C}" type="datetimeFigureOut">
              <a:rPr lang="LID4096" smtClean="0"/>
              <a:t>01/30/2026</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B4E41B-EE32-43AA-BF26-21D12108C66F}" type="slidenum">
              <a:rPr lang="LID4096" smtClean="0"/>
              <a:t>‹#›</a:t>
            </a:fld>
            <a:endParaRPr lang="LID4096"/>
          </a:p>
        </p:txBody>
      </p:sp>
    </p:spTree>
    <p:extLst>
      <p:ext uri="{BB962C8B-B14F-4D97-AF65-F5344CB8AC3E}">
        <p14:creationId xmlns:p14="http://schemas.microsoft.com/office/powerpoint/2010/main" val="23401497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www.cse.chalmers.se/edu/resources/mop/lecture_notes/lectures/lecture04_GPIO_and_C_intro.html#fn2" TargetMode="External"/><Relationship Id="rId2" Type="http://schemas.openxmlformats.org/officeDocument/2006/relationships/slide" Target="../slides/slide23.xml"/><Relationship Id="rId1" Type="http://schemas.openxmlformats.org/officeDocument/2006/relationships/notesMaster" Target="../notesMasters/notesMaster1.xml"/><Relationship Id="rId5" Type="http://schemas.openxmlformats.org/officeDocument/2006/relationships/hyperlink" Target="https://www.cse.chalmers.se/edu/resources/mop/lecture_notes/lectures/lecture04_GPIO_and_C_intro.html#fn4" TargetMode="External"/><Relationship Id="rId4" Type="http://schemas.openxmlformats.org/officeDocument/2006/relationships/hyperlink" Target="https://www.cse.chalmers.se/edu/resources/mop/lecture_notes/lectures/lecture04_GPIO_and_C_intro.html#fn3" TargetMode="Externa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a:t>Övningstillfällen.</a:t>
            </a:r>
          </a:p>
          <a:p>
            <a:r>
              <a:rPr lang="sv-SE"/>
              <a:t>Lab prep deadline söndag. </a:t>
            </a:r>
            <a:endParaRPr lang="LID4096"/>
          </a:p>
        </p:txBody>
      </p:sp>
      <p:sp>
        <p:nvSpPr>
          <p:cNvPr id="4" name="Slide Number Placeholder 3"/>
          <p:cNvSpPr>
            <a:spLocks noGrp="1"/>
          </p:cNvSpPr>
          <p:nvPr>
            <p:ph type="sldNum" sz="quarter" idx="5"/>
          </p:nvPr>
        </p:nvSpPr>
        <p:spPr/>
        <p:txBody>
          <a:bodyPr/>
          <a:lstStyle/>
          <a:p>
            <a:fld id="{01B4E41B-EE32-43AA-BF26-21D12108C66F}" type="slidenum">
              <a:rPr lang="LID4096" smtClean="0"/>
              <a:t>2</a:t>
            </a:fld>
            <a:endParaRPr lang="LID4096"/>
          </a:p>
        </p:txBody>
      </p:sp>
    </p:spTree>
    <p:extLst>
      <p:ext uri="{BB962C8B-B14F-4D97-AF65-F5344CB8AC3E}">
        <p14:creationId xmlns:p14="http://schemas.microsoft.com/office/powerpoint/2010/main" val="4019372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a:t>Idag skall vi äntligen börja skriva lite program som faktiskt gör något. </a:t>
            </a:r>
          </a:p>
          <a:p>
            <a:r>
              <a:rPr lang="sv-SE"/>
              <a:t>Vi skall börja kommunicera med omvärlden via våra GPIO pinnar. </a:t>
            </a:r>
          </a:p>
          <a:p>
            <a:r>
              <a:rPr lang="sv-SE"/>
              <a:t>Vi har 5 portar, med 16 pinnar vardera.</a:t>
            </a:r>
          </a:p>
          <a:p>
            <a:r>
              <a:rPr lang="sv-SE"/>
              <a:t>Varje sådan pinne kan antingen drivas med 0 eller 3.2V.</a:t>
            </a:r>
          </a:p>
          <a:p>
            <a:r>
              <a:rPr lang="sv-SE"/>
              <a:t>Peka och visa. </a:t>
            </a:r>
            <a:endParaRPr lang="LID4096"/>
          </a:p>
        </p:txBody>
      </p:sp>
      <p:sp>
        <p:nvSpPr>
          <p:cNvPr id="4" name="Slide Number Placeholder 3"/>
          <p:cNvSpPr>
            <a:spLocks noGrp="1"/>
          </p:cNvSpPr>
          <p:nvPr>
            <p:ph type="sldNum" sz="quarter" idx="5"/>
          </p:nvPr>
        </p:nvSpPr>
        <p:spPr/>
        <p:txBody>
          <a:bodyPr/>
          <a:lstStyle/>
          <a:p>
            <a:fld id="{01B4E41B-EE32-43AA-BF26-21D12108C66F}" type="slidenum">
              <a:rPr lang="LID4096" smtClean="0"/>
              <a:t>3</a:t>
            </a:fld>
            <a:endParaRPr lang="LID4096"/>
          </a:p>
        </p:txBody>
      </p:sp>
    </p:spTree>
    <p:extLst>
      <p:ext uri="{BB962C8B-B14F-4D97-AF65-F5344CB8AC3E}">
        <p14:creationId xmlns:p14="http://schemas.microsoft.com/office/powerpoint/2010/main" val="17419320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a:p>
        </p:txBody>
      </p:sp>
      <p:sp>
        <p:nvSpPr>
          <p:cNvPr id="4" name="Slide Number Placeholder 3"/>
          <p:cNvSpPr>
            <a:spLocks noGrp="1"/>
          </p:cNvSpPr>
          <p:nvPr>
            <p:ph type="sldNum" sz="quarter" idx="5"/>
          </p:nvPr>
        </p:nvSpPr>
        <p:spPr/>
        <p:txBody>
          <a:bodyPr/>
          <a:lstStyle/>
          <a:p>
            <a:fld id="{01B4E41B-EE32-43AA-BF26-21D12108C66F}" type="slidenum">
              <a:rPr lang="LID4096" smtClean="0"/>
              <a:t>6</a:t>
            </a:fld>
            <a:endParaRPr lang="LID4096"/>
          </a:p>
        </p:txBody>
      </p:sp>
    </p:spTree>
    <p:extLst>
      <p:ext uri="{BB962C8B-B14F-4D97-AF65-F5344CB8AC3E}">
        <p14:creationId xmlns:p14="http://schemas.microsoft.com/office/powerpoint/2010/main" val="20943308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N</a:t>
            </a:r>
            <a:r>
              <a:rPr lang="sv-SE"/>
              <a:t>är vi skall programmera våra GPIO pinnar börjar vi med att titta i quickguiden. </a:t>
            </a:r>
          </a:p>
          <a:p>
            <a:r>
              <a:rPr lang="sv-SE"/>
              <a:t>Där hittar vi alltid en ”Register Block Overview”. Varje modul har ett antal </a:t>
            </a:r>
            <a:r>
              <a:rPr lang="sv-SE" i="1"/>
              <a:t>register</a:t>
            </a:r>
            <a:r>
              <a:rPr lang="sv-SE" i="0"/>
              <a:t> som vi använder för att kommunicera med modulen. </a:t>
            </a:r>
          </a:p>
          <a:p>
            <a:r>
              <a:rPr lang="sv-SE" i="0"/>
              <a:t>För att läsa eller skriva ett register måste vi ta reda på dess address.</a:t>
            </a:r>
          </a:p>
          <a:p>
            <a:r>
              <a:rPr lang="sv-SE" i="0"/>
              <a:t>Vi kan se här att det finns 5 GPIO moduler, med var sin </a:t>
            </a:r>
            <a:r>
              <a:rPr lang="sv-SE" i="1"/>
              <a:t>basaddress.</a:t>
            </a:r>
          </a:p>
          <a:p>
            <a:r>
              <a:rPr lang="sv-SE" i="0"/>
              <a:t>Varje GPIO modul har sedan 7 </a:t>
            </a:r>
            <a:r>
              <a:rPr lang="sv-SE" i="1"/>
              <a:t>register, med varsit offset.</a:t>
            </a:r>
          </a:p>
          <a:p>
            <a:r>
              <a:rPr lang="sv-SE" i="0"/>
              <a:t>För att få reda på addressen till ett specifikt register tar vi helt enkelt basaddressen + offset.</a:t>
            </a:r>
          </a:p>
          <a:p>
            <a:r>
              <a:rPr lang="en-GB" i="0"/>
              <a:t>&lt;click&gt;</a:t>
            </a:r>
            <a:endParaRPr lang="sv-SE" i="0"/>
          </a:p>
          <a:p>
            <a:r>
              <a:rPr lang="en-GB"/>
              <a:t>Detta </a:t>
            </a:r>
            <a:r>
              <a:rPr lang="sv-SE"/>
              <a:t>är OUT DATA REGISTRET. Om porten är rätt konfigurerad så skriver vi 1 eller 0 till dessa 15 bitar för att sätta motsvarande pinne till 0 eller 3.2V.</a:t>
            </a:r>
          </a:p>
          <a:p>
            <a:r>
              <a:rPr lang="sv-SE"/>
              <a:t>Addressen till OUTDR för GPIOD är alltså: </a:t>
            </a:r>
          </a:p>
          <a:p>
            <a:r>
              <a:rPr lang="en-GB"/>
              <a:t>&lt;click&gt;</a:t>
            </a:r>
          </a:p>
          <a:p>
            <a:endParaRPr lang="en-GB"/>
          </a:p>
          <a:p>
            <a:endParaRPr lang="LID4096"/>
          </a:p>
        </p:txBody>
      </p:sp>
      <p:sp>
        <p:nvSpPr>
          <p:cNvPr id="4" name="Slide Number Placeholder 3"/>
          <p:cNvSpPr>
            <a:spLocks noGrp="1"/>
          </p:cNvSpPr>
          <p:nvPr>
            <p:ph type="sldNum" sz="quarter" idx="5"/>
          </p:nvPr>
        </p:nvSpPr>
        <p:spPr/>
        <p:txBody>
          <a:bodyPr/>
          <a:lstStyle/>
          <a:p>
            <a:fld id="{01B4E41B-EE32-43AA-BF26-21D12108C66F}" type="slidenum">
              <a:rPr lang="LID4096" smtClean="0"/>
              <a:t>8</a:t>
            </a:fld>
            <a:endParaRPr lang="LID4096"/>
          </a:p>
        </p:txBody>
      </p:sp>
    </p:spTree>
    <p:extLst>
      <p:ext uri="{BB962C8B-B14F-4D97-AF65-F5344CB8AC3E}">
        <p14:creationId xmlns:p14="http://schemas.microsoft.com/office/powerpoint/2010/main" val="21714723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5C47B-0125-F01E-AA7F-86431ABEAA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830255-29A9-68D6-75CC-1D3862CF3E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F3A7E4-24BE-34C7-F435-3A27216B1061}"/>
              </a:ext>
            </a:extLst>
          </p:cNvPr>
          <p:cNvSpPr>
            <a:spLocks noGrp="1"/>
          </p:cNvSpPr>
          <p:nvPr>
            <p:ph type="body" idx="1"/>
          </p:nvPr>
        </p:nvSpPr>
        <p:spPr/>
        <p:txBody>
          <a:bodyPr/>
          <a:lstStyle/>
          <a:p>
            <a:r>
              <a:rPr lang="sv-SE"/>
              <a:t>Innan vi kan skriva till pinnarna måste vi konfigurera dem. Då är vi intresserade av dessa två första registrena.</a:t>
            </a:r>
          </a:p>
          <a:p>
            <a:endParaRPr lang="LID4096"/>
          </a:p>
        </p:txBody>
      </p:sp>
      <p:sp>
        <p:nvSpPr>
          <p:cNvPr id="4" name="Slide Number Placeholder 3">
            <a:extLst>
              <a:ext uri="{FF2B5EF4-FFF2-40B4-BE49-F238E27FC236}">
                <a16:creationId xmlns:a16="http://schemas.microsoft.com/office/drawing/2014/main" id="{743E9F59-E396-9CA7-F81A-32CF6D3F085F}"/>
              </a:ext>
            </a:extLst>
          </p:cNvPr>
          <p:cNvSpPr>
            <a:spLocks noGrp="1"/>
          </p:cNvSpPr>
          <p:nvPr>
            <p:ph type="sldNum" sz="quarter" idx="5"/>
          </p:nvPr>
        </p:nvSpPr>
        <p:spPr/>
        <p:txBody>
          <a:bodyPr/>
          <a:lstStyle/>
          <a:p>
            <a:fld id="{01B4E41B-EE32-43AA-BF26-21D12108C66F}" type="slidenum">
              <a:rPr lang="LID4096" smtClean="0"/>
              <a:t>9</a:t>
            </a:fld>
            <a:endParaRPr lang="LID4096"/>
          </a:p>
        </p:txBody>
      </p:sp>
    </p:spTree>
    <p:extLst>
      <p:ext uri="{BB962C8B-B14F-4D97-AF65-F5344CB8AC3E}">
        <p14:creationId xmlns:p14="http://schemas.microsoft.com/office/powerpoint/2010/main" val="40396492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C3568-15E3-4764-7576-23310D2A4F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FFFCE2-ED7B-6BDD-84FB-E221D970BC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D13792-8FA3-6730-4E46-D87813577B0F}"/>
              </a:ext>
            </a:extLst>
          </p:cNvPr>
          <p:cNvSpPr>
            <a:spLocks noGrp="1"/>
          </p:cNvSpPr>
          <p:nvPr>
            <p:ph type="body" idx="1"/>
          </p:nvPr>
        </p:nvSpPr>
        <p:spPr/>
        <p:txBody>
          <a:bodyPr/>
          <a:lstStyle/>
          <a:p>
            <a:r>
              <a:rPr lang="sv-SE"/>
              <a:t>I quickguiden hittar vi den här informationen om dessa register.</a:t>
            </a:r>
          </a:p>
          <a:p>
            <a:r>
              <a:rPr lang="sv-SE"/>
              <a:t>Om vi läser noggrant inser vi att det finns fyra konfigurationsbitar per pinne. </a:t>
            </a:r>
          </a:p>
          <a:p>
            <a:r>
              <a:rPr lang="sv-SE"/>
              <a:t>Första pinnen </a:t>
            </a:r>
            <a:r>
              <a:rPr lang="en-GB"/>
              <a:t>&lt;click&gt; konfigureras med dessa fyra bitar,</a:t>
            </a:r>
          </a:p>
          <a:p>
            <a:r>
              <a:rPr lang="en-GB"/>
              <a:t>Andra pinnen &lt;click&gt; ... g</a:t>
            </a:r>
            <a:r>
              <a:rPr lang="sv-SE"/>
              <a:t>å igenom</a:t>
            </a:r>
          </a:p>
          <a:p>
            <a:endParaRPr lang="sv-SE"/>
          </a:p>
          <a:p>
            <a:endParaRPr lang="LID4096"/>
          </a:p>
        </p:txBody>
      </p:sp>
      <p:sp>
        <p:nvSpPr>
          <p:cNvPr id="4" name="Slide Number Placeholder 3">
            <a:extLst>
              <a:ext uri="{FF2B5EF4-FFF2-40B4-BE49-F238E27FC236}">
                <a16:creationId xmlns:a16="http://schemas.microsoft.com/office/drawing/2014/main" id="{1D96DF79-8675-A286-4E0A-6727D88C1809}"/>
              </a:ext>
            </a:extLst>
          </p:cNvPr>
          <p:cNvSpPr>
            <a:spLocks noGrp="1"/>
          </p:cNvSpPr>
          <p:nvPr>
            <p:ph type="sldNum" sz="quarter" idx="5"/>
          </p:nvPr>
        </p:nvSpPr>
        <p:spPr/>
        <p:txBody>
          <a:bodyPr/>
          <a:lstStyle/>
          <a:p>
            <a:fld id="{01B4E41B-EE32-43AA-BF26-21D12108C66F}" type="slidenum">
              <a:rPr lang="LID4096" smtClean="0"/>
              <a:t>10</a:t>
            </a:fld>
            <a:endParaRPr lang="LID4096"/>
          </a:p>
        </p:txBody>
      </p:sp>
    </p:spTree>
    <p:extLst>
      <p:ext uri="{BB962C8B-B14F-4D97-AF65-F5344CB8AC3E}">
        <p14:creationId xmlns:p14="http://schemas.microsoft.com/office/powerpoint/2010/main" val="41313383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DFE8F-AD13-1E25-376F-BE00C9C1E3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BA6F41-BC27-2B6B-D429-C951E98B4A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926446-AA91-5FE8-4D84-C8CBDED4A1EF}"/>
              </a:ext>
            </a:extLst>
          </p:cNvPr>
          <p:cNvSpPr>
            <a:spLocks noGrp="1"/>
          </p:cNvSpPr>
          <p:nvPr>
            <p:ph type="body" idx="1"/>
          </p:nvPr>
        </p:nvSpPr>
        <p:spPr/>
        <p:txBody>
          <a:bodyPr/>
          <a:lstStyle/>
          <a:p>
            <a:r>
              <a:rPr lang="sv-SE"/>
              <a:t>På samma sätt har vi fyra bitar per pinne i den </a:t>
            </a:r>
            <a:r>
              <a:rPr lang="sv-SE" i="1"/>
              <a:t>övre</a:t>
            </a:r>
            <a:r>
              <a:rPr lang="sv-SE" i="0"/>
              <a:t> byten så här: ... klicka igenom</a:t>
            </a:r>
            <a:endParaRPr lang="sv-SE"/>
          </a:p>
          <a:p>
            <a:endParaRPr lang="LID4096"/>
          </a:p>
        </p:txBody>
      </p:sp>
      <p:sp>
        <p:nvSpPr>
          <p:cNvPr id="4" name="Slide Number Placeholder 3">
            <a:extLst>
              <a:ext uri="{FF2B5EF4-FFF2-40B4-BE49-F238E27FC236}">
                <a16:creationId xmlns:a16="http://schemas.microsoft.com/office/drawing/2014/main" id="{F73E30BD-A938-2B93-C8CA-778DEABD53D1}"/>
              </a:ext>
            </a:extLst>
          </p:cNvPr>
          <p:cNvSpPr>
            <a:spLocks noGrp="1"/>
          </p:cNvSpPr>
          <p:nvPr>
            <p:ph type="sldNum" sz="quarter" idx="5"/>
          </p:nvPr>
        </p:nvSpPr>
        <p:spPr/>
        <p:txBody>
          <a:bodyPr/>
          <a:lstStyle/>
          <a:p>
            <a:fld id="{01B4E41B-EE32-43AA-BF26-21D12108C66F}" type="slidenum">
              <a:rPr lang="LID4096" smtClean="0"/>
              <a:t>11</a:t>
            </a:fld>
            <a:endParaRPr lang="LID4096"/>
          </a:p>
        </p:txBody>
      </p:sp>
    </p:spTree>
    <p:extLst>
      <p:ext uri="{BB962C8B-B14F-4D97-AF65-F5344CB8AC3E}">
        <p14:creationId xmlns:p14="http://schemas.microsoft.com/office/powerpoint/2010/main" val="39056693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8BB51-1834-923B-3F8A-19C31EB0F8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930863-68C8-3F02-730B-601915C595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7868EB-62EF-4F56-1D2B-CADF529A132E}"/>
              </a:ext>
            </a:extLst>
          </p:cNvPr>
          <p:cNvSpPr>
            <a:spLocks noGrp="1"/>
          </p:cNvSpPr>
          <p:nvPr>
            <p:ph type="body" idx="1"/>
          </p:nvPr>
        </p:nvSpPr>
        <p:spPr/>
        <p:txBody>
          <a:bodyPr/>
          <a:lstStyle/>
          <a:p>
            <a:r>
              <a:rPr lang="sv-SE"/>
              <a:t>Vad är det då vi skall ställa in med dessa fyra bitar? </a:t>
            </a:r>
          </a:p>
          <a:p>
            <a:r>
              <a:rPr lang="sv-SE"/>
              <a:t>De lägre två bitarna bestämmer pinnens MODE  </a:t>
            </a:r>
            <a:r>
              <a:rPr lang="en-GB"/>
              <a:t>&lt;click&gt;</a:t>
            </a:r>
          </a:p>
          <a:p>
            <a:r>
              <a:rPr lang="en-GB"/>
              <a:t>Om vi s</a:t>
            </a:r>
            <a:r>
              <a:rPr lang="sv-SE"/>
              <a:t>ätter dem till 00 så säger vi att den här pinnen skall vara en </a:t>
            </a:r>
            <a:r>
              <a:rPr lang="sv-SE" i="1"/>
              <a:t>input</a:t>
            </a:r>
            <a:r>
              <a:rPr lang="sv-SE" i="0"/>
              <a:t> pinne. Då kan vi </a:t>
            </a:r>
            <a:r>
              <a:rPr lang="sv-SE" i="1"/>
              <a:t>läsa</a:t>
            </a:r>
            <a:r>
              <a:rPr lang="sv-SE" i="0"/>
              <a:t> 1 eller 0 från pinnen beroende på vad som är inkopplat. </a:t>
            </a:r>
          </a:p>
          <a:p>
            <a:r>
              <a:rPr lang="sv-SE" i="0"/>
              <a:t>En knapp, till exempel. </a:t>
            </a:r>
          </a:p>
          <a:p>
            <a:r>
              <a:rPr lang="sv-SE" i="0"/>
              <a:t>Detta kommer vi prata mer om i nästa lektion.</a:t>
            </a:r>
          </a:p>
          <a:p>
            <a:r>
              <a:rPr lang="sv-SE" i="0"/>
              <a:t>I den här lektionen vill vi ju kunna </a:t>
            </a:r>
            <a:r>
              <a:rPr lang="sv-SE" i="1"/>
              <a:t>skriva </a:t>
            </a:r>
            <a:r>
              <a:rPr lang="sv-SE" i="0"/>
              <a:t>0 eller 3.2 V till pinnen. Då får vi använda ett av tre</a:t>
            </a:r>
            <a:r>
              <a:rPr lang="sv-SE" i="1"/>
              <a:t> output</a:t>
            </a:r>
            <a:r>
              <a:rPr lang="sv-SE" i="0"/>
              <a:t> modes. </a:t>
            </a:r>
          </a:p>
          <a:p>
            <a:r>
              <a:rPr lang="sv-SE" i="0"/>
              <a:t>Vilket av de tre man väljer bestämmer hur ofta pinnens spänning skall uppdateras till vad som står i OUTDR registrets bit. </a:t>
            </a:r>
          </a:p>
          <a:p>
            <a:r>
              <a:rPr lang="sv-SE" i="0"/>
              <a:t>Varför vill man kunna ställa in det? (eneriförbrukning)</a:t>
            </a:r>
          </a:p>
          <a:p>
            <a:r>
              <a:rPr lang="en-GB" i="0"/>
              <a:t>&lt;click&gt;</a:t>
            </a:r>
            <a:endParaRPr lang="sv-SE" i="0"/>
          </a:p>
          <a:p>
            <a:r>
              <a:rPr lang="sv-SE" i="0"/>
              <a:t>Oftast räcker det fint för oss med 2 Mhz, så vi sätter MODE till 10.</a:t>
            </a:r>
            <a:endParaRPr lang="LID4096" i="1"/>
          </a:p>
        </p:txBody>
      </p:sp>
      <p:sp>
        <p:nvSpPr>
          <p:cNvPr id="4" name="Slide Number Placeholder 3">
            <a:extLst>
              <a:ext uri="{FF2B5EF4-FFF2-40B4-BE49-F238E27FC236}">
                <a16:creationId xmlns:a16="http://schemas.microsoft.com/office/drawing/2014/main" id="{F95EE12A-EF34-5C3E-99F9-71624FF2D735}"/>
              </a:ext>
            </a:extLst>
          </p:cNvPr>
          <p:cNvSpPr>
            <a:spLocks noGrp="1"/>
          </p:cNvSpPr>
          <p:nvPr>
            <p:ph type="sldNum" sz="quarter" idx="5"/>
          </p:nvPr>
        </p:nvSpPr>
        <p:spPr/>
        <p:txBody>
          <a:bodyPr/>
          <a:lstStyle/>
          <a:p>
            <a:fld id="{01B4E41B-EE32-43AA-BF26-21D12108C66F}" type="slidenum">
              <a:rPr lang="LID4096" smtClean="0"/>
              <a:t>12</a:t>
            </a:fld>
            <a:endParaRPr lang="LID4096"/>
          </a:p>
        </p:txBody>
      </p:sp>
    </p:spTree>
    <p:extLst>
      <p:ext uri="{BB962C8B-B14F-4D97-AF65-F5344CB8AC3E}">
        <p14:creationId xmlns:p14="http://schemas.microsoft.com/office/powerpoint/2010/main" val="25034272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9DD93-DD2D-8E63-3FEC-F55BAEA289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83AF97-F029-EDDF-AAED-609AD9E795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BB4B6F-6746-11C9-4A78-8A1CB7599F79}"/>
              </a:ext>
            </a:extLst>
          </p:cNvPr>
          <p:cNvSpPr>
            <a:spLocks noGrp="1"/>
          </p:cNvSpPr>
          <p:nvPr>
            <p:ph type="body" idx="1"/>
          </p:nvPr>
        </p:nvSpPr>
        <p:spPr/>
        <p:txBody>
          <a:bodyPr/>
          <a:lstStyle/>
          <a:p>
            <a:r>
              <a:rPr lang="sv-SE" i="0"/>
              <a:t>Vad CNF värdet betyder beror alltså på om pinnen är en input eller output pinne. </a:t>
            </a:r>
          </a:p>
          <a:p>
            <a:r>
              <a:rPr lang="sv-SE" i="0"/>
              <a:t>För output pinnar har vi de här alternativen. </a:t>
            </a:r>
          </a:p>
          <a:p>
            <a:r>
              <a:rPr lang="sv-SE" i="0"/>
              <a:t>Vi kommer prata mer om vad detta betyder i nästa lektion. </a:t>
            </a:r>
          </a:p>
          <a:p>
            <a:r>
              <a:rPr lang="en-GB" i="0"/>
              <a:t>&lt;click&gt;</a:t>
            </a:r>
            <a:endParaRPr lang="sv-SE" i="0"/>
          </a:p>
          <a:p>
            <a:r>
              <a:rPr lang="sv-SE" i="0"/>
              <a:t>Idag väljer vi push pull (00) som betyder att pinnen drivs med 0V om biten är 0 och 3.2V om biten är 1.</a:t>
            </a:r>
          </a:p>
          <a:p>
            <a:r>
              <a:rPr lang="sv-SE" i="0"/>
              <a:t>Om vi till exempel vill att pin2 skall vara output pinne med 2Mhz och push pull så skriver vi alltså: </a:t>
            </a:r>
            <a:r>
              <a:rPr lang="en-GB" i="0"/>
              <a:t>&lt;click&gt;</a:t>
            </a:r>
            <a:endParaRPr lang="LID4096" i="0"/>
          </a:p>
        </p:txBody>
      </p:sp>
      <p:sp>
        <p:nvSpPr>
          <p:cNvPr id="4" name="Slide Number Placeholder 3">
            <a:extLst>
              <a:ext uri="{FF2B5EF4-FFF2-40B4-BE49-F238E27FC236}">
                <a16:creationId xmlns:a16="http://schemas.microsoft.com/office/drawing/2014/main" id="{8BF05715-F8AA-2E29-FECC-9CCF3B8579C1}"/>
              </a:ext>
            </a:extLst>
          </p:cNvPr>
          <p:cNvSpPr>
            <a:spLocks noGrp="1"/>
          </p:cNvSpPr>
          <p:nvPr>
            <p:ph type="sldNum" sz="quarter" idx="5"/>
          </p:nvPr>
        </p:nvSpPr>
        <p:spPr/>
        <p:txBody>
          <a:bodyPr/>
          <a:lstStyle/>
          <a:p>
            <a:fld id="{01B4E41B-EE32-43AA-BF26-21D12108C66F}" type="slidenum">
              <a:rPr lang="LID4096" smtClean="0"/>
              <a:t>13</a:t>
            </a:fld>
            <a:endParaRPr lang="LID4096"/>
          </a:p>
        </p:txBody>
      </p:sp>
    </p:spTree>
    <p:extLst>
      <p:ext uri="{BB962C8B-B14F-4D97-AF65-F5344CB8AC3E}">
        <p14:creationId xmlns:p14="http://schemas.microsoft.com/office/powerpoint/2010/main" val="12127886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CE1C6-2A80-EEB5-6F80-17D3D28250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C1E7FD-4E2B-0BD9-E494-AF63DC9F55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8BC9A0-A2A9-4370-FDF6-178173B84A20}"/>
              </a:ext>
            </a:extLst>
          </p:cNvPr>
          <p:cNvSpPr>
            <a:spLocks noGrp="1"/>
          </p:cNvSpPr>
          <p:nvPr>
            <p:ph type="body" idx="1"/>
          </p:nvPr>
        </p:nvSpPr>
        <p:spPr/>
        <p:txBody>
          <a:bodyPr/>
          <a:lstStyle/>
          <a:p>
            <a:r>
              <a:rPr lang="sv-SE" i="0"/>
              <a:t>Vad CNF värdet betyder beror alltså på om pinnen är en input eller output pinne. </a:t>
            </a:r>
          </a:p>
          <a:p>
            <a:r>
              <a:rPr lang="sv-SE" i="0"/>
              <a:t>För output pinnar har vi de här alternativen. </a:t>
            </a:r>
          </a:p>
          <a:p>
            <a:r>
              <a:rPr lang="sv-SE" i="0"/>
              <a:t>Vi kommer prata mer om vad detta betyder i nästa lektion. </a:t>
            </a:r>
          </a:p>
          <a:p>
            <a:r>
              <a:rPr lang="en-GB" i="0"/>
              <a:t>&lt;click&gt;</a:t>
            </a:r>
            <a:endParaRPr lang="sv-SE" i="0"/>
          </a:p>
          <a:p>
            <a:r>
              <a:rPr lang="sv-SE" i="0"/>
              <a:t>Idag väljer vi push pull (00) som betyder att pinnen drivs med 0V om biten är 0 och 3.2V om biten är 1.</a:t>
            </a:r>
          </a:p>
          <a:p>
            <a:r>
              <a:rPr lang="sv-SE" i="0"/>
              <a:t>Om vi till exempel vill att pin2 skall vara output pinne med 2Mhz och push pull så skriver vi alltså: </a:t>
            </a:r>
            <a:r>
              <a:rPr lang="en-GB" i="0"/>
              <a:t>&lt;click&gt;</a:t>
            </a:r>
            <a:endParaRPr lang="LID4096" i="0"/>
          </a:p>
        </p:txBody>
      </p:sp>
      <p:sp>
        <p:nvSpPr>
          <p:cNvPr id="4" name="Slide Number Placeholder 3">
            <a:extLst>
              <a:ext uri="{FF2B5EF4-FFF2-40B4-BE49-F238E27FC236}">
                <a16:creationId xmlns:a16="http://schemas.microsoft.com/office/drawing/2014/main" id="{23151CF3-373A-547B-7A7D-62C8C959E23A}"/>
              </a:ext>
            </a:extLst>
          </p:cNvPr>
          <p:cNvSpPr>
            <a:spLocks noGrp="1"/>
          </p:cNvSpPr>
          <p:nvPr>
            <p:ph type="sldNum" sz="quarter" idx="5"/>
          </p:nvPr>
        </p:nvSpPr>
        <p:spPr/>
        <p:txBody>
          <a:bodyPr/>
          <a:lstStyle/>
          <a:p>
            <a:fld id="{01B4E41B-EE32-43AA-BF26-21D12108C66F}" type="slidenum">
              <a:rPr lang="LID4096" smtClean="0"/>
              <a:t>14</a:t>
            </a:fld>
            <a:endParaRPr lang="LID4096"/>
          </a:p>
        </p:txBody>
      </p:sp>
    </p:spTree>
    <p:extLst>
      <p:ext uri="{BB962C8B-B14F-4D97-AF65-F5344CB8AC3E}">
        <p14:creationId xmlns:p14="http://schemas.microsoft.com/office/powerpoint/2010/main" val="32027837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a:t>Om vi har 15 minuter kvar på första lektionen, kör demot här. </a:t>
            </a:r>
          </a:p>
          <a:p>
            <a:r>
              <a:rPr lang="sv-SE"/>
              <a:t>Koden ligger i mop-lecture-notes/lectures/code/lecture04</a:t>
            </a:r>
          </a:p>
          <a:p>
            <a:endParaRPr lang="sv-SE"/>
          </a:p>
          <a:p>
            <a:r>
              <a:rPr lang="sv-SE"/>
              <a:t>Om inte så kör vi C biten först och exemplet i slutet av lektionen (bättre)</a:t>
            </a:r>
          </a:p>
          <a:p>
            <a:endParaRPr lang="LID4096"/>
          </a:p>
        </p:txBody>
      </p:sp>
      <p:sp>
        <p:nvSpPr>
          <p:cNvPr id="4" name="Slide Number Placeholder 3"/>
          <p:cNvSpPr>
            <a:spLocks noGrp="1"/>
          </p:cNvSpPr>
          <p:nvPr>
            <p:ph type="sldNum" sz="quarter" idx="5"/>
          </p:nvPr>
        </p:nvSpPr>
        <p:spPr/>
        <p:txBody>
          <a:bodyPr/>
          <a:lstStyle/>
          <a:p>
            <a:fld id="{01B4E41B-EE32-43AA-BF26-21D12108C66F}" type="slidenum">
              <a:rPr lang="LID4096" smtClean="0"/>
              <a:t>17</a:t>
            </a:fld>
            <a:endParaRPr lang="LID4096"/>
          </a:p>
        </p:txBody>
      </p:sp>
    </p:spTree>
    <p:extLst>
      <p:ext uri="{BB962C8B-B14F-4D97-AF65-F5344CB8AC3E}">
        <p14:creationId xmlns:p14="http://schemas.microsoft.com/office/powerpoint/2010/main" val="18656712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This line says that the contents of the file stdio.h will be included at the top of this c file before compilation. This file is part of the C Standard Library (which we will talk more about later) and contains </a:t>
            </a:r>
            <a:r>
              <a:rPr lang="en-US" sz="1200" b="0" i="1" kern="1200">
                <a:solidFill>
                  <a:schemeClr val="tx1"/>
                </a:solidFill>
                <a:effectLst/>
                <a:latin typeface="+mn-lt"/>
                <a:ea typeface="+mn-ea"/>
                <a:cs typeface="+mn-cs"/>
              </a:rPr>
              <a:t>declarations</a:t>
            </a:r>
            <a:r>
              <a:rPr lang="en-US" sz="1200" b="0" i="0" kern="1200">
                <a:solidFill>
                  <a:schemeClr val="tx1"/>
                </a:solidFill>
                <a:effectLst/>
                <a:latin typeface="+mn-lt"/>
                <a:ea typeface="+mn-ea"/>
                <a:cs typeface="+mn-cs"/>
              </a:rPr>
              <a:t> of a number of useful functions that deal with user input and output. This is similar to the way the import statements work in Java or Python but the #include statement is much more rudimentary.</a:t>
            </a:r>
            <a:endParaRPr lang="LID4096"/>
          </a:p>
        </p:txBody>
      </p:sp>
      <p:sp>
        <p:nvSpPr>
          <p:cNvPr id="4" name="Slide Number Placeholder 3"/>
          <p:cNvSpPr>
            <a:spLocks noGrp="1"/>
          </p:cNvSpPr>
          <p:nvPr>
            <p:ph type="sldNum" sz="quarter" idx="5"/>
          </p:nvPr>
        </p:nvSpPr>
        <p:spPr/>
        <p:txBody>
          <a:bodyPr/>
          <a:lstStyle/>
          <a:p>
            <a:fld id="{01B4E41B-EE32-43AA-BF26-21D12108C66F}" type="slidenum">
              <a:rPr lang="LID4096" smtClean="0"/>
              <a:t>19</a:t>
            </a:fld>
            <a:endParaRPr lang="LID4096"/>
          </a:p>
        </p:txBody>
      </p:sp>
    </p:spTree>
    <p:extLst>
      <p:ext uri="{BB962C8B-B14F-4D97-AF65-F5344CB8AC3E}">
        <p14:creationId xmlns:p14="http://schemas.microsoft.com/office/powerpoint/2010/main" val="26502565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1B1F1-C32B-809C-28E3-2675271865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8591A-E7BE-6996-4C53-41B2A8331E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B71D55-0207-6088-F68D-A47D34F2813C}"/>
              </a:ext>
            </a:extLst>
          </p:cNvPr>
          <p:cNvSpPr>
            <a:spLocks noGrp="1"/>
          </p:cNvSpPr>
          <p:nvPr>
            <p:ph type="body" idx="1"/>
          </p:nvPr>
        </p:nvSpPr>
        <p:spPr/>
        <p:txBody>
          <a:bodyPr/>
          <a:lstStyle/>
          <a:p>
            <a:r>
              <a:rPr lang="en-US" sz="1200" b="0" i="0" kern="1200">
                <a:solidFill>
                  <a:schemeClr val="tx1"/>
                </a:solidFill>
                <a:effectLst/>
                <a:latin typeface="+mn-lt"/>
                <a:ea typeface="+mn-ea"/>
                <a:cs typeface="+mn-cs"/>
              </a:rPr>
              <a:t>is just a comment. Comments can either begin with // and end at the end of the line, or be enclosed between a /* and */. Comments are completely ignored by the compiler and are only used to make the code easier to understand.</a:t>
            </a:r>
            <a:endParaRPr lang="LID4096"/>
          </a:p>
        </p:txBody>
      </p:sp>
      <p:sp>
        <p:nvSpPr>
          <p:cNvPr id="4" name="Slide Number Placeholder 3">
            <a:extLst>
              <a:ext uri="{FF2B5EF4-FFF2-40B4-BE49-F238E27FC236}">
                <a16:creationId xmlns:a16="http://schemas.microsoft.com/office/drawing/2014/main" id="{D1D46D55-98E5-2D89-6A5D-FD5D32D1B276}"/>
              </a:ext>
            </a:extLst>
          </p:cNvPr>
          <p:cNvSpPr>
            <a:spLocks noGrp="1"/>
          </p:cNvSpPr>
          <p:nvPr>
            <p:ph type="sldNum" sz="quarter" idx="5"/>
          </p:nvPr>
        </p:nvSpPr>
        <p:spPr/>
        <p:txBody>
          <a:bodyPr/>
          <a:lstStyle/>
          <a:p>
            <a:fld id="{01B4E41B-EE32-43AA-BF26-21D12108C66F}" type="slidenum">
              <a:rPr lang="LID4096" smtClean="0"/>
              <a:t>20</a:t>
            </a:fld>
            <a:endParaRPr lang="LID4096"/>
          </a:p>
        </p:txBody>
      </p:sp>
    </p:spTree>
    <p:extLst>
      <p:ext uri="{BB962C8B-B14F-4D97-AF65-F5344CB8AC3E}">
        <p14:creationId xmlns:p14="http://schemas.microsoft.com/office/powerpoint/2010/main" val="14358464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F8AA0-48E6-C9A0-A638-283B87F99D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26A34F-CA23-F876-2A9B-1CDC462413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2C0766-B61B-4847-9A29-DC8DDAE5EA99}"/>
              </a:ext>
            </a:extLst>
          </p:cNvPr>
          <p:cNvSpPr>
            <a:spLocks noGrp="1"/>
          </p:cNvSpPr>
          <p:nvPr>
            <p:ph type="body" idx="1"/>
          </p:nvPr>
        </p:nvSpPr>
        <p:spPr/>
        <p:txBody>
          <a:bodyPr/>
          <a:lstStyle/>
          <a:p>
            <a:r>
              <a:rPr lang="en-US" sz="1200" b="0" i="0" kern="1200">
                <a:solidFill>
                  <a:schemeClr val="tx1"/>
                </a:solidFill>
                <a:effectLst/>
                <a:latin typeface="+mn-lt"/>
                <a:ea typeface="+mn-ea"/>
                <a:cs typeface="+mn-cs"/>
              </a:rPr>
              <a:t>Enda som är nytt från Java är att funktioner kan existera för sig själva, utan en klass. (det finns inga klasser)</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Next, we define a </a:t>
            </a:r>
            <a:r>
              <a:rPr lang="en-US" sz="1200" b="0" i="1" kern="1200">
                <a:solidFill>
                  <a:schemeClr val="tx1"/>
                </a:solidFill>
                <a:effectLst/>
                <a:latin typeface="+mn-lt"/>
                <a:ea typeface="+mn-ea"/>
                <a:cs typeface="+mn-cs"/>
              </a:rPr>
              <a:t>function</a:t>
            </a:r>
            <a:r>
              <a:rPr lang="en-US" sz="1200" b="0" i="0" kern="1200">
                <a:solidFill>
                  <a:schemeClr val="tx1"/>
                </a:solidFill>
                <a:effectLst/>
                <a:latin typeface="+mn-lt"/>
                <a:ea typeface="+mn-ea"/>
                <a:cs typeface="+mn-cs"/>
              </a:rPr>
              <a:t>. The function is called square and has one integer parameter (named x). It calculates x * x and returns the result as an integer. This is a function </a:t>
            </a:r>
            <a:r>
              <a:rPr lang="en-US" sz="1200" b="0" i="1" kern="1200">
                <a:solidFill>
                  <a:schemeClr val="tx1"/>
                </a:solidFill>
                <a:effectLst/>
                <a:latin typeface="+mn-lt"/>
                <a:ea typeface="+mn-ea"/>
                <a:cs typeface="+mn-cs"/>
              </a:rPr>
              <a:t>definition</a:t>
            </a:r>
            <a:r>
              <a:rPr lang="en-US" sz="1200" b="0" i="0" kern="1200">
                <a:solidFill>
                  <a:schemeClr val="tx1"/>
                </a:solidFill>
                <a:effectLst/>
                <a:latin typeface="+mn-lt"/>
                <a:ea typeface="+mn-ea"/>
                <a:cs typeface="+mn-cs"/>
              </a:rPr>
              <a:t>, meaning that we provide the code that will be run when the function is called. In many cases (as in the stdio.h file included earlier), we only provide a function </a:t>
            </a:r>
            <a:r>
              <a:rPr lang="en-US" sz="1200" b="0" i="1" kern="1200">
                <a:solidFill>
                  <a:schemeClr val="tx1"/>
                </a:solidFill>
                <a:effectLst/>
                <a:latin typeface="+mn-lt"/>
                <a:ea typeface="+mn-ea"/>
                <a:cs typeface="+mn-cs"/>
              </a:rPr>
              <a:t>declaration</a:t>
            </a:r>
            <a:r>
              <a:rPr lang="en-US" sz="1200" b="0" i="0" kern="1200">
                <a:solidFill>
                  <a:schemeClr val="tx1"/>
                </a:solidFill>
                <a:effectLst/>
                <a:latin typeface="+mn-lt"/>
                <a:ea typeface="+mn-ea"/>
                <a:cs typeface="+mn-cs"/>
              </a:rPr>
              <a:t> which tells the compiler the name, return type and parameters of a function that is defined elsewhere (later on in the file, or in a different file).</a:t>
            </a:r>
            <a:endParaRPr lang="LID4096"/>
          </a:p>
        </p:txBody>
      </p:sp>
      <p:sp>
        <p:nvSpPr>
          <p:cNvPr id="4" name="Slide Number Placeholder 3">
            <a:extLst>
              <a:ext uri="{FF2B5EF4-FFF2-40B4-BE49-F238E27FC236}">
                <a16:creationId xmlns:a16="http://schemas.microsoft.com/office/drawing/2014/main" id="{9AD7E44B-1D8E-A422-8188-24497CF50CE1}"/>
              </a:ext>
            </a:extLst>
          </p:cNvPr>
          <p:cNvSpPr>
            <a:spLocks noGrp="1"/>
          </p:cNvSpPr>
          <p:nvPr>
            <p:ph type="sldNum" sz="quarter" idx="5"/>
          </p:nvPr>
        </p:nvSpPr>
        <p:spPr/>
        <p:txBody>
          <a:bodyPr/>
          <a:lstStyle/>
          <a:p>
            <a:fld id="{01B4E41B-EE32-43AA-BF26-21D12108C66F}" type="slidenum">
              <a:rPr lang="LID4096" smtClean="0"/>
              <a:t>21</a:t>
            </a:fld>
            <a:endParaRPr lang="LID4096"/>
          </a:p>
        </p:txBody>
      </p:sp>
    </p:spTree>
    <p:extLst>
      <p:ext uri="{BB962C8B-B14F-4D97-AF65-F5344CB8AC3E}">
        <p14:creationId xmlns:p14="http://schemas.microsoft.com/office/powerpoint/2010/main" val="2764742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A7114-1892-D90F-E2AB-5A9FE7A4B0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4A5E8D-433F-0600-BA89-B0A14066BD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1D8DD8-6364-D7EC-FE86-EB844E3B406B}"/>
              </a:ext>
            </a:extLst>
          </p:cNvPr>
          <p:cNvSpPr>
            <a:spLocks noGrp="1"/>
          </p:cNvSpPr>
          <p:nvPr>
            <p:ph type="body" idx="1"/>
          </p:nvPr>
        </p:nvSpPr>
        <p:spPr/>
        <p:txBody>
          <a:bodyPr/>
          <a:lstStyle/>
          <a:p>
            <a:r>
              <a:rPr lang="en-US" sz="1200" b="0" i="0" kern="1200">
                <a:solidFill>
                  <a:schemeClr val="tx1"/>
                </a:solidFill>
                <a:effectLst/>
                <a:latin typeface="+mn-lt"/>
                <a:ea typeface="+mn-ea"/>
                <a:cs typeface="+mn-cs"/>
              </a:rPr>
              <a:t>Nya här är också att den här variabeln är global, och kan nås från var som helst i programmet. </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Here, we declare a </a:t>
            </a:r>
            <a:r>
              <a:rPr lang="en-US" sz="1200" b="0" i="1" kern="1200">
                <a:solidFill>
                  <a:schemeClr val="tx1"/>
                </a:solidFill>
                <a:effectLst/>
                <a:latin typeface="+mn-lt"/>
                <a:ea typeface="+mn-ea"/>
                <a:cs typeface="+mn-cs"/>
              </a:rPr>
              <a:t>global variable</a:t>
            </a:r>
            <a:r>
              <a:rPr lang="en-US" sz="1200" b="0" i="0" kern="1200">
                <a:solidFill>
                  <a:schemeClr val="tx1"/>
                </a:solidFill>
                <a:effectLst/>
                <a:latin typeface="+mn-lt"/>
                <a:ea typeface="+mn-ea"/>
                <a:cs typeface="+mn-cs"/>
              </a:rPr>
              <a:t> of type int (a four-byte integer), and assign the value 5 to it. It is </a:t>
            </a:r>
            <a:r>
              <a:rPr lang="en-US" sz="1200" b="0" i="1" kern="1200">
                <a:solidFill>
                  <a:schemeClr val="tx1"/>
                </a:solidFill>
                <a:effectLst/>
                <a:latin typeface="+mn-lt"/>
                <a:ea typeface="+mn-ea"/>
                <a:cs typeface="+mn-cs"/>
              </a:rPr>
              <a:t>global</a:t>
            </a:r>
            <a:r>
              <a:rPr lang="en-US" sz="1200" b="0" i="0" kern="1200">
                <a:solidFill>
                  <a:schemeClr val="tx1"/>
                </a:solidFill>
                <a:effectLst/>
                <a:latin typeface="+mn-lt"/>
                <a:ea typeface="+mn-ea"/>
                <a:cs typeface="+mn-cs"/>
              </a:rPr>
              <a:t> because it is declared outside of any function, and will be visible to all subsequent code. This variable will have its position in memory allocated during compilation and will exist throughout the whole program.</a:t>
            </a:r>
            <a:endParaRPr lang="LID4096"/>
          </a:p>
        </p:txBody>
      </p:sp>
      <p:sp>
        <p:nvSpPr>
          <p:cNvPr id="4" name="Slide Number Placeholder 3">
            <a:extLst>
              <a:ext uri="{FF2B5EF4-FFF2-40B4-BE49-F238E27FC236}">
                <a16:creationId xmlns:a16="http://schemas.microsoft.com/office/drawing/2014/main" id="{1B0EB1F4-EEFB-EA9F-5745-159784439FDF}"/>
              </a:ext>
            </a:extLst>
          </p:cNvPr>
          <p:cNvSpPr>
            <a:spLocks noGrp="1"/>
          </p:cNvSpPr>
          <p:nvPr>
            <p:ph type="sldNum" sz="quarter" idx="5"/>
          </p:nvPr>
        </p:nvSpPr>
        <p:spPr/>
        <p:txBody>
          <a:bodyPr/>
          <a:lstStyle/>
          <a:p>
            <a:fld id="{01B4E41B-EE32-43AA-BF26-21D12108C66F}" type="slidenum">
              <a:rPr lang="LID4096" smtClean="0"/>
              <a:t>22</a:t>
            </a:fld>
            <a:endParaRPr lang="LID4096"/>
          </a:p>
        </p:txBody>
      </p:sp>
    </p:spTree>
    <p:extLst>
      <p:ext uri="{BB962C8B-B14F-4D97-AF65-F5344CB8AC3E}">
        <p14:creationId xmlns:p14="http://schemas.microsoft.com/office/powerpoint/2010/main" val="7897992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F257F-1488-F794-53F2-3E26BB1092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1B9B93-C026-2ECF-367F-8BF0580FC3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0C5E8F-1B5A-2880-BE4F-55496E9C19EF}"/>
              </a:ext>
            </a:extLst>
          </p:cNvPr>
          <p:cNvSpPr>
            <a:spLocks noGrp="1"/>
          </p:cNvSpPr>
          <p:nvPr>
            <p:ph type="body" idx="1"/>
          </p:nvPr>
        </p:nvSpPr>
        <p:spPr/>
        <p:txBody>
          <a:bodyPr/>
          <a:lstStyle/>
          <a:p>
            <a:r>
              <a:rPr lang="en-US" sz="1200" b="0" i="0" kern="1200">
                <a:solidFill>
                  <a:schemeClr val="tx1"/>
                </a:solidFill>
                <a:effectLst/>
                <a:latin typeface="+mn-lt"/>
                <a:ea typeface="+mn-ea"/>
                <a:cs typeface="+mn-cs"/>
              </a:rPr>
              <a:t>Till skillnad från den här variabeln som bara “existerar” medans funktionen kör. </a:t>
            </a:r>
          </a:p>
          <a:p>
            <a:r>
              <a:rPr lang="en-US" sz="1200" b="0" i="0" kern="1200">
                <a:solidFill>
                  <a:schemeClr val="tx1"/>
                </a:solidFill>
                <a:effectLst/>
                <a:latin typeface="+mn-lt"/>
                <a:ea typeface="+mn-ea"/>
                <a:cs typeface="+mn-cs"/>
              </a:rPr>
              <a:t>Detta är en </a:t>
            </a:r>
            <a:r>
              <a:rPr lang="en-US" sz="1200" b="0" i="1" kern="1200">
                <a:solidFill>
                  <a:schemeClr val="tx1"/>
                </a:solidFill>
                <a:effectLst/>
                <a:latin typeface="+mn-lt"/>
                <a:ea typeface="+mn-ea"/>
                <a:cs typeface="+mn-cs"/>
              </a:rPr>
              <a:t>local</a:t>
            </a:r>
            <a:r>
              <a:rPr lang="en-US" sz="1200" b="0" i="0" kern="1200">
                <a:solidFill>
                  <a:schemeClr val="tx1"/>
                </a:solidFill>
                <a:effectLst/>
                <a:latin typeface="+mn-lt"/>
                <a:ea typeface="+mn-ea"/>
                <a:cs typeface="+mn-cs"/>
              </a:rPr>
              <a:t> variable som ligger på stacken.</a:t>
            </a: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We now provide the function definition of the main function. This is where program execution will start. This function returns void</a:t>
            </a:r>
            <a:r>
              <a:rPr lang="en-US" sz="1200" b="0" i="0" u="none" strike="noStrike" kern="1200" baseline="30000">
                <a:solidFill>
                  <a:schemeClr val="tx1"/>
                </a:solidFill>
                <a:effectLst/>
                <a:latin typeface="+mn-lt"/>
                <a:ea typeface="+mn-ea"/>
                <a:cs typeface="+mn-cs"/>
                <a:hlinkClick r:id="rId3"/>
              </a:rPr>
              <a:t>2</a:t>
            </a:r>
            <a:r>
              <a:rPr lang="en-US" sz="1200" b="0" i="0" kern="1200">
                <a:solidFill>
                  <a:schemeClr val="tx1"/>
                </a:solidFill>
                <a:effectLst/>
                <a:latin typeface="+mn-lt"/>
                <a:ea typeface="+mn-ea"/>
                <a:cs typeface="+mn-cs"/>
              </a:rPr>
              <a:t>, which is how we write in C that it does not return anything.</a:t>
            </a:r>
          </a:p>
          <a:p>
            <a:r>
              <a:rPr lang="en-US" sz="1200" b="0" i="0" kern="1200">
                <a:solidFill>
                  <a:schemeClr val="tx1"/>
                </a:solidFill>
                <a:effectLst/>
                <a:latin typeface="+mn-lt"/>
                <a:ea typeface="+mn-ea"/>
                <a:cs typeface="+mn-cs"/>
              </a:rPr>
              <a:t>Next, we define a new integer variable, square_of_number, also of type int. Because it is defined inside a function, this is a </a:t>
            </a:r>
            <a:r>
              <a:rPr lang="en-US" sz="1200" b="0" i="1" kern="1200">
                <a:solidFill>
                  <a:schemeClr val="tx1"/>
                </a:solidFill>
                <a:effectLst/>
                <a:latin typeface="+mn-lt"/>
                <a:ea typeface="+mn-ea"/>
                <a:cs typeface="+mn-cs"/>
              </a:rPr>
              <a:t>temporary</a:t>
            </a:r>
            <a:r>
              <a:rPr lang="en-US" sz="1200" b="0" i="0" kern="1200">
                <a:solidFill>
                  <a:schemeClr val="tx1"/>
                </a:solidFill>
                <a:effectLst/>
                <a:latin typeface="+mn-lt"/>
                <a:ea typeface="+mn-ea"/>
                <a:cs typeface="+mn-cs"/>
              </a:rPr>
              <a:t> variable which only exists (on the stack, or in registers) while we are executing this function. We call the function square with the global variable number as an argument, and store the returned value in square_of_number.</a:t>
            </a:r>
          </a:p>
          <a:p>
            <a:r>
              <a:rPr lang="en-US" sz="1200" b="0" i="0" kern="1200">
                <a:solidFill>
                  <a:schemeClr val="tx1"/>
                </a:solidFill>
                <a:effectLst/>
                <a:latin typeface="+mn-lt"/>
                <a:ea typeface="+mn-ea"/>
                <a:cs typeface="+mn-cs"/>
              </a:rPr>
              <a:t>Finally, we print the result to the console. This is achieved by calling the function printf which has been declared in the stdio.h file. The printf function takes as its first argument a string </a:t>
            </a:r>
            <a:r>
              <a:rPr lang="en-US" sz="1200" b="0" i="0" u="none" strike="noStrike" kern="1200" baseline="30000">
                <a:solidFill>
                  <a:schemeClr val="tx1"/>
                </a:solidFill>
                <a:effectLst/>
                <a:latin typeface="+mn-lt"/>
                <a:ea typeface="+mn-ea"/>
                <a:cs typeface="+mn-cs"/>
                <a:hlinkClick r:id="rId4"/>
              </a:rPr>
              <a:t>3</a:t>
            </a:r>
            <a:r>
              <a:rPr lang="en-US" sz="1200" b="0" i="0" kern="1200">
                <a:solidFill>
                  <a:schemeClr val="tx1"/>
                </a:solidFill>
                <a:effectLst/>
                <a:latin typeface="+mn-lt"/>
                <a:ea typeface="+mn-ea"/>
                <a:cs typeface="+mn-cs"/>
              </a:rPr>
              <a:t>. Within this string we have inserted </a:t>
            </a:r>
            <a:r>
              <a:rPr lang="en-US" sz="1200" b="0" i="1" kern="1200">
                <a:solidFill>
                  <a:schemeClr val="tx1"/>
                </a:solidFill>
                <a:effectLst/>
                <a:latin typeface="+mn-lt"/>
                <a:ea typeface="+mn-ea"/>
                <a:cs typeface="+mn-cs"/>
              </a:rPr>
              <a:t>tags</a:t>
            </a:r>
            <a:r>
              <a:rPr lang="en-US" sz="1200" b="0" i="0" kern="1200">
                <a:solidFill>
                  <a:schemeClr val="tx1"/>
                </a:solidFill>
                <a:effectLst/>
                <a:latin typeface="+mn-lt"/>
                <a:ea typeface="+mn-ea"/>
                <a:cs typeface="+mn-cs"/>
              </a:rPr>
              <a:t>, on the form %i. The first such tag means that printf should substitute the tag with the value of the second parameter and that the parameter is of type int. The next tag will be substituted for the third parameter, and so on</a:t>
            </a:r>
            <a:r>
              <a:rPr lang="en-US" sz="1200" b="0" i="0" u="none" strike="noStrike" kern="1200" baseline="30000">
                <a:solidFill>
                  <a:schemeClr val="tx1"/>
                </a:solidFill>
                <a:effectLst/>
                <a:latin typeface="+mn-lt"/>
                <a:ea typeface="+mn-ea"/>
                <a:cs typeface="+mn-cs"/>
                <a:hlinkClick r:id="rId5"/>
              </a:rPr>
              <a:t>4</a:t>
            </a:r>
            <a:r>
              <a:rPr lang="en-US" sz="1200" b="0" i="0" kern="1200">
                <a:solidFill>
                  <a:schemeClr val="tx1"/>
                </a:solidFill>
                <a:effectLst/>
                <a:latin typeface="+mn-lt"/>
                <a:ea typeface="+mn-ea"/>
                <a:cs typeface="+mn-cs"/>
              </a:rPr>
              <a:t>. The final two characters in the string, \n, denote a newline character and mean that the next text sent to the console will appear at the beginning of the next line.</a:t>
            </a:r>
          </a:p>
          <a:p>
            <a:r>
              <a:rPr lang="en-US" sz="1200" b="0" i="0" kern="1200">
                <a:solidFill>
                  <a:schemeClr val="tx1"/>
                </a:solidFill>
                <a:effectLst/>
                <a:latin typeface="+mn-lt"/>
                <a:ea typeface="+mn-ea"/>
                <a:cs typeface="+mn-cs"/>
              </a:rPr>
              <a:t>As you can see, the general structure and syntax of a C program is very similar to other imperative languages (Java, C++, C#, Javascript, Go, Rust, Swift, …).</a:t>
            </a:r>
          </a:p>
          <a:p>
            <a:endParaRPr lang="LID4096"/>
          </a:p>
        </p:txBody>
      </p:sp>
      <p:sp>
        <p:nvSpPr>
          <p:cNvPr id="4" name="Slide Number Placeholder 3">
            <a:extLst>
              <a:ext uri="{FF2B5EF4-FFF2-40B4-BE49-F238E27FC236}">
                <a16:creationId xmlns:a16="http://schemas.microsoft.com/office/drawing/2014/main" id="{B1A382BF-FD42-5DBF-068A-2B398773F98E}"/>
              </a:ext>
            </a:extLst>
          </p:cNvPr>
          <p:cNvSpPr>
            <a:spLocks noGrp="1"/>
          </p:cNvSpPr>
          <p:nvPr>
            <p:ph type="sldNum" sz="quarter" idx="5"/>
          </p:nvPr>
        </p:nvSpPr>
        <p:spPr/>
        <p:txBody>
          <a:bodyPr/>
          <a:lstStyle/>
          <a:p>
            <a:fld id="{01B4E41B-EE32-43AA-BF26-21D12108C66F}" type="slidenum">
              <a:rPr lang="LID4096" smtClean="0"/>
              <a:t>23</a:t>
            </a:fld>
            <a:endParaRPr lang="LID4096"/>
          </a:p>
        </p:txBody>
      </p:sp>
    </p:spTree>
    <p:extLst>
      <p:ext uri="{BB962C8B-B14F-4D97-AF65-F5344CB8AC3E}">
        <p14:creationId xmlns:p14="http://schemas.microsoft.com/office/powerpoint/2010/main" val="31523215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BB2BC-45AE-51D5-7076-07EE16A172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B16A01-1514-BEF7-5607-BAEBB2F9E1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63DEC9-0AAF-D3C4-D8C1-D357B6739FD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Nämn printf (en standardfunktion) och kort hur den fungerar. </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Vi kommer inte att gå igenom själva språket så noggrant på lektionerna. </a:t>
            </a:r>
          </a:p>
          <a:p>
            <a:r>
              <a:rPr lang="en-US" sz="1200" b="0" i="0" kern="1200">
                <a:solidFill>
                  <a:schemeClr val="tx1"/>
                </a:solidFill>
                <a:effectLst/>
                <a:latin typeface="+mn-lt"/>
                <a:ea typeface="+mn-ea"/>
                <a:cs typeface="+mn-cs"/>
              </a:rPr>
              <a:t>Er javakunskap kommer räcka långt, och resten får ni läsa er till själva. </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Men jag kommer att gå igenom det som är annorlunda och specifikt för C, och vi börjar redan från början med hur ett program kompileras. </a:t>
            </a:r>
          </a:p>
        </p:txBody>
      </p:sp>
      <p:sp>
        <p:nvSpPr>
          <p:cNvPr id="4" name="Slide Number Placeholder 3">
            <a:extLst>
              <a:ext uri="{FF2B5EF4-FFF2-40B4-BE49-F238E27FC236}">
                <a16:creationId xmlns:a16="http://schemas.microsoft.com/office/drawing/2014/main" id="{DED131AD-E2D7-7034-164F-5B7EAAF5B4A9}"/>
              </a:ext>
            </a:extLst>
          </p:cNvPr>
          <p:cNvSpPr>
            <a:spLocks noGrp="1"/>
          </p:cNvSpPr>
          <p:nvPr>
            <p:ph type="sldNum" sz="quarter" idx="5"/>
          </p:nvPr>
        </p:nvSpPr>
        <p:spPr/>
        <p:txBody>
          <a:bodyPr/>
          <a:lstStyle/>
          <a:p>
            <a:fld id="{01B4E41B-EE32-43AA-BF26-21D12108C66F}" type="slidenum">
              <a:rPr lang="LID4096" smtClean="0"/>
              <a:t>24</a:t>
            </a:fld>
            <a:endParaRPr lang="LID4096"/>
          </a:p>
        </p:txBody>
      </p:sp>
    </p:spTree>
    <p:extLst>
      <p:ext uri="{BB962C8B-B14F-4D97-AF65-F5344CB8AC3E}">
        <p14:creationId xmlns:p14="http://schemas.microsoft.com/office/powerpoint/2010/main" val="41968215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Vi skall nu visa hur kompileringen av ett program </a:t>
            </a:r>
            <a:r>
              <a:rPr lang="sv-SE"/>
              <a:t>går till. </a:t>
            </a:r>
          </a:p>
          <a:p>
            <a:r>
              <a:rPr lang="sv-SE"/>
              <a:t>I VSCode görs det här ”automagiskt” för er för att vi har konfigurerat systemet åt er, men det är mycket nyttigt att förstå vad som händer under huven när man trycker på build. </a:t>
            </a:r>
          </a:p>
          <a:p>
            <a:endParaRPr lang="sv-SE"/>
          </a:p>
          <a:p>
            <a:r>
              <a:rPr lang="sv-SE"/>
              <a:t>Förklara programmet översiktligt. </a:t>
            </a:r>
            <a:endParaRPr lang="LID4096"/>
          </a:p>
        </p:txBody>
      </p:sp>
      <p:sp>
        <p:nvSpPr>
          <p:cNvPr id="4" name="Slide Number Placeholder 3"/>
          <p:cNvSpPr>
            <a:spLocks noGrp="1"/>
          </p:cNvSpPr>
          <p:nvPr>
            <p:ph type="sldNum" sz="quarter" idx="5"/>
          </p:nvPr>
        </p:nvSpPr>
        <p:spPr/>
        <p:txBody>
          <a:bodyPr/>
          <a:lstStyle/>
          <a:p>
            <a:fld id="{01B4E41B-EE32-43AA-BF26-21D12108C66F}" type="slidenum">
              <a:rPr lang="LID4096" smtClean="0"/>
              <a:t>25</a:t>
            </a:fld>
            <a:endParaRPr lang="LID4096"/>
          </a:p>
        </p:txBody>
      </p:sp>
    </p:spTree>
    <p:extLst>
      <p:ext uri="{BB962C8B-B14F-4D97-AF65-F5344CB8AC3E}">
        <p14:creationId xmlns:p14="http://schemas.microsoft.com/office/powerpoint/2010/main" val="17330486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77010-8104-4368-4ED4-5999264417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DDCB41-4D7A-626E-827C-56455585FB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E52690-9817-0C14-4F63-F30D2BD45CE4}"/>
              </a:ext>
            </a:extLst>
          </p:cNvPr>
          <p:cNvSpPr>
            <a:spLocks noGrp="1"/>
          </p:cNvSpPr>
          <p:nvPr>
            <p:ph type="body" idx="1"/>
          </p:nvPr>
        </p:nvSpPr>
        <p:spPr/>
        <p:txBody>
          <a:bodyPr/>
          <a:lstStyle/>
          <a:p>
            <a:r>
              <a:rPr lang="en-GB"/>
              <a:t>Vi skall nu visa hur kompileringen av ett program </a:t>
            </a:r>
            <a:r>
              <a:rPr lang="sv-SE"/>
              <a:t>går till. </a:t>
            </a:r>
          </a:p>
          <a:p>
            <a:r>
              <a:rPr lang="sv-SE"/>
              <a:t>I VSCode görs det här ”automagiskt” för er för att vi har konfigurerat systemet åt er, men det är mycket nyttigt att förstå vad som händer under huven när man trycker på build. </a:t>
            </a:r>
          </a:p>
          <a:p>
            <a:endParaRPr lang="sv-SE"/>
          </a:p>
          <a:p>
            <a:r>
              <a:rPr lang="sv-SE"/>
              <a:t>Förklara programmet översiktligt. </a:t>
            </a:r>
            <a:endParaRPr lang="LID4096"/>
          </a:p>
        </p:txBody>
      </p:sp>
      <p:sp>
        <p:nvSpPr>
          <p:cNvPr id="4" name="Slide Number Placeholder 3">
            <a:extLst>
              <a:ext uri="{FF2B5EF4-FFF2-40B4-BE49-F238E27FC236}">
                <a16:creationId xmlns:a16="http://schemas.microsoft.com/office/drawing/2014/main" id="{7EEF7569-70CD-89CB-C505-4EAAD36141B9}"/>
              </a:ext>
            </a:extLst>
          </p:cNvPr>
          <p:cNvSpPr>
            <a:spLocks noGrp="1"/>
          </p:cNvSpPr>
          <p:nvPr>
            <p:ph type="sldNum" sz="quarter" idx="5"/>
          </p:nvPr>
        </p:nvSpPr>
        <p:spPr/>
        <p:txBody>
          <a:bodyPr/>
          <a:lstStyle/>
          <a:p>
            <a:fld id="{01B4E41B-EE32-43AA-BF26-21D12108C66F}" type="slidenum">
              <a:rPr lang="LID4096" smtClean="0"/>
              <a:t>26</a:t>
            </a:fld>
            <a:endParaRPr lang="LID4096"/>
          </a:p>
        </p:txBody>
      </p:sp>
    </p:spTree>
    <p:extLst>
      <p:ext uri="{BB962C8B-B14F-4D97-AF65-F5344CB8AC3E}">
        <p14:creationId xmlns:p14="http://schemas.microsoft.com/office/powerpoint/2010/main" val="27360818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1F188-7CAE-3DBF-E0F8-323EE337D0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A5CF89-7A03-45B0-1567-4D534DDEF3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7548B7-F83C-3DB3-06F4-238ECFDC3A7B}"/>
              </a:ext>
            </a:extLst>
          </p:cNvPr>
          <p:cNvSpPr>
            <a:spLocks noGrp="1"/>
          </p:cNvSpPr>
          <p:nvPr>
            <p:ph type="body" idx="1"/>
          </p:nvPr>
        </p:nvSpPr>
        <p:spPr/>
        <p:txBody>
          <a:bodyPr/>
          <a:lstStyle/>
          <a:p>
            <a:r>
              <a:rPr lang="en-GB"/>
              <a:t>Vi skall nu visa hur kompileringen av ett program </a:t>
            </a:r>
            <a:r>
              <a:rPr lang="sv-SE"/>
              <a:t>går till. </a:t>
            </a:r>
          </a:p>
          <a:p>
            <a:r>
              <a:rPr lang="sv-SE"/>
              <a:t>I VSCode görs det här ”automagiskt” för er för att vi har konfigurerat systemet åt er, men det är mycket nyttigt att förstå vad som händer under huven när man trycker på build. </a:t>
            </a:r>
          </a:p>
          <a:p>
            <a:endParaRPr lang="sv-SE"/>
          </a:p>
          <a:p>
            <a:r>
              <a:rPr lang="sv-SE"/>
              <a:t>Förklara programmet översiktligt. </a:t>
            </a:r>
            <a:endParaRPr lang="LID4096"/>
          </a:p>
        </p:txBody>
      </p:sp>
      <p:sp>
        <p:nvSpPr>
          <p:cNvPr id="4" name="Slide Number Placeholder 3">
            <a:extLst>
              <a:ext uri="{FF2B5EF4-FFF2-40B4-BE49-F238E27FC236}">
                <a16:creationId xmlns:a16="http://schemas.microsoft.com/office/drawing/2014/main" id="{D1147A28-3C59-389F-4C3C-CEDF631CE89F}"/>
              </a:ext>
            </a:extLst>
          </p:cNvPr>
          <p:cNvSpPr>
            <a:spLocks noGrp="1"/>
          </p:cNvSpPr>
          <p:nvPr>
            <p:ph type="sldNum" sz="quarter" idx="5"/>
          </p:nvPr>
        </p:nvSpPr>
        <p:spPr/>
        <p:txBody>
          <a:bodyPr/>
          <a:lstStyle/>
          <a:p>
            <a:fld id="{01B4E41B-EE32-43AA-BF26-21D12108C66F}" type="slidenum">
              <a:rPr lang="LID4096" smtClean="0"/>
              <a:t>27</a:t>
            </a:fld>
            <a:endParaRPr lang="LID4096"/>
          </a:p>
        </p:txBody>
      </p:sp>
    </p:spTree>
    <p:extLst>
      <p:ext uri="{BB962C8B-B14F-4D97-AF65-F5344CB8AC3E}">
        <p14:creationId xmlns:p14="http://schemas.microsoft.com/office/powerpoint/2010/main" val="38556169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8C4EE-8BBD-6D68-2FDE-6CC4293673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392322-4D1A-FB4B-DC4B-3AC9D9E75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529FFF-87B5-B082-5B61-A90404532BD1}"/>
              </a:ext>
            </a:extLst>
          </p:cNvPr>
          <p:cNvSpPr>
            <a:spLocks noGrp="1"/>
          </p:cNvSpPr>
          <p:nvPr>
            <p:ph type="body" idx="1"/>
          </p:nvPr>
        </p:nvSpPr>
        <p:spPr/>
        <p:txBody>
          <a:bodyPr/>
          <a:lstStyle/>
          <a:p>
            <a:r>
              <a:rPr lang="en-GB"/>
              <a:t>Vi skall nu visa hur kompileringen av ett program </a:t>
            </a:r>
            <a:r>
              <a:rPr lang="sv-SE"/>
              <a:t>går till. </a:t>
            </a:r>
          </a:p>
          <a:p>
            <a:r>
              <a:rPr lang="sv-SE"/>
              <a:t>I VSCode görs det här ”automagiskt” för er för att vi har konfigurerat systemet åt er, men det är mycket nyttigt att förstå vad som händer under huven när man trycker på build. </a:t>
            </a:r>
          </a:p>
          <a:p>
            <a:endParaRPr lang="sv-SE"/>
          </a:p>
          <a:p>
            <a:r>
              <a:rPr lang="sv-SE"/>
              <a:t>Förklara programmet översiktligt. </a:t>
            </a:r>
            <a:endParaRPr lang="LID4096"/>
          </a:p>
        </p:txBody>
      </p:sp>
      <p:sp>
        <p:nvSpPr>
          <p:cNvPr id="4" name="Slide Number Placeholder 3">
            <a:extLst>
              <a:ext uri="{FF2B5EF4-FFF2-40B4-BE49-F238E27FC236}">
                <a16:creationId xmlns:a16="http://schemas.microsoft.com/office/drawing/2014/main" id="{FF34EDA8-3C76-9016-CA0D-9047243C1531}"/>
              </a:ext>
            </a:extLst>
          </p:cNvPr>
          <p:cNvSpPr>
            <a:spLocks noGrp="1"/>
          </p:cNvSpPr>
          <p:nvPr>
            <p:ph type="sldNum" sz="quarter" idx="5"/>
          </p:nvPr>
        </p:nvSpPr>
        <p:spPr/>
        <p:txBody>
          <a:bodyPr/>
          <a:lstStyle/>
          <a:p>
            <a:fld id="{01B4E41B-EE32-43AA-BF26-21D12108C66F}" type="slidenum">
              <a:rPr lang="LID4096" smtClean="0"/>
              <a:t>28</a:t>
            </a:fld>
            <a:endParaRPr lang="LID4096"/>
          </a:p>
        </p:txBody>
      </p:sp>
    </p:spTree>
    <p:extLst>
      <p:ext uri="{BB962C8B-B14F-4D97-AF65-F5344CB8AC3E}">
        <p14:creationId xmlns:p14="http://schemas.microsoft.com/office/powerpoint/2010/main" val="27961348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Notera att function och pi_squared fortfarande </a:t>
            </a:r>
            <a:r>
              <a:rPr lang="sv-SE"/>
              <a:t>är labels här. Ingen har ju bestämt vilka addresser dom skall ligga på ännu. </a:t>
            </a:r>
          </a:p>
          <a:p>
            <a:endParaRPr lang="LID4096"/>
          </a:p>
        </p:txBody>
      </p:sp>
      <p:sp>
        <p:nvSpPr>
          <p:cNvPr id="4" name="Slide Number Placeholder 3"/>
          <p:cNvSpPr>
            <a:spLocks noGrp="1"/>
          </p:cNvSpPr>
          <p:nvPr>
            <p:ph type="sldNum" sz="quarter" idx="5"/>
          </p:nvPr>
        </p:nvSpPr>
        <p:spPr/>
        <p:txBody>
          <a:bodyPr/>
          <a:lstStyle/>
          <a:p>
            <a:fld id="{01B4E41B-EE32-43AA-BF26-21D12108C66F}" type="slidenum">
              <a:rPr lang="LID4096" smtClean="0"/>
              <a:t>29</a:t>
            </a:fld>
            <a:endParaRPr lang="LID4096"/>
          </a:p>
        </p:txBody>
      </p:sp>
    </p:spTree>
    <p:extLst>
      <p:ext uri="{BB962C8B-B14F-4D97-AF65-F5344CB8AC3E}">
        <p14:creationId xmlns:p14="http://schemas.microsoft.com/office/powerpoint/2010/main" val="11728220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54953-A42A-7359-B59B-2BC8D2EFD5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5D1DF4-2609-07E6-54E8-30B6EBF78D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4766A7-1D24-5E7B-EA08-A6AC7C2DD71E}"/>
              </a:ext>
            </a:extLst>
          </p:cNvPr>
          <p:cNvSpPr>
            <a:spLocks noGrp="1"/>
          </p:cNvSpPr>
          <p:nvPr>
            <p:ph type="body" idx="1"/>
          </p:nvPr>
        </p:nvSpPr>
        <p:spPr/>
        <p:txBody>
          <a:bodyPr/>
          <a:lstStyle/>
          <a:p>
            <a:endParaRPr lang="LID4096"/>
          </a:p>
        </p:txBody>
      </p:sp>
      <p:sp>
        <p:nvSpPr>
          <p:cNvPr id="4" name="Slide Number Placeholder 3">
            <a:extLst>
              <a:ext uri="{FF2B5EF4-FFF2-40B4-BE49-F238E27FC236}">
                <a16:creationId xmlns:a16="http://schemas.microsoft.com/office/drawing/2014/main" id="{52F416F6-DF07-4005-2CDD-A262041300F7}"/>
              </a:ext>
            </a:extLst>
          </p:cNvPr>
          <p:cNvSpPr>
            <a:spLocks noGrp="1"/>
          </p:cNvSpPr>
          <p:nvPr>
            <p:ph type="sldNum" sz="quarter" idx="5"/>
          </p:nvPr>
        </p:nvSpPr>
        <p:spPr/>
        <p:txBody>
          <a:bodyPr/>
          <a:lstStyle/>
          <a:p>
            <a:fld id="{01B4E41B-EE32-43AA-BF26-21D12108C66F}" type="slidenum">
              <a:rPr lang="LID4096" smtClean="0"/>
              <a:t>30</a:t>
            </a:fld>
            <a:endParaRPr lang="LID4096"/>
          </a:p>
        </p:txBody>
      </p:sp>
    </p:spTree>
    <p:extLst>
      <p:ext uri="{BB962C8B-B14F-4D97-AF65-F5344CB8AC3E}">
        <p14:creationId xmlns:p14="http://schemas.microsoft.com/office/powerpoint/2010/main" val="11319310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1EF52-4722-9F8D-2D21-74B87DBCAC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BE740A-14FE-46F8-60CA-75F7A71410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DC5663-84B7-E1CD-D222-7D55D90E9BF9}"/>
              </a:ext>
            </a:extLst>
          </p:cNvPr>
          <p:cNvSpPr>
            <a:spLocks noGrp="1"/>
          </p:cNvSpPr>
          <p:nvPr>
            <p:ph type="body" idx="1"/>
          </p:nvPr>
        </p:nvSpPr>
        <p:spPr/>
        <p:txBody>
          <a:bodyPr/>
          <a:lstStyle/>
          <a:p>
            <a:endParaRPr lang="LID4096"/>
          </a:p>
        </p:txBody>
      </p:sp>
      <p:sp>
        <p:nvSpPr>
          <p:cNvPr id="4" name="Slide Number Placeholder 3">
            <a:extLst>
              <a:ext uri="{FF2B5EF4-FFF2-40B4-BE49-F238E27FC236}">
                <a16:creationId xmlns:a16="http://schemas.microsoft.com/office/drawing/2014/main" id="{0FE0CAD7-66A8-E459-16E8-14BF6C7E85DB}"/>
              </a:ext>
            </a:extLst>
          </p:cNvPr>
          <p:cNvSpPr>
            <a:spLocks noGrp="1"/>
          </p:cNvSpPr>
          <p:nvPr>
            <p:ph type="sldNum" sz="quarter" idx="5"/>
          </p:nvPr>
        </p:nvSpPr>
        <p:spPr/>
        <p:txBody>
          <a:bodyPr/>
          <a:lstStyle/>
          <a:p>
            <a:fld id="{01B4E41B-EE32-43AA-BF26-21D12108C66F}" type="slidenum">
              <a:rPr lang="LID4096" smtClean="0"/>
              <a:t>31</a:t>
            </a:fld>
            <a:endParaRPr lang="LID4096"/>
          </a:p>
        </p:txBody>
      </p:sp>
    </p:spTree>
    <p:extLst>
      <p:ext uri="{BB962C8B-B14F-4D97-AF65-F5344CB8AC3E}">
        <p14:creationId xmlns:p14="http://schemas.microsoft.com/office/powerpoint/2010/main" val="15221935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7AAEC-3E6C-4451-F486-87E023A511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LID4096"/>
          </a:p>
        </p:txBody>
      </p:sp>
      <p:sp>
        <p:nvSpPr>
          <p:cNvPr id="3" name="Subtitle 2">
            <a:extLst>
              <a:ext uri="{FF2B5EF4-FFF2-40B4-BE49-F238E27FC236}">
                <a16:creationId xmlns:a16="http://schemas.microsoft.com/office/drawing/2014/main" id="{2423331C-A0B6-0FB2-3F60-753189EC5D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LID4096"/>
          </a:p>
        </p:txBody>
      </p:sp>
      <p:sp>
        <p:nvSpPr>
          <p:cNvPr id="4" name="Date Placeholder 3">
            <a:extLst>
              <a:ext uri="{FF2B5EF4-FFF2-40B4-BE49-F238E27FC236}">
                <a16:creationId xmlns:a16="http://schemas.microsoft.com/office/drawing/2014/main" id="{EADF49D7-5229-A7AD-747E-E6E2A94807DB}"/>
              </a:ext>
            </a:extLst>
          </p:cNvPr>
          <p:cNvSpPr>
            <a:spLocks noGrp="1"/>
          </p:cNvSpPr>
          <p:nvPr>
            <p:ph type="dt" sz="half" idx="10"/>
          </p:nvPr>
        </p:nvSpPr>
        <p:spPr/>
        <p:txBody>
          <a:bodyPr/>
          <a:lstStyle/>
          <a:p>
            <a:fld id="{C16EB631-5B1A-4879-85E7-A8D4C94FBFC5}" type="datetimeFigureOut">
              <a:rPr lang="LID4096" smtClean="0"/>
              <a:t>01/30/2026</a:t>
            </a:fld>
            <a:endParaRPr lang="LID4096"/>
          </a:p>
        </p:txBody>
      </p:sp>
      <p:sp>
        <p:nvSpPr>
          <p:cNvPr id="5" name="Footer Placeholder 4">
            <a:extLst>
              <a:ext uri="{FF2B5EF4-FFF2-40B4-BE49-F238E27FC236}">
                <a16:creationId xmlns:a16="http://schemas.microsoft.com/office/drawing/2014/main" id="{E33705F1-D570-FD0F-514D-706EC471432C}"/>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2E82FFF5-DA5D-BE5F-C578-D94F74E27609}"/>
              </a:ext>
            </a:extLst>
          </p:cNvPr>
          <p:cNvSpPr>
            <a:spLocks noGrp="1"/>
          </p:cNvSpPr>
          <p:nvPr>
            <p:ph type="sldNum" sz="quarter" idx="12"/>
          </p:nvPr>
        </p:nvSpPr>
        <p:spPr/>
        <p:txBody>
          <a:bodyPr/>
          <a:lstStyle/>
          <a:p>
            <a:fld id="{2C189057-92C1-481C-81FE-C4EA53628E84}" type="slidenum">
              <a:rPr lang="LID4096" smtClean="0"/>
              <a:t>‹#›</a:t>
            </a:fld>
            <a:endParaRPr lang="LID4096"/>
          </a:p>
        </p:txBody>
      </p:sp>
    </p:spTree>
    <p:extLst>
      <p:ext uri="{BB962C8B-B14F-4D97-AF65-F5344CB8AC3E}">
        <p14:creationId xmlns:p14="http://schemas.microsoft.com/office/powerpoint/2010/main" val="4123267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61E56A-61B1-4728-4B29-992DB3EED256}"/>
              </a:ext>
            </a:extLst>
          </p:cNvPr>
          <p:cNvSpPr>
            <a:spLocks noGrp="1" noRot="1" noMove="1" noResize="1" noEditPoints="1" noAdjustHandles="1" noChangeArrowheads="1" noChangeShapeType="1"/>
          </p:cNvSpPr>
          <p:nvPr userDrawn="1"/>
        </p:nvSpPr>
        <p:spPr>
          <a:xfrm>
            <a:off x="0" y="0"/>
            <a:ext cx="12192000" cy="1690688"/>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 name="Title 1">
            <a:extLst>
              <a:ext uri="{FF2B5EF4-FFF2-40B4-BE49-F238E27FC236}">
                <a16:creationId xmlns:a16="http://schemas.microsoft.com/office/drawing/2014/main" id="{24D76953-890A-D048-2193-B60830D7DD8A}"/>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7D433386-BED0-D084-18B4-677D6B198F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20E72D33-941F-13F9-A7E8-260FC6E52369}"/>
              </a:ext>
            </a:extLst>
          </p:cNvPr>
          <p:cNvSpPr>
            <a:spLocks noGrp="1"/>
          </p:cNvSpPr>
          <p:nvPr>
            <p:ph type="dt" sz="half" idx="10"/>
          </p:nvPr>
        </p:nvSpPr>
        <p:spPr/>
        <p:txBody>
          <a:bodyPr/>
          <a:lstStyle/>
          <a:p>
            <a:fld id="{C16EB631-5B1A-4879-85E7-A8D4C94FBFC5}" type="datetimeFigureOut">
              <a:rPr lang="LID4096" smtClean="0"/>
              <a:t>01/30/2026</a:t>
            </a:fld>
            <a:endParaRPr lang="LID4096"/>
          </a:p>
        </p:txBody>
      </p:sp>
      <p:sp>
        <p:nvSpPr>
          <p:cNvPr id="5" name="Footer Placeholder 4">
            <a:extLst>
              <a:ext uri="{FF2B5EF4-FFF2-40B4-BE49-F238E27FC236}">
                <a16:creationId xmlns:a16="http://schemas.microsoft.com/office/drawing/2014/main" id="{36759F51-CB1B-DF9A-5CC0-93AFDF6758C7}"/>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23E42DB4-6401-3763-4016-068E35BF833C}"/>
              </a:ext>
            </a:extLst>
          </p:cNvPr>
          <p:cNvSpPr>
            <a:spLocks noGrp="1"/>
          </p:cNvSpPr>
          <p:nvPr>
            <p:ph type="sldNum" sz="quarter" idx="12"/>
          </p:nvPr>
        </p:nvSpPr>
        <p:spPr/>
        <p:txBody>
          <a:bodyPr/>
          <a:lstStyle/>
          <a:p>
            <a:fld id="{2C189057-92C1-481C-81FE-C4EA53628E84}" type="slidenum">
              <a:rPr lang="LID4096" smtClean="0"/>
              <a:t>‹#›</a:t>
            </a:fld>
            <a:endParaRPr lang="LID4096"/>
          </a:p>
        </p:txBody>
      </p:sp>
    </p:spTree>
    <p:extLst>
      <p:ext uri="{BB962C8B-B14F-4D97-AF65-F5344CB8AC3E}">
        <p14:creationId xmlns:p14="http://schemas.microsoft.com/office/powerpoint/2010/main" val="1088421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5AE1C-835E-4237-40BE-548098F751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LID4096"/>
          </a:p>
        </p:txBody>
      </p:sp>
      <p:sp>
        <p:nvSpPr>
          <p:cNvPr id="3" name="Text Placeholder 2">
            <a:extLst>
              <a:ext uri="{FF2B5EF4-FFF2-40B4-BE49-F238E27FC236}">
                <a16:creationId xmlns:a16="http://schemas.microsoft.com/office/drawing/2014/main" id="{5680726C-642C-40B9-29E4-8CB6438330D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D861FB-8DCF-74EB-CB4F-6C8C5FDA2D70}"/>
              </a:ext>
            </a:extLst>
          </p:cNvPr>
          <p:cNvSpPr>
            <a:spLocks noGrp="1"/>
          </p:cNvSpPr>
          <p:nvPr>
            <p:ph type="dt" sz="half" idx="10"/>
          </p:nvPr>
        </p:nvSpPr>
        <p:spPr/>
        <p:txBody>
          <a:bodyPr/>
          <a:lstStyle/>
          <a:p>
            <a:fld id="{C16EB631-5B1A-4879-85E7-A8D4C94FBFC5}" type="datetimeFigureOut">
              <a:rPr lang="LID4096" smtClean="0"/>
              <a:t>01/30/2026</a:t>
            </a:fld>
            <a:endParaRPr lang="LID4096"/>
          </a:p>
        </p:txBody>
      </p:sp>
      <p:sp>
        <p:nvSpPr>
          <p:cNvPr id="5" name="Footer Placeholder 4">
            <a:extLst>
              <a:ext uri="{FF2B5EF4-FFF2-40B4-BE49-F238E27FC236}">
                <a16:creationId xmlns:a16="http://schemas.microsoft.com/office/drawing/2014/main" id="{94B0EE97-CCFB-62D1-AD51-EC2640FFF3A1}"/>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A224E895-9CC8-B3E0-C23B-C34A3154E382}"/>
              </a:ext>
            </a:extLst>
          </p:cNvPr>
          <p:cNvSpPr>
            <a:spLocks noGrp="1"/>
          </p:cNvSpPr>
          <p:nvPr>
            <p:ph type="sldNum" sz="quarter" idx="12"/>
          </p:nvPr>
        </p:nvSpPr>
        <p:spPr/>
        <p:txBody>
          <a:bodyPr/>
          <a:lstStyle/>
          <a:p>
            <a:fld id="{2C189057-92C1-481C-81FE-C4EA53628E84}" type="slidenum">
              <a:rPr lang="LID4096" smtClean="0"/>
              <a:t>‹#›</a:t>
            </a:fld>
            <a:endParaRPr lang="LID4096"/>
          </a:p>
        </p:txBody>
      </p:sp>
    </p:spTree>
    <p:extLst>
      <p:ext uri="{BB962C8B-B14F-4D97-AF65-F5344CB8AC3E}">
        <p14:creationId xmlns:p14="http://schemas.microsoft.com/office/powerpoint/2010/main" val="28308335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ADA9653-920E-A3FB-A09E-24B10BF25882}"/>
              </a:ext>
            </a:extLst>
          </p:cNvPr>
          <p:cNvSpPr/>
          <p:nvPr userDrawn="1"/>
        </p:nvSpPr>
        <p:spPr>
          <a:xfrm>
            <a:off x="0" y="0"/>
            <a:ext cx="12192000" cy="1690688"/>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 name="Title 1">
            <a:extLst>
              <a:ext uri="{FF2B5EF4-FFF2-40B4-BE49-F238E27FC236}">
                <a16:creationId xmlns:a16="http://schemas.microsoft.com/office/drawing/2014/main" id="{6D912F9C-95D6-9F26-CB8F-4684FA3BC91D}"/>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32A225D4-B7C6-E53C-86CB-746972F8BB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Content Placeholder 3">
            <a:extLst>
              <a:ext uri="{FF2B5EF4-FFF2-40B4-BE49-F238E27FC236}">
                <a16:creationId xmlns:a16="http://schemas.microsoft.com/office/drawing/2014/main" id="{E34E4528-78B3-D076-447C-021E6D75A5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Date Placeholder 4">
            <a:extLst>
              <a:ext uri="{FF2B5EF4-FFF2-40B4-BE49-F238E27FC236}">
                <a16:creationId xmlns:a16="http://schemas.microsoft.com/office/drawing/2014/main" id="{81FD6A9B-7759-36F2-D666-8667C8DE7F6A}"/>
              </a:ext>
            </a:extLst>
          </p:cNvPr>
          <p:cNvSpPr>
            <a:spLocks noGrp="1"/>
          </p:cNvSpPr>
          <p:nvPr>
            <p:ph type="dt" sz="half" idx="10"/>
          </p:nvPr>
        </p:nvSpPr>
        <p:spPr/>
        <p:txBody>
          <a:bodyPr/>
          <a:lstStyle/>
          <a:p>
            <a:fld id="{C16EB631-5B1A-4879-85E7-A8D4C94FBFC5}" type="datetimeFigureOut">
              <a:rPr lang="LID4096" smtClean="0"/>
              <a:t>01/30/2026</a:t>
            </a:fld>
            <a:endParaRPr lang="LID4096"/>
          </a:p>
        </p:txBody>
      </p:sp>
      <p:sp>
        <p:nvSpPr>
          <p:cNvPr id="6" name="Footer Placeholder 5">
            <a:extLst>
              <a:ext uri="{FF2B5EF4-FFF2-40B4-BE49-F238E27FC236}">
                <a16:creationId xmlns:a16="http://schemas.microsoft.com/office/drawing/2014/main" id="{6821CEAB-5EF1-8A74-8968-8F0DB2B27660}"/>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11540A9C-A1CD-86C2-36E4-17DFA2A93FEB}"/>
              </a:ext>
            </a:extLst>
          </p:cNvPr>
          <p:cNvSpPr>
            <a:spLocks noGrp="1"/>
          </p:cNvSpPr>
          <p:nvPr>
            <p:ph type="sldNum" sz="quarter" idx="12"/>
          </p:nvPr>
        </p:nvSpPr>
        <p:spPr/>
        <p:txBody>
          <a:bodyPr/>
          <a:lstStyle/>
          <a:p>
            <a:fld id="{2C189057-92C1-481C-81FE-C4EA53628E84}" type="slidenum">
              <a:rPr lang="LID4096" smtClean="0"/>
              <a:t>‹#›</a:t>
            </a:fld>
            <a:endParaRPr lang="LID4096"/>
          </a:p>
        </p:txBody>
      </p:sp>
    </p:spTree>
    <p:extLst>
      <p:ext uri="{BB962C8B-B14F-4D97-AF65-F5344CB8AC3E}">
        <p14:creationId xmlns:p14="http://schemas.microsoft.com/office/powerpoint/2010/main" val="3018139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AC8CFAD-2C3B-E51D-4FD9-E852766792F8}"/>
              </a:ext>
            </a:extLst>
          </p:cNvPr>
          <p:cNvSpPr/>
          <p:nvPr userDrawn="1"/>
        </p:nvSpPr>
        <p:spPr>
          <a:xfrm>
            <a:off x="0" y="0"/>
            <a:ext cx="12192000" cy="1690688"/>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 name="Title 1">
            <a:extLst>
              <a:ext uri="{FF2B5EF4-FFF2-40B4-BE49-F238E27FC236}">
                <a16:creationId xmlns:a16="http://schemas.microsoft.com/office/drawing/2014/main" id="{68FA55E2-B180-DE62-C73A-B825DAA5CD87}"/>
              </a:ext>
            </a:extLst>
          </p:cNvPr>
          <p:cNvSpPr>
            <a:spLocks noGrp="1"/>
          </p:cNvSpPr>
          <p:nvPr>
            <p:ph type="title"/>
          </p:nvPr>
        </p:nvSpPr>
        <p:spPr>
          <a:xfrm>
            <a:off x="839788" y="365125"/>
            <a:ext cx="10515600" cy="1325563"/>
          </a:xfrm>
        </p:spPr>
        <p:txBody>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882EA99E-F1A7-2F45-FDF1-5E254A755E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9AB4C4-573F-7FAB-48DA-DAF9781492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Text Placeholder 4">
            <a:extLst>
              <a:ext uri="{FF2B5EF4-FFF2-40B4-BE49-F238E27FC236}">
                <a16:creationId xmlns:a16="http://schemas.microsoft.com/office/drawing/2014/main" id="{8F7018C2-E8F6-E5E6-79EA-3155C34500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31AF297-CD62-07D0-9158-3B908BD1CA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7" name="Date Placeholder 6">
            <a:extLst>
              <a:ext uri="{FF2B5EF4-FFF2-40B4-BE49-F238E27FC236}">
                <a16:creationId xmlns:a16="http://schemas.microsoft.com/office/drawing/2014/main" id="{1CD7138E-77A6-33DA-62AD-A97A7ECC83FD}"/>
              </a:ext>
            </a:extLst>
          </p:cNvPr>
          <p:cNvSpPr>
            <a:spLocks noGrp="1"/>
          </p:cNvSpPr>
          <p:nvPr>
            <p:ph type="dt" sz="half" idx="10"/>
          </p:nvPr>
        </p:nvSpPr>
        <p:spPr/>
        <p:txBody>
          <a:bodyPr/>
          <a:lstStyle/>
          <a:p>
            <a:fld id="{C16EB631-5B1A-4879-85E7-A8D4C94FBFC5}" type="datetimeFigureOut">
              <a:rPr lang="LID4096" smtClean="0"/>
              <a:t>01/30/2026</a:t>
            </a:fld>
            <a:endParaRPr lang="LID4096"/>
          </a:p>
        </p:txBody>
      </p:sp>
      <p:sp>
        <p:nvSpPr>
          <p:cNvPr id="8" name="Footer Placeholder 7">
            <a:extLst>
              <a:ext uri="{FF2B5EF4-FFF2-40B4-BE49-F238E27FC236}">
                <a16:creationId xmlns:a16="http://schemas.microsoft.com/office/drawing/2014/main" id="{94097087-613E-94E4-030D-9C72E53CB68E}"/>
              </a:ext>
            </a:extLst>
          </p:cNvPr>
          <p:cNvSpPr>
            <a:spLocks noGrp="1"/>
          </p:cNvSpPr>
          <p:nvPr>
            <p:ph type="ftr" sz="quarter" idx="11"/>
          </p:nvPr>
        </p:nvSpPr>
        <p:spPr/>
        <p:txBody>
          <a:bodyPr/>
          <a:lstStyle/>
          <a:p>
            <a:endParaRPr lang="LID4096"/>
          </a:p>
        </p:txBody>
      </p:sp>
      <p:sp>
        <p:nvSpPr>
          <p:cNvPr id="9" name="Slide Number Placeholder 8">
            <a:extLst>
              <a:ext uri="{FF2B5EF4-FFF2-40B4-BE49-F238E27FC236}">
                <a16:creationId xmlns:a16="http://schemas.microsoft.com/office/drawing/2014/main" id="{D53AB01B-9183-BED8-5270-E118181DA12B}"/>
              </a:ext>
            </a:extLst>
          </p:cNvPr>
          <p:cNvSpPr>
            <a:spLocks noGrp="1"/>
          </p:cNvSpPr>
          <p:nvPr>
            <p:ph type="sldNum" sz="quarter" idx="12"/>
          </p:nvPr>
        </p:nvSpPr>
        <p:spPr/>
        <p:txBody>
          <a:bodyPr/>
          <a:lstStyle/>
          <a:p>
            <a:fld id="{2C189057-92C1-481C-81FE-C4EA53628E84}" type="slidenum">
              <a:rPr lang="LID4096" smtClean="0"/>
              <a:t>‹#›</a:t>
            </a:fld>
            <a:endParaRPr lang="LID4096"/>
          </a:p>
        </p:txBody>
      </p:sp>
    </p:spTree>
    <p:extLst>
      <p:ext uri="{BB962C8B-B14F-4D97-AF65-F5344CB8AC3E}">
        <p14:creationId xmlns:p14="http://schemas.microsoft.com/office/powerpoint/2010/main" val="24429146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B0351AC-8666-6A69-B402-81D189976CE4}"/>
              </a:ext>
            </a:extLst>
          </p:cNvPr>
          <p:cNvSpPr/>
          <p:nvPr userDrawn="1"/>
        </p:nvSpPr>
        <p:spPr>
          <a:xfrm>
            <a:off x="0" y="0"/>
            <a:ext cx="12192000" cy="1690688"/>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 name="Title 1">
            <a:extLst>
              <a:ext uri="{FF2B5EF4-FFF2-40B4-BE49-F238E27FC236}">
                <a16:creationId xmlns:a16="http://schemas.microsoft.com/office/drawing/2014/main" id="{57DC8B82-510D-675C-90C7-E85E633B5811}"/>
              </a:ext>
            </a:extLst>
          </p:cNvPr>
          <p:cNvSpPr>
            <a:spLocks noGrp="1"/>
          </p:cNvSpPr>
          <p:nvPr>
            <p:ph type="title"/>
          </p:nvPr>
        </p:nvSpPr>
        <p:spPr/>
        <p:txBody>
          <a:bodyPr/>
          <a:lstStyle/>
          <a:p>
            <a:r>
              <a:rPr lang="en-US"/>
              <a:t>Click to edit Master title style</a:t>
            </a:r>
            <a:endParaRPr lang="LID4096"/>
          </a:p>
        </p:txBody>
      </p:sp>
      <p:sp>
        <p:nvSpPr>
          <p:cNvPr id="3" name="Date Placeholder 2">
            <a:extLst>
              <a:ext uri="{FF2B5EF4-FFF2-40B4-BE49-F238E27FC236}">
                <a16:creationId xmlns:a16="http://schemas.microsoft.com/office/drawing/2014/main" id="{6AFBD4E8-F59F-752C-FE4A-3B1CDA10D2DB}"/>
              </a:ext>
            </a:extLst>
          </p:cNvPr>
          <p:cNvSpPr>
            <a:spLocks noGrp="1"/>
          </p:cNvSpPr>
          <p:nvPr>
            <p:ph type="dt" sz="half" idx="10"/>
          </p:nvPr>
        </p:nvSpPr>
        <p:spPr/>
        <p:txBody>
          <a:bodyPr/>
          <a:lstStyle/>
          <a:p>
            <a:fld id="{C16EB631-5B1A-4879-85E7-A8D4C94FBFC5}" type="datetimeFigureOut">
              <a:rPr lang="LID4096" smtClean="0"/>
              <a:t>01/30/2026</a:t>
            </a:fld>
            <a:endParaRPr lang="LID4096"/>
          </a:p>
        </p:txBody>
      </p:sp>
      <p:sp>
        <p:nvSpPr>
          <p:cNvPr id="4" name="Footer Placeholder 3">
            <a:extLst>
              <a:ext uri="{FF2B5EF4-FFF2-40B4-BE49-F238E27FC236}">
                <a16:creationId xmlns:a16="http://schemas.microsoft.com/office/drawing/2014/main" id="{4574A05F-55BF-5716-B67E-826F7B5ACE20}"/>
              </a:ext>
            </a:extLst>
          </p:cNvPr>
          <p:cNvSpPr>
            <a:spLocks noGrp="1"/>
          </p:cNvSpPr>
          <p:nvPr>
            <p:ph type="ftr" sz="quarter" idx="11"/>
          </p:nvPr>
        </p:nvSpPr>
        <p:spPr/>
        <p:txBody>
          <a:bodyPr/>
          <a:lstStyle/>
          <a:p>
            <a:endParaRPr lang="LID4096"/>
          </a:p>
        </p:txBody>
      </p:sp>
      <p:sp>
        <p:nvSpPr>
          <p:cNvPr id="5" name="Slide Number Placeholder 4">
            <a:extLst>
              <a:ext uri="{FF2B5EF4-FFF2-40B4-BE49-F238E27FC236}">
                <a16:creationId xmlns:a16="http://schemas.microsoft.com/office/drawing/2014/main" id="{818E29FC-9E20-22D5-23DC-B42B2A2F2D7F}"/>
              </a:ext>
            </a:extLst>
          </p:cNvPr>
          <p:cNvSpPr>
            <a:spLocks noGrp="1"/>
          </p:cNvSpPr>
          <p:nvPr>
            <p:ph type="sldNum" sz="quarter" idx="12"/>
          </p:nvPr>
        </p:nvSpPr>
        <p:spPr/>
        <p:txBody>
          <a:bodyPr/>
          <a:lstStyle/>
          <a:p>
            <a:fld id="{2C189057-92C1-481C-81FE-C4EA53628E84}" type="slidenum">
              <a:rPr lang="LID4096" smtClean="0"/>
              <a:t>‹#›</a:t>
            </a:fld>
            <a:endParaRPr lang="LID4096"/>
          </a:p>
        </p:txBody>
      </p:sp>
    </p:spTree>
    <p:extLst>
      <p:ext uri="{BB962C8B-B14F-4D97-AF65-F5344CB8AC3E}">
        <p14:creationId xmlns:p14="http://schemas.microsoft.com/office/powerpoint/2010/main" val="31546934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28A2B7A-FCD7-89EB-1A96-B7932F9689A4}"/>
              </a:ext>
            </a:extLst>
          </p:cNvPr>
          <p:cNvSpPr>
            <a:spLocks noGrp="1"/>
          </p:cNvSpPr>
          <p:nvPr>
            <p:ph type="dt" sz="half" idx="10"/>
          </p:nvPr>
        </p:nvSpPr>
        <p:spPr/>
        <p:txBody>
          <a:bodyPr/>
          <a:lstStyle/>
          <a:p>
            <a:fld id="{C16EB631-5B1A-4879-85E7-A8D4C94FBFC5}" type="datetimeFigureOut">
              <a:rPr lang="LID4096" smtClean="0"/>
              <a:t>01/30/2026</a:t>
            </a:fld>
            <a:endParaRPr lang="LID4096"/>
          </a:p>
        </p:txBody>
      </p:sp>
      <p:sp>
        <p:nvSpPr>
          <p:cNvPr id="3" name="Footer Placeholder 2">
            <a:extLst>
              <a:ext uri="{FF2B5EF4-FFF2-40B4-BE49-F238E27FC236}">
                <a16:creationId xmlns:a16="http://schemas.microsoft.com/office/drawing/2014/main" id="{FE727F0C-76DF-9396-D50C-E80D75E88C3B}"/>
              </a:ext>
            </a:extLst>
          </p:cNvPr>
          <p:cNvSpPr>
            <a:spLocks noGrp="1"/>
          </p:cNvSpPr>
          <p:nvPr>
            <p:ph type="ftr" sz="quarter" idx="11"/>
          </p:nvPr>
        </p:nvSpPr>
        <p:spPr/>
        <p:txBody>
          <a:bodyPr/>
          <a:lstStyle/>
          <a:p>
            <a:endParaRPr lang="LID4096"/>
          </a:p>
        </p:txBody>
      </p:sp>
      <p:sp>
        <p:nvSpPr>
          <p:cNvPr id="4" name="Slide Number Placeholder 3">
            <a:extLst>
              <a:ext uri="{FF2B5EF4-FFF2-40B4-BE49-F238E27FC236}">
                <a16:creationId xmlns:a16="http://schemas.microsoft.com/office/drawing/2014/main" id="{3F071C10-AF5A-33B6-0088-2D81FA270BCE}"/>
              </a:ext>
            </a:extLst>
          </p:cNvPr>
          <p:cNvSpPr>
            <a:spLocks noGrp="1"/>
          </p:cNvSpPr>
          <p:nvPr>
            <p:ph type="sldNum" sz="quarter" idx="12"/>
          </p:nvPr>
        </p:nvSpPr>
        <p:spPr/>
        <p:txBody>
          <a:bodyPr/>
          <a:lstStyle/>
          <a:p>
            <a:fld id="{2C189057-92C1-481C-81FE-C4EA53628E84}" type="slidenum">
              <a:rPr lang="LID4096" smtClean="0"/>
              <a:t>‹#›</a:t>
            </a:fld>
            <a:endParaRPr lang="LID4096"/>
          </a:p>
        </p:txBody>
      </p:sp>
    </p:spTree>
    <p:extLst>
      <p:ext uri="{BB962C8B-B14F-4D97-AF65-F5344CB8AC3E}">
        <p14:creationId xmlns:p14="http://schemas.microsoft.com/office/powerpoint/2010/main" val="34672464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7353D-A96C-86D7-3B51-4AEF89B0E5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Content Placeholder 2">
            <a:extLst>
              <a:ext uri="{FF2B5EF4-FFF2-40B4-BE49-F238E27FC236}">
                <a16:creationId xmlns:a16="http://schemas.microsoft.com/office/drawing/2014/main" id="{645426A3-8A7E-2232-C68D-B497DB402E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Text Placeholder 3">
            <a:extLst>
              <a:ext uri="{FF2B5EF4-FFF2-40B4-BE49-F238E27FC236}">
                <a16:creationId xmlns:a16="http://schemas.microsoft.com/office/drawing/2014/main" id="{71AEDFD2-8147-E4EA-30DB-B6EE92AFAC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42C160-1681-9853-0D30-D48019EF3B84}"/>
              </a:ext>
            </a:extLst>
          </p:cNvPr>
          <p:cNvSpPr>
            <a:spLocks noGrp="1"/>
          </p:cNvSpPr>
          <p:nvPr>
            <p:ph type="dt" sz="half" idx="10"/>
          </p:nvPr>
        </p:nvSpPr>
        <p:spPr/>
        <p:txBody>
          <a:bodyPr/>
          <a:lstStyle/>
          <a:p>
            <a:fld id="{C16EB631-5B1A-4879-85E7-A8D4C94FBFC5}" type="datetimeFigureOut">
              <a:rPr lang="LID4096" smtClean="0"/>
              <a:t>01/30/2026</a:t>
            </a:fld>
            <a:endParaRPr lang="LID4096"/>
          </a:p>
        </p:txBody>
      </p:sp>
      <p:sp>
        <p:nvSpPr>
          <p:cNvPr id="6" name="Footer Placeholder 5">
            <a:extLst>
              <a:ext uri="{FF2B5EF4-FFF2-40B4-BE49-F238E27FC236}">
                <a16:creationId xmlns:a16="http://schemas.microsoft.com/office/drawing/2014/main" id="{B9DBD775-8CC4-1D89-390B-CBE113AFFC15}"/>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BB556AE1-23BA-5111-5A0E-06335408D01A}"/>
              </a:ext>
            </a:extLst>
          </p:cNvPr>
          <p:cNvSpPr>
            <a:spLocks noGrp="1"/>
          </p:cNvSpPr>
          <p:nvPr>
            <p:ph type="sldNum" sz="quarter" idx="12"/>
          </p:nvPr>
        </p:nvSpPr>
        <p:spPr/>
        <p:txBody>
          <a:bodyPr/>
          <a:lstStyle/>
          <a:p>
            <a:fld id="{2C189057-92C1-481C-81FE-C4EA53628E84}" type="slidenum">
              <a:rPr lang="LID4096" smtClean="0"/>
              <a:t>‹#›</a:t>
            </a:fld>
            <a:endParaRPr lang="LID4096"/>
          </a:p>
        </p:txBody>
      </p:sp>
    </p:spTree>
    <p:extLst>
      <p:ext uri="{BB962C8B-B14F-4D97-AF65-F5344CB8AC3E}">
        <p14:creationId xmlns:p14="http://schemas.microsoft.com/office/powerpoint/2010/main" val="2810325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B0FD3-1A53-ADC5-6F25-17D89C1E9B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Picture Placeholder 2">
            <a:extLst>
              <a:ext uri="{FF2B5EF4-FFF2-40B4-BE49-F238E27FC236}">
                <a16:creationId xmlns:a16="http://schemas.microsoft.com/office/drawing/2014/main" id="{AE0D64E3-FFB1-8C2C-B98F-A7A970F3E2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91339862-B6A9-674B-99C4-8ABD188F15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A0084A-CEA6-A23A-8D58-A22A15A2D404}"/>
              </a:ext>
            </a:extLst>
          </p:cNvPr>
          <p:cNvSpPr>
            <a:spLocks noGrp="1"/>
          </p:cNvSpPr>
          <p:nvPr>
            <p:ph type="dt" sz="half" idx="10"/>
          </p:nvPr>
        </p:nvSpPr>
        <p:spPr/>
        <p:txBody>
          <a:bodyPr/>
          <a:lstStyle/>
          <a:p>
            <a:fld id="{C16EB631-5B1A-4879-85E7-A8D4C94FBFC5}" type="datetimeFigureOut">
              <a:rPr lang="LID4096" smtClean="0"/>
              <a:t>01/30/2026</a:t>
            </a:fld>
            <a:endParaRPr lang="LID4096"/>
          </a:p>
        </p:txBody>
      </p:sp>
      <p:sp>
        <p:nvSpPr>
          <p:cNvPr id="6" name="Footer Placeholder 5">
            <a:extLst>
              <a:ext uri="{FF2B5EF4-FFF2-40B4-BE49-F238E27FC236}">
                <a16:creationId xmlns:a16="http://schemas.microsoft.com/office/drawing/2014/main" id="{C3F3325F-BB03-5E1E-8BBA-77021E9FAB7D}"/>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33FE28DD-BD5D-D807-4F41-CEA2BBBEB65B}"/>
              </a:ext>
            </a:extLst>
          </p:cNvPr>
          <p:cNvSpPr>
            <a:spLocks noGrp="1"/>
          </p:cNvSpPr>
          <p:nvPr>
            <p:ph type="sldNum" sz="quarter" idx="12"/>
          </p:nvPr>
        </p:nvSpPr>
        <p:spPr/>
        <p:txBody>
          <a:bodyPr/>
          <a:lstStyle/>
          <a:p>
            <a:fld id="{2C189057-92C1-481C-81FE-C4EA53628E84}" type="slidenum">
              <a:rPr lang="LID4096" smtClean="0"/>
              <a:t>‹#›</a:t>
            </a:fld>
            <a:endParaRPr lang="LID4096"/>
          </a:p>
        </p:txBody>
      </p:sp>
    </p:spTree>
    <p:extLst>
      <p:ext uri="{BB962C8B-B14F-4D97-AF65-F5344CB8AC3E}">
        <p14:creationId xmlns:p14="http://schemas.microsoft.com/office/powerpoint/2010/main" val="27823676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1E742-C2AD-6643-CED1-AFDDE4FC6022}"/>
              </a:ext>
            </a:extLst>
          </p:cNvPr>
          <p:cNvSpPr>
            <a:spLocks noGrp="1"/>
          </p:cNvSpPr>
          <p:nvPr>
            <p:ph type="title"/>
          </p:nvPr>
        </p:nvSpPr>
        <p:spPr/>
        <p:txBody>
          <a:bodyPr/>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1CEC0158-1729-4A7E-7B94-781E312375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12ED27F6-811A-D0A0-06B1-41B03656D885}"/>
              </a:ext>
            </a:extLst>
          </p:cNvPr>
          <p:cNvSpPr>
            <a:spLocks noGrp="1"/>
          </p:cNvSpPr>
          <p:nvPr>
            <p:ph type="dt" sz="half" idx="10"/>
          </p:nvPr>
        </p:nvSpPr>
        <p:spPr/>
        <p:txBody>
          <a:bodyPr/>
          <a:lstStyle/>
          <a:p>
            <a:fld id="{C16EB631-5B1A-4879-85E7-A8D4C94FBFC5}" type="datetimeFigureOut">
              <a:rPr lang="LID4096" smtClean="0"/>
              <a:t>01/30/2026</a:t>
            </a:fld>
            <a:endParaRPr lang="LID4096"/>
          </a:p>
        </p:txBody>
      </p:sp>
      <p:sp>
        <p:nvSpPr>
          <p:cNvPr id="5" name="Footer Placeholder 4">
            <a:extLst>
              <a:ext uri="{FF2B5EF4-FFF2-40B4-BE49-F238E27FC236}">
                <a16:creationId xmlns:a16="http://schemas.microsoft.com/office/drawing/2014/main" id="{DAD2C692-F6C8-CB76-B789-5004D9605FF4}"/>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7AAF7830-571D-5B23-D628-16DCF365B59A}"/>
              </a:ext>
            </a:extLst>
          </p:cNvPr>
          <p:cNvSpPr>
            <a:spLocks noGrp="1"/>
          </p:cNvSpPr>
          <p:nvPr>
            <p:ph type="sldNum" sz="quarter" idx="12"/>
          </p:nvPr>
        </p:nvSpPr>
        <p:spPr/>
        <p:txBody>
          <a:bodyPr/>
          <a:lstStyle/>
          <a:p>
            <a:fld id="{2C189057-92C1-481C-81FE-C4EA53628E84}" type="slidenum">
              <a:rPr lang="LID4096" smtClean="0"/>
              <a:t>‹#›</a:t>
            </a:fld>
            <a:endParaRPr lang="LID4096"/>
          </a:p>
        </p:txBody>
      </p:sp>
    </p:spTree>
    <p:extLst>
      <p:ext uri="{BB962C8B-B14F-4D97-AF65-F5344CB8AC3E}">
        <p14:creationId xmlns:p14="http://schemas.microsoft.com/office/powerpoint/2010/main" val="27115101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FC0549-8A95-0497-7701-706A861F197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2EEEBB1F-4FAC-A79D-8CEF-065067FC03E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3843EFF8-EAC7-D303-AE5E-3FC052A5973E}"/>
              </a:ext>
            </a:extLst>
          </p:cNvPr>
          <p:cNvSpPr>
            <a:spLocks noGrp="1"/>
          </p:cNvSpPr>
          <p:nvPr>
            <p:ph type="dt" sz="half" idx="10"/>
          </p:nvPr>
        </p:nvSpPr>
        <p:spPr/>
        <p:txBody>
          <a:bodyPr/>
          <a:lstStyle/>
          <a:p>
            <a:fld id="{C16EB631-5B1A-4879-85E7-A8D4C94FBFC5}" type="datetimeFigureOut">
              <a:rPr lang="LID4096" smtClean="0"/>
              <a:t>01/30/2026</a:t>
            </a:fld>
            <a:endParaRPr lang="LID4096"/>
          </a:p>
        </p:txBody>
      </p:sp>
      <p:sp>
        <p:nvSpPr>
          <p:cNvPr id="5" name="Footer Placeholder 4">
            <a:extLst>
              <a:ext uri="{FF2B5EF4-FFF2-40B4-BE49-F238E27FC236}">
                <a16:creationId xmlns:a16="http://schemas.microsoft.com/office/drawing/2014/main" id="{C2840B46-B5A1-A5C4-7709-AF9C579E63CE}"/>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A808CE26-1654-5732-2FCC-D9586B0F14DC}"/>
              </a:ext>
            </a:extLst>
          </p:cNvPr>
          <p:cNvSpPr>
            <a:spLocks noGrp="1"/>
          </p:cNvSpPr>
          <p:nvPr>
            <p:ph type="sldNum" sz="quarter" idx="12"/>
          </p:nvPr>
        </p:nvSpPr>
        <p:spPr/>
        <p:txBody>
          <a:bodyPr/>
          <a:lstStyle/>
          <a:p>
            <a:fld id="{2C189057-92C1-481C-81FE-C4EA53628E84}" type="slidenum">
              <a:rPr lang="LID4096" smtClean="0"/>
              <a:t>‹#›</a:t>
            </a:fld>
            <a:endParaRPr lang="LID4096"/>
          </a:p>
        </p:txBody>
      </p:sp>
    </p:spTree>
    <p:extLst>
      <p:ext uri="{BB962C8B-B14F-4D97-AF65-F5344CB8AC3E}">
        <p14:creationId xmlns:p14="http://schemas.microsoft.com/office/powerpoint/2010/main" val="37677913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F3BB9D5-722B-FDAA-6867-63BCE26A0024}"/>
              </a:ext>
            </a:extLst>
          </p:cNvPr>
          <p:cNvSpPr txBox="1"/>
          <p:nvPr userDrawn="1"/>
        </p:nvSpPr>
        <p:spPr>
          <a:xfrm>
            <a:off x="4705350" y="-139700"/>
            <a:ext cx="2508250" cy="4489450"/>
          </a:xfrm>
          <a:prstGeom prst="rect">
            <a:avLst/>
          </a:prstGeom>
          <a:noFill/>
          <a:effectLst>
            <a:reflection blurRad="6350" stA="50000" endA="300" endPos="90000" dir="5400000" sy="-100000" algn="bl" rotWithShape="0"/>
          </a:effectLst>
        </p:spPr>
        <p:txBody>
          <a:bodyPr wrap="square" lIns="0" tIns="0" rIns="0" bIns="0" rtlCol="0">
            <a:noAutofit/>
          </a:bodyPr>
          <a:lstStyle/>
          <a:p>
            <a:r>
              <a:rPr lang="sv-SE" sz="38000" b="1"/>
              <a:t>?</a:t>
            </a:r>
            <a:endParaRPr lang="LID4096" sz="38000" b="1"/>
          </a:p>
        </p:txBody>
      </p:sp>
    </p:spTree>
    <p:extLst>
      <p:ext uri="{BB962C8B-B14F-4D97-AF65-F5344CB8AC3E}">
        <p14:creationId xmlns:p14="http://schemas.microsoft.com/office/powerpoint/2010/main" val="7975097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92C8A0-0DE0-C4FC-A8FB-D00A440D09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504CF994-83D9-1216-3BA3-76E9A3D4D6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5CB6BF0C-3972-8E81-14A3-E51F000884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16EB631-5B1A-4879-85E7-A8D4C94FBFC5}" type="datetimeFigureOut">
              <a:rPr lang="LID4096" smtClean="0"/>
              <a:t>01/30/2026</a:t>
            </a:fld>
            <a:endParaRPr lang="LID4096"/>
          </a:p>
        </p:txBody>
      </p:sp>
      <p:sp>
        <p:nvSpPr>
          <p:cNvPr id="5" name="Footer Placeholder 4">
            <a:extLst>
              <a:ext uri="{FF2B5EF4-FFF2-40B4-BE49-F238E27FC236}">
                <a16:creationId xmlns:a16="http://schemas.microsoft.com/office/drawing/2014/main" id="{5C46C7A3-C949-61E8-A947-BF7E59CD91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LID4096"/>
          </a:p>
        </p:txBody>
      </p:sp>
      <p:sp>
        <p:nvSpPr>
          <p:cNvPr id="6" name="Slide Number Placeholder 5">
            <a:extLst>
              <a:ext uri="{FF2B5EF4-FFF2-40B4-BE49-F238E27FC236}">
                <a16:creationId xmlns:a16="http://schemas.microsoft.com/office/drawing/2014/main" id="{B4661E2F-B9DE-A2C3-9386-5BE1861F09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C189057-92C1-481C-81FE-C4EA53628E84}" type="slidenum">
              <a:rPr lang="LID4096" smtClean="0"/>
              <a:t>‹#›</a:t>
            </a:fld>
            <a:endParaRPr lang="LID4096"/>
          </a:p>
        </p:txBody>
      </p:sp>
    </p:spTree>
    <p:extLst>
      <p:ext uri="{BB962C8B-B14F-4D97-AF65-F5344CB8AC3E}">
        <p14:creationId xmlns:p14="http://schemas.microsoft.com/office/powerpoint/2010/main" val="22054290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E7014-7E77-FAB2-147A-179B69915113}"/>
              </a:ext>
            </a:extLst>
          </p:cNvPr>
          <p:cNvSpPr>
            <a:spLocks noGrp="1"/>
          </p:cNvSpPr>
          <p:nvPr>
            <p:ph type="title"/>
          </p:nvPr>
        </p:nvSpPr>
        <p:spPr/>
        <p:txBody>
          <a:bodyPr/>
          <a:lstStyle/>
          <a:p>
            <a:r>
              <a:rPr lang="en-GB"/>
              <a:t>Ganska tomt p</a:t>
            </a:r>
            <a:r>
              <a:rPr lang="sv-SE"/>
              <a:t>å övningstillfällena</a:t>
            </a:r>
            <a:endParaRPr lang="LID4096"/>
          </a:p>
        </p:txBody>
      </p:sp>
      <p:sp>
        <p:nvSpPr>
          <p:cNvPr id="3" name="Content Placeholder 2">
            <a:extLst>
              <a:ext uri="{FF2B5EF4-FFF2-40B4-BE49-F238E27FC236}">
                <a16:creationId xmlns:a16="http://schemas.microsoft.com/office/drawing/2014/main" id="{C629DF8B-ABCE-EAE3-05C2-356F805CDE35}"/>
              </a:ext>
            </a:extLst>
          </p:cNvPr>
          <p:cNvSpPr>
            <a:spLocks noGrp="1"/>
          </p:cNvSpPr>
          <p:nvPr>
            <p:ph idx="1"/>
          </p:nvPr>
        </p:nvSpPr>
        <p:spPr/>
        <p:txBody>
          <a:bodyPr/>
          <a:lstStyle/>
          <a:p>
            <a:endParaRPr lang="LID4096"/>
          </a:p>
        </p:txBody>
      </p:sp>
    </p:spTree>
    <p:extLst>
      <p:ext uri="{BB962C8B-B14F-4D97-AF65-F5344CB8AC3E}">
        <p14:creationId xmlns:p14="http://schemas.microsoft.com/office/powerpoint/2010/main" val="899190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452DF-D5C9-52BE-066B-17C7A4BFAA6E}"/>
              </a:ext>
            </a:extLst>
          </p:cNvPr>
          <p:cNvSpPr>
            <a:spLocks noGrp="1"/>
          </p:cNvSpPr>
          <p:nvPr>
            <p:ph type="ctrTitle"/>
          </p:nvPr>
        </p:nvSpPr>
        <p:spPr/>
        <p:txBody>
          <a:bodyPr/>
          <a:lstStyle/>
          <a:p>
            <a:r>
              <a:rPr lang="sv-SE"/>
              <a:t>Lektion 4</a:t>
            </a:r>
            <a:endParaRPr lang="LID4096"/>
          </a:p>
        </p:txBody>
      </p:sp>
      <p:sp>
        <p:nvSpPr>
          <p:cNvPr id="3" name="Subtitle 2">
            <a:extLst>
              <a:ext uri="{FF2B5EF4-FFF2-40B4-BE49-F238E27FC236}">
                <a16:creationId xmlns:a16="http://schemas.microsoft.com/office/drawing/2014/main" id="{BA50E2CB-296B-2D3A-2C5D-AF9D01690A6E}"/>
              </a:ext>
            </a:extLst>
          </p:cNvPr>
          <p:cNvSpPr>
            <a:spLocks noGrp="1"/>
          </p:cNvSpPr>
          <p:nvPr>
            <p:ph type="subTitle" idx="1"/>
          </p:nvPr>
        </p:nvSpPr>
        <p:spPr/>
        <p:txBody>
          <a:bodyPr/>
          <a:lstStyle/>
          <a:p>
            <a:r>
              <a:rPr lang="sv-SE"/>
              <a:t>Grunderna i GPIO och C</a:t>
            </a:r>
            <a:endParaRPr lang="LID4096"/>
          </a:p>
        </p:txBody>
      </p:sp>
    </p:spTree>
    <p:extLst>
      <p:ext uri="{BB962C8B-B14F-4D97-AF65-F5344CB8AC3E}">
        <p14:creationId xmlns:p14="http://schemas.microsoft.com/office/powerpoint/2010/main" val="3174365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56926-25D2-CA94-1911-038304542702}"/>
              </a:ext>
            </a:extLst>
          </p:cNvPr>
          <p:cNvSpPr>
            <a:spLocks noGrp="1"/>
          </p:cNvSpPr>
          <p:nvPr>
            <p:ph type="title"/>
          </p:nvPr>
        </p:nvSpPr>
        <p:spPr/>
        <p:txBody>
          <a:bodyPr/>
          <a:lstStyle/>
          <a:p>
            <a:r>
              <a:rPr lang="en-GB"/>
              <a:t>GPIO Portar och Pinnar</a:t>
            </a:r>
            <a:endParaRPr lang="LID4096"/>
          </a:p>
        </p:txBody>
      </p:sp>
      <p:pic>
        <p:nvPicPr>
          <p:cNvPr id="10" name="Picture 9" descr="A close-up of a circuit board&#10;&#10;AI-generated content may be incorrect.">
            <a:extLst>
              <a:ext uri="{FF2B5EF4-FFF2-40B4-BE49-F238E27FC236}">
                <a16:creationId xmlns:a16="http://schemas.microsoft.com/office/drawing/2014/main" id="{A47FD4F0-DA34-174D-1596-30C86938FB33}"/>
              </a:ext>
            </a:extLst>
          </p:cNvPr>
          <p:cNvPicPr>
            <a:picLocks noChangeAspect="1"/>
          </p:cNvPicPr>
          <p:nvPr/>
        </p:nvPicPr>
        <p:blipFill>
          <a:blip r:embed="rId3">
            <a:extLst>
              <a:ext uri="{BEBA8EAE-BF5A-486C-A8C5-ECC9F3942E4B}">
                <a14:imgProps xmlns:a14="http://schemas.microsoft.com/office/drawing/2010/main">
                  <a14:imgLayer r:embed="rId4">
                    <a14:imgEffect>
                      <a14:saturation sat="66000"/>
                    </a14:imgEffect>
                    <a14:imgEffect>
                      <a14:brightnessContrast bright="33000" contrast="-20000"/>
                    </a14:imgEffect>
                  </a14:imgLayer>
                </a14:imgProps>
              </a:ext>
              <a:ext uri="{28A0092B-C50C-407E-A947-70E740481C1C}">
                <a14:useLocalDpi xmlns:a14="http://schemas.microsoft.com/office/drawing/2010/main" val="0"/>
              </a:ext>
            </a:extLst>
          </a:blip>
          <a:stretch>
            <a:fillRect/>
          </a:stretch>
        </p:blipFill>
        <p:spPr>
          <a:xfrm>
            <a:off x="636110" y="2622741"/>
            <a:ext cx="5236475" cy="2633477"/>
          </a:xfrm>
          <a:prstGeom prst="rect">
            <a:avLst/>
          </a:prstGeom>
        </p:spPr>
      </p:pic>
      <p:sp>
        <p:nvSpPr>
          <p:cNvPr id="11" name="Right Brace 10">
            <a:extLst>
              <a:ext uri="{FF2B5EF4-FFF2-40B4-BE49-F238E27FC236}">
                <a16:creationId xmlns:a16="http://schemas.microsoft.com/office/drawing/2014/main" id="{2E12F608-1A45-5818-7C34-E33BEB3451A2}"/>
              </a:ext>
            </a:extLst>
          </p:cNvPr>
          <p:cNvSpPr/>
          <p:nvPr/>
        </p:nvSpPr>
        <p:spPr>
          <a:xfrm rot="5400000">
            <a:off x="1660325" y="4990919"/>
            <a:ext cx="78941" cy="776253"/>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LID4096"/>
          </a:p>
        </p:txBody>
      </p:sp>
      <p:sp>
        <p:nvSpPr>
          <p:cNvPr id="12" name="TextBox 11">
            <a:extLst>
              <a:ext uri="{FF2B5EF4-FFF2-40B4-BE49-F238E27FC236}">
                <a16:creationId xmlns:a16="http://schemas.microsoft.com/office/drawing/2014/main" id="{128516F0-4FEA-F9D3-D012-E134D0874E70}"/>
              </a:ext>
            </a:extLst>
          </p:cNvPr>
          <p:cNvSpPr txBox="1"/>
          <p:nvPr/>
        </p:nvSpPr>
        <p:spPr>
          <a:xfrm>
            <a:off x="1311669" y="5379045"/>
            <a:ext cx="795411" cy="246221"/>
          </a:xfrm>
          <a:prstGeom prst="rect">
            <a:avLst/>
          </a:prstGeom>
          <a:noFill/>
        </p:spPr>
        <p:txBody>
          <a:bodyPr wrap="none" rtlCol="0">
            <a:spAutoFit/>
          </a:bodyPr>
          <a:lstStyle/>
          <a:p>
            <a:r>
              <a:rPr lang="en-US" sz="1000" dirty="0"/>
              <a:t>Upper Byte</a:t>
            </a:r>
            <a:endParaRPr lang="LID4096" sz="1000" dirty="0"/>
          </a:p>
        </p:txBody>
      </p:sp>
      <p:sp>
        <p:nvSpPr>
          <p:cNvPr id="13" name="Right Brace 12">
            <a:extLst>
              <a:ext uri="{FF2B5EF4-FFF2-40B4-BE49-F238E27FC236}">
                <a16:creationId xmlns:a16="http://schemas.microsoft.com/office/drawing/2014/main" id="{83B46527-9A85-074E-B456-75AB70560DBF}"/>
              </a:ext>
            </a:extLst>
          </p:cNvPr>
          <p:cNvSpPr/>
          <p:nvPr/>
        </p:nvSpPr>
        <p:spPr>
          <a:xfrm rot="5400000">
            <a:off x="2746860" y="4990919"/>
            <a:ext cx="78941" cy="776253"/>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LID4096"/>
          </a:p>
        </p:txBody>
      </p:sp>
      <p:sp>
        <p:nvSpPr>
          <p:cNvPr id="14" name="TextBox 13">
            <a:extLst>
              <a:ext uri="{FF2B5EF4-FFF2-40B4-BE49-F238E27FC236}">
                <a16:creationId xmlns:a16="http://schemas.microsoft.com/office/drawing/2014/main" id="{C9C68180-F142-DC9A-7898-694EBAE4A902}"/>
              </a:ext>
            </a:extLst>
          </p:cNvPr>
          <p:cNvSpPr txBox="1"/>
          <p:nvPr/>
        </p:nvSpPr>
        <p:spPr>
          <a:xfrm>
            <a:off x="2398204" y="5379045"/>
            <a:ext cx="792205" cy="246221"/>
          </a:xfrm>
          <a:prstGeom prst="rect">
            <a:avLst/>
          </a:prstGeom>
          <a:noFill/>
        </p:spPr>
        <p:txBody>
          <a:bodyPr wrap="none" rtlCol="0">
            <a:spAutoFit/>
          </a:bodyPr>
          <a:lstStyle/>
          <a:p>
            <a:r>
              <a:rPr lang="en-US" sz="1000" dirty="0"/>
              <a:t>Lower Byte</a:t>
            </a:r>
            <a:endParaRPr lang="LID4096" sz="1000" dirty="0"/>
          </a:p>
        </p:txBody>
      </p:sp>
      <p:sp>
        <p:nvSpPr>
          <p:cNvPr id="15" name="Right Brace 14">
            <a:extLst>
              <a:ext uri="{FF2B5EF4-FFF2-40B4-BE49-F238E27FC236}">
                <a16:creationId xmlns:a16="http://schemas.microsoft.com/office/drawing/2014/main" id="{DD922F3D-8159-1942-3C38-34AE705BABEF}"/>
              </a:ext>
            </a:extLst>
          </p:cNvPr>
          <p:cNvSpPr/>
          <p:nvPr/>
        </p:nvSpPr>
        <p:spPr>
          <a:xfrm rot="5400000">
            <a:off x="2206935" y="4681263"/>
            <a:ext cx="78941" cy="1888005"/>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LID4096"/>
          </a:p>
        </p:txBody>
      </p:sp>
      <p:sp>
        <p:nvSpPr>
          <p:cNvPr id="16" name="TextBox 15">
            <a:extLst>
              <a:ext uri="{FF2B5EF4-FFF2-40B4-BE49-F238E27FC236}">
                <a16:creationId xmlns:a16="http://schemas.microsoft.com/office/drawing/2014/main" id="{5297A60E-0118-B25B-C8FA-6F9E743D459E}"/>
              </a:ext>
            </a:extLst>
          </p:cNvPr>
          <p:cNvSpPr txBox="1"/>
          <p:nvPr/>
        </p:nvSpPr>
        <p:spPr>
          <a:xfrm>
            <a:off x="1709374" y="5664736"/>
            <a:ext cx="1119730" cy="307777"/>
          </a:xfrm>
          <a:prstGeom prst="rect">
            <a:avLst/>
          </a:prstGeom>
          <a:noFill/>
        </p:spPr>
        <p:txBody>
          <a:bodyPr wrap="none" rtlCol="0">
            <a:spAutoFit/>
          </a:bodyPr>
          <a:lstStyle/>
          <a:p>
            <a:r>
              <a:rPr lang="en-US" sz="1400" b="1" dirty="0"/>
              <a:t>GPIO Port E</a:t>
            </a:r>
            <a:endParaRPr lang="LID4096" sz="1400" b="1" dirty="0"/>
          </a:p>
        </p:txBody>
      </p:sp>
      <p:sp>
        <p:nvSpPr>
          <p:cNvPr id="17" name="Right Brace 16">
            <a:extLst>
              <a:ext uri="{FF2B5EF4-FFF2-40B4-BE49-F238E27FC236}">
                <a16:creationId xmlns:a16="http://schemas.microsoft.com/office/drawing/2014/main" id="{97029201-BEBC-A3B7-1DFC-CFF9B31D7B7E}"/>
              </a:ext>
            </a:extLst>
          </p:cNvPr>
          <p:cNvSpPr/>
          <p:nvPr/>
        </p:nvSpPr>
        <p:spPr>
          <a:xfrm rot="5400000">
            <a:off x="3808467" y="4990919"/>
            <a:ext cx="78941" cy="776253"/>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LID4096"/>
          </a:p>
        </p:txBody>
      </p:sp>
      <p:sp>
        <p:nvSpPr>
          <p:cNvPr id="18" name="TextBox 17">
            <a:extLst>
              <a:ext uri="{FF2B5EF4-FFF2-40B4-BE49-F238E27FC236}">
                <a16:creationId xmlns:a16="http://schemas.microsoft.com/office/drawing/2014/main" id="{BB1E9A1D-FE7D-5909-98B1-76C3BEDB622E}"/>
              </a:ext>
            </a:extLst>
          </p:cNvPr>
          <p:cNvSpPr txBox="1"/>
          <p:nvPr/>
        </p:nvSpPr>
        <p:spPr>
          <a:xfrm>
            <a:off x="3459811" y="5379045"/>
            <a:ext cx="795411" cy="246221"/>
          </a:xfrm>
          <a:prstGeom prst="rect">
            <a:avLst/>
          </a:prstGeom>
          <a:noFill/>
        </p:spPr>
        <p:txBody>
          <a:bodyPr wrap="none" rtlCol="0">
            <a:spAutoFit/>
          </a:bodyPr>
          <a:lstStyle/>
          <a:p>
            <a:r>
              <a:rPr lang="en-US" sz="1000" dirty="0"/>
              <a:t>Upper Byte</a:t>
            </a:r>
            <a:endParaRPr lang="LID4096" sz="1000" dirty="0"/>
          </a:p>
        </p:txBody>
      </p:sp>
      <p:sp>
        <p:nvSpPr>
          <p:cNvPr id="19" name="Right Brace 18">
            <a:extLst>
              <a:ext uri="{FF2B5EF4-FFF2-40B4-BE49-F238E27FC236}">
                <a16:creationId xmlns:a16="http://schemas.microsoft.com/office/drawing/2014/main" id="{2261E428-38F7-61E8-A544-0C6248B57BEA}"/>
              </a:ext>
            </a:extLst>
          </p:cNvPr>
          <p:cNvSpPr/>
          <p:nvPr/>
        </p:nvSpPr>
        <p:spPr>
          <a:xfrm rot="5400000">
            <a:off x="4895002" y="4990919"/>
            <a:ext cx="78941" cy="776253"/>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LID4096"/>
          </a:p>
        </p:txBody>
      </p:sp>
      <p:sp>
        <p:nvSpPr>
          <p:cNvPr id="20" name="TextBox 19">
            <a:extLst>
              <a:ext uri="{FF2B5EF4-FFF2-40B4-BE49-F238E27FC236}">
                <a16:creationId xmlns:a16="http://schemas.microsoft.com/office/drawing/2014/main" id="{3EB9CCAA-E37F-AD21-7996-0A00E2D39B6F}"/>
              </a:ext>
            </a:extLst>
          </p:cNvPr>
          <p:cNvSpPr txBox="1"/>
          <p:nvPr/>
        </p:nvSpPr>
        <p:spPr>
          <a:xfrm>
            <a:off x="4546346" y="5379045"/>
            <a:ext cx="792205" cy="246221"/>
          </a:xfrm>
          <a:prstGeom prst="rect">
            <a:avLst/>
          </a:prstGeom>
          <a:noFill/>
        </p:spPr>
        <p:txBody>
          <a:bodyPr wrap="none" rtlCol="0">
            <a:spAutoFit/>
          </a:bodyPr>
          <a:lstStyle/>
          <a:p>
            <a:r>
              <a:rPr lang="en-US" sz="1000" dirty="0"/>
              <a:t>Lower Byte</a:t>
            </a:r>
            <a:endParaRPr lang="LID4096" sz="1000" dirty="0"/>
          </a:p>
        </p:txBody>
      </p:sp>
      <p:sp>
        <p:nvSpPr>
          <p:cNvPr id="21" name="Right Brace 20">
            <a:extLst>
              <a:ext uri="{FF2B5EF4-FFF2-40B4-BE49-F238E27FC236}">
                <a16:creationId xmlns:a16="http://schemas.microsoft.com/office/drawing/2014/main" id="{F4144B6F-ADFE-6F94-7312-D22FBEDD4A48}"/>
              </a:ext>
            </a:extLst>
          </p:cNvPr>
          <p:cNvSpPr/>
          <p:nvPr/>
        </p:nvSpPr>
        <p:spPr>
          <a:xfrm rot="5400000">
            <a:off x="4355077" y="4681263"/>
            <a:ext cx="78941" cy="1888005"/>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LID4096"/>
          </a:p>
        </p:txBody>
      </p:sp>
      <p:sp>
        <p:nvSpPr>
          <p:cNvPr id="22" name="TextBox 21">
            <a:extLst>
              <a:ext uri="{FF2B5EF4-FFF2-40B4-BE49-F238E27FC236}">
                <a16:creationId xmlns:a16="http://schemas.microsoft.com/office/drawing/2014/main" id="{F63A0610-C6B0-FB3F-8EFC-4EF938EDF12A}"/>
              </a:ext>
            </a:extLst>
          </p:cNvPr>
          <p:cNvSpPr txBox="1"/>
          <p:nvPr/>
        </p:nvSpPr>
        <p:spPr>
          <a:xfrm>
            <a:off x="3857516" y="5664736"/>
            <a:ext cx="1143775" cy="307777"/>
          </a:xfrm>
          <a:prstGeom prst="rect">
            <a:avLst/>
          </a:prstGeom>
          <a:noFill/>
        </p:spPr>
        <p:txBody>
          <a:bodyPr wrap="none" rtlCol="0">
            <a:spAutoFit/>
          </a:bodyPr>
          <a:lstStyle/>
          <a:p>
            <a:r>
              <a:rPr lang="en-US" sz="1400" b="1" dirty="0"/>
              <a:t>GPIO Port D</a:t>
            </a:r>
            <a:endParaRPr lang="LID4096" sz="1400" b="1" dirty="0"/>
          </a:p>
        </p:txBody>
      </p:sp>
      <p:sp>
        <p:nvSpPr>
          <p:cNvPr id="23" name="Right Brace 22">
            <a:extLst>
              <a:ext uri="{FF2B5EF4-FFF2-40B4-BE49-F238E27FC236}">
                <a16:creationId xmlns:a16="http://schemas.microsoft.com/office/drawing/2014/main" id="{C304A5ED-C72E-C30E-1744-9B80115AAFAD}"/>
              </a:ext>
            </a:extLst>
          </p:cNvPr>
          <p:cNvSpPr/>
          <p:nvPr/>
        </p:nvSpPr>
        <p:spPr>
          <a:xfrm rot="16200000">
            <a:off x="3807689" y="1169382"/>
            <a:ext cx="147597" cy="268018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LID4096"/>
          </a:p>
        </p:txBody>
      </p:sp>
      <p:sp>
        <p:nvSpPr>
          <p:cNvPr id="24" name="TextBox 23">
            <a:extLst>
              <a:ext uri="{FF2B5EF4-FFF2-40B4-BE49-F238E27FC236}">
                <a16:creationId xmlns:a16="http://schemas.microsoft.com/office/drawing/2014/main" id="{27736D1C-0498-5544-B100-CCA02515FD59}"/>
              </a:ext>
            </a:extLst>
          </p:cNvPr>
          <p:cNvSpPr txBox="1"/>
          <p:nvPr/>
        </p:nvSpPr>
        <p:spPr>
          <a:xfrm>
            <a:off x="2897511" y="2127896"/>
            <a:ext cx="1904945" cy="307777"/>
          </a:xfrm>
          <a:prstGeom prst="rect">
            <a:avLst/>
          </a:prstGeom>
          <a:noFill/>
        </p:spPr>
        <p:txBody>
          <a:bodyPr wrap="none" rtlCol="0">
            <a:spAutoFit/>
          </a:bodyPr>
          <a:lstStyle/>
          <a:p>
            <a:r>
              <a:rPr lang="en-US" sz="1400" b="1"/>
              <a:t>GPIO </a:t>
            </a:r>
            <a:r>
              <a:rPr lang="en-US" sz="1400" b="1" dirty="0"/>
              <a:t>Pins (</a:t>
            </a:r>
            <a:r>
              <a:rPr lang="en-US" sz="1400" b="1"/>
              <a:t>Ports A-C)</a:t>
            </a:r>
            <a:endParaRPr lang="LID4096" sz="1400" b="1" dirty="0"/>
          </a:p>
        </p:txBody>
      </p:sp>
      <p:sp>
        <p:nvSpPr>
          <p:cNvPr id="25" name="Oval 24">
            <a:extLst>
              <a:ext uri="{FF2B5EF4-FFF2-40B4-BE49-F238E27FC236}">
                <a16:creationId xmlns:a16="http://schemas.microsoft.com/office/drawing/2014/main" id="{DA35D152-0BEA-FEE2-6156-BDA4BC02DD14}"/>
              </a:ext>
            </a:extLst>
          </p:cNvPr>
          <p:cNvSpPr/>
          <p:nvPr/>
        </p:nvSpPr>
        <p:spPr>
          <a:xfrm>
            <a:off x="1541753" y="4882032"/>
            <a:ext cx="73025" cy="73025"/>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561197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32B62-8073-5984-4243-831CDA459072}"/>
              </a:ext>
            </a:extLst>
          </p:cNvPr>
          <p:cNvSpPr>
            <a:spLocks noGrp="1"/>
          </p:cNvSpPr>
          <p:nvPr>
            <p:ph type="title"/>
          </p:nvPr>
        </p:nvSpPr>
        <p:spPr/>
        <p:txBody>
          <a:bodyPr/>
          <a:lstStyle/>
          <a:p>
            <a:r>
              <a:rPr lang="sv-SE"/>
              <a:t>Tända en lampa med ett program (översikt)</a:t>
            </a:r>
            <a:endParaRPr lang="LID4096"/>
          </a:p>
        </p:txBody>
      </p:sp>
      <p:pic>
        <p:nvPicPr>
          <p:cNvPr id="4" name="Picture 3" descr="A close-up of a circuit board&#10;&#10;AI-generated content may be incorrect.">
            <a:extLst>
              <a:ext uri="{FF2B5EF4-FFF2-40B4-BE49-F238E27FC236}">
                <a16:creationId xmlns:a16="http://schemas.microsoft.com/office/drawing/2014/main" id="{285C539D-9778-498D-CC96-81F2275799E0}"/>
              </a:ext>
            </a:extLst>
          </p:cNvPr>
          <p:cNvPicPr>
            <a:picLocks noChangeAspect="1"/>
          </p:cNvPicPr>
          <p:nvPr/>
        </p:nvPicPr>
        <p:blipFill>
          <a:blip r:embed="rId2">
            <a:extLst>
              <a:ext uri="{BEBA8EAE-BF5A-486C-A8C5-ECC9F3942E4B}">
                <a14:imgProps xmlns:a14="http://schemas.microsoft.com/office/drawing/2010/main">
                  <a14:imgLayer r:embed="rId3">
                    <a14:imgEffect>
                      <a14:saturation sat="66000"/>
                    </a14:imgEffect>
                    <a14:imgEffect>
                      <a14:brightnessContrast bright="33000" contrast="-20000"/>
                    </a14:imgEffect>
                  </a14:imgLayer>
                </a14:imgProps>
              </a:ext>
              <a:ext uri="{28A0092B-C50C-407E-A947-70E740481C1C}">
                <a14:useLocalDpi xmlns:a14="http://schemas.microsoft.com/office/drawing/2010/main" val="0"/>
              </a:ext>
            </a:extLst>
          </a:blip>
          <a:stretch>
            <a:fillRect/>
          </a:stretch>
        </p:blipFill>
        <p:spPr>
          <a:xfrm>
            <a:off x="3477762" y="2631327"/>
            <a:ext cx="5236475" cy="2633477"/>
          </a:xfrm>
          <a:prstGeom prst="rect">
            <a:avLst/>
          </a:prstGeom>
        </p:spPr>
      </p:pic>
      <p:sp>
        <p:nvSpPr>
          <p:cNvPr id="5" name="Rectangle 4">
            <a:extLst>
              <a:ext uri="{FF2B5EF4-FFF2-40B4-BE49-F238E27FC236}">
                <a16:creationId xmlns:a16="http://schemas.microsoft.com/office/drawing/2014/main" id="{0C8235EE-22C6-3E34-B653-43F218D6F3FD}"/>
              </a:ext>
            </a:extLst>
          </p:cNvPr>
          <p:cNvSpPr/>
          <p:nvPr/>
        </p:nvSpPr>
        <p:spPr>
          <a:xfrm>
            <a:off x="6699168" y="3677243"/>
            <a:ext cx="802567" cy="82888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6" name="Straight Connector 5">
            <a:extLst>
              <a:ext uri="{FF2B5EF4-FFF2-40B4-BE49-F238E27FC236}">
                <a16:creationId xmlns:a16="http://schemas.microsoft.com/office/drawing/2014/main" id="{4F90D061-57F9-EC8F-5822-AD4A522F1586}"/>
              </a:ext>
            </a:extLst>
          </p:cNvPr>
          <p:cNvCxnSpPr>
            <a:cxnSpLocks/>
          </p:cNvCxnSpPr>
          <p:nvPr/>
        </p:nvCxnSpPr>
        <p:spPr>
          <a:xfrm flipH="1" flipV="1">
            <a:off x="3086637" y="2661634"/>
            <a:ext cx="3612531" cy="101560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5C8AF9D1-1035-4CFB-BE64-F473E13F0FB6}"/>
              </a:ext>
            </a:extLst>
          </p:cNvPr>
          <p:cNvCxnSpPr>
            <a:cxnSpLocks/>
          </p:cNvCxnSpPr>
          <p:nvPr/>
        </p:nvCxnSpPr>
        <p:spPr>
          <a:xfrm flipH="1">
            <a:off x="3078051" y="4506123"/>
            <a:ext cx="3621117" cy="71840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1" name="Group 10">
            <a:extLst>
              <a:ext uri="{FF2B5EF4-FFF2-40B4-BE49-F238E27FC236}">
                <a16:creationId xmlns:a16="http://schemas.microsoft.com/office/drawing/2014/main" id="{B015DCDE-50B5-886C-9DAB-27F2088CC968}"/>
              </a:ext>
            </a:extLst>
          </p:cNvPr>
          <p:cNvGrpSpPr/>
          <p:nvPr/>
        </p:nvGrpSpPr>
        <p:grpSpPr>
          <a:xfrm>
            <a:off x="472539" y="2701471"/>
            <a:ext cx="2583575" cy="2493188"/>
            <a:chOff x="1099221" y="2243241"/>
            <a:chExt cx="2583575" cy="2493188"/>
          </a:xfrm>
        </p:grpSpPr>
        <p:pic>
          <p:nvPicPr>
            <p:cNvPr id="12" name="Picture 11">
              <a:extLst>
                <a:ext uri="{FF2B5EF4-FFF2-40B4-BE49-F238E27FC236}">
                  <a16:creationId xmlns:a16="http://schemas.microsoft.com/office/drawing/2014/main" id="{60B4935C-ECEA-0E89-B072-A05A189F16B1}"/>
                </a:ext>
              </a:extLst>
            </p:cNvPr>
            <p:cNvPicPr>
              <a:picLocks noChangeAspect="1"/>
            </p:cNvPicPr>
            <p:nvPr/>
          </p:nvPicPr>
          <p:blipFill>
            <a:blip r:embed="rId4"/>
            <a:stretch>
              <a:fillRect/>
            </a:stretch>
          </p:blipFill>
          <p:spPr>
            <a:xfrm rot="10800000">
              <a:off x="1099221" y="2243241"/>
              <a:ext cx="2583575" cy="2493188"/>
            </a:xfrm>
            <a:prstGeom prst="rect">
              <a:avLst/>
            </a:prstGeom>
            <a:ln w="50800">
              <a:solidFill>
                <a:schemeClr val="tx1"/>
              </a:solidFill>
            </a:ln>
          </p:spPr>
        </p:pic>
        <p:sp>
          <p:nvSpPr>
            <p:cNvPr id="13" name="TextBox 12">
              <a:extLst>
                <a:ext uri="{FF2B5EF4-FFF2-40B4-BE49-F238E27FC236}">
                  <a16:creationId xmlns:a16="http://schemas.microsoft.com/office/drawing/2014/main" id="{BB0E9FF7-2586-E23C-F361-C5178D0785FE}"/>
                </a:ext>
              </a:extLst>
            </p:cNvPr>
            <p:cNvSpPr txBox="1"/>
            <p:nvPr/>
          </p:nvSpPr>
          <p:spPr>
            <a:xfrm>
              <a:off x="1545929" y="2644523"/>
              <a:ext cx="947292" cy="738664"/>
            </a:xfrm>
            <a:prstGeom prst="rect">
              <a:avLst/>
            </a:prstGeom>
            <a:solidFill>
              <a:schemeClr val="accent2">
                <a:lumMod val="40000"/>
                <a:lumOff val="60000"/>
              </a:schemeClr>
            </a:solidFill>
            <a:ln>
              <a:solidFill>
                <a:schemeClr val="accent2">
                  <a:lumMod val="75000"/>
                </a:schemeClr>
              </a:solidFill>
            </a:ln>
          </p:spPr>
          <p:txBody>
            <a:bodyPr wrap="square" rtlCol="0">
              <a:spAutoFit/>
            </a:bodyPr>
            <a:lstStyle/>
            <a:p>
              <a:pPr algn="ctr"/>
              <a:r>
                <a:rPr lang="en-US" sz="1000" dirty="0" err="1"/>
                <a:t>Qingke</a:t>
              </a:r>
              <a:r>
                <a:rPr lang="en-US" sz="1000" dirty="0"/>
                <a:t> V4</a:t>
              </a:r>
            </a:p>
            <a:p>
              <a:pPr algn="ctr"/>
              <a:r>
                <a:rPr lang="en-US" sz="1000" dirty="0"/>
                <a:t>RISCV</a:t>
              </a:r>
              <a:r>
                <a:rPr lang="en-US" sz="1600" dirty="0"/>
                <a:t> CPU</a:t>
              </a:r>
              <a:endParaRPr lang="LID4096" sz="1600" dirty="0"/>
            </a:p>
          </p:txBody>
        </p:sp>
        <p:sp>
          <p:nvSpPr>
            <p:cNvPr id="14" name="TextBox 13">
              <a:extLst>
                <a:ext uri="{FF2B5EF4-FFF2-40B4-BE49-F238E27FC236}">
                  <a16:creationId xmlns:a16="http://schemas.microsoft.com/office/drawing/2014/main" id="{257FB15D-058A-4FDA-898C-C484B62293FE}"/>
                </a:ext>
              </a:extLst>
            </p:cNvPr>
            <p:cNvSpPr txBox="1"/>
            <p:nvPr/>
          </p:nvSpPr>
          <p:spPr>
            <a:xfrm rot="16200000">
              <a:off x="2553523" y="3289780"/>
              <a:ext cx="947292" cy="400110"/>
            </a:xfrm>
            <a:prstGeom prst="rect">
              <a:avLst/>
            </a:prstGeom>
            <a:solidFill>
              <a:schemeClr val="tx2">
                <a:lumMod val="25000"/>
                <a:lumOff val="75000"/>
              </a:schemeClr>
            </a:solidFill>
            <a:ln>
              <a:solidFill>
                <a:schemeClr val="tx2">
                  <a:lumMod val="75000"/>
                  <a:lumOff val="25000"/>
                </a:schemeClr>
              </a:solidFill>
            </a:ln>
          </p:spPr>
          <p:txBody>
            <a:bodyPr wrap="square" rtlCol="0">
              <a:spAutoFit/>
            </a:bodyPr>
            <a:lstStyle/>
            <a:p>
              <a:pPr algn="ctr"/>
              <a:r>
                <a:rPr lang="en-US" sz="1000" dirty="0"/>
                <a:t>Memory</a:t>
              </a:r>
              <a:br>
                <a:rPr lang="en-US" sz="1000" dirty="0"/>
              </a:br>
              <a:r>
                <a:rPr lang="en-US" sz="1000" dirty="0"/>
                <a:t>Subsystem</a:t>
              </a:r>
            </a:p>
          </p:txBody>
        </p:sp>
        <p:sp>
          <p:nvSpPr>
            <p:cNvPr id="17" name="TextBox 16">
              <a:extLst>
                <a:ext uri="{FF2B5EF4-FFF2-40B4-BE49-F238E27FC236}">
                  <a16:creationId xmlns:a16="http://schemas.microsoft.com/office/drawing/2014/main" id="{6BA82C1D-3D10-2DF9-6D2C-6479CED1198C}"/>
                </a:ext>
              </a:extLst>
            </p:cNvPr>
            <p:cNvSpPr txBox="1"/>
            <p:nvPr/>
          </p:nvSpPr>
          <p:spPr>
            <a:xfrm>
              <a:off x="1820089" y="3869605"/>
              <a:ext cx="673132" cy="400110"/>
            </a:xfrm>
            <a:prstGeom prst="rect">
              <a:avLst/>
            </a:prstGeom>
            <a:solidFill>
              <a:schemeClr val="accent6">
                <a:lumMod val="40000"/>
                <a:lumOff val="60000"/>
              </a:schemeClr>
            </a:solidFill>
            <a:ln>
              <a:solidFill>
                <a:schemeClr val="accent6">
                  <a:lumMod val="75000"/>
                </a:schemeClr>
              </a:solidFill>
            </a:ln>
          </p:spPr>
          <p:txBody>
            <a:bodyPr wrap="square" rtlCol="0">
              <a:spAutoFit/>
            </a:bodyPr>
            <a:lstStyle/>
            <a:p>
              <a:pPr algn="ctr"/>
              <a:r>
                <a:rPr lang="en-US" sz="1000" dirty="0"/>
                <a:t>GPIO</a:t>
              </a:r>
              <a:br>
                <a:rPr lang="en-US" sz="1000" dirty="0"/>
              </a:br>
              <a:r>
                <a:rPr lang="en-US" sz="1000" dirty="0"/>
                <a:t>Module</a:t>
              </a:r>
              <a:endParaRPr lang="LID4096" sz="1600" dirty="0"/>
            </a:p>
          </p:txBody>
        </p:sp>
      </p:grpSp>
      <p:sp>
        <p:nvSpPr>
          <p:cNvPr id="18" name="Freeform: Shape 17">
            <a:extLst>
              <a:ext uri="{FF2B5EF4-FFF2-40B4-BE49-F238E27FC236}">
                <a16:creationId xmlns:a16="http://schemas.microsoft.com/office/drawing/2014/main" id="{A9556FBD-F0A9-C55D-BCF2-4C8E9D10AC5A}"/>
              </a:ext>
            </a:extLst>
          </p:cNvPr>
          <p:cNvSpPr/>
          <p:nvPr/>
        </p:nvSpPr>
        <p:spPr>
          <a:xfrm>
            <a:off x="9460748" y="4233557"/>
            <a:ext cx="733460" cy="302183"/>
          </a:xfrm>
          <a:custGeom>
            <a:avLst/>
            <a:gdLst>
              <a:gd name="connsiteX0" fmla="*/ 710328 w 710328"/>
              <a:gd name="connsiteY0" fmla="*/ 298259 h 302183"/>
              <a:gd name="connsiteX1" fmla="*/ 482709 w 710328"/>
              <a:gd name="connsiteY1" fmla="*/ 302183 h 302183"/>
              <a:gd name="connsiteX2" fmla="*/ 470935 w 710328"/>
              <a:gd name="connsiteY2" fmla="*/ 0 h 302183"/>
              <a:gd name="connsiteX3" fmla="*/ 0 w 710328"/>
              <a:gd name="connsiteY3" fmla="*/ 15697 h 302183"/>
            </a:gdLst>
            <a:ahLst/>
            <a:cxnLst>
              <a:cxn ang="0">
                <a:pos x="connsiteX0" y="connsiteY0"/>
              </a:cxn>
              <a:cxn ang="0">
                <a:pos x="connsiteX1" y="connsiteY1"/>
              </a:cxn>
              <a:cxn ang="0">
                <a:pos x="connsiteX2" y="connsiteY2"/>
              </a:cxn>
              <a:cxn ang="0">
                <a:pos x="connsiteX3" y="connsiteY3"/>
              </a:cxn>
            </a:cxnLst>
            <a:rect l="l" t="t" r="r" b="b"/>
            <a:pathLst>
              <a:path w="710328" h="302183">
                <a:moveTo>
                  <a:pt x="710328" y="298259"/>
                </a:moveTo>
                <a:lnTo>
                  <a:pt x="482709" y="302183"/>
                </a:lnTo>
                <a:lnTo>
                  <a:pt x="470935" y="0"/>
                </a:lnTo>
                <a:lnTo>
                  <a:pt x="0" y="15697"/>
                </a:lnTo>
              </a:path>
            </a:pathLst>
          </a:custGeom>
          <a:noFill/>
          <a:ln cap="rnd">
            <a:solidFill>
              <a:schemeClr val="bg1"/>
            </a:solidFill>
            <a:headEnd type="triangl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6" name="Rectangle 35">
            <a:extLst>
              <a:ext uri="{FF2B5EF4-FFF2-40B4-BE49-F238E27FC236}">
                <a16:creationId xmlns:a16="http://schemas.microsoft.com/office/drawing/2014/main" id="{69452943-32B2-3C67-9DC9-6319F757F56F}"/>
              </a:ext>
            </a:extLst>
          </p:cNvPr>
          <p:cNvSpPr/>
          <p:nvPr/>
        </p:nvSpPr>
        <p:spPr>
          <a:xfrm>
            <a:off x="7501735" y="4963643"/>
            <a:ext cx="70640" cy="86988"/>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7" name="Rectangle 36">
            <a:extLst>
              <a:ext uri="{FF2B5EF4-FFF2-40B4-BE49-F238E27FC236}">
                <a16:creationId xmlns:a16="http://schemas.microsoft.com/office/drawing/2014/main" id="{BE44135A-8F37-D70A-7F89-BA63CC5F57C0}"/>
              </a:ext>
            </a:extLst>
          </p:cNvPr>
          <p:cNvSpPr/>
          <p:nvPr/>
        </p:nvSpPr>
        <p:spPr>
          <a:xfrm>
            <a:off x="7618815" y="4847124"/>
            <a:ext cx="70640" cy="86988"/>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nvGrpSpPr>
          <p:cNvPr id="41" name="Group 40">
            <a:extLst>
              <a:ext uri="{FF2B5EF4-FFF2-40B4-BE49-F238E27FC236}">
                <a16:creationId xmlns:a16="http://schemas.microsoft.com/office/drawing/2014/main" id="{10F5BE30-6A60-C9B8-904E-FAD6C684A5E5}"/>
              </a:ext>
            </a:extLst>
          </p:cNvPr>
          <p:cNvGrpSpPr/>
          <p:nvPr/>
        </p:nvGrpSpPr>
        <p:grpSpPr>
          <a:xfrm>
            <a:off x="1044437" y="2007522"/>
            <a:ext cx="2202735" cy="905515"/>
            <a:chOff x="1044437" y="2007522"/>
            <a:chExt cx="2202735" cy="905515"/>
          </a:xfrm>
        </p:grpSpPr>
        <p:sp>
          <p:nvSpPr>
            <p:cNvPr id="39" name="TextBox 38">
              <a:extLst>
                <a:ext uri="{FF2B5EF4-FFF2-40B4-BE49-F238E27FC236}">
                  <a16:creationId xmlns:a16="http://schemas.microsoft.com/office/drawing/2014/main" id="{9BA61F4F-1197-90F5-3667-42F94A78252B}"/>
                </a:ext>
              </a:extLst>
            </p:cNvPr>
            <p:cNvSpPr txBox="1"/>
            <p:nvPr/>
          </p:nvSpPr>
          <p:spPr>
            <a:xfrm>
              <a:off x="1044437" y="2359039"/>
              <a:ext cx="2202735" cy="553998"/>
            </a:xfrm>
            <a:prstGeom prst="rect">
              <a:avLst/>
            </a:prstGeom>
            <a:solidFill>
              <a:schemeClr val="tx1">
                <a:lumMod val="75000"/>
                <a:lumOff val="25000"/>
              </a:schemeClr>
            </a:solidFill>
          </p:spPr>
          <p:txBody>
            <a:bodyPr wrap="square">
              <a:spAutoFit/>
            </a:bodyPr>
            <a:lstStyle/>
            <a:p>
              <a:pPr>
                <a:buNone/>
              </a:pPr>
              <a:r>
                <a:rPr lang="en-GB" sz="1000" b="0">
                  <a:solidFill>
                    <a:srgbClr val="DCDCAA"/>
                  </a:solidFill>
                  <a:effectLst/>
                  <a:latin typeface="Consolas" panose="020B0609020204030204" pitchFamily="49" charset="0"/>
                </a:rPr>
                <a:t>la</a:t>
              </a:r>
              <a:r>
                <a:rPr lang="en-GB" sz="1000" b="0">
                  <a:solidFill>
                    <a:srgbClr val="CCCCCC"/>
                  </a:solidFill>
                  <a:effectLst/>
                  <a:latin typeface="Consolas" panose="020B0609020204030204" pitchFamily="49" charset="0"/>
                </a:rPr>
                <a:t> </a:t>
              </a:r>
              <a:r>
                <a:rPr lang="en-GB" sz="1000" b="0">
                  <a:solidFill>
                    <a:srgbClr val="9CDCFE"/>
                  </a:solidFill>
                  <a:effectLst/>
                  <a:latin typeface="Consolas" panose="020B0609020204030204" pitchFamily="49" charset="0"/>
                </a:rPr>
                <a:t>t0</a:t>
              </a:r>
              <a:r>
                <a:rPr lang="en-GB" sz="1000" b="0">
                  <a:solidFill>
                    <a:srgbClr val="CCCCCC"/>
                  </a:solidFill>
                  <a:effectLst/>
                  <a:latin typeface="Consolas" panose="020B0609020204030204" pitchFamily="49" charset="0"/>
                </a:rPr>
                <a:t>, </a:t>
              </a:r>
              <a:r>
                <a:rPr lang="en-GB" sz="1000" b="0">
                  <a:solidFill>
                    <a:srgbClr val="B5CEA8"/>
                  </a:solidFill>
                  <a:effectLst/>
                  <a:latin typeface="Consolas" panose="020B0609020204030204" pitchFamily="49" charset="0"/>
                </a:rPr>
                <a:t>0x4001140C</a:t>
              </a:r>
              <a:endParaRPr lang="en-GB" sz="1000" b="0">
                <a:solidFill>
                  <a:srgbClr val="CCCCCC"/>
                </a:solidFill>
                <a:effectLst/>
                <a:latin typeface="Consolas" panose="020B0609020204030204" pitchFamily="49" charset="0"/>
              </a:endParaRPr>
            </a:p>
            <a:p>
              <a:pPr>
                <a:buNone/>
              </a:pPr>
              <a:r>
                <a:rPr lang="en-GB" sz="1000" b="0">
                  <a:solidFill>
                    <a:srgbClr val="DCDCAA"/>
                  </a:solidFill>
                  <a:effectLst/>
                  <a:latin typeface="Consolas" panose="020B0609020204030204" pitchFamily="49" charset="0"/>
                </a:rPr>
                <a:t>li</a:t>
              </a:r>
              <a:r>
                <a:rPr lang="en-GB" sz="1000" b="0">
                  <a:solidFill>
                    <a:srgbClr val="CCCCCC"/>
                  </a:solidFill>
                  <a:effectLst/>
                  <a:latin typeface="Consolas" panose="020B0609020204030204" pitchFamily="49" charset="0"/>
                </a:rPr>
                <a:t> </a:t>
              </a:r>
              <a:r>
                <a:rPr lang="en-GB" sz="1000" b="0">
                  <a:solidFill>
                    <a:srgbClr val="9CDCFE"/>
                  </a:solidFill>
                  <a:effectLst/>
                  <a:latin typeface="Consolas" panose="020B0609020204030204" pitchFamily="49" charset="0"/>
                </a:rPr>
                <a:t>t1</a:t>
              </a:r>
              <a:r>
                <a:rPr lang="en-GB" sz="1000" b="0">
                  <a:solidFill>
                    <a:srgbClr val="CCCCCC"/>
                  </a:solidFill>
                  <a:effectLst/>
                  <a:latin typeface="Consolas" panose="020B0609020204030204" pitchFamily="49" charset="0"/>
                </a:rPr>
                <a:t>, 0b100</a:t>
              </a:r>
            </a:p>
            <a:p>
              <a:pPr>
                <a:buNone/>
              </a:pPr>
              <a:r>
                <a:rPr lang="en-GB" sz="1000" b="0">
                  <a:solidFill>
                    <a:srgbClr val="DCDCAA"/>
                  </a:solidFill>
                  <a:effectLst/>
                  <a:latin typeface="Consolas" panose="020B0609020204030204" pitchFamily="49" charset="0"/>
                </a:rPr>
                <a:t>sw</a:t>
              </a:r>
              <a:r>
                <a:rPr lang="en-GB" sz="1000" b="0">
                  <a:solidFill>
                    <a:srgbClr val="CCCCCC"/>
                  </a:solidFill>
                  <a:effectLst/>
                  <a:latin typeface="Consolas" panose="020B0609020204030204" pitchFamily="49" charset="0"/>
                </a:rPr>
                <a:t>  </a:t>
              </a:r>
              <a:r>
                <a:rPr lang="en-GB" sz="1000" b="0">
                  <a:solidFill>
                    <a:srgbClr val="9CDCFE"/>
                  </a:solidFill>
                  <a:effectLst/>
                  <a:latin typeface="Consolas" panose="020B0609020204030204" pitchFamily="49" charset="0"/>
                </a:rPr>
                <a:t>t1</a:t>
              </a:r>
              <a:r>
                <a:rPr lang="en-GB" sz="1000" b="0">
                  <a:solidFill>
                    <a:srgbClr val="CCCCCC"/>
                  </a:solidFill>
                  <a:effectLst/>
                  <a:latin typeface="Consolas" panose="020B0609020204030204" pitchFamily="49" charset="0"/>
                </a:rPr>
                <a:t>,</a:t>
              </a:r>
              <a:r>
                <a:rPr lang="en-GB" sz="1000" b="0">
                  <a:solidFill>
                    <a:srgbClr val="B5CEA8"/>
                  </a:solidFill>
                  <a:effectLst/>
                  <a:latin typeface="Consolas" panose="020B0609020204030204" pitchFamily="49" charset="0"/>
                </a:rPr>
                <a:t>0</a:t>
              </a:r>
              <a:r>
                <a:rPr lang="en-GB" sz="1000" b="0">
                  <a:solidFill>
                    <a:srgbClr val="CCCCCC"/>
                  </a:solidFill>
                  <a:effectLst/>
                  <a:latin typeface="Consolas" panose="020B0609020204030204" pitchFamily="49" charset="0"/>
                </a:rPr>
                <a:t>(</a:t>
              </a:r>
              <a:r>
                <a:rPr lang="en-GB" sz="1000" b="0">
                  <a:solidFill>
                    <a:srgbClr val="9CDCFE"/>
                  </a:solidFill>
                  <a:effectLst/>
                  <a:latin typeface="Consolas" panose="020B0609020204030204" pitchFamily="49" charset="0"/>
                </a:rPr>
                <a:t>t0</a:t>
              </a:r>
              <a:r>
                <a:rPr lang="en-GB" sz="1000" b="0">
                  <a:solidFill>
                    <a:srgbClr val="CCCCCC"/>
                  </a:solidFill>
                  <a:effectLst/>
                  <a:latin typeface="Consolas" panose="020B0609020204030204" pitchFamily="49" charset="0"/>
                </a:rPr>
                <a:t>)</a:t>
              </a:r>
            </a:p>
          </p:txBody>
        </p:sp>
        <p:sp>
          <p:nvSpPr>
            <p:cNvPr id="40" name="TextBox 39">
              <a:extLst>
                <a:ext uri="{FF2B5EF4-FFF2-40B4-BE49-F238E27FC236}">
                  <a16:creationId xmlns:a16="http://schemas.microsoft.com/office/drawing/2014/main" id="{730547E4-BB88-3933-357F-8266CBEFC98B}"/>
                </a:ext>
              </a:extLst>
            </p:cNvPr>
            <p:cNvSpPr txBox="1"/>
            <p:nvPr/>
          </p:nvSpPr>
          <p:spPr>
            <a:xfrm>
              <a:off x="1044438" y="2007522"/>
              <a:ext cx="2202734" cy="369332"/>
            </a:xfrm>
            <a:prstGeom prst="rect">
              <a:avLst/>
            </a:prstGeom>
            <a:solidFill>
              <a:schemeClr val="bg1"/>
            </a:solidFill>
            <a:ln>
              <a:solidFill>
                <a:schemeClr val="accent1">
                  <a:shade val="15000"/>
                </a:schemeClr>
              </a:solidFill>
            </a:ln>
          </p:spPr>
          <p:txBody>
            <a:bodyPr wrap="none" rtlCol="0">
              <a:noAutofit/>
            </a:bodyPr>
            <a:lstStyle/>
            <a:p>
              <a:r>
                <a:rPr lang="en-GB"/>
                <a:t>CPU executes write</a:t>
              </a:r>
              <a:endParaRPr lang="LID4096"/>
            </a:p>
          </p:txBody>
        </p:sp>
      </p:grpSp>
      <p:grpSp>
        <p:nvGrpSpPr>
          <p:cNvPr id="45" name="Group 44">
            <a:extLst>
              <a:ext uri="{FF2B5EF4-FFF2-40B4-BE49-F238E27FC236}">
                <a16:creationId xmlns:a16="http://schemas.microsoft.com/office/drawing/2014/main" id="{C40960E9-179E-DD05-71BA-87374E9224B0}"/>
              </a:ext>
            </a:extLst>
          </p:cNvPr>
          <p:cNvGrpSpPr/>
          <p:nvPr/>
        </p:nvGrpSpPr>
        <p:grpSpPr>
          <a:xfrm>
            <a:off x="1852351" y="3250430"/>
            <a:ext cx="6110188" cy="436770"/>
            <a:chOff x="1852351" y="3250430"/>
            <a:chExt cx="6110188" cy="436770"/>
          </a:xfrm>
        </p:grpSpPr>
        <p:sp>
          <p:nvSpPr>
            <p:cNvPr id="42" name="Arrow: Right 41">
              <a:extLst>
                <a:ext uri="{FF2B5EF4-FFF2-40B4-BE49-F238E27FC236}">
                  <a16:creationId xmlns:a16="http://schemas.microsoft.com/office/drawing/2014/main" id="{2190B681-90FC-A9EF-3803-2E378C997E5E}"/>
                </a:ext>
              </a:extLst>
            </p:cNvPr>
            <p:cNvSpPr/>
            <p:nvPr/>
          </p:nvSpPr>
          <p:spPr>
            <a:xfrm rot="1531987">
              <a:off x="1852351" y="3422577"/>
              <a:ext cx="417531" cy="264623"/>
            </a:xfrm>
            <a:prstGeom prst="rightArrow">
              <a:avLst/>
            </a:prstGeom>
            <a:solidFill>
              <a:schemeClr val="tx1"/>
            </a:solidFill>
            <a:ln>
              <a:solidFill>
                <a:schemeClr val="accent6">
                  <a:lumMod val="60000"/>
                  <a:lumOff val="40000"/>
                </a:schemeClr>
              </a:solidFill>
            </a:ln>
            <a:effectLst>
              <a:glow rad="635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44" name="TextBox 43">
              <a:extLst>
                <a:ext uri="{FF2B5EF4-FFF2-40B4-BE49-F238E27FC236}">
                  <a16:creationId xmlns:a16="http://schemas.microsoft.com/office/drawing/2014/main" id="{ADE236A2-1D43-93CD-A2F5-FFA1F52288B4}"/>
                </a:ext>
              </a:extLst>
            </p:cNvPr>
            <p:cNvSpPr txBox="1"/>
            <p:nvPr/>
          </p:nvSpPr>
          <p:spPr>
            <a:xfrm>
              <a:off x="1866539" y="3250430"/>
              <a:ext cx="6096000" cy="215444"/>
            </a:xfrm>
            <a:prstGeom prst="rect">
              <a:avLst/>
            </a:prstGeom>
            <a:noFill/>
            <a:effectLst>
              <a:glow rad="63500">
                <a:schemeClr val="accent6">
                  <a:satMod val="175000"/>
                  <a:alpha val="40000"/>
                </a:schemeClr>
              </a:glow>
            </a:effectLst>
          </p:spPr>
          <p:txBody>
            <a:bodyPr wrap="square">
              <a:spAutoFit/>
            </a:bodyPr>
            <a:lstStyle/>
            <a:p>
              <a:r>
                <a:rPr lang="en-GB" sz="800" b="0">
                  <a:solidFill>
                    <a:schemeClr val="accent6">
                      <a:lumMod val="60000"/>
                      <a:lumOff val="40000"/>
                    </a:schemeClr>
                  </a:solidFill>
                  <a:effectLst/>
                  <a:latin typeface="Consolas" panose="020B0609020204030204" pitchFamily="49" charset="0"/>
                </a:rPr>
                <a:t>0b100 -&gt; 0x4001140C</a:t>
              </a:r>
              <a:endParaRPr lang="LID4096" sz="800">
                <a:solidFill>
                  <a:schemeClr val="accent6">
                    <a:lumMod val="60000"/>
                    <a:lumOff val="40000"/>
                  </a:schemeClr>
                </a:solidFill>
              </a:endParaRPr>
            </a:p>
          </p:txBody>
        </p:sp>
      </p:grpSp>
      <p:grpSp>
        <p:nvGrpSpPr>
          <p:cNvPr id="54" name="Group 53">
            <a:extLst>
              <a:ext uri="{FF2B5EF4-FFF2-40B4-BE49-F238E27FC236}">
                <a16:creationId xmlns:a16="http://schemas.microsoft.com/office/drawing/2014/main" id="{B68F06B4-9286-3D23-4A28-AF94A90EEDE5}"/>
              </a:ext>
            </a:extLst>
          </p:cNvPr>
          <p:cNvGrpSpPr/>
          <p:nvPr/>
        </p:nvGrpSpPr>
        <p:grpSpPr>
          <a:xfrm>
            <a:off x="1004451" y="3646639"/>
            <a:ext cx="6096000" cy="874528"/>
            <a:chOff x="1004451" y="3646639"/>
            <a:chExt cx="6096000" cy="874528"/>
          </a:xfrm>
        </p:grpSpPr>
        <p:sp>
          <p:nvSpPr>
            <p:cNvPr id="48" name="TextBox 47">
              <a:extLst>
                <a:ext uri="{FF2B5EF4-FFF2-40B4-BE49-F238E27FC236}">
                  <a16:creationId xmlns:a16="http://schemas.microsoft.com/office/drawing/2014/main" id="{327CA5D2-3569-A2B5-08BB-329164F8620B}"/>
                </a:ext>
              </a:extLst>
            </p:cNvPr>
            <p:cNvSpPr txBox="1"/>
            <p:nvPr/>
          </p:nvSpPr>
          <p:spPr>
            <a:xfrm>
              <a:off x="2537115" y="3646639"/>
              <a:ext cx="1266216" cy="759874"/>
            </a:xfrm>
            <a:prstGeom prst="rect">
              <a:avLst/>
            </a:prstGeom>
            <a:solidFill>
              <a:schemeClr val="bg1"/>
            </a:solidFill>
            <a:ln>
              <a:solidFill>
                <a:schemeClr val="accent1">
                  <a:shade val="15000"/>
                </a:schemeClr>
              </a:solidFill>
            </a:ln>
          </p:spPr>
          <p:txBody>
            <a:bodyPr wrap="none" rtlCol="0">
              <a:noAutofit/>
            </a:bodyPr>
            <a:lstStyle/>
            <a:p>
              <a:r>
                <a:rPr lang="en-GB" sz="1100"/>
                <a:t>Mem. Subsystem </a:t>
              </a:r>
              <a:br>
                <a:rPr lang="en-GB" sz="1100"/>
              </a:br>
              <a:r>
                <a:rPr lang="en-GB" sz="1100"/>
                <a:t>reroutes to GPIO </a:t>
              </a:r>
              <a:br>
                <a:rPr lang="en-GB" sz="1100"/>
              </a:br>
              <a:r>
                <a:rPr lang="en-GB" sz="1100"/>
                <a:t>module, based on </a:t>
              </a:r>
              <a:br>
                <a:rPr lang="en-GB" sz="1100"/>
              </a:br>
              <a:r>
                <a:rPr lang="en-GB" sz="1100"/>
                <a:t>address</a:t>
              </a:r>
              <a:endParaRPr lang="LID4096" sz="1100"/>
            </a:p>
          </p:txBody>
        </p:sp>
        <p:grpSp>
          <p:nvGrpSpPr>
            <p:cNvPr id="53" name="Group 52">
              <a:extLst>
                <a:ext uri="{FF2B5EF4-FFF2-40B4-BE49-F238E27FC236}">
                  <a16:creationId xmlns:a16="http://schemas.microsoft.com/office/drawing/2014/main" id="{FF40EE81-0A3D-7B8B-C972-BE574421C581}"/>
                </a:ext>
              </a:extLst>
            </p:cNvPr>
            <p:cNvGrpSpPr/>
            <p:nvPr/>
          </p:nvGrpSpPr>
          <p:grpSpPr>
            <a:xfrm>
              <a:off x="1004451" y="4013637"/>
              <a:ext cx="6096000" cy="507530"/>
              <a:chOff x="1004451" y="4013637"/>
              <a:chExt cx="6096000" cy="507530"/>
            </a:xfrm>
          </p:grpSpPr>
          <p:sp>
            <p:nvSpPr>
              <p:cNvPr id="51" name="TextBox 50">
                <a:extLst>
                  <a:ext uri="{FF2B5EF4-FFF2-40B4-BE49-F238E27FC236}">
                    <a16:creationId xmlns:a16="http://schemas.microsoft.com/office/drawing/2014/main" id="{CE8C4EEB-7D2D-F1C7-C7FA-9F2B3B28DC40}"/>
                  </a:ext>
                </a:extLst>
              </p:cNvPr>
              <p:cNvSpPr txBox="1"/>
              <p:nvPr/>
            </p:nvSpPr>
            <p:spPr>
              <a:xfrm>
                <a:off x="1004451" y="4013637"/>
                <a:ext cx="6096000" cy="215444"/>
              </a:xfrm>
              <a:prstGeom prst="rect">
                <a:avLst/>
              </a:prstGeom>
              <a:noFill/>
              <a:effectLst>
                <a:glow rad="63500">
                  <a:schemeClr val="accent6">
                    <a:satMod val="175000"/>
                    <a:alpha val="40000"/>
                  </a:schemeClr>
                </a:glow>
              </a:effectLst>
            </p:spPr>
            <p:txBody>
              <a:bodyPr wrap="square">
                <a:spAutoFit/>
              </a:bodyPr>
              <a:lstStyle/>
              <a:p>
                <a:r>
                  <a:rPr lang="en-GB" sz="800" b="0">
                    <a:solidFill>
                      <a:schemeClr val="accent6">
                        <a:lumMod val="60000"/>
                        <a:lumOff val="40000"/>
                      </a:schemeClr>
                    </a:solidFill>
                    <a:effectLst/>
                    <a:latin typeface="Consolas" panose="020B0609020204030204" pitchFamily="49" charset="0"/>
                  </a:rPr>
                  <a:t>0b100 -&gt; 0x4001140C</a:t>
                </a:r>
                <a:endParaRPr lang="LID4096" sz="800">
                  <a:solidFill>
                    <a:schemeClr val="accent6">
                      <a:lumMod val="60000"/>
                      <a:lumOff val="40000"/>
                    </a:schemeClr>
                  </a:solidFill>
                </a:endParaRPr>
              </a:p>
            </p:txBody>
          </p:sp>
          <p:sp>
            <p:nvSpPr>
              <p:cNvPr id="52" name="Arrow: Right 51">
                <a:extLst>
                  <a:ext uri="{FF2B5EF4-FFF2-40B4-BE49-F238E27FC236}">
                    <a16:creationId xmlns:a16="http://schemas.microsoft.com/office/drawing/2014/main" id="{F14DFE5F-1D53-E7BA-2EB2-2609F58D9D6C}"/>
                  </a:ext>
                </a:extLst>
              </p:cNvPr>
              <p:cNvSpPr/>
              <p:nvPr/>
            </p:nvSpPr>
            <p:spPr>
              <a:xfrm rot="8693901">
                <a:off x="1817987" y="4256544"/>
                <a:ext cx="417531" cy="264623"/>
              </a:xfrm>
              <a:prstGeom prst="rightArrow">
                <a:avLst/>
              </a:prstGeom>
              <a:solidFill>
                <a:schemeClr val="tx1"/>
              </a:solidFill>
              <a:ln>
                <a:solidFill>
                  <a:schemeClr val="accent6">
                    <a:lumMod val="60000"/>
                    <a:lumOff val="40000"/>
                  </a:schemeClr>
                </a:solidFill>
              </a:ln>
              <a:effectLst>
                <a:glow rad="635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grpSp>
      <p:sp>
        <p:nvSpPr>
          <p:cNvPr id="57" name="Freeform: Shape 56">
            <a:extLst>
              <a:ext uri="{FF2B5EF4-FFF2-40B4-BE49-F238E27FC236}">
                <a16:creationId xmlns:a16="http://schemas.microsoft.com/office/drawing/2014/main" id="{7A70E6D4-ABA0-C64A-7BF8-670718DE826E}"/>
              </a:ext>
            </a:extLst>
          </p:cNvPr>
          <p:cNvSpPr/>
          <p:nvPr/>
        </p:nvSpPr>
        <p:spPr>
          <a:xfrm>
            <a:off x="656823" y="4314423"/>
            <a:ext cx="540912" cy="201769"/>
          </a:xfrm>
          <a:custGeom>
            <a:avLst/>
            <a:gdLst>
              <a:gd name="csX0" fmla="*/ 540912 w 540912"/>
              <a:gd name="csY0" fmla="*/ 201769 h 201769"/>
              <a:gd name="csX1" fmla="*/ 369194 w 540912"/>
              <a:gd name="csY1" fmla="*/ 201769 h 201769"/>
              <a:gd name="csX2" fmla="*/ 369194 w 540912"/>
              <a:gd name="csY2" fmla="*/ 0 h 201769"/>
              <a:gd name="csX3" fmla="*/ 0 w 540912"/>
              <a:gd name="csY3" fmla="*/ 0 h 201769"/>
            </a:gdLst>
            <a:ahLst/>
            <a:cxnLst>
              <a:cxn ang="0">
                <a:pos x="csX0" y="csY0"/>
              </a:cxn>
              <a:cxn ang="0">
                <a:pos x="csX1" y="csY1"/>
              </a:cxn>
              <a:cxn ang="0">
                <a:pos x="csX2" y="csY2"/>
              </a:cxn>
              <a:cxn ang="0">
                <a:pos x="csX3" y="csY3"/>
              </a:cxn>
            </a:cxnLst>
            <a:rect l="l" t="t" r="r" b="b"/>
            <a:pathLst>
              <a:path w="540912" h="201769">
                <a:moveTo>
                  <a:pt x="540912" y="201769"/>
                </a:moveTo>
                <a:lnTo>
                  <a:pt x="369194" y="201769"/>
                </a:lnTo>
                <a:lnTo>
                  <a:pt x="369194" y="0"/>
                </a:lnTo>
                <a:lnTo>
                  <a:pt x="0" y="0"/>
                </a:lnTo>
              </a:path>
            </a:pathLst>
          </a:custGeom>
          <a:noFill/>
          <a:ln w="38100">
            <a:solidFill>
              <a:srgbClr val="92D050"/>
            </a:solidFill>
            <a:prstDash val="sysDot"/>
          </a:ln>
          <a:effectLst>
            <a:glow rad="1397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59" name="TextBox 58">
            <a:extLst>
              <a:ext uri="{FF2B5EF4-FFF2-40B4-BE49-F238E27FC236}">
                <a16:creationId xmlns:a16="http://schemas.microsoft.com/office/drawing/2014/main" id="{44C6EA39-DF86-AD70-FD46-9478E4F5F634}"/>
              </a:ext>
            </a:extLst>
          </p:cNvPr>
          <p:cNvSpPr txBox="1"/>
          <p:nvPr/>
        </p:nvSpPr>
        <p:spPr>
          <a:xfrm>
            <a:off x="946226" y="4774019"/>
            <a:ext cx="1266216" cy="759874"/>
          </a:xfrm>
          <a:prstGeom prst="rect">
            <a:avLst/>
          </a:prstGeom>
          <a:solidFill>
            <a:schemeClr val="bg1"/>
          </a:solidFill>
          <a:ln>
            <a:solidFill>
              <a:schemeClr val="accent1">
                <a:shade val="15000"/>
              </a:schemeClr>
            </a:solidFill>
          </a:ln>
        </p:spPr>
        <p:txBody>
          <a:bodyPr wrap="none" rtlCol="0">
            <a:noAutofit/>
          </a:bodyPr>
          <a:lstStyle/>
          <a:p>
            <a:r>
              <a:rPr lang="en-GB" sz="1100"/>
              <a:t>GPIO Module </a:t>
            </a:r>
            <a:br>
              <a:rPr lang="en-GB" sz="1100"/>
            </a:br>
            <a:r>
              <a:rPr lang="en-GB" sz="1100"/>
              <a:t>Knows that this </a:t>
            </a:r>
            <a:br>
              <a:rPr lang="en-GB" sz="1100"/>
            </a:br>
            <a:r>
              <a:rPr lang="en-GB" sz="1100"/>
              <a:t>write means “set</a:t>
            </a:r>
            <a:br>
              <a:rPr lang="en-GB" sz="1100"/>
            </a:br>
            <a:r>
              <a:rPr lang="en-GB" sz="1100"/>
              <a:t>a specific pin to 1”</a:t>
            </a:r>
            <a:endParaRPr lang="LID4096" sz="1100"/>
          </a:p>
        </p:txBody>
      </p:sp>
    </p:spTree>
    <p:extLst>
      <p:ext uri="{BB962C8B-B14F-4D97-AF65-F5344CB8AC3E}">
        <p14:creationId xmlns:p14="http://schemas.microsoft.com/office/powerpoint/2010/main" val="2890925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fade">
                                      <p:cBhvr>
                                        <p:cTn id="12" dur="500"/>
                                        <p:tgtEl>
                                          <p:spTgt spid="4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4"/>
                                        </p:tgtEl>
                                        <p:attrNameLst>
                                          <p:attrName>style.visibility</p:attrName>
                                        </p:attrNameLst>
                                      </p:cBhvr>
                                      <p:to>
                                        <p:strVal val="visible"/>
                                      </p:to>
                                    </p:set>
                                    <p:animEffect transition="in" filter="fade">
                                      <p:cBhvr>
                                        <p:cTn id="17" dur="500"/>
                                        <p:tgtEl>
                                          <p:spTgt spid="5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grpId="0" nodeType="clickEffect">
                                  <p:stCondLst>
                                    <p:cond delay="0"/>
                                  </p:stCondLst>
                                  <p:childTnLst>
                                    <p:set>
                                      <p:cBhvr>
                                        <p:cTn id="21" dur="1" fill="hold">
                                          <p:stCondLst>
                                            <p:cond delay="0"/>
                                          </p:stCondLst>
                                        </p:cTn>
                                        <p:tgtEl>
                                          <p:spTgt spid="57"/>
                                        </p:tgtEl>
                                        <p:attrNameLst>
                                          <p:attrName>style.visibility</p:attrName>
                                        </p:attrNameLst>
                                      </p:cBhvr>
                                      <p:to>
                                        <p:strVal val="visible"/>
                                      </p:to>
                                    </p:set>
                                    <p:animEffect transition="in" filter="wipe(right)">
                                      <p:cBhvr>
                                        <p:cTn id="22" dur="2000"/>
                                        <p:tgtEl>
                                          <p:spTgt spid="5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9"/>
                                        </p:tgtEl>
                                        <p:attrNameLst>
                                          <p:attrName>style.visibility</p:attrName>
                                        </p:attrNameLst>
                                      </p:cBhvr>
                                      <p:to>
                                        <p:strVal val="visible"/>
                                      </p:to>
                                    </p:set>
                                    <p:animEffect transition="in" filter="fade">
                                      <p:cBhvr>
                                        <p:cTn id="25"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F432E-4489-23B2-9668-75D303A749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5AB04A-6F8D-5E5F-9595-A0BCE1844A4F}"/>
              </a:ext>
            </a:extLst>
          </p:cNvPr>
          <p:cNvSpPr>
            <a:spLocks noGrp="1"/>
          </p:cNvSpPr>
          <p:nvPr>
            <p:ph type="title"/>
          </p:nvPr>
        </p:nvSpPr>
        <p:spPr/>
        <p:txBody>
          <a:bodyPr/>
          <a:lstStyle/>
          <a:p>
            <a:r>
              <a:rPr lang="sv-SE"/>
              <a:t>Tända en lampa med ett program (översikt)</a:t>
            </a:r>
            <a:endParaRPr lang="LID4096"/>
          </a:p>
        </p:txBody>
      </p:sp>
      <p:pic>
        <p:nvPicPr>
          <p:cNvPr id="4" name="Picture 3" descr="A close-up of a circuit board&#10;&#10;AI-generated content may be incorrect.">
            <a:extLst>
              <a:ext uri="{FF2B5EF4-FFF2-40B4-BE49-F238E27FC236}">
                <a16:creationId xmlns:a16="http://schemas.microsoft.com/office/drawing/2014/main" id="{073A3781-4D62-1F70-3F44-C0D54156C9A3}"/>
              </a:ext>
            </a:extLst>
          </p:cNvPr>
          <p:cNvPicPr>
            <a:picLocks noChangeAspect="1"/>
          </p:cNvPicPr>
          <p:nvPr/>
        </p:nvPicPr>
        <p:blipFill>
          <a:blip r:embed="rId2">
            <a:extLst>
              <a:ext uri="{BEBA8EAE-BF5A-486C-A8C5-ECC9F3942E4B}">
                <a14:imgProps xmlns:a14="http://schemas.microsoft.com/office/drawing/2010/main">
                  <a14:imgLayer r:embed="rId3">
                    <a14:imgEffect>
                      <a14:saturation sat="66000"/>
                    </a14:imgEffect>
                    <a14:imgEffect>
                      <a14:brightnessContrast bright="33000" contrast="-20000"/>
                    </a14:imgEffect>
                  </a14:imgLayer>
                </a14:imgProps>
              </a:ext>
              <a:ext uri="{28A0092B-C50C-407E-A947-70E740481C1C}">
                <a14:useLocalDpi xmlns:a14="http://schemas.microsoft.com/office/drawing/2010/main" val="0"/>
              </a:ext>
            </a:extLst>
          </a:blip>
          <a:stretch>
            <a:fillRect/>
          </a:stretch>
        </p:blipFill>
        <p:spPr>
          <a:xfrm>
            <a:off x="3477762" y="2631327"/>
            <a:ext cx="5236475" cy="2633477"/>
          </a:xfrm>
          <a:prstGeom prst="rect">
            <a:avLst/>
          </a:prstGeom>
        </p:spPr>
      </p:pic>
      <p:sp>
        <p:nvSpPr>
          <p:cNvPr id="5" name="Rectangle 4">
            <a:extLst>
              <a:ext uri="{FF2B5EF4-FFF2-40B4-BE49-F238E27FC236}">
                <a16:creationId xmlns:a16="http://schemas.microsoft.com/office/drawing/2014/main" id="{B797035B-F019-04C4-06CA-42F3018EA641}"/>
              </a:ext>
            </a:extLst>
          </p:cNvPr>
          <p:cNvSpPr/>
          <p:nvPr/>
        </p:nvSpPr>
        <p:spPr>
          <a:xfrm>
            <a:off x="6699168" y="3677243"/>
            <a:ext cx="802567" cy="82888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6" name="Straight Connector 5">
            <a:extLst>
              <a:ext uri="{FF2B5EF4-FFF2-40B4-BE49-F238E27FC236}">
                <a16:creationId xmlns:a16="http://schemas.microsoft.com/office/drawing/2014/main" id="{7B8C8269-BD73-2873-A439-FBF80BC68E2D}"/>
              </a:ext>
            </a:extLst>
          </p:cNvPr>
          <p:cNvCxnSpPr>
            <a:cxnSpLocks/>
          </p:cNvCxnSpPr>
          <p:nvPr/>
        </p:nvCxnSpPr>
        <p:spPr>
          <a:xfrm flipH="1" flipV="1">
            <a:off x="3086637" y="2661634"/>
            <a:ext cx="3612531" cy="101560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F08C659-3D4D-4039-0B2D-FD8F6D11ACC3}"/>
              </a:ext>
            </a:extLst>
          </p:cNvPr>
          <p:cNvCxnSpPr>
            <a:cxnSpLocks/>
          </p:cNvCxnSpPr>
          <p:nvPr/>
        </p:nvCxnSpPr>
        <p:spPr>
          <a:xfrm flipH="1">
            <a:off x="3078051" y="4506123"/>
            <a:ext cx="3621117" cy="71840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9" name="Freeform: Shape 8">
            <a:extLst>
              <a:ext uri="{FF2B5EF4-FFF2-40B4-BE49-F238E27FC236}">
                <a16:creationId xmlns:a16="http://schemas.microsoft.com/office/drawing/2014/main" id="{A6A4993F-C5C8-091B-BB93-89B723025A30}"/>
              </a:ext>
            </a:extLst>
          </p:cNvPr>
          <p:cNvSpPr/>
          <p:nvPr/>
        </p:nvSpPr>
        <p:spPr>
          <a:xfrm>
            <a:off x="4437380" y="4176243"/>
            <a:ext cx="2317750" cy="723900"/>
          </a:xfrm>
          <a:custGeom>
            <a:avLst/>
            <a:gdLst>
              <a:gd name="connsiteX0" fmla="*/ 2317750 w 2317750"/>
              <a:gd name="connsiteY0" fmla="*/ 0 h 723900"/>
              <a:gd name="connsiteX1" fmla="*/ 1022350 w 2317750"/>
              <a:gd name="connsiteY1" fmla="*/ 15875 h 723900"/>
              <a:gd name="connsiteX2" fmla="*/ 549275 w 2317750"/>
              <a:gd name="connsiteY2" fmla="*/ 482600 h 723900"/>
              <a:gd name="connsiteX3" fmla="*/ 228600 w 2317750"/>
              <a:gd name="connsiteY3" fmla="*/ 482600 h 723900"/>
              <a:gd name="connsiteX4" fmla="*/ 0 w 2317750"/>
              <a:gd name="connsiteY4" fmla="*/ 723900 h 7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7750" h="723900">
                <a:moveTo>
                  <a:pt x="2317750" y="0"/>
                </a:moveTo>
                <a:lnTo>
                  <a:pt x="1022350" y="15875"/>
                </a:lnTo>
                <a:lnTo>
                  <a:pt x="549275" y="482600"/>
                </a:lnTo>
                <a:lnTo>
                  <a:pt x="228600" y="482600"/>
                </a:lnTo>
                <a:lnTo>
                  <a:pt x="0" y="723900"/>
                </a:lnTo>
              </a:path>
            </a:pathLst>
          </a:custGeom>
          <a:noFill/>
          <a:ln>
            <a:solidFill>
              <a:schemeClr val="accent6">
                <a:lumMod val="60000"/>
                <a:lumOff val="40000"/>
              </a:schemeClr>
            </a:solidFill>
            <a:prstDash val="sysDash"/>
          </a:ln>
          <a:effectLst>
            <a:glow rad="1397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0" name="Oval 9">
            <a:extLst>
              <a:ext uri="{FF2B5EF4-FFF2-40B4-BE49-F238E27FC236}">
                <a16:creationId xmlns:a16="http://schemas.microsoft.com/office/drawing/2014/main" id="{EDB893CA-B95B-8DE9-344B-C4720C1F260F}"/>
              </a:ext>
            </a:extLst>
          </p:cNvPr>
          <p:cNvSpPr/>
          <p:nvPr/>
        </p:nvSpPr>
        <p:spPr>
          <a:xfrm>
            <a:off x="4364355" y="4919483"/>
            <a:ext cx="73025" cy="73025"/>
          </a:xfrm>
          <a:prstGeom prst="ellipse">
            <a:avLst/>
          </a:prstGeom>
          <a:noFill/>
          <a:ln>
            <a:solidFill>
              <a:schemeClr val="accent6">
                <a:lumMod val="60000"/>
                <a:lumOff val="40000"/>
              </a:schemeClr>
            </a:solidFill>
          </a:ln>
          <a:effectLst>
            <a:glow rad="1397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nvGrpSpPr>
          <p:cNvPr id="11" name="Group 10">
            <a:extLst>
              <a:ext uri="{FF2B5EF4-FFF2-40B4-BE49-F238E27FC236}">
                <a16:creationId xmlns:a16="http://schemas.microsoft.com/office/drawing/2014/main" id="{3ED206A5-DE57-BD4F-0E41-EA9B9349108E}"/>
              </a:ext>
            </a:extLst>
          </p:cNvPr>
          <p:cNvGrpSpPr/>
          <p:nvPr/>
        </p:nvGrpSpPr>
        <p:grpSpPr>
          <a:xfrm>
            <a:off x="472539" y="2701471"/>
            <a:ext cx="2583575" cy="2493188"/>
            <a:chOff x="1099221" y="2243241"/>
            <a:chExt cx="2583575" cy="2493188"/>
          </a:xfrm>
        </p:grpSpPr>
        <p:pic>
          <p:nvPicPr>
            <p:cNvPr id="12" name="Picture 11">
              <a:extLst>
                <a:ext uri="{FF2B5EF4-FFF2-40B4-BE49-F238E27FC236}">
                  <a16:creationId xmlns:a16="http://schemas.microsoft.com/office/drawing/2014/main" id="{CC18421D-E8AF-9350-2BF6-E87E87D1055B}"/>
                </a:ext>
              </a:extLst>
            </p:cNvPr>
            <p:cNvPicPr>
              <a:picLocks noChangeAspect="1"/>
            </p:cNvPicPr>
            <p:nvPr/>
          </p:nvPicPr>
          <p:blipFill>
            <a:blip r:embed="rId4"/>
            <a:stretch>
              <a:fillRect/>
            </a:stretch>
          </p:blipFill>
          <p:spPr>
            <a:xfrm rot="10800000">
              <a:off x="1099221" y="2243241"/>
              <a:ext cx="2583575" cy="2493188"/>
            </a:xfrm>
            <a:prstGeom prst="rect">
              <a:avLst/>
            </a:prstGeom>
            <a:ln w="50800">
              <a:solidFill>
                <a:schemeClr val="tx1"/>
              </a:solidFill>
            </a:ln>
          </p:spPr>
        </p:pic>
        <p:sp>
          <p:nvSpPr>
            <p:cNvPr id="13" name="TextBox 12">
              <a:extLst>
                <a:ext uri="{FF2B5EF4-FFF2-40B4-BE49-F238E27FC236}">
                  <a16:creationId xmlns:a16="http://schemas.microsoft.com/office/drawing/2014/main" id="{FA4C1432-E14A-370F-7840-1C52D404C766}"/>
                </a:ext>
              </a:extLst>
            </p:cNvPr>
            <p:cNvSpPr txBox="1"/>
            <p:nvPr/>
          </p:nvSpPr>
          <p:spPr>
            <a:xfrm>
              <a:off x="1545929" y="2644523"/>
              <a:ext cx="947292" cy="738664"/>
            </a:xfrm>
            <a:prstGeom prst="rect">
              <a:avLst/>
            </a:prstGeom>
            <a:solidFill>
              <a:schemeClr val="accent2">
                <a:lumMod val="40000"/>
                <a:lumOff val="60000"/>
              </a:schemeClr>
            </a:solidFill>
            <a:ln>
              <a:solidFill>
                <a:schemeClr val="accent2">
                  <a:lumMod val="75000"/>
                </a:schemeClr>
              </a:solidFill>
            </a:ln>
          </p:spPr>
          <p:txBody>
            <a:bodyPr wrap="square" rtlCol="0">
              <a:spAutoFit/>
            </a:bodyPr>
            <a:lstStyle/>
            <a:p>
              <a:pPr algn="ctr"/>
              <a:r>
                <a:rPr lang="en-US" sz="1000" dirty="0" err="1"/>
                <a:t>Qingke</a:t>
              </a:r>
              <a:r>
                <a:rPr lang="en-US" sz="1000" dirty="0"/>
                <a:t> V4</a:t>
              </a:r>
            </a:p>
            <a:p>
              <a:pPr algn="ctr"/>
              <a:r>
                <a:rPr lang="en-US" sz="1000" dirty="0"/>
                <a:t>RISCV</a:t>
              </a:r>
              <a:r>
                <a:rPr lang="en-US" sz="1600" dirty="0"/>
                <a:t> CPU</a:t>
              </a:r>
              <a:endParaRPr lang="LID4096" sz="1600" dirty="0"/>
            </a:p>
          </p:txBody>
        </p:sp>
        <p:sp>
          <p:nvSpPr>
            <p:cNvPr id="14" name="TextBox 13">
              <a:extLst>
                <a:ext uri="{FF2B5EF4-FFF2-40B4-BE49-F238E27FC236}">
                  <a16:creationId xmlns:a16="http://schemas.microsoft.com/office/drawing/2014/main" id="{1417CBC5-713A-721A-4A70-E6893C0AEE9A}"/>
                </a:ext>
              </a:extLst>
            </p:cNvPr>
            <p:cNvSpPr txBox="1"/>
            <p:nvPr/>
          </p:nvSpPr>
          <p:spPr>
            <a:xfrm rot="16200000">
              <a:off x="2553523" y="3289780"/>
              <a:ext cx="947292" cy="400110"/>
            </a:xfrm>
            <a:prstGeom prst="rect">
              <a:avLst/>
            </a:prstGeom>
            <a:solidFill>
              <a:schemeClr val="tx2">
                <a:lumMod val="25000"/>
                <a:lumOff val="75000"/>
              </a:schemeClr>
            </a:solidFill>
            <a:ln>
              <a:solidFill>
                <a:schemeClr val="tx2">
                  <a:lumMod val="75000"/>
                  <a:lumOff val="25000"/>
                </a:schemeClr>
              </a:solidFill>
            </a:ln>
          </p:spPr>
          <p:txBody>
            <a:bodyPr wrap="square" rtlCol="0">
              <a:spAutoFit/>
            </a:bodyPr>
            <a:lstStyle/>
            <a:p>
              <a:pPr algn="ctr"/>
              <a:r>
                <a:rPr lang="en-US" sz="1000" dirty="0"/>
                <a:t>Memory</a:t>
              </a:r>
              <a:br>
                <a:rPr lang="en-US" sz="1000" dirty="0"/>
              </a:br>
              <a:r>
                <a:rPr lang="en-US" sz="1000" dirty="0"/>
                <a:t>Subsystem</a:t>
              </a:r>
            </a:p>
          </p:txBody>
        </p:sp>
        <p:sp>
          <p:nvSpPr>
            <p:cNvPr id="17" name="TextBox 16">
              <a:extLst>
                <a:ext uri="{FF2B5EF4-FFF2-40B4-BE49-F238E27FC236}">
                  <a16:creationId xmlns:a16="http://schemas.microsoft.com/office/drawing/2014/main" id="{4462DD8A-71C7-0D27-9EB7-934F2EF3BCB8}"/>
                </a:ext>
              </a:extLst>
            </p:cNvPr>
            <p:cNvSpPr txBox="1"/>
            <p:nvPr/>
          </p:nvSpPr>
          <p:spPr>
            <a:xfrm>
              <a:off x="1820089" y="3869605"/>
              <a:ext cx="673132" cy="400110"/>
            </a:xfrm>
            <a:prstGeom prst="rect">
              <a:avLst/>
            </a:prstGeom>
            <a:solidFill>
              <a:schemeClr val="accent6">
                <a:lumMod val="40000"/>
                <a:lumOff val="60000"/>
              </a:schemeClr>
            </a:solidFill>
            <a:ln>
              <a:solidFill>
                <a:schemeClr val="accent6">
                  <a:lumMod val="75000"/>
                </a:schemeClr>
              </a:solidFill>
            </a:ln>
          </p:spPr>
          <p:txBody>
            <a:bodyPr wrap="square" rtlCol="0">
              <a:spAutoFit/>
            </a:bodyPr>
            <a:lstStyle/>
            <a:p>
              <a:pPr algn="ctr"/>
              <a:r>
                <a:rPr lang="en-US" sz="1000" dirty="0"/>
                <a:t>GPIO</a:t>
              </a:r>
              <a:br>
                <a:rPr lang="en-US" sz="1000" dirty="0"/>
              </a:br>
              <a:r>
                <a:rPr lang="en-US" sz="1000" dirty="0"/>
                <a:t>Module</a:t>
              </a:r>
              <a:endParaRPr lang="LID4096" sz="1600" dirty="0"/>
            </a:p>
          </p:txBody>
        </p:sp>
      </p:grpSp>
      <p:sp>
        <p:nvSpPr>
          <p:cNvPr id="18" name="Freeform: Shape 17">
            <a:extLst>
              <a:ext uri="{FF2B5EF4-FFF2-40B4-BE49-F238E27FC236}">
                <a16:creationId xmlns:a16="http://schemas.microsoft.com/office/drawing/2014/main" id="{20ECE0C8-BFC3-2857-5CAD-F7630EEE2CC5}"/>
              </a:ext>
            </a:extLst>
          </p:cNvPr>
          <p:cNvSpPr/>
          <p:nvPr/>
        </p:nvSpPr>
        <p:spPr>
          <a:xfrm>
            <a:off x="9460748" y="4233557"/>
            <a:ext cx="733460" cy="302183"/>
          </a:xfrm>
          <a:custGeom>
            <a:avLst/>
            <a:gdLst>
              <a:gd name="connsiteX0" fmla="*/ 710328 w 710328"/>
              <a:gd name="connsiteY0" fmla="*/ 298259 h 302183"/>
              <a:gd name="connsiteX1" fmla="*/ 482709 w 710328"/>
              <a:gd name="connsiteY1" fmla="*/ 302183 h 302183"/>
              <a:gd name="connsiteX2" fmla="*/ 470935 w 710328"/>
              <a:gd name="connsiteY2" fmla="*/ 0 h 302183"/>
              <a:gd name="connsiteX3" fmla="*/ 0 w 710328"/>
              <a:gd name="connsiteY3" fmla="*/ 15697 h 302183"/>
            </a:gdLst>
            <a:ahLst/>
            <a:cxnLst>
              <a:cxn ang="0">
                <a:pos x="connsiteX0" y="connsiteY0"/>
              </a:cxn>
              <a:cxn ang="0">
                <a:pos x="connsiteX1" y="connsiteY1"/>
              </a:cxn>
              <a:cxn ang="0">
                <a:pos x="connsiteX2" y="connsiteY2"/>
              </a:cxn>
              <a:cxn ang="0">
                <a:pos x="connsiteX3" y="connsiteY3"/>
              </a:cxn>
            </a:cxnLst>
            <a:rect l="l" t="t" r="r" b="b"/>
            <a:pathLst>
              <a:path w="710328" h="302183">
                <a:moveTo>
                  <a:pt x="710328" y="298259"/>
                </a:moveTo>
                <a:lnTo>
                  <a:pt x="482709" y="302183"/>
                </a:lnTo>
                <a:lnTo>
                  <a:pt x="470935" y="0"/>
                </a:lnTo>
                <a:lnTo>
                  <a:pt x="0" y="15697"/>
                </a:lnTo>
              </a:path>
            </a:pathLst>
          </a:custGeom>
          <a:noFill/>
          <a:ln cap="rnd">
            <a:solidFill>
              <a:schemeClr val="bg1"/>
            </a:solidFill>
            <a:headEnd type="triangl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nvGrpSpPr>
          <p:cNvPr id="41" name="Group 40">
            <a:extLst>
              <a:ext uri="{FF2B5EF4-FFF2-40B4-BE49-F238E27FC236}">
                <a16:creationId xmlns:a16="http://schemas.microsoft.com/office/drawing/2014/main" id="{40BCE409-1AC8-FAD2-B51D-ABD5FC6D4FCA}"/>
              </a:ext>
            </a:extLst>
          </p:cNvPr>
          <p:cNvGrpSpPr/>
          <p:nvPr/>
        </p:nvGrpSpPr>
        <p:grpSpPr>
          <a:xfrm>
            <a:off x="1044437" y="2007522"/>
            <a:ext cx="2202735" cy="905515"/>
            <a:chOff x="1044437" y="2007522"/>
            <a:chExt cx="2202735" cy="905515"/>
          </a:xfrm>
        </p:grpSpPr>
        <p:sp>
          <p:nvSpPr>
            <p:cNvPr id="39" name="TextBox 38">
              <a:extLst>
                <a:ext uri="{FF2B5EF4-FFF2-40B4-BE49-F238E27FC236}">
                  <a16:creationId xmlns:a16="http://schemas.microsoft.com/office/drawing/2014/main" id="{09A27349-7512-FDAD-EE80-E5D442987322}"/>
                </a:ext>
              </a:extLst>
            </p:cNvPr>
            <p:cNvSpPr txBox="1"/>
            <p:nvPr/>
          </p:nvSpPr>
          <p:spPr>
            <a:xfrm>
              <a:off x="1044437" y="2359039"/>
              <a:ext cx="2202735" cy="553998"/>
            </a:xfrm>
            <a:prstGeom prst="rect">
              <a:avLst/>
            </a:prstGeom>
            <a:solidFill>
              <a:schemeClr val="tx1">
                <a:lumMod val="75000"/>
                <a:lumOff val="25000"/>
              </a:schemeClr>
            </a:solidFill>
          </p:spPr>
          <p:txBody>
            <a:bodyPr wrap="square">
              <a:spAutoFit/>
            </a:bodyPr>
            <a:lstStyle/>
            <a:p>
              <a:pPr>
                <a:buNone/>
              </a:pPr>
              <a:r>
                <a:rPr lang="en-GB" sz="1000" b="0">
                  <a:solidFill>
                    <a:srgbClr val="DCDCAA"/>
                  </a:solidFill>
                  <a:effectLst/>
                  <a:latin typeface="Consolas" panose="020B0609020204030204" pitchFamily="49" charset="0"/>
                </a:rPr>
                <a:t>li</a:t>
              </a:r>
              <a:r>
                <a:rPr lang="en-GB" sz="1000" b="0">
                  <a:solidFill>
                    <a:srgbClr val="CCCCCC"/>
                  </a:solidFill>
                  <a:effectLst/>
                  <a:latin typeface="Consolas" panose="020B0609020204030204" pitchFamily="49" charset="0"/>
                </a:rPr>
                <a:t> </a:t>
              </a:r>
              <a:r>
                <a:rPr lang="en-GB" sz="1000" b="0">
                  <a:solidFill>
                    <a:srgbClr val="9CDCFE"/>
                  </a:solidFill>
                  <a:effectLst/>
                  <a:latin typeface="Consolas" panose="020B0609020204030204" pitchFamily="49" charset="0"/>
                </a:rPr>
                <a:t>t0</a:t>
              </a:r>
              <a:r>
                <a:rPr lang="en-GB" sz="1000" b="0">
                  <a:solidFill>
                    <a:srgbClr val="CCCCCC"/>
                  </a:solidFill>
                  <a:effectLst/>
                  <a:latin typeface="Consolas" panose="020B0609020204030204" pitchFamily="49" charset="0"/>
                </a:rPr>
                <a:t>, </a:t>
              </a:r>
              <a:r>
                <a:rPr lang="en-GB" sz="1000" b="0">
                  <a:solidFill>
                    <a:srgbClr val="B5CEA8"/>
                  </a:solidFill>
                  <a:effectLst/>
                  <a:latin typeface="Consolas" panose="020B0609020204030204" pitchFamily="49" charset="0"/>
                </a:rPr>
                <a:t>0x4001140C</a:t>
              </a:r>
              <a:endParaRPr lang="en-GB" sz="1000" b="0">
                <a:solidFill>
                  <a:srgbClr val="CCCCCC"/>
                </a:solidFill>
                <a:effectLst/>
                <a:latin typeface="Consolas" panose="020B0609020204030204" pitchFamily="49" charset="0"/>
              </a:endParaRPr>
            </a:p>
            <a:p>
              <a:pPr>
                <a:buNone/>
              </a:pPr>
              <a:r>
                <a:rPr lang="en-GB" sz="1000" b="0">
                  <a:solidFill>
                    <a:srgbClr val="DCDCAA"/>
                  </a:solidFill>
                  <a:effectLst/>
                  <a:latin typeface="Consolas" panose="020B0609020204030204" pitchFamily="49" charset="0"/>
                </a:rPr>
                <a:t>li</a:t>
              </a:r>
              <a:r>
                <a:rPr lang="en-GB" sz="1000" b="0">
                  <a:solidFill>
                    <a:srgbClr val="CCCCCC"/>
                  </a:solidFill>
                  <a:effectLst/>
                  <a:latin typeface="Consolas" panose="020B0609020204030204" pitchFamily="49" charset="0"/>
                </a:rPr>
                <a:t> </a:t>
              </a:r>
              <a:r>
                <a:rPr lang="en-GB" sz="1000" b="0">
                  <a:solidFill>
                    <a:srgbClr val="9CDCFE"/>
                  </a:solidFill>
                  <a:effectLst/>
                  <a:latin typeface="Consolas" panose="020B0609020204030204" pitchFamily="49" charset="0"/>
                </a:rPr>
                <a:t>t1</a:t>
              </a:r>
              <a:r>
                <a:rPr lang="en-GB" sz="1000" b="0">
                  <a:solidFill>
                    <a:srgbClr val="CCCCCC"/>
                  </a:solidFill>
                  <a:effectLst/>
                  <a:latin typeface="Consolas" panose="020B0609020204030204" pitchFamily="49" charset="0"/>
                </a:rPr>
                <a:t>, 0b100</a:t>
              </a:r>
            </a:p>
            <a:p>
              <a:pPr>
                <a:buNone/>
              </a:pPr>
              <a:r>
                <a:rPr lang="en-GB" sz="1000" b="0">
                  <a:solidFill>
                    <a:srgbClr val="DCDCAA"/>
                  </a:solidFill>
                  <a:effectLst/>
                  <a:latin typeface="Consolas" panose="020B0609020204030204" pitchFamily="49" charset="0"/>
                </a:rPr>
                <a:t>sw</a:t>
              </a:r>
              <a:r>
                <a:rPr lang="en-GB" sz="1000" b="0">
                  <a:solidFill>
                    <a:srgbClr val="CCCCCC"/>
                  </a:solidFill>
                  <a:effectLst/>
                  <a:latin typeface="Consolas" panose="020B0609020204030204" pitchFamily="49" charset="0"/>
                </a:rPr>
                <a:t>  </a:t>
              </a:r>
              <a:r>
                <a:rPr lang="en-GB" sz="1000" b="0">
                  <a:solidFill>
                    <a:srgbClr val="9CDCFE"/>
                  </a:solidFill>
                  <a:effectLst/>
                  <a:latin typeface="Consolas" panose="020B0609020204030204" pitchFamily="49" charset="0"/>
                </a:rPr>
                <a:t>t1</a:t>
              </a:r>
              <a:r>
                <a:rPr lang="en-GB" sz="1000" b="0">
                  <a:solidFill>
                    <a:srgbClr val="CCCCCC"/>
                  </a:solidFill>
                  <a:effectLst/>
                  <a:latin typeface="Consolas" panose="020B0609020204030204" pitchFamily="49" charset="0"/>
                </a:rPr>
                <a:t>,</a:t>
              </a:r>
              <a:r>
                <a:rPr lang="en-GB" sz="1000" b="0">
                  <a:solidFill>
                    <a:srgbClr val="B5CEA8"/>
                  </a:solidFill>
                  <a:effectLst/>
                  <a:latin typeface="Consolas" panose="020B0609020204030204" pitchFamily="49" charset="0"/>
                </a:rPr>
                <a:t>0</a:t>
              </a:r>
              <a:r>
                <a:rPr lang="en-GB" sz="1000" b="0">
                  <a:solidFill>
                    <a:srgbClr val="CCCCCC"/>
                  </a:solidFill>
                  <a:effectLst/>
                  <a:latin typeface="Consolas" panose="020B0609020204030204" pitchFamily="49" charset="0"/>
                </a:rPr>
                <a:t>(</a:t>
              </a:r>
              <a:r>
                <a:rPr lang="en-GB" sz="1000" b="0">
                  <a:solidFill>
                    <a:srgbClr val="9CDCFE"/>
                  </a:solidFill>
                  <a:effectLst/>
                  <a:latin typeface="Consolas" panose="020B0609020204030204" pitchFamily="49" charset="0"/>
                </a:rPr>
                <a:t>t0</a:t>
              </a:r>
              <a:r>
                <a:rPr lang="en-GB" sz="1000" b="0">
                  <a:solidFill>
                    <a:srgbClr val="CCCCCC"/>
                  </a:solidFill>
                  <a:effectLst/>
                  <a:latin typeface="Consolas" panose="020B0609020204030204" pitchFamily="49" charset="0"/>
                </a:rPr>
                <a:t>)</a:t>
              </a:r>
            </a:p>
          </p:txBody>
        </p:sp>
        <p:sp>
          <p:nvSpPr>
            <p:cNvPr id="40" name="TextBox 39">
              <a:extLst>
                <a:ext uri="{FF2B5EF4-FFF2-40B4-BE49-F238E27FC236}">
                  <a16:creationId xmlns:a16="http://schemas.microsoft.com/office/drawing/2014/main" id="{50C1FE45-2FB1-F95D-4114-D83FEA85776A}"/>
                </a:ext>
              </a:extLst>
            </p:cNvPr>
            <p:cNvSpPr txBox="1"/>
            <p:nvPr/>
          </p:nvSpPr>
          <p:spPr>
            <a:xfrm>
              <a:off x="1044438" y="2007522"/>
              <a:ext cx="2202734" cy="369332"/>
            </a:xfrm>
            <a:prstGeom prst="rect">
              <a:avLst/>
            </a:prstGeom>
            <a:solidFill>
              <a:schemeClr val="bg1"/>
            </a:solidFill>
            <a:ln>
              <a:solidFill>
                <a:schemeClr val="accent1">
                  <a:shade val="15000"/>
                </a:schemeClr>
              </a:solidFill>
            </a:ln>
          </p:spPr>
          <p:txBody>
            <a:bodyPr wrap="none" rtlCol="0">
              <a:noAutofit/>
            </a:bodyPr>
            <a:lstStyle/>
            <a:p>
              <a:r>
                <a:rPr lang="en-GB"/>
                <a:t>CPU executes write</a:t>
              </a:r>
              <a:endParaRPr lang="LID4096"/>
            </a:p>
          </p:txBody>
        </p:sp>
      </p:grpSp>
      <p:sp>
        <p:nvSpPr>
          <p:cNvPr id="57" name="Freeform: Shape 56">
            <a:extLst>
              <a:ext uri="{FF2B5EF4-FFF2-40B4-BE49-F238E27FC236}">
                <a16:creationId xmlns:a16="http://schemas.microsoft.com/office/drawing/2014/main" id="{69FBDBCC-68C7-C214-40CF-F5710711CF63}"/>
              </a:ext>
            </a:extLst>
          </p:cNvPr>
          <p:cNvSpPr/>
          <p:nvPr/>
        </p:nvSpPr>
        <p:spPr>
          <a:xfrm>
            <a:off x="656823" y="4314423"/>
            <a:ext cx="540912" cy="201769"/>
          </a:xfrm>
          <a:custGeom>
            <a:avLst/>
            <a:gdLst>
              <a:gd name="csX0" fmla="*/ 540912 w 540912"/>
              <a:gd name="csY0" fmla="*/ 201769 h 201769"/>
              <a:gd name="csX1" fmla="*/ 369194 w 540912"/>
              <a:gd name="csY1" fmla="*/ 201769 h 201769"/>
              <a:gd name="csX2" fmla="*/ 369194 w 540912"/>
              <a:gd name="csY2" fmla="*/ 0 h 201769"/>
              <a:gd name="csX3" fmla="*/ 0 w 540912"/>
              <a:gd name="csY3" fmla="*/ 0 h 201769"/>
            </a:gdLst>
            <a:ahLst/>
            <a:cxnLst>
              <a:cxn ang="0">
                <a:pos x="csX0" y="csY0"/>
              </a:cxn>
              <a:cxn ang="0">
                <a:pos x="csX1" y="csY1"/>
              </a:cxn>
              <a:cxn ang="0">
                <a:pos x="csX2" y="csY2"/>
              </a:cxn>
              <a:cxn ang="0">
                <a:pos x="csX3" y="csY3"/>
              </a:cxn>
            </a:cxnLst>
            <a:rect l="l" t="t" r="r" b="b"/>
            <a:pathLst>
              <a:path w="540912" h="201769">
                <a:moveTo>
                  <a:pt x="540912" y="201769"/>
                </a:moveTo>
                <a:lnTo>
                  <a:pt x="369194" y="201769"/>
                </a:lnTo>
                <a:lnTo>
                  <a:pt x="369194" y="0"/>
                </a:lnTo>
                <a:lnTo>
                  <a:pt x="0" y="0"/>
                </a:lnTo>
              </a:path>
            </a:pathLst>
          </a:custGeom>
          <a:noFill/>
          <a:ln w="38100">
            <a:solidFill>
              <a:srgbClr val="92D050"/>
            </a:solidFill>
            <a:prstDash val="sysDot"/>
          </a:ln>
          <a:effectLst>
            <a:glow rad="1397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 name="Rectangle 2">
            <a:extLst>
              <a:ext uri="{FF2B5EF4-FFF2-40B4-BE49-F238E27FC236}">
                <a16:creationId xmlns:a16="http://schemas.microsoft.com/office/drawing/2014/main" id="{EFF9D127-DB65-54C7-1654-592432DA622C}"/>
              </a:ext>
            </a:extLst>
          </p:cNvPr>
          <p:cNvSpPr/>
          <p:nvPr/>
        </p:nvSpPr>
        <p:spPr>
          <a:xfrm>
            <a:off x="4270539" y="5006572"/>
            <a:ext cx="70640" cy="86988"/>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8" name="TextBox 7">
            <a:extLst>
              <a:ext uri="{FF2B5EF4-FFF2-40B4-BE49-F238E27FC236}">
                <a16:creationId xmlns:a16="http://schemas.microsoft.com/office/drawing/2014/main" id="{85909655-A358-235A-8F1C-1DCA7DB2C60D}"/>
              </a:ext>
            </a:extLst>
          </p:cNvPr>
          <p:cNvSpPr txBox="1"/>
          <p:nvPr/>
        </p:nvSpPr>
        <p:spPr>
          <a:xfrm>
            <a:off x="4150899" y="3232645"/>
            <a:ext cx="1833484" cy="759874"/>
          </a:xfrm>
          <a:prstGeom prst="rect">
            <a:avLst/>
          </a:prstGeom>
          <a:solidFill>
            <a:schemeClr val="bg1"/>
          </a:solidFill>
          <a:ln>
            <a:solidFill>
              <a:schemeClr val="accent1">
                <a:shade val="15000"/>
              </a:schemeClr>
            </a:solidFill>
          </a:ln>
        </p:spPr>
        <p:txBody>
          <a:bodyPr wrap="none" rtlCol="0">
            <a:noAutofit/>
          </a:bodyPr>
          <a:lstStyle/>
          <a:p>
            <a:r>
              <a:rPr lang="en-GB" sz="1100"/>
              <a:t>Pin on MCU is connected on</a:t>
            </a:r>
            <a:br>
              <a:rPr lang="en-GB" sz="1100"/>
            </a:br>
            <a:r>
              <a:rPr lang="en-GB" sz="1100"/>
              <a:t>the PCB with a physical pin.</a:t>
            </a:r>
            <a:br>
              <a:rPr lang="en-GB" sz="1100"/>
            </a:br>
            <a:r>
              <a:rPr lang="en-GB" sz="1100"/>
              <a:t>That pin now has voltage </a:t>
            </a:r>
            <a:br>
              <a:rPr lang="en-GB" sz="1100"/>
            </a:br>
            <a:r>
              <a:rPr lang="en-GB" sz="1100"/>
              <a:t>3.2V</a:t>
            </a:r>
            <a:br>
              <a:rPr lang="en-GB" sz="1100"/>
            </a:br>
            <a:endParaRPr lang="LID4096" sz="1100"/>
          </a:p>
        </p:txBody>
      </p:sp>
      <p:sp>
        <p:nvSpPr>
          <p:cNvPr id="15" name="TextBox 14">
            <a:extLst>
              <a:ext uri="{FF2B5EF4-FFF2-40B4-BE49-F238E27FC236}">
                <a16:creationId xmlns:a16="http://schemas.microsoft.com/office/drawing/2014/main" id="{50CC6186-B3FE-3C58-640A-B855313E28C9}"/>
              </a:ext>
            </a:extLst>
          </p:cNvPr>
          <p:cNvSpPr txBox="1"/>
          <p:nvPr/>
        </p:nvSpPr>
        <p:spPr>
          <a:xfrm>
            <a:off x="4075864" y="4613992"/>
            <a:ext cx="492443" cy="261610"/>
          </a:xfrm>
          <a:prstGeom prst="rect">
            <a:avLst/>
          </a:prstGeom>
          <a:noFill/>
        </p:spPr>
        <p:txBody>
          <a:bodyPr wrap="none" rtlCol="0">
            <a:spAutoFit/>
          </a:bodyPr>
          <a:lstStyle/>
          <a:p>
            <a:r>
              <a:rPr lang="en-GB" sz="1100" b="1">
                <a:solidFill>
                  <a:schemeClr val="accent6">
                    <a:lumMod val="60000"/>
                    <a:lumOff val="40000"/>
                  </a:schemeClr>
                </a:solidFill>
                <a:latin typeface="Consolas" panose="020B0609020204030204" pitchFamily="49" charset="0"/>
              </a:rPr>
              <a:t>3.2V</a:t>
            </a:r>
            <a:endParaRPr lang="LID4096" sz="1100" b="1">
              <a:solidFill>
                <a:schemeClr val="accent6">
                  <a:lumMod val="60000"/>
                  <a:lumOff val="40000"/>
                </a:schemeClr>
              </a:solidFill>
              <a:latin typeface="Consolas" panose="020B0609020204030204" pitchFamily="49" charset="0"/>
            </a:endParaRPr>
          </a:p>
        </p:txBody>
      </p:sp>
    </p:spTree>
    <p:extLst>
      <p:ext uri="{BB962C8B-B14F-4D97-AF65-F5344CB8AC3E}">
        <p14:creationId xmlns:p14="http://schemas.microsoft.com/office/powerpoint/2010/main" val="3840121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right)">
                                      <p:cBhvr>
                                        <p:cTn id="7" dur="20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par>
                          <p:cTn id="11" fill="hold">
                            <p:stCondLst>
                              <p:cond delay="2000"/>
                            </p:stCondLst>
                            <p:childTnLst>
                              <p:par>
                                <p:cTn id="12" presetID="10" presetClass="entr" presetSubtype="0" fill="hold" grpId="0" nodeType="after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500"/>
                                        <p:tgtEl>
                                          <p:spTgt spid="1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8" grpId="0" animBg="1"/>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1AC15-82E9-F112-4362-D1C5D021D7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D26827-51D4-BDFC-56AE-8B356ED3D8F0}"/>
              </a:ext>
            </a:extLst>
          </p:cNvPr>
          <p:cNvSpPr>
            <a:spLocks noGrp="1"/>
          </p:cNvSpPr>
          <p:nvPr>
            <p:ph type="title"/>
          </p:nvPr>
        </p:nvSpPr>
        <p:spPr/>
        <p:txBody>
          <a:bodyPr/>
          <a:lstStyle/>
          <a:p>
            <a:r>
              <a:rPr lang="sv-SE"/>
              <a:t>Tända en lampa med ett program (översikt)</a:t>
            </a:r>
            <a:endParaRPr lang="LID4096"/>
          </a:p>
        </p:txBody>
      </p:sp>
      <p:pic>
        <p:nvPicPr>
          <p:cNvPr id="4" name="Picture 3" descr="A close-up of a circuit board&#10;&#10;AI-generated content may be incorrect.">
            <a:extLst>
              <a:ext uri="{FF2B5EF4-FFF2-40B4-BE49-F238E27FC236}">
                <a16:creationId xmlns:a16="http://schemas.microsoft.com/office/drawing/2014/main" id="{896C7563-8DD6-DB07-24FE-5A2346BAEC93}"/>
              </a:ext>
            </a:extLst>
          </p:cNvPr>
          <p:cNvPicPr>
            <a:picLocks noChangeAspect="1"/>
          </p:cNvPicPr>
          <p:nvPr/>
        </p:nvPicPr>
        <p:blipFill>
          <a:blip r:embed="rId3">
            <a:extLst>
              <a:ext uri="{BEBA8EAE-BF5A-486C-A8C5-ECC9F3942E4B}">
                <a14:imgProps xmlns:a14="http://schemas.microsoft.com/office/drawing/2010/main">
                  <a14:imgLayer r:embed="rId4">
                    <a14:imgEffect>
                      <a14:saturation sat="66000"/>
                    </a14:imgEffect>
                    <a14:imgEffect>
                      <a14:brightnessContrast bright="33000" contrast="-20000"/>
                    </a14:imgEffect>
                  </a14:imgLayer>
                </a14:imgProps>
              </a:ext>
              <a:ext uri="{28A0092B-C50C-407E-A947-70E740481C1C}">
                <a14:useLocalDpi xmlns:a14="http://schemas.microsoft.com/office/drawing/2010/main" val="0"/>
              </a:ext>
            </a:extLst>
          </a:blip>
          <a:stretch>
            <a:fillRect/>
          </a:stretch>
        </p:blipFill>
        <p:spPr>
          <a:xfrm>
            <a:off x="3477762" y="2631327"/>
            <a:ext cx="5236475" cy="2633477"/>
          </a:xfrm>
          <a:prstGeom prst="rect">
            <a:avLst/>
          </a:prstGeom>
        </p:spPr>
      </p:pic>
      <p:sp>
        <p:nvSpPr>
          <p:cNvPr id="5" name="Rectangle 4">
            <a:extLst>
              <a:ext uri="{FF2B5EF4-FFF2-40B4-BE49-F238E27FC236}">
                <a16:creationId xmlns:a16="http://schemas.microsoft.com/office/drawing/2014/main" id="{C0B7D173-555B-C9C3-1805-B2A5C4D036FD}"/>
              </a:ext>
            </a:extLst>
          </p:cNvPr>
          <p:cNvSpPr/>
          <p:nvPr/>
        </p:nvSpPr>
        <p:spPr>
          <a:xfrm>
            <a:off x="6699168" y="3677243"/>
            <a:ext cx="802567" cy="82888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6" name="Straight Connector 5">
            <a:extLst>
              <a:ext uri="{FF2B5EF4-FFF2-40B4-BE49-F238E27FC236}">
                <a16:creationId xmlns:a16="http://schemas.microsoft.com/office/drawing/2014/main" id="{380962B1-BE24-4025-8A02-3D6863348F96}"/>
              </a:ext>
            </a:extLst>
          </p:cNvPr>
          <p:cNvCxnSpPr>
            <a:cxnSpLocks/>
          </p:cNvCxnSpPr>
          <p:nvPr/>
        </p:nvCxnSpPr>
        <p:spPr>
          <a:xfrm flipH="1" flipV="1">
            <a:off x="3086637" y="2661634"/>
            <a:ext cx="3612531" cy="101560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F1DAD063-C304-E1F2-A9CB-240FC4A5D017}"/>
              </a:ext>
            </a:extLst>
          </p:cNvPr>
          <p:cNvCxnSpPr>
            <a:cxnSpLocks/>
          </p:cNvCxnSpPr>
          <p:nvPr/>
        </p:nvCxnSpPr>
        <p:spPr>
          <a:xfrm flipH="1">
            <a:off x="3078051" y="4506123"/>
            <a:ext cx="3621117" cy="71840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9" name="Freeform: Shape 8">
            <a:extLst>
              <a:ext uri="{FF2B5EF4-FFF2-40B4-BE49-F238E27FC236}">
                <a16:creationId xmlns:a16="http://schemas.microsoft.com/office/drawing/2014/main" id="{7457C94D-BB19-8D6A-0196-613E5A094FE0}"/>
              </a:ext>
            </a:extLst>
          </p:cNvPr>
          <p:cNvSpPr/>
          <p:nvPr/>
        </p:nvSpPr>
        <p:spPr>
          <a:xfrm>
            <a:off x="4437380" y="4176243"/>
            <a:ext cx="2317750" cy="723900"/>
          </a:xfrm>
          <a:custGeom>
            <a:avLst/>
            <a:gdLst>
              <a:gd name="connsiteX0" fmla="*/ 2317750 w 2317750"/>
              <a:gd name="connsiteY0" fmla="*/ 0 h 723900"/>
              <a:gd name="connsiteX1" fmla="*/ 1022350 w 2317750"/>
              <a:gd name="connsiteY1" fmla="*/ 15875 h 723900"/>
              <a:gd name="connsiteX2" fmla="*/ 549275 w 2317750"/>
              <a:gd name="connsiteY2" fmla="*/ 482600 h 723900"/>
              <a:gd name="connsiteX3" fmla="*/ 228600 w 2317750"/>
              <a:gd name="connsiteY3" fmla="*/ 482600 h 723900"/>
              <a:gd name="connsiteX4" fmla="*/ 0 w 2317750"/>
              <a:gd name="connsiteY4" fmla="*/ 723900 h 7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7750" h="723900">
                <a:moveTo>
                  <a:pt x="2317750" y="0"/>
                </a:moveTo>
                <a:lnTo>
                  <a:pt x="1022350" y="15875"/>
                </a:lnTo>
                <a:lnTo>
                  <a:pt x="549275" y="482600"/>
                </a:lnTo>
                <a:lnTo>
                  <a:pt x="228600" y="482600"/>
                </a:lnTo>
                <a:lnTo>
                  <a:pt x="0" y="723900"/>
                </a:lnTo>
              </a:path>
            </a:pathLst>
          </a:custGeom>
          <a:noFill/>
          <a:ln>
            <a:solidFill>
              <a:schemeClr val="accent6">
                <a:lumMod val="60000"/>
                <a:lumOff val="40000"/>
              </a:schemeClr>
            </a:solidFill>
            <a:prstDash val="sysDash"/>
          </a:ln>
          <a:effectLst>
            <a:glow rad="1397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nvGrpSpPr>
          <p:cNvPr id="11" name="Group 10">
            <a:extLst>
              <a:ext uri="{FF2B5EF4-FFF2-40B4-BE49-F238E27FC236}">
                <a16:creationId xmlns:a16="http://schemas.microsoft.com/office/drawing/2014/main" id="{BE85D3F5-4544-4AB7-0B8C-CC763AB41ADB}"/>
              </a:ext>
            </a:extLst>
          </p:cNvPr>
          <p:cNvGrpSpPr/>
          <p:nvPr/>
        </p:nvGrpSpPr>
        <p:grpSpPr>
          <a:xfrm>
            <a:off x="472539" y="2701471"/>
            <a:ext cx="2583575" cy="2493188"/>
            <a:chOff x="1099221" y="2243241"/>
            <a:chExt cx="2583575" cy="2493188"/>
          </a:xfrm>
        </p:grpSpPr>
        <p:pic>
          <p:nvPicPr>
            <p:cNvPr id="12" name="Picture 11">
              <a:extLst>
                <a:ext uri="{FF2B5EF4-FFF2-40B4-BE49-F238E27FC236}">
                  <a16:creationId xmlns:a16="http://schemas.microsoft.com/office/drawing/2014/main" id="{8176922C-B5CA-BB35-2309-31EC28783AB1}"/>
                </a:ext>
              </a:extLst>
            </p:cNvPr>
            <p:cNvPicPr>
              <a:picLocks noChangeAspect="1"/>
            </p:cNvPicPr>
            <p:nvPr/>
          </p:nvPicPr>
          <p:blipFill>
            <a:blip r:embed="rId5"/>
            <a:stretch>
              <a:fillRect/>
            </a:stretch>
          </p:blipFill>
          <p:spPr>
            <a:xfrm rot="10800000">
              <a:off x="1099221" y="2243241"/>
              <a:ext cx="2583575" cy="2493188"/>
            </a:xfrm>
            <a:prstGeom prst="rect">
              <a:avLst/>
            </a:prstGeom>
            <a:ln w="50800">
              <a:solidFill>
                <a:schemeClr val="tx1"/>
              </a:solidFill>
            </a:ln>
          </p:spPr>
        </p:pic>
        <p:sp>
          <p:nvSpPr>
            <p:cNvPr id="13" name="TextBox 12">
              <a:extLst>
                <a:ext uri="{FF2B5EF4-FFF2-40B4-BE49-F238E27FC236}">
                  <a16:creationId xmlns:a16="http://schemas.microsoft.com/office/drawing/2014/main" id="{CD3423D0-573D-5151-A026-AA5F518251A6}"/>
                </a:ext>
              </a:extLst>
            </p:cNvPr>
            <p:cNvSpPr txBox="1"/>
            <p:nvPr/>
          </p:nvSpPr>
          <p:spPr>
            <a:xfrm>
              <a:off x="1545929" y="2644523"/>
              <a:ext cx="947292" cy="738664"/>
            </a:xfrm>
            <a:prstGeom prst="rect">
              <a:avLst/>
            </a:prstGeom>
            <a:solidFill>
              <a:schemeClr val="accent2">
                <a:lumMod val="40000"/>
                <a:lumOff val="60000"/>
              </a:schemeClr>
            </a:solidFill>
            <a:ln>
              <a:solidFill>
                <a:schemeClr val="accent2">
                  <a:lumMod val="75000"/>
                </a:schemeClr>
              </a:solidFill>
            </a:ln>
          </p:spPr>
          <p:txBody>
            <a:bodyPr wrap="square" rtlCol="0">
              <a:spAutoFit/>
            </a:bodyPr>
            <a:lstStyle/>
            <a:p>
              <a:pPr algn="ctr"/>
              <a:r>
                <a:rPr lang="en-US" sz="1000" dirty="0" err="1"/>
                <a:t>Qingke</a:t>
              </a:r>
              <a:r>
                <a:rPr lang="en-US" sz="1000" dirty="0"/>
                <a:t> V4</a:t>
              </a:r>
            </a:p>
            <a:p>
              <a:pPr algn="ctr"/>
              <a:r>
                <a:rPr lang="en-US" sz="1000" dirty="0"/>
                <a:t>RISCV</a:t>
              </a:r>
              <a:r>
                <a:rPr lang="en-US" sz="1600" dirty="0"/>
                <a:t> CPU</a:t>
              </a:r>
              <a:endParaRPr lang="LID4096" sz="1600" dirty="0"/>
            </a:p>
          </p:txBody>
        </p:sp>
        <p:sp>
          <p:nvSpPr>
            <p:cNvPr id="14" name="TextBox 13">
              <a:extLst>
                <a:ext uri="{FF2B5EF4-FFF2-40B4-BE49-F238E27FC236}">
                  <a16:creationId xmlns:a16="http://schemas.microsoft.com/office/drawing/2014/main" id="{0980626B-7C45-7976-C22A-8E7A3F1E217A}"/>
                </a:ext>
              </a:extLst>
            </p:cNvPr>
            <p:cNvSpPr txBox="1"/>
            <p:nvPr/>
          </p:nvSpPr>
          <p:spPr>
            <a:xfrm rot="16200000">
              <a:off x="2553523" y="3289780"/>
              <a:ext cx="947292" cy="400110"/>
            </a:xfrm>
            <a:prstGeom prst="rect">
              <a:avLst/>
            </a:prstGeom>
            <a:solidFill>
              <a:schemeClr val="tx2">
                <a:lumMod val="25000"/>
                <a:lumOff val="75000"/>
              </a:schemeClr>
            </a:solidFill>
            <a:ln>
              <a:solidFill>
                <a:schemeClr val="tx2">
                  <a:lumMod val="75000"/>
                  <a:lumOff val="25000"/>
                </a:schemeClr>
              </a:solidFill>
            </a:ln>
          </p:spPr>
          <p:txBody>
            <a:bodyPr wrap="square" rtlCol="0">
              <a:spAutoFit/>
            </a:bodyPr>
            <a:lstStyle/>
            <a:p>
              <a:pPr algn="ctr"/>
              <a:r>
                <a:rPr lang="en-US" sz="1000" dirty="0"/>
                <a:t>Memory</a:t>
              </a:r>
              <a:br>
                <a:rPr lang="en-US" sz="1000" dirty="0"/>
              </a:br>
              <a:r>
                <a:rPr lang="en-US" sz="1000" dirty="0"/>
                <a:t>Subsystem</a:t>
              </a:r>
            </a:p>
          </p:txBody>
        </p:sp>
        <p:sp>
          <p:nvSpPr>
            <p:cNvPr id="17" name="TextBox 16">
              <a:extLst>
                <a:ext uri="{FF2B5EF4-FFF2-40B4-BE49-F238E27FC236}">
                  <a16:creationId xmlns:a16="http://schemas.microsoft.com/office/drawing/2014/main" id="{D9117D0C-D9CB-AC62-C94C-C40B7807E3A8}"/>
                </a:ext>
              </a:extLst>
            </p:cNvPr>
            <p:cNvSpPr txBox="1"/>
            <p:nvPr/>
          </p:nvSpPr>
          <p:spPr>
            <a:xfrm>
              <a:off x="1820089" y="3869605"/>
              <a:ext cx="673132" cy="400110"/>
            </a:xfrm>
            <a:prstGeom prst="rect">
              <a:avLst/>
            </a:prstGeom>
            <a:solidFill>
              <a:schemeClr val="accent6">
                <a:lumMod val="40000"/>
                <a:lumOff val="60000"/>
              </a:schemeClr>
            </a:solidFill>
            <a:ln>
              <a:solidFill>
                <a:schemeClr val="accent6">
                  <a:lumMod val="75000"/>
                </a:schemeClr>
              </a:solidFill>
            </a:ln>
          </p:spPr>
          <p:txBody>
            <a:bodyPr wrap="square" rtlCol="0">
              <a:spAutoFit/>
            </a:bodyPr>
            <a:lstStyle/>
            <a:p>
              <a:pPr algn="ctr"/>
              <a:r>
                <a:rPr lang="en-US" sz="1000" dirty="0"/>
                <a:t>GPIO</a:t>
              </a:r>
              <a:br>
                <a:rPr lang="en-US" sz="1000" dirty="0"/>
              </a:br>
              <a:r>
                <a:rPr lang="en-US" sz="1000" dirty="0"/>
                <a:t>Module</a:t>
              </a:r>
              <a:endParaRPr lang="LID4096" sz="1600" dirty="0"/>
            </a:p>
          </p:txBody>
        </p:sp>
      </p:grpSp>
      <p:sp>
        <p:nvSpPr>
          <p:cNvPr id="18" name="Freeform: Shape 17">
            <a:extLst>
              <a:ext uri="{FF2B5EF4-FFF2-40B4-BE49-F238E27FC236}">
                <a16:creationId xmlns:a16="http://schemas.microsoft.com/office/drawing/2014/main" id="{B5619EFF-C8AA-D9A4-75B8-F2266BA1BD48}"/>
              </a:ext>
            </a:extLst>
          </p:cNvPr>
          <p:cNvSpPr/>
          <p:nvPr/>
        </p:nvSpPr>
        <p:spPr>
          <a:xfrm>
            <a:off x="9460748" y="4233557"/>
            <a:ext cx="733460" cy="302183"/>
          </a:xfrm>
          <a:custGeom>
            <a:avLst/>
            <a:gdLst>
              <a:gd name="connsiteX0" fmla="*/ 710328 w 710328"/>
              <a:gd name="connsiteY0" fmla="*/ 298259 h 302183"/>
              <a:gd name="connsiteX1" fmla="*/ 482709 w 710328"/>
              <a:gd name="connsiteY1" fmla="*/ 302183 h 302183"/>
              <a:gd name="connsiteX2" fmla="*/ 470935 w 710328"/>
              <a:gd name="connsiteY2" fmla="*/ 0 h 302183"/>
              <a:gd name="connsiteX3" fmla="*/ 0 w 710328"/>
              <a:gd name="connsiteY3" fmla="*/ 15697 h 302183"/>
            </a:gdLst>
            <a:ahLst/>
            <a:cxnLst>
              <a:cxn ang="0">
                <a:pos x="connsiteX0" y="connsiteY0"/>
              </a:cxn>
              <a:cxn ang="0">
                <a:pos x="connsiteX1" y="connsiteY1"/>
              </a:cxn>
              <a:cxn ang="0">
                <a:pos x="connsiteX2" y="connsiteY2"/>
              </a:cxn>
              <a:cxn ang="0">
                <a:pos x="connsiteX3" y="connsiteY3"/>
              </a:cxn>
            </a:cxnLst>
            <a:rect l="l" t="t" r="r" b="b"/>
            <a:pathLst>
              <a:path w="710328" h="302183">
                <a:moveTo>
                  <a:pt x="710328" y="298259"/>
                </a:moveTo>
                <a:lnTo>
                  <a:pt x="482709" y="302183"/>
                </a:lnTo>
                <a:lnTo>
                  <a:pt x="470935" y="0"/>
                </a:lnTo>
                <a:lnTo>
                  <a:pt x="0" y="15697"/>
                </a:lnTo>
              </a:path>
            </a:pathLst>
          </a:custGeom>
          <a:noFill/>
          <a:ln cap="rnd">
            <a:solidFill>
              <a:schemeClr val="bg1"/>
            </a:solidFill>
            <a:headEnd type="triangl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nvGrpSpPr>
          <p:cNvPr id="22" name="Group 21">
            <a:extLst>
              <a:ext uri="{FF2B5EF4-FFF2-40B4-BE49-F238E27FC236}">
                <a16:creationId xmlns:a16="http://schemas.microsoft.com/office/drawing/2014/main" id="{AF813143-CC6A-A245-68F5-1015C5E7916A}"/>
              </a:ext>
            </a:extLst>
          </p:cNvPr>
          <p:cNvGrpSpPr/>
          <p:nvPr/>
        </p:nvGrpSpPr>
        <p:grpSpPr>
          <a:xfrm>
            <a:off x="9348286" y="2185028"/>
            <a:ext cx="2669370" cy="1907729"/>
            <a:chOff x="9519713" y="2988597"/>
            <a:chExt cx="1319935" cy="943323"/>
          </a:xfrm>
        </p:grpSpPr>
        <p:pic>
          <p:nvPicPr>
            <p:cNvPr id="23" name="Picture 22">
              <a:extLst>
                <a:ext uri="{FF2B5EF4-FFF2-40B4-BE49-F238E27FC236}">
                  <a16:creationId xmlns:a16="http://schemas.microsoft.com/office/drawing/2014/main" id="{48BD7C66-9CE5-DFF8-F435-73A8269D8300}"/>
                </a:ext>
              </a:extLst>
            </p:cNvPr>
            <p:cNvPicPr>
              <a:picLocks noChangeAspect="1"/>
            </p:cNvPicPr>
            <p:nvPr/>
          </p:nvPicPr>
          <p:blipFill>
            <a:blip r:embed="rId6"/>
            <a:stretch>
              <a:fillRect/>
            </a:stretch>
          </p:blipFill>
          <p:spPr>
            <a:xfrm>
              <a:off x="9519713" y="2988597"/>
              <a:ext cx="1319935" cy="943323"/>
            </a:xfrm>
            <a:prstGeom prst="rect">
              <a:avLst/>
            </a:prstGeom>
          </p:spPr>
        </p:pic>
        <p:sp>
          <p:nvSpPr>
            <p:cNvPr id="24" name="Oval 23">
              <a:extLst>
                <a:ext uri="{FF2B5EF4-FFF2-40B4-BE49-F238E27FC236}">
                  <a16:creationId xmlns:a16="http://schemas.microsoft.com/office/drawing/2014/main" id="{5DFE08FC-C935-CCD2-1D1D-5387B1B20DC3}"/>
                </a:ext>
              </a:extLst>
            </p:cNvPr>
            <p:cNvSpPr/>
            <p:nvPr/>
          </p:nvSpPr>
          <p:spPr>
            <a:xfrm rot="19997983">
              <a:off x="10475358" y="3191629"/>
              <a:ext cx="265922" cy="134378"/>
            </a:xfrm>
            <a:prstGeom prst="ellipse">
              <a:avLst/>
            </a:prstGeom>
            <a:noFill/>
            <a:ln w="127">
              <a:solidFill>
                <a:srgbClr val="FF0000"/>
              </a:solidFill>
            </a:ln>
            <a:effectLst>
              <a:glow rad="127000">
                <a:srgbClr val="FF0000">
                  <a:alpha val="61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sp>
        <p:nvSpPr>
          <p:cNvPr id="25" name="Freeform: Shape 24">
            <a:extLst>
              <a:ext uri="{FF2B5EF4-FFF2-40B4-BE49-F238E27FC236}">
                <a16:creationId xmlns:a16="http://schemas.microsoft.com/office/drawing/2014/main" id="{C17E5F70-9EB3-E868-67DE-6038A0D389AC}"/>
              </a:ext>
            </a:extLst>
          </p:cNvPr>
          <p:cNvSpPr/>
          <p:nvPr/>
        </p:nvSpPr>
        <p:spPr>
          <a:xfrm>
            <a:off x="9326373" y="3843004"/>
            <a:ext cx="394705" cy="401283"/>
          </a:xfrm>
          <a:custGeom>
            <a:avLst/>
            <a:gdLst>
              <a:gd name="connsiteX0" fmla="*/ 394705 w 394705"/>
              <a:gd name="connsiteY0" fmla="*/ 0 h 401283"/>
              <a:gd name="connsiteX1" fmla="*/ 171039 w 394705"/>
              <a:gd name="connsiteY1" fmla="*/ 157882 h 401283"/>
              <a:gd name="connsiteX2" fmla="*/ 0 w 394705"/>
              <a:gd name="connsiteY2" fmla="*/ 401283 h 401283"/>
            </a:gdLst>
            <a:ahLst/>
            <a:cxnLst>
              <a:cxn ang="0">
                <a:pos x="connsiteX0" y="connsiteY0"/>
              </a:cxn>
              <a:cxn ang="0">
                <a:pos x="connsiteX1" y="connsiteY1"/>
              </a:cxn>
              <a:cxn ang="0">
                <a:pos x="connsiteX2" y="connsiteY2"/>
              </a:cxn>
            </a:cxnLst>
            <a:rect l="l" t="t" r="r" b="b"/>
            <a:pathLst>
              <a:path w="394705" h="401283">
                <a:moveTo>
                  <a:pt x="394705" y="0"/>
                </a:moveTo>
                <a:cubicBezTo>
                  <a:pt x="315764" y="45501"/>
                  <a:pt x="236823" y="91002"/>
                  <a:pt x="171039" y="157882"/>
                </a:cubicBezTo>
                <a:cubicBezTo>
                  <a:pt x="105255" y="224763"/>
                  <a:pt x="52627" y="313023"/>
                  <a:pt x="0" y="401283"/>
                </a:cubicBezTo>
              </a:path>
            </a:pathLst>
          </a:cu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6" name="Freeform: Shape 25">
            <a:extLst>
              <a:ext uri="{FF2B5EF4-FFF2-40B4-BE49-F238E27FC236}">
                <a16:creationId xmlns:a16="http://schemas.microsoft.com/office/drawing/2014/main" id="{AF588896-785D-B1FC-DF76-2312B94CF4A2}"/>
              </a:ext>
            </a:extLst>
          </p:cNvPr>
          <p:cNvSpPr/>
          <p:nvPr/>
        </p:nvSpPr>
        <p:spPr>
          <a:xfrm>
            <a:off x="4305859" y="4652148"/>
            <a:ext cx="4638966" cy="1294347"/>
          </a:xfrm>
          <a:custGeom>
            <a:avLst/>
            <a:gdLst>
              <a:gd name="connsiteX0" fmla="*/ 5216685 w 5216685"/>
              <a:gd name="connsiteY0" fmla="*/ 118411 h 1237240"/>
              <a:gd name="connsiteX1" fmla="*/ 3861531 w 5216685"/>
              <a:gd name="connsiteY1" fmla="*/ 1236742 h 1237240"/>
              <a:gd name="connsiteX2" fmla="*/ 0 w 5216685"/>
              <a:gd name="connsiteY2" fmla="*/ 0 h 1237240"/>
              <a:gd name="csX0" fmla="*/ 1547966 w 1547966"/>
              <a:gd name="csY0" fmla="*/ 0 h 1118829"/>
              <a:gd name="csX1" fmla="*/ 192812 w 1547966"/>
              <a:gd name="csY1" fmla="*/ 1118331 h 1118829"/>
              <a:gd name="csX2" fmla="*/ 267924 w 1547966"/>
              <a:gd name="csY2" fmla="*/ 237905 h 1118829"/>
              <a:gd name="csX0" fmla="*/ 1757235 w 1757235"/>
              <a:gd name="csY0" fmla="*/ 0 h 1118829"/>
              <a:gd name="csX1" fmla="*/ 402081 w 1757235"/>
              <a:gd name="csY1" fmla="*/ 1118331 h 1118829"/>
              <a:gd name="csX2" fmla="*/ 477193 w 1757235"/>
              <a:gd name="csY2" fmla="*/ 237905 h 1118829"/>
              <a:gd name="csX0" fmla="*/ 1530592 w 1530592"/>
              <a:gd name="csY0" fmla="*/ 0 h 1118829"/>
              <a:gd name="csX1" fmla="*/ 175438 w 1530592"/>
              <a:gd name="csY1" fmla="*/ 1118331 h 1118829"/>
              <a:gd name="csX2" fmla="*/ 250550 w 1530592"/>
              <a:gd name="csY2" fmla="*/ 237905 h 1118829"/>
              <a:gd name="csX0" fmla="*/ 1530592 w 1530592"/>
              <a:gd name="csY0" fmla="*/ 0 h 1152556"/>
              <a:gd name="csX1" fmla="*/ 175438 w 1530592"/>
              <a:gd name="csY1" fmla="*/ 1118331 h 1152556"/>
              <a:gd name="csX2" fmla="*/ 250550 w 1530592"/>
              <a:gd name="csY2" fmla="*/ 237905 h 1152556"/>
              <a:gd name="csX0" fmla="*/ 1530592 w 1530592"/>
              <a:gd name="csY0" fmla="*/ 0 h 1148325"/>
              <a:gd name="csX1" fmla="*/ 175438 w 1530592"/>
              <a:gd name="csY1" fmla="*/ 1118331 h 1148325"/>
              <a:gd name="csX2" fmla="*/ 250550 w 1530592"/>
              <a:gd name="csY2" fmla="*/ 237905 h 1148325"/>
              <a:gd name="csX0" fmla="*/ 1578696 w 1578696"/>
              <a:gd name="csY0" fmla="*/ 0 h 1148325"/>
              <a:gd name="csX1" fmla="*/ 223542 w 1578696"/>
              <a:gd name="csY1" fmla="*/ 1118331 h 1148325"/>
              <a:gd name="csX2" fmla="*/ 165573 w 1578696"/>
              <a:gd name="csY2" fmla="*/ 383866 h 1148325"/>
              <a:gd name="csX0" fmla="*/ 1590715 w 1590715"/>
              <a:gd name="csY0" fmla="*/ 0 h 1148325"/>
              <a:gd name="csX1" fmla="*/ 235561 w 1590715"/>
              <a:gd name="csY1" fmla="*/ 1118331 h 1148325"/>
              <a:gd name="csX2" fmla="*/ 177592 w 1590715"/>
              <a:gd name="csY2" fmla="*/ 383866 h 1148325"/>
              <a:gd name="csX0" fmla="*/ 1543300 w 1543300"/>
              <a:gd name="csY0" fmla="*/ 0 h 1148325"/>
              <a:gd name="csX1" fmla="*/ 188146 w 1543300"/>
              <a:gd name="csY1" fmla="*/ 1118331 h 1148325"/>
              <a:gd name="csX2" fmla="*/ 130177 w 1543300"/>
              <a:gd name="csY2" fmla="*/ 383866 h 1148325"/>
              <a:gd name="csX0" fmla="*/ 4645252 w 4645252"/>
              <a:gd name="csY0" fmla="*/ 0 h 1148325"/>
              <a:gd name="csX1" fmla="*/ 3290098 w 4645252"/>
              <a:gd name="csY1" fmla="*/ 1118331 h 1148325"/>
              <a:gd name="csX2" fmla="*/ 8118 w 4645252"/>
              <a:gd name="csY2" fmla="*/ 388158 h 1148325"/>
              <a:gd name="csX0" fmla="*/ 4651087 w 4651087"/>
              <a:gd name="csY0" fmla="*/ 0 h 1320063"/>
              <a:gd name="csX1" fmla="*/ 1883550 w 4651087"/>
              <a:gd name="csY1" fmla="*/ 1294342 h 1320063"/>
              <a:gd name="csX2" fmla="*/ 13953 w 4651087"/>
              <a:gd name="csY2" fmla="*/ 388158 h 1320063"/>
              <a:gd name="csX0" fmla="*/ 4656366 w 4656366"/>
              <a:gd name="csY0" fmla="*/ 0 h 1320063"/>
              <a:gd name="csX1" fmla="*/ 1888829 w 4656366"/>
              <a:gd name="csY1" fmla="*/ 1294342 h 1320063"/>
              <a:gd name="csX2" fmla="*/ 19232 w 4656366"/>
              <a:gd name="csY2" fmla="*/ 388158 h 1320063"/>
              <a:gd name="csX0" fmla="*/ 4656366 w 4656366"/>
              <a:gd name="csY0" fmla="*/ 0 h 1294820"/>
              <a:gd name="csX1" fmla="*/ 1888829 w 4656366"/>
              <a:gd name="csY1" fmla="*/ 1294342 h 1294820"/>
              <a:gd name="csX2" fmla="*/ 19232 w 4656366"/>
              <a:gd name="csY2" fmla="*/ 388158 h 1294820"/>
              <a:gd name="csX0" fmla="*/ 4656366 w 4656366"/>
              <a:gd name="csY0" fmla="*/ 0 h 1294347"/>
              <a:gd name="csX1" fmla="*/ 1888829 w 4656366"/>
              <a:gd name="csY1" fmla="*/ 1294342 h 1294347"/>
              <a:gd name="csX2" fmla="*/ 19232 w 4656366"/>
              <a:gd name="csY2" fmla="*/ 388158 h 1294347"/>
              <a:gd name="csX0" fmla="*/ 4638966 w 4638966"/>
              <a:gd name="csY0" fmla="*/ 0 h 1294347"/>
              <a:gd name="csX1" fmla="*/ 1871429 w 4638966"/>
              <a:gd name="csY1" fmla="*/ 1294342 h 1294347"/>
              <a:gd name="csX2" fmla="*/ 1832 w 4638966"/>
              <a:gd name="csY2" fmla="*/ 388158 h 1294347"/>
            </a:gdLst>
            <a:ahLst/>
            <a:cxnLst>
              <a:cxn ang="0">
                <a:pos x="csX0" y="csY0"/>
              </a:cxn>
              <a:cxn ang="0">
                <a:pos x="csX1" y="csY1"/>
              </a:cxn>
              <a:cxn ang="0">
                <a:pos x="csX2" y="csY2"/>
              </a:cxn>
            </a:cxnLst>
            <a:rect l="l" t="t" r="r" b="b"/>
            <a:pathLst>
              <a:path w="4638966" h="1294347">
                <a:moveTo>
                  <a:pt x="4638966" y="0"/>
                </a:moveTo>
                <a:cubicBezTo>
                  <a:pt x="4280202" y="431658"/>
                  <a:pt x="2762340" y="1296906"/>
                  <a:pt x="1871429" y="1294342"/>
                </a:cubicBezTo>
                <a:cubicBezTo>
                  <a:pt x="1087841" y="1291778"/>
                  <a:pt x="-51883" y="996660"/>
                  <a:pt x="1832" y="388158"/>
                </a:cubicBezTo>
              </a:path>
            </a:pathLst>
          </a:cu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7" name="Freeform: Shape 26">
            <a:extLst>
              <a:ext uri="{FF2B5EF4-FFF2-40B4-BE49-F238E27FC236}">
                <a16:creationId xmlns:a16="http://schemas.microsoft.com/office/drawing/2014/main" id="{0606226B-57C4-1E39-E5D9-FD5EA6A580E4}"/>
              </a:ext>
            </a:extLst>
          </p:cNvPr>
          <p:cNvSpPr/>
          <p:nvPr/>
        </p:nvSpPr>
        <p:spPr>
          <a:xfrm>
            <a:off x="4399867" y="3776943"/>
            <a:ext cx="5141309" cy="1634408"/>
          </a:xfrm>
          <a:custGeom>
            <a:avLst/>
            <a:gdLst>
              <a:gd name="connsiteX0" fmla="*/ 4361491 w 4361491"/>
              <a:gd name="connsiteY0" fmla="*/ 0 h 971359"/>
              <a:gd name="connsiteX1" fmla="*/ 2414279 w 4361491"/>
              <a:gd name="connsiteY1" fmla="*/ 967027 h 971359"/>
              <a:gd name="connsiteX2" fmla="*/ 0 w 4361491"/>
              <a:gd name="connsiteY2" fmla="*/ 289450 h 971359"/>
              <a:gd name="csX0" fmla="*/ 2164943 w 2164943"/>
              <a:gd name="csY0" fmla="*/ 0 h 1255330"/>
              <a:gd name="csX1" fmla="*/ 217731 w 2164943"/>
              <a:gd name="csY1" fmla="*/ 967027 h 1255330"/>
              <a:gd name="csX2" fmla="*/ 45124 w 2164943"/>
              <a:gd name="csY2" fmla="*/ 1117991 h 1255330"/>
              <a:gd name="csX0" fmla="*/ 2119819 w 2119819"/>
              <a:gd name="csY0" fmla="*/ 27777 h 1203753"/>
              <a:gd name="csX1" fmla="*/ 667024 w 2119819"/>
              <a:gd name="csY1" fmla="*/ 3130 h 1203753"/>
              <a:gd name="csX2" fmla="*/ 0 w 2119819"/>
              <a:gd name="csY2" fmla="*/ 1145768 h 1203753"/>
              <a:gd name="csX0" fmla="*/ 2119819 w 2119819"/>
              <a:gd name="csY0" fmla="*/ 31622 h 1207598"/>
              <a:gd name="csX1" fmla="*/ 667024 w 2119819"/>
              <a:gd name="csY1" fmla="*/ 6975 h 1207598"/>
              <a:gd name="csX2" fmla="*/ 0 w 2119819"/>
              <a:gd name="csY2" fmla="*/ 1149613 h 1207598"/>
              <a:gd name="csX0" fmla="*/ 2124619 w 2124619"/>
              <a:gd name="csY0" fmla="*/ 56717 h 1206935"/>
              <a:gd name="csX1" fmla="*/ 667024 w 2124619"/>
              <a:gd name="csY1" fmla="*/ 6312 h 1206935"/>
              <a:gd name="csX2" fmla="*/ 0 w 2124619"/>
              <a:gd name="csY2" fmla="*/ 1148950 h 1206935"/>
              <a:gd name="csX0" fmla="*/ 2124619 w 2124619"/>
              <a:gd name="csY0" fmla="*/ 44152 h 1207249"/>
              <a:gd name="csX1" fmla="*/ 667024 w 2124619"/>
              <a:gd name="csY1" fmla="*/ 6626 h 1207249"/>
              <a:gd name="csX2" fmla="*/ 0 w 2124619"/>
              <a:gd name="csY2" fmla="*/ 1149264 h 1207249"/>
              <a:gd name="csX0" fmla="*/ 5331123 w 5331123"/>
              <a:gd name="csY0" fmla="*/ 44152 h 1532592"/>
              <a:gd name="csX1" fmla="*/ 3873528 w 5331123"/>
              <a:gd name="csY1" fmla="*/ 6626 h 1532592"/>
              <a:gd name="csX2" fmla="*/ 0 w 5331123"/>
              <a:gd name="csY2" fmla="*/ 1484115 h 1532592"/>
              <a:gd name="csX0" fmla="*/ 5748736 w 5748736"/>
              <a:gd name="csY0" fmla="*/ 44152 h 1269536"/>
              <a:gd name="csX1" fmla="*/ 4291141 w 5748736"/>
              <a:gd name="csY1" fmla="*/ 6626 h 1269536"/>
              <a:gd name="csX2" fmla="*/ 0 w 5748736"/>
              <a:gd name="csY2" fmla="*/ 1213658 h 1269536"/>
              <a:gd name="csX0" fmla="*/ 5748736 w 5748736"/>
              <a:gd name="csY0" fmla="*/ 44152 h 1347628"/>
              <a:gd name="csX1" fmla="*/ 4291141 w 5748736"/>
              <a:gd name="csY1" fmla="*/ 6626 h 1347628"/>
              <a:gd name="csX2" fmla="*/ 0 w 5748736"/>
              <a:gd name="csY2" fmla="*/ 1213658 h 1347628"/>
              <a:gd name="csX0" fmla="*/ 5748736 w 5748736"/>
              <a:gd name="csY0" fmla="*/ 0 h 1638126"/>
              <a:gd name="csX1" fmla="*/ 2140672 w 5748736"/>
              <a:gd name="csY1" fmla="*/ 1580919 h 1638126"/>
              <a:gd name="csX2" fmla="*/ 0 w 5748736"/>
              <a:gd name="csY2" fmla="*/ 1169506 h 1638126"/>
              <a:gd name="csX0" fmla="*/ 5748736 w 5748736"/>
              <a:gd name="csY0" fmla="*/ 0 h 1638126"/>
              <a:gd name="csX1" fmla="*/ 2140672 w 5748736"/>
              <a:gd name="csY1" fmla="*/ 1580919 h 1638126"/>
              <a:gd name="csX2" fmla="*/ 0 w 5748736"/>
              <a:gd name="csY2" fmla="*/ 1169506 h 1638126"/>
              <a:gd name="csX0" fmla="*/ 5748736 w 5748736"/>
              <a:gd name="csY0" fmla="*/ 0 h 1634408"/>
              <a:gd name="csX1" fmla="*/ 2140672 w 5748736"/>
              <a:gd name="csY1" fmla="*/ 1580919 h 1634408"/>
              <a:gd name="csX2" fmla="*/ 0 w 5748736"/>
              <a:gd name="csY2" fmla="*/ 1169506 h 1634408"/>
            </a:gdLst>
            <a:ahLst/>
            <a:cxnLst>
              <a:cxn ang="0">
                <a:pos x="csX0" y="csY0"/>
              </a:cxn>
              <a:cxn ang="0">
                <a:pos x="csX1" y="csY1"/>
              </a:cxn>
              <a:cxn ang="0">
                <a:pos x="csX2" y="csY2"/>
              </a:cxn>
            </a:cxnLst>
            <a:rect l="l" t="t" r="r" b="b"/>
            <a:pathLst>
              <a:path w="5748736" h="1634408">
                <a:moveTo>
                  <a:pt x="5748736" y="0"/>
                </a:moveTo>
                <a:cubicBezTo>
                  <a:pt x="5440997" y="150299"/>
                  <a:pt x="4014824" y="1468282"/>
                  <a:pt x="2140672" y="1580919"/>
                </a:cubicBezTo>
                <a:cubicBezTo>
                  <a:pt x="1413757" y="1620575"/>
                  <a:pt x="714078" y="1798578"/>
                  <a:pt x="0" y="1169506"/>
                </a:cubicBezTo>
              </a:path>
            </a:pathLst>
          </a:custGeom>
          <a:noFill/>
          <a:ln w="3810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nvGrpSpPr>
          <p:cNvPr id="28" name="Group 27">
            <a:extLst>
              <a:ext uri="{FF2B5EF4-FFF2-40B4-BE49-F238E27FC236}">
                <a16:creationId xmlns:a16="http://schemas.microsoft.com/office/drawing/2014/main" id="{5A1A5A39-8DCF-330E-C196-0E66CFB822CC}"/>
              </a:ext>
            </a:extLst>
          </p:cNvPr>
          <p:cNvGrpSpPr/>
          <p:nvPr/>
        </p:nvGrpSpPr>
        <p:grpSpPr>
          <a:xfrm rot="18737801">
            <a:off x="8873077" y="4354146"/>
            <a:ext cx="550143" cy="184758"/>
            <a:chOff x="7629989" y="5236460"/>
            <a:chExt cx="1027147" cy="344953"/>
          </a:xfrm>
        </p:grpSpPr>
        <p:sp>
          <p:nvSpPr>
            <p:cNvPr id="29" name="Oval 28">
              <a:extLst>
                <a:ext uri="{FF2B5EF4-FFF2-40B4-BE49-F238E27FC236}">
                  <a16:creationId xmlns:a16="http://schemas.microsoft.com/office/drawing/2014/main" id="{B0EDB9C3-5FCD-E954-9EBD-6CB7BE715692}"/>
                </a:ext>
              </a:extLst>
            </p:cNvPr>
            <p:cNvSpPr/>
            <p:nvPr/>
          </p:nvSpPr>
          <p:spPr>
            <a:xfrm>
              <a:off x="7629989" y="5236460"/>
              <a:ext cx="341624" cy="341624"/>
            </a:xfrm>
            <a:prstGeom prst="ellipse">
              <a:avLst/>
            </a:prstGeom>
            <a:solidFill>
              <a:schemeClr val="accent2">
                <a:lumMod val="60000"/>
                <a:lumOff val="40000"/>
              </a:schemeClr>
            </a:solidFill>
            <a:ln w="254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0" name="Oval 29">
              <a:extLst>
                <a:ext uri="{FF2B5EF4-FFF2-40B4-BE49-F238E27FC236}">
                  <a16:creationId xmlns:a16="http://schemas.microsoft.com/office/drawing/2014/main" id="{B256C9FC-6048-52F4-183A-FAD210718676}"/>
                </a:ext>
              </a:extLst>
            </p:cNvPr>
            <p:cNvSpPr/>
            <p:nvPr/>
          </p:nvSpPr>
          <p:spPr>
            <a:xfrm>
              <a:off x="8315512" y="5239789"/>
              <a:ext cx="341624" cy="341624"/>
            </a:xfrm>
            <a:prstGeom prst="ellipse">
              <a:avLst/>
            </a:prstGeom>
            <a:solidFill>
              <a:schemeClr val="accent2">
                <a:lumMod val="60000"/>
                <a:lumOff val="40000"/>
              </a:schemeClr>
            </a:solidFill>
            <a:ln w="254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1" name="Rectangle 30">
              <a:extLst>
                <a:ext uri="{FF2B5EF4-FFF2-40B4-BE49-F238E27FC236}">
                  <a16:creationId xmlns:a16="http://schemas.microsoft.com/office/drawing/2014/main" id="{BB9E2979-1456-9FD1-48EC-6AA40763E8B6}"/>
                </a:ext>
              </a:extLst>
            </p:cNvPr>
            <p:cNvSpPr/>
            <p:nvPr/>
          </p:nvSpPr>
          <p:spPr>
            <a:xfrm>
              <a:off x="7866077" y="5260841"/>
              <a:ext cx="541140" cy="292863"/>
            </a:xfrm>
            <a:prstGeom prst="rect">
              <a:avLst/>
            </a:prstGeom>
            <a:solidFill>
              <a:schemeClr val="accent2">
                <a:lumMod val="60000"/>
                <a:lumOff val="40000"/>
              </a:schemeClr>
            </a:solidFill>
            <a:ln w="254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32" name="Straight Connector 31">
              <a:extLst>
                <a:ext uri="{FF2B5EF4-FFF2-40B4-BE49-F238E27FC236}">
                  <a16:creationId xmlns:a16="http://schemas.microsoft.com/office/drawing/2014/main" id="{B5E91345-0DD4-E634-E799-6CDB01A43177}"/>
                </a:ext>
              </a:extLst>
            </p:cNvPr>
            <p:cNvCxnSpPr/>
            <p:nvPr/>
          </p:nvCxnSpPr>
          <p:spPr>
            <a:xfrm>
              <a:off x="7953306" y="5260841"/>
              <a:ext cx="0" cy="292863"/>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DAE69496-B01D-647F-1439-69525F788B24}"/>
                </a:ext>
              </a:extLst>
            </p:cNvPr>
            <p:cNvCxnSpPr/>
            <p:nvPr/>
          </p:nvCxnSpPr>
          <p:spPr>
            <a:xfrm>
              <a:off x="8266751" y="5260841"/>
              <a:ext cx="0" cy="292863"/>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7ACF9B4F-2402-3838-FD44-10C68AB6DF99}"/>
                </a:ext>
              </a:extLst>
            </p:cNvPr>
            <p:cNvCxnSpPr/>
            <p:nvPr/>
          </p:nvCxnSpPr>
          <p:spPr>
            <a:xfrm>
              <a:off x="8099972" y="5260841"/>
              <a:ext cx="0" cy="292863"/>
            </a:xfrm>
            <a:prstGeom prst="line">
              <a:avLst/>
            </a:prstGeom>
            <a:ln w="50800">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D186A26B-B774-058B-FC33-AAA2A908E064}"/>
                </a:ext>
              </a:extLst>
            </p:cNvPr>
            <p:cNvCxnSpPr/>
            <p:nvPr/>
          </p:nvCxnSpPr>
          <p:spPr>
            <a:xfrm>
              <a:off x="8196330" y="5260841"/>
              <a:ext cx="0" cy="292863"/>
            </a:xfrm>
            <a:prstGeom prst="line">
              <a:avLst/>
            </a:prstGeom>
            <a:ln w="508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8266B517-47EA-7E22-452B-FED657332BC0}"/>
              </a:ext>
            </a:extLst>
          </p:cNvPr>
          <p:cNvGrpSpPr/>
          <p:nvPr/>
        </p:nvGrpSpPr>
        <p:grpSpPr>
          <a:xfrm>
            <a:off x="1044437" y="2007522"/>
            <a:ext cx="2202735" cy="905515"/>
            <a:chOff x="1044437" y="2007522"/>
            <a:chExt cx="2202735" cy="905515"/>
          </a:xfrm>
        </p:grpSpPr>
        <p:sp>
          <p:nvSpPr>
            <p:cNvPr id="39" name="TextBox 38">
              <a:extLst>
                <a:ext uri="{FF2B5EF4-FFF2-40B4-BE49-F238E27FC236}">
                  <a16:creationId xmlns:a16="http://schemas.microsoft.com/office/drawing/2014/main" id="{95F43B97-AE59-DF5D-26CA-516C970386F8}"/>
                </a:ext>
              </a:extLst>
            </p:cNvPr>
            <p:cNvSpPr txBox="1"/>
            <p:nvPr/>
          </p:nvSpPr>
          <p:spPr>
            <a:xfrm>
              <a:off x="1044437" y="2359039"/>
              <a:ext cx="2202735" cy="553998"/>
            </a:xfrm>
            <a:prstGeom prst="rect">
              <a:avLst/>
            </a:prstGeom>
            <a:solidFill>
              <a:schemeClr val="tx1">
                <a:lumMod val="75000"/>
                <a:lumOff val="25000"/>
              </a:schemeClr>
            </a:solidFill>
          </p:spPr>
          <p:txBody>
            <a:bodyPr wrap="square">
              <a:spAutoFit/>
            </a:bodyPr>
            <a:lstStyle/>
            <a:p>
              <a:pPr>
                <a:buNone/>
              </a:pPr>
              <a:r>
                <a:rPr lang="en-GB" sz="1000" b="0">
                  <a:solidFill>
                    <a:srgbClr val="DCDCAA"/>
                  </a:solidFill>
                  <a:effectLst/>
                  <a:latin typeface="Consolas" panose="020B0609020204030204" pitchFamily="49" charset="0"/>
                </a:rPr>
                <a:t>li</a:t>
              </a:r>
              <a:r>
                <a:rPr lang="en-GB" sz="1000" b="0">
                  <a:solidFill>
                    <a:srgbClr val="CCCCCC"/>
                  </a:solidFill>
                  <a:effectLst/>
                  <a:latin typeface="Consolas" panose="020B0609020204030204" pitchFamily="49" charset="0"/>
                </a:rPr>
                <a:t> </a:t>
              </a:r>
              <a:r>
                <a:rPr lang="en-GB" sz="1000" b="0">
                  <a:solidFill>
                    <a:srgbClr val="9CDCFE"/>
                  </a:solidFill>
                  <a:effectLst/>
                  <a:latin typeface="Consolas" panose="020B0609020204030204" pitchFamily="49" charset="0"/>
                </a:rPr>
                <a:t>t0</a:t>
              </a:r>
              <a:r>
                <a:rPr lang="en-GB" sz="1000" b="0">
                  <a:solidFill>
                    <a:srgbClr val="CCCCCC"/>
                  </a:solidFill>
                  <a:effectLst/>
                  <a:latin typeface="Consolas" panose="020B0609020204030204" pitchFamily="49" charset="0"/>
                </a:rPr>
                <a:t>, </a:t>
              </a:r>
              <a:r>
                <a:rPr lang="en-GB" sz="1000" b="0">
                  <a:solidFill>
                    <a:srgbClr val="B5CEA8"/>
                  </a:solidFill>
                  <a:effectLst/>
                  <a:latin typeface="Consolas" panose="020B0609020204030204" pitchFamily="49" charset="0"/>
                </a:rPr>
                <a:t>0x4001140C</a:t>
              </a:r>
              <a:endParaRPr lang="en-GB" sz="1000" b="0">
                <a:solidFill>
                  <a:srgbClr val="CCCCCC"/>
                </a:solidFill>
                <a:effectLst/>
                <a:latin typeface="Consolas" panose="020B0609020204030204" pitchFamily="49" charset="0"/>
              </a:endParaRPr>
            </a:p>
            <a:p>
              <a:pPr>
                <a:buNone/>
              </a:pPr>
              <a:r>
                <a:rPr lang="en-GB" sz="1000" b="0">
                  <a:solidFill>
                    <a:srgbClr val="DCDCAA"/>
                  </a:solidFill>
                  <a:effectLst/>
                  <a:latin typeface="Consolas" panose="020B0609020204030204" pitchFamily="49" charset="0"/>
                </a:rPr>
                <a:t>li</a:t>
              </a:r>
              <a:r>
                <a:rPr lang="en-GB" sz="1000" b="0">
                  <a:solidFill>
                    <a:srgbClr val="CCCCCC"/>
                  </a:solidFill>
                  <a:effectLst/>
                  <a:latin typeface="Consolas" panose="020B0609020204030204" pitchFamily="49" charset="0"/>
                </a:rPr>
                <a:t> </a:t>
              </a:r>
              <a:r>
                <a:rPr lang="en-GB" sz="1000" b="0">
                  <a:solidFill>
                    <a:srgbClr val="9CDCFE"/>
                  </a:solidFill>
                  <a:effectLst/>
                  <a:latin typeface="Consolas" panose="020B0609020204030204" pitchFamily="49" charset="0"/>
                </a:rPr>
                <a:t>t1</a:t>
              </a:r>
              <a:r>
                <a:rPr lang="en-GB" sz="1000" b="0">
                  <a:solidFill>
                    <a:srgbClr val="CCCCCC"/>
                  </a:solidFill>
                  <a:effectLst/>
                  <a:latin typeface="Consolas" panose="020B0609020204030204" pitchFamily="49" charset="0"/>
                </a:rPr>
                <a:t>, 0b100</a:t>
              </a:r>
            </a:p>
            <a:p>
              <a:pPr>
                <a:buNone/>
              </a:pPr>
              <a:r>
                <a:rPr lang="en-GB" sz="1000" b="0">
                  <a:solidFill>
                    <a:srgbClr val="DCDCAA"/>
                  </a:solidFill>
                  <a:effectLst/>
                  <a:latin typeface="Consolas" panose="020B0609020204030204" pitchFamily="49" charset="0"/>
                </a:rPr>
                <a:t>sw</a:t>
              </a:r>
              <a:r>
                <a:rPr lang="en-GB" sz="1000" b="0">
                  <a:solidFill>
                    <a:srgbClr val="CCCCCC"/>
                  </a:solidFill>
                  <a:effectLst/>
                  <a:latin typeface="Consolas" panose="020B0609020204030204" pitchFamily="49" charset="0"/>
                </a:rPr>
                <a:t>  </a:t>
              </a:r>
              <a:r>
                <a:rPr lang="en-GB" sz="1000" b="0">
                  <a:solidFill>
                    <a:srgbClr val="9CDCFE"/>
                  </a:solidFill>
                  <a:effectLst/>
                  <a:latin typeface="Consolas" panose="020B0609020204030204" pitchFamily="49" charset="0"/>
                </a:rPr>
                <a:t>t1</a:t>
              </a:r>
              <a:r>
                <a:rPr lang="en-GB" sz="1000" b="0">
                  <a:solidFill>
                    <a:srgbClr val="CCCCCC"/>
                  </a:solidFill>
                  <a:effectLst/>
                  <a:latin typeface="Consolas" panose="020B0609020204030204" pitchFamily="49" charset="0"/>
                </a:rPr>
                <a:t>,</a:t>
              </a:r>
              <a:r>
                <a:rPr lang="en-GB" sz="1000" b="0">
                  <a:solidFill>
                    <a:srgbClr val="B5CEA8"/>
                  </a:solidFill>
                  <a:effectLst/>
                  <a:latin typeface="Consolas" panose="020B0609020204030204" pitchFamily="49" charset="0"/>
                </a:rPr>
                <a:t>0</a:t>
              </a:r>
              <a:r>
                <a:rPr lang="en-GB" sz="1000" b="0">
                  <a:solidFill>
                    <a:srgbClr val="CCCCCC"/>
                  </a:solidFill>
                  <a:effectLst/>
                  <a:latin typeface="Consolas" panose="020B0609020204030204" pitchFamily="49" charset="0"/>
                </a:rPr>
                <a:t>(</a:t>
              </a:r>
              <a:r>
                <a:rPr lang="en-GB" sz="1000" b="0">
                  <a:solidFill>
                    <a:srgbClr val="9CDCFE"/>
                  </a:solidFill>
                  <a:effectLst/>
                  <a:latin typeface="Consolas" panose="020B0609020204030204" pitchFamily="49" charset="0"/>
                </a:rPr>
                <a:t>t0</a:t>
              </a:r>
              <a:r>
                <a:rPr lang="en-GB" sz="1000" b="0">
                  <a:solidFill>
                    <a:srgbClr val="CCCCCC"/>
                  </a:solidFill>
                  <a:effectLst/>
                  <a:latin typeface="Consolas" panose="020B0609020204030204" pitchFamily="49" charset="0"/>
                </a:rPr>
                <a:t>)</a:t>
              </a:r>
            </a:p>
          </p:txBody>
        </p:sp>
        <p:sp>
          <p:nvSpPr>
            <p:cNvPr id="40" name="TextBox 39">
              <a:extLst>
                <a:ext uri="{FF2B5EF4-FFF2-40B4-BE49-F238E27FC236}">
                  <a16:creationId xmlns:a16="http://schemas.microsoft.com/office/drawing/2014/main" id="{F8078C34-07D6-390B-3CC1-6073DE9D44AF}"/>
                </a:ext>
              </a:extLst>
            </p:cNvPr>
            <p:cNvSpPr txBox="1"/>
            <p:nvPr/>
          </p:nvSpPr>
          <p:spPr>
            <a:xfrm>
              <a:off x="1044438" y="2007522"/>
              <a:ext cx="2202734" cy="369332"/>
            </a:xfrm>
            <a:prstGeom prst="rect">
              <a:avLst/>
            </a:prstGeom>
            <a:solidFill>
              <a:schemeClr val="bg1"/>
            </a:solidFill>
            <a:ln>
              <a:solidFill>
                <a:schemeClr val="accent1">
                  <a:shade val="15000"/>
                </a:schemeClr>
              </a:solidFill>
            </a:ln>
          </p:spPr>
          <p:txBody>
            <a:bodyPr wrap="none" rtlCol="0">
              <a:noAutofit/>
            </a:bodyPr>
            <a:lstStyle/>
            <a:p>
              <a:r>
                <a:rPr lang="en-GB"/>
                <a:t>CPU executes write</a:t>
              </a:r>
              <a:endParaRPr lang="LID4096"/>
            </a:p>
          </p:txBody>
        </p:sp>
      </p:grpSp>
      <p:sp>
        <p:nvSpPr>
          <p:cNvPr id="57" name="Freeform: Shape 56">
            <a:extLst>
              <a:ext uri="{FF2B5EF4-FFF2-40B4-BE49-F238E27FC236}">
                <a16:creationId xmlns:a16="http://schemas.microsoft.com/office/drawing/2014/main" id="{E31FC97C-D85B-DB3F-EE55-C05E09329EEA}"/>
              </a:ext>
            </a:extLst>
          </p:cNvPr>
          <p:cNvSpPr/>
          <p:nvPr/>
        </p:nvSpPr>
        <p:spPr>
          <a:xfrm>
            <a:off x="656823" y="4314423"/>
            <a:ext cx="540912" cy="201769"/>
          </a:xfrm>
          <a:custGeom>
            <a:avLst/>
            <a:gdLst>
              <a:gd name="csX0" fmla="*/ 540912 w 540912"/>
              <a:gd name="csY0" fmla="*/ 201769 h 201769"/>
              <a:gd name="csX1" fmla="*/ 369194 w 540912"/>
              <a:gd name="csY1" fmla="*/ 201769 h 201769"/>
              <a:gd name="csX2" fmla="*/ 369194 w 540912"/>
              <a:gd name="csY2" fmla="*/ 0 h 201769"/>
              <a:gd name="csX3" fmla="*/ 0 w 540912"/>
              <a:gd name="csY3" fmla="*/ 0 h 201769"/>
            </a:gdLst>
            <a:ahLst/>
            <a:cxnLst>
              <a:cxn ang="0">
                <a:pos x="csX0" y="csY0"/>
              </a:cxn>
              <a:cxn ang="0">
                <a:pos x="csX1" y="csY1"/>
              </a:cxn>
              <a:cxn ang="0">
                <a:pos x="csX2" y="csY2"/>
              </a:cxn>
              <a:cxn ang="0">
                <a:pos x="csX3" y="csY3"/>
              </a:cxn>
            </a:cxnLst>
            <a:rect l="l" t="t" r="r" b="b"/>
            <a:pathLst>
              <a:path w="540912" h="201769">
                <a:moveTo>
                  <a:pt x="540912" y="201769"/>
                </a:moveTo>
                <a:lnTo>
                  <a:pt x="369194" y="201769"/>
                </a:lnTo>
                <a:lnTo>
                  <a:pt x="369194" y="0"/>
                </a:lnTo>
                <a:lnTo>
                  <a:pt x="0" y="0"/>
                </a:lnTo>
              </a:path>
            </a:pathLst>
          </a:custGeom>
          <a:noFill/>
          <a:ln w="38100">
            <a:solidFill>
              <a:srgbClr val="92D050"/>
            </a:solidFill>
            <a:prstDash val="sysDot"/>
          </a:ln>
          <a:effectLst>
            <a:glow rad="1397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 name="Rectangle 2">
            <a:extLst>
              <a:ext uri="{FF2B5EF4-FFF2-40B4-BE49-F238E27FC236}">
                <a16:creationId xmlns:a16="http://schemas.microsoft.com/office/drawing/2014/main" id="{79085D1B-3F80-7BAA-F136-909539CA9185}"/>
              </a:ext>
            </a:extLst>
          </p:cNvPr>
          <p:cNvSpPr/>
          <p:nvPr/>
        </p:nvSpPr>
        <p:spPr>
          <a:xfrm>
            <a:off x="4270539" y="5006572"/>
            <a:ext cx="70640" cy="86988"/>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8" name="TextBox 7">
            <a:extLst>
              <a:ext uri="{FF2B5EF4-FFF2-40B4-BE49-F238E27FC236}">
                <a16:creationId xmlns:a16="http://schemas.microsoft.com/office/drawing/2014/main" id="{A1C81387-F4B0-AFE8-A51C-F58BB0FCABE4}"/>
              </a:ext>
            </a:extLst>
          </p:cNvPr>
          <p:cNvSpPr txBox="1"/>
          <p:nvPr/>
        </p:nvSpPr>
        <p:spPr>
          <a:xfrm>
            <a:off x="4150899" y="3232645"/>
            <a:ext cx="1833484" cy="759874"/>
          </a:xfrm>
          <a:prstGeom prst="rect">
            <a:avLst/>
          </a:prstGeom>
          <a:solidFill>
            <a:schemeClr val="bg1"/>
          </a:solidFill>
          <a:ln>
            <a:solidFill>
              <a:schemeClr val="accent1">
                <a:shade val="15000"/>
              </a:schemeClr>
            </a:solidFill>
          </a:ln>
        </p:spPr>
        <p:txBody>
          <a:bodyPr wrap="none" rtlCol="0">
            <a:noAutofit/>
          </a:bodyPr>
          <a:lstStyle/>
          <a:p>
            <a:r>
              <a:rPr lang="en-GB" sz="1100"/>
              <a:t>Pin on MCU is connected on</a:t>
            </a:r>
            <a:br>
              <a:rPr lang="en-GB" sz="1100"/>
            </a:br>
            <a:r>
              <a:rPr lang="en-GB" sz="1100"/>
              <a:t>the PCB with a physical pin.</a:t>
            </a:r>
            <a:br>
              <a:rPr lang="en-GB" sz="1100"/>
            </a:br>
            <a:r>
              <a:rPr lang="en-GB" sz="1100"/>
              <a:t>That pin now has voltage </a:t>
            </a:r>
            <a:br>
              <a:rPr lang="en-GB" sz="1100"/>
            </a:br>
            <a:r>
              <a:rPr lang="en-GB" sz="1100"/>
              <a:t>3.2V</a:t>
            </a:r>
            <a:br>
              <a:rPr lang="en-GB" sz="1100"/>
            </a:br>
            <a:endParaRPr lang="LID4096" sz="1100"/>
          </a:p>
        </p:txBody>
      </p:sp>
      <p:sp>
        <p:nvSpPr>
          <p:cNvPr id="15" name="TextBox 14">
            <a:extLst>
              <a:ext uri="{FF2B5EF4-FFF2-40B4-BE49-F238E27FC236}">
                <a16:creationId xmlns:a16="http://schemas.microsoft.com/office/drawing/2014/main" id="{9F9876B3-E9AB-C32B-EF41-1B38973AA719}"/>
              </a:ext>
            </a:extLst>
          </p:cNvPr>
          <p:cNvSpPr txBox="1"/>
          <p:nvPr/>
        </p:nvSpPr>
        <p:spPr>
          <a:xfrm>
            <a:off x="4075864" y="4613992"/>
            <a:ext cx="492443" cy="261610"/>
          </a:xfrm>
          <a:prstGeom prst="rect">
            <a:avLst/>
          </a:prstGeom>
          <a:noFill/>
        </p:spPr>
        <p:txBody>
          <a:bodyPr wrap="none" rtlCol="0">
            <a:spAutoFit/>
          </a:bodyPr>
          <a:lstStyle/>
          <a:p>
            <a:r>
              <a:rPr lang="en-GB" sz="1100" b="1">
                <a:solidFill>
                  <a:schemeClr val="accent6">
                    <a:lumMod val="60000"/>
                    <a:lumOff val="40000"/>
                  </a:schemeClr>
                </a:solidFill>
                <a:latin typeface="Consolas" panose="020B0609020204030204" pitchFamily="49" charset="0"/>
              </a:rPr>
              <a:t>3.2V</a:t>
            </a:r>
            <a:endParaRPr lang="LID4096" sz="1100" b="1">
              <a:solidFill>
                <a:schemeClr val="accent6">
                  <a:lumMod val="60000"/>
                  <a:lumOff val="40000"/>
                </a:schemeClr>
              </a:solidFill>
              <a:latin typeface="Consolas" panose="020B0609020204030204" pitchFamily="49" charset="0"/>
            </a:endParaRPr>
          </a:p>
        </p:txBody>
      </p:sp>
      <p:sp>
        <p:nvSpPr>
          <p:cNvPr id="16" name="TextBox 15">
            <a:extLst>
              <a:ext uri="{FF2B5EF4-FFF2-40B4-BE49-F238E27FC236}">
                <a16:creationId xmlns:a16="http://schemas.microsoft.com/office/drawing/2014/main" id="{E72136FC-AB65-2EAC-44E0-8B633E22BEEE}"/>
              </a:ext>
            </a:extLst>
          </p:cNvPr>
          <p:cNvSpPr txBox="1"/>
          <p:nvPr/>
        </p:nvSpPr>
        <p:spPr>
          <a:xfrm>
            <a:off x="3983531" y="4922239"/>
            <a:ext cx="338554" cy="261610"/>
          </a:xfrm>
          <a:prstGeom prst="rect">
            <a:avLst/>
          </a:prstGeom>
          <a:noFill/>
          <a:effectLst>
            <a:glow rad="139700">
              <a:schemeClr val="accent2">
                <a:satMod val="175000"/>
                <a:alpha val="40000"/>
              </a:schemeClr>
            </a:glow>
          </a:effectLst>
        </p:spPr>
        <p:txBody>
          <a:bodyPr wrap="none" rtlCol="0">
            <a:spAutoFit/>
          </a:bodyPr>
          <a:lstStyle/>
          <a:p>
            <a:r>
              <a:rPr lang="en-GB" sz="1100" b="1">
                <a:solidFill>
                  <a:srgbClr val="FF0000"/>
                </a:solidFill>
                <a:latin typeface="Consolas" panose="020B0609020204030204" pitchFamily="49" charset="0"/>
              </a:rPr>
              <a:t>0V</a:t>
            </a:r>
            <a:endParaRPr lang="LID4096" sz="1100" b="1">
              <a:solidFill>
                <a:srgbClr val="FF0000"/>
              </a:solidFill>
              <a:latin typeface="Consolas" panose="020B0609020204030204" pitchFamily="49" charset="0"/>
            </a:endParaRPr>
          </a:p>
        </p:txBody>
      </p:sp>
      <p:grpSp>
        <p:nvGrpSpPr>
          <p:cNvPr id="36" name="Group 35">
            <a:extLst>
              <a:ext uri="{FF2B5EF4-FFF2-40B4-BE49-F238E27FC236}">
                <a16:creationId xmlns:a16="http://schemas.microsoft.com/office/drawing/2014/main" id="{9A80A66B-1957-7862-3061-7729BD86EDEE}"/>
              </a:ext>
            </a:extLst>
          </p:cNvPr>
          <p:cNvGrpSpPr/>
          <p:nvPr/>
        </p:nvGrpSpPr>
        <p:grpSpPr>
          <a:xfrm>
            <a:off x="4528908" y="5035306"/>
            <a:ext cx="656092" cy="433209"/>
            <a:chOff x="4528908" y="5035306"/>
            <a:chExt cx="656092" cy="433209"/>
          </a:xfrm>
        </p:grpSpPr>
        <p:sp>
          <p:nvSpPr>
            <p:cNvPr id="19" name="Lightning Bolt 18">
              <a:extLst>
                <a:ext uri="{FF2B5EF4-FFF2-40B4-BE49-F238E27FC236}">
                  <a16:creationId xmlns:a16="http://schemas.microsoft.com/office/drawing/2014/main" id="{F2897595-7D9D-03B7-0BCA-C12E74F29471}"/>
                </a:ext>
              </a:extLst>
            </p:cNvPr>
            <p:cNvSpPr/>
            <p:nvPr/>
          </p:nvSpPr>
          <p:spPr>
            <a:xfrm rot="6254168">
              <a:off x="4565546" y="4998668"/>
              <a:ext cx="195922" cy="269198"/>
            </a:xfrm>
            <a:prstGeom prst="lightningBolt">
              <a:avLst/>
            </a:prstGeom>
            <a:solidFill>
              <a:srgbClr val="FFFF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0" name="Lightning Bolt 19">
              <a:extLst>
                <a:ext uri="{FF2B5EF4-FFF2-40B4-BE49-F238E27FC236}">
                  <a16:creationId xmlns:a16="http://schemas.microsoft.com/office/drawing/2014/main" id="{C89E9796-E457-14B6-92C7-056F3D9654ED}"/>
                </a:ext>
              </a:extLst>
            </p:cNvPr>
            <p:cNvSpPr/>
            <p:nvPr/>
          </p:nvSpPr>
          <p:spPr>
            <a:xfrm rot="6254168">
              <a:off x="4717946" y="5151068"/>
              <a:ext cx="195922" cy="269198"/>
            </a:xfrm>
            <a:prstGeom prst="lightningBolt">
              <a:avLst/>
            </a:prstGeom>
            <a:solidFill>
              <a:srgbClr val="FFFF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1" name="Lightning Bolt 20">
              <a:extLst>
                <a:ext uri="{FF2B5EF4-FFF2-40B4-BE49-F238E27FC236}">
                  <a16:creationId xmlns:a16="http://schemas.microsoft.com/office/drawing/2014/main" id="{5826B02A-D24E-9049-5F41-88ED81FDE11D}"/>
                </a:ext>
              </a:extLst>
            </p:cNvPr>
            <p:cNvSpPr/>
            <p:nvPr/>
          </p:nvSpPr>
          <p:spPr>
            <a:xfrm rot="6254168">
              <a:off x="4952440" y="5235955"/>
              <a:ext cx="195922" cy="269198"/>
            </a:xfrm>
            <a:prstGeom prst="lightningBolt">
              <a:avLst/>
            </a:prstGeom>
            <a:solidFill>
              <a:srgbClr val="FFFF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sp>
        <p:nvSpPr>
          <p:cNvPr id="37" name="TextBox 36">
            <a:extLst>
              <a:ext uri="{FF2B5EF4-FFF2-40B4-BE49-F238E27FC236}">
                <a16:creationId xmlns:a16="http://schemas.microsoft.com/office/drawing/2014/main" id="{C980A7E7-AD61-4E1C-D8C5-815DE1ADDE85}"/>
              </a:ext>
            </a:extLst>
          </p:cNvPr>
          <p:cNvSpPr txBox="1"/>
          <p:nvPr/>
        </p:nvSpPr>
        <p:spPr>
          <a:xfrm>
            <a:off x="7955453" y="3019746"/>
            <a:ext cx="1505295" cy="454674"/>
          </a:xfrm>
          <a:prstGeom prst="rect">
            <a:avLst/>
          </a:prstGeom>
          <a:solidFill>
            <a:schemeClr val="bg1"/>
          </a:solidFill>
          <a:ln>
            <a:solidFill>
              <a:schemeClr val="accent1">
                <a:shade val="15000"/>
              </a:schemeClr>
            </a:solidFill>
          </a:ln>
        </p:spPr>
        <p:txBody>
          <a:bodyPr wrap="none" rtlCol="0">
            <a:noAutofit/>
          </a:bodyPr>
          <a:lstStyle/>
          <a:p>
            <a:r>
              <a:rPr lang="en-GB" sz="1100"/>
              <a:t>Current starts flowing </a:t>
            </a:r>
            <a:br>
              <a:rPr lang="en-GB" sz="1100"/>
            </a:br>
            <a:r>
              <a:rPr lang="en-GB" sz="1100"/>
              <a:t>through the circuit</a:t>
            </a:r>
            <a:endParaRPr lang="LID4096" sz="1100"/>
          </a:p>
        </p:txBody>
      </p:sp>
      <p:sp>
        <p:nvSpPr>
          <p:cNvPr id="38" name="Lightning Bolt 37">
            <a:extLst>
              <a:ext uri="{FF2B5EF4-FFF2-40B4-BE49-F238E27FC236}">
                <a16:creationId xmlns:a16="http://schemas.microsoft.com/office/drawing/2014/main" id="{F1063D40-2C10-3421-AE82-7A0AD031E597}"/>
              </a:ext>
            </a:extLst>
          </p:cNvPr>
          <p:cNvSpPr/>
          <p:nvPr/>
        </p:nvSpPr>
        <p:spPr>
          <a:xfrm rot="6254168">
            <a:off x="11414978" y="2560980"/>
            <a:ext cx="228227" cy="303788"/>
          </a:xfrm>
          <a:prstGeom prst="lightningBolt">
            <a:avLst/>
          </a:prstGeom>
          <a:solidFill>
            <a:schemeClr val="bg1"/>
          </a:solidFill>
          <a:ln>
            <a:solidFill>
              <a:srgbClr val="FF0000"/>
            </a:solidFill>
          </a:ln>
          <a:effectLst>
            <a:glow rad="952500">
              <a:srgbClr val="FF0000">
                <a:alpha val="4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42" name="TextBox 41">
            <a:extLst>
              <a:ext uri="{FF2B5EF4-FFF2-40B4-BE49-F238E27FC236}">
                <a16:creationId xmlns:a16="http://schemas.microsoft.com/office/drawing/2014/main" id="{F0392613-1DD2-F525-E0D9-591F98FC2BE1}"/>
              </a:ext>
            </a:extLst>
          </p:cNvPr>
          <p:cNvSpPr txBox="1"/>
          <p:nvPr/>
        </p:nvSpPr>
        <p:spPr>
          <a:xfrm>
            <a:off x="10545458" y="3449906"/>
            <a:ext cx="1003718" cy="294367"/>
          </a:xfrm>
          <a:prstGeom prst="rect">
            <a:avLst/>
          </a:prstGeom>
          <a:solidFill>
            <a:schemeClr val="bg1"/>
          </a:solidFill>
          <a:ln>
            <a:solidFill>
              <a:schemeClr val="accent1">
                <a:shade val="15000"/>
              </a:schemeClr>
            </a:solidFill>
          </a:ln>
        </p:spPr>
        <p:txBody>
          <a:bodyPr wrap="none" rtlCol="0">
            <a:noAutofit/>
          </a:bodyPr>
          <a:lstStyle/>
          <a:p>
            <a:r>
              <a:rPr lang="en-GB" sz="1100"/>
              <a:t>LED Turns On!</a:t>
            </a:r>
            <a:endParaRPr lang="LID4096" sz="1100"/>
          </a:p>
        </p:txBody>
      </p:sp>
    </p:spTree>
    <p:extLst>
      <p:ext uri="{BB962C8B-B14F-4D97-AF65-F5344CB8AC3E}">
        <p14:creationId xmlns:p14="http://schemas.microsoft.com/office/powerpoint/2010/main" val="231010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par>
                                <p:cTn id="11" presetID="10"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500"/>
                                        <p:tgtEl>
                                          <p:spTgt spid="2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6"/>
                                        </p:tgtEl>
                                        <p:attrNameLst>
                                          <p:attrName>style.visibility</p:attrName>
                                        </p:attrNameLst>
                                      </p:cBhvr>
                                      <p:to>
                                        <p:strVal val="visible"/>
                                      </p:to>
                                    </p:set>
                                    <p:animEffect transition="in" filter="fade">
                                      <p:cBhvr>
                                        <p:cTn id="24" dur="500"/>
                                        <p:tgtEl>
                                          <p:spTgt spid="36"/>
                                        </p:tgtEl>
                                      </p:cBhvr>
                                    </p:animEffect>
                                  </p:childTnLst>
                                </p:cTn>
                              </p:par>
                              <p:par>
                                <p:cTn id="25" presetID="0" presetClass="path" presetSubtype="0" accel="50000" decel="50000" fill="hold" nodeType="withEffect">
                                  <p:stCondLst>
                                    <p:cond delay="0"/>
                                  </p:stCondLst>
                                  <p:childTnLst>
                                    <p:animMotion origin="layout" path="M -0.03047 -0.03657 L 0.03541 0.02407 L 0.11771 0.01921 L 0.20508 -0.01528 L 0.2082 -0.01458 L 0.32552 -0.13611 L 0.39101 -0.2243 L 0.53008 -0.36574 L 0.53932 -0.34468 L 0.38958 -0.1963 L 0.36354 -0.13981 L 0.3332 -0.08657 L 0.30508 -0.04352 L 0.19843 0.06736 L 0.09948 0.10695 L 0.02487 0.08796 L -0.02409 0.04537 L -0.0431 -0.00278 L -0.04414 -0.03102 " pathEditMode="relative" ptsTypes="AAAAAAAAAAAAAAAAAAA">
                                      <p:cBhvr>
                                        <p:cTn id="26" dur="2000" fill="hold"/>
                                        <p:tgtEl>
                                          <p:spTgt spid="36"/>
                                        </p:tgtEl>
                                        <p:attrNameLst>
                                          <p:attrName>ppt_x</p:attrName>
                                          <p:attrName>ppt_y</p:attrName>
                                        </p:attrNameLst>
                                      </p:cBhvr>
                                    </p:animMotion>
                                  </p:childTnLst>
                                </p:cTn>
                              </p:par>
                            </p:childTnLst>
                          </p:cTn>
                        </p:par>
                        <p:par>
                          <p:cTn id="27" fill="hold">
                            <p:stCondLst>
                              <p:cond delay="2000"/>
                            </p:stCondLst>
                            <p:childTnLst>
                              <p:par>
                                <p:cTn id="28" presetID="10" presetClass="exit" presetSubtype="0" fill="hold" nodeType="afterEffect">
                                  <p:stCondLst>
                                    <p:cond delay="0"/>
                                  </p:stCondLst>
                                  <p:childTnLst>
                                    <p:animEffect transition="out" filter="fade">
                                      <p:cBhvr>
                                        <p:cTn id="29" dur="500"/>
                                        <p:tgtEl>
                                          <p:spTgt spid="36"/>
                                        </p:tgtEl>
                                      </p:cBhvr>
                                    </p:animEffect>
                                    <p:set>
                                      <p:cBhvr>
                                        <p:cTn id="30" dur="1" fill="hold">
                                          <p:stCondLst>
                                            <p:cond delay="499"/>
                                          </p:stCondLst>
                                        </p:cTn>
                                        <p:tgtEl>
                                          <p:spTgt spid="36"/>
                                        </p:tgtEl>
                                        <p:attrNameLst>
                                          <p:attrName>style.visibility</p:attrName>
                                        </p:attrNameLst>
                                      </p:cBhvr>
                                      <p:to>
                                        <p:strVal val="hidden"/>
                                      </p:to>
                                    </p:set>
                                  </p:childTnLst>
                                </p:cTn>
                              </p:par>
                              <p:par>
                                <p:cTn id="31" presetID="10" presetClass="entr" presetSubtype="0" fill="hold" grpId="0" nodeType="withEffect">
                                  <p:stCondLst>
                                    <p:cond delay="0"/>
                                  </p:stCondLst>
                                  <p:childTnLst>
                                    <p:set>
                                      <p:cBhvr>
                                        <p:cTn id="32" dur="1" fill="hold">
                                          <p:stCondLst>
                                            <p:cond delay="0"/>
                                          </p:stCondLst>
                                        </p:cTn>
                                        <p:tgtEl>
                                          <p:spTgt spid="37"/>
                                        </p:tgtEl>
                                        <p:attrNameLst>
                                          <p:attrName>style.visibility</p:attrName>
                                        </p:attrNameLst>
                                      </p:cBhvr>
                                      <p:to>
                                        <p:strVal val="visible"/>
                                      </p:to>
                                    </p:set>
                                    <p:animEffect transition="in" filter="fade">
                                      <p:cBhvr>
                                        <p:cTn id="33" dur="500"/>
                                        <p:tgtEl>
                                          <p:spTgt spid="3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8"/>
                                        </p:tgtEl>
                                        <p:attrNameLst>
                                          <p:attrName>style.visibility</p:attrName>
                                        </p:attrNameLst>
                                      </p:cBhvr>
                                      <p:to>
                                        <p:strVal val="visible"/>
                                      </p:to>
                                    </p:set>
                                    <p:animEffect transition="in" filter="fade">
                                      <p:cBhvr>
                                        <p:cTn id="38" dur="500"/>
                                        <p:tgtEl>
                                          <p:spTgt spid="3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2"/>
                                        </p:tgtEl>
                                        <p:attrNameLst>
                                          <p:attrName>style.visibility</p:attrName>
                                        </p:attrNameLst>
                                      </p:cBhvr>
                                      <p:to>
                                        <p:strVal val="visible"/>
                                      </p:to>
                                    </p:set>
                                    <p:animEffect transition="in" filter="fade">
                                      <p:cBhvr>
                                        <p:cTn id="41"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37" grpId="0" animBg="1"/>
      <p:bldP spid="38" grpId="0" animBg="1"/>
      <p:bldP spid="4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8159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B9882AE5-E766-3978-8FB9-BE518FA21E3C}"/>
              </a:ext>
            </a:extLst>
          </p:cNvPr>
          <p:cNvPicPr>
            <a:picLocks noChangeAspect="1"/>
          </p:cNvPicPr>
          <p:nvPr/>
        </p:nvPicPr>
        <p:blipFill>
          <a:blip r:embed="rId3"/>
          <a:stretch>
            <a:fillRect/>
          </a:stretch>
        </p:blipFill>
        <p:spPr>
          <a:xfrm>
            <a:off x="312281" y="1496793"/>
            <a:ext cx="2566613" cy="1463803"/>
          </a:xfrm>
          <a:prstGeom prst="rect">
            <a:avLst/>
          </a:prstGeom>
          <a:ln>
            <a:solidFill>
              <a:schemeClr val="accent6">
                <a:lumMod val="75000"/>
              </a:schemeClr>
            </a:solidFill>
          </a:ln>
          <a:effectLst>
            <a:outerShdw blurRad="50800" dist="38100" dir="2700000" algn="tl" rotWithShape="0">
              <a:prstClr val="black">
                <a:alpha val="40000"/>
              </a:prstClr>
            </a:outerShdw>
          </a:effectLst>
        </p:spPr>
      </p:pic>
      <p:sp>
        <p:nvSpPr>
          <p:cNvPr id="2" name="Title 1">
            <a:extLst>
              <a:ext uri="{FF2B5EF4-FFF2-40B4-BE49-F238E27FC236}">
                <a16:creationId xmlns:a16="http://schemas.microsoft.com/office/drawing/2014/main" id="{D9D9893D-53FA-B8C1-7947-32F7BCA15D15}"/>
              </a:ext>
            </a:extLst>
          </p:cNvPr>
          <p:cNvSpPr>
            <a:spLocks noGrp="1"/>
          </p:cNvSpPr>
          <p:nvPr>
            <p:ph type="title"/>
          </p:nvPr>
        </p:nvSpPr>
        <p:spPr/>
        <p:txBody>
          <a:bodyPr/>
          <a:lstStyle/>
          <a:p>
            <a:r>
              <a:rPr lang="sv-SE"/>
              <a:t>Konfigurera pinnar</a:t>
            </a:r>
            <a:endParaRPr lang="LID4096"/>
          </a:p>
        </p:txBody>
      </p:sp>
      <p:pic>
        <p:nvPicPr>
          <p:cNvPr id="7" name="Picture 6">
            <a:extLst>
              <a:ext uri="{FF2B5EF4-FFF2-40B4-BE49-F238E27FC236}">
                <a16:creationId xmlns:a16="http://schemas.microsoft.com/office/drawing/2014/main" id="{4A79FC81-6390-FCAA-FC3C-FBB54D71D6BD}"/>
              </a:ext>
            </a:extLst>
          </p:cNvPr>
          <p:cNvPicPr>
            <a:picLocks noChangeAspect="1"/>
          </p:cNvPicPr>
          <p:nvPr/>
        </p:nvPicPr>
        <p:blipFill>
          <a:blip r:embed="rId4"/>
          <a:stretch>
            <a:fillRect/>
          </a:stretch>
        </p:blipFill>
        <p:spPr>
          <a:xfrm>
            <a:off x="2333793" y="3341917"/>
            <a:ext cx="9240540" cy="3277057"/>
          </a:xfrm>
          <a:prstGeom prst="rect">
            <a:avLst/>
          </a:prstGeom>
          <a:ln>
            <a:solidFill>
              <a:schemeClr val="accent1">
                <a:shade val="15000"/>
              </a:schemeClr>
            </a:solidFill>
          </a:ln>
          <a:effectLst>
            <a:outerShdw blurRad="50800" dist="38100" dir="2700000" algn="tl" rotWithShape="0">
              <a:prstClr val="black">
                <a:alpha val="40000"/>
              </a:prstClr>
            </a:outerShdw>
          </a:effectLst>
        </p:spPr>
      </p:pic>
      <p:sp>
        <p:nvSpPr>
          <p:cNvPr id="9" name="Rectangle: Rounded Corners 8">
            <a:extLst>
              <a:ext uri="{FF2B5EF4-FFF2-40B4-BE49-F238E27FC236}">
                <a16:creationId xmlns:a16="http://schemas.microsoft.com/office/drawing/2014/main" id="{9866BF10-D60B-A721-3C18-1033CC7730D1}"/>
              </a:ext>
            </a:extLst>
          </p:cNvPr>
          <p:cNvSpPr/>
          <p:nvPr/>
        </p:nvSpPr>
        <p:spPr>
          <a:xfrm>
            <a:off x="3480001" y="5199251"/>
            <a:ext cx="8043253" cy="338025"/>
          </a:xfrm>
          <a:prstGeom prst="roundRect">
            <a:avLst/>
          </a:prstGeom>
          <a:noFill/>
          <a:ln w="254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12" name="Picture 11">
            <a:extLst>
              <a:ext uri="{FF2B5EF4-FFF2-40B4-BE49-F238E27FC236}">
                <a16:creationId xmlns:a16="http://schemas.microsoft.com/office/drawing/2014/main" id="{D2BADAB7-9FB5-2394-6817-3D63426E3BBE}"/>
              </a:ext>
            </a:extLst>
          </p:cNvPr>
          <p:cNvPicPr>
            <a:picLocks noChangeAspect="1"/>
          </p:cNvPicPr>
          <p:nvPr/>
        </p:nvPicPr>
        <p:blipFill>
          <a:blip r:embed="rId5"/>
          <a:stretch>
            <a:fillRect/>
          </a:stretch>
        </p:blipFill>
        <p:spPr>
          <a:xfrm>
            <a:off x="247550" y="3341917"/>
            <a:ext cx="1876687" cy="2143424"/>
          </a:xfrm>
          <a:prstGeom prst="rect">
            <a:avLst/>
          </a:prstGeom>
          <a:ln>
            <a:solidFill>
              <a:schemeClr val="accent1">
                <a:shade val="15000"/>
              </a:schemeClr>
            </a:solidFill>
          </a:ln>
          <a:effectLst>
            <a:outerShdw blurRad="50800" dist="38100" dir="2700000" algn="tl" rotWithShape="0">
              <a:prstClr val="black">
                <a:alpha val="40000"/>
              </a:prstClr>
            </a:outerShdw>
          </a:effectLst>
        </p:spPr>
      </p:pic>
      <p:sp>
        <p:nvSpPr>
          <p:cNvPr id="14" name="TextBox 13">
            <a:extLst>
              <a:ext uri="{FF2B5EF4-FFF2-40B4-BE49-F238E27FC236}">
                <a16:creationId xmlns:a16="http://schemas.microsoft.com/office/drawing/2014/main" id="{48741F46-BFFC-8C16-BEFC-E3194B09F282}"/>
              </a:ext>
            </a:extLst>
          </p:cNvPr>
          <p:cNvSpPr txBox="1"/>
          <p:nvPr/>
        </p:nvSpPr>
        <p:spPr>
          <a:xfrm>
            <a:off x="3898542" y="1983220"/>
            <a:ext cx="2145203" cy="646331"/>
          </a:xfrm>
          <a:prstGeom prst="rect">
            <a:avLst/>
          </a:prstGeom>
          <a:noFill/>
        </p:spPr>
        <p:txBody>
          <a:bodyPr wrap="none" rtlCol="0">
            <a:spAutoFit/>
          </a:bodyPr>
          <a:lstStyle/>
          <a:p>
            <a:r>
              <a:rPr lang="sv-SE"/>
              <a:t>Address till </a:t>
            </a:r>
            <a:r>
              <a:rPr lang="sv-SE" b="1"/>
              <a:t>OUTDR </a:t>
            </a:r>
            <a:br>
              <a:rPr lang="sv-SE" b="1"/>
            </a:br>
            <a:r>
              <a:rPr lang="sv-SE"/>
              <a:t>för </a:t>
            </a:r>
            <a:r>
              <a:rPr lang="sv-SE" b="1"/>
              <a:t>GPIO D =</a:t>
            </a:r>
            <a:endParaRPr lang="LID4096" b="1"/>
          </a:p>
        </p:txBody>
      </p:sp>
      <p:grpSp>
        <p:nvGrpSpPr>
          <p:cNvPr id="16" name="Group 15">
            <a:extLst>
              <a:ext uri="{FF2B5EF4-FFF2-40B4-BE49-F238E27FC236}">
                <a16:creationId xmlns:a16="http://schemas.microsoft.com/office/drawing/2014/main" id="{D6089A62-1A1F-1BBC-5795-CD802A3F7018}"/>
              </a:ext>
            </a:extLst>
          </p:cNvPr>
          <p:cNvGrpSpPr/>
          <p:nvPr/>
        </p:nvGrpSpPr>
        <p:grpSpPr>
          <a:xfrm>
            <a:off x="247550" y="2260219"/>
            <a:ext cx="7157821" cy="2865573"/>
            <a:chOff x="247550" y="2260219"/>
            <a:chExt cx="7157821" cy="2865573"/>
          </a:xfrm>
        </p:grpSpPr>
        <p:sp>
          <p:nvSpPr>
            <p:cNvPr id="13" name="Rectangle: Rounded Corners 12">
              <a:extLst>
                <a:ext uri="{FF2B5EF4-FFF2-40B4-BE49-F238E27FC236}">
                  <a16:creationId xmlns:a16="http://schemas.microsoft.com/office/drawing/2014/main" id="{4693F52B-7A6C-2110-362C-CEE7C21A35D4}"/>
                </a:ext>
              </a:extLst>
            </p:cNvPr>
            <p:cNvSpPr/>
            <p:nvPr/>
          </p:nvSpPr>
          <p:spPr>
            <a:xfrm>
              <a:off x="247550" y="4776395"/>
              <a:ext cx="1876687" cy="349397"/>
            </a:xfrm>
            <a:prstGeom prst="roundRect">
              <a:avLst/>
            </a:prstGeom>
            <a:no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5" name="TextBox 14">
              <a:extLst>
                <a:ext uri="{FF2B5EF4-FFF2-40B4-BE49-F238E27FC236}">
                  <a16:creationId xmlns:a16="http://schemas.microsoft.com/office/drawing/2014/main" id="{DEAFC796-68DE-6E43-786E-11D7139EC79A}"/>
                </a:ext>
              </a:extLst>
            </p:cNvPr>
            <p:cNvSpPr txBox="1"/>
            <p:nvPr/>
          </p:nvSpPr>
          <p:spPr>
            <a:xfrm>
              <a:off x="5954333" y="2260219"/>
              <a:ext cx="1451038" cy="369332"/>
            </a:xfrm>
            <a:prstGeom prst="rect">
              <a:avLst/>
            </a:prstGeom>
            <a:noFill/>
          </p:spPr>
          <p:txBody>
            <a:bodyPr wrap="none" rtlCol="0">
              <a:spAutoFit/>
            </a:bodyPr>
            <a:lstStyle/>
            <a:p>
              <a:r>
                <a:rPr lang="sv-SE">
                  <a:solidFill>
                    <a:schemeClr val="accent1">
                      <a:lumMod val="75000"/>
                    </a:schemeClr>
                  </a:solidFill>
                  <a:latin typeface="Consolas" panose="020B0609020204030204" pitchFamily="49" charset="0"/>
                </a:rPr>
                <a:t>0x40011400</a:t>
              </a:r>
              <a:endParaRPr lang="LID4096">
                <a:solidFill>
                  <a:schemeClr val="accent1">
                    <a:lumMod val="75000"/>
                  </a:schemeClr>
                </a:solidFill>
                <a:latin typeface="Consolas" panose="020B0609020204030204" pitchFamily="49" charset="0"/>
              </a:endParaRPr>
            </a:p>
          </p:txBody>
        </p:sp>
        <p:sp>
          <p:nvSpPr>
            <p:cNvPr id="17" name="TextBox 16">
              <a:extLst>
                <a:ext uri="{FF2B5EF4-FFF2-40B4-BE49-F238E27FC236}">
                  <a16:creationId xmlns:a16="http://schemas.microsoft.com/office/drawing/2014/main" id="{1891139A-2BC2-7AE1-60A2-2DA42CC47F7A}"/>
                </a:ext>
              </a:extLst>
            </p:cNvPr>
            <p:cNvSpPr txBox="1"/>
            <p:nvPr/>
          </p:nvSpPr>
          <p:spPr>
            <a:xfrm>
              <a:off x="5681502" y="2501380"/>
              <a:ext cx="311304" cy="369332"/>
            </a:xfrm>
            <a:prstGeom prst="rect">
              <a:avLst/>
            </a:prstGeom>
            <a:noFill/>
          </p:spPr>
          <p:txBody>
            <a:bodyPr wrap="none" rtlCol="0">
              <a:spAutoFit/>
            </a:bodyPr>
            <a:lstStyle/>
            <a:p>
              <a:r>
                <a:rPr lang="sv-SE">
                  <a:latin typeface="Consolas" panose="020B0609020204030204" pitchFamily="49" charset="0"/>
                </a:rPr>
                <a:t>+</a:t>
              </a:r>
              <a:endParaRPr lang="LID4096">
                <a:latin typeface="Consolas" panose="020B0609020204030204" pitchFamily="49" charset="0"/>
              </a:endParaRPr>
            </a:p>
          </p:txBody>
        </p:sp>
      </p:grpSp>
      <p:sp>
        <p:nvSpPr>
          <p:cNvPr id="18" name="Rectangle: Rounded Corners 17">
            <a:extLst>
              <a:ext uri="{FF2B5EF4-FFF2-40B4-BE49-F238E27FC236}">
                <a16:creationId xmlns:a16="http://schemas.microsoft.com/office/drawing/2014/main" id="{759D354F-65B8-1280-D358-0E07FDA3D99B}"/>
              </a:ext>
            </a:extLst>
          </p:cNvPr>
          <p:cNvSpPr/>
          <p:nvPr/>
        </p:nvSpPr>
        <p:spPr>
          <a:xfrm>
            <a:off x="2387590" y="5199251"/>
            <a:ext cx="1092411" cy="343710"/>
          </a:xfrm>
          <a:prstGeom prst="roundRect">
            <a:avLst/>
          </a:prstGeom>
          <a:noFill/>
          <a:ln w="254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0" name="TextBox 19">
            <a:extLst>
              <a:ext uri="{FF2B5EF4-FFF2-40B4-BE49-F238E27FC236}">
                <a16:creationId xmlns:a16="http://schemas.microsoft.com/office/drawing/2014/main" id="{E59BC378-071C-629B-5AA4-289C36ACDC1A}"/>
              </a:ext>
            </a:extLst>
          </p:cNvPr>
          <p:cNvSpPr txBox="1"/>
          <p:nvPr/>
        </p:nvSpPr>
        <p:spPr>
          <a:xfrm>
            <a:off x="5954334" y="2507065"/>
            <a:ext cx="1514884" cy="369332"/>
          </a:xfrm>
          <a:prstGeom prst="rect">
            <a:avLst/>
          </a:prstGeom>
          <a:noFill/>
        </p:spPr>
        <p:txBody>
          <a:bodyPr wrap="square" rtlCol="0">
            <a:spAutoFit/>
          </a:bodyPr>
          <a:lstStyle/>
          <a:p>
            <a:r>
              <a:rPr lang="sv-SE">
                <a:solidFill>
                  <a:schemeClr val="accent6">
                    <a:lumMod val="75000"/>
                  </a:schemeClr>
                </a:solidFill>
                <a:latin typeface="Consolas" panose="020B0609020204030204" pitchFamily="49" charset="0"/>
              </a:rPr>
              <a:t>0x       C</a:t>
            </a:r>
            <a:endParaRPr lang="LID4096">
              <a:solidFill>
                <a:schemeClr val="accent6">
                  <a:lumMod val="75000"/>
                </a:schemeClr>
              </a:solidFill>
              <a:latin typeface="Consolas" panose="020B0609020204030204" pitchFamily="49" charset="0"/>
            </a:endParaRPr>
          </a:p>
        </p:txBody>
      </p:sp>
      <p:sp>
        <p:nvSpPr>
          <p:cNvPr id="21" name="TextBox 20">
            <a:extLst>
              <a:ext uri="{FF2B5EF4-FFF2-40B4-BE49-F238E27FC236}">
                <a16:creationId xmlns:a16="http://schemas.microsoft.com/office/drawing/2014/main" id="{7E2A5ACB-261F-7172-611C-1976E1A1257E}"/>
              </a:ext>
            </a:extLst>
          </p:cNvPr>
          <p:cNvSpPr txBox="1"/>
          <p:nvPr/>
        </p:nvSpPr>
        <p:spPr>
          <a:xfrm>
            <a:off x="7469218" y="2501380"/>
            <a:ext cx="1704313" cy="369332"/>
          </a:xfrm>
          <a:prstGeom prst="rect">
            <a:avLst/>
          </a:prstGeom>
          <a:noFill/>
        </p:spPr>
        <p:txBody>
          <a:bodyPr wrap="none" rtlCol="0">
            <a:spAutoFit/>
          </a:bodyPr>
          <a:lstStyle/>
          <a:p>
            <a:r>
              <a:rPr lang="sv-SE">
                <a:latin typeface="Consolas" panose="020B0609020204030204" pitchFamily="49" charset="0"/>
              </a:rPr>
              <a:t>= 0x4001140C</a:t>
            </a:r>
            <a:endParaRPr lang="LID4096">
              <a:latin typeface="Consolas" panose="020B0609020204030204" pitchFamily="49" charset="0"/>
            </a:endParaRPr>
          </a:p>
        </p:txBody>
      </p:sp>
    </p:spTree>
    <p:extLst>
      <p:ext uri="{BB962C8B-B14F-4D97-AF65-F5344CB8AC3E}">
        <p14:creationId xmlns:p14="http://schemas.microsoft.com/office/powerpoint/2010/main" val="2692412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5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p:bldP spid="18" grpId="0" animBg="1"/>
      <p:bldP spid="20" grpId="0"/>
      <p:bldP spid="2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59CED-F26C-5A0F-1E7A-5AD5F75893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49BF53-F25A-ECFB-25EA-4AAE4AACBD2E}"/>
              </a:ext>
            </a:extLst>
          </p:cNvPr>
          <p:cNvSpPr>
            <a:spLocks noGrp="1"/>
          </p:cNvSpPr>
          <p:nvPr>
            <p:ph type="title"/>
          </p:nvPr>
        </p:nvSpPr>
        <p:spPr/>
        <p:txBody>
          <a:bodyPr/>
          <a:lstStyle/>
          <a:p>
            <a:r>
              <a:rPr lang="sv-SE"/>
              <a:t>Konfigurera pinnar</a:t>
            </a:r>
            <a:endParaRPr lang="LID4096"/>
          </a:p>
        </p:txBody>
      </p:sp>
      <p:pic>
        <p:nvPicPr>
          <p:cNvPr id="7" name="Picture 6">
            <a:extLst>
              <a:ext uri="{FF2B5EF4-FFF2-40B4-BE49-F238E27FC236}">
                <a16:creationId xmlns:a16="http://schemas.microsoft.com/office/drawing/2014/main" id="{4663C6D4-8E0E-88B5-2F44-28CCA32A22ED}"/>
              </a:ext>
            </a:extLst>
          </p:cNvPr>
          <p:cNvPicPr>
            <a:picLocks noChangeAspect="1"/>
          </p:cNvPicPr>
          <p:nvPr/>
        </p:nvPicPr>
        <p:blipFill>
          <a:blip r:embed="rId3"/>
          <a:stretch>
            <a:fillRect/>
          </a:stretch>
        </p:blipFill>
        <p:spPr>
          <a:xfrm>
            <a:off x="2333793" y="3341917"/>
            <a:ext cx="9240540" cy="3277057"/>
          </a:xfrm>
          <a:prstGeom prst="rect">
            <a:avLst/>
          </a:prstGeom>
          <a:ln>
            <a:solidFill>
              <a:schemeClr val="accent1">
                <a:shade val="15000"/>
              </a:schemeClr>
            </a:solidFill>
          </a:ln>
          <a:effectLst>
            <a:outerShdw blurRad="50800" dist="38100" dir="2700000" algn="tl" rotWithShape="0">
              <a:prstClr val="black">
                <a:alpha val="40000"/>
              </a:prstClr>
            </a:outerShdw>
          </a:effectLst>
        </p:spPr>
      </p:pic>
      <p:grpSp>
        <p:nvGrpSpPr>
          <p:cNvPr id="10" name="Group 9">
            <a:extLst>
              <a:ext uri="{FF2B5EF4-FFF2-40B4-BE49-F238E27FC236}">
                <a16:creationId xmlns:a16="http://schemas.microsoft.com/office/drawing/2014/main" id="{37BC7392-BAB0-7AD6-14AB-515E31F26F15}"/>
              </a:ext>
            </a:extLst>
          </p:cNvPr>
          <p:cNvGrpSpPr/>
          <p:nvPr/>
        </p:nvGrpSpPr>
        <p:grpSpPr>
          <a:xfrm>
            <a:off x="3488587" y="4203640"/>
            <a:ext cx="8043254" cy="681106"/>
            <a:chOff x="1226422" y="2639192"/>
            <a:chExt cx="8043254" cy="681106"/>
          </a:xfrm>
        </p:grpSpPr>
        <p:sp>
          <p:nvSpPr>
            <p:cNvPr id="8" name="Rectangle: Rounded Corners 7">
              <a:extLst>
                <a:ext uri="{FF2B5EF4-FFF2-40B4-BE49-F238E27FC236}">
                  <a16:creationId xmlns:a16="http://schemas.microsoft.com/office/drawing/2014/main" id="{64535AEB-021E-3088-E3B3-A39C44C086AC}"/>
                </a:ext>
              </a:extLst>
            </p:cNvPr>
            <p:cNvSpPr/>
            <p:nvPr/>
          </p:nvSpPr>
          <p:spPr>
            <a:xfrm>
              <a:off x="1226423" y="2639192"/>
              <a:ext cx="8043253" cy="338025"/>
            </a:xfrm>
            <a:prstGeom prst="roundRect">
              <a:avLst/>
            </a:prstGeom>
            <a:noFill/>
            <a:ln w="254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9" name="Rectangle: Rounded Corners 8">
              <a:extLst>
                <a:ext uri="{FF2B5EF4-FFF2-40B4-BE49-F238E27FC236}">
                  <a16:creationId xmlns:a16="http://schemas.microsoft.com/office/drawing/2014/main" id="{58999E42-3337-6467-5B4A-4EE5BB90FB10}"/>
                </a:ext>
              </a:extLst>
            </p:cNvPr>
            <p:cNvSpPr/>
            <p:nvPr/>
          </p:nvSpPr>
          <p:spPr>
            <a:xfrm>
              <a:off x="1226422" y="2982273"/>
              <a:ext cx="8043253" cy="338025"/>
            </a:xfrm>
            <a:prstGeom prst="roundRect">
              <a:avLst/>
            </a:prstGeom>
            <a:noFill/>
            <a:ln w="254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pic>
        <p:nvPicPr>
          <p:cNvPr id="12" name="Picture 11">
            <a:extLst>
              <a:ext uri="{FF2B5EF4-FFF2-40B4-BE49-F238E27FC236}">
                <a16:creationId xmlns:a16="http://schemas.microsoft.com/office/drawing/2014/main" id="{124EE4A6-1174-2D3C-DAD0-21DF4B724E22}"/>
              </a:ext>
            </a:extLst>
          </p:cNvPr>
          <p:cNvPicPr>
            <a:picLocks noChangeAspect="1"/>
          </p:cNvPicPr>
          <p:nvPr/>
        </p:nvPicPr>
        <p:blipFill>
          <a:blip r:embed="rId4"/>
          <a:stretch>
            <a:fillRect/>
          </a:stretch>
        </p:blipFill>
        <p:spPr>
          <a:xfrm>
            <a:off x="247550" y="3341917"/>
            <a:ext cx="1876687" cy="2143424"/>
          </a:xfrm>
          <a:prstGeom prst="rect">
            <a:avLst/>
          </a:prstGeom>
          <a:ln>
            <a:solidFill>
              <a:schemeClr val="accent1">
                <a:shade val="15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723245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DB4AB-4655-7E9D-3A9A-26DC531D13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9EE7E6-BE36-C5D3-7E3F-04C257B4DF65}"/>
              </a:ext>
            </a:extLst>
          </p:cNvPr>
          <p:cNvSpPr>
            <a:spLocks noGrp="1"/>
          </p:cNvSpPr>
          <p:nvPr>
            <p:ph type="title"/>
          </p:nvPr>
        </p:nvSpPr>
        <p:spPr/>
        <p:txBody>
          <a:bodyPr/>
          <a:lstStyle/>
          <a:p>
            <a:r>
              <a:rPr lang="sv-SE"/>
              <a:t>Konfigurera pinnar</a:t>
            </a:r>
            <a:endParaRPr lang="LID4096"/>
          </a:p>
        </p:txBody>
      </p:sp>
      <p:pic>
        <p:nvPicPr>
          <p:cNvPr id="6" name="Picture 5">
            <a:extLst>
              <a:ext uri="{FF2B5EF4-FFF2-40B4-BE49-F238E27FC236}">
                <a16:creationId xmlns:a16="http://schemas.microsoft.com/office/drawing/2014/main" id="{E0B1B96E-0E3A-EE16-F16F-7FCAE9E61200}"/>
              </a:ext>
            </a:extLst>
          </p:cNvPr>
          <p:cNvPicPr>
            <a:picLocks noChangeAspect="1"/>
          </p:cNvPicPr>
          <p:nvPr/>
        </p:nvPicPr>
        <p:blipFill>
          <a:blip r:embed="rId3"/>
          <a:stretch>
            <a:fillRect/>
          </a:stretch>
        </p:blipFill>
        <p:spPr>
          <a:xfrm>
            <a:off x="0" y="0"/>
            <a:ext cx="6356665" cy="6858000"/>
          </a:xfrm>
          <a:prstGeom prst="rect">
            <a:avLst/>
          </a:prstGeom>
          <a:ln>
            <a:solidFill>
              <a:schemeClr val="tx1"/>
            </a:solidFill>
          </a:ln>
        </p:spPr>
      </p:pic>
      <p:pic>
        <p:nvPicPr>
          <p:cNvPr id="4" name="Picture 3">
            <a:extLst>
              <a:ext uri="{FF2B5EF4-FFF2-40B4-BE49-F238E27FC236}">
                <a16:creationId xmlns:a16="http://schemas.microsoft.com/office/drawing/2014/main" id="{E34FDA58-B4D5-5000-2255-BE387423251D}"/>
              </a:ext>
            </a:extLst>
          </p:cNvPr>
          <p:cNvPicPr>
            <a:picLocks noChangeAspect="1"/>
          </p:cNvPicPr>
          <p:nvPr/>
        </p:nvPicPr>
        <p:blipFill>
          <a:blip r:embed="rId4"/>
          <a:stretch>
            <a:fillRect/>
          </a:stretch>
        </p:blipFill>
        <p:spPr>
          <a:xfrm>
            <a:off x="6952286" y="2561063"/>
            <a:ext cx="3900312" cy="3300730"/>
          </a:xfrm>
          <a:prstGeom prst="rect">
            <a:avLst/>
          </a:prstGeom>
        </p:spPr>
      </p:pic>
      <p:grpSp>
        <p:nvGrpSpPr>
          <p:cNvPr id="28" name="Group 27">
            <a:extLst>
              <a:ext uri="{FF2B5EF4-FFF2-40B4-BE49-F238E27FC236}">
                <a16:creationId xmlns:a16="http://schemas.microsoft.com/office/drawing/2014/main" id="{37C10A2D-F480-1D7F-3A35-6FA3572B44A7}"/>
              </a:ext>
            </a:extLst>
          </p:cNvPr>
          <p:cNvGrpSpPr/>
          <p:nvPr/>
        </p:nvGrpSpPr>
        <p:grpSpPr>
          <a:xfrm>
            <a:off x="5482107" y="3758745"/>
            <a:ext cx="3430073" cy="654416"/>
            <a:chOff x="5482107" y="3758745"/>
            <a:chExt cx="3430073" cy="654416"/>
          </a:xfrm>
        </p:grpSpPr>
        <p:grpSp>
          <p:nvGrpSpPr>
            <p:cNvPr id="16" name="Group 15">
              <a:extLst>
                <a:ext uri="{FF2B5EF4-FFF2-40B4-BE49-F238E27FC236}">
                  <a16:creationId xmlns:a16="http://schemas.microsoft.com/office/drawing/2014/main" id="{F80E3872-C4BC-63E8-9C89-BA1EE0664A3B}"/>
                </a:ext>
              </a:extLst>
            </p:cNvPr>
            <p:cNvGrpSpPr/>
            <p:nvPr/>
          </p:nvGrpSpPr>
          <p:grpSpPr>
            <a:xfrm>
              <a:off x="5482107" y="3799268"/>
              <a:ext cx="3430073" cy="613893"/>
              <a:chOff x="5482107" y="3799268"/>
              <a:chExt cx="3430073" cy="613893"/>
            </a:xfrm>
          </p:grpSpPr>
          <p:sp>
            <p:nvSpPr>
              <p:cNvPr id="5" name="Rectangle 4">
                <a:extLst>
                  <a:ext uri="{FF2B5EF4-FFF2-40B4-BE49-F238E27FC236}">
                    <a16:creationId xmlns:a16="http://schemas.microsoft.com/office/drawing/2014/main" id="{AE146DF3-851B-6D47-EC98-2B6FEB5258BD}"/>
                  </a:ext>
                </a:extLst>
              </p:cNvPr>
              <p:cNvSpPr/>
              <p:nvPr/>
            </p:nvSpPr>
            <p:spPr>
              <a:xfrm>
                <a:off x="5482107" y="3970986"/>
                <a:ext cx="764147" cy="442175"/>
              </a:xfrm>
              <a:prstGeom prst="rect">
                <a:avLst/>
              </a:prstGeom>
              <a:noFill/>
              <a:ln w="254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5" name="Freeform: Shape 14">
                <a:extLst>
                  <a:ext uri="{FF2B5EF4-FFF2-40B4-BE49-F238E27FC236}">
                    <a16:creationId xmlns:a16="http://schemas.microsoft.com/office/drawing/2014/main" id="{1974C722-F9CB-D812-9C4B-2F42A07F56B2}"/>
                  </a:ext>
                </a:extLst>
              </p:cNvPr>
              <p:cNvSpPr/>
              <p:nvPr/>
            </p:nvSpPr>
            <p:spPr>
              <a:xfrm>
                <a:off x="5859887" y="3799268"/>
                <a:ext cx="3052293" cy="442174"/>
              </a:xfrm>
              <a:custGeom>
                <a:avLst/>
                <a:gdLst>
                  <a:gd name="csX0" fmla="*/ 0 w 3052293"/>
                  <a:gd name="csY0" fmla="*/ 171718 h 442174"/>
                  <a:gd name="csX1" fmla="*/ 0 w 3052293"/>
                  <a:gd name="csY1" fmla="*/ 0 h 442174"/>
                  <a:gd name="csX2" fmla="*/ 2747493 w 3052293"/>
                  <a:gd name="csY2" fmla="*/ 0 h 442174"/>
                  <a:gd name="csX3" fmla="*/ 3052293 w 3052293"/>
                  <a:gd name="csY3" fmla="*/ 442174 h 442174"/>
                </a:gdLst>
                <a:ahLst/>
                <a:cxnLst>
                  <a:cxn ang="0">
                    <a:pos x="csX0" y="csY0"/>
                  </a:cxn>
                  <a:cxn ang="0">
                    <a:pos x="csX1" y="csY1"/>
                  </a:cxn>
                  <a:cxn ang="0">
                    <a:pos x="csX2" y="csY2"/>
                  </a:cxn>
                  <a:cxn ang="0">
                    <a:pos x="csX3" y="csY3"/>
                  </a:cxn>
                </a:cxnLst>
                <a:rect l="l" t="t" r="r" b="b"/>
                <a:pathLst>
                  <a:path w="3052293" h="442174">
                    <a:moveTo>
                      <a:pt x="0" y="171718"/>
                    </a:moveTo>
                    <a:lnTo>
                      <a:pt x="0" y="0"/>
                    </a:lnTo>
                    <a:lnTo>
                      <a:pt x="2747493" y="0"/>
                    </a:lnTo>
                    <a:lnTo>
                      <a:pt x="3052293" y="442174"/>
                    </a:lnTo>
                  </a:path>
                </a:pathLst>
              </a:custGeom>
              <a:noFill/>
              <a:ln>
                <a:solidFill>
                  <a:schemeClr val="accent4">
                    <a:lumMod val="60000"/>
                    <a:lumOff val="40000"/>
                  </a:schemeClr>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sp>
          <p:nvSpPr>
            <p:cNvPr id="20" name="TextBox 19">
              <a:extLst>
                <a:ext uri="{FF2B5EF4-FFF2-40B4-BE49-F238E27FC236}">
                  <a16:creationId xmlns:a16="http://schemas.microsoft.com/office/drawing/2014/main" id="{F56179C5-FDA9-B1E8-21F8-BDC53EFD8229}"/>
                </a:ext>
              </a:extLst>
            </p:cNvPr>
            <p:cNvSpPr txBox="1"/>
            <p:nvPr/>
          </p:nvSpPr>
          <p:spPr>
            <a:xfrm>
              <a:off x="6448010" y="3758745"/>
              <a:ext cx="479618" cy="261610"/>
            </a:xfrm>
            <a:prstGeom prst="rect">
              <a:avLst/>
            </a:prstGeom>
            <a:noFill/>
          </p:spPr>
          <p:txBody>
            <a:bodyPr wrap="none" rtlCol="0">
              <a:spAutoFit/>
            </a:bodyPr>
            <a:lstStyle/>
            <a:p>
              <a:r>
                <a:rPr lang="sv-SE" sz="1050" b="1">
                  <a:solidFill>
                    <a:schemeClr val="accent4">
                      <a:lumMod val="75000"/>
                    </a:schemeClr>
                  </a:solidFill>
                </a:rPr>
                <a:t>pin 0</a:t>
              </a:r>
              <a:endParaRPr lang="LID4096" sz="1050" b="1">
                <a:solidFill>
                  <a:schemeClr val="accent4">
                    <a:lumMod val="75000"/>
                  </a:schemeClr>
                </a:solidFill>
              </a:endParaRPr>
            </a:p>
          </p:txBody>
        </p:sp>
      </p:grpSp>
      <p:grpSp>
        <p:nvGrpSpPr>
          <p:cNvPr id="29" name="Group 28">
            <a:extLst>
              <a:ext uri="{FF2B5EF4-FFF2-40B4-BE49-F238E27FC236}">
                <a16:creationId xmlns:a16="http://schemas.microsoft.com/office/drawing/2014/main" id="{488B4FB9-0E2F-0D0A-460A-86E6A095ACD9}"/>
              </a:ext>
            </a:extLst>
          </p:cNvPr>
          <p:cNvGrpSpPr/>
          <p:nvPr/>
        </p:nvGrpSpPr>
        <p:grpSpPr>
          <a:xfrm>
            <a:off x="4717960" y="3968840"/>
            <a:ext cx="4365939" cy="825009"/>
            <a:chOff x="4717960" y="3968840"/>
            <a:chExt cx="4365939" cy="825009"/>
          </a:xfrm>
        </p:grpSpPr>
        <p:sp>
          <p:nvSpPr>
            <p:cNvPr id="11" name="Rectangle 10">
              <a:extLst>
                <a:ext uri="{FF2B5EF4-FFF2-40B4-BE49-F238E27FC236}">
                  <a16:creationId xmlns:a16="http://schemas.microsoft.com/office/drawing/2014/main" id="{FCF1C999-1E8D-5043-683C-851E01CD56F1}"/>
                </a:ext>
              </a:extLst>
            </p:cNvPr>
            <p:cNvSpPr/>
            <p:nvPr/>
          </p:nvSpPr>
          <p:spPr>
            <a:xfrm>
              <a:off x="4717960" y="3968840"/>
              <a:ext cx="764147" cy="442175"/>
            </a:xfrm>
            <a:prstGeom prst="rect">
              <a:avLst/>
            </a:prstGeom>
            <a:noFill/>
            <a:ln w="2540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7" name="Freeform: Shape 16">
              <a:extLst>
                <a:ext uri="{FF2B5EF4-FFF2-40B4-BE49-F238E27FC236}">
                  <a16:creationId xmlns:a16="http://schemas.microsoft.com/office/drawing/2014/main" id="{19F5E1AC-807A-2F58-21BF-F9AA36C59B33}"/>
                </a:ext>
              </a:extLst>
            </p:cNvPr>
            <p:cNvSpPr/>
            <p:nvPr/>
          </p:nvSpPr>
          <p:spPr>
            <a:xfrm>
              <a:off x="5091448" y="4413161"/>
              <a:ext cx="3992451" cy="377780"/>
            </a:xfrm>
            <a:custGeom>
              <a:avLst/>
              <a:gdLst>
                <a:gd name="csX0" fmla="*/ 0 w 3992451"/>
                <a:gd name="csY0" fmla="*/ 0 h 313385"/>
                <a:gd name="csX1" fmla="*/ 0 w 3992451"/>
                <a:gd name="csY1" fmla="*/ 313385 h 313385"/>
                <a:gd name="csX2" fmla="*/ 60101 w 3992451"/>
                <a:gd name="csY2" fmla="*/ 309093 h 313385"/>
                <a:gd name="csX3" fmla="*/ 3764924 w 3992451"/>
                <a:gd name="csY3" fmla="*/ 309093 h 313385"/>
                <a:gd name="csX4" fmla="*/ 3992451 w 3992451"/>
                <a:gd name="csY4" fmla="*/ 60101 h 313385"/>
              </a:gdLst>
              <a:ahLst/>
              <a:cxnLst>
                <a:cxn ang="0">
                  <a:pos x="csX0" y="csY0"/>
                </a:cxn>
                <a:cxn ang="0">
                  <a:pos x="csX1" y="csY1"/>
                </a:cxn>
                <a:cxn ang="0">
                  <a:pos x="csX2" y="csY2"/>
                </a:cxn>
                <a:cxn ang="0">
                  <a:pos x="csX3" y="csY3"/>
                </a:cxn>
                <a:cxn ang="0">
                  <a:pos x="csX4" y="csY4"/>
                </a:cxn>
              </a:cxnLst>
              <a:rect l="l" t="t" r="r" b="b"/>
              <a:pathLst>
                <a:path w="3992451" h="313385">
                  <a:moveTo>
                    <a:pt x="0" y="0"/>
                  </a:moveTo>
                  <a:lnTo>
                    <a:pt x="0" y="313385"/>
                  </a:lnTo>
                  <a:lnTo>
                    <a:pt x="60101" y="309093"/>
                  </a:lnTo>
                  <a:lnTo>
                    <a:pt x="3764924" y="309093"/>
                  </a:lnTo>
                  <a:lnTo>
                    <a:pt x="3992451" y="60101"/>
                  </a:lnTo>
                </a:path>
              </a:pathLst>
            </a:custGeom>
            <a:noFill/>
            <a:ln>
              <a:solidFill>
                <a:schemeClr val="accent6">
                  <a:lumMod val="60000"/>
                  <a:lumOff val="40000"/>
                </a:schemeClr>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1" name="TextBox 20">
              <a:extLst>
                <a:ext uri="{FF2B5EF4-FFF2-40B4-BE49-F238E27FC236}">
                  <a16:creationId xmlns:a16="http://schemas.microsoft.com/office/drawing/2014/main" id="{6A7C1230-0217-127D-83F5-9B2071946578}"/>
                </a:ext>
              </a:extLst>
            </p:cNvPr>
            <p:cNvSpPr txBox="1"/>
            <p:nvPr/>
          </p:nvSpPr>
          <p:spPr>
            <a:xfrm>
              <a:off x="5893013" y="4539933"/>
              <a:ext cx="478016" cy="253916"/>
            </a:xfrm>
            <a:prstGeom prst="rect">
              <a:avLst/>
            </a:prstGeom>
            <a:noFill/>
          </p:spPr>
          <p:txBody>
            <a:bodyPr wrap="none" rtlCol="0">
              <a:spAutoFit/>
            </a:bodyPr>
            <a:lstStyle/>
            <a:p>
              <a:r>
                <a:rPr lang="sv-SE" sz="1050" b="1">
                  <a:solidFill>
                    <a:schemeClr val="accent6">
                      <a:lumMod val="75000"/>
                    </a:schemeClr>
                  </a:solidFill>
                </a:rPr>
                <a:t>pin 1</a:t>
              </a:r>
              <a:endParaRPr lang="LID4096" sz="1050" b="1">
                <a:solidFill>
                  <a:schemeClr val="accent6">
                    <a:lumMod val="75000"/>
                  </a:schemeClr>
                </a:solidFill>
              </a:endParaRPr>
            </a:p>
          </p:txBody>
        </p:sp>
      </p:grpSp>
      <p:grpSp>
        <p:nvGrpSpPr>
          <p:cNvPr id="31" name="Group 30">
            <a:extLst>
              <a:ext uri="{FF2B5EF4-FFF2-40B4-BE49-F238E27FC236}">
                <a16:creationId xmlns:a16="http://schemas.microsoft.com/office/drawing/2014/main" id="{4E6058C4-3F18-E056-4C6D-CDFFD2CBD21D}"/>
              </a:ext>
            </a:extLst>
          </p:cNvPr>
          <p:cNvGrpSpPr/>
          <p:nvPr/>
        </p:nvGrpSpPr>
        <p:grpSpPr>
          <a:xfrm>
            <a:off x="3953813" y="3294530"/>
            <a:ext cx="5142964" cy="1114339"/>
            <a:chOff x="3953813" y="3294530"/>
            <a:chExt cx="5142964" cy="1114339"/>
          </a:xfrm>
        </p:grpSpPr>
        <p:sp>
          <p:nvSpPr>
            <p:cNvPr id="13" name="Rectangle 12">
              <a:extLst>
                <a:ext uri="{FF2B5EF4-FFF2-40B4-BE49-F238E27FC236}">
                  <a16:creationId xmlns:a16="http://schemas.microsoft.com/office/drawing/2014/main" id="{248E6610-3D7E-7B5C-9D29-D86FA6040191}"/>
                </a:ext>
              </a:extLst>
            </p:cNvPr>
            <p:cNvSpPr/>
            <p:nvPr/>
          </p:nvSpPr>
          <p:spPr>
            <a:xfrm>
              <a:off x="3953813" y="3966694"/>
              <a:ext cx="764147" cy="442175"/>
            </a:xfrm>
            <a:prstGeom prst="rect">
              <a:avLst/>
            </a:prstGeom>
            <a:no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8" name="Freeform: Shape 17">
              <a:extLst>
                <a:ext uri="{FF2B5EF4-FFF2-40B4-BE49-F238E27FC236}">
                  <a16:creationId xmlns:a16="http://schemas.microsoft.com/office/drawing/2014/main" id="{49B4AEB5-467C-218C-6F7E-0DF8BF8F840E}"/>
                </a:ext>
              </a:extLst>
            </p:cNvPr>
            <p:cNvSpPr/>
            <p:nvPr/>
          </p:nvSpPr>
          <p:spPr>
            <a:xfrm>
              <a:off x="4323008" y="3541690"/>
              <a:ext cx="4773769" cy="699752"/>
            </a:xfrm>
            <a:custGeom>
              <a:avLst/>
              <a:gdLst>
                <a:gd name="csX0" fmla="*/ 0 w 4773769"/>
                <a:gd name="csY0" fmla="*/ 412124 h 699752"/>
                <a:gd name="csX1" fmla="*/ 0 w 4773769"/>
                <a:gd name="csY1" fmla="*/ 0 h 699752"/>
                <a:gd name="csX2" fmla="*/ 4292958 w 4773769"/>
                <a:gd name="csY2" fmla="*/ 0 h 699752"/>
                <a:gd name="csX3" fmla="*/ 4773769 w 4773769"/>
                <a:gd name="csY3" fmla="*/ 699752 h 699752"/>
              </a:gdLst>
              <a:ahLst/>
              <a:cxnLst>
                <a:cxn ang="0">
                  <a:pos x="csX0" y="csY0"/>
                </a:cxn>
                <a:cxn ang="0">
                  <a:pos x="csX1" y="csY1"/>
                </a:cxn>
                <a:cxn ang="0">
                  <a:pos x="csX2" y="csY2"/>
                </a:cxn>
                <a:cxn ang="0">
                  <a:pos x="csX3" y="csY3"/>
                </a:cxn>
              </a:cxnLst>
              <a:rect l="l" t="t" r="r" b="b"/>
              <a:pathLst>
                <a:path w="4773769" h="699752">
                  <a:moveTo>
                    <a:pt x="0" y="412124"/>
                  </a:moveTo>
                  <a:lnTo>
                    <a:pt x="0" y="0"/>
                  </a:lnTo>
                  <a:lnTo>
                    <a:pt x="4292958" y="0"/>
                  </a:lnTo>
                  <a:lnTo>
                    <a:pt x="4773769" y="699752"/>
                  </a:lnTo>
                </a:path>
              </a:pathLst>
            </a:custGeom>
            <a:noFill/>
            <a:ln>
              <a:solidFill>
                <a:schemeClr val="accent5">
                  <a:lumMod val="60000"/>
                  <a:lumOff val="40000"/>
                </a:schemeClr>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2" name="TextBox 21">
              <a:extLst>
                <a:ext uri="{FF2B5EF4-FFF2-40B4-BE49-F238E27FC236}">
                  <a16:creationId xmlns:a16="http://schemas.microsoft.com/office/drawing/2014/main" id="{E318CB00-55AB-6C7E-087A-7AC13FA99132}"/>
                </a:ext>
              </a:extLst>
            </p:cNvPr>
            <p:cNvSpPr txBox="1"/>
            <p:nvPr/>
          </p:nvSpPr>
          <p:spPr>
            <a:xfrm>
              <a:off x="5552663" y="3294530"/>
              <a:ext cx="478016" cy="253916"/>
            </a:xfrm>
            <a:prstGeom prst="rect">
              <a:avLst/>
            </a:prstGeom>
            <a:noFill/>
          </p:spPr>
          <p:txBody>
            <a:bodyPr wrap="none" rtlCol="0">
              <a:spAutoFit/>
            </a:bodyPr>
            <a:lstStyle/>
            <a:p>
              <a:r>
                <a:rPr lang="sv-SE" sz="1050" b="1">
                  <a:solidFill>
                    <a:schemeClr val="accent5">
                      <a:lumMod val="75000"/>
                    </a:schemeClr>
                  </a:solidFill>
                </a:rPr>
                <a:t>pin 2</a:t>
              </a:r>
              <a:endParaRPr lang="LID4096" sz="1050" b="1">
                <a:solidFill>
                  <a:schemeClr val="accent5">
                    <a:lumMod val="75000"/>
                  </a:schemeClr>
                </a:solidFill>
              </a:endParaRPr>
            </a:p>
          </p:txBody>
        </p:sp>
      </p:grpSp>
      <p:grpSp>
        <p:nvGrpSpPr>
          <p:cNvPr id="32" name="Group 31">
            <a:extLst>
              <a:ext uri="{FF2B5EF4-FFF2-40B4-BE49-F238E27FC236}">
                <a16:creationId xmlns:a16="http://schemas.microsoft.com/office/drawing/2014/main" id="{68E1391E-EBA5-4A6F-6A34-2BF0CC19430F}"/>
              </a:ext>
            </a:extLst>
          </p:cNvPr>
          <p:cNvGrpSpPr/>
          <p:nvPr/>
        </p:nvGrpSpPr>
        <p:grpSpPr>
          <a:xfrm>
            <a:off x="3189666" y="3964548"/>
            <a:ext cx="6053072" cy="1019577"/>
            <a:chOff x="3189666" y="3964548"/>
            <a:chExt cx="6053072" cy="1019577"/>
          </a:xfrm>
        </p:grpSpPr>
        <p:sp>
          <p:nvSpPr>
            <p:cNvPr id="14" name="Rectangle 13">
              <a:extLst>
                <a:ext uri="{FF2B5EF4-FFF2-40B4-BE49-F238E27FC236}">
                  <a16:creationId xmlns:a16="http://schemas.microsoft.com/office/drawing/2014/main" id="{DCEBFBF9-C5D7-7286-3F4C-49C91DEB5A78}"/>
                </a:ext>
              </a:extLst>
            </p:cNvPr>
            <p:cNvSpPr/>
            <p:nvPr/>
          </p:nvSpPr>
          <p:spPr>
            <a:xfrm>
              <a:off x="3189666" y="3964548"/>
              <a:ext cx="764147" cy="442175"/>
            </a:xfrm>
            <a:prstGeom prst="rect">
              <a:avLst/>
            </a:prstGeom>
            <a:noFill/>
            <a:ln w="254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9" name="Freeform: Shape 18">
              <a:extLst>
                <a:ext uri="{FF2B5EF4-FFF2-40B4-BE49-F238E27FC236}">
                  <a16:creationId xmlns:a16="http://schemas.microsoft.com/office/drawing/2014/main" id="{B67C4353-BAB8-83C4-8230-726A8FEE7C7D}"/>
                </a:ext>
              </a:extLst>
            </p:cNvPr>
            <p:cNvSpPr/>
            <p:nvPr/>
          </p:nvSpPr>
          <p:spPr>
            <a:xfrm>
              <a:off x="3558862" y="4408868"/>
              <a:ext cx="5683876" cy="575256"/>
            </a:xfrm>
            <a:custGeom>
              <a:avLst/>
              <a:gdLst>
                <a:gd name="csX0" fmla="*/ 0 w 5683876"/>
                <a:gd name="csY0" fmla="*/ 0 h 575256"/>
                <a:gd name="csX1" fmla="*/ 0 w 5683876"/>
                <a:gd name="csY1" fmla="*/ 575256 h 575256"/>
                <a:gd name="csX2" fmla="*/ 5344732 w 5683876"/>
                <a:gd name="csY2" fmla="*/ 575256 h 575256"/>
                <a:gd name="csX3" fmla="*/ 5683876 w 5683876"/>
                <a:gd name="csY3" fmla="*/ 107324 h 575256"/>
              </a:gdLst>
              <a:ahLst/>
              <a:cxnLst>
                <a:cxn ang="0">
                  <a:pos x="csX0" y="csY0"/>
                </a:cxn>
                <a:cxn ang="0">
                  <a:pos x="csX1" y="csY1"/>
                </a:cxn>
                <a:cxn ang="0">
                  <a:pos x="csX2" y="csY2"/>
                </a:cxn>
                <a:cxn ang="0">
                  <a:pos x="csX3" y="csY3"/>
                </a:cxn>
              </a:cxnLst>
              <a:rect l="l" t="t" r="r" b="b"/>
              <a:pathLst>
                <a:path w="5683876" h="575256">
                  <a:moveTo>
                    <a:pt x="0" y="0"/>
                  </a:moveTo>
                  <a:lnTo>
                    <a:pt x="0" y="575256"/>
                  </a:lnTo>
                  <a:lnTo>
                    <a:pt x="5344732" y="575256"/>
                  </a:lnTo>
                  <a:lnTo>
                    <a:pt x="5683876" y="107324"/>
                  </a:lnTo>
                </a:path>
              </a:pathLst>
            </a:custGeom>
            <a:noFill/>
            <a:ln>
              <a:solidFill>
                <a:schemeClr val="accent2">
                  <a:lumMod val="60000"/>
                  <a:lumOff val="40000"/>
                </a:schemeClr>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3" name="TextBox 22">
              <a:extLst>
                <a:ext uri="{FF2B5EF4-FFF2-40B4-BE49-F238E27FC236}">
                  <a16:creationId xmlns:a16="http://schemas.microsoft.com/office/drawing/2014/main" id="{242B240B-6323-6816-BDBC-6C53E57C3A33}"/>
                </a:ext>
              </a:extLst>
            </p:cNvPr>
            <p:cNvSpPr txBox="1"/>
            <p:nvPr/>
          </p:nvSpPr>
          <p:spPr>
            <a:xfrm>
              <a:off x="4362095" y="4730209"/>
              <a:ext cx="478016" cy="253916"/>
            </a:xfrm>
            <a:prstGeom prst="rect">
              <a:avLst/>
            </a:prstGeom>
            <a:noFill/>
          </p:spPr>
          <p:txBody>
            <a:bodyPr wrap="none" rtlCol="0">
              <a:spAutoFit/>
            </a:bodyPr>
            <a:lstStyle/>
            <a:p>
              <a:r>
                <a:rPr lang="sv-SE" sz="1050" b="1">
                  <a:solidFill>
                    <a:schemeClr val="accent2">
                      <a:lumMod val="75000"/>
                    </a:schemeClr>
                  </a:solidFill>
                </a:rPr>
                <a:t>pin 3</a:t>
              </a:r>
              <a:endParaRPr lang="LID4096" sz="1050" b="1">
                <a:solidFill>
                  <a:schemeClr val="accent2">
                    <a:lumMod val="75000"/>
                  </a:schemeClr>
                </a:solidFill>
              </a:endParaRPr>
            </a:p>
          </p:txBody>
        </p:sp>
      </p:grpSp>
      <p:grpSp>
        <p:nvGrpSpPr>
          <p:cNvPr id="33" name="Group 32">
            <a:extLst>
              <a:ext uri="{FF2B5EF4-FFF2-40B4-BE49-F238E27FC236}">
                <a16:creationId xmlns:a16="http://schemas.microsoft.com/office/drawing/2014/main" id="{6C974511-7A16-2067-F2A3-04CC5A685BAA}"/>
              </a:ext>
            </a:extLst>
          </p:cNvPr>
          <p:cNvGrpSpPr/>
          <p:nvPr/>
        </p:nvGrpSpPr>
        <p:grpSpPr>
          <a:xfrm>
            <a:off x="257079" y="3587966"/>
            <a:ext cx="2788124" cy="268310"/>
            <a:chOff x="257079" y="3587966"/>
            <a:chExt cx="2788124" cy="268310"/>
          </a:xfrm>
        </p:grpSpPr>
        <p:sp>
          <p:nvSpPr>
            <p:cNvPr id="24" name="TextBox 23">
              <a:extLst>
                <a:ext uri="{FF2B5EF4-FFF2-40B4-BE49-F238E27FC236}">
                  <a16:creationId xmlns:a16="http://schemas.microsoft.com/office/drawing/2014/main" id="{FBE3A273-3B0F-A326-B24D-C8B500C0CB7F}"/>
                </a:ext>
              </a:extLst>
            </p:cNvPr>
            <p:cNvSpPr txBox="1"/>
            <p:nvPr/>
          </p:nvSpPr>
          <p:spPr>
            <a:xfrm>
              <a:off x="2567187" y="3602360"/>
              <a:ext cx="478016" cy="253916"/>
            </a:xfrm>
            <a:prstGeom prst="rect">
              <a:avLst/>
            </a:prstGeom>
            <a:noFill/>
          </p:spPr>
          <p:txBody>
            <a:bodyPr wrap="none" rtlCol="0">
              <a:spAutoFit/>
            </a:bodyPr>
            <a:lstStyle/>
            <a:p>
              <a:r>
                <a:rPr lang="sv-SE" sz="1050" b="1">
                  <a:solidFill>
                    <a:srgbClr val="FFC000"/>
                  </a:solidFill>
                </a:rPr>
                <a:t>pin 4</a:t>
              </a:r>
              <a:endParaRPr lang="LID4096" sz="1050" b="1">
                <a:solidFill>
                  <a:srgbClr val="FFC000"/>
                </a:solidFill>
              </a:endParaRPr>
            </a:p>
          </p:txBody>
        </p:sp>
        <p:sp>
          <p:nvSpPr>
            <p:cNvPr id="25" name="TextBox 24">
              <a:extLst>
                <a:ext uri="{FF2B5EF4-FFF2-40B4-BE49-F238E27FC236}">
                  <a16:creationId xmlns:a16="http://schemas.microsoft.com/office/drawing/2014/main" id="{BDA81D9C-AC65-FD64-BA30-95B526462193}"/>
                </a:ext>
              </a:extLst>
            </p:cNvPr>
            <p:cNvSpPr txBox="1"/>
            <p:nvPr/>
          </p:nvSpPr>
          <p:spPr>
            <a:xfrm>
              <a:off x="1808731" y="3587966"/>
              <a:ext cx="478016" cy="253916"/>
            </a:xfrm>
            <a:prstGeom prst="rect">
              <a:avLst/>
            </a:prstGeom>
            <a:noFill/>
          </p:spPr>
          <p:txBody>
            <a:bodyPr wrap="none" rtlCol="0">
              <a:spAutoFit/>
            </a:bodyPr>
            <a:lstStyle/>
            <a:p>
              <a:r>
                <a:rPr lang="sv-SE" sz="1050" b="1">
                  <a:solidFill>
                    <a:srgbClr val="FFC000"/>
                  </a:solidFill>
                </a:rPr>
                <a:t>pin 5</a:t>
              </a:r>
              <a:endParaRPr lang="LID4096" sz="1050" b="1">
                <a:solidFill>
                  <a:srgbClr val="FFC000"/>
                </a:solidFill>
              </a:endParaRPr>
            </a:p>
          </p:txBody>
        </p:sp>
        <p:sp>
          <p:nvSpPr>
            <p:cNvPr id="26" name="TextBox 25">
              <a:extLst>
                <a:ext uri="{FF2B5EF4-FFF2-40B4-BE49-F238E27FC236}">
                  <a16:creationId xmlns:a16="http://schemas.microsoft.com/office/drawing/2014/main" id="{A48CA39A-9A83-C93B-5DA5-EE7856FE5DA4}"/>
                </a:ext>
              </a:extLst>
            </p:cNvPr>
            <p:cNvSpPr txBox="1"/>
            <p:nvPr/>
          </p:nvSpPr>
          <p:spPr>
            <a:xfrm>
              <a:off x="1032905" y="3587966"/>
              <a:ext cx="478016" cy="253916"/>
            </a:xfrm>
            <a:prstGeom prst="rect">
              <a:avLst/>
            </a:prstGeom>
            <a:noFill/>
          </p:spPr>
          <p:txBody>
            <a:bodyPr wrap="none" rtlCol="0">
              <a:spAutoFit/>
            </a:bodyPr>
            <a:lstStyle/>
            <a:p>
              <a:r>
                <a:rPr lang="sv-SE" sz="1050" b="1">
                  <a:solidFill>
                    <a:srgbClr val="FFC000"/>
                  </a:solidFill>
                </a:rPr>
                <a:t>pin 6</a:t>
              </a:r>
              <a:endParaRPr lang="LID4096" sz="1050" b="1">
                <a:solidFill>
                  <a:srgbClr val="FFC000"/>
                </a:solidFill>
              </a:endParaRPr>
            </a:p>
          </p:txBody>
        </p:sp>
        <p:sp>
          <p:nvSpPr>
            <p:cNvPr id="27" name="TextBox 26">
              <a:extLst>
                <a:ext uri="{FF2B5EF4-FFF2-40B4-BE49-F238E27FC236}">
                  <a16:creationId xmlns:a16="http://schemas.microsoft.com/office/drawing/2014/main" id="{1C6D5707-349C-26D0-F2AF-8817F8D5AC63}"/>
                </a:ext>
              </a:extLst>
            </p:cNvPr>
            <p:cNvSpPr txBox="1"/>
            <p:nvPr/>
          </p:nvSpPr>
          <p:spPr>
            <a:xfrm>
              <a:off x="257079" y="3587966"/>
              <a:ext cx="478016" cy="253916"/>
            </a:xfrm>
            <a:prstGeom prst="rect">
              <a:avLst/>
            </a:prstGeom>
            <a:noFill/>
          </p:spPr>
          <p:txBody>
            <a:bodyPr wrap="none" rtlCol="0">
              <a:spAutoFit/>
            </a:bodyPr>
            <a:lstStyle/>
            <a:p>
              <a:r>
                <a:rPr lang="sv-SE" sz="1050" b="1">
                  <a:solidFill>
                    <a:srgbClr val="FFC000"/>
                  </a:solidFill>
                </a:rPr>
                <a:t>pin 7</a:t>
              </a:r>
              <a:endParaRPr lang="LID4096" sz="1050" b="1">
                <a:solidFill>
                  <a:srgbClr val="FFC000"/>
                </a:solidFill>
              </a:endParaRPr>
            </a:p>
          </p:txBody>
        </p:sp>
      </p:grpSp>
    </p:spTree>
    <p:extLst>
      <p:ext uri="{BB962C8B-B14F-4D97-AF65-F5344CB8AC3E}">
        <p14:creationId xmlns:p14="http://schemas.microsoft.com/office/powerpoint/2010/main" val="1452679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5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wipe(right)">
                                      <p:cBhvr>
                                        <p:cTn id="2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F1B66-79E3-462F-8ECC-242DC705A0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BCF9D6-251D-4B72-09AF-F7324ABD8FBA}"/>
              </a:ext>
            </a:extLst>
          </p:cNvPr>
          <p:cNvSpPr>
            <a:spLocks noGrp="1"/>
          </p:cNvSpPr>
          <p:nvPr>
            <p:ph type="title"/>
          </p:nvPr>
        </p:nvSpPr>
        <p:spPr/>
        <p:txBody>
          <a:bodyPr/>
          <a:lstStyle/>
          <a:p>
            <a:r>
              <a:rPr lang="sv-SE"/>
              <a:t>Konfigurera pinnar</a:t>
            </a:r>
            <a:endParaRPr lang="LID4096"/>
          </a:p>
        </p:txBody>
      </p:sp>
      <p:pic>
        <p:nvPicPr>
          <p:cNvPr id="6" name="Picture 5">
            <a:extLst>
              <a:ext uri="{FF2B5EF4-FFF2-40B4-BE49-F238E27FC236}">
                <a16:creationId xmlns:a16="http://schemas.microsoft.com/office/drawing/2014/main" id="{8ACC8707-35E0-4881-8031-2096463CB404}"/>
              </a:ext>
            </a:extLst>
          </p:cNvPr>
          <p:cNvPicPr>
            <a:picLocks noChangeAspect="1"/>
          </p:cNvPicPr>
          <p:nvPr/>
        </p:nvPicPr>
        <p:blipFill>
          <a:blip r:embed="rId3"/>
          <a:stretch>
            <a:fillRect/>
          </a:stretch>
        </p:blipFill>
        <p:spPr>
          <a:xfrm>
            <a:off x="0" y="0"/>
            <a:ext cx="6356665" cy="6858000"/>
          </a:xfrm>
          <a:prstGeom prst="rect">
            <a:avLst/>
          </a:prstGeom>
          <a:ln>
            <a:solidFill>
              <a:schemeClr val="tx1"/>
            </a:solidFill>
          </a:ln>
        </p:spPr>
      </p:pic>
      <p:pic>
        <p:nvPicPr>
          <p:cNvPr id="4" name="Picture 3">
            <a:extLst>
              <a:ext uri="{FF2B5EF4-FFF2-40B4-BE49-F238E27FC236}">
                <a16:creationId xmlns:a16="http://schemas.microsoft.com/office/drawing/2014/main" id="{8CD68893-9612-BE08-AF92-85DDB598DA68}"/>
              </a:ext>
            </a:extLst>
          </p:cNvPr>
          <p:cNvPicPr>
            <a:picLocks noChangeAspect="1"/>
          </p:cNvPicPr>
          <p:nvPr/>
        </p:nvPicPr>
        <p:blipFill>
          <a:blip r:embed="rId4"/>
          <a:stretch>
            <a:fillRect/>
          </a:stretch>
        </p:blipFill>
        <p:spPr>
          <a:xfrm>
            <a:off x="6952286" y="2561063"/>
            <a:ext cx="3900312" cy="3300730"/>
          </a:xfrm>
          <a:prstGeom prst="rect">
            <a:avLst/>
          </a:prstGeom>
        </p:spPr>
      </p:pic>
      <p:grpSp>
        <p:nvGrpSpPr>
          <p:cNvPr id="28" name="Group 27">
            <a:extLst>
              <a:ext uri="{FF2B5EF4-FFF2-40B4-BE49-F238E27FC236}">
                <a16:creationId xmlns:a16="http://schemas.microsoft.com/office/drawing/2014/main" id="{13951C70-32E8-294B-BF52-D991C28685FD}"/>
              </a:ext>
            </a:extLst>
          </p:cNvPr>
          <p:cNvGrpSpPr/>
          <p:nvPr/>
        </p:nvGrpSpPr>
        <p:grpSpPr>
          <a:xfrm>
            <a:off x="5482107" y="3930071"/>
            <a:ext cx="1910366" cy="2301027"/>
            <a:chOff x="5482107" y="2112134"/>
            <a:chExt cx="1910366" cy="2301027"/>
          </a:xfrm>
        </p:grpSpPr>
        <p:grpSp>
          <p:nvGrpSpPr>
            <p:cNvPr id="16" name="Group 15">
              <a:extLst>
                <a:ext uri="{FF2B5EF4-FFF2-40B4-BE49-F238E27FC236}">
                  <a16:creationId xmlns:a16="http://schemas.microsoft.com/office/drawing/2014/main" id="{12950048-6CF4-31AB-137F-18954B5BE962}"/>
                </a:ext>
              </a:extLst>
            </p:cNvPr>
            <p:cNvGrpSpPr/>
            <p:nvPr/>
          </p:nvGrpSpPr>
          <p:grpSpPr>
            <a:xfrm>
              <a:off x="5482107" y="2112134"/>
              <a:ext cx="1910366" cy="2301027"/>
              <a:chOff x="5482107" y="2112134"/>
              <a:chExt cx="1910366" cy="2301027"/>
            </a:xfrm>
          </p:grpSpPr>
          <p:sp>
            <p:nvSpPr>
              <p:cNvPr id="5" name="Rectangle 4">
                <a:extLst>
                  <a:ext uri="{FF2B5EF4-FFF2-40B4-BE49-F238E27FC236}">
                    <a16:creationId xmlns:a16="http://schemas.microsoft.com/office/drawing/2014/main" id="{FEF66831-B0CF-7382-4445-8D45923F0130}"/>
                  </a:ext>
                </a:extLst>
              </p:cNvPr>
              <p:cNvSpPr/>
              <p:nvPr/>
            </p:nvSpPr>
            <p:spPr>
              <a:xfrm>
                <a:off x="5482107" y="3970986"/>
                <a:ext cx="764147" cy="442175"/>
              </a:xfrm>
              <a:prstGeom prst="rect">
                <a:avLst/>
              </a:prstGeom>
              <a:noFill/>
              <a:ln w="254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5" name="Freeform: Shape 14">
                <a:extLst>
                  <a:ext uri="{FF2B5EF4-FFF2-40B4-BE49-F238E27FC236}">
                    <a16:creationId xmlns:a16="http://schemas.microsoft.com/office/drawing/2014/main" id="{42657192-F3E9-CF63-FF38-AD3B8445D6E2}"/>
                  </a:ext>
                </a:extLst>
              </p:cNvPr>
              <p:cNvSpPr/>
              <p:nvPr/>
            </p:nvSpPr>
            <p:spPr>
              <a:xfrm>
                <a:off x="5859887" y="2112134"/>
                <a:ext cx="1532586" cy="1858851"/>
              </a:xfrm>
              <a:custGeom>
                <a:avLst/>
                <a:gdLst>
                  <a:gd name="csX0" fmla="*/ 0 w 3052293"/>
                  <a:gd name="csY0" fmla="*/ 171718 h 442174"/>
                  <a:gd name="csX1" fmla="*/ 0 w 3052293"/>
                  <a:gd name="csY1" fmla="*/ 0 h 442174"/>
                  <a:gd name="csX2" fmla="*/ 2747493 w 3052293"/>
                  <a:gd name="csY2" fmla="*/ 0 h 442174"/>
                  <a:gd name="csX3" fmla="*/ 3052293 w 3052293"/>
                  <a:gd name="csY3" fmla="*/ 442174 h 442174"/>
                  <a:gd name="csX0" fmla="*/ 0 w 3052293"/>
                  <a:gd name="csY0" fmla="*/ 1858851 h 2129307"/>
                  <a:gd name="csX1" fmla="*/ 0 w 3052293"/>
                  <a:gd name="csY1" fmla="*/ 1687133 h 2129307"/>
                  <a:gd name="csX2" fmla="*/ 1283595 w 3052293"/>
                  <a:gd name="csY2" fmla="*/ 0 h 2129307"/>
                  <a:gd name="csX3" fmla="*/ 3052293 w 3052293"/>
                  <a:gd name="csY3" fmla="*/ 2129307 h 2129307"/>
                  <a:gd name="csX0" fmla="*/ 0 w 1532586"/>
                  <a:gd name="csY0" fmla="*/ 1858851 h 1858851"/>
                  <a:gd name="csX1" fmla="*/ 0 w 1532586"/>
                  <a:gd name="csY1" fmla="*/ 1687133 h 1858851"/>
                  <a:gd name="csX2" fmla="*/ 1283595 w 1532586"/>
                  <a:gd name="csY2" fmla="*/ 0 h 1858851"/>
                  <a:gd name="csX3" fmla="*/ 1532586 w 1532586"/>
                  <a:gd name="csY3" fmla="*/ 287629 h 1858851"/>
                </a:gdLst>
                <a:ahLst/>
                <a:cxnLst>
                  <a:cxn ang="0">
                    <a:pos x="csX0" y="csY0"/>
                  </a:cxn>
                  <a:cxn ang="0">
                    <a:pos x="csX1" y="csY1"/>
                  </a:cxn>
                  <a:cxn ang="0">
                    <a:pos x="csX2" y="csY2"/>
                  </a:cxn>
                  <a:cxn ang="0">
                    <a:pos x="csX3" y="csY3"/>
                  </a:cxn>
                </a:cxnLst>
                <a:rect l="l" t="t" r="r" b="b"/>
                <a:pathLst>
                  <a:path w="1532586" h="1858851">
                    <a:moveTo>
                      <a:pt x="0" y="1858851"/>
                    </a:moveTo>
                    <a:lnTo>
                      <a:pt x="0" y="1687133"/>
                    </a:lnTo>
                    <a:lnTo>
                      <a:pt x="1283595" y="0"/>
                    </a:lnTo>
                    <a:cubicBezTo>
                      <a:pt x="1385195" y="147391"/>
                      <a:pt x="1430986" y="140238"/>
                      <a:pt x="1532586" y="287629"/>
                    </a:cubicBezTo>
                  </a:path>
                </a:pathLst>
              </a:custGeom>
              <a:noFill/>
              <a:ln>
                <a:solidFill>
                  <a:schemeClr val="accent4">
                    <a:lumMod val="60000"/>
                    <a:lumOff val="40000"/>
                  </a:schemeClr>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sp>
          <p:nvSpPr>
            <p:cNvPr id="20" name="TextBox 19">
              <a:extLst>
                <a:ext uri="{FF2B5EF4-FFF2-40B4-BE49-F238E27FC236}">
                  <a16:creationId xmlns:a16="http://schemas.microsoft.com/office/drawing/2014/main" id="{61AFC537-4DC1-6B69-8298-8013E68BFB25}"/>
                </a:ext>
              </a:extLst>
            </p:cNvPr>
            <p:cNvSpPr txBox="1"/>
            <p:nvPr/>
          </p:nvSpPr>
          <p:spPr>
            <a:xfrm>
              <a:off x="6448010" y="3758745"/>
              <a:ext cx="478016" cy="253916"/>
            </a:xfrm>
            <a:prstGeom prst="rect">
              <a:avLst/>
            </a:prstGeom>
            <a:noFill/>
          </p:spPr>
          <p:txBody>
            <a:bodyPr wrap="none" rtlCol="0">
              <a:spAutoFit/>
            </a:bodyPr>
            <a:lstStyle/>
            <a:p>
              <a:r>
                <a:rPr lang="sv-SE" sz="1050" b="1">
                  <a:solidFill>
                    <a:schemeClr val="accent4">
                      <a:lumMod val="75000"/>
                    </a:schemeClr>
                  </a:solidFill>
                </a:rPr>
                <a:t>pin 8</a:t>
              </a:r>
              <a:endParaRPr lang="LID4096" sz="1050" b="1">
                <a:solidFill>
                  <a:schemeClr val="accent4">
                    <a:lumMod val="75000"/>
                  </a:schemeClr>
                </a:solidFill>
              </a:endParaRPr>
            </a:p>
          </p:txBody>
        </p:sp>
      </p:grpSp>
      <p:grpSp>
        <p:nvGrpSpPr>
          <p:cNvPr id="29" name="Group 28">
            <a:extLst>
              <a:ext uri="{FF2B5EF4-FFF2-40B4-BE49-F238E27FC236}">
                <a16:creationId xmlns:a16="http://schemas.microsoft.com/office/drawing/2014/main" id="{C65ACFA8-DE9D-A6C2-CC0E-89BAC091710D}"/>
              </a:ext>
            </a:extLst>
          </p:cNvPr>
          <p:cNvGrpSpPr/>
          <p:nvPr/>
        </p:nvGrpSpPr>
        <p:grpSpPr>
          <a:xfrm>
            <a:off x="4717960" y="4511388"/>
            <a:ext cx="2871988" cy="2098400"/>
            <a:chOff x="4717960" y="2695449"/>
            <a:chExt cx="2871988" cy="2098400"/>
          </a:xfrm>
        </p:grpSpPr>
        <p:sp>
          <p:nvSpPr>
            <p:cNvPr id="11" name="Rectangle 10">
              <a:extLst>
                <a:ext uri="{FF2B5EF4-FFF2-40B4-BE49-F238E27FC236}">
                  <a16:creationId xmlns:a16="http://schemas.microsoft.com/office/drawing/2014/main" id="{46D04C68-0571-4CB5-338A-C8B39A139BA8}"/>
                </a:ext>
              </a:extLst>
            </p:cNvPr>
            <p:cNvSpPr/>
            <p:nvPr/>
          </p:nvSpPr>
          <p:spPr>
            <a:xfrm>
              <a:off x="4717960" y="3968840"/>
              <a:ext cx="764147" cy="442175"/>
            </a:xfrm>
            <a:prstGeom prst="rect">
              <a:avLst/>
            </a:prstGeom>
            <a:noFill/>
            <a:ln w="2540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7" name="Freeform: Shape 16">
              <a:extLst>
                <a:ext uri="{FF2B5EF4-FFF2-40B4-BE49-F238E27FC236}">
                  <a16:creationId xmlns:a16="http://schemas.microsoft.com/office/drawing/2014/main" id="{D9CD8F2C-B05C-A82E-0EB0-4FDCFB0667C6}"/>
                </a:ext>
              </a:extLst>
            </p:cNvPr>
            <p:cNvSpPr/>
            <p:nvPr/>
          </p:nvSpPr>
          <p:spPr>
            <a:xfrm>
              <a:off x="5091447" y="2695449"/>
              <a:ext cx="2498501" cy="2095492"/>
            </a:xfrm>
            <a:custGeom>
              <a:avLst/>
              <a:gdLst>
                <a:gd name="csX0" fmla="*/ 0 w 3992451"/>
                <a:gd name="csY0" fmla="*/ 0 h 313385"/>
                <a:gd name="csX1" fmla="*/ 0 w 3992451"/>
                <a:gd name="csY1" fmla="*/ 313385 h 313385"/>
                <a:gd name="csX2" fmla="*/ 60101 w 3992451"/>
                <a:gd name="csY2" fmla="*/ 309093 h 313385"/>
                <a:gd name="csX3" fmla="*/ 3764924 w 3992451"/>
                <a:gd name="csY3" fmla="*/ 309093 h 313385"/>
                <a:gd name="csX4" fmla="*/ 3992451 w 3992451"/>
                <a:gd name="csY4" fmla="*/ 60101 h 313385"/>
                <a:gd name="csX0" fmla="*/ 0 w 3767862"/>
                <a:gd name="csY0" fmla="*/ 1424917 h 1738302"/>
                <a:gd name="csX1" fmla="*/ 0 w 3767862"/>
                <a:gd name="csY1" fmla="*/ 1738302 h 1738302"/>
                <a:gd name="csX2" fmla="*/ 60101 w 3767862"/>
                <a:gd name="csY2" fmla="*/ 1734010 h 1738302"/>
                <a:gd name="csX3" fmla="*/ 3764924 w 3767862"/>
                <a:gd name="csY3" fmla="*/ 1734010 h 1738302"/>
                <a:gd name="csX4" fmla="*/ 2498501 w 3767862"/>
                <a:gd name="csY4" fmla="*/ 0 h 1738302"/>
                <a:gd name="csX0" fmla="*/ 0 w 2498501"/>
                <a:gd name="csY0" fmla="*/ 1424917 h 1738302"/>
                <a:gd name="csX1" fmla="*/ 0 w 2498501"/>
                <a:gd name="csY1" fmla="*/ 1738302 h 1738302"/>
                <a:gd name="csX2" fmla="*/ 60101 w 2498501"/>
                <a:gd name="csY2" fmla="*/ 1734010 h 1738302"/>
                <a:gd name="csX3" fmla="*/ 2116428 w 2498501"/>
                <a:gd name="csY3" fmla="*/ 1377890 h 1738302"/>
                <a:gd name="csX4" fmla="*/ 2498501 w 2498501"/>
                <a:gd name="csY4" fmla="*/ 0 h 1738302"/>
                <a:gd name="csX0" fmla="*/ 0 w 2498501"/>
                <a:gd name="csY0" fmla="*/ 1424917 h 1738302"/>
                <a:gd name="csX1" fmla="*/ 0 w 2498501"/>
                <a:gd name="csY1" fmla="*/ 1738302 h 1738302"/>
                <a:gd name="csX2" fmla="*/ 60101 w 2498501"/>
                <a:gd name="csY2" fmla="*/ 1734010 h 1738302"/>
                <a:gd name="csX3" fmla="*/ 2116428 w 2498501"/>
                <a:gd name="csY3" fmla="*/ 1377890 h 1738302"/>
                <a:gd name="csX4" fmla="*/ 2498501 w 2498501"/>
                <a:gd name="csY4" fmla="*/ 0 h 1738302"/>
              </a:gdLst>
              <a:ahLst/>
              <a:cxnLst>
                <a:cxn ang="0">
                  <a:pos x="csX0" y="csY0"/>
                </a:cxn>
                <a:cxn ang="0">
                  <a:pos x="csX1" y="csY1"/>
                </a:cxn>
                <a:cxn ang="0">
                  <a:pos x="csX2" y="csY2"/>
                </a:cxn>
                <a:cxn ang="0">
                  <a:pos x="csX3" y="csY3"/>
                </a:cxn>
                <a:cxn ang="0">
                  <a:pos x="csX4" y="csY4"/>
                </a:cxn>
              </a:cxnLst>
              <a:rect l="l" t="t" r="r" b="b"/>
              <a:pathLst>
                <a:path w="2498501" h="1738302">
                  <a:moveTo>
                    <a:pt x="0" y="1424917"/>
                  </a:moveTo>
                  <a:lnTo>
                    <a:pt x="0" y="1738302"/>
                  </a:lnTo>
                  <a:lnTo>
                    <a:pt x="60101" y="1734010"/>
                  </a:lnTo>
                  <a:lnTo>
                    <a:pt x="2116428" y="1377890"/>
                  </a:lnTo>
                  <a:cubicBezTo>
                    <a:pt x="2213735" y="1120394"/>
                    <a:pt x="2422659" y="82997"/>
                    <a:pt x="2498501" y="0"/>
                  </a:cubicBezTo>
                </a:path>
              </a:pathLst>
            </a:custGeom>
            <a:noFill/>
            <a:ln>
              <a:solidFill>
                <a:schemeClr val="accent6">
                  <a:lumMod val="60000"/>
                  <a:lumOff val="40000"/>
                </a:schemeClr>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1" name="TextBox 20">
              <a:extLst>
                <a:ext uri="{FF2B5EF4-FFF2-40B4-BE49-F238E27FC236}">
                  <a16:creationId xmlns:a16="http://schemas.microsoft.com/office/drawing/2014/main" id="{C6761FFA-8DFA-7548-0978-9F11C46A0AEE}"/>
                </a:ext>
              </a:extLst>
            </p:cNvPr>
            <p:cNvSpPr txBox="1"/>
            <p:nvPr/>
          </p:nvSpPr>
          <p:spPr>
            <a:xfrm>
              <a:off x="5893013" y="4539933"/>
              <a:ext cx="478016" cy="253916"/>
            </a:xfrm>
            <a:prstGeom prst="rect">
              <a:avLst/>
            </a:prstGeom>
            <a:noFill/>
          </p:spPr>
          <p:txBody>
            <a:bodyPr wrap="none" rtlCol="0">
              <a:spAutoFit/>
            </a:bodyPr>
            <a:lstStyle/>
            <a:p>
              <a:r>
                <a:rPr lang="sv-SE" sz="1050" b="1">
                  <a:solidFill>
                    <a:schemeClr val="accent6">
                      <a:lumMod val="75000"/>
                    </a:schemeClr>
                  </a:solidFill>
                </a:rPr>
                <a:t>pin 9</a:t>
              </a:r>
              <a:endParaRPr lang="LID4096" sz="1050" b="1">
                <a:solidFill>
                  <a:schemeClr val="accent6">
                    <a:lumMod val="75000"/>
                  </a:schemeClr>
                </a:solidFill>
              </a:endParaRPr>
            </a:p>
          </p:txBody>
        </p:sp>
      </p:grpSp>
      <p:sp>
        <p:nvSpPr>
          <p:cNvPr id="3" name="TextBox 2">
            <a:extLst>
              <a:ext uri="{FF2B5EF4-FFF2-40B4-BE49-F238E27FC236}">
                <a16:creationId xmlns:a16="http://schemas.microsoft.com/office/drawing/2014/main" id="{58D29F89-553C-ED2E-9EFE-8F2E75B2AE85}"/>
              </a:ext>
            </a:extLst>
          </p:cNvPr>
          <p:cNvSpPr txBox="1"/>
          <p:nvPr/>
        </p:nvSpPr>
        <p:spPr>
          <a:xfrm>
            <a:off x="3462919" y="5505403"/>
            <a:ext cx="502061" cy="253916"/>
          </a:xfrm>
          <a:prstGeom prst="rect">
            <a:avLst/>
          </a:prstGeom>
          <a:noFill/>
        </p:spPr>
        <p:txBody>
          <a:bodyPr wrap="none" rtlCol="0">
            <a:spAutoFit/>
          </a:bodyPr>
          <a:lstStyle/>
          <a:p>
            <a:r>
              <a:rPr lang="sv-SE" sz="1050" b="1"/>
              <a:t>etc...</a:t>
            </a:r>
            <a:endParaRPr lang="LID4096" sz="1050" b="1"/>
          </a:p>
        </p:txBody>
      </p:sp>
    </p:spTree>
    <p:extLst>
      <p:ext uri="{BB962C8B-B14F-4D97-AF65-F5344CB8AC3E}">
        <p14:creationId xmlns:p14="http://schemas.microsoft.com/office/powerpoint/2010/main" val="1570949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9C575-72F7-01C7-7C21-FD1F41570B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7D9BFB-3CF7-F9FD-C386-6244CC349F0D}"/>
              </a:ext>
            </a:extLst>
          </p:cNvPr>
          <p:cNvSpPr>
            <a:spLocks noGrp="1"/>
          </p:cNvSpPr>
          <p:nvPr>
            <p:ph type="title"/>
          </p:nvPr>
        </p:nvSpPr>
        <p:spPr/>
        <p:txBody>
          <a:bodyPr/>
          <a:lstStyle/>
          <a:p>
            <a:r>
              <a:rPr lang="sv-SE"/>
              <a:t>Konfigurera pinnar</a:t>
            </a:r>
            <a:endParaRPr lang="LID4096"/>
          </a:p>
        </p:txBody>
      </p:sp>
      <p:pic>
        <p:nvPicPr>
          <p:cNvPr id="6" name="Picture 5">
            <a:extLst>
              <a:ext uri="{FF2B5EF4-FFF2-40B4-BE49-F238E27FC236}">
                <a16:creationId xmlns:a16="http://schemas.microsoft.com/office/drawing/2014/main" id="{A559B5AD-6F3C-712E-CF45-753F7FD59506}"/>
              </a:ext>
            </a:extLst>
          </p:cNvPr>
          <p:cNvPicPr>
            <a:picLocks noChangeAspect="1"/>
          </p:cNvPicPr>
          <p:nvPr/>
        </p:nvPicPr>
        <p:blipFill>
          <a:blip r:embed="rId3"/>
          <a:stretch>
            <a:fillRect/>
          </a:stretch>
        </p:blipFill>
        <p:spPr>
          <a:xfrm>
            <a:off x="0" y="0"/>
            <a:ext cx="6356665" cy="6858000"/>
          </a:xfrm>
          <a:prstGeom prst="rect">
            <a:avLst/>
          </a:prstGeom>
          <a:ln>
            <a:solidFill>
              <a:schemeClr val="tx1"/>
            </a:solidFill>
          </a:ln>
        </p:spPr>
      </p:pic>
      <p:pic>
        <p:nvPicPr>
          <p:cNvPr id="4" name="Picture 3">
            <a:extLst>
              <a:ext uri="{FF2B5EF4-FFF2-40B4-BE49-F238E27FC236}">
                <a16:creationId xmlns:a16="http://schemas.microsoft.com/office/drawing/2014/main" id="{FFD70FDF-20B4-42E1-F226-5A6B75B21213}"/>
              </a:ext>
            </a:extLst>
          </p:cNvPr>
          <p:cNvPicPr>
            <a:picLocks noChangeAspect="1"/>
          </p:cNvPicPr>
          <p:nvPr/>
        </p:nvPicPr>
        <p:blipFill>
          <a:blip r:embed="rId4"/>
          <a:stretch>
            <a:fillRect/>
          </a:stretch>
        </p:blipFill>
        <p:spPr>
          <a:xfrm>
            <a:off x="6952286" y="2561063"/>
            <a:ext cx="3900312" cy="3300730"/>
          </a:xfrm>
          <a:prstGeom prst="rect">
            <a:avLst/>
          </a:prstGeom>
        </p:spPr>
      </p:pic>
      <p:sp>
        <p:nvSpPr>
          <p:cNvPr id="7" name="Rectangle: Rounded Corners 6">
            <a:extLst>
              <a:ext uri="{FF2B5EF4-FFF2-40B4-BE49-F238E27FC236}">
                <a16:creationId xmlns:a16="http://schemas.microsoft.com/office/drawing/2014/main" id="{7E135B80-CB48-96E4-87D5-249FCE1C6E41}"/>
              </a:ext>
            </a:extLst>
          </p:cNvPr>
          <p:cNvSpPr/>
          <p:nvPr/>
        </p:nvSpPr>
        <p:spPr>
          <a:xfrm>
            <a:off x="3588913" y="1352282"/>
            <a:ext cx="2670219" cy="2076718"/>
          </a:xfrm>
          <a:prstGeom prst="roundRect">
            <a:avLst>
              <a:gd name="adj" fmla="val 199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8" name="Rectangle: Rounded Corners 7">
            <a:extLst>
              <a:ext uri="{FF2B5EF4-FFF2-40B4-BE49-F238E27FC236}">
                <a16:creationId xmlns:a16="http://schemas.microsoft.com/office/drawing/2014/main" id="{37692513-30D4-A49B-AA88-5264C1F492EC}"/>
              </a:ext>
            </a:extLst>
          </p:cNvPr>
          <p:cNvSpPr/>
          <p:nvPr/>
        </p:nvSpPr>
        <p:spPr>
          <a:xfrm>
            <a:off x="3630256" y="2871989"/>
            <a:ext cx="1907659" cy="210355"/>
          </a:xfrm>
          <a:prstGeom prst="roundRect">
            <a:avLst/>
          </a:prstGeom>
          <a:noFill/>
          <a:ln w="254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910114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EA492-BD5C-49AD-CDE7-15837C89E2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ABDDA9-9A7C-F9E4-A9E3-B50C890137FC}"/>
              </a:ext>
            </a:extLst>
          </p:cNvPr>
          <p:cNvSpPr>
            <a:spLocks noGrp="1"/>
          </p:cNvSpPr>
          <p:nvPr>
            <p:ph type="title"/>
          </p:nvPr>
        </p:nvSpPr>
        <p:spPr/>
        <p:txBody>
          <a:bodyPr/>
          <a:lstStyle/>
          <a:p>
            <a:r>
              <a:rPr lang="sv-SE"/>
              <a:t>Konfigurera pinnar</a:t>
            </a:r>
            <a:endParaRPr lang="LID4096"/>
          </a:p>
        </p:txBody>
      </p:sp>
      <p:pic>
        <p:nvPicPr>
          <p:cNvPr id="6" name="Picture 5">
            <a:extLst>
              <a:ext uri="{FF2B5EF4-FFF2-40B4-BE49-F238E27FC236}">
                <a16:creationId xmlns:a16="http://schemas.microsoft.com/office/drawing/2014/main" id="{A5E2E147-8047-C001-9DD8-26FA77AE3262}"/>
              </a:ext>
            </a:extLst>
          </p:cNvPr>
          <p:cNvPicPr>
            <a:picLocks noChangeAspect="1"/>
          </p:cNvPicPr>
          <p:nvPr/>
        </p:nvPicPr>
        <p:blipFill>
          <a:blip r:embed="rId3"/>
          <a:stretch>
            <a:fillRect/>
          </a:stretch>
        </p:blipFill>
        <p:spPr>
          <a:xfrm>
            <a:off x="0" y="0"/>
            <a:ext cx="6356665" cy="6858000"/>
          </a:xfrm>
          <a:prstGeom prst="rect">
            <a:avLst/>
          </a:prstGeom>
          <a:ln>
            <a:solidFill>
              <a:schemeClr val="tx1"/>
            </a:solidFill>
          </a:ln>
        </p:spPr>
      </p:pic>
      <p:pic>
        <p:nvPicPr>
          <p:cNvPr id="4" name="Picture 3">
            <a:extLst>
              <a:ext uri="{FF2B5EF4-FFF2-40B4-BE49-F238E27FC236}">
                <a16:creationId xmlns:a16="http://schemas.microsoft.com/office/drawing/2014/main" id="{E2230387-C48D-8CCC-148F-A75BF9CA11D8}"/>
              </a:ext>
            </a:extLst>
          </p:cNvPr>
          <p:cNvPicPr>
            <a:picLocks noChangeAspect="1"/>
          </p:cNvPicPr>
          <p:nvPr/>
        </p:nvPicPr>
        <p:blipFill>
          <a:blip r:embed="rId4"/>
          <a:stretch>
            <a:fillRect/>
          </a:stretch>
        </p:blipFill>
        <p:spPr>
          <a:xfrm>
            <a:off x="6952286" y="2561063"/>
            <a:ext cx="3900312" cy="3300730"/>
          </a:xfrm>
          <a:prstGeom prst="rect">
            <a:avLst/>
          </a:prstGeom>
        </p:spPr>
      </p:pic>
      <p:sp>
        <p:nvSpPr>
          <p:cNvPr id="3" name="TextBox 2">
            <a:extLst>
              <a:ext uri="{FF2B5EF4-FFF2-40B4-BE49-F238E27FC236}">
                <a16:creationId xmlns:a16="http://schemas.microsoft.com/office/drawing/2014/main" id="{C354C28E-6218-2877-D3CA-D3EB1173F740}"/>
              </a:ext>
            </a:extLst>
          </p:cNvPr>
          <p:cNvSpPr txBox="1"/>
          <p:nvPr/>
        </p:nvSpPr>
        <p:spPr>
          <a:xfrm>
            <a:off x="3462919" y="5505403"/>
            <a:ext cx="502061" cy="253916"/>
          </a:xfrm>
          <a:prstGeom prst="rect">
            <a:avLst/>
          </a:prstGeom>
          <a:noFill/>
        </p:spPr>
        <p:txBody>
          <a:bodyPr wrap="none" rtlCol="0">
            <a:spAutoFit/>
          </a:bodyPr>
          <a:lstStyle/>
          <a:p>
            <a:r>
              <a:rPr lang="sv-SE" sz="1050" b="1"/>
              <a:t>etc...</a:t>
            </a:r>
            <a:endParaRPr lang="LID4096" sz="1050" b="1"/>
          </a:p>
        </p:txBody>
      </p:sp>
      <p:sp>
        <p:nvSpPr>
          <p:cNvPr id="7" name="Rectangle: Rounded Corners 6">
            <a:extLst>
              <a:ext uri="{FF2B5EF4-FFF2-40B4-BE49-F238E27FC236}">
                <a16:creationId xmlns:a16="http://schemas.microsoft.com/office/drawing/2014/main" id="{033E319B-7214-8B55-543A-CBF0546B9B12}"/>
              </a:ext>
            </a:extLst>
          </p:cNvPr>
          <p:cNvSpPr/>
          <p:nvPr/>
        </p:nvSpPr>
        <p:spPr>
          <a:xfrm>
            <a:off x="107325" y="2498500"/>
            <a:ext cx="3498760" cy="930499"/>
          </a:xfrm>
          <a:prstGeom prst="roundRect">
            <a:avLst>
              <a:gd name="adj" fmla="val 199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5" name="Rectangle: Rounded Corners 4">
            <a:extLst>
              <a:ext uri="{FF2B5EF4-FFF2-40B4-BE49-F238E27FC236}">
                <a16:creationId xmlns:a16="http://schemas.microsoft.com/office/drawing/2014/main" id="{00AD1E68-68A2-0D5E-534C-41802075D321}"/>
              </a:ext>
            </a:extLst>
          </p:cNvPr>
          <p:cNvSpPr/>
          <p:nvPr/>
        </p:nvSpPr>
        <p:spPr>
          <a:xfrm>
            <a:off x="3630256" y="2871989"/>
            <a:ext cx="1907659" cy="210355"/>
          </a:xfrm>
          <a:prstGeom prst="roundRect">
            <a:avLst/>
          </a:prstGeom>
          <a:noFill/>
          <a:ln w="254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8" name="Rectangle: Rounded Corners 7">
            <a:extLst>
              <a:ext uri="{FF2B5EF4-FFF2-40B4-BE49-F238E27FC236}">
                <a16:creationId xmlns:a16="http://schemas.microsoft.com/office/drawing/2014/main" id="{DC9FCEFD-E0DF-A322-5D19-9D108EB48AE2}"/>
              </a:ext>
            </a:extLst>
          </p:cNvPr>
          <p:cNvSpPr/>
          <p:nvPr/>
        </p:nvSpPr>
        <p:spPr>
          <a:xfrm>
            <a:off x="146520" y="2518534"/>
            <a:ext cx="1907659" cy="210355"/>
          </a:xfrm>
          <a:prstGeom prst="roundRect">
            <a:avLst/>
          </a:prstGeom>
          <a:noFill/>
          <a:ln w="254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nvGrpSpPr>
          <p:cNvPr id="9" name="Group 8">
            <a:extLst>
              <a:ext uri="{FF2B5EF4-FFF2-40B4-BE49-F238E27FC236}">
                <a16:creationId xmlns:a16="http://schemas.microsoft.com/office/drawing/2014/main" id="{08088EB4-0677-29B9-95FE-25A663DC4A95}"/>
              </a:ext>
            </a:extLst>
          </p:cNvPr>
          <p:cNvGrpSpPr/>
          <p:nvPr/>
        </p:nvGrpSpPr>
        <p:grpSpPr>
          <a:xfrm>
            <a:off x="3953813" y="3294530"/>
            <a:ext cx="5142964" cy="1114339"/>
            <a:chOff x="3953813" y="3294530"/>
            <a:chExt cx="5142964" cy="1114339"/>
          </a:xfrm>
        </p:grpSpPr>
        <p:sp>
          <p:nvSpPr>
            <p:cNvPr id="10" name="Rectangle 9">
              <a:extLst>
                <a:ext uri="{FF2B5EF4-FFF2-40B4-BE49-F238E27FC236}">
                  <a16:creationId xmlns:a16="http://schemas.microsoft.com/office/drawing/2014/main" id="{8375C39A-FCBB-BB64-BE8E-A5ADBD4B6D28}"/>
                </a:ext>
              </a:extLst>
            </p:cNvPr>
            <p:cNvSpPr/>
            <p:nvPr/>
          </p:nvSpPr>
          <p:spPr>
            <a:xfrm>
              <a:off x="3953813" y="3966694"/>
              <a:ext cx="764147" cy="442175"/>
            </a:xfrm>
            <a:prstGeom prst="rect">
              <a:avLst/>
            </a:prstGeom>
            <a:no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1" name="Freeform: Shape 10">
              <a:extLst>
                <a:ext uri="{FF2B5EF4-FFF2-40B4-BE49-F238E27FC236}">
                  <a16:creationId xmlns:a16="http://schemas.microsoft.com/office/drawing/2014/main" id="{E7E2238D-21C0-CF1A-E361-4645E0E2A19E}"/>
                </a:ext>
              </a:extLst>
            </p:cNvPr>
            <p:cNvSpPr/>
            <p:nvPr/>
          </p:nvSpPr>
          <p:spPr>
            <a:xfrm>
              <a:off x="4323008" y="3541690"/>
              <a:ext cx="4773769" cy="699752"/>
            </a:xfrm>
            <a:custGeom>
              <a:avLst/>
              <a:gdLst>
                <a:gd name="csX0" fmla="*/ 0 w 4773769"/>
                <a:gd name="csY0" fmla="*/ 412124 h 699752"/>
                <a:gd name="csX1" fmla="*/ 0 w 4773769"/>
                <a:gd name="csY1" fmla="*/ 0 h 699752"/>
                <a:gd name="csX2" fmla="*/ 4292958 w 4773769"/>
                <a:gd name="csY2" fmla="*/ 0 h 699752"/>
                <a:gd name="csX3" fmla="*/ 4773769 w 4773769"/>
                <a:gd name="csY3" fmla="*/ 699752 h 699752"/>
              </a:gdLst>
              <a:ahLst/>
              <a:cxnLst>
                <a:cxn ang="0">
                  <a:pos x="csX0" y="csY0"/>
                </a:cxn>
                <a:cxn ang="0">
                  <a:pos x="csX1" y="csY1"/>
                </a:cxn>
                <a:cxn ang="0">
                  <a:pos x="csX2" y="csY2"/>
                </a:cxn>
                <a:cxn ang="0">
                  <a:pos x="csX3" y="csY3"/>
                </a:cxn>
              </a:cxnLst>
              <a:rect l="l" t="t" r="r" b="b"/>
              <a:pathLst>
                <a:path w="4773769" h="699752">
                  <a:moveTo>
                    <a:pt x="0" y="412124"/>
                  </a:moveTo>
                  <a:lnTo>
                    <a:pt x="0" y="0"/>
                  </a:lnTo>
                  <a:lnTo>
                    <a:pt x="4292958" y="0"/>
                  </a:lnTo>
                  <a:lnTo>
                    <a:pt x="4773769" y="699752"/>
                  </a:lnTo>
                </a:path>
              </a:pathLst>
            </a:custGeom>
            <a:noFill/>
            <a:ln>
              <a:solidFill>
                <a:schemeClr val="accent5">
                  <a:lumMod val="60000"/>
                  <a:lumOff val="40000"/>
                </a:schemeClr>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2" name="TextBox 11">
              <a:extLst>
                <a:ext uri="{FF2B5EF4-FFF2-40B4-BE49-F238E27FC236}">
                  <a16:creationId xmlns:a16="http://schemas.microsoft.com/office/drawing/2014/main" id="{592D8F88-58FC-1990-1FE2-1E4B31F9DB27}"/>
                </a:ext>
              </a:extLst>
            </p:cNvPr>
            <p:cNvSpPr txBox="1"/>
            <p:nvPr/>
          </p:nvSpPr>
          <p:spPr>
            <a:xfrm>
              <a:off x="5552663" y="3294530"/>
              <a:ext cx="478016" cy="253916"/>
            </a:xfrm>
            <a:prstGeom prst="rect">
              <a:avLst/>
            </a:prstGeom>
            <a:noFill/>
          </p:spPr>
          <p:txBody>
            <a:bodyPr wrap="none" rtlCol="0">
              <a:spAutoFit/>
            </a:bodyPr>
            <a:lstStyle/>
            <a:p>
              <a:r>
                <a:rPr lang="sv-SE" sz="1050" b="1">
                  <a:solidFill>
                    <a:schemeClr val="accent5">
                      <a:lumMod val="75000"/>
                    </a:schemeClr>
                  </a:solidFill>
                </a:rPr>
                <a:t>pin 2</a:t>
              </a:r>
              <a:endParaRPr lang="LID4096" sz="1050" b="1">
                <a:solidFill>
                  <a:schemeClr val="accent5">
                    <a:lumMod val="75000"/>
                  </a:schemeClr>
                </a:solidFill>
              </a:endParaRPr>
            </a:p>
          </p:txBody>
        </p:sp>
      </p:grpSp>
      <p:sp>
        <p:nvSpPr>
          <p:cNvPr id="13" name="Rectangle 12">
            <a:extLst>
              <a:ext uri="{FF2B5EF4-FFF2-40B4-BE49-F238E27FC236}">
                <a16:creationId xmlns:a16="http://schemas.microsoft.com/office/drawing/2014/main" id="{5D68A649-174D-8560-4DB3-E16E7C0E6580}"/>
              </a:ext>
            </a:extLst>
          </p:cNvPr>
          <p:cNvSpPr/>
          <p:nvPr/>
        </p:nvSpPr>
        <p:spPr>
          <a:xfrm>
            <a:off x="4009623" y="4228563"/>
            <a:ext cx="270456" cy="1545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4" name="Rectangle 13">
            <a:extLst>
              <a:ext uri="{FF2B5EF4-FFF2-40B4-BE49-F238E27FC236}">
                <a16:creationId xmlns:a16="http://schemas.microsoft.com/office/drawing/2014/main" id="{F6470984-8E1B-5D84-C7C5-58D40C0354D6}"/>
              </a:ext>
            </a:extLst>
          </p:cNvPr>
          <p:cNvSpPr/>
          <p:nvPr/>
        </p:nvSpPr>
        <p:spPr>
          <a:xfrm>
            <a:off x="4372376" y="4211428"/>
            <a:ext cx="323047" cy="1545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5" name="TextBox 14">
            <a:extLst>
              <a:ext uri="{FF2B5EF4-FFF2-40B4-BE49-F238E27FC236}">
                <a16:creationId xmlns:a16="http://schemas.microsoft.com/office/drawing/2014/main" id="{AAD79196-3137-51D5-0220-EA6D1FEFE357}"/>
              </a:ext>
            </a:extLst>
          </p:cNvPr>
          <p:cNvSpPr txBox="1"/>
          <p:nvPr/>
        </p:nvSpPr>
        <p:spPr>
          <a:xfrm>
            <a:off x="3987674" y="4163068"/>
            <a:ext cx="338554" cy="261610"/>
          </a:xfrm>
          <a:prstGeom prst="rect">
            <a:avLst/>
          </a:prstGeom>
          <a:noFill/>
        </p:spPr>
        <p:txBody>
          <a:bodyPr wrap="none" rtlCol="0">
            <a:spAutoFit/>
          </a:bodyPr>
          <a:lstStyle/>
          <a:p>
            <a:r>
              <a:rPr lang="en-GB" sz="1100">
                <a:solidFill>
                  <a:schemeClr val="accent1">
                    <a:lumMod val="75000"/>
                  </a:schemeClr>
                </a:solidFill>
                <a:latin typeface="Consolas" panose="020B0609020204030204" pitchFamily="49" charset="0"/>
              </a:rPr>
              <a:t>00</a:t>
            </a:r>
            <a:endParaRPr lang="LID4096">
              <a:solidFill>
                <a:schemeClr val="accent1">
                  <a:lumMod val="75000"/>
                </a:schemeClr>
              </a:solidFill>
              <a:latin typeface="Consolas" panose="020B0609020204030204" pitchFamily="49" charset="0"/>
            </a:endParaRPr>
          </a:p>
        </p:txBody>
      </p:sp>
      <p:sp>
        <p:nvSpPr>
          <p:cNvPr id="16" name="TextBox 15">
            <a:extLst>
              <a:ext uri="{FF2B5EF4-FFF2-40B4-BE49-F238E27FC236}">
                <a16:creationId xmlns:a16="http://schemas.microsoft.com/office/drawing/2014/main" id="{129757F6-CC6B-F3BD-52EA-55CD0A34DF95}"/>
              </a:ext>
            </a:extLst>
          </p:cNvPr>
          <p:cNvSpPr txBox="1"/>
          <p:nvPr/>
        </p:nvSpPr>
        <p:spPr>
          <a:xfrm>
            <a:off x="4364622" y="4155164"/>
            <a:ext cx="338554" cy="261610"/>
          </a:xfrm>
          <a:prstGeom prst="rect">
            <a:avLst/>
          </a:prstGeom>
          <a:noFill/>
        </p:spPr>
        <p:txBody>
          <a:bodyPr wrap="none" rtlCol="0">
            <a:spAutoFit/>
          </a:bodyPr>
          <a:lstStyle/>
          <a:p>
            <a:r>
              <a:rPr lang="en-GB" sz="1100">
                <a:solidFill>
                  <a:schemeClr val="accent2">
                    <a:lumMod val="75000"/>
                  </a:schemeClr>
                </a:solidFill>
                <a:latin typeface="Consolas" panose="020B0609020204030204" pitchFamily="49" charset="0"/>
              </a:rPr>
              <a:t>10</a:t>
            </a:r>
            <a:endParaRPr lang="LID4096">
              <a:solidFill>
                <a:schemeClr val="accent2">
                  <a:lumMod val="75000"/>
                </a:schemeClr>
              </a:solidFill>
              <a:latin typeface="Consolas" panose="020B0609020204030204" pitchFamily="49" charset="0"/>
            </a:endParaRPr>
          </a:p>
        </p:txBody>
      </p:sp>
    </p:spTree>
    <p:extLst>
      <p:ext uri="{BB962C8B-B14F-4D97-AF65-F5344CB8AC3E}">
        <p14:creationId xmlns:p14="http://schemas.microsoft.com/office/powerpoint/2010/main" val="3845171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5" grpId="0"/>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00DA3-A3DD-0992-B269-261E79D324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2CAF6C-D582-9B19-9F29-457129DEC410}"/>
              </a:ext>
            </a:extLst>
          </p:cNvPr>
          <p:cNvSpPr>
            <a:spLocks noGrp="1"/>
          </p:cNvSpPr>
          <p:nvPr>
            <p:ph type="title"/>
          </p:nvPr>
        </p:nvSpPr>
        <p:spPr/>
        <p:txBody>
          <a:bodyPr/>
          <a:lstStyle/>
          <a:p>
            <a:r>
              <a:rPr lang="sv-SE"/>
              <a:t>Konfigurera pinnar</a:t>
            </a:r>
            <a:endParaRPr lang="LID4096"/>
          </a:p>
        </p:txBody>
      </p:sp>
      <p:pic>
        <p:nvPicPr>
          <p:cNvPr id="6" name="Picture 5">
            <a:extLst>
              <a:ext uri="{FF2B5EF4-FFF2-40B4-BE49-F238E27FC236}">
                <a16:creationId xmlns:a16="http://schemas.microsoft.com/office/drawing/2014/main" id="{AB99BCC2-BE66-8ED0-3606-0973EF96F91B}"/>
              </a:ext>
            </a:extLst>
          </p:cNvPr>
          <p:cNvPicPr>
            <a:picLocks noChangeAspect="1"/>
          </p:cNvPicPr>
          <p:nvPr/>
        </p:nvPicPr>
        <p:blipFill>
          <a:blip r:embed="rId3"/>
          <a:stretch>
            <a:fillRect/>
          </a:stretch>
        </p:blipFill>
        <p:spPr>
          <a:xfrm>
            <a:off x="0" y="0"/>
            <a:ext cx="6356665" cy="6858000"/>
          </a:xfrm>
          <a:prstGeom prst="rect">
            <a:avLst/>
          </a:prstGeom>
          <a:ln>
            <a:solidFill>
              <a:schemeClr val="tx1"/>
            </a:solidFill>
          </a:ln>
        </p:spPr>
      </p:pic>
      <p:pic>
        <p:nvPicPr>
          <p:cNvPr id="4" name="Picture 3">
            <a:extLst>
              <a:ext uri="{FF2B5EF4-FFF2-40B4-BE49-F238E27FC236}">
                <a16:creationId xmlns:a16="http://schemas.microsoft.com/office/drawing/2014/main" id="{EE424505-ABF2-59EB-9E70-3415C7058F57}"/>
              </a:ext>
            </a:extLst>
          </p:cNvPr>
          <p:cNvPicPr>
            <a:picLocks noChangeAspect="1"/>
          </p:cNvPicPr>
          <p:nvPr/>
        </p:nvPicPr>
        <p:blipFill>
          <a:blip r:embed="rId4"/>
          <a:stretch>
            <a:fillRect/>
          </a:stretch>
        </p:blipFill>
        <p:spPr>
          <a:xfrm>
            <a:off x="6952286" y="2561063"/>
            <a:ext cx="3900312" cy="3300730"/>
          </a:xfrm>
          <a:prstGeom prst="rect">
            <a:avLst/>
          </a:prstGeom>
        </p:spPr>
      </p:pic>
      <p:sp>
        <p:nvSpPr>
          <p:cNvPr id="3" name="TextBox 2">
            <a:extLst>
              <a:ext uri="{FF2B5EF4-FFF2-40B4-BE49-F238E27FC236}">
                <a16:creationId xmlns:a16="http://schemas.microsoft.com/office/drawing/2014/main" id="{12402B27-6515-E66B-ECE8-8649D02413D6}"/>
              </a:ext>
            </a:extLst>
          </p:cNvPr>
          <p:cNvSpPr txBox="1"/>
          <p:nvPr/>
        </p:nvSpPr>
        <p:spPr>
          <a:xfrm>
            <a:off x="3462919" y="5505403"/>
            <a:ext cx="502061" cy="253916"/>
          </a:xfrm>
          <a:prstGeom prst="rect">
            <a:avLst/>
          </a:prstGeom>
          <a:noFill/>
        </p:spPr>
        <p:txBody>
          <a:bodyPr wrap="none" rtlCol="0">
            <a:spAutoFit/>
          </a:bodyPr>
          <a:lstStyle/>
          <a:p>
            <a:r>
              <a:rPr lang="sv-SE" sz="1050" b="1"/>
              <a:t>etc...</a:t>
            </a:r>
            <a:endParaRPr lang="LID4096" sz="1050" b="1"/>
          </a:p>
        </p:txBody>
      </p:sp>
      <p:sp>
        <p:nvSpPr>
          <p:cNvPr id="7" name="Rectangle: Rounded Corners 6">
            <a:extLst>
              <a:ext uri="{FF2B5EF4-FFF2-40B4-BE49-F238E27FC236}">
                <a16:creationId xmlns:a16="http://schemas.microsoft.com/office/drawing/2014/main" id="{C89CFC66-6744-E16F-B3B6-C9B48BA68843}"/>
              </a:ext>
            </a:extLst>
          </p:cNvPr>
          <p:cNvSpPr/>
          <p:nvPr/>
        </p:nvSpPr>
        <p:spPr>
          <a:xfrm>
            <a:off x="107325" y="2498500"/>
            <a:ext cx="3498760" cy="930499"/>
          </a:xfrm>
          <a:prstGeom prst="roundRect">
            <a:avLst>
              <a:gd name="adj" fmla="val 199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5" name="Rectangle: Rounded Corners 4">
            <a:extLst>
              <a:ext uri="{FF2B5EF4-FFF2-40B4-BE49-F238E27FC236}">
                <a16:creationId xmlns:a16="http://schemas.microsoft.com/office/drawing/2014/main" id="{AC056178-2C71-378B-FCCC-780412653A40}"/>
              </a:ext>
            </a:extLst>
          </p:cNvPr>
          <p:cNvSpPr/>
          <p:nvPr/>
        </p:nvSpPr>
        <p:spPr>
          <a:xfrm>
            <a:off x="3630256" y="2871989"/>
            <a:ext cx="1907659" cy="210355"/>
          </a:xfrm>
          <a:prstGeom prst="roundRect">
            <a:avLst/>
          </a:prstGeom>
          <a:noFill/>
          <a:ln w="254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8" name="Rectangle: Rounded Corners 7">
            <a:extLst>
              <a:ext uri="{FF2B5EF4-FFF2-40B4-BE49-F238E27FC236}">
                <a16:creationId xmlns:a16="http://schemas.microsoft.com/office/drawing/2014/main" id="{0901DF68-40C9-4ECB-E41D-AB5E6BC6B8D0}"/>
              </a:ext>
            </a:extLst>
          </p:cNvPr>
          <p:cNvSpPr/>
          <p:nvPr/>
        </p:nvSpPr>
        <p:spPr>
          <a:xfrm>
            <a:off x="146520" y="2518534"/>
            <a:ext cx="1907659" cy="210355"/>
          </a:xfrm>
          <a:prstGeom prst="roundRect">
            <a:avLst/>
          </a:prstGeom>
          <a:noFill/>
          <a:ln w="254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nvGrpSpPr>
          <p:cNvPr id="9" name="Group 8">
            <a:extLst>
              <a:ext uri="{FF2B5EF4-FFF2-40B4-BE49-F238E27FC236}">
                <a16:creationId xmlns:a16="http://schemas.microsoft.com/office/drawing/2014/main" id="{9BCEB293-0C9E-F8FF-8D8D-4B134C3CC680}"/>
              </a:ext>
            </a:extLst>
          </p:cNvPr>
          <p:cNvGrpSpPr/>
          <p:nvPr/>
        </p:nvGrpSpPr>
        <p:grpSpPr>
          <a:xfrm>
            <a:off x="3953813" y="3294530"/>
            <a:ext cx="5142964" cy="1114339"/>
            <a:chOff x="3953813" y="3294530"/>
            <a:chExt cx="5142964" cy="1114339"/>
          </a:xfrm>
        </p:grpSpPr>
        <p:sp>
          <p:nvSpPr>
            <p:cNvPr id="10" name="Rectangle 9">
              <a:extLst>
                <a:ext uri="{FF2B5EF4-FFF2-40B4-BE49-F238E27FC236}">
                  <a16:creationId xmlns:a16="http://schemas.microsoft.com/office/drawing/2014/main" id="{96E41E32-69E2-96C0-597E-ACD81EE54D31}"/>
                </a:ext>
              </a:extLst>
            </p:cNvPr>
            <p:cNvSpPr/>
            <p:nvPr/>
          </p:nvSpPr>
          <p:spPr>
            <a:xfrm>
              <a:off x="3953813" y="3966694"/>
              <a:ext cx="764147" cy="442175"/>
            </a:xfrm>
            <a:prstGeom prst="rect">
              <a:avLst/>
            </a:prstGeom>
            <a:no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1" name="Freeform: Shape 10">
              <a:extLst>
                <a:ext uri="{FF2B5EF4-FFF2-40B4-BE49-F238E27FC236}">
                  <a16:creationId xmlns:a16="http://schemas.microsoft.com/office/drawing/2014/main" id="{246F249D-E168-E570-3509-6A0D906859EB}"/>
                </a:ext>
              </a:extLst>
            </p:cNvPr>
            <p:cNvSpPr/>
            <p:nvPr/>
          </p:nvSpPr>
          <p:spPr>
            <a:xfrm>
              <a:off x="4323008" y="3541690"/>
              <a:ext cx="4773769" cy="699752"/>
            </a:xfrm>
            <a:custGeom>
              <a:avLst/>
              <a:gdLst>
                <a:gd name="csX0" fmla="*/ 0 w 4773769"/>
                <a:gd name="csY0" fmla="*/ 412124 h 699752"/>
                <a:gd name="csX1" fmla="*/ 0 w 4773769"/>
                <a:gd name="csY1" fmla="*/ 0 h 699752"/>
                <a:gd name="csX2" fmla="*/ 4292958 w 4773769"/>
                <a:gd name="csY2" fmla="*/ 0 h 699752"/>
                <a:gd name="csX3" fmla="*/ 4773769 w 4773769"/>
                <a:gd name="csY3" fmla="*/ 699752 h 699752"/>
              </a:gdLst>
              <a:ahLst/>
              <a:cxnLst>
                <a:cxn ang="0">
                  <a:pos x="csX0" y="csY0"/>
                </a:cxn>
                <a:cxn ang="0">
                  <a:pos x="csX1" y="csY1"/>
                </a:cxn>
                <a:cxn ang="0">
                  <a:pos x="csX2" y="csY2"/>
                </a:cxn>
                <a:cxn ang="0">
                  <a:pos x="csX3" y="csY3"/>
                </a:cxn>
              </a:cxnLst>
              <a:rect l="l" t="t" r="r" b="b"/>
              <a:pathLst>
                <a:path w="4773769" h="699752">
                  <a:moveTo>
                    <a:pt x="0" y="412124"/>
                  </a:moveTo>
                  <a:lnTo>
                    <a:pt x="0" y="0"/>
                  </a:lnTo>
                  <a:lnTo>
                    <a:pt x="4292958" y="0"/>
                  </a:lnTo>
                  <a:lnTo>
                    <a:pt x="4773769" y="699752"/>
                  </a:lnTo>
                </a:path>
              </a:pathLst>
            </a:custGeom>
            <a:noFill/>
            <a:ln>
              <a:solidFill>
                <a:schemeClr val="accent5">
                  <a:lumMod val="60000"/>
                  <a:lumOff val="40000"/>
                </a:schemeClr>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2" name="TextBox 11">
              <a:extLst>
                <a:ext uri="{FF2B5EF4-FFF2-40B4-BE49-F238E27FC236}">
                  <a16:creationId xmlns:a16="http://schemas.microsoft.com/office/drawing/2014/main" id="{E8344ACA-C871-4FF0-19D7-021905209043}"/>
                </a:ext>
              </a:extLst>
            </p:cNvPr>
            <p:cNvSpPr txBox="1"/>
            <p:nvPr/>
          </p:nvSpPr>
          <p:spPr>
            <a:xfrm>
              <a:off x="5552663" y="3294530"/>
              <a:ext cx="478016" cy="253916"/>
            </a:xfrm>
            <a:prstGeom prst="rect">
              <a:avLst/>
            </a:prstGeom>
            <a:noFill/>
          </p:spPr>
          <p:txBody>
            <a:bodyPr wrap="none" rtlCol="0">
              <a:spAutoFit/>
            </a:bodyPr>
            <a:lstStyle/>
            <a:p>
              <a:r>
                <a:rPr lang="sv-SE" sz="1050" b="1">
                  <a:solidFill>
                    <a:schemeClr val="accent5">
                      <a:lumMod val="75000"/>
                    </a:schemeClr>
                  </a:solidFill>
                </a:rPr>
                <a:t>pin 2</a:t>
              </a:r>
              <a:endParaRPr lang="LID4096" sz="1050" b="1">
                <a:solidFill>
                  <a:schemeClr val="accent5">
                    <a:lumMod val="75000"/>
                  </a:schemeClr>
                </a:solidFill>
              </a:endParaRPr>
            </a:p>
          </p:txBody>
        </p:sp>
      </p:grpSp>
      <p:sp>
        <p:nvSpPr>
          <p:cNvPr id="13" name="Rectangle 12">
            <a:extLst>
              <a:ext uri="{FF2B5EF4-FFF2-40B4-BE49-F238E27FC236}">
                <a16:creationId xmlns:a16="http://schemas.microsoft.com/office/drawing/2014/main" id="{F7C18010-BBCA-77F8-6376-CAD3A1C34BF4}"/>
              </a:ext>
            </a:extLst>
          </p:cNvPr>
          <p:cNvSpPr/>
          <p:nvPr/>
        </p:nvSpPr>
        <p:spPr>
          <a:xfrm>
            <a:off x="4009623" y="4228563"/>
            <a:ext cx="270456" cy="1545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4" name="Rectangle 13">
            <a:extLst>
              <a:ext uri="{FF2B5EF4-FFF2-40B4-BE49-F238E27FC236}">
                <a16:creationId xmlns:a16="http://schemas.microsoft.com/office/drawing/2014/main" id="{B1108944-EAB2-E283-7A97-E0F2912ECBA6}"/>
              </a:ext>
            </a:extLst>
          </p:cNvPr>
          <p:cNvSpPr/>
          <p:nvPr/>
        </p:nvSpPr>
        <p:spPr>
          <a:xfrm>
            <a:off x="4372376" y="4211428"/>
            <a:ext cx="323047" cy="1545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5" name="TextBox 14">
            <a:extLst>
              <a:ext uri="{FF2B5EF4-FFF2-40B4-BE49-F238E27FC236}">
                <a16:creationId xmlns:a16="http://schemas.microsoft.com/office/drawing/2014/main" id="{257CCEA3-4C67-39CC-DF47-9B7F34D36A16}"/>
              </a:ext>
            </a:extLst>
          </p:cNvPr>
          <p:cNvSpPr txBox="1"/>
          <p:nvPr/>
        </p:nvSpPr>
        <p:spPr>
          <a:xfrm>
            <a:off x="3987674" y="4163068"/>
            <a:ext cx="338554" cy="261610"/>
          </a:xfrm>
          <a:prstGeom prst="rect">
            <a:avLst/>
          </a:prstGeom>
          <a:noFill/>
        </p:spPr>
        <p:txBody>
          <a:bodyPr wrap="none" rtlCol="0">
            <a:spAutoFit/>
          </a:bodyPr>
          <a:lstStyle/>
          <a:p>
            <a:r>
              <a:rPr lang="en-GB" sz="1100">
                <a:solidFill>
                  <a:schemeClr val="accent1">
                    <a:lumMod val="75000"/>
                  </a:schemeClr>
                </a:solidFill>
                <a:latin typeface="Consolas" panose="020B0609020204030204" pitchFamily="49" charset="0"/>
              </a:rPr>
              <a:t>00</a:t>
            </a:r>
            <a:endParaRPr lang="LID4096">
              <a:solidFill>
                <a:schemeClr val="accent1">
                  <a:lumMod val="75000"/>
                </a:schemeClr>
              </a:solidFill>
              <a:latin typeface="Consolas" panose="020B0609020204030204" pitchFamily="49" charset="0"/>
            </a:endParaRPr>
          </a:p>
        </p:txBody>
      </p:sp>
      <p:sp>
        <p:nvSpPr>
          <p:cNvPr id="16" name="TextBox 15">
            <a:extLst>
              <a:ext uri="{FF2B5EF4-FFF2-40B4-BE49-F238E27FC236}">
                <a16:creationId xmlns:a16="http://schemas.microsoft.com/office/drawing/2014/main" id="{27084478-8283-DEC2-B691-052CE706680D}"/>
              </a:ext>
            </a:extLst>
          </p:cNvPr>
          <p:cNvSpPr txBox="1"/>
          <p:nvPr/>
        </p:nvSpPr>
        <p:spPr>
          <a:xfrm>
            <a:off x="4364622" y="4155164"/>
            <a:ext cx="338554" cy="261610"/>
          </a:xfrm>
          <a:prstGeom prst="rect">
            <a:avLst/>
          </a:prstGeom>
          <a:noFill/>
        </p:spPr>
        <p:txBody>
          <a:bodyPr wrap="none" rtlCol="0">
            <a:spAutoFit/>
          </a:bodyPr>
          <a:lstStyle/>
          <a:p>
            <a:r>
              <a:rPr lang="en-GB" sz="1100">
                <a:solidFill>
                  <a:schemeClr val="accent2">
                    <a:lumMod val="75000"/>
                  </a:schemeClr>
                </a:solidFill>
                <a:latin typeface="Consolas" panose="020B0609020204030204" pitchFamily="49" charset="0"/>
              </a:rPr>
              <a:t>10</a:t>
            </a:r>
            <a:endParaRPr lang="LID4096">
              <a:solidFill>
                <a:schemeClr val="accent2">
                  <a:lumMod val="75000"/>
                </a:schemeClr>
              </a:solidFill>
              <a:latin typeface="Consolas" panose="020B0609020204030204" pitchFamily="49" charset="0"/>
            </a:endParaRPr>
          </a:p>
        </p:txBody>
      </p:sp>
      <p:sp>
        <p:nvSpPr>
          <p:cNvPr id="18" name="TextBox 17">
            <a:extLst>
              <a:ext uri="{FF2B5EF4-FFF2-40B4-BE49-F238E27FC236}">
                <a16:creationId xmlns:a16="http://schemas.microsoft.com/office/drawing/2014/main" id="{1591B206-20BE-D474-DE97-0B3CA9B4E0C3}"/>
              </a:ext>
            </a:extLst>
          </p:cNvPr>
          <p:cNvSpPr txBox="1"/>
          <p:nvPr/>
        </p:nvSpPr>
        <p:spPr>
          <a:xfrm>
            <a:off x="5804014" y="1040150"/>
            <a:ext cx="6102438" cy="1015663"/>
          </a:xfrm>
          <a:prstGeom prst="rect">
            <a:avLst/>
          </a:prstGeom>
          <a:solidFill>
            <a:schemeClr val="bg2">
              <a:lumMod val="25000"/>
            </a:schemeClr>
          </a:solidFill>
          <a:ln>
            <a:solidFill>
              <a:schemeClr val="tx1"/>
            </a:solidFill>
          </a:ln>
        </p:spPr>
        <p:txBody>
          <a:bodyPr wrap="square">
            <a:spAutoFit/>
          </a:bodyPr>
          <a:lstStyle/>
          <a:p>
            <a:pPr>
              <a:buNone/>
            </a:pPr>
            <a:r>
              <a:rPr lang="en-GB" sz="1200" b="0">
                <a:solidFill>
                  <a:srgbClr val="DCDCAA"/>
                </a:solidFill>
                <a:effectLst/>
                <a:latin typeface="Consolas" panose="020B0609020204030204" pitchFamily="49" charset="0"/>
              </a:rPr>
              <a:t>main</a:t>
            </a:r>
            <a:r>
              <a:rPr lang="en-GB" sz="1200" b="0">
                <a:solidFill>
                  <a:srgbClr val="CCCCCC"/>
                </a:solidFill>
                <a:effectLst/>
                <a:latin typeface="Consolas" panose="020B0609020204030204" pitchFamily="49" charset="0"/>
              </a:rPr>
              <a:t>:</a:t>
            </a:r>
          </a:p>
          <a:p>
            <a:pPr>
              <a:buNone/>
            </a:pPr>
            <a:r>
              <a:rPr lang="en-GB" sz="1200" b="0">
                <a:solidFill>
                  <a:srgbClr val="CCCCCC"/>
                </a:solidFill>
                <a:effectLst/>
                <a:latin typeface="Consolas" panose="020B0609020204030204" pitchFamily="49" charset="0"/>
              </a:rPr>
              <a:t>    </a:t>
            </a:r>
            <a:r>
              <a:rPr lang="en-GB" sz="1200" b="0">
                <a:solidFill>
                  <a:srgbClr val="6A9955"/>
                </a:solidFill>
                <a:effectLst/>
                <a:latin typeface="Consolas" panose="020B0609020204030204" pitchFamily="49" charset="0"/>
              </a:rPr>
              <a:t># Configure GPIO D, pin 2 as output, 2Mhz, push-pull </a:t>
            </a:r>
            <a:endParaRPr lang="en-GB" sz="1200" b="0">
              <a:solidFill>
                <a:srgbClr val="CCCCCC"/>
              </a:solidFill>
              <a:effectLst/>
              <a:latin typeface="Consolas" panose="020B0609020204030204" pitchFamily="49" charset="0"/>
            </a:endParaRPr>
          </a:p>
          <a:p>
            <a:pPr>
              <a:buNone/>
            </a:pPr>
            <a:r>
              <a:rPr lang="en-GB" sz="1200" b="0">
                <a:solidFill>
                  <a:srgbClr val="CCCCCC"/>
                </a:solidFill>
                <a:effectLst/>
                <a:latin typeface="Consolas" panose="020B0609020204030204" pitchFamily="49" charset="0"/>
              </a:rPr>
              <a:t>    </a:t>
            </a:r>
            <a:r>
              <a:rPr lang="en-GB" sz="1200" b="0">
                <a:solidFill>
                  <a:srgbClr val="DCDCAA"/>
                </a:solidFill>
                <a:effectLst/>
                <a:latin typeface="Consolas" panose="020B0609020204030204" pitchFamily="49" charset="0"/>
              </a:rPr>
              <a:t>la</a:t>
            </a:r>
            <a:r>
              <a:rPr lang="en-GB" sz="1200" b="0">
                <a:solidFill>
                  <a:srgbClr val="CCCCCC"/>
                </a:solidFill>
                <a:effectLst/>
                <a:latin typeface="Consolas" panose="020B0609020204030204" pitchFamily="49" charset="0"/>
              </a:rPr>
              <a:t> </a:t>
            </a:r>
            <a:r>
              <a:rPr lang="en-GB" sz="1200" b="0">
                <a:solidFill>
                  <a:srgbClr val="9CDCFE"/>
                </a:solidFill>
                <a:effectLst/>
                <a:latin typeface="Consolas" panose="020B0609020204030204" pitchFamily="49" charset="0"/>
              </a:rPr>
              <a:t>t0</a:t>
            </a:r>
            <a:r>
              <a:rPr lang="en-GB" sz="1200" b="0">
                <a:solidFill>
                  <a:srgbClr val="CCCCCC"/>
                </a:solidFill>
                <a:effectLst/>
                <a:latin typeface="Consolas" panose="020B0609020204030204" pitchFamily="49" charset="0"/>
              </a:rPr>
              <a:t>, </a:t>
            </a:r>
            <a:r>
              <a:rPr lang="en-GB" sz="1200">
                <a:solidFill>
                  <a:srgbClr val="B5CEA8"/>
                </a:solidFill>
                <a:latin typeface="Consolas" panose="020B0609020204030204" pitchFamily="49" charset="0"/>
              </a:rPr>
              <a:t>0x40011400</a:t>
            </a:r>
            <a:endParaRPr lang="en-GB" sz="1200" b="0">
              <a:solidFill>
                <a:srgbClr val="CCCCCC"/>
              </a:solidFill>
              <a:effectLst/>
              <a:latin typeface="Consolas" panose="020B0609020204030204" pitchFamily="49" charset="0"/>
            </a:endParaRPr>
          </a:p>
          <a:p>
            <a:pPr>
              <a:buNone/>
            </a:pPr>
            <a:r>
              <a:rPr lang="en-GB" sz="1200" b="0">
                <a:solidFill>
                  <a:srgbClr val="CCCCCC"/>
                </a:solidFill>
                <a:effectLst/>
                <a:latin typeface="Consolas" panose="020B0609020204030204" pitchFamily="49" charset="0"/>
              </a:rPr>
              <a:t>    </a:t>
            </a:r>
            <a:r>
              <a:rPr lang="en-GB" sz="1200" b="0">
                <a:solidFill>
                  <a:srgbClr val="DCDCAA"/>
                </a:solidFill>
                <a:effectLst/>
                <a:latin typeface="Consolas" panose="020B0609020204030204" pitchFamily="49" charset="0"/>
              </a:rPr>
              <a:t>li</a:t>
            </a:r>
            <a:r>
              <a:rPr lang="en-GB" sz="1200" b="0">
                <a:solidFill>
                  <a:srgbClr val="CCCCCC"/>
                </a:solidFill>
                <a:effectLst/>
                <a:latin typeface="Consolas" panose="020B0609020204030204" pitchFamily="49" charset="0"/>
              </a:rPr>
              <a:t> </a:t>
            </a:r>
            <a:r>
              <a:rPr lang="en-GB" sz="1200" b="0">
                <a:solidFill>
                  <a:srgbClr val="9CDCFE"/>
                </a:solidFill>
                <a:effectLst/>
                <a:latin typeface="Consolas" panose="020B0609020204030204" pitchFamily="49" charset="0"/>
              </a:rPr>
              <a:t>t1</a:t>
            </a:r>
            <a:r>
              <a:rPr lang="en-GB" sz="1200" b="0">
                <a:solidFill>
                  <a:srgbClr val="CCCCCC"/>
                </a:solidFill>
                <a:effectLst/>
                <a:latin typeface="Consolas" panose="020B0609020204030204" pitchFamily="49" charset="0"/>
              </a:rPr>
              <a:t>, </a:t>
            </a:r>
            <a:r>
              <a:rPr lang="en-GB" sz="1200" b="0">
                <a:solidFill>
                  <a:srgbClr val="B5CEA8"/>
                </a:solidFill>
                <a:effectLst/>
                <a:latin typeface="Consolas" panose="020B0609020204030204" pitchFamily="49" charset="0"/>
              </a:rPr>
              <a:t>0x00000200</a:t>
            </a:r>
            <a:r>
              <a:rPr lang="en-GB" sz="1200" b="0">
                <a:solidFill>
                  <a:srgbClr val="CCCCCC"/>
                </a:solidFill>
                <a:effectLst/>
                <a:latin typeface="Consolas" panose="020B0609020204030204" pitchFamily="49" charset="0"/>
              </a:rPr>
              <a:t>  </a:t>
            </a:r>
            <a:r>
              <a:rPr lang="en-GB" sz="1200" b="0">
                <a:solidFill>
                  <a:srgbClr val="6A9955"/>
                </a:solidFill>
                <a:effectLst/>
                <a:latin typeface="Consolas" panose="020B0609020204030204" pitchFamily="49" charset="0"/>
              </a:rPr>
              <a:t># Set lower 8 pins as output push-pull</a:t>
            </a:r>
            <a:endParaRPr lang="en-GB" sz="1200" b="0">
              <a:solidFill>
                <a:srgbClr val="CCCCCC"/>
              </a:solidFill>
              <a:effectLst/>
              <a:latin typeface="Consolas" panose="020B0609020204030204" pitchFamily="49" charset="0"/>
            </a:endParaRPr>
          </a:p>
          <a:p>
            <a:pPr>
              <a:buNone/>
            </a:pPr>
            <a:r>
              <a:rPr lang="en-GB" sz="1200" b="0">
                <a:solidFill>
                  <a:srgbClr val="CCCCCC"/>
                </a:solidFill>
                <a:effectLst/>
                <a:latin typeface="Consolas" panose="020B0609020204030204" pitchFamily="49" charset="0"/>
              </a:rPr>
              <a:t>    </a:t>
            </a:r>
            <a:r>
              <a:rPr lang="en-GB" sz="1200" b="0">
                <a:solidFill>
                  <a:srgbClr val="DCDCAA"/>
                </a:solidFill>
                <a:effectLst/>
                <a:latin typeface="Consolas" panose="020B0609020204030204" pitchFamily="49" charset="0"/>
              </a:rPr>
              <a:t>sw</a:t>
            </a:r>
            <a:r>
              <a:rPr lang="en-GB" sz="1200" b="0">
                <a:solidFill>
                  <a:srgbClr val="CCCCCC"/>
                </a:solidFill>
                <a:effectLst/>
                <a:latin typeface="Consolas" panose="020B0609020204030204" pitchFamily="49" charset="0"/>
              </a:rPr>
              <a:t> </a:t>
            </a:r>
            <a:r>
              <a:rPr lang="en-GB" sz="1200" b="0">
                <a:solidFill>
                  <a:srgbClr val="9CDCFE"/>
                </a:solidFill>
                <a:effectLst/>
                <a:latin typeface="Consolas" panose="020B0609020204030204" pitchFamily="49" charset="0"/>
              </a:rPr>
              <a:t>t1</a:t>
            </a:r>
            <a:r>
              <a:rPr lang="en-GB" sz="1200" b="0">
                <a:solidFill>
                  <a:srgbClr val="CCCCCC"/>
                </a:solidFill>
                <a:effectLst/>
                <a:latin typeface="Consolas" panose="020B0609020204030204" pitchFamily="49" charset="0"/>
              </a:rPr>
              <a:t>, </a:t>
            </a:r>
            <a:r>
              <a:rPr lang="en-GB" sz="1200" b="0">
                <a:solidFill>
                  <a:srgbClr val="B5CEA8"/>
                </a:solidFill>
                <a:effectLst/>
                <a:latin typeface="Consolas" panose="020B0609020204030204" pitchFamily="49" charset="0"/>
              </a:rPr>
              <a:t>0</a:t>
            </a:r>
            <a:r>
              <a:rPr lang="en-GB" sz="1200" b="0">
                <a:solidFill>
                  <a:srgbClr val="CCCCCC"/>
                </a:solidFill>
                <a:effectLst/>
                <a:latin typeface="Consolas" panose="020B0609020204030204" pitchFamily="49" charset="0"/>
              </a:rPr>
              <a:t>(</a:t>
            </a:r>
            <a:r>
              <a:rPr lang="en-GB" sz="1200" b="0">
                <a:solidFill>
                  <a:srgbClr val="9CDCFE"/>
                </a:solidFill>
                <a:effectLst/>
                <a:latin typeface="Consolas" panose="020B0609020204030204" pitchFamily="49" charset="0"/>
              </a:rPr>
              <a:t>t0</a:t>
            </a:r>
            <a:r>
              <a:rPr lang="en-GB" sz="1200" b="0">
                <a:solidFill>
                  <a:srgbClr val="CCCCCC"/>
                </a:solidFill>
                <a:effectLst/>
                <a:latin typeface="Consolas" panose="020B0609020204030204" pitchFamily="49" charset="0"/>
              </a:rPr>
              <a:t>)</a:t>
            </a:r>
          </a:p>
        </p:txBody>
      </p:sp>
      <p:sp>
        <p:nvSpPr>
          <p:cNvPr id="19" name="TextBox 18">
            <a:extLst>
              <a:ext uri="{FF2B5EF4-FFF2-40B4-BE49-F238E27FC236}">
                <a16:creationId xmlns:a16="http://schemas.microsoft.com/office/drawing/2014/main" id="{40EE8ACF-7B9B-E2D1-DB4C-AEF844E12FE6}"/>
              </a:ext>
            </a:extLst>
          </p:cNvPr>
          <p:cNvSpPr txBox="1"/>
          <p:nvPr/>
        </p:nvSpPr>
        <p:spPr>
          <a:xfrm>
            <a:off x="5804014" y="2247462"/>
            <a:ext cx="6102438" cy="1384995"/>
          </a:xfrm>
          <a:prstGeom prst="rect">
            <a:avLst/>
          </a:prstGeom>
          <a:solidFill>
            <a:schemeClr val="bg2">
              <a:lumMod val="25000"/>
            </a:schemeClr>
          </a:solidFill>
          <a:ln>
            <a:solidFill>
              <a:schemeClr val="tx1"/>
            </a:solidFill>
          </a:ln>
        </p:spPr>
        <p:txBody>
          <a:bodyPr wrap="square">
            <a:spAutoFit/>
          </a:bodyPr>
          <a:lstStyle/>
          <a:p>
            <a:pPr>
              <a:buNone/>
            </a:pPr>
            <a:r>
              <a:rPr lang="en-GB" sz="1200" b="0">
                <a:solidFill>
                  <a:srgbClr val="569CD6"/>
                </a:solidFill>
                <a:effectLst/>
                <a:latin typeface="Consolas" panose="020B0609020204030204" pitchFamily="49" charset="0"/>
              </a:rPr>
              <a:t>.equ</a:t>
            </a:r>
            <a:r>
              <a:rPr lang="en-GB" sz="1200" b="0">
                <a:solidFill>
                  <a:srgbClr val="CCCCCC"/>
                </a:solidFill>
                <a:effectLst/>
                <a:latin typeface="Consolas" panose="020B0609020204030204" pitchFamily="49" charset="0"/>
              </a:rPr>
              <a:t> GPIO_D_CFGLR, </a:t>
            </a:r>
            <a:r>
              <a:rPr lang="en-GB" sz="1200" b="0">
                <a:solidFill>
                  <a:srgbClr val="B5CEA8"/>
                </a:solidFill>
                <a:effectLst/>
                <a:latin typeface="Consolas" panose="020B0609020204030204" pitchFamily="49" charset="0"/>
              </a:rPr>
              <a:t>0x40011400</a:t>
            </a:r>
            <a:endParaRPr lang="en-GB" sz="1200" b="0">
              <a:solidFill>
                <a:srgbClr val="CCCCCC"/>
              </a:solidFill>
              <a:effectLst/>
              <a:latin typeface="Consolas" panose="020B0609020204030204" pitchFamily="49" charset="0"/>
            </a:endParaRPr>
          </a:p>
          <a:p>
            <a:pPr>
              <a:buNone/>
            </a:pPr>
            <a:endParaRPr lang="en-GB" sz="1200" b="0">
              <a:solidFill>
                <a:srgbClr val="CCCCCC"/>
              </a:solidFill>
              <a:effectLst/>
              <a:latin typeface="Consolas" panose="020B0609020204030204" pitchFamily="49" charset="0"/>
            </a:endParaRPr>
          </a:p>
          <a:p>
            <a:pPr>
              <a:buNone/>
            </a:pPr>
            <a:r>
              <a:rPr lang="en-GB" sz="1200" b="0">
                <a:solidFill>
                  <a:srgbClr val="DCDCAA"/>
                </a:solidFill>
                <a:effectLst/>
                <a:latin typeface="Consolas" panose="020B0609020204030204" pitchFamily="49" charset="0"/>
              </a:rPr>
              <a:t>main</a:t>
            </a:r>
            <a:r>
              <a:rPr lang="en-GB" sz="1200" b="0">
                <a:solidFill>
                  <a:srgbClr val="CCCCCC"/>
                </a:solidFill>
                <a:effectLst/>
                <a:latin typeface="Consolas" panose="020B0609020204030204" pitchFamily="49" charset="0"/>
              </a:rPr>
              <a:t>:</a:t>
            </a:r>
          </a:p>
          <a:p>
            <a:pPr>
              <a:buNone/>
            </a:pPr>
            <a:r>
              <a:rPr lang="en-GB" sz="1200" b="0">
                <a:solidFill>
                  <a:srgbClr val="CCCCCC"/>
                </a:solidFill>
                <a:effectLst/>
                <a:latin typeface="Consolas" panose="020B0609020204030204" pitchFamily="49" charset="0"/>
              </a:rPr>
              <a:t>    </a:t>
            </a:r>
            <a:r>
              <a:rPr lang="en-GB" sz="1200" b="0">
                <a:solidFill>
                  <a:srgbClr val="6A9955"/>
                </a:solidFill>
                <a:effectLst/>
                <a:latin typeface="Consolas" panose="020B0609020204030204" pitchFamily="49" charset="0"/>
              </a:rPr>
              <a:t># Configure GPIO D, pin 2 as output, 2Mhz, push-pull </a:t>
            </a:r>
            <a:endParaRPr lang="en-GB" sz="1200" b="0">
              <a:solidFill>
                <a:srgbClr val="CCCCCC"/>
              </a:solidFill>
              <a:effectLst/>
              <a:latin typeface="Consolas" panose="020B0609020204030204" pitchFamily="49" charset="0"/>
            </a:endParaRPr>
          </a:p>
          <a:p>
            <a:pPr>
              <a:buNone/>
            </a:pPr>
            <a:r>
              <a:rPr lang="en-GB" sz="1200" b="0">
                <a:solidFill>
                  <a:srgbClr val="CCCCCC"/>
                </a:solidFill>
                <a:effectLst/>
                <a:latin typeface="Consolas" panose="020B0609020204030204" pitchFamily="49" charset="0"/>
              </a:rPr>
              <a:t>    </a:t>
            </a:r>
            <a:r>
              <a:rPr lang="en-GB" sz="1200" b="0">
                <a:solidFill>
                  <a:srgbClr val="DCDCAA"/>
                </a:solidFill>
                <a:effectLst/>
                <a:latin typeface="Consolas" panose="020B0609020204030204" pitchFamily="49" charset="0"/>
              </a:rPr>
              <a:t>la</a:t>
            </a:r>
            <a:r>
              <a:rPr lang="en-GB" sz="1200" b="0">
                <a:solidFill>
                  <a:srgbClr val="CCCCCC"/>
                </a:solidFill>
                <a:effectLst/>
                <a:latin typeface="Consolas" panose="020B0609020204030204" pitchFamily="49" charset="0"/>
              </a:rPr>
              <a:t> </a:t>
            </a:r>
            <a:r>
              <a:rPr lang="en-GB" sz="1200" b="0">
                <a:solidFill>
                  <a:srgbClr val="9CDCFE"/>
                </a:solidFill>
                <a:effectLst/>
                <a:latin typeface="Consolas" panose="020B0609020204030204" pitchFamily="49" charset="0"/>
              </a:rPr>
              <a:t>t0</a:t>
            </a:r>
            <a:r>
              <a:rPr lang="en-GB" sz="1200" b="0">
                <a:solidFill>
                  <a:srgbClr val="CCCCCC"/>
                </a:solidFill>
                <a:effectLst/>
                <a:latin typeface="Consolas" panose="020B0609020204030204" pitchFamily="49" charset="0"/>
              </a:rPr>
              <a:t>, GPIO_D_CFGLR</a:t>
            </a:r>
          </a:p>
          <a:p>
            <a:pPr>
              <a:buNone/>
            </a:pPr>
            <a:r>
              <a:rPr lang="en-GB" sz="1200" b="0">
                <a:solidFill>
                  <a:srgbClr val="CCCCCC"/>
                </a:solidFill>
                <a:effectLst/>
                <a:latin typeface="Consolas" panose="020B0609020204030204" pitchFamily="49" charset="0"/>
              </a:rPr>
              <a:t>    </a:t>
            </a:r>
            <a:r>
              <a:rPr lang="en-GB" sz="1200" b="0">
                <a:solidFill>
                  <a:srgbClr val="DCDCAA"/>
                </a:solidFill>
                <a:effectLst/>
                <a:latin typeface="Consolas" panose="020B0609020204030204" pitchFamily="49" charset="0"/>
              </a:rPr>
              <a:t>li</a:t>
            </a:r>
            <a:r>
              <a:rPr lang="en-GB" sz="1200" b="0">
                <a:solidFill>
                  <a:srgbClr val="CCCCCC"/>
                </a:solidFill>
                <a:effectLst/>
                <a:latin typeface="Consolas" panose="020B0609020204030204" pitchFamily="49" charset="0"/>
              </a:rPr>
              <a:t> </a:t>
            </a:r>
            <a:r>
              <a:rPr lang="en-GB" sz="1200" b="0">
                <a:solidFill>
                  <a:srgbClr val="9CDCFE"/>
                </a:solidFill>
                <a:effectLst/>
                <a:latin typeface="Consolas" panose="020B0609020204030204" pitchFamily="49" charset="0"/>
              </a:rPr>
              <a:t>t1</a:t>
            </a:r>
            <a:r>
              <a:rPr lang="en-GB" sz="1200" b="0">
                <a:solidFill>
                  <a:srgbClr val="CCCCCC"/>
                </a:solidFill>
                <a:effectLst/>
                <a:latin typeface="Consolas" panose="020B0609020204030204" pitchFamily="49" charset="0"/>
              </a:rPr>
              <a:t>, </a:t>
            </a:r>
            <a:r>
              <a:rPr lang="en-GB" sz="1200" b="0">
                <a:solidFill>
                  <a:srgbClr val="B5CEA8"/>
                </a:solidFill>
                <a:effectLst/>
                <a:latin typeface="Consolas" panose="020B0609020204030204" pitchFamily="49" charset="0"/>
              </a:rPr>
              <a:t>0x00000200</a:t>
            </a:r>
            <a:r>
              <a:rPr lang="en-GB" sz="1200" b="0">
                <a:solidFill>
                  <a:srgbClr val="CCCCCC"/>
                </a:solidFill>
                <a:effectLst/>
                <a:latin typeface="Consolas" panose="020B0609020204030204" pitchFamily="49" charset="0"/>
              </a:rPr>
              <a:t>  </a:t>
            </a:r>
            <a:r>
              <a:rPr lang="en-GB" sz="1200" b="0">
                <a:solidFill>
                  <a:srgbClr val="6A9955"/>
                </a:solidFill>
                <a:effectLst/>
                <a:latin typeface="Consolas" panose="020B0609020204030204" pitchFamily="49" charset="0"/>
              </a:rPr>
              <a:t># Set lower 8 pins as output push-pull</a:t>
            </a:r>
            <a:endParaRPr lang="en-GB" sz="1200" b="0">
              <a:solidFill>
                <a:srgbClr val="CCCCCC"/>
              </a:solidFill>
              <a:effectLst/>
              <a:latin typeface="Consolas" panose="020B0609020204030204" pitchFamily="49" charset="0"/>
            </a:endParaRPr>
          </a:p>
          <a:p>
            <a:pPr>
              <a:buNone/>
            </a:pPr>
            <a:r>
              <a:rPr lang="en-GB" sz="1200" b="0">
                <a:solidFill>
                  <a:srgbClr val="CCCCCC"/>
                </a:solidFill>
                <a:effectLst/>
                <a:latin typeface="Consolas" panose="020B0609020204030204" pitchFamily="49" charset="0"/>
              </a:rPr>
              <a:t>    </a:t>
            </a:r>
            <a:r>
              <a:rPr lang="en-GB" sz="1200" b="0">
                <a:solidFill>
                  <a:srgbClr val="DCDCAA"/>
                </a:solidFill>
                <a:effectLst/>
                <a:latin typeface="Consolas" panose="020B0609020204030204" pitchFamily="49" charset="0"/>
              </a:rPr>
              <a:t>sw</a:t>
            </a:r>
            <a:r>
              <a:rPr lang="en-GB" sz="1200" b="0">
                <a:solidFill>
                  <a:srgbClr val="CCCCCC"/>
                </a:solidFill>
                <a:effectLst/>
                <a:latin typeface="Consolas" panose="020B0609020204030204" pitchFamily="49" charset="0"/>
              </a:rPr>
              <a:t> </a:t>
            </a:r>
            <a:r>
              <a:rPr lang="en-GB" sz="1200" b="0">
                <a:solidFill>
                  <a:srgbClr val="9CDCFE"/>
                </a:solidFill>
                <a:effectLst/>
                <a:latin typeface="Consolas" panose="020B0609020204030204" pitchFamily="49" charset="0"/>
              </a:rPr>
              <a:t>t1</a:t>
            </a:r>
            <a:r>
              <a:rPr lang="en-GB" sz="1200" b="0">
                <a:solidFill>
                  <a:srgbClr val="CCCCCC"/>
                </a:solidFill>
                <a:effectLst/>
                <a:latin typeface="Consolas" panose="020B0609020204030204" pitchFamily="49" charset="0"/>
              </a:rPr>
              <a:t>, </a:t>
            </a:r>
            <a:r>
              <a:rPr lang="en-GB" sz="1200" b="0">
                <a:solidFill>
                  <a:srgbClr val="B5CEA8"/>
                </a:solidFill>
                <a:effectLst/>
                <a:latin typeface="Consolas" panose="020B0609020204030204" pitchFamily="49" charset="0"/>
              </a:rPr>
              <a:t>0</a:t>
            </a:r>
            <a:r>
              <a:rPr lang="en-GB" sz="1200" b="0">
                <a:solidFill>
                  <a:srgbClr val="CCCCCC"/>
                </a:solidFill>
                <a:effectLst/>
                <a:latin typeface="Consolas" panose="020B0609020204030204" pitchFamily="49" charset="0"/>
              </a:rPr>
              <a:t>(</a:t>
            </a:r>
            <a:r>
              <a:rPr lang="en-GB" sz="1200" b="0">
                <a:solidFill>
                  <a:srgbClr val="9CDCFE"/>
                </a:solidFill>
                <a:effectLst/>
                <a:latin typeface="Consolas" panose="020B0609020204030204" pitchFamily="49" charset="0"/>
              </a:rPr>
              <a:t>t0</a:t>
            </a:r>
            <a:r>
              <a:rPr lang="en-GB" sz="1200" b="0">
                <a:solidFill>
                  <a:srgbClr val="CCCCCC"/>
                </a:solidFill>
                <a:effectLst/>
                <a:latin typeface="Consolas" panose="020B0609020204030204" pitchFamily="49" charset="0"/>
              </a:rPr>
              <a:t>)</a:t>
            </a:r>
          </a:p>
        </p:txBody>
      </p:sp>
      <p:sp>
        <p:nvSpPr>
          <p:cNvPr id="17" name="TextBox 16">
            <a:extLst>
              <a:ext uri="{FF2B5EF4-FFF2-40B4-BE49-F238E27FC236}">
                <a16:creationId xmlns:a16="http://schemas.microsoft.com/office/drawing/2014/main" id="{BEE2A877-0588-1DE4-5999-4290C96E17F2}"/>
              </a:ext>
            </a:extLst>
          </p:cNvPr>
          <p:cNvSpPr txBox="1"/>
          <p:nvPr/>
        </p:nvSpPr>
        <p:spPr>
          <a:xfrm>
            <a:off x="5804014" y="3826470"/>
            <a:ext cx="6102438" cy="2097113"/>
          </a:xfrm>
          <a:prstGeom prst="rect">
            <a:avLst/>
          </a:prstGeom>
          <a:solidFill>
            <a:schemeClr val="bg2">
              <a:lumMod val="25000"/>
            </a:schemeClr>
          </a:solidFill>
          <a:ln>
            <a:solidFill>
              <a:schemeClr val="tx1"/>
            </a:solidFill>
          </a:ln>
        </p:spPr>
        <p:txBody>
          <a:bodyPr wrap="square">
            <a:spAutoFit/>
          </a:bodyPr>
          <a:lstStyle/>
          <a:p>
            <a:pPr>
              <a:buNone/>
            </a:pPr>
            <a:r>
              <a:rPr lang="en-GB" sz="1200" b="0">
                <a:solidFill>
                  <a:srgbClr val="569CD6"/>
                </a:solidFill>
                <a:effectLst/>
                <a:latin typeface="Consolas" panose="020B0609020204030204" pitchFamily="49" charset="0"/>
              </a:rPr>
              <a:t>.equ</a:t>
            </a:r>
            <a:r>
              <a:rPr lang="en-GB" sz="1200" b="0">
                <a:solidFill>
                  <a:srgbClr val="CCCCCC"/>
                </a:solidFill>
                <a:effectLst/>
                <a:latin typeface="Consolas" panose="020B0609020204030204" pitchFamily="49" charset="0"/>
              </a:rPr>
              <a:t> GPIO_D_CFGLR, </a:t>
            </a:r>
            <a:r>
              <a:rPr lang="en-GB" sz="1200" b="0">
                <a:solidFill>
                  <a:srgbClr val="B5CEA8"/>
                </a:solidFill>
                <a:effectLst/>
                <a:latin typeface="Consolas" panose="020B0609020204030204" pitchFamily="49" charset="0"/>
              </a:rPr>
              <a:t>0x40011400</a:t>
            </a:r>
            <a:endParaRPr lang="en-GB" sz="1200" b="0">
              <a:solidFill>
                <a:srgbClr val="CCCCCC"/>
              </a:solidFill>
              <a:effectLst/>
              <a:latin typeface="Consolas" panose="020B0609020204030204" pitchFamily="49" charset="0"/>
            </a:endParaRPr>
          </a:p>
          <a:p>
            <a:pPr>
              <a:buNone/>
            </a:pPr>
            <a:endParaRPr lang="en-GB" sz="1200" b="0">
              <a:solidFill>
                <a:srgbClr val="CCCCCC"/>
              </a:solidFill>
              <a:effectLst/>
              <a:latin typeface="Consolas" panose="020B0609020204030204" pitchFamily="49" charset="0"/>
            </a:endParaRPr>
          </a:p>
          <a:p>
            <a:pPr>
              <a:buNone/>
            </a:pPr>
            <a:r>
              <a:rPr lang="en-GB" sz="1200" b="0">
                <a:solidFill>
                  <a:srgbClr val="DCDCAA"/>
                </a:solidFill>
                <a:effectLst/>
                <a:latin typeface="Consolas" panose="020B0609020204030204" pitchFamily="49" charset="0"/>
              </a:rPr>
              <a:t>main</a:t>
            </a:r>
            <a:r>
              <a:rPr lang="en-GB" sz="1200" b="0">
                <a:solidFill>
                  <a:srgbClr val="CCCCCC"/>
                </a:solidFill>
                <a:effectLst/>
                <a:latin typeface="Consolas" panose="020B0609020204030204" pitchFamily="49" charset="0"/>
              </a:rPr>
              <a:t>:</a:t>
            </a:r>
          </a:p>
          <a:p>
            <a:pPr>
              <a:lnSpc>
                <a:spcPts val="1425"/>
              </a:lnSpc>
              <a:buNone/>
            </a:pPr>
            <a:r>
              <a:rPr lang="en-GB" sz="1200">
                <a:solidFill>
                  <a:srgbClr val="CCCCCC"/>
                </a:solidFill>
                <a:latin typeface="Consolas" panose="020B0609020204030204" pitchFamily="49" charset="0"/>
              </a:rPr>
              <a:t>    </a:t>
            </a:r>
            <a:r>
              <a:rPr lang="en-GB" sz="1200">
                <a:solidFill>
                  <a:srgbClr val="6A9955"/>
                </a:solidFill>
                <a:latin typeface="Consolas" panose="020B0609020204030204" pitchFamily="49" charset="0"/>
              </a:rPr>
              <a:t># Configure GPIO D, pin 2 as output, 2Mhz, push-pull </a:t>
            </a:r>
            <a:endParaRPr lang="en-GB" sz="1200">
              <a:solidFill>
                <a:srgbClr val="CCCCCC"/>
              </a:solidFill>
              <a:latin typeface="Consolas" panose="020B0609020204030204" pitchFamily="49" charset="0"/>
            </a:endParaRPr>
          </a:p>
          <a:p>
            <a:pPr>
              <a:lnSpc>
                <a:spcPts val="1425"/>
              </a:lnSpc>
              <a:buNone/>
            </a:pPr>
            <a:r>
              <a:rPr lang="en-GB" sz="1200">
                <a:solidFill>
                  <a:srgbClr val="CCCCCC"/>
                </a:solidFill>
                <a:latin typeface="Consolas" panose="020B0609020204030204" pitchFamily="49" charset="0"/>
              </a:rPr>
              <a:t>    </a:t>
            </a:r>
            <a:r>
              <a:rPr lang="en-GB" sz="1200">
                <a:solidFill>
                  <a:srgbClr val="DCDCAA"/>
                </a:solidFill>
                <a:latin typeface="Consolas" panose="020B0609020204030204" pitchFamily="49" charset="0"/>
              </a:rPr>
              <a:t>la</a:t>
            </a:r>
            <a:r>
              <a:rPr lang="en-GB" sz="1200">
                <a:solidFill>
                  <a:srgbClr val="CCCCCC"/>
                </a:solidFill>
                <a:latin typeface="Consolas" panose="020B0609020204030204" pitchFamily="49" charset="0"/>
              </a:rPr>
              <a:t> </a:t>
            </a:r>
            <a:r>
              <a:rPr lang="en-GB" sz="1200">
                <a:solidFill>
                  <a:srgbClr val="9CDCFE"/>
                </a:solidFill>
                <a:latin typeface="Consolas" panose="020B0609020204030204" pitchFamily="49" charset="0"/>
              </a:rPr>
              <a:t>t0</a:t>
            </a:r>
            <a:r>
              <a:rPr lang="en-GB" sz="1200">
                <a:solidFill>
                  <a:srgbClr val="CCCCCC"/>
                </a:solidFill>
                <a:latin typeface="Consolas" panose="020B0609020204030204" pitchFamily="49" charset="0"/>
              </a:rPr>
              <a:t>, GPIO_D_CFGLR</a:t>
            </a:r>
          </a:p>
          <a:p>
            <a:pPr>
              <a:lnSpc>
                <a:spcPts val="1425"/>
              </a:lnSpc>
              <a:buNone/>
            </a:pPr>
            <a:r>
              <a:rPr lang="en-GB" sz="1200">
                <a:solidFill>
                  <a:srgbClr val="CCCCCC"/>
                </a:solidFill>
                <a:latin typeface="Consolas" panose="020B0609020204030204" pitchFamily="49" charset="0"/>
              </a:rPr>
              <a:t>    </a:t>
            </a:r>
            <a:r>
              <a:rPr lang="en-GB" sz="1200">
                <a:solidFill>
                  <a:srgbClr val="DCDCAA"/>
                </a:solidFill>
                <a:latin typeface="Consolas" panose="020B0609020204030204" pitchFamily="49" charset="0"/>
              </a:rPr>
              <a:t>lw</a:t>
            </a:r>
            <a:r>
              <a:rPr lang="en-GB" sz="1200">
                <a:solidFill>
                  <a:srgbClr val="CCCCCC"/>
                </a:solidFill>
                <a:latin typeface="Consolas" panose="020B0609020204030204" pitchFamily="49" charset="0"/>
              </a:rPr>
              <a:t> </a:t>
            </a:r>
            <a:r>
              <a:rPr lang="en-GB" sz="1200">
                <a:solidFill>
                  <a:srgbClr val="9CDCFE"/>
                </a:solidFill>
                <a:latin typeface="Consolas" panose="020B0609020204030204" pitchFamily="49" charset="0"/>
              </a:rPr>
              <a:t>t1</a:t>
            </a:r>
            <a:r>
              <a:rPr lang="en-GB" sz="1200">
                <a:solidFill>
                  <a:srgbClr val="CCCCCC"/>
                </a:solidFill>
                <a:latin typeface="Consolas" panose="020B0609020204030204" pitchFamily="49" charset="0"/>
              </a:rPr>
              <a:t>, </a:t>
            </a:r>
            <a:r>
              <a:rPr lang="en-GB" sz="1200">
                <a:solidFill>
                  <a:srgbClr val="B5CEA8"/>
                </a:solidFill>
                <a:latin typeface="Consolas" panose="020B0609020204030204" pitchFamily="49" charset="0"/>
              </a:rPr>
              <a:t>0</a:t>
            </a:r>
            <a:r>
              <a:rPr lang="en-GB" sz="1200">
                <a:solidFill>
                  <a:srgbClr val="CCCCCC"/>
                </a:solidFill>
                <a:latin typeface="Consolas" panose="020B0609020204030204" pitchFamily="49" charset="0"/>
              </a:rPr>
              <a:t>(</a:t>
            </a:r>
            <a:r>
              <a:rPr lang="en-GB" sz="1200">
                <a:solidFill>
                  <a:srgbClr val="9CDCFE"/>
                </a:solidFill>
                <a:latin typeface="Consolas" panose="020B0609020204030204" pitchFamily="49" charset="0"/>
              </a:rPr>
              <a:t>t0</a:t>
            </a:r>
            <a:r>
              <a:rPr lang="en-GB" sz="1200">
                <a:solidFill>
                  <a:srgbClr val="CCCCCC"/>
                </a:solidFill>
                <a:latin typeface="Consolas" panose="020B0609020204030204" pitchFamily="49" charset="0"/>
              </a:rPr>
              <a:t>)</a:t>
            </a:r>
          </a:p>
          <a:p>
            <a:pPr>
              <a:lnSpc>
                <a:spcPts val="1425"/>
              </a:lnSpc>
              <a:buNone/>
            </a:pPr>
            <a:r>
              <a:rPr lang="en-GB" sz="1200">
                <a:solidFill>
                  <a:srgbClr val="CCCCCC"/>
                </a:solidFill>
                <a:latin typeface="Consolas" panose="020B0609020204030204" pitchFamily="49" charset="0"/>
              </a:rPr>
              <a:t>    </a:t>
            </a:r>
            <a:r>
              <a:rPr lang="en-GB" sz="1200">
                <a:solidFill>
                  <a:srgbClr val="DCDCAA"/>
                </a:solidFill>
                <a:latin typeface="Consolas" panose="020B0609020204030204" pitchFamily="49" charset="0"/>
              </a:rPr>
              <a:t>li</a:t>
            </a:r>
            <a:r>
              <a:rPr lang="en-GB" sz="1200">
                <a:solidFill>
                  <a:srgbClr val="CCCCCC"/>
                </a:solidFill>
                <a:latin typeface="Consolas" panose="020B0609020204030204" pitchFamily="49" charset="0"/>
              </a:rPr>
              <a:t> </a:t>
            </a:r>
            <a:r>
              <a:rPr lang="en-GB" sz="1200">
                <a:solidFill>
                  <a:srgbClr val="9CDCFE"/>
                </a:solidFill>
                <a:latin typeface="Consolas" panose="020B0609020204030204" pitchFamily="49" charset="0"/>
              </a:rPr>
              <a:t>t2</a:t>
            </a:r>
            <a:r>
              <a:rPr lang="en-GB" sz="1200">
                <a:solidFill>
                  <a:srgbClr val="CCCCCC"/>
                </a:solidFill>
                <a:latin typeface="Consolas" panose="020B0609020204030204" pitchFamily="49" charset="0"/>
              </a:rPr>
              <a:t>, </a:t>
            </a:r>
            <a:r>
              <a:rPr lang="en-GB" sz="1200">
                <a:solidFill>
                  <a:srgbClr val="B5CEA8"/>
                </a:solidFill>
                <a:latin typeface="Consolas" panose="020B0609020204030204" pitchFamily="49" charset="0"/>
              </a:rPr>
              <a:t>0xFFFFF0FF</a:t>
            </a:r>
            <a:endParaRPr lang="en-GB" sz="1200">
              <a:solidFill>
                <a:srgbClr val="CCCCCC"/>
              </a:solidFill>
              <a:latin typeface="Consolas" panose="020B0609020204030204" pitchFamily="49" charset="0"/>
            </a:endParaRPr>
          </a:p>
          <a:p>
            <a:pPr>
              <a:lnSpc>
                <a:spcPts val="1425"/>
              </a:lnSpc>
              <a:buNone/>
            </a:pPr>
            <a:r>
              <a:rPr lang="en-GB" sz="1200">
                <a:solidFill>
                  <a:srgbClr val="CCCCCC"/>
                </a:solidFill>
                <a:latin typeface="Consolas" panose="020B0609020204030204" pitchFamily="49" charset="0"/>
              </a:rPr>
              <a:t>    </a:t>
            </a:r>
            <a:r>
              <a:rPr lang="en-GB" sz="1200">
                <a:solidFill>
                  <a:srgbClr val="DCDCAA"/>
                </a:solidFill>
                <a:latin typeface="Consolas" panose="020B0609020204030204" pitchFamily="49" charset="0"/>
              </a:rPr>
              <a:t>and</a:t>
            </a:r>
            <a:r>
              <a:rPr lang="en-GB" sz="1200">
                <a:solidFill>
                  <a:srgbClr val="CCCCCC"/>
                </a:solidFill>
                <a:latin typeface="Consolas" panose="020B0609020204030204" pitchFamily="49" charset="0"/>
              </a:rPr>
              <a:t> </a:t>
            </a:r>
            <a:r>
              <a:rPr lang="en-GB" sz="1200">
                <a:solidFill>
                  <a:srgbClr val="9CDCFE"/>
                </a:solidFill>
                <a:latin typeface="Consolas" panose="020B0609020204030204" pitchFamily="49" charset="0"/>
              </a:rPr>
              <a:t>t1</a:t>
            </a:r>
            <a:r>
              <a:rPr lang="en-GB" sz="1200">
                <a:solidFill>
                  <a:srgbClr val="CCCCCC"/>
                </a:solidFill>
                <a:latin typeface="Consolas" panose="020B0609020204030204" pitchFamily="49" charset="0"/>
              </a:rPr>
              <a:t>, </a:t>
            </a:r>
            <a:r>
              <a:rPr lang="en-GB" sz="1200">
                <a:solidFill>
                  <a:srgbClr val="9CDCFE"/>
                </a:solidFill>
                <a:latin typeface="Consolas" panose="020B0609020204030204" pitchFamily="49" charset="0"/>
              </a:rPr>
              <a:t>t1</a:t>
            </a:r>
            <a:r>
              <a:rPr lang="en-GB" sz="1200">
                <a:solidFill>
                  <a:srgbClr val="CCCCCC"/>
                </a:solidFill>
                <a:latin typeface="Consolas" panose="020B0609020204030204" pitchFamily="49" charset="0"/>
              </a:rPr>
              <a:t>, </a:t>
            </a:r>
            <a:r>
              <a:rPr lang="en-GB" sz="1200">
                <a:solidFill>
                  <a:srgbClr val="9CDCFE"/>
                </a:solidFill>
                <a:latin typeface="Consolas" panose="020B0609020204030204" pitchFamily="49" charset="0"/>
              </a:rPr>
              <a:t>t2</a:t>
            </a:r>
            <a:endParaRPr lang="en-GB" sz="1200">
              <a:solidFill>
                <a:srgbClr val="CCCCCC"/>
              </a:solidFill>
              <a:latin typeface="Consolas" panose="020B0609020204030204" pitchFamily="49" charset="0"/>
            </a:endParaRPr>
          </a:p>
          <a:p>
            <a:pPr>
              <a:lnSpc>
                <a:spcPts val="1425"/>
              </a:lnSpc>
              <a:buNone/>
            </a:pPr>
            <a:r>
              <a:rPr lang="en-GB" sz="1200">
                <a:solidFill>
                  <a:srgbClr val="CCCCCC"/>
                </a:solidFill>
                <a:latin typeface="Consolas" panose="020B0609020204030204" pitchFamily="49" charset="0"/>
              </a:rPr>
              <a:t>    </a:t>
            </a:r>
            <a:r>
              <a:rPr lang="en-GB" sz="1200">
                <a:solidFill>
                  <a:srgbClr val="DCDCAA"/>
                </a:solidFill>
                <a:latin typeface="Consolas" panose="020B0609020204030204" pitchFamily="49" charset="0"/>
              </a:rPr>
              <a:t>li</a:t>
            </a:r>
            <a:r>
              <a:rPr lang="en-GB" sz="1200">
                <a:solidFill>
                  <a:srgbClr val="CCCCCC"/>
                </a:solidFill>
                <a:latin typeface="Consolas" panose="020B0609020204030204" pitchFamily="49" charset="0"/>
              </a:rPr>
              <a:t> </a:t>
            </a:r>
            <a:r>
              <a:rPr lang="en-GB" sz="1200">
                <a:solidFill>
                  <a:srgbClr val="9CDCFE"/>
                </a:solidFill>
                <a:latin typeface="Consolas" panose="020B0609020204030204" pitchFamily="49" charset="0"/>
              </a:rPr>
              <a:t>t2</a:t>
            </a:r>
            <a:r>
              <a:rPr lang="en-GB" sz="1200">
                <a:solidFill>
                  <a:srgbClr val="CCCCCC"/>
                </a:solidFill>
                <a:latin typeface="Consolas" panose="020B0609020204030204" pitchFamily="49" charset="0"/>
              </a:rPr>
              <a:t>, </a:t>
            </a:r>
            <a:r>
              <a:rPr lang="en-GB" sz="1200">
                <a:solidFill>
                  <a:srgbClr val="B5CEA8"/>
                </a:solidFill>
                <a:latin typeface="Consolas" panose="020B0609020204030204" pitchFamily="49" charset="0"/>
              </a:rPr>
              <a:t>0x00000200</a:t>
            </a:r>
            <a:r>
              <a:rPr lang="en-GB" sz="1200">
                <a:solidFill>
                  <a:srgbClr val="CCCCCC"/>
                </a:solidFill>
                <a:latin typeface="Consolas" panose="020B0609020204030204" pitchFamily="49" charset="0"/>
              </a:rPr>
              <a:t>  </a:t>
            </a:r>
            <a:r>
              <a:rPr lang="en-GB" sz="1200">
                <a:solidFill>
                  <a:srgbClr val="6A9955"/>
                </a:solidFill>
                <a:latin typeface="Consolas" panose="020B0609020204030204" pitchFamily="49" charset="0"/>
              </a:rPr>
              <a:t># Clear bits for pin 2</a:t>
            </a:r>
            <a:endParaRPr lang="en-GB" sz="1200">
              <a:solidFill>
                <a:srgbClr val="CCCCCC"/>
              </a:solidFill>
              <a:latin typeface="Consolas" panose="020B0609020204030204" pitchFamily="49" charset="0"/>
            </a:endParaRPr>
          </a:p>
          <a:p>
            <a:pPr>
              <a:lnSpc>
                <a:spcPts val="1425"/>
              </a:lnSpc>
              <a:buNone/>
            </a:pPr>
            <a:r>
              <a:rPr lang="en-GB" sz="1200">
                <a:solidFill>
                  <a:srgbClr val="CCCCCC"/>
                </a:solidFill>
                <a:latin typeface="Consolas" panose="020B0609020204030204" pitchFamily="49" charset="0"/>
              </a:rPr>
              <a:t>    </a:t>
            </a:r>
            <a:r>
              <a:rPr lang="en-GB" sz="1200">
                <a:solidFill>
                  <a:srgbClr val="DCDCAA"/>
                </a:solidFill>
                <a:latin typeface="Consolas" panose="020B0609020204030204" pitchFamily="49" charset="0"/>
              </a:rPr>
              <a:t>or</a:t>
            </a:r>
            <a:r>
              <a:rPr lang="en-GB" sz="1200">
                <a:solidFill>
                  <a:srgbClr val="CCCCCC"/>
                </a:solidFill>
                <a:latin typeface="Consolas" panose="020B0609020204030204" pitchFamily="49" charset="0"/>
              </a:rPr>
              <a:t> </a:t>
            </a:r>
            <a:r>
              <a:rPr lang="en-GB" sz="1200">
                <a:solidFill>
                  <a:srgbClr val="9CDCFE"/>
                </a:solidFill>
                <a:latin typeface="Consolas" panose="020B0609020204030204" pitchFamily="49" charset="0"/>
              </a:rPr>
              <a:t>t1</a:t>
            </a:r>
            <a:r>
              <a:rPr lang="en-GB" sz="1200">
                <a:solidFill>
                  <a:srgbClr val="CCCCCC"/>
                </a:solidFill>
                <a:latin typeface="Consolas" panose="020B0609020204030204" pitchFamily="49" charset="0"/>
              </a:rPr>
              <a:t>, </a:t>
            </a:r>
            <a:r>
              <a:rPr lang="en-GB" sz="1200">
                <a:solidFill>
                  <a:srgbClr val="9CDCFE"/>
                </a:solidFill>
                <a:latin typeface="Consolas" panose="020B0609020204030204" pitchFamily="49" charset="0"/>
              </a:rPr>
              <a:t>t1</a:t>
            </a:r>
            <a:r>
              <a:rPr lang="en-GB" sz="1200">
                <a:solidFill>
                  <a:srgbClr val="CCCCCC"/>
                </a:solidFill>
                <a:latin typeface="Consolas" panose="020B0609020204030204" pitchFamily="49" charset="0"/>
              </a:rPr>
              <a:t>, </a:t>
            </a:r>
            <a:r>
              <a:rPr lang="en-GB" sz="1200">
                <a:solidFill>
                  <a:srgbClr val="9CDCFE"/>
                </a:solidFill>
                <a:latin typeface="Consolas" panose="020B0609020204030204" pitchFamily="49" charset="0"/>
              </a:rPr>
              <a:t>t2</a:t>
            </a:r>
            <a:r>
              <a:rPr lang="en-GB" sz="1200">
                <a:solidFill>
                  <a:srgbClr val="CCCCCC"/>
                </a:solidFill>
                <a:latin typeface="Consolas" panose="020B0609020204030204" pitchFamily="49" charset="0"/>
              </a:rPr>
              <a:t>   </a:t>
            </a:r>
            <a:r>
              <a:rPr lang="en-GB" sz="1200">
                <a:solidFill>
                  <a:srgbClr val="6A9955"/>
                </a:solidFill>
                <a:latin typeface="Consolas" panose="020B0609020204030204" pitchFamily="49" charset="0"/>
              </a:rPr>
              <a:t># Set pin 2 </a:t>
            </a:r>
            <a:endParaRPr lang="en-GB" sz="1200">
              <a:solidFill>
                <a:srgbClr val="CCCCCC"/>
              </a:solidFill>
              <a:latin typeface="Consolas" panose="020B0609020204030204" pitchFamily="49" charset="0"/>
            </a:endParaRPr>
          </a:p>
          <a:p>
            <a:pPr>
              <a:lnSpc>
                <a:spcPts val="1425"/>
              </a:lnSpc>
              <a:buNone/>
            </a:pPr>
            <a:r>
              <a:rPr lang="en-GB" sz="1200">
                <a:solidFill>
                  <a:srgbClr val="CCCCCC"/>
                </a:solidFill>
                <a:latin typeface="Consolas" panose="020B0609020204030204" pitchFamily="49" charset="0"/>
              </a:rPr>
              <a:t>    </a:t>
            </a:r>
            <a:r>
              <a:rPr lang="en-GB" sz="1200">
                <a:solidFill>
                  <a:srgbClr val="DCDCAA"/>
                </a:solidFill>
                <a:latin typeface="Consolas" panose="020B0609020204030204" pitchFamily="49" charset="0"/>
              </a:rPr>
              <a:t>sw</a:t>
            </a:r>
            <a:r>
              <a:rPr lang="en-GB" sz="1200">
                <a:solidFill>
                  <a:srgbClr val="CCCCCC"/>
                </a:solidFill>
                <a:latin typeface="Consolas" panose="020B0609020204030204" pitchFamily="49" charset="0"/>
              </a:rPr>
              <a:t> </a:t>
            </a:r>
            <a:r>
              <a:rPr lang="en-GB" sz="1200">
                <a:solidFill>
                  <a:srgbClr val="9CDCFE"/>
                </a:solidFill>
                <a:latin typeface="Consolas" panose="020B0609020204030204" pitchFamily="49" charset="0"/>
              </a:rPr>
              <a:t>t1</a:t>
            </a:r>
            <a:r>
              <a:rPr lang="en-GB" sz="1200">
                <a:solidFill>
                  <a:srgbClr val="CCCCCC"/>
                </a:solidFill>
                <a:latin typeface="Consolas" panose="020B0609020204030204" pitchFamily="49" charset="0"/>
              </a:rPr>
              <a:t>, </a:t>
            </a:r>
            <a:r>
              <a:rPr lang="en-GB" sz="1200">
                <a:solidFill>
                  <a:srgbClr val="B5CEA8"/>
                </a:solidFill>
                <a:latin typeface="Consolas" panose="020B0609020204030204" pitchFamily="49" charset="0"/>
              </a:rPr>
              <a:t>0</a:t>
            </a:r>
            <a:r>
              <a:rPr lang="en-GB" sz="1200">
                <a:solidFill>
                  <a:srgbClr val="CCCCCC"/>
                </a:solidFill>
                <a:latin typeface="Consolas" panose="020B0609020204030204" pitchFamily="49" charset="0"/>
              </a:rPr>
              <a:t>(</a:t>
            </a:r>
            <a:r>
              <a:rPr lang="en-GB" sz="1200">
                <a:solidFill>
                  <a:srgbClr val="9CDCFE"/>
                </a:solidFill>
                <a:latin typeface="Consolas" panose="020B0609020204030204" pitchFamily="49" charset="0"/>
              </a:rPr>
              <a:t>t0</a:t>
            </a:r>
            <a:r>
              <a:rPr lang="en-GB" sz="1200">
                <a:solidFill>
                  <a:srgbClr val="CCCCCC"/>
                </a:solidFill>
                <a:latin typeface="Consolas" panose="020B0609020204030204" pitchFamily="49" charset="0"/>
              </a:rPr>
              <a:t>)</a:t>
            </a:r>
          </a:p>
        </p:txBody>
      </p:sp>
    </p:spTree>
    <p:extLst>
      <p:ext uri="{BB962C8B-B14F-4D97-AF65-F5344CB8AC3E}">
        <p14:creationId xmlns:p14="http://schemas.microsoft.com/office/powerpoint/2010/main" val="3403219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BC977-05A9-5578-7E90-C8144003F529}"/>
              </a:ext>
            </a:extLst>
          </p:cNvPr>
          <p:cNvSpPr>
            <a:spLocks noGrp="1"/>
          </p:cNvSpPr>
          <p:nvPr>
            <p:ph type="title"/>
          </p:nvPr>
        </p:nvSpPr>
        <p:spPr/>
        <p:txBody>
          <a:bodyPr/>
          <a:lstStyle/>
          <a:p>
            <a:r>
              <a:rPr lang="sv-SE"/>
              <a:t>Tända LED – Skriva till en pinne</a:t>
            </a:r>
            <a:endParaRPr lang="LID4096"/>
          </a:p>
        </p:txBody>
      </p:sp>
      <p:pic>
        <p:nvPicPr>
          <p:cNvPr id="6" name="Picture 5">
            <a:extLst>
              <a:ext uri="{FF2B5EF4-FFF2-40B4-BE49-F238E27FC236}">
                <a16:creationId xmlns:a16="http://schemas.microsoft.com/office/drawing/2014/main" id="{F8F65845-34D9-673E-F01B-876BB402E2DB}"/>
              </a:ext>
            </a:extLst>
          </p:cNvPr>
          <p:cNvPicPr>
            <a:picLocks noChangeAspect="1"/>
          </p:cNvPicPr>
          <p:nvPr/>
        </p:nvPicPr>
        <p:blipFill>
          <a:blip r:embed="rId2"/>
          <a:stretch>
            <a:fillRect/>
          </a:stretch>
        </p:blipFill>
        <p:spPr>
          <a:xfrm>
            <a:off x="2333793" y="3341917"/>
            <a:ext cx="9240540" cy="3277057"/>
          </a:xfrm>
          <a:prstGeom prst="rect">
            <a:avLst/>
          </a:prstGeom>
          <a:ln>
            <a:solidFill>
              <a:schemeClr val="accent1">
                <a:shade val="15000"/>
              </a:schemeClr>
            </a:solidFill>
          </a:ln>
          <a:effectLst>
            <a:outerShdw blurRad="50800" dist="38100" dir="2700000" algn="tl" rotWithShape="0">
              <a:prstClr val="black">
                <a:alpha val="40000"/>
              </a:prstClr>
            </a:outerShdw>
          </a:effectLst>
        </p:spPr>
      </p:pic>
      <p:pic>
        <p:nvPicPr>
          <p:cNvPr id="10" name="Picture 9">
            <a:extLst>
              <a:ext uri="{FF2B5EF4-FFF2-40B4-BE49-F238E27FC236}">
                <a16:creationId xmlns:a16="http://schemas.microsoft.com/office/drawing/2014/main" id="{E3CDB992-F0CA-BB55-8821-D009B1E8181E}"/>
              </a:ext>
            </a:extLst>
          </p:cNvPr>
          <p:cNvPicPr>
            <a:picLocks noChangeAspect="1"/>
          </p:cNvPicPr>
          <p:nvPr/>
        </p:nvPicPr>
        <p:blipFill>
          <a:blip r:embed="rId3"/>
          <a:stretch>
            <a:fillRect/>
          </a:stretch>
        </p:blipFill>
        <p:spPr>
          <a:xfrm>
            <a:off x="247550" y="3341917"/>
            <a:ext cx="1876687" cy="2143424"/>
          </a:xfrm>
          <a:prstGeom prst="rect">
            <a:avLst/>
          </a:prstGeom>
          <a:ln>
            <a:solidFill>
              <a:schemeClr val="accent1">
                <a:shade val="15000"/>
              </a:schemeClr>
            </a:solidFill>
          </a:ln>
          <a:effectLst>
            <a:outerShdw blurRad="50800" dist="38100" dir="2700000" algn="tl" rotWithShape="0">
              <a:prstClr val="black">
                <a:alpha val="40000"/>
              </a:prstClr>
            </a:outerShdw>
          </a:effectLst>
        </p:spPr>
      </p:pic>
      <p:sp>
        <p:nvSpPr>
          <p:cNvPr id="11" name="Rectangle: Rounded Corners 10">
            <a:extLst>
              <a:ext uri="{FF2B5EF4-FFF2-40B4-BE49-F238E27FC236}">
                <a16:creationId xmlns:a16="http://schemas.microsoft.com/office/drawing/2014/main" id="{3AF16E35-723E-4299-D051-D3574D2116E6}"/>
              </a:ext>
            </a:extLst>
          </p:cNvPr>
          <p:cNvSpPr/>
          <p:nvPr/>
        </p:nvSpPr>
        <p:spPr>
          <a:xfrm>
            <a:off x="3488588" y="5199606"/>
            <a:ext cx="8043253" cy="338025"/>
          </a:xfrm>
          <a:prstGeom prst="roundRect">
            <a:avLst/>
          </a:prstGeom>
          <a:noFill/>
          <a:ln w="254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5" name="TextBox 14">
            <a:extLst>
              <a:ext uri="{FF2B5EF4-FFF2-40B4-BE49-F238E27FC236}">
                <a16:creationId xmlns:a16="http://schemas.microsoft.com/office/drawing/2014/main" id="{B73A340D-3222-F479-F13C-F783967E6634}"/>
              </a:ext>
            </a:extLst>
          </p:cNvPr>
          <p:cNvSpPr txBox="1"/>
          <p:nvPr/>
        </p:nvSpPr>
        <p:spPr>
          <a:xfrm>
            <a:off x="660159" y="1923582"/>
            <a:ext cx="6096000" cy="4524315"/>
          </a:xfrm>
          <a:prstGeom prst="rect">
            <a:avLst/>
          </a:prstGeom>
          <a:solidFill>
            <a:schemeClr val="tx1">
              <a:lumMod val="85000"/>
              <a:lumOff val="15000"/>
            </a:schemeClr>
          </a:solidFill>
        </p:spPr>
        <p:txBody>
          <a:bodyPr wrap="square">
            <a:spAutoFit/>
          </a:bodyPr>
          <a:lstStyle/>
          <a:p>
            <a:pPr>
              <a:buNone/>
            </a:pPr>
            <a:r>
              <a:rPr lang="en-GB" b="0">
                <a:solidFill>
                  <a:srgbClr val="569CD6"/>
                </a:solidFill>
                <a:effectLst/>
                <a:latin typeface="Consolas" panose="020B0609020204030204" pitchFamily="49" charset="0"/>
              </a:rPr>
              <a:t>.equ</a:t>
            </a:r>
            <a:r>
              <a:rPr lang="en-GB" b="0">
                <a:solidFill>
                  <a:srgbClr val="CCCCCC"/>
                </a:solidFill>
                <a:effectLst/>
                <a:latin typeface="Consolas" panose="020B0609020204030204" pitchFamily="49" charset="0"/>
              </a:rPr>
              <a:t> GPIO_D_OUTDR, </a:t>
            </a:r>
            <a:r>
              <a:rPr lang="en-GB" b="0">
                <a:solidFill>
                  <a:srgbClr val="B5CEA8"/>
                </a:solidFill>
                <a:effectLst/>
                <a:latin typeface="Consolas" panose="020B0609020204030204" pitchFamily="49" charset="0"/>
              </a:rPr>
              <a:t>0x4001140C</a:t>
            </a:r>
            <a:endParaRPr lang="en-GB" b="0">
              <a:solidFill>
                <a:srgbClr val="CCCCCC"/>
              </a:solidFill>
              <a:effectLst/>
              <a:latin typeface="Consolas" panose="020B0609020204030204" pitchFamily="49" charset="0"/>
            </a:endParaRPr>
          </a:p>
          <a:p>
            <a:pPr>
              <a:buNone/>
            </a:pPr>
            <a:endParaRPr lang="en-GB" b="0">
              <a:solidFill>
                <a:srgbClr val="CCCCCC"/>
              </a:solidFill>
              <a:effectLst/>
              <a:latin typeface="Consolas" panose="020B0609020204030204" pitchFamily="49" charset="0"/>
            </a:endParaRPr>
          </a:p>
          <a:p>
            <a:pPr>
              <a:buNone/>
            </a:pPr>
            <a:r>
              <a:rPr lang="en-GB" b="0">
                <a:solidFill>
                  <a:srgbClr val="DCDCAA"/>
                </a:solidFill>
                <a:effectLst/>
                <a:latin typeface="Consolas" panose="020B0609020204030204" pitchFamily="49" charset="0"/>
              </a:rPr>
              <a:t>main</a:t>
            </a:r>
            <a:r>
              <a:rPr lang="en-GB" b="0">
                <a:solidFill>
                  <a:srgbClr val="CCCCCC"/>
                </a:solidFill>
                <a:effectLst/>
                <a:latin typeface="Consolas" panose="020B0609020204030204" pitchFamily="49" charset="0"/>
              </a:rPr>
              <a:t>: </a:t>
            </a:r>
          </a:p>
          <a:p>
            <a:pPr>
              <a:buNone/>
            </a:pPr>
            <a:r>
              <a:rPr lang="en-GB" b="0">
                <a:solidFill>
                  <a:srgbClr val="CCCCCC"/>
                </a:solidFill>
                <a:effectLst/>
                <a:latin typeface="Consolas" panose="020B0609020204030204" pitchFamily="49" charset="0"/>
              </a:rPr>
              <a:t>    </a:t>
            </a:r>
            <a:r>
              <a:rPr lang="en-GB" b="0">
                <a:solidFill>
                  <a:srgbClr val="6A9955"/>
                </a:solidFill>
                <a:effectLst/>
                <a:latin typeface="Consolas" panose="020B0609020204030204" pitchFamily="49" charset="0"/>
              </a:rPr>
              <a:t># Konfigurera pinnen</a:t>
            </a:r>
            <a:endParaRPr lang="en-GB" b="0">
              <a:solidFill>
                <a:srgbClr val="CCCCCC"/>
              </a:solidFill>
              <a:effectLst/>
              <a:latin typeface="Consolas" panose="020B0609020204030204" pitchFamily="49" charset="0"/>
            </a:endParaRPr>
          </a:p>
          <a:p>
            <a:pPr>
              <a:buNone/>
            </a:pPr>
            <a:r>
              <a:rPr lang="en-GB" b="0">
                <a:solidFill>
                  <a:srgbClr val="CCCCCC"/>
                </a:solidFill>
                <a:effectLst/>
                <a:latin typeface="Consolas" panose="020B0609020204030204" pitchFamily="49" charset="0"/>
              </a:rPr>
              <a:t>    ...</a:t>
            </a:r>
          </a:p>
          <a:p>
            <a:pPr>
              <a:buNone/>
            </a:pPr>
            <a:r>
              <a:rPr lang="en-GB" b="0">
                <a:solidFill>
                  <a:srgbClr val="CCCCCC"/>
                </a:solidFill>
                <a:effectLst/>
                <a:latin typeface="Consolas" panose="020B0609020204030204" pitchFamily="49" charset="0"/>
              </a:rPr>
              <a:t>    </a:t>
            </a:r>
            <a:r>
              <a:rPr lang="en-GB" b="0">
                <a:solidFill>
                  <a:srgbClr val="6A9955"/>
                </a:solidFill>
                <a:effectLst/>
                <a:latin typeface="Consolas" panose="020B0609020204030204" pitchFamily="49" charset="0"/>
              </a:rPr>
              <a:t># Skriv 1 till pin 2</a:t>
            </a:r>
            <a:endParaRPr lang="en-GB" b="0">
              <a:solidFill>
                <a:srgbClr val="CCCCCC"/>
              </a:solidFill>
              <a:effectLst/>
              <a:latin typeface="Consolas" panose="020B0609020204030204" pitchFamily="49" charset="0"/>
            </a:endParaRPr>
          </a:p>
          <a:p>
            <a:pPr>
              <a:buNone/>
            </a:pPr>
            <a:r>
              <a:rPr lang="en-GB" b="0">
                <a:solidFill>
                  <a:srgbClr val="CCCCCC"/>
                </a:solidFill>
                <a:effectLst/>
                <a:latin typeface="Consolas" panose="020B0609020204030204" pitchFamily="49" charset="0"/>
              </a:rPr>
              <a:t>    </a:t>
            </a:r>
            <a:r>
              <a:rPr lang="en-GB" b="0">
                <a:solidFill>
                  <a:srgbClr val="DCDCAA"/>
                </a:solidFill>
                <a:effectLst/>
                <a:latin typeface="Consolas" panose="020B0609020204030204" pitchFamily="49" charset="0"/>
              </a:rPr>
              <a:t>la</a:t>
            </a:r>
            <a:r>
              <a:rPr lang="en-GB" b="0">
                <a:solidFill>
                  <a:srgbClr val="CCCCCC"/>
                </a:solidFill>
                <a:effectLst/>
                <a:latin typeface="Consolas" panose="020B0609020204030204" pitchFamily="49" charset="0"/>
              </a:rPr>
              <a:t> </a:t>
            </a:r>
            <a:r>
              <a:rPr lang="en-GB" b="0">
                <a:solidFill>
                  <a:srgbClr val="9CDCFE"/>
                </a:solidFill>
                <a:effectLst/>
                <a:latin typeface="Consolas" panose="020B0609020204030204" pitchFamily="49" charset="0"/>
              </a:rPr>
              <a:t>t0</a:t>
            </a:r>
            <a:r>
              <a:rPr lang="en-GB" b="0">
                <a:solidFill>
                  <a:srgbClr val="CCCCCC"/>
                </a:solidFill>
                <a:effectLst/>
                <a:latin typeface="Consolas" panose="020B0609020204030204" pitchFamily="49" charset="0"/>
              </a:rPr>
              <a:t>, GPIO_D_OUTDR</a:t>
            </a:r>
          </a:p>
          <a:p>
            <a:pPr>
              <a:buNone/>
            </a:pPr>
            <a:r>
              <a:rPr lang="en-GB" b="0">
                <a:solidFill>
                  <a:srgbClr val="CCCCCC"/>
                </a:solidFill>
                <a:effectLst/>
                <a:latin typeface="Consolas" panose="020B0609020204030204" pitchFamily="49" charset="0"/>
              </a:rPr>
              <a:t>    </a:t>
            </a:r>
            <a:r>
              <a:rPr lang="en-GB" b="0">
                <a:solidFill>
                  <a:srgbClr val="DCDCAA"/>
                </a:solidFill>
                <a:effectLst/>
                <a:latin typeface="Consolas" panose="020B0609020204030204" pitchFamily="49" charset="0"/>
              </a:rPr>
              <a:t>lh</a:t>
            </a:r>
            <a:r>
              <a:rPr lang="en-GB" b="0">
                <a:solidFill>
                  <a:srgbClr val="CCCCCC"/>
                </a:solidFill>
                <a:effectLst/>
                <a:latin typeface="Consolas" panose="020B0609020204030204" pitchFamily="49" charset="0"/>
              </a:rPr>
              <a:t> </a:t>
            </a:r>
            <a:r>
              <a:rPr lang="en-GB" b="0">
                <a:solidFill>
                  <a:srgbClr val="9CDCFE"/>
                </a:solidFill>
                <a:effectLst/>
                <a:latin typeface="Consolas" panose="020B0609020204030204" pitchFamily="49" charset="0"/>
              </a:rPr>
              <a:t>t1</a:t>
            </a:r>
            <a:r>
              <a:rPr lang="en-GB" b="0">
                <a:solidFill>
                  <a:srgbClr val="CCCCCC"/>
                </a:solidFill>
                <a:effectLst/>
                <a:latin typeface="Consolas" panose="020B0609020204030204" pitchFamily="49" charset="0"/>
              </a:rPr>
              <a:t>, </a:t>
            </a:r>
            <a:r>
              <a:rPr lang="en-GB" b="0">
                <a:solidFill>
                  <a:srgbClr val="B5CEA8"/>
                </a:solidFill>
                <a:effectLst/>
                <a:latin typeface="Consolas" panose="020B0609020204030204" pitchFamily="49" charset="0"/>
              </a:rPr>
              <a:t>0</a:t>
            </a:r>
            <a:r>
              <a:rPr lang="en-GB" b="0">
                <a:solidFill>
                  <a:srgbClr val="CCCCCC"/>
                </a:solidFill>
                <a:effectLst/>
                <a:latin typeface="Consolas" panose="020B0609020204030204" pitchFamily="49" charset="0"/>
              </a:rPr>
              <a:t>(</a:t>
            </a:r>
            <a:r>
              <a:rPr lang="en-GB" b="0">
                <a:solidFill>
                  <a:srgbClr val="9CDCFE"/>
                </a:solidFill>
                <a:effectLst/>
                <a:latin typeface="Consolas" panose="020B0609020204030204" pitchFamily="49" charset="0"/>
              </a:rPr>
              <a:t>t0</a:t>
            </a:r>
            <a:r>
              <a:rPr lang="en-GB" b="0">
                <a:solidFill>
                  <a:srgbClr val="CCCCCC"/>
                </a:solidFill>
                <a:effectLst/>
                <a:latin typeface="Consolas" panose="020B0609020204030204" pitchFamily="49" charset="0"/>
              </a:rPr>
              <a:t>) </a:t>
            </a:r>
            <a:r>
              <a:rPr lang="en-GB" b="0">
                <a:solidFill>
                  <a:srgbClr val="6A9955"/>
                </a:solidFill>
                <a:effectLst/>
                <a:latin typeface="Consolas" panose="020B0609020204030204" pitchFamily="49" charset="0"/>
              </a:rPr>
              <a:t># Läs nuvarande värde</a:t>
            </a:r>
            <a:endParaRPr lang="en-GB" b="0">
              <a:solidFill>
                <a:srgbClr val="CCCCCC"/>
              </a:solidFill>
              <a:effectLst/>
              <a:latin typeface="Consolas" panose="020B0609020204030204" pitchFamily="49" charset="0"/>
            </a:endParaRPr>
          </a:p>
          <a:p>
            <a:pPr>
              <a:buNone/>
            </a:pPr>
            <a:r>
              <a:rPr lang="en-GB" b="0">
                <a:solidFill>
                  <a:srgbClr val="CCCCCC"/>
                </a:solidFill>
                <a:effectLst/>
                <a:latin typeface="Consolas" panose="020B0609020204030204" pitchFamily="49" charset="0"/>
              </a:rPr>
              <a:t>    </a:t>
            </a:r>
            <a:r>
              <a:rPr lang="en-GB" b="0">
                <a:solidFill>
                  <a:srgbClr val="DCDCAA"/>
                </a:solidFill>
                <a:effectLst/>
                <a:latin typeface="Consolas" panose="020B0609020204030204" pitchFamily="49" charset="0"/>
              </a:rPr>
              <a:t>ori</a:t>
            </a:r>
            <a:r>
              <a:rPr lang="en-GB" b="0">
                <a:solidFill>
                  <a:srgbClr val="CCCCCC"/>
                </a:solidFill>
                <a:effectLst/>
                <a:latin typeface="Consolas" panose="020B0609020204030204" pitchFamily="49" charset="0"/>
              </a:rPr>
              <a:t> </a:t>
            </a:r>
            <a:r>
              <a:rPr lang="en-GB" b="0">
                <a:solidFill>
                  <a:srgbClr val="9CDCFE"/>
                </a:solidFill>
                <a:effectLst/>
                <a:latin typeface="Consolas" panose="020B0609020204030204" pitchFamily="49" charset="0"/>
              </a:rPr>
              <a:t>t1</a:t>
            </a:r>
            <a:r>
              <a:rPr lang="en-GB" b="0">
                <a:solidFill>
                  <a:srgbClr val="CCCCCC"/>
                </a:solidFill>
                <a:effectLst/>
                <a:latin typeface="Consolas" panose="020B0609020204030204" pitchFamily="49" charset="0"/>
              </a:rPr>
              <a:t>, </a:t>
            </a:r>
            <a:r>
              <a:rPr lang="en-GB" b="0">
                <a:solidFill>
                  <a:srgbClr val="9CDCFE"/>
                </a:solidFill>
                <a:effectLst/>
                <a:latin typeface="Consolas" panose="020B0609020204030204" pitchFamily="49" charset="0"/>
              </a:rPr>
              <a:t>t1</a:t>
            </a:r>
            <a:r>
              <a:rPr lang="en-GB" b="0">
                <a:solidFill>
                  <a:srgbClr val="CCCCCC"/>
                </a:solidFill>
                <a:effectLst/>
                <a:latin typeface="Consolas" panose="020B0609020204030204" pitchFamily="49" charset="0"/>
              </a:rPr>
              <a:t>, 0b100 </a:t>
            </a:r>
            <a:r>
              <a:rPr lang="en-GB" b="0">
                <a:solidFill>
                  <a:srgbClr val="6A9955"/>
                </a:solidFill>
                <a:effectLst/>
                <a:latin typeface="Consolas" panose="020B0609020204030204" pitchFamily="49" charset="0"/>
              </a:rPr>
              <a:t># Sätt bit 2</a:t>
            </a:r>
            <a:endParaRPr lang="en-GB" b="0">
              <a:solidFill>
                <a:srgbClr val="CCCCCC"/>
              </a:solidFill>
              <a:effectLst/>
              <a:latin typeface="Consolas" panose="020B0609020204030204" pitchFamily="49" charset="0"/>
            </a:endParaRPr>
          </a:p>
          <a:p>
            <a:pPr>
              <a:buNone/>
            </a:pPr>
            <a:r>
              <a:rPr lang="en-GB" b="0">
                <a:solidFill>
                  <a:srgbClr val="CCCCCC"/>
                </a:solidFill>
                <a:effectLst/>
                <a:latin typeface="Consolas" panose="020B0609020204030204" pitchFamily="49" charset="0"/>
              </a:rPr>
              <a:t>    </a:t>
            </a:r>
            <a:r>
              <a:rPr lang="en-GB" b="0">
                <a:solidFill>
                  <a:srgbClr val="DCDCAA"/>
                </a:solidFill>
                <a:effectLst/>
                <a:latin typeface="Consolas" panose="020B0609020204030204" pitchFamily="49" charset="0"/>
              </a:rPr>
              <a:t>sh</a:t>
            </a:r>
            <a:r>
              <a:rPr lang="en-GB" b="0">
                <a:solidFill>
                  <a:srgbClr val="CCCCCC"/>
                </a:solidFill>
                <a:effectLst/>
                <a:latin typeface="Consolas" panose="020B0609020204030204" pitchFamily="49" charset="0"/>
              </a:rPr>
              <a:t> </a:t>
            </a:r>
            <a:r>
              <a:rPr lang="en-GB" b="0">
                <a:solidFill>
                  <a:srgbClr val="9CDCFE"/>
                </a:solidFill>
                <a:effectLst/>
                <a:latin typeface="Consolas" panose="020B0609020204030204" pitchFamily="49" charset="0"/>
              </a:rPr>
              <a:t>t1</a:t>
            </a:r>
            <a:r>
              <a:rPr lang="en-GB" b="0">
                <a:solidFill>
                  <a:srgbClr val="CCCCCC"/>
                </a:solidFill>
                <a:effectLst/>
                <a:latin typeface="Consolas" panose="020B0609020204030204" pitchFamily="49" charset="0"/>
              </a:rPr>
              <a:t>, </a:t>
            </a:r>
            <a:r>
              <a:rPr lang="en-GB" b="0">
                <a:solidFill>
                  <a:srgbClr val="B5CEA8"/>
                </a:solidFill>
                <a:effectLst/>
                <a:latin typeface="Consolas" panose="020B0609020204030204" pitchFamily="49" charset="0"/>
              </a:rPr>
              <a:t>0</a:t>
            </a:r>
            <a:r>
              <a:rPr lang="en-GB" b="0">
                <a:solidFill>
                  <a:srgbClr val="CCCCCC"/>
                </a:solidFill>
                <a:effectLst/>
                <a:latin typeface="Consolas" panose="020B0609020204030204" pitchFamily="49" charset="0"/>
              </a:rPr>
              <a:t>(</a:t>
            </a:r>
            <a:r>
              <a:rPr lang="en-GB" b="0">
                <a:solidFill>
                  <a:srgbClr val="9CDCFE"/>
                </a:solidFill>
                <a:effectLst/>
                <a:latin typeface="Consolas" panose="020B0609020204030204" pitchFamily="49" charset="0"/>
              </a:rPr>
              <a:t>t0</a:t>
            </a:r>
            <a:r>
              <a:rPr lang="en-GB" b="0">
                <a:solidFill>
                  <a:srgbClr val="CCCCCC"/>
                </a:solidFill>
                <a:effectLst/>
                <a:latin typeface="Consolas" panose="020B0609020204030204" pitchFamily="49" charset="0"/>
              </a:rPr>
              <a:t>) </a:t>
            </a:r>
            <a:r>
              <a:rPr lang="en-GB" b="0">
                <a:solidFill>
                  <a:srgbClr val="6A9955"/>
                </a:solidFill>
                <a:effectLst/>
                <a:latin typeface="Consolas" panose="020B0609020204030204" pitchFamily="49" charset="0"/>
              </a:rPr>
              <a:t># Skriv tillbaka</a:t>
            </a:r>
            <a:endParaRPr lang="en-GB" b="0">
              <a:solidFill>
                <a:srgbClr val="CCCCCC"/>
              </a:solidFill>
              <a:effectLst/>
              <a:latin typeface="Consolas" panose="020B0609020204030204" pitchFamily="49" charset="0"/>
            </a:endParaRPr>
          </a:p>
          <a:p>
            <a:pPr>
              <a:buNone/>
            </a:pPr>
            <a:r>
              <a:rPr lang="en-GB" b="0">
                <a:solidFill>
                  <a:srgbClr val="CCCCCC"/>
                </a:solidFill>
                <a:effectLst/>
                <a:latin typeface="Consolas" panose="020B0609020204030204" pitchFamily="49" charset="0"/>
              </a:rPr>
              <a:t>    </a:t>
            </a:r>
          </a:p>
          <a:p>
            <a:pPr>
              <a:buNone/>
            </a:pPr>
            <a:r>
              <a:rPr lang="en-GB" b="0">
                <a:solidFill>
                  <a:srgbClr val="CCCCCC"/>
                </a:solidFill>
                <a:effectLst/>
                <a:latin typeface="Consolas" panose="020B0609020204030204" pitchFamily="49" charset="0"/>
              </a:rPr>
              <a:t>    </a:t>
            </a:r>
            <a:r>
              <a:rPr lang="en-GB" b="0">
                <a:solidFill>
                  <a:srgbClr val="6A9955"/>
                </a:solidFill>
                <a:effectLst/>
                <a:latin typeface="Consolas" panose="020B0609020204030204" pitchFamily="49" charset="0"/>
              </a:rPr>
              <a:t># Eller skriv 0    </a:t>
            </a:r>
            <a:endParaRPr lang="en-GB" b="0">
              <a:solidFill>
                <a:srgbClr val="CCCCCC"/>
              </a:solidFill>
              <a:effectLst/>
              <a:latin typeface="Consolas" panose="020B0609020204030204" pitchFamily="49" charset="0"/>
            </a:endParaRPr>
          </a:p>
          <a:p>
            <a:pPr>
              <a:buNone/>
            </a:pPr>
            <a:r>
              <a:rPr lang="en-GB" b="0">
                <a:solidFill>
                  <a:srgbClr val="CCCCCC"/>
                </a:solidFill>
                <a:effectLst/>
                <a:latin typeface="Consolas" panose="020B0609020204030204" pitchFamily="49" charset="0"/>
              </a:rPr>
              <a:t>    </a:t>
            </a:r>
            <a:r>
              <a:rPr lang="en-GB" b="0">
                <a:solidFill>
                  <a:srgbClr val="DCDCAA"/>
                </a:solidFill>
                <a:effectLst/>
                <a:latin typeface="Consolas" panose="020B0609020204030204" pitchFamily="49" charset="0"/>
              </a:rPr>
              <a:t>la</a:t>
            </a:r>
            <a:r>
              <a:rPr lang="en-GB" b="0">
                <a:solidFill>
                  <a:srgbClr val="CCCCCC"/>
                </a:solidFill>
                <a:effectLst/>
                <a:latin typeface="Consolas" panose="020B0609020204030204" pitchFamily="49" charset="0"/>
              </a:rPr>
              <a:t> </a:t>
            </a:r>
            <a:r>
              <a:rPr lang="en-GB" b="0">
                <a:solidFill>
                  <a:srgbClr val="9CDCFE"/>
                </a:solidFill>
                <a:effectLst/>
                <a:latin typeface="Consolas" panose="020B0609020204030204" pitchFamily="49" charset="0"/>
              </a:rPr>
              <a:t>t0</a:t>
            </a:r>
            <a:r>
              <a:rPr lang="en-GB" b="0">
                <a:solidFill>
                  <a:srgbClr val="CCCCCC"/>
                </a:solidFill>
                <a:effectLst/>
                <a:latin typeface="Consolas" panose="020B0609020204030204" pitchFamily="49" charset="0"/>
              </a:rPr>
              <a:t>, GPIO_D_OUTDR</a:t>
            </a:r>
          </a:p>
          <a:p>
            <a:pPr>
              <a:buNone/>
            </a:pPr>
            <a:r>
              <a:rPr lang="en-GB" b="0">
                <a:solidFill>
                  <a:srgbClr val="CCCCCC"/>
                </a:solidFill>
                <a:effectLst/>
                <a:latin typeface="Consolas" panose="020B0609020204030204" pitchFamily="49" charset="0"/>
              </a:rPr>
              <a:t>    </a:t>
            </a:r>
            <a:r>
              <a:rPr lang="en-GB" b="0">
                <a:solidFill>
                  <a:srgbClr val="DCDCAA"/>
                </a:solidFill>
                <a:effectLst/>
                <a:latin typeface="Consolas" panose="020B0609020204030204" pitchFamily="49" charset="0"/>
              </a:rPr>
              <a:t>lh</a:t>
            </a:r>
            <a:r>
              <a:rPr lang="en-GB" b="0">
                <a:solidFill>
                  <a:srgbClr val="CCCCCC"/>
                </a:solidFill>
                <a:effectLst/>
                <a:latin typeface="Consolas" panose="020B0609020204030204" pitchFamily="49" charset="0"/>
              </a:rPr>
              <a:t> </a:t>
            </a:r>
            <a:r>
              <a:rPr lang="en-GB" b="0">
                <a:solidFill>
                  <a:srgbClr val="9CDCFE"/>
                </a:solidFill>
                <a:effectLst/>
                <a:latin typeface="Consolas" panose="020B0609020204030204" pitchFamily="49" charset="0"/>
              </a:rPr>
              <a:t>t1</a:t>
            </a:r>
            <a:r>
              <a:rPr lang="en-GB" b="0">
                <a:solidFill>
                  <a:srgbClr val="CCCCCC"/>
                </a:solidFill>
                <a:effectLst/>
                <a:latin typeface="Consolas" panose="020B0609020204030204" pitchFamily="49" charset="0"/>
              </a:rPr>
              <a:t>, </a:t>
            </a:r>
            <a:r>
              <a:rPr lang="en-GB" b="0">
                <a:solidFill>
                  <a:srgbClr val="B5CEA8"/>
                </a:solidFill>
                <a:effectLst/>
                <a:latin typeface="Consolas" panose="020B0609020204030204" pitchFamily="49" charset="0"/>
              </a:rPr>
              <a:t>0</a:t>
            </a:r>
            <a:r>
              <a:rPr lang="en-GB" b="0">
                <a:solidFill>
                  <a:srgbClr val="CCCCCC"/>
                </a:solidFill>
                <a:effectLst/>
                <a:latin typeface="Consolas" panose="020B0609020204030204" pitchFamily="49" charset="0"/>
              </a:rPr>
              <a:t>(</a:t>
            </a:r>
            <a:r>
              <a:rPr lang="en-GB" b="0">
                <a:solidFill>
                  <a:srgbClr val="9CDCFE"/>
                </a:solidFill>
                <a:effectLst/>
                <a:latin typeface="Consolas" panose="020B0609020204030204" pitchFamily="49" charset="0"/>
              </a:rPr>
              <a:t>t0</a:t>
            </a:r>
            <a:r>
              <a:rPr lang="en-GB" b="0">
                <a:solidFill>
                  <a:srgbClr val="CCCCCC"/>
                </a:solidFill>
                <a:effectLst/>
                <a:latin typeface="Consolas" panose="020B0609020204030204" pitchFamily="49" charset="0"/>
              </a:rPr>
              <a:t>) </a:t>
            </a:r>
            <a:r>
              <a:rPr lang="en-GB" b="0">
                <a:solidFill>
                  <a:srgbClr val="6A9955"/>
                </a:solidFill>
                <a:effectLst/>
                <a:latin typeface="Consolas" panose="020B0609020204030204" pitchFamily="49" charset="0"/>
              </a:rPr>
              <a:t># Läs nuvarande värde</a:t>
            </a:r>
            <a:endParaRPr lang="en-GB" b="0">
              <a:solidFill>
                <a:srgbClr val="CCCCCC"/>
              </a:solidFill>
              <a:effectLst/>
              <a:latin typeface="Consolas" panose="020B0609020204030204" pitchFamily="49" charset="0"/>
            </a:endParaRPr>
          </a:p>
          <a:p>
            <a:pPr>
              <a:buNone/>
            </a:pPr>
            <a:r>
              <a:rPr lang="en-GB" b="0">
                <a:solidFill>
                  <a:srgbClr val="CCCCCC"/>
                </a:solidFill>
                <a:effectLst/>
                <a:latin typeface="Consolas" panose="020B0609020204030204" pitchFamily="49" charset="0"/>
              </a:rPr>
              <a:t>    </a:t>
            </a:r>
            <a:r>
              <a:rPr lang="en-GB" b="0">
                <a:solidFill>
                  <a:srgbClr val="DCDCAA"/>
                </a:solidFill>
                <a:effectLst/>
                <a:latin typeface="Consolas" panose="020B0609020204030204" pitchFamily="49" charset="0"/>
              </a:rPr>
              <a:t>andi</a:t>
            </a:r>
            <a:r>
              <a:rPr lang="en-GB" b="0">
                <a:solidFill>
                  <a:srgbClr val="CCCCCC"/>
                </a:solidFill>
                <a:effectLst/>
                <a:latin typeface="Consolas" panose="020B0609020204030204" pitchFamily="49" charset="0"/>
              </a:rPr>
              <a:t> </a:t>
            </a:r>
            <a:r>
              <a:rPr lang="en-GB" b="0">
                <a:solidFill>
                  <a:srgbClr val="9CDCFE"/>
                </a:solidFill>
                <a:effectLst/>
                <a:latin typeface="Consolas" panose="020B0609020204030204" pitchFamily="49" charset="0"/>
              </a:rPr>
              <a:t>t1</a:t>
            </a:r>
            <a:r>
              <a:rPr lang="en-GB" b="0">
                <a:solidFill>
                  <a:srgbClr val="CCCCCC"/>
                </a:solidFill>
                <a:effectLst/>
                <a:latin typeface="Consolas" panose="020B0609020204030204" pitchFamily="49" charset="0"/>
              </a:rPr>
              <a:t>, </a:t>
            </a:r>
            <a:r>
              <a:rPr lang="en-GB" b="0">
                <a:solidFill>
                  <a:srgbClr val="9CDCFE"/>
                </a:solidFill>
                <a:effectLst/>
                <a:latin typeface="Consolas" panose="020B0609020204030204" pitchFamily="49" charset="0"/>
              </a:rPr>
              <a:t>t1</a:t>
            </a:r>
            <a:r>
              <a:rPr lang="en-GB" b="0">
                <a:solidFill>
                  <a:srgbClr val="CCCCCC"/>
                </a:solidFill>
                <a:effectLst/>
                <a:latin typeface="Consolas" panose="020B0609020204030204" pitchFamily="49" charset="0"/>
              </a:rPr>
              <a:t>, ~0b100 </a:t>
            </a:r>
            <a:r>
              <a:rPr lang="en-GB" b="0">
                <a:solidFill>
                  <a:srgbClr val="6A9955"/>
                </a:solidFill>
                <a:effectLst/>
                <a:latin typeface="Consolas" panose="020B0609020204030204" pitchFamily="49" charset="0"/>
              </a:rPr>
              <a:t># Rensa bit 2</a:t>
            </a:r>
            <a:endParaRPr lang="en-GB" b="0">
              <a:solidFill>
                <a:srgbClr val="CCCCCC"/>
              </a:solidFill>
              <a:effectLst/>
              <a:latin typeface="Consolas" panose="020B0609020204030204" pitchFamily="49" charset="0"/>
            </a:endParaRPr>
          </a:p>
          <a:p>
            <a:pPr>
              <a:buNone/>
            </a:pPr>
            <a:r>
              <a:rPr lang="en-GB" b="0">
                <a:solidFill>
                  <a:srgbClr val="CCCCCC"/>
                </a:solidFill>
                <a:effectLst/>
                <a:latin typeface="Consolas" panose="020B0609020204030204" pitchFamily="49" charset="0"/>
              </a:rPr>
              <a:t>    </a:t>
            </a:r>
            <a:r>
              <a:rPr lang="en-GB" b="0">
                <a:solidFill>
                  <a:srgbClr val="DCDCAA"/>
                </a:solidFill>
                <a:effectLst/>
                <a:latin typeface="Consolas" panose="020B0609020204030204" pitchFamily="49" charset="0"/>
              </a:rPr>
              <a:t>sh</a:t>
            </a:r>
            <a:r>
              <a:rPr lang="en-GB" b="0">
                <a:solidFill>
                  <a:srgbClr val="CCCCCC"/>
                </a:solidFill>
                <a:effectLst/>
                <a:latin typeface="Consolas" panose="020B0609020204030204" pitchFamily="49" charset="0"/>
              </a:rPr>
              <a:t> </a:t>
            </a:r>
            <a:r>
              <a:rPr lang="en-GB" b="0">
                <a:solidFill>
                  <a:srgbClr val="9CDCFE"/>
                </a:solidFill>
                <a:effectLst/>
                <a:latin typeface="Consolas" panose="020B0609020204030204" pitchFamily="49" charset="0"/>
              </a:rPr>
              <a:t>t1</a:t>
            </a:r>
            <a:r>
              <a:rPr lang="en-GB" b="0">
                <a:solidFill>
                  <a:srgbClr val="CCCCCC"/>
                </a:solidFill>
                <a:effectLst/>
                <a:latin typeface="Consolas" panose="020B0609020204030204" pitchFamily="49" charset="0"/>
              </a:rPr>
              <a:t>, </a:t>
            </a:r>
            <a:r>
              <a:rPr lang="en-GB" b="0">
                <a:solidFill>
                  <a:srgbClr val="B5CEA8"/>
                </a:solidFill>
                <a:effectLst/>
                <a:latin typeface="Consolas" panose="020B0609020204030204" pitchFamily="49" charset="0"/>
              </a:rPr>
              <a:t>0</a:t>
            </a:r>
            <a:r>
              <a:rPr lang="en-GB" b="0">
                <a:solidFill>
                  <a:srgbClr val="CCCCCC"/>
                </a:solidFill>
                <a:effectLst/>
                <a:latin typeface="Consolas" panose="020B0609020204030204" pitchFamily="49" charset="0"/>
              </a:rPr>
              <a:t>(</a:t>
            </a:r>
            <a:r>
              <a:rPr lang="en-GB" b="0">
                <a:solidFill>
                  <a:srgbClr val="9CDCFE"/>
                </a:solidFill>
                <a:effectLst/>
                <a:latin typeface="Consolas" panose="020B0609020204030204" pitchFamily="49" charset="0"/>
              </a:rPr>
              <a:t>t0</a:t>
            </a:r>
            <a:r>
              <a:rPr lang="en-GB" b="0">
                <a:solidFill>
                  <a:srgbClr val="CCCCCC"/>
                </a:solidFill>
                <a:effectLst/>
                <a:latin typeface="Consolas" panose="020B0609020204030204" pitchFamily="49" charset="0"/>
              </a:rPr>
              <a:t>) </a:t>
            </a:r>
            <a:r>
              <a:rPr lang="en-GB" b="0">
                <a:solidFill>
                  <a:srgbClr val="6A9955"/>
                </a:solidFill>
                <a:effectLst/>
                <a:latin typeface="Consolas" panose="020B0609020204030204" pitchFamily="49" charset="0"/>
              </a:rPr>
              <a:t># Skriv tillbaka</a:t>
            </a:r>
            <a:endParaRPr lang="en-GB" b="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97466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5">
                                            <p:txEl>
                                              <p:pRg st="2" end="2"/>
                                            </p:txEl>
                                          </p:spTgt>
                                        </p:tgtEl>
                                        <p:attrNameLst>
                                          <p:attrName>style.visibility</p:attrName>
                                        </p:attrNameLst>
                                      </p:cBhvr>
                                      <p:to>
                                        <p:strVal val="visible"/>
                                      </p:to>
                                    </p:set>
                                    <p:animEffect transition="in" filter="fade">
                                      <p:cBhvr>
                                        <p:cTn id="10" dur="500"/>
                                        <p:tgtEl>
                                          <p:spTgt spid="15">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5">
                                            <p:txEl>
                                              <p:pRg st="3" end="3"/>
                                            </p:txEl>
                                          </p:spTgt>
                                        </p:tgtEl>
                                        <p:attrNameLst>
                                          <p:attrName>style.visibility</p:attrName>
                                        </p:attrNameLst>
                                      </p:cBhvr>
                                      <p:to>
                                        <p:strVal val="visible"/>
                                      </p:to>
                                    </p:set>
                                    <p:animEffect transition="in" filter="fade">
                                      <p:cBhvr>
                                        <p:cTn id="13" dur="500"/>
                                        <p:tgtEl>
                                          <p:spTgt spid="15">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xEl>
                                              <p:pRg st="4" end="4"/>
                                            </p:txEl>
                                          </p:spTgt>
                                        </p:tgtEl>
                                        <p:attrNameLst>
                                          <p:attrName>style.visibility</p:attrName>
                                        </p:attrNameLst>
                                      </p:cBhvr>
                                      <p:to>
                                        <p:strVal val="visible"/>
                                      </p:to>
                                    </p:set>
                                    <p:animEffect transition="in" filter="fade">
                                      <p:cBhvr>
                                        <p:cTn id="16" dur="500"/>
                                        <p:tgtEl>
                                          <p:spTgt spid="15">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5">
                                            <p:txEl>
                                              <p:pRg st="5" end="5"/>
                                            </p:txEl>
                                          </p:spTgt>
                                        </p:tgtEl>
                                        <p:attrNameLst>
                                          <p:attrName>style.visibility</p:attrName>
                                        </p:attrNameLst>
                                      </p:cBhvr>
                                      <p:to>
                                        <p:strVal val="visible"/>
                                      </p:to>
                                    </p:set>
                                    <p:animEffect transition="in" filter="fade">
                                      <p:cBhvr>
                                        <p:cTn id="21" dur="500"/>
                                        <p:tgtEl>
                                          <p:spTgt spid="15">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xEl>
                                              <p:pRg st="6" end="6"/>
                                            </p:txEl>
                                          </p:spTgt>
                                        </p:tgtEl>
                                        <p:attrNameLst>
                                          <p:attrName>style.visibility</p:attrName>
                                        </p:attrNameLst>
                                      </p:cBhvr>
                                      <p:to>
                                        <p:strVal val="visible"/>
                                      </p:to>
                                    </p:set>
                                    <p:animEffect transition="in" filter="fade">
                                      <p:cBhvr>
                                        <p:cTn id="24" dur="500"/>
                                        <p:tgtEl>
                                          <p:spTgt spid="15">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15">
                                            <p:txEl>
                                              <p:pRg st="7" end="7"/>
                                            </p:txEl>
                                          </p:spTgt>
                                        </p:tgtEl>
                                        <p:attrNameLst>
                                          <p:attrName>style.visibility</p:attrName>
                                        </p:attrNameLst>
                                      </p:cBhvr>
                                      <p:to>
                                        <p:strVal val="visible"/>
                                      </p:to>
                                    </p:set>
                                    <p:animEffect transition="in" filter="fade">
                                      <p:cBhvr>
                                        <p:cTn id="27" dur="500"/>
                                        <p:tgtEl>
                                          <p:spTgt spid="15">
                                            <p:txEl>
                                              <p:pRg st="7" end="7"/>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xEl>
                                              <p:pRg st="8" end="8"/>
                                            </p:txEl>
                                          </p:spTgt>
                                        </p:tgtEl>
                                        <p:attrNameLst>
                                          <p:attrName>style.visibility</p:attrName>
                                        </p:attrNameLst>
                                      </p:cBhvr>
                                      <p:to>
                                        <p:strVal val="visible"/>
                                      </p:to>
                                    </p:set>
                                    <p:animEffect transition="in" filter="fade">
                                      <p:cBhvr>
                                        <p:cTn id="30" dur="500"/>
                                        <p:tgtEl>
                                          <p:spTgt spid="15">
                                            <p:txEl>
                                              <p:pRg st="8" end="8"/>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15">
                                            <p:txEl>
                                              <p:pRg st="9" end="9"/>
                                            </p:txEl>
                                          </p:spTgt>
                                        </p:tgtEl>
                                        <p:attrNameLst>
                                          <p:attrName>style.visibility</p:attrName>
                                        </p:attrNameLst>
                                      </p:cBhvr>
                                      <p:to>
                                        <p:strVal val="visible"/>
                                      </p:to>
                                    </p:set>
                                    <p:animEffect transition="in" filter="fade">
                                      <p:cBhvr>
                                        <p:cTn id="33" dur="500"/>
                                        <p:tgtEl>
                                          <p:spTgt spid="15">
                                            <p:txEl>
                                              <p:pRg st="9" end="9"/>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5">
                                            <p:txEl>
                                              <p:pRg st="11" end="11"/>
                                            </p:txEl>
                                          </p:spTgt>
                                        </p:tgtEl>
                                        <p:attrNameLst>
                                          <p:attrName>style.visibility</p:attrName>
                                        </p:attrNameLst>
                                      </p:cBhvr>
                                      <p:to>
                                        <p:strVal val="visible"/>
                                      </p:to>
                                    </p:set>
                                    <p:animEffect transition="in" filter="fade">
                                      <p:cBhvr>
                                        <p:cTn id="38" dur="500"/>
                                        <p:tgtEl>
                                          <p:spTgt spid="15">
                                            <p:txEl>
                                              <p:pRg st="11" end="11"/>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15">
                                            <p:txEl>
                                              <p:pRg st="12" end="12"/>
                                            </p:txEl>
                                          </p:spTgt>
                                        </p:tgtEl>
                                        <p:attrNameLst>
                                          <p:attrName>style.visibility</p:attrName>
                                        </p:attrNameLst>
                                      </p:cBhvr>
                                      <p:to>
                                        <p:strVal val="visible"/>
                                      </p:to>
                                    </p:set>
                                    <p:animEffect transition="in" filter="fade">
                                      <p:cBhvr>
                                        <p:cTn id="41" dur="500"/>
                                        <p:tgtEl>
                                          <p:spTgt spid="15">
                                            <p:txEl>
                                              <p:pRg st="12" end="12"/>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15">
                                            <p:txEl>
                                              <p:pRg st="13" end="13"/>
                                            </p:txEl>
                                          </p:spTgt>
                                        </p:tgtEl>
                                        <p:attrNameLst>
                                          <p:attrName>style.visibility</p:attrName>
                                        </p:attrNameLst>
                                      </p:cBhvr>
                                      <p:to>
                                        <p:strVal val="visible"/>
                                      </p:to>
                                    </p:set>
                                    <p:animEffect transition="in" filter="fade">
                                      <p:cBhvr>
                                        <p:cTn id="44" dur="500"/>
                                        <p:tgtEl>
                                          <p:spTgt spid="15">
                                            <p:txEl>
                                              <p:pRg st="13" end="13"/>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15">
                                            <p:txEl>
                                              <p:pRg st="14" end="14"/>
                                            </p:txEl>
                                          </p:spTgt>
                                        </p:tgtEl>
                                        <p:attrNameLst>
                                          <p:attrName>style.visibility</p:attrName>
                                        </p:attrNameLst>
                                      </p:cBhvr>
                                      <p:to>
                                        <p:strVal val="visible"/>
                                      </p:to>
                                    </p:set>
                                    <p:animEffect transition="in" filter="fade">
                                      <p:cBhvr>
                                        <p:cTn id="47" dur="500"/>
                                        <p:tgtEl>
                                          <p:spTgt spid="15">
                                            <p:txEl>
                                              <p:pRg st="14" end="14"/>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15">
                                            <p:txEl>
                                              <p:pRg st="15" end="15"/>
                                            </p:txEl>
                                          </p:spTgt>
                                        </p:tgtEl>
                                        <p:attrNameLst>
                                          <p:attrName>style.visibility</p:attrName>
                                        </p:attrNameLst>
                                      </p:cBhvr>
                                      <p:to>
                                        <p:strVal val="visible"/>
                                      </p:to>
                                    </p:set>
                                    <p:animEffect transition="in" filter="fade">
                                      <p:cBhvr>
                                        <p:cTn id="50" dur="500"/>
                                        <p:tgtEl>
                                          <p:spTgt spid="15">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76D2F-4576-2F56-E491-8420BF37B79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ACBEEED-27D3-EA9E-7A78-D33FCD97BF5E}"/>
              </a:ext>
            </a:extLst>
          </p:cNvPr>
          <p:cNvSpPr txBox="1"/>
          <p:nvPr/>
        </p:nvSpPr>
        <p:spPr>
          <a:xfrm>
            <a:off x="3175000" y="2505304"/>
            <a:ext cx="6950685" cy="369332"/>
          </a:xfrm>
          <a:prstGeom prst="rect">
            <a:avLst/>
          </a:prstGeom>
          <a:noFill/>
        </p:spPr>
        <p:txBody>
          <a:bodyPr wrap="none" rtlCol="0">
            <a:spAutoFit/>
          </a:bodyPr>
          <a:lstStyle/>
          <a:p>
            <a:r>
              <a:rPr lang="sv-SE"/>
              <a:t>Ibland behöver det gå fort. Då är det lite onödigt att läsa/ändra/skriva</a:t>
            </a:r>
            <a:endParaRPr lang="LID4096"/>
          </a:p>
        </p:txBody>
      </p:sp>
      <p:sp>
        <p:nvSpPr>
          <p:cNvPr id="2" name="Title 1">
            <a:extLst>
              <a:ext uri="{FF2B5EF4-FFF2-40B4-BE49-F238E27FC236}">
                <a16:creationId xmlns:a16="http://schemas.microsoft.com/office/drawing/2014/main" id="{736BECB0-126F-8327-2D4A-31FAF9F91C1A}"/>
              </a:ext>
            </a:extLst>
          </p:cNvPr>
          <p:cNvSpPr>
            <a:spLocks noGrp="1"/>
          </p:cNvSpPr>
          <p:nvPr>
            <p:ph type="title"/>
          </p:nvPr>
        </p:nvSpPr>
        <p:spPr/>
        <p:txBody>
          <a:bodyPr/>
          <a:lstStyle/>
          <a:p>
            <a:r>
              <a:rPr lang="sv-SE"/>
              <a:t>Tända LED – Skriva till en pinne (snabbare)</a:t>
            </a:r>
            <a:endParaRPr lang="LID4096"/>
          </a:p>
        </p:txBody>
      </p:sp>
      <p:pic>
        <p:nvPicPr>
          <p:cNvPr id="6" name="Picture 5">
            <a:extLst>
              <a:ext uri="{FF2B5EF4-FFF2-40B4-BE49-F238E27FC236}">
                <a16:creationId xmlns:a16="http://schemas.microsoft.com/office/drawing/2014/main" id="{E6954EF9-8EE1-4F8F-9265-68AAFCBF0F43}"/>
              </a:ext>
            </a:extLst>
          </p:cNvPr>
          <p:cNvPicPr>
            <a:picLocks noChangeAspect="1"/>
          </p:cNvPicPr>
          <p:nvPr/>
        </p:nvPicPr>
        <p:blipFill>
          <a:blip r:embed="rId2"/>
          <a:stretch>
            <a:fillRect/>
          </a:stretch>
        </p:blipFill>
        <p:spPr>
          <a:xfrm>
            <a:off x="2333793" y="3341917"/>
            <a:ext cx="9240540" cy="3277057"/>
          </a:xfrm>
          <a:prstGeom prst="rect">
            <a:avLst/>
          </a:prstGeom>
          <a:ln>
            <a:solidFill>
              <a:schemeClr val="accent1">
                <a:shade val="15000"/>
              </a:schemeClr>
            </a:solidFill>
          </a:ln>
          <a:effectLst>
            <a:outerShdw blurRad="50800" dist="38100" dir="2700000" algn="tl" rotWithShape="0">
              <a:prstClr val="black">
                <a:alpha val="40000"/>
              </a:prstClr>
            </a:outerShdw>
          </a:effectLst>
        </p:spPr>
      </p:pic>
      <p:pic>
        <p:nvPicPr>
          <p:cNvPr id="10" name="Picture 9">
            <a:extLst>
              <a:ext uri="{FF2B5EF4-FFF2-40B4-BE49-F238E27FC236}">
                <a16:creationId xmlns:a16="http://schemas.microsoft.com/office/drawing/2014/main" id="{293AB084-7ADA-67EE-AADB-BE69C0C3A23C}"/>
              </a:ext>
            </a:extLst>
          </p:cNvPr>
          <p:cNvPicPr>
            <a:picLocks noChangeAspect="1"/>
          </p:cNvPicPr>
          <p:nvPr/>
        </p:nvPicPr>
        <p:blipFill>
          <a:blip r:embed="rId3"/>
          <a:stretch>
            <a:fillRect/>
          </a:stretch>
        </p:blipFill>
        <p:spPr>
          <a:xfrm>
            <a:off x="247550" y="3341917"/>
            <a:ext cx="1876687" cy="2143424"/>
          </a:xfrm>
          <a:prstGeom prst="rect">
            <a:avLst/>
          </a:prstGeom>
          <a:ln>
            <a:solidFill>
              <a:schemeClr val="accent1">
                <a:shade val="15000"/>
              </a:schemeClr>
            </a:solidFill>
          </a:ln>
          <a:effectLst>
            <a:outerShdw blurRad="50800" dist="38100" dir="2700000" algn="tl" rotWithShape="0">
              <a:prstClr val="black">
                <a:alpha val="40000"/>
              </a:prstClr>
            </a:outerShdw>
          </a:effectLst>
        </p:spPr>
      </p:pic>
      <p:sp>
        <p:nvSpPr>
          <p:cNvPr id="11" name="Rectangle: Rounded Corners 10">
            <a:extLst>
              <a:ext uri="{FF2B5EF4-FFF2-40B4-BE49-F238E27FC236}">
                <a16:creationId xmlns:a16="http://schemas.microsoft.com/office/drawing/2014/main" id="{C6CAC2BF-8597-329B-5B11-3FA1DEBF9D0A}"/>
              </a:ext>
            </a:extLst>
          </p:cNvPr>
          <p:cNvSpPr/>
          <p:nvPr/>
        </p:nvSpPr>
        <p:spPr>
          <a:xfrm>
            <a:off x="6937420" y="5517285"/>
            <a:ext cx="4598714" cy="338025"/>
          </a:xfrm>
          <a:prstGeom prst="roundRect">
            <a:avLst/>
          </a:prstGeom>
          <a:noFill/>
          <a:ln w="254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5" name="TextBox 14">
            <a:extLst>
              <a:ext uri="{FF2B5EF4-FFF2-40B4-BE49-F238E27FC236}">
                <a16:creationId xmlns:a16="http://schemas.microsoft.com/office/drawing/2014/main" id="{CBDE7E5A-EEB6-664F-51BC-F27A96CA4292}"/>
              </a:ext>
            </a:extLst>
          </p:cNvPr>
          <p:cNvSpPr txBox="1"/>
          <p:nvPr/>
        </p:nvSpPr>
        <p:spPr>
          <a:xfrm>
            <a:off x="554342" y="1910320"/>
            <a:ext cx="6096000" cy="4247317"/>
          </a:xfrm>
          <a:prstGeom prst="rect">
            <a:avLst/>
          </a:prstGeom>
          <a:solidFill>
            <a:schemeClr val="tx1">
              <a:lumMod val="85000"/>
              <a:lumOff val="15000"/>
            </a:schemeClr>
          </a:solidFill>
        </p:spPr>
        <p:txBody>
          <a:bodyPr wrap="square">
            <a:spAutoFit/>
          </a:bodyPr>
          <a:lstStyle/>
          <a:p>
            <a:pPr>
              <a:buNone/>
            </a:pPr>
            <a:r>
              <a:rPr lang="en-GB" b="0">
                <a:solidFill>
                  <a:srgbClr val="569CD6"/>
                </a:solidFill>
                <a:effectLst/>
                <a:latin typeface="Consolas" panose="020B0609020204030204" pitchFamily="49" charset="0"/>
              </a:rPr>
              <a:t>.equ</a:t>
            </a:r>
            <a:r>
              <a:rPr lang="en-GB" b="0">
                <a:solidFill>
                  <a:srgbClr val="CCCCCC"/>
                </a:solidFill>
                <a:effectLst/>
                <a:latin typeface="Consolas" panose="020B0609020204030204" pitchFamily="49" charset="0"/>
              </a:rPr>
              <a:t> GPIO_D_OUTDR, </a:t>
            </a:r>
            <a:r>
              <a:rPr lang="en-GB" b="0">
                <a:solidFill>
                  <a:srgbClr val="B5CEA8"/>
                </a:solidFill>
                <a:effectLst/>
                <a:latin typeface="Consolas" panose="020B0609020204030204" pitchFamily="49" charset="0"/>
              </a:rPr>
              <a:t>0x4001140C</a:t>
            </a:r>
            <a:endParaRPr lang="en-GB" b="0">
              <a:solidFill>
                <a:srgbClr val="CCCCCC"/>
              </a:solidFill>
              <a:effectLst/>
              <a:latin typeface="Consolas" panose="020B0609020204030204" pitchFamily="49" charset="0"/>
            </a:endParaRPr>
          </a:p>
          <a:p>
            <a:pPr>
              <a:buNone/>
            </a:pPr>
            <a:r>
              <a:rPr lang="en-GB">
                <a:solidFill>
                  <a:srgbClr val="569CD6"/>
                </a:solidFill>
                <a:latin typeface="Consolas" panose="020B0609020204030204" pitchFamily="49" charset="0"/>
              </a:rPr>
              <a:t>.equ</a:t>
            </a:r>
            <a:r>
              <a:rPr lang="en-GB">
                <a:solidFill>
                  <a:srgbClr val="CCCCCC"/>
                </a:solidFill>
                <a:latin typeface="Consolas" panose="020B0609020204030204" pitchFamily="49" charset="0"/>
              </a:rPr>
              <a:t> GPIO_D_BSHR, </a:t>
            </a:r>
            <a:r>
              <a:rPr lang="en-GB">
                <a:solidFill>
                  <a:srgbClr val="B5CEA8"/>
                </a:solidFill>
                <a:latin typeface="Consolas" panose="020B0609020204030204" pitchFamily="49" charset="0"/>
              </a:rPr>
              <a:t>0x40011410</a:t>
            </a:r>
            <a:endParaRPr lang="en-GB">
              <a:solidFill>
                <a:srgbClr val="CCCCCC"/>
              </a:solidFill>
              <a:latin typeface="Consolas" panose="020B0609020204030204" pitchFamily="49" charset="0"/>
            </a:endParaRPr>
          </a:p>
          <a:p>
            <a:pPr>
              <a:buNone/>
            </a:pPr>
            <a:r>
              <a:rPr lang="en-GB">
                <a:solidFill>
                  <a:srgbClr val="569CD6"/>
                </a:solidFill>
                <a:latin typeface="Consolas" panose="020B0609020204030204" pitchFamily="49" charset="0"/>
              </a:rPr>
              <a:t>.equ</a:t>
            </a:r>
            <a:r>
              <a:rPr lang="en-GB">
                <a:solidFill>
                  <a:srgbClr val="CCCCCC"/>
                </a:solidFill>
                <a:latin typeface="Consolas" panose="020B0609020204030204" pitchFamily="49" charset="0"/>
              </a:rPr>
              <a:t> GPIO_D_BCR,  </a:t>
            </a:r>
            <a:r>
              <a:rPr lang="en-GB">
                <a:solidFill>
                  <a:srgbClr val="B5CEA8"/>
                </a:solidFill>
                <a:latin typeface="Consolas" panose="020B0609020204030204" pitchFamily="49" charset="0"/>
              </a:rPr>
              <a:t>0x40011414</a:t>
            </a:r>
            <a:endParaRPr lang="en-GB">
              <a:solidFill>
                <a:srgbClr val="CCCCCC"/>
              </a:solidFill>
              <a:latin typeface="Consolas" panose="020B0609020204030204" pitchFamily="49" charset="0"/>
            </a:endParaRPr>
          </a:p>
          <a:p>
            <a:pPr>
              <a:buNone/>
            </a:pPr>
            <a:endParaRPr lang="en-GB">
              <a:solidFill>
                <a:srgbClr val="CCCCCC"/>
              </a:solidFill>
              <a:latin typeface="Consolas" panose="020B0609020204030204" pitchFamily="49" charset="0"/>
            </a:endParaRPr>
          </a:p>
          <a:p>
            <a:pPr>
              <a:buNone/>
            </a:pPr>
            <a:r>
              <a:rPr lang="en-GB">
                <a:solidFill>
                  <a:srgbClr val="DCDCAA"/>
                </a:solidFill>
                <a:latin typeface="Consolas" panose="020B0609020204030204" pitchFamily="49" charset="0"/>
              </a:rPr>
              <a:t>main</a:t>
            </a:r>
            <a:r>
              <a:rPr lang="en-GB">
                <a:solidFill>
                  <a:srgbClr val="CCCCCC"/>
                </a:solidFill>
                <a:latin typeface="Consolas" panose="020B0609020204030204" pitchFamily="49" charset="0"/>
              </a:rPr>
              <a:t>: </a:t>
            </a:r>
          </a:p>
          <a:p>
            <a:pPr>
              <a:buNone/>
            </a:pPr>
            <a:r>
              <a:rPr lang="en-GB">
                <a:solidFill>
                  <a:srgbClr val="CCCCCC"/>
                </a:solidFill>
                <a:latin typeface="Consolas" panose="020B0609020204030204" pitchFamily="49" charset="0"/>
              </a:rPr>
              <a:t>    </a:t>
            </a:r>
            <a:r>
              <a:rPr lang="en-GB">
                <a:solidFill>
                  <a:srgbClr val="6A9955"/>
                </a:solidFill>
                <a:latin typeface="Consolas" panose="020B0609020204030204" pitchFamily="49" charset="0"/>
              </a:rPr>
              <a:t># Konfigurera pinnen</a:t>
            </a:r>
            <a:endParaRPr lang="en-GB">
              <a:solidFill>
                <a:srgbClr val="CCCCCC"/>
              </a:solidFill>
              <a:latin typeface="Consolas" panose="020B0609020204030204" pitchFamily="49" charset="0"/>
            </a:endParaRPr>
          </a:p>
          <a:p>
            <a:pPr>
              <a:buNone/>
            </a:pPr>
            <a:r>
              <a:rPr lang="en-GB">
                <a:solidFill>
                  <a:srgbClr val="CCCCCC"/>
                </a:solidFill>
                <a:latin typeface="Consolas" panose="020B0609020204030204" pitchFamily="49" charset="0"/>
              </a:rPr>
              <a:t>    ...</a:t>
            </a:r>
          </a:p>
          <a:p>
            <a:pPr>
              <a:buNone/>
            </a:pPr>
            <a:r>
              <a:rPr lang="en-GB">
                <a:solidFill>
                  <a:srgbClr val="CCCCCC"/>
                </a:solidFill>
                <a:latin typeface="Consolas" panose="020B0609020204030204" pitchFamily="49" charset="0"/>
              </a:rPr>
              <a:t>    </a:t>
            </a:r>
            <a:r>
              <a:rPr lang="en-GB">
                <a:solidFill>
                  <a:srgbClr val="6A9955"/>
                </a:solidFill>
                <a:latin typeface="Consolas" panose="020B0609020204030204" pitchFamily="49" charset="0"/>
              </a:rPr>
              <a:t># Skriv 1 till pin 2</a:t>
            </a:r>
            <a:endParaRPr lang="en-GB">
              <a:solidFill>
                <a:srgbClr val="CCCCCC"/>
              </a:solidFill>
              <a:latin typeface="Consolas" panose="020B0609020204030204" pitchFamily="49" charset="0"/>
            </a:endParaRPr>
          </a:p>
          <a:p>
            <a:pPr>
              <a:buNone/>
            </a:pPr>
            <a:r>
              <a:rPr lang="en-GB">
                <a:solidFill>
                  <a:srgbClr val="CCCCCC"/>
                </a:solidFill>
                <a:latin typeface="Consolas" panose="020B0609020204030204" pitchFamily="49" charset="0"/>
              </a:rPr>
              <a:t>    </a:t>
            </a:r>
            <a:r>
              <a:rPr lang="en-GB">
                <a:solidFill>
                  <a:srgbClr val="DCDCAA"/>
                </a:solidFill>
                <a:latin typeface="Consolas" panose="020B0609020204030204" pitchFamily="49" charset="0"/>
              </a:rPr>
              <a:t>la</a:t>
            </a:r>
            <a:r>
              <a:rPr lang="en-GB">
                <a:solidFill>
                  <a:srgbClr val="CCCCCC"/>
                </a:solidFill>
                <a:latin typeface="Consolas" panose="020B0609020204030204" pitchFamily="49" charset="0"/>
              </a:rPr>
              <a:t> </a:t>
            </a:r>
            <a:r>
              <a:rPr lang="en-GB">
                <a:solidFill>
                  <a:srgbClr val="9CDCFE"/>
                </a:solidFill>
                <a:latin typeface="Consolas" panose="020B0609020204030204" pitchFamily="49" charset="0"/>
              </a:rPr>
              <a:t>t0</a:t>
            </a:r>
            <a:r>
              <a:rPr lang="en-GB">
                <a:solidFill>
                  <a:srgbClr val="CCCCCC"/>
                </a:solidFill>
                <a:latin typeface="Consolas" panose="020B0609020204030204" pitchFamily="49" charset="0"/>
              </a:rPr>
              <a:t>, GPIO_D_BSHR</a:t>
            </a:r>
          </a:p>
          <a:p>
            <a:pPr>
              <a:buNone/>
            </a:pPr>
            <a:r>
              <a:rPr lang="en-GB">
                <a:solidFill>
                  <a:srgbClr val="CCCCCC"/>
                </a:solidFill>
                <a:latin typeface="Consolas" panose="020B0609020204030204" pitchFamily="49" charset="0"/>
              </a:rPr>
              <a:t>    </a:t>
            </a:r>
            <a:r>
              <a:rPr lang="en-GB">
                <a:solidFill>
                  <a:srgbClr val="DCDCAA"/>
                </a:solidFill>
                <a:latin typeface="Consolas" panose="020B0609020204030204" pitchFamily="49" charset="0"/>
              </a:rPr>
              <a:t>li</a:t>
            </a:r>
            <a:r>
              <a:rPr lang="en-GB">
                <a:solidFill>
                  <a:srgbClr val="CCCCCC"/>
                </a:solidFill>
                <a:latin typeface="Consolas" panose="020B0609020204030204" pitchFamily="49" charset="0"/>
              </a:rPr>
              <a:t> </a:t>
            </a:r>
            <a:r>
              <a:rPr lang="en-GB">
                <a:solidFill>
                  <a:srgbClr val="9CDCFE"/>
                </a:solidFill>
                <a:latin typeface="Consolas" panose="020B0609020204030204" pitchFamily="49" charset="0"/>
              </a:rPr>
              <a:t>t1</a:t>
            </a:r>
            <a:r>
              <a:rPr lang="en-GB">
                <a:solidFill>
                  <a:srgbClr val="CCCCCC"/>
                </a:solidFill>
                <a:latin typeface="Consolas" panose="020B0609020204030204" pitchFamily="49" charset="0"/>
              </a:rPr>
              <a:t>, 0b100</a:t>
            </a:r>
          </a:p>
          <a:p>
            <a:pPr>
              <a:buNone/>
            </a:pPr>
            <a:r>
              <a:rPr lang="en-GB">
                <a:solidFill>
                  <a:srgbClr val="CCCCCC"/>
                </a:solidFill>
                <a:latin typeface="Consolas" panose="020B0609020204030204" pitchFamily="49" charset="0"/>
              </a:rPr>
              <a:t>    </a:t>
            </a:r>
            <a:r>
              <a:rPr lang="en-GB">
                <a:solidFill>
                  <a:srgbClr val="DCDCAA"/>
                </a:solidFill>
                <a:latin typeface="Consolas" panose="020B0609020204030204" pitchFamily="49" charset="0"/>
              </a:rPr>
              <a:t>sh</a:t>
            </a:r>
            <a:r>
              <a:rPr lang="en-GB">
                <a:solidFill>
                  <a:srgbClr val="CCCCCC"/>
                </a:solidFill>
                <a:latin typeface="Consolas" panose="020B0609020204030204" pitchFamily="49" charset="0"/>
              </a:rPr>
              <a:t> </a:t>
            </a:r>
            <a:r>
              <a:rPr lang="en-GB">
                <a:solidFill>
                  <a:srgbClr val="9CDCFE"/>
                </a:solidFill>
                <a:latin typeface="Consolas" panose="020B0609020204030204" pitchFamily="49" charset="0"/>
              </a:rPr>
              <a:t>t1</a:t>
            </a:r>
            <a:r>
              <a:rPr lang="en-GB">
                <a:solidFill>
                  <a:srgbClr val="CCCCCC"/>
                </a:solidFill>
                <a:latin typeface="Consolas" panose="020B0609020204030204" pitchFamily="49" charset="0"/>
              </a:rPr>
              <a:t>, </a:t>
            </a:r>
            <a:r>
              <a:rPr lang="en-GB">
                <a:solidFill>
                  <a:srgbClr val="B5CEA8"/>
                </a:solidFill>
                <a:latin typeface="Consolas" panose="020B0609020204030204" pitchFamily="49" charset="0"/>
              </a:rPr>
              <a:t>0</a:t>
            </a:r>
            <a:r>
              <a:rPr lang="en-GB">
                <a:solidFill>
                  <a:srgbClr val="CCCCCC"/>
                </a:solidFill>
                <a:latin typeface="Consolas" panose="020B0609020204030204" pitchFamily="49" charset="0"/>
              </a:rPr>
              <a:t>(</a:t>
            </a:r>
            <a:r>
              <a:rPr lang="en-GB">
                <a:solidFill>
                  <a:srgbClr val="9CDCFE"/>
                </a:solidFill>
                <a:latin typeface="Consolas" panose="020B0609020204030204" pitchFamily="49" charset="0"/>
              </a:rPr>
              <a:t>t0</a:t>
            </a:r>
            <a:r>
              <a:rPr lang="en-GB">
                <a:solidFill>
                  <a:srgbClr val="CCCCCC"/>
                </a:solidFill>
                <a:latin typeface="Consolas" panose="020B0609020204030204" pitchFamily="49" charset="0"/>
              </a:rPr>
              <a:t>)    </a:t>
            </a:r>
          </a:p>
          <a:p>
            <a:pPr>
              <a:buNone/>
            </a:pPr>
            <a:r>
              <a:rPr lang="en-GB">
                <a:solidFill>
                  <a:srgbClr val="CCCCCC"/>
                </a:solidFill>
                <a:latin typeface="Consolas" panose="020B0609020204030204" pitchFamily="49" charset="0"/>
              </a:rPr>
              <a:t>    </a:t>
            </a:r>
            <a:r>
              <a:rPr lang="en-GB">
                <a:solidFill>
                  <a:srgbClr val="6A9955"/>
                </a:solidFill>
                <a:latin typeface="Consolas" panose="020B0609020204030204" pitchFamily="49" charset="0"/>
              </a:rPr>
              <a:t># Eller skriv 0    </a:t>
            </a:r>
            <a:endParaRPr lang="en-GB">
              <a:solidFill>
                <a:srgbClr val="CCCCCC"/>
              </a:solidFill>
              <a:latin typeface="Consolas" panose="020B0609020204030204" pitchFamily="49" charset="0"/>
            </a:endParaRPr>
          </a:p>
          <a:p>
            <a:pPr>
              <a:buNone/>
            </a:pPr>
            <a:r>
              <a:rPr lang="en-GB">
                <a:solidFill>
                  <a:srgbClr val="CCCCCC"/>
                </a:solidFill>
                <a:latin typeface="Consolas" panose="020B0609020204030204" pitchFamily="49" charset="0"/>
              </a:rPr>
              <a:t>    </a:t>
            </a:r>
            <a:r>
              <a:rPr lang="en-GB">
                <a:solidFill>
                  <a:srgbClr val="DCDCAA"/>
                </a:solidFill>
                <a:latin typeface="Consolas" panose="020B0609020204030204" pitchFamily="49" charset="0"/>
              </a:rPr>
              <a:t>la</a:t>
            </a:r>
            <a:r>
              <a:rPr lang="en-GB">
                <a:solidFill>
                  <a:srgbClr val="CCCCCC"/>
                </a:solidFill>
                <a:latin typeface="Consolas" panose="020B0609020204030204" pitchFamily="49" charset="0"/>
              </a:rPr>
              <a:t> </a:t>
            </a:r>
            <a:r>
              <a:rPr lang="en-GB">
                <a:solidFill>
                  <a:srgbClr val="9CDCFE"/>
                </a:solidFill>
                <a:latin typeface="Consolas" panose="020B0609020204030204" pitchFamily="49" charset="0"/>
              </a:rPr>
              <a:t>t0</a:t>
            </a:r>
            <a:r>
              <a:rPr lang="en-GB">
                <a:solidFill>
                  <a:srgbClr val="CCCCCC"/>
                </a:solidFill>
                <a:latin typeface="Consolas" panose="020B0609020204030204" pitchFamily="49" charset="0"/>
              </a:rPr>
              <a:t>, GPIO_D_BCR</a:t>
            </a:r>
          </a:p>
          <a:p>
            <a:pPr>
              <a:buNone/>
            </a:pPr>
            <a:r>
              <a:rPr lang="en-GB">
                <a:solidFill>
                  <a:srgbClr val="CCCCCC"/>
                </a:solidFill>
                <a:latin typeface="Consolas" panose="020B0609020204030204" pitchFamily="49" charset="0"/>
              </a:rPr>
              <a:t>    </a:t>
            </a:r>
            <a:r>
              <a:rPr lang="en-GB">
                <a:solidFill>
                  <a:srgbClr val="DCDCAA"/>
                </a:solidFill>
                <a:latin typeface="Consolas" panose="020B0609020204030204" pitchFamily="49" charset="0"/>
              </a:rPr>
              <a:t>li</a:t>
            </a:r>
            <a:r>
              <a:rPr lang="en-GB">
                <a:solidFill>
                  <a:srgbClr val="CCCCCC"/>
                </a:solidFill>
                <a:latin typeface="Consolas" panose="020B0609020204030204" pitchFamily="49" charset="0"/>
              </a:rPr>
              <a:t> </a:t>
            </a:r>
            <a:r>
              <a:rPr lang="en-GB">
                <a:solidFill>
                  <a:srgbClr val="9CDCFE"/>
                </a:solidFill>
                <a:latin typeface="Consolas" panose="020B0609020204030204" pitchFamily="49" charset="0"/>
              </a:rPr>
              <a:t>t1</a:t>
            </a:r>
            <a:r>
              <a:rPr lang="en-GB">
                <a:solidFill>
                  <a:srgbClr val="CCCCCC"/>
                </a:solidFill>
                <a:latin typeface="Consolas" panose="020B0609020204030204" pitchFamily="49" charset="0"/>
              </a:rPr>
              <a:t>, </a:t>
            </a:r>
            <a:r>
              <a:rPr lang="en-GB" b="1">
                <a:solidFill>
                  <a:srgbClr val="FFC000"/>
                </a:solidFill>
                <a:latin typeface="Consolas" panose="020B0609020204030204" pitchFamily="49" charset="0"/>
              </a:rPr>
              <a:t>0b100</a:t>
            </a:r>
          </a:p>
          <a:p>
            <a:pPr>
              <a:buNone/>
            </a:pPr>
            <a:r>
              <a:rPr lang="en-GB">
                <a:solidFill>
                  <a:srgbClr val="CCCCCC"/>
                </a:solidFill>
                <a:latin typeface="Consolas" panose="020B0609020204030204" pitchFamily="49" charset="0"/>
              </a:rPr>
              <a:t>    </a:t>
            </a:r>
            <a:r>
              <a:rPr lang="en-GB">
                <a:solidFill>
                  <a:srgbClr val="DCDCAA"/>
                </a:solidFill>
                <a:latin typeface="Consolas" panose="020B0609020204030204" pitchFamily="49" charset="0"/>
              </a:rPr>
              <a:t>sh</a:t>
            </a:r>
            <a:r>
              <a:rPr lang="en-GB">
                <a:solidFill>
                  <a:srgbClr val="CCCCCC"/>
                </a:solidFill>
                <a:latin typeface="Consolas" panose="020B0609020204030204" pitchFamily="49" charset="0"/>
              </a:rPr>
              <a:t> </a:t>
            </a:r>
            <a:r>
              <a:rPr lang="en-GB">
                <a:solidFill>
                  <a:srgbClr val="9CDCFE"/>
                </a:solidFill>
                <a:latin typeface="Consolas" panose="020B0609020204030204" pitchFamily="49" charset="0"/>
              </a:rPr>
              <a:t>t1</a:t>
            </a:r>
            <a:r>
              <a:rPr lang="en-GB">
                <a:solidFill>
                  <a:srgbClr val="CCCCCC"/>
                </a:solidFill>
                <a:latin typeface="Consolas" panose="020B0609020204030204" pitchFamily="49" charset="0"/>
              </a:rPr>
              <a:t>, </a:t>
            </a:r>
            <a:r>
              <a:rPr lang="en-GB">
                <a:solidFill>
                  <a:srgbClr val="B5CEA8"/>
                </a:solidFill>
                <a:latin typeface="Consolas" panose="020B0609020204030204" pitchFamily="49" charset="0"/>
              </a:rPr>
              <a:t>0</a:t>
            </a:r>
            <a:r>
              <a:rPr lang="en-GB">
                <a:solidFill>
                  <a:srgbClr val="CCCCCC"/>
                </a:solidFill>
                <a:latin typeface="Consolas" panose="020B0609020204030204" pitchFamily="49" charset="0"/>
              </a:rPr>
              <a:t>(</a:t>
            </a:r>
            <a:r>
              <a:rPr lang="en-GB">
                <a:solidFill>
                  <a:srgbClr val="9CDCFE"/>
                </a:solidFill>
                <a:latin typeface="Consolas" panose="020B0609020204030204" pitchFamily="49" charset="0"/>
              </a:rPr>
              <a:t>t0</a:t>
            </a:r>
            <a:r>
              <a:rPr lang="en-GB">
                <a:solidFill>
                  <a:srgbClr val="CCCCCC"/>
                </a:solidFill>
                <a:latin typeface="Consolas" panose="020B0609020204030204" pitchFamily="49" charset="0"/>
              </a:rPr>
              <a:t>)</a:t>
            </a:r>
          </a:p>
        </p:txBody>
      </p:sp>
      <p:sp>
        <p:nvSpPr>
          <p:cNvPr id="3" name="Rectangle: Rounded Corners 2">
            <a:extLst>
              <a:ext uri="{FF2B5EF4-FFF2-40B4-BE49-F238E27FC236}">
                <a16:creationId xmlns:a16="http://schemas.microsoft.com/office/drawing/2014/main" id="{2E85C497-51A0-C0D6-341E-2B73CC6703FE}"/>
              </a:ext>
            </a:extLst>
          </p:cNvPr>
          <p:cNvSpPr/>
          <p:nvPr/>
        </p:nvSpPr>
        <p:spPr>
          <a:xfrm>
            <a:off x="6937420" y="5855310"/>
            <a:ext cx="4598714" cy="338025"/>
          </a:xfrm>
          <a:prstGeom prst="roundRect">
            <a:avLst/>
          </a:prstGeom>
          <a:noFill/>
          <a:ln w="254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1060314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animEffect transition="in" filter="fade">
                                      <p:cBhvr>
                                        <p:cTn id="11" dur="500"/>
                                        <p:tgtEl>
                                          <p:spTgt spid="15">
                                            <p:txEl>
                                              <p:pRg st="0" end="0"/>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15">
                                            <p:txEl>
                                              <p:pRg st="1" end="1"/>
                                            </p:txEl>
                                          </p:spTgt>
                                        </p:tgtEl>
                                        <p:attrNameLst>
                                          <p:attrName>style.visibility</p:attrName>
                                        </p:attrNameLst>
                                      </p:cBhvr>
                                      <p:to>
                                        <p:strVal val="visible"/>
                                      </p:to>
                                    </p:set>
                                    <p:animEffect transition="in" filter="fade">
                                      <p:cBhvr>
                                        <p:cTn id="14" dur="500"/>
                                        <p:tgtEl>
                                          <p:spTgt spid="15">
                                            <p:txEl>
                                              <p:pRg st="1" end="1"/>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15">
                                            <p:txEl>
                                              <p:pRg st="2" end="2"/>
                                            </p:txEl>
                                          </p:spTgt>
                                        </p:tgtEl>
                                        <p:attrNameLst>
                                          <p:attrName>style.visibility</p:attrName>
                                        </p:attrNameLst>
                                      </p:cBhvr>
                                      <p:to>
                                        <p:strVal val="visible"/>
                                      </p:to>
                                    </p:set>
                                    <p:animEffect transition="in" filter="fade">
                                      <p:cBhvr>
                                        <p:cTn id="17" dur="500"/>
                                        <p:tgtEl>
                                          <p:spTgt spid="15">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15">
                                            <p:txEl>
                                              <p:pRg st="4" end="4"/>
                                            </p:txEl>
                                          </p:spTgt>
                                        </p:tgtEl>
                                        <p:attrNameLst>
                                          <p:attrName>style.visibility</p:attrName>
                                        </p:attrNameLst>
                                      </p:cBhvr>
                                      <p:to>
                                        <p:strVal val="visible"/>
                                      </p:to>
                                    </p:set>
                                    <p:animEffect transition="in" filter="fade">
                                      <p:cBhvr>
                                        <p:cTn id="20" dur="500"/>
                                        <p:tgtEl>
                                          <p:spTgt spid="15">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5">
                                            <p:txEl>
                                              <p:pRg st="5" end="5"/>
                                            </p:txEl>
                                          </p:spTgt>
                                        </p:tgtEl>
                                        <p:attrNameLst>
                                          <p:attrName>style.visibility</p:attrName>
                                        </p:attrNameLst>
                                      </p:cBhvr>
                                      <p:to>
                                        <p:strVal val="visible"/>
                                      </p:to>
                                    </p:set>
                                    <p:animEffect transition="in" filter="fade">
                                      <p:cBhvr>
                                        <p:cTn id="23" dur="500"/>
                                        <p:tgtEl>
                                          <p:spTgt spid="15">
                                            <p:txEl>
                                              <p:pRg st="5" end="5"/>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5">
                                            <p:txEl>
                                              <p:pRg st="6" end="6"/>
                                            </p:txEl>
                                          </p:spTgt>
                                        </p:tgtEl>
                                        <p:attrNameLst>
                                          <p:attrName>style.visibility</p:attrName>
                                        </p:attrNameLst>
                                      </p:cBhvr>
                                      <p:to>
                                        <p:strVal val="visible"/>
                                      </p:to>
                                    </p:set>
                                    <p:animEffect transition="in" filter="fade">
                                      <p:cBhvr>
                                        <p:cTn id="26" dur="500"/>
                                        <p:tgtEl>
                                          <p:spTgt spid="15">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5">
                                            <p:txEl>
                                              <p:pRg st="7" end="7"/>
                                            </p:txEl>
                                          </p:spTgt>
                                        </p:tgtEl>
                                        <p:attrNameLst>
                                          <p:attrName>style.visibility</p:attrName>
                                        </p:attrNameLst>
                                      </p:cBhvr>
                                      <p:to>
                                        <p:strVal val="visible"/>
                                      </p:to>
                                    </p:set>
                                    <p:animEffect transition="in" filter="fade">
                                      <p:cBhvr>
                                        <p:cTn id="31" dur="500"/>
                                        <p:tgtEl>
                                          <p:spTgt spid="15">
                                            <p:txEl>
                                              <p:pRg st="7" end="7"/>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5">
                                            <p:txEl>
                                              <p:pRg st="8" end="8"/>
                                            </p:txEl>
                                          </p:spTgt>
                                        </p:tgtEl>
                                        <p:attrNameLst>
                                          <p:attrName>style.visibility</p:attrName>
                                        </p:attrNameLst>
                                      </p:cBhvr>
                                      <p:to>
                                        <p:strVal val="visible"/>
                                      </p:to>
                                    </p:set>
                                    <p:animEffect transition="in" filter="fade">
                                      <p:cBhvr>
                                        <p:cTn id="34" dur="500"/>
                                        <p:tgtEl>
                                          <p:spTgt spid="15">
                                            <p:txEl>
                                              <p:pRg st="8" end="8"/>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15">
                                            <p:txEl>
                                              <p:pRg st="9" end="9"/>
                                            </p:txEl>
                                          </p:spTgt>
                                        </p:tgtEl>
                                        <p:attrNameLst>
                                          <p:attrName>style.visibility</p:attrName>
                                        </p:attrNameLst>
                                      </p:cBhvr>
                                      <p:to>
                                        <p:strVal val="visible"/>
                                      </p:to>
                                    </p:set>
                                    <p:animEffect transition="in" filter="fade">
                                      <p:cBhvr>
                                        <p:cTn id="37" dur="500"/>
                                        <p:tgtEl>
                                          <p:spTgt spid="15">
                                            <p:txEl>
                                              <p:pRg st="9" end="9"/>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15">
                                            <p:txEl>
                                              <p:pRg st="10" end="10"/>
                                            </p:txEl>
                                          </p:spTgt>
                                        </p:tgtEl>
                                        <p:attrNameLst>
                                          <p:attrName>style.visibility</p:attrName>
                                        </p:attrNameLst>
                                      </p:cBhvr>
                                      <p:to>
                                        <p:strVal val="visible"/>
                                      </p:to>
                                    </p:set>
                                    <p:animEffect transition="in" filter="fade">
                                      <p:cBhvr>
                                        <p:cTn id="40" dur="500"/>
                                        <p:tgtEl>
                                          <p:spTgt spid="15">
                                            <p:txEl>
                                              <p:pRg st="10" end="1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5">
                                            <p:txEl>
                                              <p:pRg st="11" end="11"/>
                                            </p:txEl>
                                          </p:spTgt>
                                        </p:tgtEl>
                                        <p:attrNameLst>
                                          <p:attrName>style.visibility</p:attrName>
                                        </p:attrNameLst>
                                      </p:cBhvr>
                                      <p:to>
                                        <p:strVal val="visible"/>
                                      </p:to>
                                    </p:set>
                                    <p:animEffect transition="in" filter="fade">
                                      <p:cBhvr>
                                        <p:cTn id="45" dur="500"/>
                                        <p:tgtEl>
                                          <p:spTgt spid="15">
                                            <p:txEl>
                                              <p:pRg st="11" end="11"/>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15">
                                            <p:txEl>
                                              <p:pRg st="12" end="12"/>
                                            </p:txEl>
                                          </p:spTgt>
                                        </p:tgtEl>
                                        <p:attrNameLst>
                                          <p:attrName>style.visibility</p:attrName>
                                        </p:attrNameLst>
                                      </p:cBhvr>
                                      <p:to>
                                        <p:strVal val="visible"/>
                                      </p:to>
                                    </p:set>
                                    <p:animEffect transition="in" filter="fade">
                                      <p:cBhvr>
                                        <p:cTn id="48" dur="500"/>
                                        <p:tgtEl>
                                          <p:spTgt spid="15">
                                            <p:txEl>
                                              <p:pRg st="12" end="12"/>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15">
                                            <p:txEl>
                                              <p:pRg st="13" end="13"/>
                                            </p:txEl>
                                          </p:spTgt>
                                        </p:tgtEl>
                                        <p:attrNameLst>
                                          <p:attrName>style.visibility</p:attrName>
                                        </p:attrNameLst>
                                      </p:cBhvr>
                                      <p:to>
                                        <p:strVal val="visible"/>
                                      </p:to>
                                    </p:set>
                                    <p:animEffect transition="in" filter="fade">
                                      <p:cBhvr>
                                        <p:cTn id="51" dur="500"/>
                                        <p:tgtEl>
                                          <p:spTgt spid="15">
                                            <p:txEl>
                                              <p:pRg st="13" end="13"/>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15">
                                            <p:txEl>
                                              <p:pRg st="14" end="14"/>
                                            </p:txEl>
                                          </p:spTgt>
                                        </p:tgtEl>
                                        <p:attrNameLst>
                                          <p:attrName>style.visibility</p:attrName>
                                        </p:attrNameLst>
                                      </p:cBhvr>
                                      <p:to>
                                        <p:strVal val="visible"/>
                                      </p:to>
                                    </p:set>
                                    <p:animEffect transition="in" filter="fade">
                                      <p:cBhvr>
                                        <p:cTn id="54" dur="500"/>
                                        <p:tgtEl>
                                          <p:spTgt spid="15">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32909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7E7208EC-840D-1DEA-D28D-7D95C4968AD5}"/>
              </a:ext>
            </a:extLst>
          </p:cNvPr>
          <p:cNvSpPr/>
          <p:nvPr/>
        </p:nvSpPr>
        <p:spPr>
          <a:xfrm>
            <a:off x="6584950" y="2104716"/>
            <a:ext cx="5319893" cy="1862934"/>
          </a:xfrm>
          <a:custGeom>
            <a:avLst/>
            <a:gdLst>
              <a:gd name="csX0" fmla="*/ 3648075 w 5100638"/>
              <a:gd name="csY0" fmla="*/ 1862137 h 1862137"/>
              <a:gd name="csX1" fmla="*/ 3409950 w 5100638"/>
              <a:gd name="csY1" fmla="*/ 1452562 h 1862137"/>
              <a:gd name="csX2" fmla="*/ 5057775 w 5100638"/>
              <a:gd name="csY2" fmla="*/ 1057275 h 1862137"/>
              <a:gd name="csX3" fmla="*/ 5100638 w 5100638"/>
              <a:gd name="csY3" fmla="*/ 423862 h 1862137"/>
              <a:gd name="csX4" fmla="*/ 2767013 w 5100638"/>
              <a:gd name="csY4" fmla="*/ 0 h 1862137"/>
              <a:gd name="csX5" fmla="*/ 2714625 w 5100638"/>
              <a:gd name="csY5" fmla="*/ 0 h 1862137"/>
              <a:gd name="csX6" fmla="*/ 114300 w 5100638"/>
              <a:gd name="csY6" fmla="*/ 400050 h 1862137"/>
              <a:gd name="csX7" fmla="*/ 0 w 5100638"/>
              <a:gd name="csY7" fmla="*/ 1152525 h 1862137"/>
              <a:gd name="csX8" fmla="*/ 3167063 w 5100638"/>
              <a:gd name="csY8" fmla="*/ 1514475 h 1862137"/>
              <a:gd name="csX9" fmla="*/ 3648075 w 5100638"/>
              <a:gd name="csY9" fmla="*/ 1862137 h 1862137"/>
              <a:gd name="csX0" fmla="*/ 3648075 w 5100638"/>
              <a:gd name="csY0" fmla="*/ 1862137 h 1862137"/>
              <a:gd name="csX1" fmla="*/ 3409950 w 5100638"/>
              <a:gd name="csY1" fmla="*/ 1452562 h 1862137"/>
              <a:gd name="csX2" fmla="*/ 5057775 w 5100638"/>
              <a:gd name="csY2" fmla="*/ 1057275 h 1862137"/>
              <a:gd name="csX3" fmla="*/ 5100638 w 5100638"/>
              <a:gd name="csY3" fmla="*/ 423862 h 1862137"/>
              <a:gd name="csX4" fmla="*/ 2767013 w 5100638"/>
              <a:gd name="csY4" fmla="*/ 0 h 1862137"/>
              <a:gd name="csX5" fmla="*/ 2714625 w 5100638"/>
              <a:gd name="csY5" fmla="*/ 0 h 1862137"/>
              <a:gd name="csX6" fmla="*/ 114300 w 5100638"/>
              <a:gd name="csY6" fmla="*/ 400050 h 1862137"/>
              <a:gd name="csX7" fmla="*/ 0 w 5100638"/>
              <a:gd name="csY7" fmla="*/ 1152525 h 1862137"/>
              <a:gd name="csX8" fmla="*/ 3167063 w 5100638"/>
              <a:gd name="csY8" fmla="*/ 1514475 h 1862137"/>
              <a:gd name="csX9" fmla="*/ 3648075 w 5100638"/>
              <a:gd name="csY9" fmla="*/ 1862137 h 1862137"/>
              <a:gd name="csX0" fmla="*/ 3648075 w 5100638"/>
              <a:gd name="csY0" fmla="*/ 1862137 h 1862137"/>
              <a:gd name="csX1" fmla="*/ 3409950 w 5100638"/>
              <a:gd name="csY1" fmla="*/ 1452562 h 1862137"/>
              <a:gd name="csX2" fmla="*/ 5057775 w 5100638"/>
              <a:gd name="csY2" fmla="*/ 1057275 h 1862137"/>
              <a:gd name="csX3" fmla="*/ 5100638 w 5100638"/>
              <a:gd name="csY3" fmla="*/ 423862 h 1862137"/>
              <a:gd name="csX4" fmla="*/ 2767013 w 5100638"/>
              <a:gd name="csY4" fmla="*/ 0 h 1862137"/>
              <a:gd name="csX5" fmla="*/ 2714625 w 5100638"/>
              <a:gd name="csY5" fmla="*/ 0 h 1862137"/>
              <a:gd name="csX6" fmla="*/ 114300 w 5100638"/>
              <a:gd name="csY6" fmla="*/ 400050 h 1862137"/>
              <a:gd name="csX7" fmla="*/ 0 w 5100638"/>
              <a:gd name="csY7" fmla="*/ 1152525 h 1862137"/>
              <a:gd name="csX8" fmla="*/ 3167063 w 5100638"/>
              <a:gd name="csY8" fmla="*/ 1514475 h 1862137"/>
              <a:gd name="csX9" fmla="*/ 3648075 w 5100638"/>
              <a:gd name="csY9" fmla="*/ 1862137 h 1862137"/>
              <a:gd name="csX0" fmla="*/ 3648075 w 5136695"/>
              <a:gd name="csY0" fmla="*/ 1862137 h 1862137"/>
              <a:gd name="csX1" fmla="*/ 3409950 w 5136695"/>
              <a:gd name="csY1" fmla="*/ 1452562 h 1862137"/>
              <a:gd name="csX2" fmla="*/ 5057775 w 5136695"/>
              <a:gd name="csY2" fmla="*/ 1057275 h 1862137"/>
              <a:gd name="csX3" fmla="*/ 5100638 w 5136695"/>
              <a:gd name="csY3" fmla="*/ 423862 h 1862137"/>
              <a:gd name="csX4" fmla="*/ 2767013 w 5136695"/>
              <a:gd name="csY4" fmla="*/ 0 h 1862137"/>
              <a:gd name="csX5" fmla="*/ 2714625 w 5136695"/>
              <a:gd name="csY5" fmla="*/ 0 h 1862137"/>
              <a:gd name="csX6" fmla="*/ 114300 w 5136695"/>
              <a:gd name="csY6" fmla="*/ 400050 h 1862137"/>
              <a:gd name="csX7" fmla="*/ 0 w 5136695"/>
              <a:gd name="csY7" fmla="*/ 1152525 h 1862137"/>
              <a:gd name="csX8" fmla="*/ 3167063 w 5136695"/>
              <a:gd name="csY8" fmla="*/ 1514475 h 1862137"/>
              <a:gd name="csX9" fmla="*/ 3648075 w 5136695"/>
              <a:gd name="csY9" fmla="*/ 1862137 h 1862137"/>
              <a:gd name="csX0" fmla="*/ 3648075 w 5136695"/>
              <a:gd name="csY0" fmla="*/ 1862137 h 1862137"/>
              <a:gd name="csX1" fmla="*/ 3409950 w 5136695"/>
              <a:gd name="csY1" fmla="*/ 1452562 h 1862137"/>
              <a:gd name="csX2" fmla="*/ 5057775 w 5136695"/>
              <a:gd name="csY2" fmla="*/ 1057275 h 1862137"/>
              <a:gd name="csX3" fmla="*/ 5100638 w 5136695"/>
              <a:gd name="csY3" fmla="*/ 423862 h 1862137"/>
              <a:gd name="csX4" fmla="*/ 2767013 w 5136695"/>
              <a:gd name="csY4" fmla="*/ 0 h 1862137"/>
              <a:gd name="csX5" fmla="*/ 2714625 w 5136695"/>
              <a:gd name="csY5" fmla="*/ 0 h 1862137"/>
              <a:gd name="csX6" fmla="*/ 114300 w 5136695"/>
              <a:gd name="csY6" fmla="*/ 400050 h 1862137"/>
              <a:gd name="csX7" fmla="*/ 0 w 5136695"/>
              <a:gd name="csY7" fmla="*/ 1152525 h 1862137"/>
              <a:gd name="csX8" fmla="*/ 3167063 w 5136695"/>
              <a:gd name="csY8" fmla="*/ 1514475 h 1862137"/>
              <a:gd name="csX9" fmla="*/ 3648075 w 5136695"/>
              <a:gd name="csY9" fmla="*/ 1862137 h 1862137"/>
              <a:gd name="csX0" fmla="*/ 3648075 w 5199243"/>
              <a:gd name="csY0" fmla="*/ 1862137 h 1862137"/>
              <a:gd name="csX1" fmla="*/ 3409950 w 5199243"/>
              <a:gd name="csY1" fmla="*/ 1452562 h 1862137"/>
              <a:gd name="csX2" fmla="*/ 5057775 w 5199243"/>
              <a:gd name="csY2" fmla="*/ 1057275 h 1862137"/>
              <a:gd name="csX3" fmla="*/ 5100638 w 5199243"/>
              <a:gd name="csY3" fmla="*/ 423862 h 1862137"/>
              <a:gd name="csX4" fmla="*/ 2767013 w 5199243"/>
              <a:gd name="csY4" fmla="*/ 0 h 1862137"/>
              <a:gd name="csX5" fmla="*/ 2714625 w 5199243"/>
              <a:gd name="csY5" fmla="*/ 0 h 1862137"/>
              <a:gd name="csX6" fmla="*/ 114300 w 5199243"/>
              <a:gd name="csY6" fmla="*/ 400050 h 1862137"/>
              <a:gd name="csX7" fmla="*/ 0 w 5199243"/>
              <a:gd name="csY7" fmla="*/ 1152525 h 1862137"/>
              <a:gd name="csX8" fmla="*/ 3167063 w 5199243"/>
              <a:gd name="csY8" fmla="*/ 1514475 h 1862137"/>
              <a:gd name="csX9" fmla="*/ 3648075 w 5199243"/>
              <a:gd name="csY9" fmla="*/ 1862137 h 1862137"/>
              <a:gd name="csX0" fmla="*/ 3648075 w 5199243"/>
              <a:gd name="csY0" fmla="*/ 1862137 h 1862137"/>
              <a:gd name="csX1" fmla="*/ 3409950 w 5199243"/>
              <a:gd name="csY1" fmla="*/ 1452562 h 1862137"/>
              <a:gd name="csX2" fmla="*/ 5057775 w 5199243"/>
              <a:gd name="csY2" fmla="*/ 1057275 h 1862137"/>
              <a:gd name="csX3" fmla="*/ 5100638 w 5199243"/>
              <a:gd name="csY3" fmla="*/ 423862 h 1862137"/>
              <a:gd name="csX4" fmla="*/ 2767013 w 5199243"/>
              <a:gd name="csY4" fmla="*/ 0 h 1862137"/>
              <a:gd name="csX5" fmla="*/ 2714625 w 5199243"/>
              <a:gd name="csY5" fmla="*/ 0 h 1862137"/>
              <a:gd name="csX6" fmla="*/ 114300 w 5199243"/>
              <a:gd name="csY6" fmla="*/ 400050 h 1862137"/>
              <a:gd name="csX7" fmla="*/ 0 w 5199243"/>
              <a:gd name="csY7" fmla="*/ 1152525 h 1862137"/>
              <a:gd name="csX8" fmla="*/ 3167063 w 5199243"/>
              <a:gd name="csY8" fmla="*/ 1514475 h 1862137"/>
              <a:gd name="csX9" fmla="*/ 3648075 w 5199243"/>
              <a:gd name="csY9" fmla="*/ 1862137 h 1862137"/>
              <a:gd name="csX0" fmla="*/ 3648075 w 5199243"/>
              <a:gd name="csY0" fmla="*/ 1862934 h 1862934"/>
              <a:gd name="csX1" fmla="*/ 3409950 w 5199243"/>
              <a:gd name="csY1" fmla="*/ 1453359 h 1862934"/>
              <a:gd name="csX2" fmla="*/ 5057775 w 5199243"/>
              <a:gd name="csY2" fmla="*/ 1058072 h 1862934"/>
              <a:gd name="csX3" fmla="*/ 5100638 w 5199243"/>
              <a:gd name="csY3" fmla="*/ 424659 h 1862934"/>
              <a:gd name="csX4" fmla="*/ 2767013 w 5199243"/>
              <a:gd name="csY4" fmla="*/ 797 h 1862934"/>
              <a:gd name="csX5" fmla="*/ 2714625 w 5199243"/>
              <a:gd name="csY5" fmla="*/ 797 h 1862934"/>
              <a:gd name="csX6" fmla="*/ 114300 w 5199243"/>
              <a:gd name="csY6" fmla="*/ 400847 h 1862934"/>
              <a:gd name="csX7" fmla="*/ 0 w 5199243"/>
              <a:gd name="csY7" fmla="*/ 1153322 h 1862934"/>
              <a:gd name="csX8" fmla="*/ 3167063 w 5199243"/>
              <a:gd name="csY8" fmla="*/ 1515272 h 1862934"/>
              <a:gd name="csX9" fmla="*/ 3648075 w 5199243"/>
              <a:gd name="csY9" fmla="*/ 1862934 h 1862934"/>
              <a:gd name="csX0" fmla="*/ 3648075 w 5199243"/>
              <a:gd name="csY0" fmla="*/ 1862934 h 1862934"/>
              <a:gd name="csX1" fmla="*/ 3409950 w 5199243"/>
              <a:gd name="csY1" fmla="*/ 1453359 h 1862934"/>
              <a:gd name="csX2" fmla="*/ 5057775 w 5199243"/>
              <a:gd name="csY2" fmla="*/ 1058072 h 1862934"/>
              <a:gd name="csX3" fmla="*/ 5100638 w 5199243"/>
              <a:gd name="csY3" fmla="*/ 424659 h 1862934"/>
              <a:gd name="csX4" fmla="*/ 2767013 w 5199243"/>
              <a:gd name="csY4" fmla="*/ 797 h 1862934"/>
              <a:gd name="csX5" fmla="*/ 2714625 w 5199243"/>
              <a:gd name="csY5" fmla="*/ 797 h 1862934"/>
              <a:gd name="csX6" fmla="*/ 114300 w 5199243"/>
              <a:gd name="csY6" fmla="*/ 400847 h 1862934"/>
              <a:gd name="csX7" fmla="*/ 0 w 5199243"/>
              <a:gd name="csY7" fmla="*/ 1153322 h 1862934"/>
              <a:gd name="csX8" fmla="*/ 3167063 w 5199243"/>
              <a:gd name="csY8" fmla="*/ 1515272 h 1862934"/>
              <a:gd name="csX9" fmla="*/ 3648075 w 5199243"/>
              <a:gd name="csY9" fmla="*/ 1862934 h 1862934"/>
              <a:gd name="csX0" fmla="*/ 3648075 w 5199243"/>
              <a:gd name="csY0" fmla="*/ 1862934 h 1862934"/>
              <a:gd name="csX1" fmla="*/ 3409950 w 5199243"/>
              <a:gd name="csY1" fmla="*/ 1453359 h 1862934"/>
              <a:gd name="csX2" fmla="*/ 5057775 w 5199243"/>
              <a:gd name="csY2" fmla="*/ 1058072 h 1862934"/>
              <a:gd name="csX3" fmla="*/ 5100638 w 5199243"/>
              <a:gd name="csY3" fmla="*/ 424659 h 1862934"/>
              <a:gd name="csX4" fmla="*/ 2767013 w 5199243"/>
              <a:gd name="csY4" fmla="*/ 797 h 1862934"/>
              <a:gd name="csX5" fmla="*/ 2714625 w 5199243"/>
              <a:gd name="csY5" fmla="*/ 797 h 1862934"/>
              <a:gd name="csX6" fmla="*/ 114300 w 5199243"/>
              <a:gd name="csY6" fmla="*/ 400847 h 1862934"/>
              <a:gd name="csX7" fmla="*/ 0 w 5199243"/>
              <a:gd name="csY7" fmla="*/ 1153322 h 1862934"/>
              <a:gd name="csX8" fmla="*/ 3167063 w 5199243"/>
              <a:gd name="csY8" fmla="*/ 1515272 h 1862934"/>
              <a:gd name="csX9" fmla="*/ 3648075 w 5199243"/>
              <a:gd name="csY9" fmla="*/ 1862934 h 1862934"/>
              <a:gd name="csX0" fmla="*/ 3648075 w 5199243"/>
              <a:gd name="csY0" fmla="*/ 1862934 h 1862934"/>
              <a:gd name="csX1" fmla="*/ 3409950 w 5199243"/>
              <a:gd name="csY1" fmla="*/ 1453359 h 1862934"/>
              <a:gd name="csX2" fmla="*/ 5057775 w 5199243"/>
              <a:gd name="csY2" fmla="*/ 1058072 h 1862934"/>
              <a:gd name="csX3" fmla="*/ 5100638 w 5199243"/>
              <a:gd name="csY3" fmla="*/ 424659 h 1862934"/>
              <a:gd name="csX4" fmla="*/ 2767013 w 5199243"/>
              <a:gd name="csY4" fmla="*/ 797 h 1862934"/>
              <a:gd name="csX5" fmla="*/ 2714625 w 5199243"/>
              <a:gd name="csY5" fmla="*/ 797 h 1862934"/>
              <a:gd name="csX6" fmla="*/ 114300 w 5199243"/>
              <a:gd name="csY6" fmla="*/ 400847 h 1862934"/>
              <a:gd name="csX7" fmla="*/ 0 w 5199243"/>
              <a:gd name="csY7" fmla="*/ 1153322 h 1862934"/>
              <a:gd name="csX8" fmla="*/ 3167063 w 5199243"/>
              <a:gd name="csY8" fmla="*/ 1515272 h 1862934"/>
              <a:gd name="csX9" fmla="*/ 3648075 w 5199243"/>
              <a:gd name="csY9" fmla="*/ 1862934 h 1862934"/>
              <a:gd name="csX0" fmla="*/ 3768725 w 5319893"/>
              <a:gd name="csY0" fmla="*/ 1862934 h 1862934"/>
              <a:gd name="csX1" fmla="*/ 3530600 w 5319893"/>
              <a:gd name="csY1" fmla="*/ 1453359 h 1862934"/>
              <a:gd name="csX2" fmla="*/ 5178425 w 5319893"/>
              <a:gd name="csY2" fmla="*/ 1058072 h 1862934"/>
              <a:gd name="csX3" fmla="*/ 5221288 w 5319893"/>
              <a:gd name="csY3" fmla="*/ 424659 h 1862934"/>
              <a:gd name="csX4" fmla="*/ 2887663 w 5319893"/>
              <a:gd name="csY4" fmla="*/ 797 h 1862934"/>
              <a:gd name="csX5" fmla="*/ 2835275 w 5319893"/>
              <a:gd name="csY5" fmla="*/ 797 h 1862934"/>
              <a:gd name="csX6" fmla="*/ 234950 w 5319893"/>
              <a:gd name="csY6" fmla="*/ 400847 h 1862934"/>
              <a:gd name="csX7" fmla="*/ 120650 w 5319893"/>
              <a:gd name="csY7" fmla="*/ 1153322 h 1862934"/>
              <a:gd name="csX8" fmla="*/ 3287713 w 5319893"/>
              <a:gd name="csY8" fmla="*/ 1515272 h 1862934"/>
              <a:gd name="csX9" fmla="*/ 3768725 w 5319893"/>
              <a:gd name="csY9" fmla="*/ 1862934 h 1862934"/>
              <a:gd name="csX0" fmla="*/ 3768725 w 5319893"/>
              <a:gd name="csY0" fmla="*/ 1862934 h 1862934"/>
              <a:gd name="csX1" fmla="*/ 3530600 w 5319893"/>
              <a:gd name="csY1" fmla="*/ 1453359 h 1862934"/>
              <a:gd name="csX2" fmla="*/ 5178425 w 5319893"/>
              <a:gd name="csY2" fmla="*/ 1058072 h 1862934"/>
              <a:gd name="csX3" fmla="*/ 5221288 w 5319893"/>
              <a:gd name="csY3" fmla="*/ 424659 h 1862934"/>
              <a:gd name="csX4" fmla="*/ 2887663 w 5319893"/>
              <a:gd name="csY4" fmla="*/ 797 h 1862934"/>
              <a:gd name="csX5" fmla="*/ 2835275 w 5319893"/>
              <a:gd name="csY5" fmla="*/ 797 h 1862934"/>
              <a:gd name="csX6" fmla="*/ 234950 w 5319893"/>
              <a:gd name="csY6" fmla="*/ 400847 h 1862934"/>
              <a:gd name="csX7" fmla="*/ 120650 w 5319893"/>
              <a:gd name="csY7" fmla="*/ 1153322 h 1862934"/>
              <a:gd name="csX8" fmla="*/ 3287713 w 5319893"/>
              <a:gd name="csY8" fmla="*/ 1515272 h 1862934"/>
              <a:gd name="csX9" fmla="*/ 3768725 w 5319893"/>
              <a:gd name="csY9" fmla="*/ 1862934 h 18629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319893" h="1862934">
                <a:moveTo>
                  <a:pt x="3768725" y="1862934"/>
                </a:moveTo>
                <a:cubicBezTo>
                  <a:pt x="3527425" y="1574009"/>
                  <a:pt x="3514725" y="1585122"/>
                  <a:pt x="3530600" y="1453359"/>
                </a:cubicBezTo>
                <a:cubicBezTo>
                  <a:pt x="4079875" y="1321597"/>
                  <a:pt x="4629150" y="1299371"/>
                  <a:pt x="5178425" y="1058072"/>
                </a:cubicBezTo>
                <a:cubicBezTo>
                  <a:pt x="5335588" y="861221"/>
                  <a:pt x="5378450" y="611985"/>
                  <a:pt x="5221288" y="424659"/>
                </a:cubicBezTo>
                <a:cubicBezTo>
                  <a:pt x="4495800" y="92872"/>
                  <a:pt x="3675063" y="-10316"/>
                  <a:pt x="2887663" y="797"/>
                </a:cubicBezTo>
                <a:lnTo>
                  <a:pt x="2835275" y="797"/>
                </a:lnTo>
                <a:cubicBezTo>
                  <a:pt x="1897062" y="48422"/>
                  <a:pt x="539750" y="67472"/>
                  <a:pt x="234950" y="400847"/>
                </a:cubicBezTo>
                <a:cubicBezTo>
                  <a:pt x="82550" y="642147"/>
                  <a:pt x="-141288" y="1007272"/>
                  <a:pt x="120650" y="1153322"/>
                </a:cubicBezTo>
                <a:cubicBezTo>
                  <a:pt x="1228726" y="1526385"/>
                  <a:pt x="2232025" y="1394622"/>
                  <a:pt x="3287713" y="1515272"/>
                </a:cubicBezTo>
                <a:lnTo>
                  <a:pt x="3768725" y="1862934"/>
                </a:ln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 name="Title 1">
            <a:extLst>
              <a:ext uri="{FF2B5EF4-FFF2-40B4-BE49-F238E27FC236}">
                <a16:creationId xmlns:a16="http://schemas.microsoft.com/office/drawing/2014/main" id="{29FD0785-A2A4-A288-E75F-33E6224BB014}"/>
              </a:ext>
            </a:extLst>
          </p:cNvPr>
          <p:cNvSpPr>
            <a:spLocks noGrp="1"/>
          </p:cNvSpPr>
          <p:nvPr>
            <p:ph type="title"/>
          </p:nvPr>
        </p:nvSpPr>
        <p:spPr/>
        <p:txBody>
          <a:bodyPr/>
          <a:lstStyle/>
          <a:p>
            <a:r>
              <a:rPr lang="sv-SE"/>
              <a:t>Introduktion till C - Motivering</a:t>
            </a:r>
            <a:endParaRPr lang="LID4096"/>
          </a:p>
        </p:txBody>
      </p:sp>
      <p:sp>
        <p:nvSpPr>
          <p:cNvPr id="7" name="TextBox 6">
            <a:extLst>
              <a:ext uri="{FF2B5EF4-FFF2-40B4-BE49-F238E27FC236}">
                <a16:creationId xmlns:a16="http://schemas.microsoft.com/office/drawing/2014/main" id="{6FFC4D00-4F63-3116-94C2-19E4F62D51F5}"/>
              </a:ext>
            </a:extLst>
          </p:cNvPr>
          <p:cNvSpPr txBox="1"/>
          <p:nvPr/>
        </p:nvSpPr>
        <p:spPr>
          <a:xfrm>
            <a:off x="7073900" y="2568506"/>
            <a:ext cx="4392293" cy="646331"/>
          </a:xfrm>
          <a:prstGeom prst="rect">
            <a:avLst/>
          </a:prstGeom>
          <a:noFill/>
        </p:spPr>
        <p:txBody>
          <a:bodyPr wrap="none" rtlCol="0">
            <a:spAutoFit/>
          </a:bodyPr>
          <a:lstStyle/>
          <a:p>
            <a:r>
              <a:rPr lang="sv-SE"/>
              <a:t>Hello! Idag skall ni lära er ett språk som jag</a:t>
            </a:r>
            <a:br>
              <a:rPr lang="sv-SE"/>
            </a:br>
            <a:r>
              <a:rPr lang="sv-SE"/>
              <a:t>hittade på 1972. </a:t>
            </a:r>
            <a:endParaRPr lang="LID4096"/>
          </a:p>
        </p:txBody>
      </p:sp>
      <p:pic>
        <p:nvPicPr>
          <p:cNvPr id="9" name="Picture 8">
            <a:extLst>
              <a:ext uri="{FF2B5EF4-FFF2-40B4-BE49-F238E27FC236}">
                <a16:creationId xmlns:a16="http://schemas.microsoft.com/office/drawing/2014/main" id="{E3079AAA-3948-EE66-E2CB-FC7C208DE2BD}"/>
              </a:ext>
            </a:extLst>
          </p:cNvPr>
          <p:cNvPicPr>
            <a:picLocks noChangeAspect="1"/>
          </p:cNvPicPr>
          <p:nvPr/>
        </p:nvPicPr>
        <p:blipFill>
          <a:blip r:embed="rId2"/>
          <a:stretch>
            <a:fillRect/>
          </a:stretch>
        </p:blipFill>
        <p:spPr>
          <a:xfrm>
            <a:off x="6150710" y="4024998"/>
            <a:ext cx="4557772" cy="2833002"/>
          </a:xfrm>
          <a:prstGeom prst="rect">
            <a:avLst/>
          </a:prstGeom>
        </p:spPr>
      </p:pic>
      <p:pic>
        <p:nvPicPr>
          <p:cNvPr id="13" name="Picture 12">
            <a:extLst>
              <a:ext uri="{FF2B5EF4-FFF2-40B4-BE49-F238E27FC236}">
                <a16:creationId xmlns:a16="http://schemas.microsoft.com/office/drawing/2014/main" id="{AD5A9F85-FF6B-6D3C-EA15-61687A13B35F}"/>
              </a:ext>
            </a:extLst>
          </p:cNvPr>
          <p:cNvPicPr>
            <a:picLocks noChangeAspect="1"/>
          </p:cNvPicPr>
          <p:nvPr/>
        </p:nvPicPr>
        <p:blipFill>
          <a:blip r:embed="rId3"/>
          <a:stretch>
            <a:fillRect/>
          </a:stretch>
        </p:blipFill>
        <p:spPr>
          <a:xfrm>
            <a:off x="9596438" y="3484891"/>
            <a:ext cx="2677950" cy="3428999"/>
          </a:xfrm>
          <a:prstGeom prst="rect">
            <a:avLst/>
          </a:prstGeom>
        </p:spPr>
      </p:pic>
      <p:sp>
        <p:nvSpPr>
          <p:cNvPr id="6" name="TextBox 5">
            <a:extLst>
              <a:ext uri="{FF2B5EF4-FFF2-40B4-BE49-F238E27FC236}">
                <a16:creationId xmlns:a16="http://schemas.microsoft.com/office/drawing/2014/main" id="{BCF9D747-8A30-E008-C13E-0065CCBF38B9}"/>
              </a:ext>
            </a:extLst>
          </p:cNvPr>
          <p:cNvSpPr txBox="1"/>
          <p:nvPr/>
        </p:nvSpPr>
        <p:spPr>
          <a:xfrm>
            <a:off x="10654426" y="6492875"/>
            <a:ext cx="2381250" cy="307777"/>
          </a:xfrm>
          <a:prstGeom prst="rect">
            <a:avLst/>
          </a:prstGeom>
          <a:noFill/>
        </p:spPr>
        <p:txBody>
          <a:bodyPr wrap="square">
            <a:spAutoFit/>
          </a:bodyPr>
          <a:lstStyle/>
          <a:p>
            <a:r>
              <a:rPr lang="sv-SE" sz="700" i="1"/>
              <a:t>Dennis Ritchie utvecklade C och </a:t>
            </a:r>
            <a:br>
              <a:rPr lang="sv-SE" sz="700" i="1"/>
            </a:br>
            <a:r>
              <a:rPr lang="sv-SE" sz="700" i="1"/>
              <a:t>en stor del av första UNIX (!). </a:t>
            </a:r>
            <a:endParaRPr lang="LID4096" sz="700" i="1" dirty="0"/>
          </a:p>
        </p:txBody>
      </p:sp>
      <p:sp>
        <p:nvSpPr>
          <p:cNvPr id="15" name="TextBox 14">
            <a:extLst>
              <a:ext uri="{FF2B5EF4-FFF2-40B4-BE49-F238E27FC236}">
                <a16:creationId xmlns:a16="http://schemas.microsoft.com/office/drawing/2014/main" id="{F01D983D-02A8-CC87-2294-CDD0DB6CFB96}"/>
              </a:ext>
            </a:extLst>
          </p:cNvPr>
          <p:cNvSpPr txBox="1"/>
          <p:nvPr/>
        </p:nvSpPr>
        <p:spPr>
          <a:xfrm>
            <a:off x="561734" y="1663731"/>
            <a:ext cx="7377286" cy="5170646"/>
          </a:xfrm>
          <a:prstGeom prst="rect">
            <a:avLst/>
          </a:prstGeom>
          <a:noFill/>
        </p:spPr>
        <p:txBody>
          <a:bodyPr wrap="square" rtlCol="0">
            <a:spAutoFit/>
          </a:bodyPr>
          <a:lstStyle/>
          <a:p>
            <a:r>
              <a:rPr lang="sv-SE" sz="2400" b="0">
                <a:solidFill>
                  <a:schemeClr val="tx1"/>
                </a:solidFill>
              </a:rPr>
              <a:t>Det finns </a:t>
            </a:r>
            <a:r>
              <a:rPr lang="sv-SE" sz="2400"/>
              <a:t>m</a:t>
            </a:r>
            <a:r>
              <a:rPr lang="sv-SE" sz="2400" b="0">
                <a:solidFill>
                  <a:schemeClr val="tx1"/>
                </a:solidFill>
              </a:rPr>
              <a:t>oderna</a:t>
            </a:r>
            <a:r>
              <a:rPr lang="sv-SE" sz="2400" b="0" dirty="0">
                <a:solidFill>
                  <a:schemeClr val="tx1"/>
                </a:solidFill>
              </a:rPr>
              <a:t>(re</a:t>
            </a:r>
            <a:r>
              <a:rPr lang="sv-SE" sz="2400" b="0">
                <a:solidFill>
                  <a:schemeClr val="tx1"/>
                </a:solidFill>
              </a:rPr>
              <a:t>) Programspråk</a:t>
            </a:r>
            <a:br>
              <a:rPr lang="sv-SE" sz="2400" b="0">
                <a:solidFill>
                  <a:schemeClr val="tx1"/>
                </a:solidFill>
              </a:rPr>
            </a:br>
            <a:r>
              <a:rPr lang="sv-SE" sz="2400" b="0">
                <a:solidFill>
                  <a:schemeClr val="tx1"/>
                </a:solidFill>
              </a:rPr>
              <a:t>	</a:t>
            </a:r>
            <a:r>
              <a:rPr lang="sv-SE" sz="2000" b="0">
                <a:solidFill>
                  <a:schemeClr val="tx1"/>
                </a:solidFill>
              </a:rPr>
              <a:t>C</a:t>
            </a:r>
            <a:r>
              <a:rPr lang="sv-SE" sz="2000" b="0" dirty="0">
                <a:solidFill>
                  <a:schemeClr val="tx1"/>
                </a:solidFill>
              </a:rPr>
              <a:t>++, Java, javascript, C#, Python, Objective-C</a:t>
            </a:r>
            <a:r>
              <a:rPr lang="sv-SE" sz="2000" b="0">
                <a:solidFill>
                  <a:schemeClr val="tx1"/>
                </a:solidFill>
              </a:rPr>
              <a:t>, </a:t>
            </a:r>
            <a:br>
              <a:rPr lang="sv-SE" sz="2000"/>
            </a:br>
            <a:r>
              <a:rPr lang="sv-SE" sz="2000"/>
              <a:t>	</a:t>
            </a:r>
            <a:r>
              <a:rPr lang="sv-SE" sz="2000" b="0">
                <a:solidFill>
                  <a:schemeClr val="tx1"/>
                </a:solidFill>
              </a:rPr>
              <a:t>Rust</a:t>
            </a:r>
            <a:r>
              <a:rPr lang="sv-SE" sz="2000" b="0" dirty="0">
                <a:solidFill>
                  <a:schemeClr val="tx1"/>
                </a:solidFill>
              </a:rPr>
              <a:t>, Go</a:t>
            </a:r>
            <a:r>
              <a:rPr lang="sv-SE" sz="2000" b="0">
                <a:solidFill>
                  <a:schemeClr val="tx1"/>
                </a:solidFill>
              </a:rPr>
              <a:t>, ...</a:t>
            </a:r>
            <a:br>
              <a:rPr lang="sv-SE" sz="2000" b="0">
                <a:solidFill>
                  <a:schemeClr val="tx1"/>
                </a:solidFill>
              </a:rPr>
            </a:br>
            <a:r>
              <a:rPr lang="sv-SE" sz="2000" b="1">
                <a:solidFill>
                  <a:schemeClr val="tx1"/>
                </a:solidFill>
              </a:rPr>
              <a:t>Så varför? </a:t>
            </a:r>
            <a:endParaRPr lang="sv-SE" sz="2400" b="1" dirty="0">
              <a:solidFill>
                <a:schemeClr val="tx1"/>
              </a:solidFill>
            </a:endParaRPr>
          </a:p>
          <a:p>
            <a:pPr marL="457200" indent="-457200">
              <a:buFont typeface="Arial" panose="020B0604020202020204" pitchFamily="34" charset="0"/>
              <a:buChar char="•"/>
            </a:pPr>
            <a:r>
              <a:rPr lang="sv-SE" b="0" dirty="0">
                <a:solidFill>
                  <a:schemeClr val="tx1"/>
                </a:solidFill>
              </a:rPr>
              <a:t>Performance</a:t>
            </a:r>
          </a:p>
          <a:p>
            <a:pPr marL="914400" lvl="1" indent="-457200">
              <a:buFont typeface="Arial" panose="020B0604020202020204" pitchFamily="34" charset="0"/>
              <a:buChar char="•"/>
            </a:pPr>
            <a:r>
              <a:rPr lang="sv-SE" sz="1600" b="0" dirty="0">
                <a:solidFill>
                  <a:schemeClr val="tx1"/>
                </a:solidFill>
              </a:rPr>
              <a:t>Kompilera direkt ner till maskinkod</a:t>
            </a:r>
          </a:p>
          <a:p>
            <a:pPr marL="914400" lvl="1" indent="-457200">
              <a:buFont typeface="Arial" panose="020B0604020202020204" pitchFamily="34" charset="0"/>
              <a:buChar char="•"/>
            </a:pPr>
            <a:r>
              <a:rPr lang="sv-SE" sz="1600" b="0" dirty="0">
                <a:solidFill>
                  <a:schemeClr val="tx1"/>
                </a:solidFill>
              </a:rPr>
              <a:t>Garbage collection kan vara </a:t>
            </a:r>
            <a:r>
              <a:rPr lang="sv-SE" sz="1600" dirty="0"/>
              <a:t>en katastrof</a:t>
            </a:r>
          </a:p>
          <a:p>
            <a:pPr marL="914400" lvl="1" indent="-457200">
              <a:buFont typeface="Arial" panose="020B0604020202020204" pitchFamily="34" charset="0"/>
              <a:buChar char="•"/>
            </a:pPr>
            <a:r>
              <a:rPr lang="sv-SE" sz="1600" dirty="0"/>
              <a:t>Klasser, exceptions och arv kan innebära overhead man inte känner till eller tänker på</a:t>
            </a:r>
            <a:endParaRPr lang="sv-SE" b="0" dirty="0">
              <a:solidFill>
                <a:schemeClr val="tx1"/>
              </a:solidFill>
            </a:endParaRPr>
          </a:p>
          <a:p>
            <a:pPr marL="457200" indent="-457200">
              <a:buFont typeface="Arial" panose="020B0604020202020204" pitchFamily="34" charset="0"/>
              <a:buChar char="•"/>
            </a:pPr>
            <a:r>
              <a:rPr lang="sv-SE" dirty="0"/>
              <a:t>Maskinnära</a:t>
            </a:r>
          </a:p>
          <a:p>
            <a:pPr marL="914400" lvl="1" indent="-457200">
              <a:buFont typeface="Arial" panose="020B0604020202020204" pitchFamily="34" charset="0"/>
              <a:buChar char="•"/>
            </a:pPr>
            <a:r>
              <a:rPr lang="sv-SE" sz="1600" dirty="0"/>
              <a:t>Språket i sig kräver inget (eller minimalt</a:t>
            </a:r>
            <a:r>
              <a:rPr lang="sv-SE" sz="1600"/>
              <a:t>) </a:t>
            </a:r>
            <a:br>
              <a:rPr lang="sv-SE" sz="1600"/>
            </a:br>
            <a:r>
              <a:rPr lang="sv-SE" sz="1600"/>
              <a:t>operativsystem</a:t>
            </a:r>
            <a:endParaRPr lang="sv-SE" sz="1600" dirty="0"/>
          </a:p>
          <a:p>
            <a:pPr marL="914400" lvl="1" indent="-457200">
              <a:buFont typeface="Arial" panose="020B0604020202020204" pitchFamily="34" charset="0"/>
              <a:buChar char="•"/>
            </a:pPr>
            <a:r>
              <a:rPr lang="sv-SE" sz="1600" dirty="0"/>
              <a:t>Kan skriva direkt till </a:t>
            </a:r>
            <a:r>
              <a:rPr lang="sv-SE" sz="1600"/>
              <a:t>absoluta </a:t>
            </a:r>
            <a:br>
              <a:rPr lang="sv-SE" sz="1600"/>
            </a:br>
            <a:r>
              <a:rPr lang="sv-SE" sz="1600"/>
              <a:t>minnesaddresser </a:t>
            </a:r>
            <a:r>
              <a:rPr lang="sv-SE" sz="1600" dirty="0"/>
              <a:t>(portar)</a:t>
            </a:r>
            <a:endParaRPr lang="sv-SE" dirty="0"/>
          </a:p>
          <a:p>
            <a:pPr marL="457200" indent="-457200">
              <a:buFont typeface="Arial" panose="020B0604020202020204" pitchFamily="34" charset="0"/>
              <a:buChar char="•"/>
            </a:pPr>
            <a:r>
              <a:rPr lang="sv-SE" dirty="0"/>
              <a:t>Säkerhet (!)</a:t>
            </a:r>
          </a:p>
          <a:p>
            <a:pPr marL="914400" lvl="1" indent="-457200">
              <a:buFont typeface="Arial" panose="020B0604020202020204" pitchFamily="34" charset="0"/>
              <a:buChar char="•"/>
            </a:pPr>
            <a:r>
              <a:rPr lang="sv-SE" sz="1600" b="0" dirty="0">
                <a:solidFill>
                  <a:schemeClr val="tx1"/>
                </a:solidFill>
              </a:rPr>
              <a:t>C har väldigt lite skydd mot farlig kod </a:t>
            </a:r>
            <a:r>
              <a:rPr lang="sv-SE" sz="1600" b="0" i="1" dirty="0">
                <a:solidFill>
                  <a:schemeClr val="tx1"/>
                </a:solidFill>
              </a:rPr>
              <a:t>men</a:t>
            </a:r>
          </a:p>
          <a:p>
            <a:pPr marL="914400" lvl="1" indent="-457200">
              <a:buFont typeface="Arial" panose="020B0604020202020204" pitchFamily="34" charset="0"/>
              <a:buChar char="•"/>
            </a:pPr>
            <a:r>
              <a:rPr lang="sv-SE" sz="1600" b="0" dirty="0">
                <a:solidFill>
                  <a:schemeClr val="tx1"/>
                </a:solidFill>
              </a:rPr>
              <a:t>Det är en extremt liten specifikation som har funnits i </a:t>
            </a:r>
            <a:r>
              <a:rPr lang="en-US" sz="1600" dirty="0"/>
              <a:t>&gt;50 </a:t>
            </a:r>
            <a:r>
              <a:rPr lang="sv-SE" sz="1600" dirty="0"/>
              <a:t>år</a:t>
            </a:r>
          </a:p>
          <a:p>
            <a:pPr marL="914400" lvl="1" indent="-457200">
              <a:buFont typeface="Arial" panose="020B0604020202020204" pitchFamily="34" charset="0"/>
              <a:buChar char="•"/>
            </a:pPr>
            <a:r>
              <a:rPr lang="sv-SE" sz="1600" b="0" dirty="0">
                <a:solidFill>
                  <a:schemeClr val="tx1"/>
                </a:solidFill>
              </a:rPr>
              <a:t>Existerande implementationer är extremt stabila</a:t>
            </a:r>
            <a:endParaRPr lang="sv-SE" b="0" dirty="0">
              <a:solidFill>
                <a:schemeClr val="tx1"/>
              </a:solidFill>
            </a:endParaRPr>
          </a:p>
        </p:txBody>
      </p:sp>
    </p:spTree>
    <p:extLst>
      <p:ext uri="{BB962C8B-B14F-4D97-AF65-F5344CB8AC3E}">
        <p14:creationId xmlns:p14="http://schemas.microsoft.com/office/powerpoint/2010/main" val="3899913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xEl>
                                              <p:pRg st="1" end="1"/>
                                            </p:txEl>
                                          </p:spTgt>
                                        </p:tgtEl>
                                        <p:attrNameLst>
                                          <p:attrName>style.visibility</p:attrName>
                                        </p:attrNameLst>
                                      </p:cBhvr>
                                      <p:to>
                                        <p:strVal val="visible"/>
                                      </p:to>
                                    </p:set>
                                    <p:animEffect transition="in" filter="fade">
                                      <p:cBhvr>
                                        <p:cTn id="12" dur="500"/>
                                        <p:tgtEl>
                                          <p:spTgt spid="15">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5">
                                            <p:txEl>
                                              <p:pRg st="2" end="2"/>
                                            </p:txEl>
                                          </p:spTgt>
                                        </p:tgtEl>
                                        <p:attrNameLst>
                                          <p:attrName>style.visibility</p:attrName>
                                        </p:attrNameLst>
                                      </p:cBhvr>
                                      <p:to>
                                        <p:strVal val="visible"/>
                                      </p:to>
                                    </p:set>
                                    <p:animEffect transition="in" filter="fade">
                                      <p:cBhvr>
                                        <p:cTn id="15" dur="500"/>
                                        <p:tgtEl>
                                          <p:spTgt spid="15">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5">
                                            <p:txEl>
                                              <p:pRg st="3" end="3"/>
                                            </p:txEl>
                                          </p:spTgt>
                                        </p:tgtEl>
                                        <p:attrNameLst>
                                          <p:attrName>style.visibility</p:attrName>
                                        </p:attrNameLst>
                                      </p:cBhvr>
                                      <p:to>
                                        <p:strVal val="visible"/>
                                      </p:to>
                                    </p:set>
                                    <p:animEffect transition="in" filter="fade">
                                      <p:cBhvr>
                                        <p:cTn id="18" dur="500"/>
                                        <p:tgtEl>
                                          <p:spTgt spid="15">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xEl>
                                              <p:pRg st="4" end="4"/>
                                            </p:txEl>
                                          </p:spTgt>
                                        </p:tgtEl>
                                        <p:attrNameLst>
                                          <p:attrName>style.visibility</p:attrName>
                                        </p:attrNameLst>
                                      </p:cBhvr>
                                      <p:to>
                                        <p:strVal val="visible"/>
                                      </p:to>
                                    </p:set>
                                    <p:animEffect transition="in" filter="fade">
                                      <p:cBhvr>
                                        <p:cTn id="21" dur="500"/>
                                        <p:tgtEl>
                                          <p:spTgt spid="15">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xEl>
                                              <p:pRg st="5" end="5"/>
                                            </p:txEl>
                                          </p:spTgt>
                                        </p:tgtEl>
                                        <p:attrNameLst>
                                          <p:attrName>style.visibility</p:attrName>
                                        </p:attrNameLst>
                                      </p:cBhvr>
                                      <p:to>
                                        <p:strVal val="visible"/>
                                      </p:to>
                                    </p:set>
                                    <p:animEffect transition="in" filter="fade">
                                      <p:cBhvr>
                                        <p:cTn id="24" dur="500"/>
                                        <p:tgtEl>
                                          <p:spTgt spid="15">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15">
                                            <p:txEl>
                                              <p:pRg st="6" end="6"/>
                                            </p:txEl>
                                          </p:spTgt>
                                        </p:tgtEl>
                                        <p:attrNameLst>
                                          <p:attrName>style.visibility</p:attrName>
                                        </p:attrNameLst>
                                      </p:cBhvr>
                                      <p:to>
                                        <p:strVal val="visible"/>
                                      </p:to>
                                    </p:set>
                                    <p:animEffect transition="in" filter="fade">
                                      <p:cBhvr>
                                        <p:cTn id="27" dur="500"/>
                                        <p:tgtEl>
                                          <p:spTgt spid="15">
                                            <p:txEl>
                                              <p:pRg st="6" end="6"/>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xEl>
                                              <p:pRg st="7" end="7"/>
                                            </p:txEl>
                                          </p:spTgt>
                                        </p:tgtEl>
                                        <p:attrNameLst>
                                          <p:attrName>style.visibility</p:attrName>
                                        </p:attrNameLst>
                                      </p:cBhvr>
                                      <p:to>
                                        <p:strVal val="visible"/>
                                      </p:to>
                                    </p:set>
                                    <p:animEffect transition="in" filter="fade">
                                      <p:cBhvr>
                                        <p:cTn id="30" dur="500"/>
                                        <p:tgtEl>
                                          <p:spTgt spid="15">
                                            <p:txEl>
                                              <p:pRg st="7" end="7"/>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15">
                                            <p:txEl>
                                              <p:pRg st="8" end="8"/>
                                            </p:txEl>
                                          </p:spTgt>
                                        </p:tgtEl>
                                        <p:attrNameLst>
                                          <p:attrName>style.visibility</p:attrName>
                                        </p:attrNameLst>
                                      </p:cBhvr>
                                      <p:to>
                                        <p:strVal val="visible"/>
                                      </p:to>
                                    </p:set>
                                    <p:animEffect transition="in" filter="fade">
                                      <p:cBhvr>
                                        <p:cTn id="33" dur="500"/>
                                        <p:tgtEl>
                                          <p:spTgt spid="15">
                                            <p:txEl>
                                              <p:pRg st="8" end="8"/>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15">
                                            <p:txEl>
                                              <p:pRg st="9" end="9"/>
                                            </p:txEl>
                                          </p:spTgt>
                                        </p:tgtEl>
                                        <p:attrNameLst>
                                          <p:attrName>style.visibility</p:attrName>
                                        </p:attrNameLst>
                                      </p:cBhvr>
                                      <p:to>
                                        <p:strVal val="visible"/>
                                      </p:to>
                                    </p:set>
                                    <p:animEffect transition="in" filter="fade">
                                      <p:cBhvr>
                                        <p:cTn id="36" dur="500"/>
                                        <p:tgtEl>
                                          <p:spTgt spid="15">
                                            <p:txEl>
                                              <p:pRg st="9" end="9"/>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15">
                                            <p:txEl>
                                              <p:pRg st="10" end="10"/>
                                            </p:txEl>
                                          </p:spTgt>
                                        </p:tgtEl>
                                        <p:attrNameLst>
                                          <p:attrName>style.visibility</p:attrName>
                                        </p:attrNameLst>
                                      </p:cBhvr>
                                      <p:to>
                                        <p:strVal val="visible"/>
                                      </p:to>
                                    </p:set>
                                    <p:animEffect transition="in" filter="fade">
                                      <p:cBhvr>
                                        <p:cTn id="39" dur="500"/>
                                        <p:tgtEl>
                                          <p:spTgt spid="15">
                                            <p:txEl>
                                              <p:pRg st="10" end="10"/>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15">
                                            <p:txEl>
                                              <p:pRg st="11" end="11"/>
                                            </p:txEl>
                                          </p:spTgt>
                                        </p:tgtEl>
                                        <p:attrNameLst>
                                          <p:attrName>style.visibility</p:attrName>
                                        </p:attrNameLst>
                                      </p:cBhvr>
                                      <p:to>
                                        <p:strVal val="visible"/>
                                      </p:to>
                                    </p:set>
                                    <p:animEffect transition="in" filter="fade">
                                      <p:cBhvr>
                                        <p:cTn id="42" dur="500"/>
                                        <p:tgtEl>
                                          <p:spTgt spid="1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CD5B9-8482-C84A-C8D7-8946E0E57921}"/>
              </a:ext>
            </a:extLst>
          </p:cNvPr>
          <p:cNvSpPr>
            <a:spLocks noGrp="1"/>
          </p:cNvSpPr>
          <p:nvPr>
            <p:ph type="title"/>
          </p:nvPr>
        </p:nvSpPr>
        <p:spPr/>
        <p:txBody>
          <a:bodyPr/>
          <a:lstStyle/>
          <a:p>
            <a:r>
              <a:rPr lang="en-GB"/>
              <a:t>Introduktion till C – Enkelt exempel</a:t>
            </a:r>
            <a:endParaRPr lang="LID4096"/>
          </a:p>
        </p:txBody>
      </p:sp>
      <p:pic>
        <p:nvPicPr>
          <p:cNvPr id="5" name="Picture 4">
            <a:extLst>
              <a:ext uri="{FF2B5EF4-FFF2-40B4-BE49-F238E27FC236}">
                <a16:creationId xmlns:a16="http://schemas.microsoft.com/office/drawing/2014/main" id="{7797D547-AEAE-B6BD-53E3-D60A76B067BB}"/>
              </a:ext>
            </a:extLst>
          </p:cNvPr>
          <p:cNvPicPr>
            <a:picLocks noChangeAspect="1"/>
          </p:cNvPicPr>
          <p:nvPr/>
        </p:nvPicPr>
        <p:blipFill>
          <a:blip r:embed="rId3"/>
          <a:stretch>
            <a:fillRect/>
          </a:stretch>
        </p:blipFill>
        <p:spPr>
          <a:xfrm>
            <a:off x="548922" y="1954879"/>
            <a:ext cx="6811326" cy="4448796"/>
          </a:xfrm>
          <a:prstGeom prst="rect">
            <a:avLst/>
          </a:prstGeom>
          <a:ln>
            <a:solidFill>
              <a:schemeClr val="tx1"/>
            </a:solidFill>
          </a:ln>
          <a:effectLst>
            <a:outerShdw blurRad="50800" dist="38100" dir="2700000" algn="tl" rotWithShape="0">
              <a:prstClr val="black">
                <a:alpha val="40000"/>
              </a:prstClr>
            </a:outerShdw>
          </a:effectLst>
        </p:spPr>
      </p:pic>
      <p:sp>
        <p:nvSpPr>
          <p:cNvPr id="6" name="Rectangle: Rounded Corners 5">
            <a:extLst>
              <a:ext uri="{FF2B5EF4-FFF2-40B4-BE49-F238E27FC236}">
                <a16:creationId xmlns:a16="http://schemas.microsoft.com/office/drawing/2014/main" id="{4536E4A3-954D-30C9-74B6-E86AC9D5DBA5}"/>
              </a:ext>
            </a:extLst>
          </p:cNvPr>
          <p:cNvSpPr/>
          <p:nvPr/>
        </p:nvSpPr>
        <p:spPr>
          <a:xfrm>
            <a:off x="548922" y="2041236"/>
            <a:ext cx="6627733" cy="286328"/>
          </a:xfrm>
          <a:prstGeom prst="roundRect">
            <a:avLst/>
          </a:prstGeom>
          <a:noFill/>
          <a:ln w="254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2058655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57B6D-C57A-CE8C-E598-1E7F1789B4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D0F3A6-268F-0A26-82AB-D2C5BDFC1B7C}"/>
              </a:ext>
            </a:extLst>
          </p:cNvPr>
          <p:cNvSpPr>
            <a:spLocks noGrp="1"/>
          </p:cNvSpPr>
          <p:nvPr>
            <p:ph type="title"/>
          </p:nvPr>
        </p:nvSpPr>
        <p:spPr/>
        <p:txBody>
          <a:bodyPr/>
          <a:lstStyle/>
          <a:p>
            <a:r>
              <a:rPr lang="en-GB"/>
              <a:t>Introduktion till C – Enkelt exempel</a:t>
            </a:r>
            <a:endParaRPr lang="LID4096"/>
          </a:p>
        </p:txBody>
      </p:sp>
      <p:pic>
        <p:nvPicPr>
          <p:cNvPr id="5" name="Picture 4">
            <a:extLst>
              <a:ext uri="{FF2B5EF4-FFF2-40B4-BE49-F238E27FC236}">
                <a16:creationId xmlns:a16="http://schemas.microsoft.com/office/drawing/2014/main" id="{D4FD8497-1DD2-52FD-D439-00EC8EA544E5}"/>
              </a:ext>
            </a:extLst>
          </p:cNvPr>
          <p:cNvPicPr>
            <a:picLocks noChangeAspect="1"/>
          </p:cNvPicPr>
          <p:nvPr/>
        </p:nvPicPr>
        <p:blipFill>
          <a:blip r:embed="rId3"/>
          <a:stretch>
            <a:fillRect/>
          </a:stretch>
        </p:blipFill>
        <p:spPr>
          <a:xfrm>
            <a:off x="548922" y="1954879"/>
            <a:ext cx="6811326" cy="4448796"/>
          </a:xfrm>
          <a:prstGeom prst="rect">
            <a:avLst/>
          </a:prstGeom>
          <a:ln>
            <a:solidFill>
              <a:schemeClr val="tx1"/>
            </a:solidFill>
          </a:ln>
          <a:effectLst>
            <a:outerShdw blurRad="50800" dist="38100" dir="2700000" algn="tl" rotWithShape="0">
              <a:prstClr val="black">
                <a:alpha val="40000"/>
              </a:prstClr>
            </a:outerShdw>
          </a:effectLst>
        </p:spPr>
      </p:pic>
      <p:sp>
        <p:nvSpPr>
          <p:cNvPr id="6" name="Rectangle: Rounded Corners 5">
            <a:extLst>
              <a:ext uri="{FF2B5EF4-FFF2-40B4-BE49-F238E27FC236}">
                <a16:creationId xmlns:a16="http://schemas.microsoft.com/office/drawing/2014/main" id="{AACF66F2-124D-3DB1-DC66-AF4580C7673B}"/>
              </a:ext>
            </a:extLst>
          </p:cNvPr>
          <p:cNvSpPr/>
          <p:nvPr/>
        </p:nvSpPr>
        <p:spPr>
          <a:xfrm>
            <a:off x="548922" y="2604654"/>
            <a:ext cx="6627733" cy="286328"/>
          </a:xfrm>
          <a:prstGeom prst="roundRect">
            <a:avLst/>
          </a:prstGeom>
          <a:noFill/>
          <a:ln w="254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2958276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325C1-D613-4F85-53C4-BC6672A8CC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E57248-E0BA-6B4E-5803-A16666877FF9}"/>
              </a:ext>
            </a:extLst>
          </p:cNvPr>
          <p:cNvSpPr>
            <a:spLocks noGrp="1"/>
          </p:cNvSpPr>
          <p:nvPr>
            <p:ph type="title"/>
          </p:nvPr>
        </p:nvSpPr>
        <p:spPr/>
        <p:txBody>
          <a:bodyPr/>
          <a:lstStyle/>
          <a:p>
            <a:r>
              <a:rPr lang="en-GB"/>
              <a:t>Introduktion till C – Enkelt exempel</a:t>
            </a:r>
            <a:endParaRPr lang="LID4096"/>
          </a:p>
        </p:txBody>
      </p:sp>
      <p:pic>
        <p:nvPicPr>
          <p:cNvPr id="5" name="Picture 4">
            <a:extLst>
              <a:ext uri="{FF2B5EF4-FFF2-40B4-BE49-F238E27FC236}">
                <a16:creationId xmlns:a16="http://schemas.microsoft.com/office/drawing/2014/main" id="{56330854-E951-5B0E-80DE-B345CE6B2EFE}"/>
              </a:ext>
            </a:extLst>
          </p:cNvPr>
          <p:cNvPicPr>
            <a:picLocks noChangeAspect="1"/>
          </p:cNvPicPr>
          <p:nvPr/>
        </p:nvPicPr>
        <p:blipFill>
          <a:blip r:embed="rId3"/>
          <a:stretch>
            <a:fillRect/>
          </a:stretch>
        </p:blipFill>
        <p:spPr>
          <a:xfrm>
            <a:off x="548922" y="1954879"/>
            <a:ext cx="6811326" cy="4448796"/>
          </a:xfrm>
          <a:prstGeom prst="rect">
            <a:avLst/>
          </a:prstGeom>
          <a:ln>
            <a:solidFill>
              <a:schemeClr val="tx1"/>
            </a:solidFill>
          </a:ln>
          <a:effectLst>
            <a:outerShdw blurRad="50800" dist="38100" dir="2700000" algn="tl" rotWithShape="0">
              <a:prstClr val="black">
                <a:alpha val="40000"/>
              </a:prstClr>
            </a:outerShdw>
          </a:effectLst>
        </p:spPr>
      </p:pic>
      <p:sp>
        <p:nvSpPr>
          <p:cNvPr id="6" name="Rectangle: Rounded Corners 5">
            <a:extLst>
              <a:ext uri="{FF2B5EF4-FFF2-40B4-BE49-F238E27FC236}">
                <a16:creationId xmlns:a16="http://schemas.microsoft.com/office/drawing/2014/main" id="{68D97DAC-CDD7-54DB-6539-0C76DE46C9B5}"/>
              </a:ext>
            </a:extLst>
          </p:cNvPr>
          <p:cNvSpPr/>
          <p:nvPr/>
        </p:nvSpPr>
        <p:spPr>
          <a:xfrm>
            <a:off x="548922" y="2927926"/>
            <a:ext cx="6627733" cy="1182255"/>
          </a:xfrm>
          <a:prstGeom prst="roundRect">
            <a:avLst>
              <a:gd name="adj" fmla="val 7292"/>
            </a:avLst>
          </a:prstGeom>
          <a:noFill/>
          <a:ln w="254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22042072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0AC6C-D329-72E6-0C2C-D2891612CE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1CADAF-3DEA-5932-9EB3-A08B31AD0AE3}"/>
              </a:ext>
            </a:extLst>
          </p:cNvPr>
          <p:cNvSpPr>
            <a:spLocks noGrp="1"/>
          </p:cNvSpPr>
          <p:nvPr>
            <p:ph type="title"/>
          </p:nvPr>
        </p:nvSpPr>
        <p:spPr/>
        <p:txBody>
          <a:bodyPr/>
          <a:lstStyle/>
          <a:p>
            <a:r>
              <a:rPr lang="en-GB"/>
              <a:t>Introduktion till C – Enkelt exempel</a:t>
            </a:r>
            <a:endParaRPr lang="LID4096"/>
          </a:p>
        </p:txBody>
      </p:sp>
      <p:pic>
        <p:nvPicPr>
          <p:cNvPr id="5" name="Picture 4">
            <a:extLst>
              <a:ext uri="{FF2B5EF4-FFF2-40B4-BE49-F238E27FC236}">
                <a16:creationId xmlns:a16="http://schemas.microsoft.com/office/drawing/2014/main" id="{B0C49C66-344D-2BC1-373C-5D95E5D5E864}"/>
              </a:ext>
            </a:extLst>
          </p:cNvPr>
          <p:cNvPicPr>
            <a:picLocks noChangeAspect="1"/>
          </p:cNvPicPr>
          <p:nvPr/>
        </p:nvPicPr>
        <p:blipFill>
          <a:blip r:embed="rId3"/>
          <a:stretch>
            <a:fillRect/>
          </a:stretch>
        </p:blipFill>
        <p:spPr>
          <a:xfrm>
            <a:off x="548922" y="1954879"/>
            <a:ext cx="6811326" cy="4448796"/>
          </a:xfrm>
          <a:prstGeom prst="rect">
            <a:avLst/>
          </a:prstGeom>
          <a:ln>
            <a:solidFill>
              <a:schemeClr val="tx1"/>
            </a:solidFill>
          </a:ln>
          <a:effectLst>
            <a:outerShdw blurRad="50800" dist="38100" dir="2700000" algn="tl" rotWithShape="0">
              <a:prstClr val="black">
                <a:alpha val="40000"/>
              </a:prstClr>
            </a:outerShdw>
          </a:effectLst>
        </p:spPr>
      </p:pic>
      <p:sp>
        <p:nvSpPr>
          <p:cNvPr id="6" name="Rectangle: Rounded Corners 5">
            <a:extLst>
              <a:ext uri="{FF2B5EF4-FFF2-40B4-BE49-F238E27FC236}">
                <a16:creationId xmlns:a16="http://schemas.microsoft.com/office/drawing/2014/main" id="{AE87B60E-1DF5-AFE5-C9D4-F5CC796EECE0}"/>
              </a:ext>
            </a:extLst>
          </p:cNvPr>
          <p:cNvSpPr/>
          <p:nvPr/>
        </p:nvSpPr>
        <p:spPr>
          <a:xfrm>
            <a:off x="548922" y="4331856"/>
            <a:ext cx="6627733" cy="304800"/>
          </a:xfrm>
          <a:prstGeom prst="roundRect">
            <a:avLst>
              <a:gd name="adj" fmla="val 7292"/>
            </a:avLst>
          </a:prstGeom>
          <a:noFill/>
          <a:ln w="254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10126915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C5245-BFDF-12F5-3EAF-BCC9C6368E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40FA0D-6CE0-626A-5BA5-D3F8D5CF7830}"/>
              </a:ext>
            </a:extLst>
          </p:cNvPr>
          <p:cNvSpPr>
            <a:spLocks noGrp="1"/>
          </p:cNvSpPr>
          <p:nvPr>
            <p:ph type="title"/>
          </p:nvPr>
        </p:nvSpPr>
        <p:spPr/>
        <p:txBody>
          <a:bodyPr/>
          <a:lstStyle/>
          <a:p>
            <a:r>
              <a:rPr lang="en-GB"/>
              <a:t>Introduktion till C – Enkelt exempel</a:t>
            </a:r>
            <a:endParaRPr lang="LID4096"/>
          </a:p>
        </p:txBody>
      </p:sp>
      <p:pic>
        <p:nvPicPr>
          <p:cNvPr id="5" name="Picture 4">
            <a:extLst>
              <a:ext uri="{FF2B5EF4-FFF2-40B4-BE49-F238E27FC236}">
                <a16:creationId xmlns:a16="http://schemas.microsoft.com/office/drawing/2014/main" id="{835575A8-4FE4-2BA9-F352-E172AE2BFA53}"/>
              </a:ext>
            </a:extLst>
          </p:cNvPr>
          <p:cNvPicPr>
            <a:picLocks noChangeAspect="1"/>
          </p:cNvPicPr>
          <p:nvPr/>
        </p:nvPicPr>
        <p:blipFill>
          <a:blip r:embed="rId3"/>
          <a:stretch>
            <a:fillRect/>
          </a:stretch>
        </p:blipFill>
        <p:spPr>
          <a:xfrm>
            <a:off x="548922" y="1954879"/>
            <a:ext cx="6811326" cy="4448796"/>
          </a:xfrm>
          <a:prstGeom prst="rect">
            <a:avLst/>
          </a:prstGeom>
          <a:ln>
            <a:solidFill>
              <a:schemeClr val="tx1"/>
            </a:solidFill>
          </a:ln>
          <a:effectLst>
            <a:outerShdw blurRad="50800" dist="38100" dir="2700000" algn="tl" rotWithShape="0">
              <a:prstClr val="black">
                <a:alpha val="40000"/>
              </a:prstClr>
            </a:outerShdw>
          </a:effectLst>
        </p:spPr>
      </p:pic>
      <p:sp>
        <p:nvSpPr>
          <p:cNvPr id="6" name="Rectangle: Rounded Corners 5">
            <a:extLst>
              <a:ext uri="{FF2B5EF4-FFF2-40B4-BE49-F238E27FC236}">
                <a16:creationId xmlns:a16="http://schemas.microsoft.com/office/drawing/2014/main" id="{72F722D4-59BF-F090-FA34-9A0A42D537C2}"/>
              </a:ext>
            </a:extLst>
          </p:cNvPr>
          <p:cNvSpPr/>
          <p:nvPr/>
        </p:nvSpPr>
        <p:spPr>
          <a:xfrm>
            <a:off x="548922" y="5543550"/>
            <a:ext cx="6627733" cy="280988"/>
          </a:xfrm>
          <a:prstGeom prst="roundRect">
            <a:avLst>
              <a:gd name="adj" fmla="val 7292"/>
            </a:avLst>
          </a:prstGeom>
          <a:noFill/>
          <a:ln w="254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3099364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4F8BA-CCDB-5888-8E98-DEECB9304E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D71F1E-E4E1-5D88-ECBC-93D6730E2E1B}"/>
              </a:ext>
            </a:extLst>
          </p:cNvPr>
          <p:cNvSpPr>
            <a:spLocks noGrp="1"/>
          </p:cNvSpPr>
          <p:nvPr>
            <p:ph type="title"/>
          </p:nvPr>
        </p:nvSpPr>
        <p:spPr/>
        <p:txBody>
          <a:bodyPr/>
          <a:lstStyle/>
          <a:p>
            <a:r>
              <a:rPr lang="en-GB"/>
              <a:t>Introduktion till C – Enkelt exempel</a:t>
            </a:r>
            <a:endParaRPr lang="LID4096"/>
          </a:p>
        </p:txBody>
      </p:sp>
      <p:pic>
        <p:nvPicPr>
          <p:cNvPr id="5" name="Picture 4">
            <a:extLst>
              <a:ext uri="{FF2B5EF4-FFF2-40B4-BE49-F238E27FC236}">
                <a16:creationId xmlns:a16="http://schemas.microsoft.com/office/drawing/2014/main" id="{E219660E-884F-B9CC-5570-37B1D7AAF862}"/>
              </a:ext>
            </a:extLst>
          </p:cNvPr>
          <p:cNvPicPr>
            <a:picLocks noChangeAspect="1"/>
          </p:cNvPicPr>
          <p:nvPr/>
        </p:nvPicPr>
        <p:blipFill>
          <a:blip r:embed="rId3"/>
          <a:stretch>
            <a:fillRect/>
          </a:stretch>
        </p:blipFill>
        <p:spPr>
          <a:xfrm>
            <a:off x="548922" y="1954879"/>
            <a:ext cx="6811326" cy="4448796"/>
          </a:xfrm>
          <a:prstGeom prst="rect">
            <a:avLst/>
          </a:prstGeom>
          <a:ln>
            <a:solidFill>
              <a:schemeClr val="tx1"/>
            </a:solidFill>
          </a:ln>
          <a:effectLst>
            <a:outerShdw blurRad="50800" dist="38100" dir="2700000" algn="tl" rotWithShape="0">
              <a:prstClr val="black">
                <a:alpha val="40000"/>
              </a:prstClr>
            </a:outerShdw>
          </a:effectLst>
        </p:spPr>
      </p:pic>
      <p:sp>
        <p:nvSpPr>
          <p:cNvPr id="6" name="Rectangle: Rounded Corners 5">
            <a:extLst>
              <a:ext uri="{FF2B5EF4-FFF2-40B4-BE49-F238E27FC236}">
                <a16:creationId xmlns:a16="http://schemas.microsoft.com/office/drawing/2014/main" id="{2F089510-DA18-E28F-CCA7-07DB53BF7F48}"/>
              </a:ext>
            </a:extLst>
          </p:cNvPr>
          <p:cNvSpPr/>
          <p:nvPr/>
        </p:nvSpPr>
        <p:spPr>
          <a:xfrm>
            <a:off x="548922" y="5834063"/>
            <a:ext cx="6627733" cy="261937"/>
          </a:xfrm>
          <a:prstGeom prst="roundRect">
            <a:avLst>
              <a:gd name="adj" fmla="val 7292"/>
            </a:avLst>
          </a:prstGeom>
          <a:noFill/>
          <a:ln w="254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24676549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B19EE-A204-3A83-E127-629649D7EAA7}"/>
              </a:ext>
            </a:extLst>
          </p:cNvPr>
          <p:cNvSpPr>
            <a:spLocks noGrp="1"/>
          </p:cNvSpPr>
          <p:nvPr>
            <p:ph type="title"/>
          </p:nvPr>
        </p:nvSpPr>
        <p:spPr/>
        <p:txBody>
          <a:bodyPr/>
          <a:lstStyle/>
          <a:p>
            <a:r>
              <a:rPr lang="en-GB"/>
              <a:t>Kompilering</a:t>
            </a:r>
            <a:endParaRPr lang="LID4096"/>
          </a:p>
        </p:txBody>
      </p:sp>
      <p:grpSp>
        <p:nvGrpSpPr>
          <p:cNvPr id="20" name="Group 19">
            <a:extLst>
              <a:ext uri="{FF2B5EF4-FFF2-40B4-BE49-F238E27FC236}">
                <a16:creationId xmlns:a16="http://schemas.microsoft.com/office/drawing/2014/main" id="{096218C8-E357-DD1E-0284-F7B709D0EB9F}"/>
              </a:ext>
            </a:extLst>
          </p:cNvPr>
          <p:cNvGrpSpPr/>
          <p:nvPr/>
        </p:nvGrpSpPr>
        <p:grpSpPr>
          <a:xfrm>
            <a:off x="1659966" y="1975389"/>
            <a:ext cx="3092340" cy="1754327"/>
            <a:chOff x="161722" y="3688280"/>
            <a:chExt cx="3839993" cy="1754327"/>
          </a:xfrm>
          <a:effectLst>
            <a:outerShdw blurRad="50800" dist="38100" dir="2700000" algn="tl" rotWithShape="0">
              <a:prstClr val="black">
                <a:alpha val="40000"/>
              </a:prstClr>
            </a:outerShdw>
          </a:effectLst>
        </p:grpSpPr>
        <p:sp>
          <p:nvSpPr>
            <p:cNvPr id="9" name="TextBox 8">
              <a:extLst>
                <a:ext uri="{FF2B5EF4-FFF2-40B4-BE49-F238E27FC236}">
                  <a16:creationId xmlns:a16="http://schemas.microsoft.com/office/drawing/2014/main" id="{9C50E095-28A9-E040-A421-85CA1C912811}"/>
                </a:ext>
              </a:extLst>
            </p:cNvPr>
            <p:cNvSpPr txBox="1"/>
            <p:nvPr/>
          </p:nvSpPr>
          <p:spPr>
            <a:xfrm>
              <a:off x="161722" y="4057612"/>
              <a:ext cx="3839993" cy="1384995"/>
            </a:xfrm>
            <a:prstGeom prst="rect">
              <a:avLst/>
            </a:prstGeom>
            <a:solidFill>
              <a:schemeClr val="tx1">
                <a:lumMod val="75000"/>
                <a:lumOff val="25000"/>
              </a:schemeClr>
            </a:solidFill>
            <a:ln>
              <a:solidFill>
                <a:schemeClr val="accent1">
                  <a:shade val="15000"/>
                </a:schemeClr>
              </a:solidFill>
            </a:ln>
          </p:spPr>
          <p:txBody>
            <a:bodyPr wrap="square">
              <a:spAutoFit/>
            </a:bodyPr>
            <a:lstStyle/>
            <a:p>
              <a:pPr>
                <a:buNone/>
              </a:pPr>
              <a:r>
                <a:rPr lang="en-US" sz="1400" b="0">
                  <a:solidFill>
                    <a:srgbClr val="C586C0"/>
                  </a:solidFill>
                  <a:effectLst/>
                  <a:latin typeface="Consolas" panose="020B0609020204030204" pitchFamily="49" charset="0"/>
                </a:rPr>
                <a:t>#include</a:t>
              </a:r>
              <a:r>
                <a:rPr lang="en-US" sz="1400" b="0">
                  <a:solidFill>
                    <a:srgbClr val="569CD6"/>
                  </a:solidFill>
                  <a:effectLst/>
                  <a:latin typeface="Consolas" panose="020B0609020204030204" pitchFamily="49" charset="0"/>
                </a:rPr>
                <a:t> </a:t>
              </a:r>
              <a:r>
                <a:rPr lang="en-US" sz="1400" b="0">
                  <a:solidFill>
                    <a:srgbClr val="CE9178"/>
                  </a:solidFill>
                  <a:effectLst/>
                  <a:latin typeface="Consolas" panose="020B0609020204030204" pitchFamily="49" charset="0"/>
                </a:rPr>
                <a:t>"functions.h"</a:t>
              </a:r>
              <a:endParaRPr lang="en-US" sz="1400" b="0">
                <a:solidFill>
                  <a:srgbClr val="CCCCCC"/>
                </a:solidFill>
                <a:effectLst/>
                <a:latin typeface="Consolas" panose="020B0609020204030204" pitchFamily="49" charset="0"/>
              </a:endParaRPr>
            </a:p>
            <a:p>
              <a:pPr>
                <a:buNone/>
              </a:pPr>
              <a:endParaRPr lang="en-US" sz="1400" b="0">
                <a:solidFill>
                  <a:srgbClr val="CCCCCC"/>
                </a:solidFill>
                <a:effectLst/>
                <a:latin typeface="Consolas" panose="020B0609020204030204" pitchFamily="49" charset="0"/>
              </a:endParaRPr>
            </a:p>
            <a:p>
              <a:pPr>
                <a:buNone/>
              </a:pPr>
              <a:r>
                <a:rPr lang="en-US" sz="1400" b="0">
                  <a:solidFill>
                    <a:srgbClr val="569CD6"/>
                  </a:solidFill>
                  <a:effectLst/>
                  <a:latin typeface="Consolas" panose="020B0609020204030204" pitchFamily="49" charset="0"/>
                </a:rPr>
                <a:t>void</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main</a:t>
              </a:r>
              <a:r>
                <a:rPr lang="en-US" sz="1400" b="0">
                  <a:solidFill>
                    <a:srgbClr val="CCCCCC"/>
                  </a:solidFill>
                  <a:effectLst/>
                  <a:latin typeface="Consolas" panose="020B0609020204030204" pitchFamily="49" charset="0"/>
                </a:rPr>
                <a:t>(</a:t>
              </a:r>
              <a:r>
                <a:rPr lang="en-US" sz="1400" b="0">
                  <a:solidFill>
                    <a:srgbClr val="569CD6"/>
                  </a:solidFill>
                  <a:effectLst/>
                  <a:latin typeface="Consolas" panose="020B0609020204030204" pitchFamily="49" charset="0"/>
                </a:rPr>
                <a:t>void</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    </a:t>
              </a: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9CDCFE"/>
                  </a:solidFill>
                  <a:effectLst/>
                  <a:latin typeface="Consolas" panose="020B0609020204030204" pitchFamily="49" charset="0"/>
                </a:rPr>
                <a:t>a</a:t>
              </a:r>
              <a:r>
                <a:rPr lang="en-US" sz="1400" b="0">
                  <a:solidFill>
                    <a:srgbClr val="CCCCCC"/>
                  </a:solidFill>
                  <a:effectLst/>
                  <a:latin typeface="Consolas" panose="020B0609020204030204" pitchFamily="49" charset="0"/>
                </a:rPr>
                <a:t> </a:t>
              </a:r>
              <a:r>
                <a:rPr lang="en-US" sz="1400" b="0">
                  <a:solidFill>
                    <a:srgbClr val="D4D4D4"/>
                  </a:solidFill>
                  <a:effectLst/>
                  <a:latin typeface="Consolas" panose="020B0609020204030204" pitchFamily="49" charset="0"/>
                </a:rPr>
                <a:t>=</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function</a:t>
              </a:r>
              <a:r>
                <a:rPr lang="en-US" sz="1400" b="0">
                  <a:solidFill>
                    <a:srgbClr val="CCCCCC"/>
                  </a:solidFill>
                  <a:effectLst/>
                  <a:latin typeface="Consolas" panose="020B0609020204030204" pitchFamily="49" charset="0"/>
                </a:rPr>
                <a:t>(</a:t>
              </a:r>
              <a:r>
                <a:rPr lang="en-US" sz="1400" b="0">
                  <a:solidFill>
                    <a:srgbClr val="B5CEA8"/>
                  </a:solidFill>
                  <a:effectLst/>
                  <a:latin typeface="Consolas" panose="020B0609020204030204" pitchFamily="49" charset="0"/>
                </a:rPr>
                <a:t>2.0f</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p:txBody>
        </p:sp>
        <p:sp>
          <p:nvSpPr>
            <p:cNvPr id="11" name="TextBox 10">
              <a:extLst>
                <a:ext uri="{FF2B5EF4-FFF2-40B4-BE49-F238E27FC236}">
                  <a16:creationId xmlns:a16="http://schemas.microsoft.com/office/drawing/2014/main" id="{F552881A-BEA6-FC6A-5771-48B6A442B601}"/>
                </a:ext>
              </a:extLst>
            </p:cNvPr>
            <p:cNvSpPr txBox="1"/>
            <p:nvPr/>
          </p:nvSpPr>
          <p:spPr>
            <a:xfrm>
              <a:off x="161722" y="3688280"/>
              <a:ext cx="3839993" cy="369332"/>
            </a:xfrm>
            <a:prstGeom prst="rect">
              <a:avLst/>
            </a:prstGeom>
            <a:solidFill>
              <a:schemeClr val="bg1"/>
            </a:solidFill>
            <a:ln>
              <a:solidFill>
                <a:schemeClr val="accent1">
                  <a:shade val="15000"/>
                </a:schemeClr>
              </a:solidFill>
            </a:ln>
          </p:spPr>
          <p:txBody>
            <a:bodyPr wrap="none" rtlCol="0">
              <a:noAutofit/>
            </a:bodyPr>
            <a:lstStyle/>
            <a:p>
              <a:r>
                <a:rPr lang="en-GB"/>
                <a:t>main.c</a:t>
              </a:r>
              <a:endParaRPr lang="LID4096"/>
            </a:p>
          </p:txBody>
        </p:sp>
      </p:grpSp>
      <p:grpSp>
        <p:nvGrpSpPr>
          <p:cNvPr id="21" name="Group 20">
            <a:extLst>
              <a:ext uri="{FF2B5EF4-FFF2-40B4-BE49-F238E27FC236}">
                <a16:creationId xmlns:a16="http://schemas.microsoft.com/office/drawing/2014/main" id="{1621AB1B-ADF9-DA73-B2EC-FC379356506E}"/>
              </a:ext>
            </a:extLst>
          </p:cNvPr>
          <p:cNvGrpSpPr/>
          <p:nvPr/>
        </p:nvGrpSpPr>
        <p:grpSpPr>
          <a:xfrm>
            <a:off x="4953029" y="1975389"/>
            <a:ext cx="3031873" cy="1754327"/>
            <a:chOff x="4176003" y="3688280"/>
            <a:chExt cx="3839993" cy="1754327"/>
          </a:xfrm>
          <a:effectLst>
            <a:outerShdw blurRad="50800" dist="38100" dir="2700000" algn="tl" rotWithShape="0">
              <a:prstClr val="black">
                <a:alpha val="40000"/>
              </a:prstClr>
            </a:outerShdw>
          </a:effectLst>
        </p:grpSpPr>
        <p:sp>
          <p:nvSpPr>
            <p:cNvPr id="12" name="TextBox 11">
              <a:extLst>
                <a:ext uri="{FF2B5EF4-FFF2-40B4-BE49-F238E27FC236}">
                  <a16:creationId xmlns:a16="http://schemas.microsoft.com/office/drawing/2014/main" id="{7E452549-48B9-0BB6-BC4D-2E8AD5F13B4F}"/>
                </a:ext>
              </a:extLst>
            </p:cNvPr>
            <p:cNvSpPr txBox="1"/>
            <p:nvPr/>
          </p:nvSpPr>
          <p:spPr>
            <a:xfrm>
              <a:off x="4176003" y="4057612"/>
              <a:ext cx="3839993" cy="1384995"/>
            </a:xfrm>
            <a:prstGeom prst="rect">
              <a:avLst/>
            </a:prstGeom>
            <a:solidFill>
              <a:schemeClr val="tx1">
                <a:lumMod val="75000"/>
                <a:lumOff val="25000"/>
              </a:schemeClr>
            </a:solidFill>
            <a:ln>
              <a:solidFill>
                <a:schemeClr val="accent1">
                  <a:shade val="15000"/>
                </a:schemeClr>
              </a:solidFill>
            </a:ln>
          </p:spPr>
          <p:txBody>
            <a:bodyPr wrap="square">
              <a:spAutoFit/>
            </a:bodyPr>
            <a:lstStyle/>
            <a:p>
              <a:pPr>
                <a:buNone/>
              </a:pPr>
              <a:r>
                <a:rPr lang="en-US" sz="1400" b="0">
                  <a:solidFill>
                    <a:srgbClr val="C586C0"/>
                  </a:solidFill>
                  <a:effectLst/>
                  <a:latin typeface="Consolas" panose="020B0609020204030204" pitchFamily="49" charset="0"/>
                </a:rPr>
                <a:t>#include</a:t>
              </a:r>
              <a:r>
                <a:rPr lang="en-US" sz="1400" b="0">
                  <a:solidFill>
                    <a:srgbClr val="569CD6"/>
                  </a:solidFill>
                  <a:effectLst/>
                  <a:latin typeface="Consolas" panose="020B0609020204030204" pitchFamily="49" charset="0"/>
                </a:rPr>
                <a:t> </a:t>
              </a:r>
              <a:r>
                <a:rPr lang="en-US" sz="1400" b="0">
                  <a:solidFill>
                    <a:srgbClr val="CE9178"/>
                  </a:solidFill>
                  <a:effectLst/>
                  <a:latin typeface="Consolas" panose="020B0609020204030204" pitchFamily="49" charset="0"/>
                </a:rPr>
                <a:t>"math.h"</a:t>
              </a:r>
              <a:endParaRPr lang="en-US" sz="1400" b="0">
                <a:solidFill>
                  <a:srgbClr val="CCCCCC"/>
                </a:solidFill>
                <a:effectLst/>
                <a:latin typeface="Consolas" panose="020B0609020204030204" pitchFamily="49" charset="0"/>
              </a:endParaRPr>
            </a:p>
            <a:p>
              <a:pPr>
                <a:buNone/>
              </a:pPr>
              <a:endParaRPr lang="en-US" sz="1400" b="0">
                <a:solidFill>
                  <a:srgbClr val="CCCCCC"/>
                </a:solidFill>
                <a:effectLst/>
                <a:latin typeface="Consolas" panose="020B0609020204030204" pitchFamily="49" charset="0"/>
              </a:endParaRPr>
            </a:p>
            <a:p>
              <a:pPr>
                <a:buNone/>
              </a:pP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function</a:t>
              </a:r>
              <a:r>
                <a:rPr lang="en-US" sz="1400" b="0">
                  <a:solidFill>
                    <a:srgbClr val="CCCCCC"/>
                  </a:solidFill>
                  <a:effectLst/>
                  <a:latin typeface="Consolas" panose="020B0609020204030204" pitchFamily="49" charset="0"/>
                </a:rPr>
                <a:t>(</a:t>
              </a: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9CDCFE"/>
                  </a:solidFill>
                  <a:effectLst/>
                  <a:latin typeface="Consolas" panose="020B0609020204030204" pitchFamily="49" charset="0"/>
                </a:rPr>
                <a:t>a</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    </a:t>
              </a:r>
              <a:r>
                <a:rPr lang="en-US" sz="1400" b="0">
                  <a:solidFill>
                    <a:srgbClr val="C586C0"/>
                  </a:solidFill>
                  <a:effectLst/>
                  <a:latin typeface="Consolas" panose="020B0609020204030204" pitchFamily="49" charset="0"/>
                </a:rPr>
                <a:t>return</a:t>
              </a:r>
              <a:r>
                <a:rPr lang="en-US" sz="1400" b="0">
                  <a:solidFill>
                    <a:srgbClr val="CCCCCC"/>
                  </a:solidFill>
                  <a:effectLst/>
                  <a:latin typeface="Consolas" panose="020B0609020204030204" pitchFamily="49" charset="0"/>
                </a:rPr>
                <a:t> </a:t>
              </a:r>
              <a:r>
                <a:rPr lang="en-US" sz="1400" b="0">
                  <a:solidFill>
                    <a:srgbClr val="9CDCFE"/>
                  </a:solidFill>
                  <a:effectLst/>
                  <a:latin typeface="Consolas" panose="020B0609020204030204" pitchFamily="49" charset="0"/>
                </a:rPr>
                <a:t>a</a:t>
              </a:r>
              <a:r>
                <a:rPr lang="en-US" sz="1400" b="0">
                  <a:solidFill>
                    <a:srgbClr val="CCCCCC"/>
                  </a:solidFill>
                  <a:effectLst/>
                  <a:latin typeface="Consolas" panose="020B0609020204030204" pitchFamily="49" charset="0"/>
                </a:rPr>
                <a:t> </a:t>
              </a:r>
              <a:r>
                <a:rPr lang="en-US" sz="1400" b="0">
                  <a:solidFill>
                    <a:srgbClr val="D4D4D4"/>
                  </a:solidFill>
                  <a:effectLst/>
                  <a:latin typeface="Consolas" panose="020B0609020204030204" pitchFamily="49" charset="0"/>
                </a:rPr>
                <a:t>*</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pi_squared</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p:txBody>
        </p:sp>
        <p:sp>
          <p:nvSpPr>
            <p:cNvPr id="13" name="TextBox 12">
              <a:extLst>
                <a:ext uri="{FF2B5EF4-FFF2-40B4-BE49-F238E27FC236}">
                  <a16:creationId xmlns:a16="http://schemas.microsoft.com/office/drawing/2014/main" id="{F1425389-0CE1-067C-6D12-CC1C2370DB92}"/>
                </a:ext>
              </a:extLst>
            </p:cNvPr>
            <p:cNvSpPr txBox="1"/>
            <p:nvPr/>
          </p:nvSpPr>
          <p:spPr>
            <a:xfrm>
              <a:off x="4176003" y="3688280"/>
              <a:ext cx="3839993" cy="369332"/>
            </a:xfrm>
            <a:prstGeom prst="rect">
              <a:avLst/>
            </a:prstGeom>
            <a:solidFill>
              <a:schemeClr val="bg1"/>
            </a:solidFill>
            <a:ln>
              <a:solidFill>
                <a:schemeClr val="accent1">
                  <a:shade val="15000"/>
                </a:schemeClr>
              </a:solidFill>
            </a:ln>
          </p:spPr>
          <p:txBody>
            <a:bodyPr wrap="none" rtlCol="0">
              <a:noAutofit/>
            </a:bodyPr>
            <a:lstStyle/>
            <a:p>
              <a:r>
                <a:rPr lang="en-GB"/>
                <a:t>functions.c</a:t>
              </a:r>
              <a:endParaRPr lang="LID4096"/>
            </a:p>
          </p:txBody>
        </p:sp>
      </p:grpSp>
      <p:grpSp>
        <p:nvGrpSpPr>
          <p:cNvPr id="22" name="Group 21">
            <a:extLst>
              <a:ext uri="{FF2B5EF4-FFF2-40B4-BE49-F238E27FC236}">
                <a16:creationId xmlns:a16="http://schemas.microsoft.com/office/drawing/2014/main" id="{45F63121-4273-1C87-99B2-85DC4BF457BA}"/>
              </a:ext>
            </a:extLst>
          </p:cNvPr>
          <p:cNvGrpSpPr/>
          <p:nvPr/>
        </p:nvGrpSpPr>
        <p:grpSpPr>
          <a:xfrm>
            <a:off x="8185625" y="1975389"/>
            <a:ext cx="2597920" cy="1538883"/>
            <a:chOff x="8190283" y="3688280"/>
            <a:chExt cx="3839994" cy="1538883"/>
          </a:xfrm>
          <a:effectLst>
            <a:outerShdw blurRad="50800" dist="38100" dir="2700000" algn="tl" rotWithShape="0">
              <a:prstClr val="black">
                <a:alpha val="40000"/>
              </a:prstClr>
            </a:outerShdw>
          </a:effectLst>
        </p:grpSpPr>
        <p:sp>
          <p:nvSpPr>
            <p:cNvPr id="14" name="TextBox 13">
              <a:extLst>
                <a:ext uri="{FF2B5EF4-FFF2-40B4-BE49-F238E27FC236}">
                  <a16:creationId xmlns:a16="http://schemas.microsoft.com/office/drawing/2014/main" id="{D922EEB4-51AD-B155-2952-EFC01AC32C77}"/>
                </a:ext>
              </a:extLst>
            </p:cNvPr>
            <p:cNvSpPr txBox="1"/>
            <p:nvPr/>
          </p:nvSpPr>
          <p:spPr>
            <a:xfrm>
              <a:off x="8190284" y="4057612"/>
              <a:ext cx="3839993" cy="1169551"/>
            </a:xfrm>
            <a:prstGeom prst="rect">
              <a:avLst/>
            </a:prstGeom>
            <a:solidFill>
              <a:schemeClr val="tx1">
                <a:lumMod val="75000"/>
                <a:lumOff val="25000"/>
              </a:schemeClr>
            </a:solidFill>
            <a:ln>
              <a:solidFill>
                <a:schemeClr val="accent1">
                  <a:shade val="15000"/>
                </a:schemeClr>
              </a:solidFill>
            </a:ln>
          </p:spPr>
          <p:txBody>
            <a:bodyPr wrap="square">
              <a:spAutoFit/>
            </a:bodyPr>
            <a:lstStyle/>
            <a:p>
              <a:pPr>
                <a:buNone/>
              </a:pPr>
              <a:r>
                <a:rPr lang="en-US" sz="1400" b="0">
                  <a:solidFill>
                    <a:srgbClr val="C586C0"/>
                  </a:solidFill>
                  <a:effectLst/>
                  <a:latin typeface="Consolas" panose="020B0609020204030204" pitchFamily="49" charset="0"/>
                </a:rPr>
                <a:t>#define</a:t>
              </a:r>
              <a:r>
                <a:rPr lang="en-US" sz="1400" b="0">
                  <a:solidFill>
                    <a:srgbClr val="569CD6"/>
                  </a:solidFill>
                  <a:effectLst/>
                  <a:latin typeface="Consolas" panose="020B0609020204030204" pitchFamily="49" charset="0"/>
                </a:rPr>
                <a:t> PI </a:t>
              </a:r>
              <a:r>
                <a:rPr lang="en-US" sz="1400" b="0">
                  <a:solidFill>
                    <a:srgbClr val="B5CEA8"/>
                  </a:solidFill>
                  <a:effectLst/>
                  <a:latin typeface="Consolas" panose="020B0609020204030204" pitchFamily="49" charset="0"/>
                </a:rPr>
                <a:t>3.14</a:t>
              </a:r>
              <a:endParaRPr lang="en-US" sz="1400" b="0">
                <a:solidFill>
                  <a:srgbClr val="CCCCCC"/>
                </a:solidFill>
                <a:effectLst/>
                <a:latin typeface="Consolas" panose="020B0609020204030204" pitchFamily="49" charset="0"/>
              </a:endParaRPr>
            </a:p>
            <a:p>
              <a:pPr>
                <a:buNone/>
              </a:pP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pi_squared</a:t>
              </a:r>
              <a:r>
                <a:rPr lang="en-US" sz="1400" b="0">
                  <a:solidFill>
                    <a:srgbClr val="CCCCCC"/>
                  </a:solidFill>
                  <a:effectLst/>
                  <a:latin typeface="Consolas" panose="020B0609020204030204" pitchFamily="49" charset="0"/>
                </a:rPr>
                <a:t>(</a:t>
              </a:r>
              <a:r>
                <a:rPr lang="en-US" sz="1400" b="0">
                  <a:solidFill>
                    <a:srgbClr val="569CD6"/>
                  </a:solidFill>
                  <a:effectLst/>
                  <a:latin typeface="Consolas" panose="020B0609020204030204" pitchFamily="49" charset="0"/>
                </a:rPr>
                <a:t>void</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    </a:t>
              </a:r>
              <a:r>
                <a:rPr lang="en-US" sz="1400" b="0">
                  <a:solidFill>
                    <a:srgbClr val="C586C0"/>
                  </a:solidFill>
                  <a:effectLst/>
                  <a:latin typeface="Consolas" panose="020B0609020204030204" pitchFamily="49" charset="0"/>
                </a:rPr>
                <a:t>return</a:t>
              </a:r>
              <a:r>
                <a:rPr lang="en-US" sz="1400" b="0">
                  <a:solidFill>
                    <a:srgbClr val="CCCCCC"/>
                  </a:solidFill>
                  <a:effectLst/>
                  <a:latin typeface="Consolas" panose="020B0609020204030204" pitchFamily="49" charset="0"/>
                </a:rPr>
                <a:t> </a:t>
              </a:r>
              <a:r>
                <a:rPr lang="en-US" sz="1400" b="0">
                  <a:solidFill>
                    <a:srgbClr val="569CD6"/>
                  </a:solidFill>
                  <a:effectLst/>
                  <a:latin typeface="Consolas" panose="020B0609020204030204" pitchFamily="49" charset="0"/>
                </a:rPr>
                <a:t>PI</a:t>
              </a:r>
              <a:r>
                <a:rPr lang="en-US" sz="1400" b="0">
                  <a:solidFill>
                    <a:srgbClr val="CCCCCC"/>
                  </a:solidFill>
                  <a:effectLst/>
                  <a:latin typeface="Consolas" panose="020B0609020204030204" pitchFamily="49" charset="0"/>
                </a:rPr>
                <a:t> </a:t>
              </a:r>
              <a:r>
                <a:rPr lang="en-US" sz="1400" b="0">
                  <a:solidFill>
                    <a:srgbClr val="D4D4D4"/>
                  </a:solidFill>
                  <a:effectLst/>
                  <a:latin typeface="Consolas" panose="020B0609020204030204" pitchFamily="49" charset="0"/>
                </a:rPr>
                <a:t>*</a:t>
              </a:r>
              <a:r>
                <a:rPr lang="en-US" sz="1400" b="0">
                  <a:solidFill>
                    <a:srgbClr val="CCCCCC"/>
                  </a:solidFill>
                  <a:effectLst/>
                  <a:latin typeface="Consolas" panose="020B0609020204030204" pitchFamily="49" charset="0"/>
                </a:rPr>
                <a:t> </a:t>
              </a:r>
              <a:r>
                <a:rPr lang="en-US" sz="1400" b="0">
                  <a:solidFill>
                    <a:srgbClr val="569CD6"/>
                  </a:solidFill>
                  <a:effectLst/>
                  <a:latin typeface="Consolas" panose="020B0609020204030204" pitchFamily="49" charset="0"/>
                </a:rPr>
                <a:t>PI</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   </a:t>
              </a:r>
            </a:p>
          </p:txBody>
        </p:sp>
        <p:sp>
          <p:nvSpPr>
            <p:cNvPr id="15" name="TextBox 14">
              <a:extLst>
                <a:ext uri="{FF2B5EF4-FFF2-40B4-BE49-F238E27FC236}">
                  <a16:creationId xmlns:a16="http://schemas.microsoft.com/office/drawing/2014/main" id="{7910FB2C-1A3F-576C-89F3-EF962433A86B}"/>
                </a:ext>
              </a:extLst>
            </p:cNvPr>
            <p:cNvSpPr txBox="1"/>
            <p:nvPr/>
          </p:nvSpPr>
          <p:spPr>
            <a:xfrm>
              <a:off x="8190283" y="3688280"/>
              <a:ext cx="3839993" cy="369332"/>
            </a:xfrm>
            <a:prstGeom prst="rect">
              <a:avLst/>
            </a:prstGeom>
            <a:solidFill>
              <a:schemeClr val="bg1"/>
            </a:solidFill>
            <a:ln>
              <a:solidFill>
                <a:schemeClr val="accent1">
                  <a:shade val="15000"/>
                </a:schemeClr>
              </a:solidFill>
            </a:ln>
          </p:spPr>
          <p:txBody>
            <a:bodyPr wrap="none" rtlCol="0">
              <a:noAutofit/>
            </a:bodyPr>
            <a:lstStyle/>
            <a:p>
              <a:r>
                <a:rPr lang="en-GB"/>
                <a:t>math.c</a:t>
              </a:r>
              <a:endParaRPr lang="LID4096"/>
            </a:p>
          </p:txBody>
        </p:sp>
      </p:grpSp>
      <p:grpSp>
        <p:nvGrpSpPr>
          <p:cNvPr id="24" name="Group 23">
            <a:extLst>
              <a:ext uri="{FF2B5EF4-FFF2-40B4-BE49-F238E27FC236}">
                <a16:creationId xmlns:a16="http://schemas.microsoft.com/office/drawing/2014/main" id="{52E8B790-8523-B7C2-6237-D9837EA33ADB}"/>
              </a:ext>
            </a:extLst>
          </p:cNvPr>
          <p:cNvGrpSpPr/>
          <p:nvPr/>
        </p:nvGrpSpPr>
        <p:grpSpPr>
          <a:xfrm>
            <a:off x="8185625" y="1152835"/>
            <a:ext cx="2597919" cy="677109"/>
            <a:chOff x="8190283" y="2378731"/>
            <a:chExt cx="3839993" cy="677109"/>
          </a:xfrm>
          <a:effectLst>
            <a:outerShdw blurRad="50800" dist="38100" dir="2700000" algn="tl" rotWithShape="0">
              <a:prstClr val="black">
                <a:alpha val="40000"/>
              </a:prstClr>
            </a:outerShdw>
          </a:effectLst>
        </p:grpSpPr>
        <p:sp>
          <p:nvSpPr>
            <p:cNvPr id="16" name="TextBox 15">
              <a:extLst>
                <a:ext uri="{FF2B5EF4-FFF2-40B4-BE49-F238E27FC236}">
                  <a16:creationId xmlns:a16="http://schemas.microsoft.com/office/drawing/2014/main" id="{7D13CF66-25B0-E6B2-9896-D61B5709A317}"/>
                </a:ext>
              </a:extLst>
            </p:cNvPr>
            <p:cNvSpPr txBox="1"/>
            <p:nvPr/>
          </p:nvSpPr>
          <p:spPr>
            <a:xfrm>
              <a:off x="8190283" y="2748063"/>
              <a:ext cx="3839993" cy="307777"/>
            </a:xfrm>
            <a:prstGeom prst="rect">
              <a:avLst/>
            </a:prstGeom>
            <a:solidFill>
              <a:schemeClr val="tx1">
                <a:lumMod val="75000"/>
                <a:lumOff val="25000"/>
              </a:schemeClr>
            </a:solidFill>
            <a:ln>
              <a:solidFill>
                <a:schemeClr val="accent1">
                  <a:shade val="15000"/>
                </a:schemeClr>
              </a:solidFill>
            </a:ln>
          </p:spPr>
          <p:txBody>
            <a:bodyPr wrap="square">
              <a:spAutoFit/>
            </a:bodyPr>
            <a:lstStyle/>
            <a:p>
              <a:pPr>
                <a:buNone/>
              </a:pPr>
              <a:r>
                <a:rPr lang="en-GB" sz="1400" b="0">
                  <a:solidFill>
                    <a:srgbClr val="569CD6"/>
                  </a:solidFill>
                  <a:effectLst/>
                  <a:latin typeface="Consolas" panose="020B0609020204030204" pitchFamily="49" charset="0"/>
                </a:rPr>
                <a:t>float</a:t>
              </a:r>
              <a:r>
                <a:rPr lang="en-GB" sz="1400" b="0">
                  <a:solidFill>
                    <a:srgbClr val="CCCCCC"/>
                  </a:solidFill>
                  <a:effectLst/>
                  <a:latin typeface="Consolas" panose="020B0609020204030204" pitchFamily="49" charset="0"/>
                </a:rPr>
                <a:t> </a:t>
              </a:r>
              <a:r>
                <a:rPr lang="en-GB" sz="1400" b="0">
                  <a:solidFill>
                    <a:srgbClr val="DCDCAA"/>
                  </a:solidFill>
                  <a:effectLst/>
                  <a:latin typeface="Consolas" panose="020B0609020204030204" pitchFamily="49" charset="0"/>
                </a:rPr>
                <a:t>pi_squared</a:t>
              </a:r>
              <a:r>
                <a:rPr lang="en-GB" sz="1400" b="0">
                  <a:solidFill>
                    <a:srgbClr val="CCCCCC"/>
                  </a:solidFill>
                  <a:effectLst/>
                  <a:latin typeface="Consolas" panose="020B0609020204030204" pitchFamily="49" charset="0"/>
                </a:rPr>
                <a:t>(); </a:t>
              </a:r>
            </a:p>
          </p:txBody>
        </p:sp>
        <p:sp>
          <p:nvSpPr>
            <p:cNvPr id="17" name="TextBox 16">
              <a:extLst>
                <a:ext uri="{FF2B5EF4-FFF2-40B4-BE49-F238E27FC236}">
                  <a16:creationId xmlns:a16="http://schemas.microsoft.com/office/drawing/2014/main" id="{1E828A60-55E1-1B9F-6ACE-683C8FF414D8}"/>
                </a:ext>
              </a:extLst>
            </p:cNvPr>
            <p:cNvSpPr txBox="1"/>
            <p:nvPr/>
          </p:nvSpPr>
          <p:spPr>
            <a:xfrm>
              <a:off x="8190283" y="2378731"/>
              <a:ext cx="3839993" cy="369332"/>
            </a:xfrm>
            <a:prstGeom prst="rect">
              <a:avLst/>
            </a:prstGeom>
            <a:solidFill>
              <a:schemeClr val="bg1"/>
            </a:solidFill>
            <a:ln>
              <a:solidFill>
                <a:schemeClr val="accent1">
                  <a:shade val="15000"/>
                </a:schemeClr>
              </a:solidFill>
            </a:ln>
          </p:spPr>
          <p:txBody>
            <a:bodyPr wrap="none" rtlCol="0">
              <a:noAutofit/>
            </a:bodyPr>
            <a:lstStyle/>
            <a:p>
              <a:r>
                <a:rPr lang="en-GB"/>
                <a:t>math.h</a:t>
              </a:r>
              <a:endParaRPr lang="LID4096"/>
            </a:p>
          </p:txBody>
        </p:sp>
      </p:grpSp>
      <p:grpSp>
        <p:nvGrpSpPr>
          <p:cNvPr id="23" name="Group 22">
            <a:extLst>
              <a:ext uri="{FF2B5EF4-FFF2-40B4-BE49-F238E27FC236}">
                <a16:creationId xmlns:a16="http://schemas.microsoft.com/office/drawing/2014/main" id="{58F81FCB-B679-7043-A252-4BE42C22E0D1}"/>
              </a:ext>
            </a:extLst>
          </p:cNvPr>
          <p:cNvGrpSpPr/>
          <p:nvPr/>
        </p:nvGrpSpPr>
        <p:grpSpPr>
          <a:xfrm>
            <a:off x="4953029" y="1152835"/>
            <a:ext cx="3031873" cy="677109"/>
            <a:chOff x="4176003" y="2395618"/>
            <a:chExt cx="3839993" cy="677109"/>
          </a:xfrm>
          <a:effectLst>
            <a:outerShdw blurRad="50800" dist="38100" dir="2700000" algn="tl" rotWithShape="0">
              <a:prstClr val="black">
                <a:alpha val="40000"/>
              </a:prstClr>
            </a:outerShdw>
          </a:effectLst>
        </p:grpSpPr>
        <p:sp>
          <p:nvSpPr>
            <p:cNvPr id="18" name="TextBox 17">
              <a:extLst>
                <a:ext uri="{FF2B5EF4-FFF2-40B4-BE49-F238E27FC236}">
                  <a16:creationId xmlns:a16="http://schemas.microsoft.com/office/drawing/2014/main" id="{284F3CF4-8E44-BE43-607E-5E7C2B9CDDF9}"/>
                </a:ext>
              </a:extLst>
            </p:cNvPr>
            <p:cNvSpPr txBox="1"/>
            <p:nvPr/>
          </p:nvSpPr>
          <p:spPr>
            <a:xfrm>
              <a:off x="4176003" y="2764950"/>
              <a:ext cx="3839993" cy="307777"/>
            </a:xfrm>
            <a:prstGeom prst="rect">
              <a:avLst/>
            </a:prstGeom>
            <a:solidFill>
              <a:schemeClr val="tx1">
                <a:lumMod val="75000"/>
                <a:lumOff val="25000"/>
              </a:schemeClr>
            </a:solidFill>
            <a:ln>
              <a:solidFill>
                <a:schemeClr val="accent1">
                  <a:shade val="15000"/>
                </a:schemeClr>
              </a:solidFill>
            </a:ln>
          </p:spPr>
          <p:txBody>
            <a:bodyPr wrap="square">
              <a:spAutoFit/>
            </a:bodyPr>
            <a:lstStyle/>
            <a:p>
              <a:pPr>
                <a:buNone/>
              </a:pPr>
              <a:r>
                <a:rPr lang="en-GB" sz="1400" b="0">
                  <a:solidFill>
                    <a:srgbClr val="569CD6"/>
                  </a:solidFill>
                  <a:effectLst/>
                  <a:latin typeface="Consolas" panose="020B0609020204030204" pitchFamily="49" charset="0"/>
                </a:rPr>
                <a:t>float</a:t>
              </a:r>
              <a:r>
                <a:rPr lang="en-GB" sz="1400" b="0">
                  <a:solidFill>
                    <a:srgbClr val="CCCCCC"/>
                  </a:solidFill>
                  <a:effectLst/>
                  <a:latin typeface="Consolas" panose="020B0609020204030204" pitchFamily="49" charset="0"/>
                </a:rPr>
                <a:t> </a:t>
              </a:r>
              <a:r>
                <a:rPr lang="en-GB" sz="1400" b="0">
                  <a:solidFill>
                    <a:srgbClr val="DCDCAA"/>
                  </a:solidFill>
                  <a:effectLst/>
                  <a:latin typeface="Consolas" panose="020B0609020204030204" pitchFamily="49" charset="0"/>
                </a:rPr>
                <a:t>function</a:t>
              </a:r>
              <a:r>
                <a:rPr lang="en-GB" sz="1400" b="0">
                  <a:solidFill>
                    <a:srgbClr val="CCCCCC"/>
                  </a:solidFill>
                  <a:effectLst/>
                  <a:latin typeface="Consolas" panose="020B0609020204030204" pitchFamily="49" charset="0"/>
                </a:rPr>
                <a:t>(</a:t>
              </a:r>
              <a:r>
                <a:rPr lang="en-GB" sz="1400" b="0">
                  <a:solidFill>
                    <a:srgbClr val="569CD6"/>
                  </a:solidFill>
                  <a:effectLst/>
                  <a:latin typeface="Consolas" panose="020B0609020204030204" pitchFamily="49" charset="0"/>
                </a:rPr>
                <a:t>float</a:t>
              </a:r>
              <a:r>
                <a:rPr lang="en-GB" sz="1400" b="0">
                  <a:solidFill>
                    <a:srgbClr val="CCCCCC"/>
                  </a:solidFill>
                  <a:effectLst/>
                  <a:latin typeface="Consolas" panose="020B0609020204030204" pitchFamily="49" charset="0"/>
                </a:rPr>
                <a:t> </a:t>
              </a:r>
              <a:r>
                <a:rPr lang="en-GB" sz="1400" b="0">
                  <a:solidFill>
                    <a:srgbClr val="9CDCFE"/>
                  </a:solidFill>
                  <a:effectLst/>
                  <a:latin typeface="Consolas" panose="020B0609020204030204" pitchFamily="49" charset="0"/>
                </a:rPr>
                <a:t>a</a:t>
              </a:r>
              <a:r>
                <a:rPr lang="en-GB" sz="1400" b="0">
                  <a:solidFill>
                    <a:srgbClr val="CCCCCC"/>
                  </a:solidFill>
                  <a:effectLst/>
                  <a:latin typeface="Consolas" panose="020B0609020204030204" pitchFamily="49" charset="0"/>
                </a:rPr>
                <a:t>);</a:t>
              </a:r>
            </a:p>
          </p:txBody>
        </p:sp>
        <p:sp>
          <p:nvSpPr>
            <p:cNvPr id="19" name="TextBox 18">
              <a:extLst>
                <a:ext uri="{FF2B5EF4-FFF2-40B4-BE49-F238E27FC236}">
                  <a16:creationId xmlns:a16="http://schemas.microsoft.com/office/drawing/2014/main" id="{A6AE6255-713E-68BD-C100-16810359C009}"/>
                </a:ext>
              </a:extLst>
            </p:cNvPr>
            <p:cNvSpPr txBox="1"/>
            <p:nvPr/>
          </p:nvSpPr>
          <p:spPr>
            <a:xfrm>
              <a:off x="4176003" y="2395618"/>
              <a:ext cx="3839993" cy="369332"/>
            </a:xfrm>
            <a:prstGeom prst="rect">
              <a:avLst/>
            </a:prstGeom>
            <a:solidFill>
              <a:schemeClr val="bg1"/>
            </a:solidFill>
            <a:ln>
              <a:solidFill>
                <a:schemeClr val="accent1">
                  <a:shade val="15000"/>
                </a:schemeClr>
              </a:solidFill>
            </a:ln>
          </p:spPr>
          <p:txBody>
            <a:bodyPr wrap="none" rtlCol="0">
              <a:noAutofit/>
            </a:bodyPr>
            <a:lstStyle/>
            <a:p>
              <a:r>
                <a:rPr lang="en-GB"/>
                <a:t>functions.h</a:t>
              </a:r>
              <a:endParaRPr lang="LID4096"/>
            </a:p>
          </p:txBody>
        </p:sp>
      </p:grpSp>
    </p:spTree>
    <p:extLst>
      <p:ext uri="{BB962C8B-B14F-4D97-AF65-F5344CB8AC3E}">
        <p14:creationId xmlns:p14="http://schemas.microsoft.com/office/powerpoint/2010/main" val="37594107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E0515-86FC-FAF9-0521-EAC0D8B16B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A6956C-DF3A-E140-44C0-884D4768E771}"/>
              </a:ext>
            </a:extLst>
          </p:cNvPr>
          <p:cNvSpPr>
            <a:spLocks noGrp="1"/>
          </p:cNvSpPr>
          <p:nvPr>
            <p:ph type="title"/>
          </p:nvPr>
        </p:nvSpPr>
        <p:spPr/>
        <p:txBody>
          <a:bodyPr/>
          <a:lstStyle/>
          <a:p>
            <a:r>
              <a:rPr lang="en-GB"/>
              <a:t>Kompilering – </a:t>
            </a:r>
            <a:br>
              <a:rPr lang="en-GB"/>
            </a:br>
            <a:r>
              <a:rPr lang="en-GB"/>
              <a:t>Preprocessorn</a:t>
            </a:r>
            <a:endParaRPr lang="LID4096"/>
          </a:p>
        </p:txBody>
      </p:sp>
      <p:grpSp>
        <p:nvGrpSpPr>
          <p:cNvPr id="34" name="Group 33">
            <a:extLst>
              <a:ext uri="{FF2B5EF4-FFF2-40B4-BE49-F238E27FC236}">
                <a16:creationId xmlns:a16="http://schemas.microsoft.com/office/drawing/2014/main" id="{8B8BC25B-E5E4-D585-F94B-BDB78A903BB0}"/>
              </a:ext>
            </a:extLst>
          </p:cNvPr>
          <p:cNvGrpSpPr/>
          <p:nvPr/>
        </p:nvGrpSpPr>
        <p:grpSpPr>
          <a:xfrm>
            <a:off x="1659966" y="1975389"/>
            <a:ext cx="3092340" cy="1754327"/>
            <a:chOff x="161722" y="3688280"/>
            <a:chExt cx="3839993" cy="1754327"/>
          </a:xfrm>
          <a:effectLst>
            <a:outerShdw blurRad="50800" dist="38100" dir="2700000" algn="tl" rotWithShape="0">
              <a:prstClr val="black">
                <a:alpha val="40000"/>
              </a:prstClr>
            </a:outerShdw>
          </a:effectLst>
        </p:grpSpPr>
        <p:sp>
          <p:nvSpPr>
            <p:cNvPr id="35" name="TextBox 34">
              <a:extLst>
                <a:ext uri="{FF2B5EF4-FFF2-40B4-BE49-F238E27FC236}">
                  <a16:creationId xmlns:a16="http://schemas.microsoft.com/office/drawing/2014/main" id="{498F3E59-2B7F-B4AC-0E17-91205B767164}"/>
                </a:ext>
              </a:extLst>
            </p:cNvPr>
            <p:cNvSpPr txBox="1"/>
            <p:nvPr/>
          </p:nvSpPr>
          <p:spPr>
            <a:xfrm>
              <a:off x="161722" y="4057612"/>
              <a:ext cx="3839993" cy="1384995"/>
            </a:xfrm>
            <a:prstGeom prst="rect">
              <a:avLst/>
            </a:prstGeom>
            <a:solidFill>
              <a:schemeClr val="tx1">
                <a:lumMod val="75000"/>
                <a:lumOff val="25000"/>
              </a:schemeClr>
            </a:solidFill>
            <a:ln>
              <a:solidFill>
                <a:schemeClr val="accent1">
                  <a:shade val="15000"/>
                </a:schemeClr>
              </a:solidFill>
            </a:ln>
          </p:spPr>
          <p:txBody>
            <a:bodyPr wrap="square">
              <a:spAutoFit/>
            </a:bodyPr>
            <a:lstStyle/>
            <a:p>
              <a:pPr>
                <a:buNone/>
              </a:pPr>
              <a:r>
                <a:rPr lang="en-US" sz="1400" b="1">
                  <a:solidFill>
                    <a:srgbClr val="C586C0"/>
                  </a:solidFill>
                  <a:effectLst/>
                  <a:latin typeface="Consolas" panose="020B0609020204030204" pitchFamily="49" charset="0"/>
                </a:rPr>
                <a:t>#include</a:t>
              </a:r>
              <a:r>
                <a:rPr lang="en-US" sz="1400" b="1">
                  <a:solidFill>
                    <a:srgbClr val="569CD6"/>
                  </a:solidFill>
                  <a:effectLst/>
                  <a:latin typeface="Consolas" panose="020B0609020204030204" pitchFamily="49" charset="0"/>
                </a:rPr>
                <a:t> </a:t>
              </a:r>
              <a:r>
                <a:rPr lang="en-US" sz="1400" b="1">
                  <a:solidFill>
                    <a:srgbClr val="CE9178"/>
                  </a:solidFill>
                  <a:effectLst/>
                  <a:latin typeface="Consolas" panose="020B0609020204030204" pitchFamily="49" charset="0"/>
                </a:rPr>
                <a:t>"functions.h"</a:t>
              </a:r>
              <a:endParaRPr lang="en-US" sz="1400" b="1">
                <a:solidFill>
                  <a:srgbClr val="CCCCCC"/>
                </a:solidFill>
                <a:effectLst/>
                <a:latin typeface="Consolas" panose="020B0609020204030204" pitchFamily="49" charset="0"/>
              </a:endParaRPr>
            </a:p>
            <a:p>
              <a:pPr>
                <a:buNone/>
              </a:pPr>
              <a:endParaRPr lang="en-US" sz="1400" b="0">
                <a:solidFill>
                  <a:srgbClr val="CCCCCC"/>
                </a:solidFill>
                <a:effectLst/>
                <a:latin typeface="Consolas" panose="020B0609020204030204" pitchFamily="49" charset="0"/>
              </a:endParaRPr>
            </a:p>
            <a:p>
              <a:pPr>
                <a:buNone/>
              </a:pPr>
              <a:r>
                <a:rPr lang="en-US" sz="1400" b="0">
                  <a:solidFill>
                    <a:srgbClr val="569CD6"/>
                  </a:solidFill>
                  <a:effectLst/>
                  <a:latin typeface="Consolas" panose="020B0609020204030204" pitchFamily="49" charset="0"/>
                </a:rPr>
                <a:t>void</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main</a:t>
              </a:r>
              <a:r>
                <a:rPr lang="en-US" sz="1400" b="0">
                  <a:solidFill>
                    <a:srgbClr val="CCCCCC"/>
                  </a:solidFill>
                  <a:effectLst/>
                  <a:latin typeface="Consolas" panose="020B0609020204030204" pitchFamily="49" charset="0"/>
                </a:rPr>
                <a:t>(</a:t>
              </a:r>
              <a:r>
                <a:rPr lang="en-US" sz="1400" b="0">
                  <a:solidFill>
                    <a:srgbClr val="569CD6"/>
                  </a:solidFill>
                  <a:effectLst/>
                  <a:latin typeface="Consolas" panose="020B0609020204030204" pitchFamily="49" charset="0"/>
                </a:rPr>
                <a:t>void</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    </a:t>
              </a: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9CDCFE"/>
                  </a:solidFill>
                  <a:effectLst/>
                  <a:latin typeface="Consolas" panose="020B0609020204030204" pitchFamily="49" charset="0"/>
                </a:rPr>
                <a:t>a</a:t>
              </a:r>
              <a:r>
                <a:rPr lang="en-US" sz="1400" b="0">
                  <a:solidFill>
                    <a:srgbClr val="CCCCCC"/>
                  </a:solidFill>
                  <a:effectLst/>
                  <a:latin typeface="Consolas" panose="020B0609020204030204" pitchFamily="49" charset="0"/>
                </a:rPr>
                <a:t> </a:t>
              </a:r>
              <a:r>
                <a:rPr lang="en-US" sz="1400" b="0">
                  <a:solidFill>
                    <a:srgbClr val="D4D4D4"/>
                  </a:solidFill>
                  <a:effectLst/>
                  <a:latin typeface="Consolas" panose="020B0609020204030204" pitchFamily="49" charset="0"/>
                </a:rPr>
                <a:t>=</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function</a:t>
              </a:r>
              <a:r>
                <a:rPr lang="en-US" sz="1400" b="0">
                  <a:solidFill>
                    <a:srgbClr val="CCCCCC"/>
                  </a:solidFill>
                  <a:effectLst/>
                  <a:latin typeface="Consolas" panose="020B0609020204030204" pitchFamily="49" charset="0"/>
                </a:rPr>
                <a:t>(</a:t>
              </a:r>
              <a:r>
                <a:rPr lang="en-US" sz="1400" b="0">
                  <a:solidFill>
                    <a:srgbClr val="B5CEA8"/>
                  </a:solidFill>
                  <a:effectLst/>
                  <a:latin typeface="Consolas" panose="020B0609020204030204" pitchFamily="49" charset="0"/>
                </a:rPr>
                <a:t>2.0f</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p:txBody>
        </p:sp>
        <p:sp>
          <p:nvSpPr>
            <p:cNvPr id="36" name="TextBox 35">
              <a:extLst>
                <a:ext uri="{FF2B5EF4-FFF2-40B4-BE49-F238E27FC236}">
                  <a16:creationId xmlns:a16="http://schemas.microsoft.com/office/drawing/2014/main" id="{F8FE5C5C-0AB2-A4F8-DB78-1EE014663C89}"/>
                </a:ext>
              </a:extLst>
            </p:cNvPr>
            <p:cNvSpPr txBox="1"/>
            <p:nvPr/>
          </p:nvSpPr>
          <p:spPr>
            <a:xfrm>
              <a:off x="161722" y="3688280"/>
              <a:ext cx="3839993" cy="369332"/>
            </a:xfrm>
            <a:prstGeom prst="rect">
              <a:avLst/>
            </a:prstGeom>
            <a:solidFill>
              <a:schemeClr val="bg1"/>
            </a:solidFill>
            <a:ln>
              <a:solidFill>
                <a:schemeClr val="accent1">
                  <a:shade val="15000"/>
                </a:schemeClr>
              </a:solidFill>
            </a:ln>
          </p:spPr>
          <p:txBody>
            <a:bodyPr wrap="none" rtlCol="0">
              <a:noAutofit/>
            </a:bodyPr>
            <a:lstStyle/>
            <a:p>
              <a:r>
                <a:rPr lang="en-GB"/>
                <a:t>main.c</a:t>
              </a:r>
              <a:endParaRPr lang="LID4096"/>
            </a:p>
          </p:txBody>
        </p:sp>
      </p:grpSp>
      <p:grpSp>
        <p:nvGrpSpPr>
          <p:cNvPr id="37" name="Group 36">
            <a:extLst>
              <a:ext uri="{FF2B5EF4-FFF2-40B4-BE49-F238E27FC236}">
                <a16:creationId xmlns:a16="http://schemas.microsoft.com/office/drawing/2014/main" id="{DF54A807-77E7-51A0-976E-D7FED2BC807D}"/>
              </a:ext>
            </a:extLst>
          </p:cNvPr>
          <p:cNvGrpSpPr/>
          <p:nvPr/>
        </p:nvGrpSpPr>
        <p:grpSpPr>
          <a:xfrm>
            <a:off x="4953029" y="1975389"/>
            <a:ext cx="3031873" cy="1754327"/>
            <a:chOff x="4176003" y="3688280"/>
            <a:chExt cx="3839993" cy="1754327"/>
          </a:xfrm>
          <a:effectLst>
            <a:outerShdw blurRad="50800" dist="38100" dir="2700000" algn="tl" rotWithShape="0">
              <a:prstClr val="black">
                <a:alpha val="40000"/>
              </a:prstClr>
            </a:outerShdw>
          </a:effectLst>
        </p:grpSpPr>
        <p:sp>
          <p:nvSpPr>
            <p:cNvPr id="38" name="TextBox 37">
              <a:extLst>
                <a:ext uri="{FF2B5EF4-FFF2-40B4-BE49-F238E27FC236}">
                  <a16:creationId xmlns:a16="http://schemas.microsoft.com/office/drawing/2014/main" id="{7F7B7459-9305-E0A8-B6A9-286DD5B55552}"/>
                </a:ext>
              </a:extLst>
            </p:cNvPr>
            <p:cNvSpPr txBox="1"/>
            <p:nvPr/>
          </p:nvSpPr>
          <p:spPr>
            <a:xfrm>
              <a:off x="4176003" y="4057612"/>
              <a:ext cx="3839993" cy="1384995"/>
            </a:xfrm>
            <a:prstGeom prst="rect">
              <a:avLst/>
            </a:prstGeom>
            <a:solidFill>
              <a:schemeClr val="tx1">
                <a:lumMod val="75000"/>
                <a:lumOff val="25000"/>
              </a:schemeClr>
            </a:solidFill>
            <a:ln>
              <a:solidFill>
                <a:schemeClr val="accent1">
                  <a:shade val="15000"/>
                </a:schemeClr>
              </a:solidFill>
            </a:ln>
          </p:spPr>
          <p:txBody>
            <a:bodyPr wrap="square">
              <a:spAutoFit/>
            </a:bodyPr>
            <a:lstStyle/>
            <a:p>
              <a:pPr>
                <a:buNone/>
              </a:pPr>
              <a:r>
                <a:rPr lang="en-US" sz="1400" b="0">
                  <a:solidFill>
                    <a:srgbClr val="C586C0"/>
                  </a:solidFill>
                  <a:effectLst/>
                  <a:latin typeface="Consolas" panose="020B0609020204030204" pitchFamily="49" charset="0"/>
                </a:rPr>
                <a:t>#include</a:t>
              </a:r>
              <a:r>
                <a:rPr lang="en-US" sz="1400" b="0">
                  <a:solidFill>
                    <a:srgbClr val="569CD6"/>
                  </a:solidFill>
                  <a:effectLst/>
                  <a:latin typeface="Consolas" panose="020B0609020204030204" pitchFamily="49" charset="0"/>
                </a:rPr>
                <a:t> </a:t>
              </a:r>
              <a:r>
                <a:rPr lang="en-US" sz="1400" b="0">
                  <a:solidFill>
                    <a:srgbClr val="CE9178"/>
                  </a:solidFill>
                  <a:effectLst/>
                  <a:latin typeface="Consolas" panose="020B0609020204030204" pitchFamily="49" charset="0"/>
                </a:rPr>
                <a:t>"math.h"</a:t>
              </a:r>
              <a:endParaRPr lang="en-US" sz="1400" b="0">
                <a:solidFill>
                  <a:srgbClr val="CCCCCC"/>
                </a:solidFill>
                <a:effectLst/>
                <a:latin typeface="Consolas" panose="020B0609020204030204" pitchFamily="49" charset="0"/>
              </a:endParaRPr>
            </a:p>
            <a:p>
              <a:pPr>
                <a:buNone/>
              </a:pPr>
              <a:endParaRPr lang="en-US" sz="1400" b="0">
                <a:solidFill>
                  <a:srgbClr val="CCCCCC"/>
                </a:solidFill>
                <a:effectLst/>
                <a:latin typeface="Consolas" panose="020B0609020204030204" pitchFamily="49" charset="0"/>
              </a:endParaRPr>
            </a:p>
            <a:p>
              <a:pPr>
                <a:buNone/>
              </a:pP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function</a:t>
              </a:r>
              <a:r>
                <a:rPr lang="en-US" sz="1400" b="0">
                  <a:solidFill>
                    <a:srgbClr val="CCCCCC"/>
                  </a:solidFill>
                  <a:effectLst/>
                  <a:latin typeface="Consolas" panose="020B0609020204030204" pitchFamily="49" charset="0"/>
                </a:rPr>
                <a:t>(</a:t>
              </a: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9CDCFE"/>
                  </a:solidFill>
                  <a:effectLst/>
                  <a:latin typeface="Consolas" panose="020B0609020204030204" pitchFamily="49" charset="0"/>
                </a:rPr>
                <a:t>a</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    </a:t>
              </a:r>
              <a:r>
                <a:rPr lang="en-US" sz="1400" b="0">
                  <a:solidFill>
                    <a:srgbClr val="C586C0"/>
                  </a:solidFill>
                  <a:effectLst/>
                  <a:latin typeface="Consolas" panose="020B0609020204030204" pitchFamily="49" charset="0"/>
                </a:rPr>
                <a:t>return</a:t>
              </a:r>
              <a:r>
                <a:rPr lang="en-US" sz="1400" b="0">
                  <a:solidFill>
                    <a:srgbClr val="CCCCCC"/>
                  </a:solidFill>
                  <a:effectLst/>
                  <a:latin typeface="Consolas" panose="020B0609020204030204" pitchFamily="49" charset="0"/>
                </a:rPr>
                <a:t> </a:t>
              </a:r>
              <a:r>
                <a:rPr lang="en-US" sz="1400" b="0">
                  <a:solidFill>
                    <a:srgbClr val="9CDCFE"/>
                  </a:solidFill>
                  <a:effectLst/>
                  <a:latin typeface="Consolas" panose="020B0609020204030204" pitchFamily="49" charset="0"/>
                </a:rPr>
                <a:t>a</a:t>
              </a:r>
              <a:r>
                <a:rPr lang="en-US" sz="1400" b="0">
                  <a:solidFill>
                    <a:srgbClr val="CCCCCC"/>
                  </a:solidFill>
                  <a:effectLst/>
                  <a:latin typeface="Consolas" panose="020B0609020204030204" pitchFamily="49" charset="0"/>
                </a:rPr>
                <a:t> </a:t>
              </a:r>
              <a:r>
                <a:rPr lang="en-US" sz="1400" b="0">
                  <a:solidFill>
                    <a:srgbClr val="D4D4D4"/>
                  </a:solidFill>
                  <a:effectLst/>
                  <a:latin typeface="Consolas" panose="020B0609020204030204" pitchFamily="49" charset="0"/>
                </a:rPr>
                <a:t>*</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pi_squared</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p:txBody>
        </p:sp>
        <p:sp>
          <p:nvSpPr>
            <p:cNvPr id="39" name="TextBox 38">
              <a:extLst>
                <a:ext uri="{FF2B5EF4-FFF2-40B4-BE49-F238E27FC236}">
                  <a16:creationId xmlns:a16="http://schemas.microsoft.com/office/drawing/2014/main" id="{5108E1D1-AB08-69B4-C512-369A4FF9D60A}"/>
                </a:ext>
              </a:extLst>
            </p:cNvPr>
            <p:cNvSpPr txBox="1"/>
            <p:nvPr/>
          </p:nvSpPr>
          <p:spPr>
            <a:xfrm>
              <a:off x="4176003" y="3688280"/>
              <a:ext cx="3839993" cy="369332"/>
            </a:xfrm>
            <a:prstGeom prst="rect">
              <a:avLst/>
            </a:prstGeom>
            <a:solidFill>
              <a:schemeClr val="bg1"/>
            </a:solidFill>
            <a:ln>
              <a:solidFill>
                <a:schemeClr val="accent1">
                  <a:shade val="15000"/>
                </a:schemeClr>
              </a:solidFill>
            </a:ln>
          </p:spPr>
          <p:txBody>
            <a:bodyPr wrap="none" rtlCol="0">
              <a:noAutofit/>
            </a:bodyPr>
            <a:lstStyle/>
            <a:p>
              <a:r>
                <a:rPr lang="en-GB"/>
                <a:t>functions.c</a:t>
              </a:r>
              <a:endParaRPr lang="LID4096"/>
            </a:p>
          </p:txBody>
        </p:sp>
      </p:grpSp>
      <p:grpSp>
        <p:nvGrpSpPr>
          <p:cNvPr id="40" name="Group 39">
            <a:extLst>
              <a:ext uri="{FF2B5EF4-FFF2-40B4-BE49-F238E27FC236}">
                <a16:creationId xmlns:a16="http://schemas.microsoft.com/office/drawing/2014/main" id="{72DD731C-5851-E91A-5ECC-2ED365F73A82}"/>
              </a:ext>
            </a:extLst>
          </p:cNvPr>
          <p:cNvGrpSpPr/>
          <p:nvPr/>
        </p:nvGrpSpPr>
        <p:grpSpPr>
          <a:xfrm>
            <a:off x="8185625" y="1975389"/>
            <a:ext cx="2597920" cy="1538883"/>
            <a:chOff x="8190283" y="3688280"/>
            <a:chExt cx="3839994" cy="1538883"/>
          </a:xfrm>
          <a:effectLst>
            <a:outerShdw blurRad="50800" dist="38100" dir="2700000" algn="tl" rotWithShape="0">
              <a:prstClr val="black">
                <a:alpha val="40000"/>
              </a:prstClr>
            </a:outerShdw>
          </a:effectLst>
        </p:grpSpPr>
        <p:sp>
          <p:nvSpPr>
            <p:cNvPr id="41" name="TextBox 40">
              <a:extLst>
                <a:ext uri="{FF2B5EF4-FFF2-40B4-BE49-F238E27FC236}">
                  <a16:creationId xmlns:a16="http://schemas.microsoft.com/office/drawing/2014/main" id="{428F4EEF-EE5A-32CE-648E-B85B68EFCE9C}"/>
                </a:ext>
              </a:extLst>
            </p:cNvPr>
            <p:cNvSpPr txBox="1"/>
            <p:nvPr/>
          </p:nvSpPr>
          <p:spPr>
            <a:xfrm>
              <a:off x="8190284" y="4057612"/>
              <a:ext cx="3839993" cy="1169551"/>
            </a:xfrm>
            <a:prstGeom prst="rect">
              <a:avLst/>
            </a:prstGeom>
            <a:solidFill>
              <a:schemeClr val="tx1">
                <a:lumMod val="75000"/>
                <a:lumOff val="25000"/>
              </a:schemeClr>
            </a:solidFill>
            <a:ln>
              <a:solidFill>
                <a:schemeClr val="accent1">
                  <a:shade val="15000"/>
                </a:schemeClr>
              </a:solidFill>
            </a:ln>
          </p:spPr>
          <p:txBody>
            <a:bodyPr wrap="square">
              <a:spAutoFit/>
            </a:bodyPr>
            <a:lstStyle/>
            <a:p>
              <a:pPr>
                <a:buNone/>
              </a:pPr>
              <a:r>
                <a:rPr lang="en-US" sz="1400" b="0">
                  <a:solidFill>
                    <a:srgbClr val="C586C0"/>
                  </a:solidFill>
                  <a:effectLst/>
                  <a:latin typeface="Consolas" panose="020B0609020204030204" pitchFamily="49" charset="0"/>
                </a:rPr>
                <a:t>#define</a:t>
              </a:r>
              <a:r>
                <a:rPr lang="en-US" sz="1400" b="0">
                  <a:solidFill>
                    <a:srgbClr val="569CD6"/>
                  </a:solidFill>
                  <a:effectLst/>
                  <a:latin typeface="Consolas" panose="020B0609020204030204" pitchFamily="49" charset="0"/>
                </a:rPr>
                <a:t> PI </a:t>
              </a:r>
              <a:r>
                <a:rPr lang="en-US" sz="1400" b="0">
                  <a:solidFill>
                    <a:srgbClr val="B5CEA8"/>
                  </a:solidFill>
                  <a:effectLst/>
                  <a:latin typeface="Consolas" panose="020B0609020204030204" pitchFamily="49" charset="0"/>
                </a:rPr>
                <a:t>3.14</a:t>
              </a:r>
              <a:endParaRPr lang="en-US" sz="1400" b="0">
                <a:solidFill>
                  <a:srgbClr val="CCCCCC"/>
                </a:solidFill>
                <a:effectLst/>
                <a:latin typeface="Consolas" panose="020B0609020204030204" pitchFamily="49" charset="0"/>
              </a:endParaRPr>
            </a:p>
            <a:p>
              <a:pPr>
                <a:buNone/>
              </a:pP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pi_squared</a:t>
              </a:r>
              <a:r>
                <a:rPr lang="en-US" sz="1400" b="0">
                  <a:solidFill>
                    <a:srgbClr val="CCCCCC"/>
                  </a:solidFill>
                  <a:effectLst/>
                  <a:latin typeface="Consolas" panose="020B0609020204030204" pitchFamily="49" charset="0"/>
                </a:rPr>
                <a:t>(</a:t>
              </a:r>
              <a:r>
                <a:rPr lang="en-US" sz="1400" b="0">
                  <a:solidFill>
                    <a:srgbClr val="569CD6"/>
                  </a:solidFill>
                  <a:effectLst/>
                  <a:latin typeface="Consolas" panose="020B0609020204030204" pitchFamily="49" charset="0"/>
                </a:rPr>
                <a:t>void</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    </a:t>
              </a:r>
              <a:r>
                <a:rPr lang="en-US" sz="1400" b="0">
                  <a:solidFill>
                    <a:srgbClr val="C586C0"/>
                  </a:solidFill>
                  <a:effectLst/>
                  <a:latin typeface="Consolas" panose="020B0609020204030204" pitchFamily="49" charset="0"/>
                </a:rPr>
                <a:t>return</a:t>
              </a:r>
              <a:r>
                <a:rPr lang="en-US" sz="1400" b="0">
                  <a:solidFill>
                    <a:srgbClr val="CCCCCC"/>
                  </a:solidFill>
                  <a:effectLst/>
                  <a:latin typeface="Consolas" panose="020B0609020204030204" pitchFamily="49" charset="0"/>
                </a:rPr>
                <a:t> </a:t>
              </a:r>
              <a:r>
                <a:rPr lang="en-US" sz="1400" b="0">
                  <a:solidFill>
                    <a:srgbClr val="569CD6"/>
                  </a:solidFill>
                  <a:effectLst/>
                  <a:latin typeface="Consolas" panose="020B0609020204030204" pitchFamily="49" charset="0"/>
                </a:rPr>
                <a:t>PI</a:t>
              </a:r>
              <a:r>
                <a:rPr lang="en-US" sz="1400" b="0">
                  <a:solidFill>
                    <a:srgbClr val="CCCCCC"/>
                  </a:solidFill>
                  <a:effectLst/>
                  <a:latin typeface="Consolas" panose="020B0609020204030204" pitchFamily="49" charset="0"/>
                </a:rPr>
                <a:t> </a:t>
              </a:r>
              <a:r>
                <a:rPr lang="en-US" sz="1400" b="0">
                  <a:solidFill>
                    <a:srgbClr val="D4D4D4"/>
                  </a:solidFill>
                  <a:effectLst/>
                  <a:latin typeface="Consolas" panose="020B0609020204030204" pitchFamily="49" charset="0"/>
                </a:rPr>
                <a:t>*</a:t>
              </a:r>
              <a:r>
                <a:rPr lang="en-US" sz="1400" b="0">
                  <a:solidFill>
                    <a:srgbClr val="CCCCCC"/>
                  </a:solidFill>
                  <a:effectLst/>
                  <a:latin typeface="Consolas" panose="020B0609020204030204" pitchFamily="49" charset="0"/>
                </a:rPr>
                <a:t> </a:t>
              </a:r>
              <a:r>
                <a:rPr lang="en-US" sz="1400" b="0">
                  <a:solidFill>
                    <a:srgbClr val="569CD6"/>
                  </a:solidFill>
                  <a:effectLst/>
                  <a:latin typeface="Consolas" panose="020B0609020204030204" pitchFamily="49" charset="0"/>
                </a:rPr>
                <a:t>PI</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   </a:t>
              </a:r>
            </a:p>
          </p:txBody>
        </p:sp>
        <p:sp>
          <p:nvSpPr>
            <p:cNvPr id="42" name="TextBox 41">
              <a:extLst>
                <a:ext uri="{FF2B5EF4-FFF2-40B4-BE49-F238E27FC236}">
                  <a16:creationId xmlns:a16="http://schemas.microsoft.com/office/drawing/2014/main" id="{C3E8D3FD-CF82-A91C-A398-585766EE068C}"/>
                </a:ext>
              </a:extLst>
            </p:cNvPr>
            <p:cNvSpPr txBox="1"/>
            <p:nvPr/>
          </p:nvSpPr>
          <p:spPr>
            <a:xfrm>
              <a:off x="8190283" y="3688280"/>
              <a:ext cx="3839993" cy="369332"/>
            </a:xfrm>
            <a:prstGeom prst="rect">
              <a:avLst/>
            </a:prstGeom>
            <a:solidFill>
              <a:schemeClr val="bg1"/>
            </a:solidFill>
            <a:ln>
              <a:solidFill>
                <a:schemeClr val="accent1">
                  <a:shade val="15000"/>
                </a:schemeClr>
              </a:solidFill>
            </a:ln>
          </p:spPr>
          <p:txBody>
            <a:bodyPr wrap="none" rtlCol="0">
              <a:noAutofit/>
            </a:bodyPr>
            <a:lstStyle/>
            <a:p>
              <a:r>
                <a:rPr lang="en-GB"/>
                <a:t>math.c</a:t>
              </a:r>
              <a:endParaRPr lang="LID4096"/>
            </a:p>
          </p:txBody>
        </p:sp>
      </p:grpSp>
      <p:grpSp>
        <p:nvGrpSpPr>
          <p:cNvPr id="43" name="Group 42">
            <a:extLst>
              <a:ext uri="{FF2B5EF4-FFF2-40B4-BE49-F238E27FC236}">
                <a16:creationId xmlns:a16="http://schemas.microsoft.com/office/drawing/2014/main" id="{AA4D7B03-6C8E-C4A1-7FE9-B0D12AC0ABE3}"/>
              </a:ext>
            </a:extLst>
          </p:cNvPr>
          <p:cNvGrpSpPr/>
          <p:nvPr/>
        </p:nvGrpSpPr>
        <p:grpSpPr>
          <a:xfrm>
            <a:off x="8185625" y="1152835"/>
            <a:ext cx="2597919" cy="677109"/>
            <a:chOff x="8190283" y="2378731"/>
            <a:chExt cx="3839993" cy="677109"/>
          </a:xfrm>
          <a:effectLst>
            <a:outerShdw blurRad="50800" dist="38100" dir="2700000" algn="tl" rotWithShape="0">
              <a:prstClr val="black">
                <a:alpha val="40000"/>
              </a:prstClr>
            </a:outerShdw>
          </a:effectLst>
        </p:grpSpPr>
        <p:sp>
          <p:nvSpPr>
            <p:cNvPr id="44" name="TextBox 43">
              <a:extLst>
                <a:ext uri="{FF2B5EF4-FFF2-40B4-BE49-F238E27FC236}">
                  <a16:creationId xmlns:a16="http://schemas.microsoft.com/office/drawing/2014/main" id="{84D988F3-3F87-BEF9-D642-C0F1B42580CE}"/>
                </a:ext>
              </a:extLst>
            </p:cNvPr>
            <p:cNvSpPr txBox="1"/>
            <p:nvPr/>
          </p:nvSpPr>
          <p:spPr>
            <a:xfrm>
              <a:off x="8190283" y="2748063"/>
              <a:ext cx="3839993" cy="307777"/>
            </a:xfrm>
            <a:prstGeom prst="rect">
              <a:avLst/>
            </a:prstGeom>
            <a:solidFill>
              <a:schemeClr val="tx1">
                <a:lumMod val="75000"/>
                <a:lumOff val="25000"/>
              </a:schemeClr>
            </a:solidFill>
            <a:ln>
              <a:solidFill>
                <a:schemeClr val="accent1">
                  <a:shade val="15000"/>
                </a:schemeClr>
              </a:solidFill>
            </a:ln>
          </p:spPr>
          <p:txBody>
            <a:bodyPr wrap="square">
              <a:spAutoFit/>
            </a:bodyPr>
            <a:lstStyle/>
            <a:p>
              <a:pPr>
                <a:buNone/>
              </a:pPr>
              <a:r>
                <a:rPr lang="en-GB" sz="1400" b="0">
                  <a:solidFill>
                    <a:srgbClr val="569CD6"/>
                  </a:solidFill>
                  <a:effectLst/>
                  <a:latin typeface="Consolas" panose="020B0609020204030204" pitchFamily="49" charset="0"/>
                </a:rPr>
                <a:t>float</a:t>
              </a:r>
              <a:r>
                <a:rPr lang="en-GB" sz="1400" b="0">
                  <a:solidFill>
                    <a:srgbClr val="CCCCCC"/>
                  </a:solidFill>
                  <a:effectLst/>
                  <a:latin typeface="Consolas" panose="020B0609020204030204" pitchFamily="49" charset="0"/>
                </a:rPr>
                <a:t> </a:t>
              </a:r>
              <a:r>
                <a:rPr lang="en-GB" sz="1400" b="0">
                  <a:solidFill>
                    <a:srgbClr val="DCDCAA"/>
                  </a:solidFill>
                  <a:effectLst/>
                  <a:latin typeface="Consolas" panose="020B0609020204030204" pitchFamily="49" charset="0"/>
                </a:rPr>
                <a:t>pi_squared</a:t>
              </a:r>
              <a:r>
                <a:rPr lang="en-GB" sz="1400" b="0">
                  <a:solidFill>
                    <a:srgbClr val="CCCCCC"/>
                  </a:solidFill>
                  <a:effectLst/>
                  <a:latin typeface="Consolas" panose="020B0609020204030204" pitchFamily="49" charset="0"/>
                </a:rPr>
                <a:t>(); </a:t>
              </a:r>
            </a:p>
          </p:txBody>
        </p:sp>
        <p:sp>
          <p:nvSpPr>
            <p:cNvPr id="45" name="TextBox 44">
              <a:extLst>
                <a:ext uri="{FF2B5EF4-FFF2-40B4-BE49-F238E27FC236}">
                  <a16:creationId xmlns:a16="http://schemas.microsoft.com/office/drawing/2014/main" id="{631457C0-68DF-86B8-0456-9DE58EDEEC41}"/>
                </a:ext>
              </a:extLst>
            </p:cNvPr>
            <p:cNvSpPr txBox="1"/>
            <p:nvPr/>
          </p:nvSpPr>
          <p:spPr>
            <a:xfrm>
              <a:off x="8190283" y="2378731"/>
              <a:ext cx="3839993" cy="369332"/>
            </a:xfrm>
            <a:prstGeom prst="rect">
              <a:avLst/>
            </a:prstGeom>
            <a:solidFill>
              <a:schemeClr val="bg1"/>
            </a:solidFill>
            <a:ln>
              <a:solidFill>
                <a:schemeClr val="accent1">
                  <a:shade val="15000"/>
                </a:schemeClr>
              </a:solidFill>
            </a:ln>
          </p:spPr>
          <p:txBody>
            <a:bodyPr wrap="none" rtlCol="0">
              <a:noAutofit/>
            </a:bodyPr>
            <a:lstStyle/>
            <a:p>
              <a:r>
                <a:rPr lang="en-GB"/>
                <a:t>math.h</a:t>
              </a:r>
              <a:endParaRPr lang="LID4096"/>
            </a:p>
          </p:txBody>
        </p:sp>
      </p:grpSp>
      <p:grpSp>
        <p:nvGrpSpPr>
          <p:cNvPr id="46" name="Group 45">
            <a:extLst>
              <a:ext uri="{FF2B5EF4-FFF2-40B4-BE49-F238E27FC236}">
                <a16:creationId xmlns:a16="http://schemas.microsoft.com/office/drawing/2014/main" id="{97992805-DB93-7D20-9AD6-3F430D1DED5C}"/>
              </a:ext>
            </a:extLst>
          </p:cNvPr>
          <p:cNvGrpSpPr/>
          <p:nvPr/>
        </p:nvGrpSpPr>
        <p:grpSpPr>
          <a:xfrm>
            <a:off x="4953029" y="1152835"/>
            <a:ext cx="3031873" cy="677109"/>
            <a:chOff x="4176003" y="2395618"/>
            <a:chExt cx="3839993" cy="677109"/>
          </a:xfrm>
          <a:effectLst>
            <a:outerShdw blurRad="50800" dist="38100" dir="2700000" algn="tl" rotWithShape="0">
              <a:prstClr val="black">
                <a:alpha val="40000"/>
              </a:prstClr>
            </a:outerShdw>
          </a:effectLst>
        </p:grpSpPr>
        <p:sp>
          <p:nvSpPr>
            <p:cNvPr id="47" name="TextBox 46">
              <a:extLst>
                <a:ext uri="{FF2B5EF4-FFF2-40B4-BE49-F238E27FC236}">
                  <a16:creationId xmlns:a16="http://schemas.microsoft.com/office/drawing/2014/main" id="{EF2A7DA1-3702-16DB-B253-2FE7B03AA0B0}"/>
                </a:ext>
              </a:extLst>
            </p:cNvPr>
            <p:cNvSpPr txBox="1"/>
            <p:nvPr/>
          </p:nvSpPr>
          <p:spPr>
            <a:xfrm>
              <a:off x="4176003" y="2764950"/>
              <a:ext cx="3839993" cy="307777"/>
            </a:xfrm>
            <a:prstGeom prst="rect">
              <a:avLst/>
            </a:prstGeom>
            <a:solidFill>
              <a:schemeClr val="tx1">
                <a:lumMod val="75000"/>
                <a:lumOff val="25000"/>
              </a:schemeClr>
            </a:solidFill>
            <a:ln>
              <a:solidFill>
                <a:schemeClr val="accent1">
                  <a:shade val="15000"/>
                </a:schemeClr>
              </a:solidFill>
            </a:ln>
          </p:spPr>
          <p:txBody>
            <a:bodyPr wrap="square">
              <a:spAutoFit/>
            </a:bodyPr>
            <a:lstStyle/>
            <a:p>
              <a:pPr>
                <a:buNone/>
              </a:pPr>
              <a:r>
                <a:rPr lang="en-GB" sz="1400" b="0">
                  <a:solidFill>
                    <a:srgbClr val="569CD6"/>
                  </a:solidFill>
                  <a:effectLst/>
                  <a:latin typeface="Consolas" panose="020B0609020204030204" pitchFamily="49" charset="0"/>
                </a:rPr>
                <a:t>float</a:t>
              </a:r>
              <a:r>
                <a:rPr lang="en-GB" sz="1400" b="0">
                  <a:solidFill>
                    <a:srgbClr val="CCCCCC"/>
                  </a:solidFill>
                  <a:effectLst/>
                  <a:latin typeface="Consolas" panose="020B0609020204030204" pitchFamily="49" charset="0"/>
                </a:rPr>
                <a:t> </a:t>
              </a:r>
              <a:r>
                <a:rPr lang="en-GB" sz="1400" b="0">
                  <a:solidFill>
                    <a:srgbClr val="DCDCAA"/>
                  </a:solidFill>
                  <a:effectLst/>
                  <a:latin typeface="Consolas" panose="020B0609020204030204" pitchFamily="49" charset="0"/>
                </a:rPr>
                <a:t>function</a:t>
              </a:r>
              <a:r>
                <a:rPr lang="en-GB" sz="1400" b="0">
                  <a:solidFill>
                    <a:srgbClr val="CCCCCC"/>
                  </a:solidFill>
                  <a:effectLst/>
                  <a:latin typeface="Consolas" panose="020B0609020204030204" pitchFamily="49" charset="0"/>
                </a:rPr>
                <a:t>(</a:t>
              </a:r>
              <a:r>
                <a:rPr lang="en-GB" sz="1400" b="0">
                  <a:solidFill>
                    <a:srgbClr val="569CD6"/>
                  </a:solidFill>
                  <a:effectLst/>
                  <a:latin typeface="Consolas" panose="020B0609020204030204" pitchFamily="49" charset="0"/>
                </a:rPr>
                <a:t>float</a:t>
              </a:r>
              <a:r>
                <a:rPr lang="en-GB" sz="1400" b="0">
                  <a:solidFill>
                    <a:srgbClr val="CCCCCC"/>
                  </a:solidFill>
                  <a:effectLst/>
                  <a:latin typeface="Consolas" panose="020B0609020204030204" pitchFamily="49" charset="0"/>
                </a:rPr>
                <a:t> </a:t>
              </a:r>
              <a:r>
                <a:rPr lang="en-GB" sz="1400" b="0">
                  <a:solidFill>
                    <a:srgbClr val="9CDCFE"/>
                  </a:solidFill>
                  <a:effectLst/>
                  <a:latin typeface="Consolas" panose="020B0609020204030204" pitchFamily="49" charset="0"/>
                </a:rPr>
                <a:t>a</a:t>
              </a:r>
              <a:r>
                <a:rPr lang="en-GB" sz="1400" b="0">
                  <a:solidFill>
                    <a:srgbClr val="CCCCCC"/>
                  </a:solidFill>
                  <a:effectLst/>
                  <a:latin typeface="Consolas" panose="020B0609020204030204" pitchFamily="49" charset="0"/>
                </a:rPr>
                <a:t>);</a:t>
              </a:r>
            </a:p>
          </p:txBody>
        </p:sp>
        <p:sp>
          <p:nvSpPr>
            <p:cNvPr id="48" name="TextBox 47">
              <a:extLst>
                <a:ext uri="{FF2B5EF4-FFF2-40B4-BE49-F238E27FC236}">
                  <a16:creationId xmlns:a16="http://schemas.microsoft.com/office/drawing/2014/main" id="{D2E0E9E4-D632-5729-9EB7-8CE3E0E89E22}"/>
                </a:ext>
              </a:extLst>
            </p:cNvPr>
            <p:cNvSpPr txBox="1"/>
            <p:nvPr/>
          </p:nvSpPr>
          <p:spPr>
            <a:xfrm>
              <a:off x="4176003" y="2395618"/>
              <a:ext cx="3839993" cy="369332"/>
            </a:xfrm>
            <a:prstGeom prst="rect">
              <a:avLst/>
            </a:prstGeom>
            <a:solidFill>
              <a:schemeClr val="bg1"/>
            </a:solidFill>
            <a:ln>
              <a:solidFill>
                <a:schemeClr val="accent1">
                  <a:shade val="15000"/>
                </a:schemeClr>
              </a:solidFill>
            </a:ln>
          </p:spPr>
          <p:txBody>
            <a:bodyPr wrap="none" rtlCol="0">
              <a:noAutofit/>
            </a:bodyPr>
            <a:lstStyle/>
            <a:p>
              <a:r>
                <a:rPr lang="en-GB"/>
                <a:t>functions.h</a:t>
              </a:r>
              <a:endParaRPr lang="LID4096"/>
            </a:p>
          </p:txBody>
        </p:sp>
      </p:grpSp>
      <p:grpSp>
        <p:nvGrpSpPr>
          <p:cNvPr id="49" name="Group 48">
            <a:extLst>
              <a:ext uri="{FF2B5EF4-FFF2-40B4-BE49-F238E27FC236}">
                <a16:creationId xmlns:a16="http://schemas.microsoft.com/office/drawing/2014/main" id="{7565D5B1-B855-239D-357D-DDDEA1D2D5AC}"/>
              </a:ext>
            </a:extLst>
          </p:cNvPr>
          <p:cNvGrpSpPr/>
          <p:nvPr/>
        </p:nvGrpSpPr>
        <p:grpSpPr>
          <a:xfrm>
            <a:off x="1659966" y="4510380"/>
            <a:ext cx="3092340" cy="1538883"/>
            <a:chOff x="161722" y="3688280"/>
            <a:chExt cx="3839993" cy="1538883"/>
          </a:xfrm>
          <a:effectLst>
            <a:outerShdw blurRad="50800" dist="38100" dir="2700000" algn="tl" rotWithShape="0">
              <a:prstClr val="black">
                <a:alpha val="40000"/>
              </a:prstClr>
            </a:outerShdw>
          </a:effectLst>
        </p:grpSpPr>
        <p:sp>
          <p:nvSpPr>
            <p:cNvPr id="50" name="TextBox 49">
              <a:extLst>
                <a:ext uri="{FF2B5EF4-FFF2-40B4-BE49-F238E27FC236}">
                  <a16:creationId xmlns:a16="http://schemas.microsoft.com/office/drawing/2014/main" id="{354C2962-D285-2AB9-A402-D70D3C700403}"/>
                </a:ext>
              </a:extLst>
            </p:cNvPr>
            <p:cNvSpPr txBox="1"/>
            <p:nvPr/>
          </p:nvSpPr>
          <p:spPr>
            <a:xfrm>
              <a:off x="161722" y="4057612"/>
              <a:ext cx="3839993" cy="1169551"/>
            </a:xfrm>
            <a:prstGeom prst="rect">
              <a:avLst/>
            </a:prstGeom>
            <a:solidFill>
              <a:schemeClr val="tx1">
                <a:lumMod val="75000"/>
                <a:lumOff val="25000"/>
              </a:schemeClr>
            </a:solidFill>
            <a:ln>
              <a:solidFill>
                <a:schemeClr val="accent1">
                  <a:shade val="15000"/>
                </a:schemeClr>
              </a:solidFill>
            </a:ln>
          </p:spPr>
          <p:txBody>
            <a:bodyPr wrap="square">
              <a:spAutoFit/>
            </a:bodyPr>
            <a:lstStyle/>
            <a:p>
              <a:pPr>
                <a:buNone/>
              </a:pP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function</a:t>
              </a:r>
              <a:r>
                <a:rPr lang="en-US" sz="1400" b="0">
                  <a:solidFill>
                    <a:srgbClr val="CCCCCC"/>
                  </a:solidFill>
                  <a:effectLst/>
                  <a:latin typeface="Consolas" panose="020B0609020204030204" pitchFamily="49" charset="0"/>
                </a:rPr>
                <a:t>(</a:t>
              </a: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9CDCFE"/>
                  </a:solidFill>
                  <a:effectLst/>
                  <a:latin typeface="Consolas" panose="020B0609020204030204" pitchFamily="49" charset="0"/>
                </a:rPr>
                <a:t>a</a:t>
              </a:r>
              <a:r>
                <a:rPr lang="en-US" sz="1400" b="0">
                  <a:solidFill>
                    <a:srgbClr val="CCCCCC"/>
                  </a:solidFill>
                  <a:effectLst/>
                  <a:latin typeface="Consolas" panose="020B0609020204030204" pitchFamily="49" charset="0"/>
                </a:rPr>
                <a:t>);</a:t>
              </a:r>
            </a:p>
            <a:p>
              <a:pPr>
                <a:buNone/>
              </a:pPr>
              <a:r>
                <a:rPr lang="en-US" sz="1400" b="0">
                  <a:solidFill>
                    <a:srgbClr val="569CD6"/>
                  </a:solidFill>
                  <a:effectLst/>
                  <a:latin typeface="Consolas" panose="020B0609020204030204" pitchFamily="49" charset="0"/>
                </a:rPr>
                <a:t>void</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main</a:t>
              </a:r>
              <a:r>
                <a:rPr lang="en-US" sz="1400" b="0">
                  <a:solidFill>
                    <a:srgbClr val="CCCCCC"/>
                  </a:solidFill>
                  <a:effectLst/>
                  <a:latin typeface="Consolas" panose="020B0609020204030204" pitchFamily="49" charset="0"/>
                </a:rPr>
                <a:t>(</a:t>
              </a:r>
              <a:r>
                <a:rPr lang="en-US" sz="1400" b="0">
                  <a:solidFill>
                    <a:srgbClr val="569CD6"/>
                  </a:solidFill>
                  <a:effectLst/>
                  <a:latin typeface="Consolas" panose="020B0609020204030204" pitchFamily="49" charset="0"/>
                </a:rPr>
                <a:t>void</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    </a:t>
              </a: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9CDCFE"/>
                  </a:solidFill>
                  <a:effectLst/>
                  <a:latin typeface="Consolas" panose="020B0609020204030204" pitchFamily="49" charset="0"/>
                </a:rPr>
                <a:t>a</a:t>
              </a:r>
              <a:r>
                <a:rPr lang="en-US" sz="1400" b="0">
                  <a:solidFill>
                    <a:srgbClr val="CCCCCC"/>
                  </a:solidFill>
                  <a:effectLst/>
                  <a:latin typeface="Consolas" panose="020B0609020204030204" pitchFamily="49" charset="0"/>
                </a:rPr>
                <a:t> </a:t>
              </a:r>
              <a:r>
                <a:rPr lang="en-US" sz="1400" b="0">
                  <a:solidFill>
                    <a:srgbClr val="D4D4D4"/>
                  </a:solidFill>
                  <a:effectLst/>
                  <a:latin typeface="Consolas" panose="020B0609020204030204" pitchFamily="49" charset="0"/>
                </a:rPr>
                <a:t>=</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function</a:t>
              </a:r>
              <a:r>
                <a:rPr lang="en-US" sz="1400" b="0">
                  <a:solidFill>
                    <a:srgbClr val="CCCCCC"/>
                  </a:solidFill>
                  <a:effectLst/>
                  <a:latin typeface="Consolas" panose="020B0609020204030204" pitchFamily="49" charset="0"/>
                </a:rPr>
                <a:t>(</a:t>
              </a:r>
              <a:r>
                <a:rPr lang="en-US" sz="1400" b="0">
                  <a:solidFill>
                    <a:srgbClr val="B5CEA8"/>
                  </a:solidFill>
                  <a:effectLst/>
                  <a:latin typeface="Consolas" panose="020B0609020204030204" pitchFamily="49" charset="0"/>
                </a:rPr>
                <a:t>2.0f</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p:txBody>
        </p:sp>
        <p:sp>
          <p:nvSpPr>
            <p:cNvPr id="51" name="TextBox 50">
              <a:extLst>
                <a:ext uri="{FF2B5EF4-FFF2-40B4-BE49-F238E27FC236}">
                  <a16:creationId xmlns:a16="http://schemas.microsoft.com/office/drawing/2014/main" id="{FDDD7064-7F57-C488-86EF-25DD6D173822}"/>
                </a:ext>
              </a:extLst>
            </p:cNvPr>
            <p:cNvSpPr txBox="1"/>
            <p:nvPr/>
          </p:nvSpPr>
          <p:spPr>
            <a:xfrm>
              <a:off x="161722" y="3688280"/>
              <a:ext cx="3839993" cy="369332"/>
            </a:xfrm>
            <a:prstGeom prst="rect">
              <a:avLst/>
            </a:prstGeom>
            <a:solidFill>
              <a:schemeClr val="bg1"/>
            </a:solidFill>
            <a:ln>
              <a:solidFill>
                <a:schemeClr val="accent1">
                  <a:shade val="15000"/>
                </a:schemeClr>
              </a:solidFill>
            </a:ln>
          </p:spPr>
          <p:txBody>
            <a:bodyPr wrap="none" rtlCol="0">
              <a:noAutofit/>
            </a:bodyPr>
            <a:lstStyle/>
            <a:p>
              <a:r>
                <a:rPr lang="en-GB"/>
                <a:t>main.i</a:t>
              </a:r>
              <a:endParaRPr lang="LID4096"/>
            </a:p>
          </p:txBody>
        </p:sp>
      </p:grpSp>
      <p:grpSp>
        <p:nvGrpSpPr>
          <p:cNvPr id="54" name="Group 53">
            <a:extLst>
              <a:ext uri="{FF2B5EF4-FFF2-40B4-BE49-F238E27FC236}">
                <a16:creationId xmlns:a16="http://schemas.microsoft.com/office/drawing/2014/main" id="{DC0FB0D6-C45A-EB6E-E52E-2E237DAE395B}"/>
              </a:ext>
            </a:extLst>
          </p:cNvPr>
          <p:cNvGrpSpPr/>
          <p:nvPr/>
        </p:nvGrpSpPr>
        <p:grpSpPr>
          <a:xfrm>
            <a:off x="2362995" y="3837904"/>
            <a:ext cx="1576072" cy="618186"/>
            <a:chOff x="2362995" y="3837904"/>
            <a:chExt cx="1576072" cy="618186"/>
          </a:xfrm>
        </p:grpSpPr>
        <p:sp>
          <p:nvSpPr>
            <p:cNvPr id="52" name="Arrow: Down 51">
              <a:extLst>
                <a:ext uri="{FF2B5EF4-FFF2-40B4-BE49-F238E27FC236}">
                  <a16:creationId xmlns:a16="http://schemas.microsoft.com/office/drawing/2014/main" id="{82F6F77A-8229-DA64-04DD-7AF4947EEDDC}"/>
                </a:ext>
              </a:extLst>
            </p:cNvPr>
            <p:cNvSpPr/>
            <p:nvPr/>
          </p:nvSpPr>
          <p:spPr>
            <a:xfrm>
              <a:off x="2730321" y="3837904"/>
              <a:ext cx="841420" cy="618186"/>
            </a:xfrm>
            <a:prstGeom prst="downArrow">
              <a:avLst>
                <a:gd name="adj1" fmla="val 50000"/>
                <a:gd name="adj2" fmla="val 3958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53" name="TextBox 52">
              <a:extLst>
                <a:ext uri="{FF2B5EF4-FFF2-40B4-BE49-F238E27FC236}">
                  <a16:creationId xmlns:a16="http://schemas.microsoft.com/office/drawing/2014/main" id="{B056EC2A-6470-EE8C-88E5-322D35835541}"/>
                </a:ext>
              </a:extLst>
            </p:cNvPr>
            <p:cNvSpPr txBox="1"/>
            <p:nvPr/>
          </p:nvSpPr>
          <p:spPr>
            <a:xfrm>
              <a:off x="2362995" y="3946942"/>
              <a:ext cx="1576072" cy="200055"/>
            </a:xfrm>
            <a:prstGeom prst="rect">
              <a:avLst/>
            </a:prstGeom>
            <a:solidFill>
              <a:schemeClr val="tx1"/>
            </a:solidFill>
          </p:spPr>
          <p:txBody>
            <a:bodyPr wrap="none" rtlCol="0">
              <a:spAutoFit/>
            </a:bodyPr>
            <a:lstStyle/>
            <a:p>
              <a:r>
                <a:rPr lang="en-GB" sz="700">
                  <a:solidFill>
                    <a:schemeClr val="bg1"/>
                  </a:solidFill>
                  <a:latin typeface="Consolas" panose="020B0609020204030204" pitchFamily="49" charset="0"/>
                </a:rPr>
                <a:t>$ gcc –E –P main.c –o main.i</a:t>
              </a:r>
              <a:endParaRPr lang="LID4096" sz="700">
                <a:solidFill>
                  <a:schemeClr val="bg1"/>
                </a:solidFill>
                <a:latin typeface="Consolas" panose="020B0609020204030204" pitchFamily="49" charset="0"/>
              </a:endParaRPr>
            </a:p>
          </p:txBody>
        </p:sp>
      </p:grpSp>
    </p:spTree>
    <p:extLst>
      <p:ext uri="{BB962C8B-B14F-4D97-AF65-F5344CB8AC3E}">
        <p14:creationId xmlns:p14="http://schemas.microsoft.com/office/powerpoint/2010/main" val="3626900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1.04167E-6 -1.11111E-6 L -0.27044 0.13449 " pathEditMode="relative" rAng="0" ptsTypes="AA">
                                      <p:cBhvr>
                                        <p:cTn id="6" dur="1000" fill="hold"/>
                                        <p:tgtEl>
                                          <p:spTgt spid="46"/>
                                        </p:tgtEl>
                                        <p:attrNameLst>
                                          <p:attrName>ppt_x</p:attrName>
                                          <p:attrName>ppt_y</p:attrName>
                                        </p:attrNameLst>
                                      </p:cBhvr>
                                      <p:rCtr x="-13529" y="6713"/>
                                    </p:animMotion>
                                  </p:childTnLst>
                                </p:cTn>
                              </p:par>
                              <p:par>
                                <p:cTn id="7" presetID="10" presetClass="exit" presetSubtype="0" fill="hold" nodeType="withEffect">
                                  <p:stCondLst>
                                    <p:cond delay="0"/>
                                  </p:stCondLst>
                                  <p:childTnLst>
                                    <p:animEffect transition="out" filter="fade">
                                      <p:cBhvr>
                                        <p:cTn id="8" dur="1000"/>
                                        <p:tgtEl>
                                          <p:spTgt spid="46"/>
                                        </p:tgtEl>
                                      </p:cBhvr>
                                    </p:animEffect>
                                    <p:set>
                                      <p:cBhvr>
                                        <p:cTn id="9" dur="1" fill="hold">
                                          <p:stCondLst>
                                            <p:cond delay="999"/>
                                          </p:stCondLst>
                                        </p:cTn>
                                        <p:tgtEl>
                                          <p:spTgt spid="46"/>
                                        </p:tgtEl>
                                        <p:attrNameLst>
                                          <p:attrName>style.visibility</p:attrName>
                                        </p:attrNameLst>
                                      </p:cBhvr>
                                      <p:to>
                                        <p:strVal val="hidden"/>
                                      </p:to>
                                    </p:set>
                                  </p:childTnLst>
                                </p:cTn>
                              </p:par>
                            </p:childTnLst>
                          </p:cTn>
                        </p:par>
                        <p:par>
                          <p:cTn id="10" fill="hold">
                            <p:stCondLst>
                              <p:cond delay="1000"/>
                            </p:stCondLst>
                            <p:childTnLst>
                              <p:par>
                                <p:cTn id="11" presetID="22" presetClass="entr" presetSubtype="1" fill="hold" nodeType="afterEffect">
                                  <p:stCondLst>
                                    <p:cond delay="0"/>
                                  </p:stCondLst>
                                  <p:childTnLst>
                                    <p:set>
                                      <p:cBhvr>
                                        <p:cTn id="12" dur="1" fill="hold">
                                          <p:stCondLst>
                                            <p:cond delay="0"/>
                                          </p:stCondLst>
                                        </p:cTn>
                                        <p:tgtEl>
                                          <p:spTgt spid="54"/>
                                        </p:tgtEl>
                                        <p:attrNameLst>
                                          <p:attrName>style.visibility</p:attrName>
                                        </p:attrNameLst>
                                      </p:cBhvr>
                                      <p:to>
                                        <p:strVal val="visible"/>
                                      </p:to>
                                    </p:set>
                                    <p:animEffect transition="in" filter="wipe(up)">
                                      <p:cBhvr>
                                        <p:cTn id="13" dur="500"/>
                                        <p:tgtEl>
                                          <p:spTgt spid="54"/>
                                        </p:tgtEl>
                                      </p:cBhvr>
                                    </p:animEffect>
                                  </p:childTnLst>
                                </p:cTn>
                              </p:par>
                            </p:childTnLst>
                          </p:cTn>
                        </p:par>
                        <p:par>
                          <p:cTn id="14" fill="hold">
                            <p:stCondLst>
                              <p:cond delay="1500"/>
                            </p:stCondLst>
                            <p:childTnLst>
                              <p:par>
                                <p:cTn id="15" presetID="10" presetClass="entr" presetSubtype="0" fill="hold" nodeType="afterEffect">
                                  <p:stCondLst>
                                    <p:cond delay="0"/>
                                  </p:stCondLst>
                                  <p:childTnLst>
                                    <p:set>
                                      <p:cBhvr>
                                        <p:cTn id="16" dur="1" fill="hold">
                                          <p:stCondLst>
                                            <p:cond delay="0"/>
                                          </p:stCondLst>
                                        </p:cTn>
                                        <p:tgtEl>
                                          <p:spTgt spid="49"/>
                                        </p:tgtEl>
                                        <p:attrNameLst>
                                          <p:attrName>style.visibility</p:attrName>
                                        </p:attrNameLst>
                                      </p:cBhvr>
                                      <p:to>
                                        <p:strVal val="visible"/>
                                      </p:to>
                                    </p:set>
                                    <p:animEffect transition="in" filter="fade">
                                      <p:cBhvr>
                                        <p:cTn id="1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FC9F2-2556-E22D-F7BE-1E291EC92A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55673C-A4D9-D015-3818-28BBD083EAEA}"/>
              </a:ext>
            </a:extLst>
          </p:cNvPr>
          <p:cNvSpPr>
            <a:spLocks noGrp="1"/>
          </p:cNvSpPr>
          <p:nvPr>
            <p:ph type="title"/>
          </p:nvPr>
        </p:nvSpPr>
        <p:spPr/>
        <p:txBody>
          <a:bodyPr/>
          <a:lstStyle/>
          <a:p>
            <a:r>
              <a:rPr lang="en-GB"/>
              <a:t>Kompilering – </a:t>
            </a:r>
            <a:br>
              <a:rPr lang="en-GB"/>
            </a:br>
            <a:r>
              <a:rPr lang="en-GB"/>
              <a:t>Preprocessorn</a:t>
            </a:r>
            <a:endParaRPr lang="LID4096"/>
          </a:p>
        </p:txBody>
      </p:sp>
      <p:grpSp>
        <p:nvGrpSpPr>
          <p:cNvPr id="34" name="Group 33">
            <a:extLst>
              <a:ext uri="{FF2B5EF4-FFF2-40B4-BE49-F238E27FC236}">
                <a16:creationId xmlns:a16="http://schemas.microsoft.com/office/drawing/2014/main" id="{AC45D7AD-E2CD-8134-45FD-43E758C3B039}"/>
              </a:ext>
            </a:extLst>
          </p:cNvPr>
          <p:cNvGrpSpPr/>
          <p:nvPr/>
        </p:nvGrpSpPr>
        <p:grpSpPr>
          <a:xfrm>
            <a:off x="1659966" y="1975389"/>
            <a:ext cx="3092340" cy="1754327"/>
            <a:chOff x="161722" y="3688280"/>
            <a:chExt cx="3839993" cy="1754327"/>
          </a:xfrm>
          <a:effectLst>
            <a:outerShdw blurRad="50800" dist="38100" dir="2700000" algn="tl" rotWithShape="0">
              <a:prstClr val="black">
                <a:alpha val="40000"/>
              </a:prstClr>
            </a:outerShdw>
          </a:effectLst>
        </p:grpSpPr>
        <p:sp>
          <p:nvSpPr>
            <p:cNvPr id="35" name="TextBox 34">
              <a:extLst>
                <a:ext uri="{FF2B5EF4-FFF2-40B4-BE49-F238E27FC236}">
                  <a16:creationId xmlns:a16="http://schemas.microsoft.com/office/drawing/2014/main" id="{942B66CC-7B4D-3651-C5CA-9872EB5127FD}"/>
                </a:ext>
              </a:extLst>
            </p:cNvPr>
            <p:cNvSpPr txBox="1"/>
            <p:nvPr/>
          </p:nvSpPr>
          <p:spPr>
            <a:xfrm>
              <a:off x="161722" y="4057612"/>
              <a:ext cx="3839993" cy="1384995"/>
            </a:xfrm>
            <a:prstGeom prst="rect">
              <a:avLst/>
            </a:prstGeom>
            <a:solidFill>
              <a:schemeClr val="tx1">
                <a:lumMod val="75000"/>
                <a:lumOff val="25000"/>
              </a:schemeClr>
            </a:solidFill>
            <a:ln>
              <a:solidFill>
                <a:schemeClr val="accent1">
                  <a:shade val="15000"/>
                </a:schemeClr>
              </a:solidFill>
            </a:ln>
          </p:spPr>
          <p:txBody>
            <a:bodyPr wrap="square">
              <a:spAutoFit/>
            </a:bodyPr>
            <a:lstStyle/>
            <a:p>
              <a:pPr>
                <a:buNone/>
              </a:pPr>
              <a:r>
                <a:rPr lang="en-US" sz="1400">
                  <a:solidFill>
                    <a:srgbClr val="C586C0"/>
                  </a:solidFill>
                  <a:effectLst/>
                  <a:latin typeface="Consolas" panose="020B0609020204030204" pitchFamily="49" charset="0"/>
                </a:rPr>
                <a:t>#include</a:t>
              </a:r>
              <a:r>
                <a:rPr lang="en-US" sz="1400">
                  <a:solidFill>
                    <a:srgbClr val="569CD6"/>
                  </a:solidFill>
                  <a:effectLst/>
                  <a:latin typeface="Consolas" panose="020B0609020204030204" pitchFamily="49" charset="0"/>
                </a:rPr>
                <a:t> </a:t>
              </a:r>
              <a:r>
                <a:rPr lang="en-US" sz="1400">
                  <a:solidFill>
                    <a:srgbClr val="CE9178"/>
                  </a:solidFill>
                  <a:effectLst/>
                  <a:latin typeface="Consolas" panose="020B0609020204030204" pitchFamily="49" charset="0"/>
                </a:rPr>
                <a:t>"functions.h"</a:t>
              </a:r>
              <a:endParaRPr lang="en-US" sz="1400">
                <a:solidFill>
                  <a:srgbClr val="CCCCCC"/>
                </a:solidFill>
                <a:effectLst/>
                <a:latin typeface="Consolas" panose="020B0609020204030204" pitchFamily="49" charset="0"/>
              </a:endParaRPr>
            </a:p>
            <a:p>
              <a:pPr>
                <a:buNone/>
              </a:pPr>
              <a:endParaRPr lang="en-US" sz="1400" b="0">
                <a:solidFill>
                  <a:srgbClr val="CCCCCC"/>
                </a:solidFill>
                <a:effectLst/>
                <a:latin typeface="Consolas" panose="020B0609020204030204" pitchFamily="49" charset="0"/>
              </a:endParaRPr>
            </a:p>
            <a:p>
              <a:pPr>
                <a:buNone/>
              </a:pPr>
              <a:r>
                <a:rPr lang="en-US" sz="1400" b="0">
                  <a:solidFill>
                    <a:srgbClr val="569CD6"/>
                  </a:solidFill>
                  <a:effectLst/>
                  <a:latin typeface="Consolas" panose="020B0609020204030204" pitchFamily="49" charset="0"/>
                </a:rPr>
                <a:t>void</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main</a:t>
              </a:r>
              <a:r>
                <a:rPr lang="en-US" sz="1400" b="0">
                  <a:solidFill>
                    <a:srgbClr val="CCCCCC"/>
                  </a:solidFill>
                  <a:effectLst/>
                  <a:latin typeface="Consolas" panose="020B0609020204030204" pitchFamily="49" charset="0"/>
                </a:rPr>
                <a:t>(</a:t>
              </a:r>
              <a:r>
                <a:rPr lang="en-US" sz="1400" b="0">
                  <a:solidFill>
                    <a:srgbClr val="569CD6"/>
                  </a:solidFill>
                  <a:effectLst/>
                  <a:latin typeface="Consolas" panose="020B0609020204030204" pitchFamily="49" charset="0"/>
                </a:rPr>
                <a:t>void</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    </a:t>
              </a: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9CDCFE"/>
                  </a:solidFill>
                  <a:effectLst/>
                  <a:latin typeface="Consolas" panose="020B0609020204030204" pitchFamily="49" charset="0"/>
                </a:rPr>
                <a:t>a</a:t>
              </a:r>
              <a:r>
                <a:rPr lang="en-US" sz="1400" b="0">
                  <a:solidFill>
                    <a:srgbClr val="CCCCCC"/>
                  </a:solidFill>
                  <a:effectLst/>
                  <a:latin typeface="Consolas" panose="020B0609020204030204" pitchFamily="49" charset="0"/>
                </a:rPr>
                <a:t> </a:t>
              </a:r>
              <a:r>
                <a:rPr lang="en-US" sz="1400" b="0">
                  <a:solidFill>
                    <a:srgbClr val="D4D4D4"/>
                  </a:solidFill>
                  <a:effectLst/>
                  <a:latin typeface="Consolas" panose="020B0609020204030204" pitchFamily="49" charset="0"/>
                </a:rPr>
                <a:t>=</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function</a:t>
              </a:r>
              <a:r>
                <a:rPr lang="en-US" sz="1400" b="0">
                  <a:solidFill>
                    <a:srgbClr val="CCCCCC"/>
                  </a:solidFill>
                  <a:effectLst/>
                  <a:latin typeface="Consolas" panose="020B0609020204030204" pitchFamily="49" charset="0"/>
                </a:rPr>
                <a:t>(</a:t>
              </a:r>
              <a:r>
                <a:rPr lang="en-US" sz="1400" b="0">
                  <a:solidFill>
                    <a:srgbClr val="B5CEA8"/>
                  </a:solidFill>
                  <a:effectLst/>
                  <a:latin typeface="Consolas" panose="020B0609020204030204" pitchFamily="49" charset="0"/>
                </a:rPr>
                <a:t>2.0f</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p:txBody>
        </p:sp>
        <p:sp>
          <p:nvSpPr>
            <p:cNvPr id="36" name="TextBox 35">
              <a:extLst>
                <a:ext uri="{FF2B5EF4-FFF2-40B4-BE49-F238E27FC236}">
                  <a16:creationId xmlns:a16="http://schemas.microsoft.com/office/drawing/2014/main" id="{B69B8AF4-4767-04D1-2B5F-2A661F391754}"/>
                </a:ext>
              </a:extLst>
            </p:cNvPr>
            <p:cNvSpPr txBox="1"/>
            <p:nvPr/>
          </p:nvSpPr>
          <p:spPr>
            <a:xfrm>
              <a:off x="161722" y="3688280"/>
              <a:ext cx="3839993" cy="369332"/>
            </a:xfrm>
            <a:prstGeom prst="rect">
              <a:avLst/>
            </a:prstGeom>
            <a:solidFill>
              <a:schemeClr val="bg1"/>
            </a:solidFill>
            <a:ln>
              <a:solidFill>
                <a:schemeClr val="accent1">
                  <a:shade val="15000"/>
                </a:schemeClr>
              </a:solidFill>
            </a:ln>
          </p:spPr>
          <p:txBody>
            <a:bodyPr wrap="none" rtlCol="0">
              <a:noAutofit/>
            </a:bodyPr>
            <a:lstStyle/>
            <a:p>
              <a:r>
                <a:rPr lang="en-GB"/>
                <a:t>main.c</a:t>
              </a:r>
              <a:endParaRPr lang="LID4096"/>
            </a:p>
          </p:txBody>
        </p:sp>
      </p:grpSp>
      <p:grpSp>
        <p:nvGrpSpPr>
          <p:cNvPr id="37" name="Group 36">
            <a:extLst>
              <a:ext uri="{FF2B5EF4-FFF2-40B4-BE49-F238E27FC236}">
                <a16:creationId xmlns:a16="http://schemas.microsoft.com/office/drawing/2014/main" id="{8D525F14-642F-7CB6-DAF7-EAC38E810450}"/>
              </a:ext>
            </a:extLst>
          </p:cNvPr>
          <p:cNvGrpSpPr/>
          <p:nvPr/>
        </p:nvGrpSpPr>
        <p:grpSpPr>
          <a:xfrm>
            <a:off x="4953029" y="1975389"/>
            <a:ext cx="3031873" cy="1754327"/>
            <a:chOff x="4176003" y="3688280"/>
            <a:chExt cx="3839993" cy="1754327"/>
          </a:xfrm>
          <a:effectLst>
            <a:outerShdw blurRad="50800" dist="38100" dir="2700000" algn="tl" rotWithShape="0">
              <a:prstClr val="black">
                <a:alpha val="40000"/>
              </a:prstClr>
            </a:outerShdw>
          </a:effectLst>
        </p:grpSpPr>
        <p:sp>
          <p:nvSpPr>
            <p:cNvPr id="38" name="TextBox 37">
              <a:extLst>
                <a:ext uri="{FF2B5EF4-FFF2-40B4-BE49-F238E27FC236}">
                  <a16:creationId xmlns:a16="http://schemas.microsoft.com/office/drawing/2014/main" id="{44D4FDA2-A229-833F-E730-C6BE5EE318D8}"/>
                </a:ext>
              </a:extLst>
            </p:cNvPr>
            <p:cNvSpPr txBox="1"/>
            <p:nvPr/>
          </p:nvSpPr>
          <p:spPr>
            <a:xfrm>
              <a:off x="4176003" y="4057612"/>
              <a:ext cx="3839993" cy="1384995"/>
            </a:xfrm>
            <a:prstGeom prst="rect">
              <a:avLst/>
            </a:prstGeom>
            <a:solidFill>
              <a:schemeClr val="tx1">
                <a:lumMod val="75000"/>
                <a:lumOff val="25000"/>
              </a:schemeClr>
            </a:solidFill>
            <a:ln>
              <a:solidFill>
                <a:schemeClr val="accent1">
                  <a:shade val="15000"/>
                </a:schemeClr>
              </a:solidFill>
            </a:ln>
          </p:spPr>
          <p:txBody>
            <a:bodyPr wrap="square">
              <a:spAutoFit/>
            </a:bodyPr>
            <a:lstStyle/>
            <a:p>
              <a:pPr>
                <a:buNone/>
              </a:pPr>
              <a:r>
                <a:rPr lang="en-US" sz="1400" b="1">
                  <a:solidFill>
                    <a:srgbClr val="C586C0"/>
                  </a:solidFill>
                  <a:effectLst/>
                  <a:latin typeface="Consolas" panose="020B0609020204030204" pitchFamily="49" charset="0"/>
                </a:rPr>
                <a:t>#include</a:t>
              </a:r>
              <a:r>
                <a:rPr lang="en-US" sz="1400" b="1">
                  <a:solidFill>
                    <a:srgbClr val="569CD6"/>
                  </a:solidFill>
                  <a:effectLst/>
                  <a:latin typeface="Consolas" panose="020B0609020204030204" pitchFamily="49" charset="0"/>
                </a:rPr>
                <a:t> </a:t>
              </a:r>
              <a:r>
                <a:rPr lang="en-US" sz="1400" b="1">
                  <a:solidFill>
                    <a:srgbClr val="CE9178"/>
                  </a:solidFill>
                  <a:effectLst/>
                  <a:latin typeface="Consolas" panose="020B0609020204030204" pitchFamily="49" charset="0"/>
                </a:rPr>
                <a:t>"math.h"</a:t>
              </a:r>
              <a:endParaRPr lang="en-US" sz="1400" b="1">
                <a:solidFill>
                  <a:srgbClr val="CCCCCC"/>
                </a:solidFill>
                <a:effectLst/>
                <a:latin typeface="Consolas" panose="020B0609020204030204" pitchFamily="49" charset="0"/>
              </a:endParaRPr>
            </a:p>
            <a:p>
              <a:pPr>
                <a:buNone/>
              </a:pPr>
              <a:endParaRPr lang="en-US" sz="1400" b="0">
                <a:solidFill>
                  <a:srgbClr val="CCCCCC"/>
                </a:solidFill>
                <a:effectLst/>
                <a:latin typeface="Consolas" panose="020B0609020204030204" pitchFamily="49" charset="0"/>
              </a:endParaRPr>
            </a:p>
            <a:p>
              <a:pPr>
                <a:buNone/>
              </a:pP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function</a:t>
              </a:r>
              <a:r>
                <a:rPr lang="en-US" sz="1400" b="0">
                  <a:solidFill>
                    <a:srgbClr val="CCCCCC"/>
                  </a:solidFill>
                  <a:effectLst/>
                  <a:latin typeface="Consolas" panose="020B0609020204030204" pitchFamily="49" charset="0"/>
                </a:rPr>
                <a:t>(</a:t>
              </a: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9CDCFE"/>
                  </a:solidFill>
                  <a:effectLst/>
                  <a:latin typeface="Consolas" panose="020B0609020204030204" pitchFamily="49" charset="0"/>
                </a:rPr>
                <a:t>a</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    </a:t>
              </a:r>
              <a:r>
                <a:rPr lang="en-US" sz="1400" b="0">
                  <a:solidFill>
                    <a:srgbClr val="C586C0"/>
                  </a:solidFill>
                  <a:effectLst/>
                  <a:latin typeface="Consolas" panose="020B0609020204030204" pitchFamily="49" charset="0"/>
                </a:rPr>
                <a:t>return</a:t>
              </a:r>
              <a:r>
                <a:rPr lang="en-US" sz="1400" b="0">
                  <a:solidFill>
                    <a:srgbClr val="CCCCCC"/>
                  </a:solidFill>
                  <a:effectLst/>
                  <a:latin typeface="Consolas" panose="020B0609020204030204" pitchFamily="49" charset="0"/>
                </a:rPr>
                <a:t> </a:t>
              </a:r>
              <a:r>
                <a:rPr lang="en-US" sz="1400" b="0">
                  <a:solidFill>
                    <a:srgbClr val="9CDCFE"/>
                  </a:solidFill>
                  <a:effectLst/>
                  <a:latin typeface="Consolas" panose="020B0609020204030204" pitchFamily="49" charset="0"/>
                </a:rPr>
                <a:t>a</a:t>
              </a:r>
              <a:r>
                <a:rPr lang="en-US" sz="1400" b="0">
                  <a:solidFill>
                    <a:srgbClr val="CCCCCC"/>
                  </a:solidFill>
                  <a:effectLst/>
                  <a:latin typeface="Consolas" panose="020B0609020204030204" pitchFamily="49" charset="0"/>
                </a:rPr>
                <a:t> </a:t>
              </a:r>
              <a:r>
                <a:rPr lang="en-US" sz="1400" b="0">
                  <a:solidFill>
                    <a:srgbClr val="D4D4D4"/>
                  </a:solidFill>
                  <a:effectLst/>
                  <a:latin typeface="Consolas" panose="020B0609020204030204" pitchFamily="49" charset="0"/>
                </a:rPr>
                <a:t>*</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pi_squared</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p:txBody>
        </p:sp>
        <p:sp>
          <p:nvSpPr>
            <p:cNvPr id="39" name="TextBox 38">
              <a:extLst>
                <a:ext uri="{FF2B5EF4-FFF2-40B4-BE49-F238E27FC236}">
                  <a16:creationId xmlns:a16="http://schemas.microsoft.com/office/drawing/2014/main" id="{3E356930-64EF-AEC7-2F14-38F0A7FEF9F6}"/>
                </a:ext>
              </a:extLst>
            </p:cNvPr>
            <p:cNvSpPr txBox="1"/>
            <p:nvPr/>
          </p:nvSpPr>
          <p:spPr>
            <a:xfrm>
              <a:off x="4176003" y="3688280"/>
              <a:ext cx="3839993" cy="369332"/>
            </a:xfrm>
            <a:prstGeom prst="rect">
              <a:avLst/>
            </a:prstGeom>
            <a:solidFill>
              <a:schemeClr val="bg1"/>
            </a:solidFill>
            <a:ln>
              <a:solidFill>
                <a:schemeClr val="accent1">
                  <a:shade val="15000"/>
                </a:schemeClr>
              </a:solidFill>
            </a:ln>
          </p:spPr>
          <p:txBody>
            <a:bodyPr wrap="none" rtlCol="0">
              <a:noAutofit/>
            </a:bodyPr>
            <a:lstStyle/>
            <a:p>
              <a:r>
                <a:rPr lang="en-GB"/>
                <a:t>functions.c</a:t>
              </a:r>
              <a:endParaRPr lang="LID4096"/>
            </a:p>
          </p:txBody>
        </p:sp>
      </p:grpSp>
      <p:grpSp>
        <p:nvGrpSpPr>
          <p:cNvPr id="40" name="Group 39">
            <a:extLst>
              <a:ext uri="{FF2B5EF4-FFF2-40B4-BE49-F238E27FC236}">
                <a16:creationId xmlns:a16="http://schemas.microsoft.com/office/drawing/2014/main" id="{F8FAE6E8-5794-ADFF-D569-5298160BA576}"/>
              </a:ext>
            </a:extLst>
          </p:cNvPr>
          <p:cNvGrpSpPr/>
          <p:nvPr/>
        </p:nvGrpSpPr>
        <p:grpSpPr>
          <a:xfrm>
            <a:off x="8185625" y="1975389"/>
            <a:ext cx="2597920" cy="1538883"/>
            <a:chOff x="8190283" y="3688280"/>
            <a:chExt cx="3839994" cy="1538883"/>
          </a:xfrm>
          <a:effectLst>
            <a:outerShdw blurRad="50800" dist="38100" dir="2700000" algn="tl" rotWithShape="0">
              <a:prstClr val="black">
                <a:alpha val="40000"/>
              </a:prstClr>
            </a:outerShdw>
          </a:effectLst>
        </p:grpSpPr>
        <p:sp>
          <p:nvSpPr>
            <p:cNvPr id="41" name="TextBox 40">
              <a:extLst>
                <a:ext uri="{FF2B5EF4-FFF2-40B4-BE49-F238E27FC236}">
                  <a16:creationId xmlns:a16="http://schemas.microsoft.com/office/drawing/2014/main" id="{BBFCF459-66B4-5ECF-7E4E-5A91F7819116}"/>
                </a:ext>
              </a:extLst>
            </p:cNvPr>
            <p:cNvSpPr txBox="1"/>
            <p:nvPr/>
          </p:nvSpPr>
          <p:spPr>
            <a:xfrm>
              <a:off x="8190284" y="4057612"/>
              <a:ext cx="3839993" cy="1169551"/>
            </a:xfrm>
            <a:prstGeom prst="rect">
              <a:avLst/>
            </a:prstGeom>
            <a:solidFill>
              <a:schemeClr val="tx1">
                <a:lumMod val="75000"/>
                <a:lumOff val="25000"/>
              </a:schemeClr>
            </a:solidFill>
            <a:ln>
              <a:solidFill>
                <a:schemeClr val="accent1">
                  <a:shade val="15000"/>
                </a:schemeClr>
              </a:solidFill>
            </a:ln>
          </p:spPr>
          <p:txBody>
            <a:bodyPr wrap="square">
              <a:spAutoFit/>
            </a:bodyPr>
            <a:lstStyle/>
            <a:p>
              <a:pPr>
                <a:buNone/>
              </a:pPr>
              <a:r>
                <a:rPr lang="en-US" sz="1400" b="0">
                  <a:solidFill>
                    <a:srgbClr val="C586C0"/>
                  </a:solidFill>
                  <a:effectLst/>
                  <a:latin typeface="Consolas" panose="020B0609020204030204" pitchFamily="49" charset="0"/>
                </a:rPr>
                <a:t>#define</a:t>
              </a:r>
              <a:r>
                <a:rPr lang="en-US" sz="1400" b="0">
                  <a:solidFill>
                    <a:srgbClr val="569CD6"/>
                  </a:solidFill>
                  <a:effectLst/>
                  <a:latin typeface="Consolas" panose="020B0609020204030204" pitchFamily="49" charset="0"/>
                </a:rPr>
                <a:t> PI </a:t>
              </a:r>
              <a:r>
                <a:rPr lang="en-US" sz="1400" b="0">
                  <a:solidFill>
                    <a:srgbClr val="B5CEA8"/>
                  </a:solidFill>
                  <a:effectLst/>
                  <a:latin typeface="Consolas" panose="020B0609020204030204" pitchFamily="49" charset="0"/>
                </a:rPr>
                <a:t>3.14</a:t>
              </a:r>
              <a:endParaRPr lang="en-US" sz="1400" b="0">
                <a:solidFill>
                  <a:srgbClr val="CCCCCC"/>
                </a:solidFill>
                <a:effectLst/>
                <a:latin typeface="Consolas" panose="020B0609020204030204" pitchFamily="49" charset="0"/>
              </a:endParaRPr>
            </a:p>
            <a:p>
              <a:pPr>
                <a:buNone/>
              </a:pP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pi_squared</a:t>
              </a:r>
              <a:r>
                <a:rPr lang="en-US" sz="1400" b="0">
                  <a:solidFill>
                    <a:srgbClr val="CCCCCC"/>
                  </a:solidFill>
                  <a:effectLst/>
                  <a:latin typeface="Consolas" panose="020B0609020204030204" pitchFamily="49" charset="0"/>
                </a:rPr>
                <a:t>(</a:t>
              </a:r>
              <a:r>
                <a:rPr lang="en-US" sz="1400" b="0">
                  <a:solidFill>
                    <a:srgbClr val="569CD6"/>
                  </a:solidFill>
                  <a:effectLst/>
                  <a:latin typeface="Consolas" panose="020B0609020204030204" pitchFamily="49" charset="0"/>
                </a:rPr>
                <a:t>void</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    </a:t>
              </a:r>
              <a:r>
                <a:rPr lang="en-US" sz="1400" b="0">
                  <a:solidFill>
                    <a:srgbClr val="C586C0"/>
                  </a:solidFill>
                  <a:effectLst/>
                  <a:latin typeface="Consolas" panose="020B0609020204030204" pitchFamily="49" charset="0"/>
                </a:rPr>
                <a:t>return</a:t>
              </a:r>
              <a:r>
                <a:rPr lang="en-US" sz="1400" b="0">
                  <a:solidFill>
                    <a:srgbClr val="CCCCCC"/>
                  </a:solidFill>
                  <a:effectLst/>
                  <a:latin typeface="Consolas" panose="020B0609020204030204" pitchFamily="49" charset="0"/>
                </a:rPr>
                <a:t> </a:t>
              </a:r>
              <a:r>
                <a:rPr lang="en-US" sz="1400" b="0">
                  <a:solidFill>
                    <a:srgbClr val="569CD6"/>
                  </a:solidFill>
                  <a:effectLst/>
                  <a:latin typeface="Consolas" panose="020B0609020204030204" pitchFamily="49" charset="0"/>
                </a:rPr>
                <a:t>PI</a:t>
              </a:r>
              <a:r>
                <a:rPr lang="en-US" sz="1400" b="0">
                  <a:solidFill>
                    <a:srgbClr val="CCCCCC"/>
                  </a:solidFill>
                  <a:effectLst/>
                  <a:latin typeface="Consolas" panose="020B0609020204030204" pitchFamily="49" charset="0"/>
                </a:rPr>
                <a:t> </a:t>
              </a:r>
              <a:r>
                <a:rPr lang="en-US" sz="1400" b="0">
                  <a:solidFill>
                    <a:srgbClr val="D4D4D4"/>
                  </a:solidFill>
                  <a:effectLst/>
                  <a:latin typeface="Consolas" panose="020B0609020204030204" pitchFamily="49" charset="0"/>
                </a:rPr>
                <a:t>*</a:t>
              </a:r>
              <a:r>
                <a:rPr lang="en-US" sz="1400" b="0">
                  <a:solidFill>
                    <a:srgbClr val="CCCCCC"/>
                  </a:solidFill>
                  <a:effectLst/>
                  <a:latin typeface="Consolas" panose="020B0609020204030204" pitchFamily="49" charset="0"/>
                </a:rPr>
                <a:t> </a:t>
              </a:r>
              <a:r>
                <a:rPr lang="en-US" sz="1400" b="0">
                  <a:solidFill>
                    <a:srgbClr val="569CD6"/>
                  </a:solidFill>
                  <a:effectLst/>
                  <a:latin typeface="Consolas" panose="020B0609020204030204" pitchFamily="49" charset="0"/>
                </a:rPr>
                <a:t>PI</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   </a:t>
              </a:r>
            </a:p>
          </p:txBody>
        </p:sp>
        <p:sp>
          <p:nvSpPr>
            <p:cNvPr id="42" name="TextBox 41">
              <a:extLst>
                <a:ext uri="{FF2B5EF4-FFF2-40B4-BE49-F238E27FC236}">
                  <a16:creationId xmlns:a16="http://schemas.microsoft.com/office/drawing/2014/main" id="{73B47167-B4D0-4080-5CCA-225B54A4231B}"/>
                </a:ext>
              </a:extLst>
            </p:cNvPr>
            <p:cNvSpPr txBox="1"/>
            <p:nvPr/>
          </p:nvSpPr>
          <p:spPr>
            <a:xfrm>
              <a:off x="8190283" y="3688280"/>
              <a:ext cx="3839993" cy="369332"/>
            </a:xfrm>
            <a:prstGeom prst="rect">
              <a:avLst/>
            </a:prstGeom>
            <a:solidFill>
              <a:schemeClr val="bg1"/>
            </a:solidFill>
            <a:ln>
              <a:solidFill>
                <a:schemeClr val="accent1">
                  <a:shade val="15000"/>
                </a:schemeClr>
              </a:solidFill>
            </a:ln>
          </p:spPr>
          <p:txBody>
            <a:bodyPr wrap="none" rtlCol="0">
              <a:noAutofit/>
            </a:bodyPr>
            <a:lstStyle/>
            <a:p>
              <a:r>
                <a:rPr lang="en-GB"/>
                <a:t>math.c</a:t>
              </a:r>
              <a:endParaRPr lang="LID4096"/>
            </a:p>
          </p:txBody>
        </p:sp>
      </p:grpSp>
      <p:grpSp>
        <p:nvGrpSpPr>
          <p:cNvPr id="43" name="Group 42">
            <a:extLst>
              <a:ext uri="{FF2B5EF4-FFF2-40B4-BE49-F238E27FC236}">
                <a16:creationId xmlns:a16="http://schemas.microsoft.com/office/drawing/2014/main" id="{86012DB6-74A2-7D00-1B00-E03E9B2350CC}"/>
              </a:ext>
            </a:extLst>
          </p:cNvPr>
          <p:cNvGrpSpPr/>
          <p:nvPr/>
        </p:nvGrpSpPr>
        <p:grpSpPr>
          <a:xfrm>
            <a:off x="8185625" y="1152835"/>
            <a:ext cx="2597919" cy="677109"/>
            <a:chOff x="8190283" y="2378731"/>
            <a:chExt cx="3839993" cy="677109"/>
          </a:xfrm>
          <a:effectLst>
            <a:outerShdw blurRad="50800" dist="38100" dir="2700000" algn="tl" rotWithShape="0">
              <a:prstClr val="black">
                <a:alpha val="40000"/>
              </a:prstClr>
            </a:outerShdw>
          </a:effectLst>
        </p:grpSpPr>
        <p:sp>
          <p:nvSpPr>
            <p:cNvPr id="44" name="TextBox 43">
              <a:extLst>
                <a:ext uri="{FF2B5EF4-FFF2-40B4-BE49-F238E27FC236}">
                  <a16:creationId xmlns:a16="http://schemas.microsoft.com/office/drawing/2014/main" id="{017DDEF2-32CA-FFD0-D8AD-C04E79D8831C}"/>
                </a:ext>
              </a:extLst>
            </p:cNvPr>
            <p:cNvSpPr txBox="1"/>
            <p:nvPr/>
          </p:nvSpPr>
          <p:spPr>
            <a:xfrm>
              <a:off x="8190283" y="2748063"/>
              <a:ext cx="3839993" cy="307777"/>
            </a:xfrm>
            <a:prstGeom prst="rect">
              <a:avLst/>
            </a:prstGeom>
            <a:solidFill>
              <a:schemeClr val="tx1">
                <a:lumMod val="75000"/>
                <a:lumOff val="25000"/>
              </a:schemeClr>
            </a:solidFill>
            <a:ln>
              <a:solidFill>
                <a:schemeClr val="accent1">
                  <a:shade val="15000"/>
                </a:schemeClr>
              </a:solidFill>
            </a:ln>
          </p:spPr>
          <p:txBody>
            <a:bodyPr wrap="square">
              <a:spAutoFit/>
            </a:bodyPr>
            <a:lstStyle/>
            <a:p>
              <a:pPr>
                <a:buNone/>
              </a:pPr>
              <a:r>
                <a:rPr lang="en-GB" sz="1400" b="0">
                  <a:solidFill>
                    <a:srgbClr val="569CD6"/>
                  </a:solidFill>
                  <a:effectLst/>
                  <a:latin typeface="Consolas" panose="020B0609020204030204" pitchFamily="49" charset="0"/>
                </a:rPr>
                <a:t>float</a:t>
              </a:r>
              <a:r>
                <a:rPr lang="en-GB" sz="1400" b="0">
                  <a:solidFill>
                    <a:srgbClr val="CCCCCC"/>
                  </a:solidFill>
                  <a:effectLst/>
                  <a:latin typeface="Consolas" panose="020B0609020204030204" pitchFamily="49" charset="0"/>
                </a:rPr>
                <a:t> </a:t>
              </a:r>
              <a:r>
                <a:rPr lang="en-GB" sz="1400" b="0">
                  <a:solidFill>
                    <a:srgbClr val="DCDCAA"/>
                  </a:solidFill>
                  <a:effectLst/>
                  <a:latin typeface="Consolas" panose="020B0609020204030204" pitchFamily="49" charset="0"/>
                </a:rPr>
                <a:t>pi_squared</a:t>
              </a:r>
              <a:r>
                <a:rPr lang="en-GB" sz="1400" b="0">
                  <a:solidFill>
                    <a:srgbClr val="CCCCCC"/>
                  </a:solidFill>
                  <a:effectLst/>
                  <a:latin typeface="Consolas" panose="020B0609020204030204" pitchFamily="49" charset="0"/>
                </a:rPr>
                <a:t>(); </a:t>
              </a:r>
            </a:p>
          </p:txBody>
        </p:sp>
        <p:sp>
          <p:nvSpPr>
            <p:cNvPr id="45" name="TextBox 44">
              <a:extLst>
                <a:ext uri="{FF2B5EF4-FFF2-40B4-BE49-F238E27FC236}">
                  <a16:creationId xmlns:a16="http://schemas.microsoft.com/office/drawing/2014/main" id="{7414B641-0388-10BF-2C82-53ECF5DFA2A7}"/>
                </a:ext>
              </a:extLst>
            </p:cNvPr>
            <p:cNvSpPr txBox="1"/>
            <p:nvPr/>
          </p:nvSpPr>
          <p:spPr>
            <a:xfrm>
              <a:off x="8190283" y="2378731"/>
              <a:ext cx="3839993" cy="369332"/>
            </a:xfrm>
            <a:prstGeom prst="rect">
              <a:avLst/>
            </a:prstGeom>
            <a:solidFill>
              <a:schemeClr val="bg1"/>
            </a:solidFill>
            <a:ln>
              <a:solidFill>
                <a:schemeClr val="accent1">
                  <a:shade val="15000"/>
                </a:schemeClr>
              </a:solidFill>
            </a:ln>
          </p:spPr>
          <p:txBody>
            <a:bodyPr wrap="none" rtlCol="0">
              <a:noAutofit/>
            </a:bodyPr>
            <a:lstStyle/>
            <a:p>
              <a:r>
                <a:rPr lang="en-GB"/>
                <a:t>math.h</a:t>
              </a:r>
              <a:endParaRPr lang="LID4096"/>
            </a:p>
          </p:txBody>
        </p:sp>
      </p:grpSp>
      <p:grpSp>
        <p:nvGrpSpPr>
          <p:cNvPr id="49" name="Group 48">
            <a:extLst>
              <a:ext uri="{FF2B5EF4-FFF2-40B4-BE49-F238E27FC236}">
                <a16:creationId xmlns:a16="http://schemas.microsoft.com/office/drawing/2014/main" id="{B77974F6-8340-D01D-A9B9-9F22E8AAE2A8}"/>
              </a:ext>
            </a:extLst>
          </p:cNvPr>
          <p:cNvGrpSpPr/>
          <p:nvPr/>
        </p:nvGrpSpPr>
        <p:grpSpPr>
          <a:xfrm>
            <a:off x="1659966" y="4510380"/>
            <a:ext cx="3092340" cy="1538883"/>
            <a:chOff x="161722" y="3688280"/>
            <a:chExt cx="3839993" cy="1538883"/>
          </a:xfrm>
          <a:effectLst>
            <a:outerShdw blurRad="50800" dist="38100" dir="2700000" algn="tl" rotWithShape="0">
              <a:prstClr val="black">
                <a:alpha val="40000"/>
              </a:prstClr>
            </a:outerShdw>
          </a:effectLst>
        </p:grpSpPr>
        <p:sp>
          <p:nvSpPr>
            <p:cNvPr id="50" name="TextBox 49">
              <a:extLst>
                <a:ext uri="{FF2B5EF4-FFF2-40B4-BE49-F238E27FC236}">
                  <a16:creationId xmlns:a16="http://schemas.microsoft.com/office/drawing/2014/main" id="{13F577D1-244C-94AA-CE93-2736F8056CAF}"/>
                </a:ext>
              </a:extLst>
            </p:cNvPr>
            <p:cNvSpPr txBox="1"/>
            <p:nvPr/>
          </p:nvSpPr>
          <p:spPr>
            <a:xfrm>
              <a:off x="161722" y="4057612"/>
              <a:ext cx="3839993" cy="1169551"/>
            </a:xfrm>
            <a:prstGeom prst="rect">
              <a:avLst/>
            </a:prstGeom>
            <a:solidFill>
              <a:schemeClr val="tx1">
                <a:lumMod val="75000"/>
                <a:lumOff val="25000"/>
              </a:schemeClr>
            </a:solidFill>
            <a:ln>
              <a:solidFill>
                <a:schemeClr val="accent1">
                  <a:shade val="15000"/>
                </a:schemeClr>
              </a:solidFill>
            </a:ln>
          </p:spPr>
          <p:txBody>
            <a:bodyPr wrap="square">
              <a:spAutoFit/>
            </a:bodyPr>
            <a:lstStyle/>
            <a:p>
              <a:pPr>
                <a:buNone/>
              </a:pP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function</a:t>
              </a:r>
              <a:r>
                <a:rPr lang="en-US" sz="1400" b="0">
                  <a:solidFill>
                    <a:srgbClr val="CCCCCC"/>
                  </a:solidFill>
                  <a:effectLst/>
                  <a:latin typeface="Consolas" panose="020B0609020204030204" pitchFamily="49" charset="0"/>
                </a:rPr>
                <a:t>(</a:t>
              </a: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9CDCFE"/>
                  </a:solidFill>
                  <a:effectLst/>
                  <a:latin typeface="Consolas" panose="020B0609020204030204" pitchFamily="49" charset="0"/>
                </a:rPr>
                <a:t>a</a:t>
              </a:r>
              <a:r>
                <a:rPr lang="en-US" sz="1400" b="0">
                  <a:solidFill>
                    <a:srgbClr val="CCCCCC"/>
                  </a:solidFill>
                  <a:effectLst/>
                  <a:latin typeface="Consolas" panose="020B0609020204030204" pitchFamily="49" charset="0"/>
                </a:rPr>
                <a:t>);</a:t>
              </a:r>
            </a:p>
            <a:p>
              <a:pPr>
                <a:buNone/>
              </a:pPr>
              <a:r>
                <a:rPr lang="en-US" sz="1400" b="0">
                  <a:solidFill>
                    <a:srgbClr val="569CD6"/>
                  </a:solidFill>
                  <a:effectLst/>
                  <a:latin typeface="Consolas" panose="020B0609020204030204" pitchFamily="49" charset="0"/>
                </a:rPr>
                <a:t>void</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main</a:t>
              </a:r>
              <a:r>
                <a:rPr lang="en-US" sz="1400" b="0">
                  <a:solidFill>
                    <a:srgbClr val="CCCCCC"/>
                  </a:solidFill>
                  <a:effectLst/>
                  <a:latin typeface="Consolas" panose="020B0609020204030204" pitchFamily="49" charset="0"/>
                </a:rPr>
                <a:t>(</a:t>
              </a:r>
              <a:r>
                <a:rPr lang="en-US" sz="1400" b="0">
                  <a:solidFill>
                    <a:srgbClr val="569CD6"/>
                  </a:solidFill>
                  <a:effectLst/>
                  <a:latin typeface="Consolas" panose="020B0609020204030204" pitchFamily="49" charset="0"/>
                </a:rPr>
                <a:t>void</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    </a:t>
              </a: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9CDCFE"/>
                  </a:solidFill>
                  <a:effectLst/>
                  <a:latin typeface="Consolas" panose="020B0609020204030204" pitchFamily="49" charset="0"/>
                </a:rPr>
                <a:t>a</a:t>
              </a:r>
              <a:r>
                <a:rPr lang="en-US" sz="1400" b="0">
                  <a:solidFill>
                    <a:srgbClr val="CCCCCC"/>
                  </a:solidFill>
                  <a:effectLst/>
                  <a:latin typeface="Consolas" panose="020B0609020204030204" pitchFamily="49" charset="0"/>
                </a:rPr>
                <a:t> </a:t>
              </a:r>
              <a:r>
                <a:rPr lang="en-US" sz="1400" b="0">
                  <a:solidFill>
                    <a:srgbClr val="D4D4D4"/>
                  </a:solidFill>
                  <a:effectLst/>
                  <a:latin typeface="Consolas" panose="020B0609020204030204" pitchFamily="49" charset="0"/>
                </a:rPr>
                <a:t>=</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function</a:t>
              </a:r>
              <a:r>
                <a:rPr lang="en-US" sz="1400" b="0">
                  <a:solidFill>
                    <a:srgbClr val="CCCCCC"/>
                  </a:solidFill>
                  <a:effectLst/>
                  <a:latin typeface="Consolas" panose="020B0609020204030204" pitchFamily="49" charset="0"/>
                </a:rPr>
                <a:t>(</a:t>
              </a:r>
              <a:r>
                <a:rPr lang="en-US" sz="1400" b="0">
                  <a:solidFill>
                    <a:srgbClr val="B5CEA8"/>
                  </a:solidFill>
                  <a:effectLst/>
                  <a:latin typeface="Consolas" panose="020B0609020204030204" pitchFamily="49" charset="0"/>
                </a:rPr>
                <a:t>2.0f</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p:txBody>
        </p:sp>
        <p:sp>
          <p:nvSpPr>
            <p:cNvPr id="51" name="TextBox 50">
              <a:extLst>
                <a:ext uri="{FF2B5EF4-FFF2-40B4-BE49-F238E27FC236}">
                  <a16:creationId xmlns:a16="http://schemas.microsoft.com/office/drawing/2014/main" id="{A6E65503-2870-9FA8-1A88-D088AD865D3C}"/>
                </a:ext>
              </a:extLst>
            </p:cNvPr>
            <p:cNvSpPr txBox="1"/>
            <p:nvPr/>
          </p:nvSpPr>
          <p:spPr>
            <a:xfrm>
              <a:off x="161722" y="3688280"/>
              <a:ext cx="3839993" cy="369332"/>
            </a:xfrm>
            <a:prstGeom prst="rect">
              <a:avLst/>
            </a:prstGeom>
            <a:solidFill>
              <a:schemeClr val="bg1"/>
            </a:solidFill>
            <a:ln>
              <a:solidFill>
                <a:schemeClr val="accent1">
                  <a:shade val="15000"/>
                </a:schemeClr>
              </a:solidFill>
            </a:ln>
          </p:spPr>
          <p:txBody>
            <a:bodyPr wrap="none" rtlCol="0">
              <a:noAutofit/>
            </a:bodyPr>
            <a:lstStyle/>
            <a:p>
              <a:r>
                <a:rPr lang="en-GB"/>
                <a:t>main.i</a:t>
              </a:r>
              <a:endParaRPr lang="LID4096"/>
            </a:p>
          </p:txBody>
        </p:sp>
      </p:grpSp>
      <p:grpSp>
        <p:nvGrpSpPr>
          <p:cNvPr id="54" name="Group 53">
            <a:extLst>
              <a:ext uri="{FF2B5EF4-FFF2-40B4-BE49-F238E27FC236}">
                <a16:creationId xmlns:a16="http://schemas.microsoft.com/office/drawing/2014/main" id="{E98E64E7-6DCA-7963-A1F9-CCDFA01EADF5}"/>
              </a:ext>
            </a:extLst>
          </p:cNvPr>
          <p:cNvGrpSpPr/>
          <p:nvPr/>
        </p:nvGrpSpPr>
        <p:grpSpPr>
          <a:xfrm>
            <a:off x="2362995" y="3837904"/>
            <a:ext cx="1576072" cy="618186"/>
            <a:chOff x="2362995" y="3837904"/>
            <a:chExt cx="1576072" cy="618186"/>
          </a:xfrm>
        </p:grpSpPr>
        <p:sp>
          <p:nvSpPr>
            <p:cNvPr id="52" name="Arrow: Down 51">
              <a:extLst>
                <a:ext uri="{FF2B5EF4-FFF2-40B4-BE49-F238E27FC236}">
                  <a16:creationId xmlns:a16="http://schemas.microsoft.com/office/drawing/2014/main" id="{5E038631-8E16-E0A2-9D1A-3F4BC56FFB57}"/>
                </a:ext>
              </a:extLst>
            </p:cNvPr>
            <p:cNvSpPr/>
            <p:nvPr/>
          </p:nvSpPr>
          <p:spPr>
            <a:xfrm>
              <a:off x="2730321" y="3837904"/>
              <a:ext cx="841420" cy="618186"/>
            </a:xfrm>
            <a:prstGeom prst="downArrow">
              <a:avLst>
                <a:gd name="adj1" fmla="val 50000"/>
                <a:gd name="adj2" fmla="val 3958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53" name="TextBox 52">
              <a:extLst>
                <a:ext uri="{FF2B5EF4-FFF2-40B4-BE49-F238E27FC236}">
                  <a16:creationId xmlns:a16="http://schemas.microsoft.com/office/drawing/2014/main" id="{999BB763-3167-2016-4D75-F4410D2C5451}"/>
                </a:ext>
              </a:extLst>
            </p:cNvPr>
            <p:cNvSpPr txBox="1"/>
            <p:nvPr/>
          </p:nvSpPr>
          <p:spPr>
            <a:xfrm>
              <a:off x="2362995" y="3946942"/>
              <a:ext cx="1576072" cy="200055"/>
            </a:xfrm>
            <a:prstGeom prst="rect">
              <a:avLst/>
            </a:prstGeom>
            <a:solidFill>
              <a:schemeClr val="tx1"/>
            </a:solidFill>
          </p:spPr>
          <p:txBody>
            <a:bodyPr wrap="none" rtlCol="0">
              <a:spAutoFit/>
            </a:bodyPr>
            <a:lstStyle/>
            <a:p>
              <a:r>
                <a:rPr lang="en-GB" sz="700">
                  <a:solidFill>
                    <a:schemeClr val="bg1"/>
                  </a:solidFill>
                  <a:latin typeface="Consolas" panose="020B0609020204030204" pitchFamily="49" charset="0"/>
                </a:rPr>
                <a:t>$ gcc –E –P main.c –o main.i</a:t>
              </a:r>
              <a:endParaRPr lang="LID4096" sz="700">
                <a:solidFill>
                  <a:schemeClr val="bg1"/>
                </a:solidFill>
                <a:latin typeface="Consolas" panose="020B0609020204030204" pitchFamily="49" charset="0"/>
              </a:endParaRPr>
            </a:p>
          </p:txBody>
        </p:sp>
      </p:grpSp>
      <p:grpSp>
        <p:nvGrpSpPr>
          <p:cNvPr id="55" name="Group 54">
            <a:extLst>
              <a:ext uri="{FF2B5EF4-FFF2-40B4-BE49-F238E27FC236}">
                <a16:creationId xmlns:a16="http://schemas.microsoft.com/office/drawing/2014/main" id="{32A2FF80-C72D-97BB-C063-BF872553FA51}"/>
              </a:ext>
            </a:extLst>
          </p:cNvPr>
          <p:cNvGrpSpPr/>
          <p:nvPr/>
        </p:nvGrpSpPr>
        <p:grpSpPr>
          <a:xfrm>
            <a:off x="5392203" y="3837904"/>
            <a:ext cx="2073003" cy="618186"/>
            <a:chOff x="2114529" y="3837904"/>
            <a:chExt cx="2073003" cy="618186"/>
          </a:xfrm>
        </p:grpSpPr>
        <p:sp>
          <p:nvSpPr>
            <p:cNvPr id="56" name="Arrow: Down 55">
              <a:extLst>
                <a:ext uri="{FF2B5EF4-FFF2-40B4-BE49-F238E27FC236}">
                  <a16:creationId xmlns:a16="http://schemas.microsoft.com/office/drawing/2014/main" id="{A77A5C75-8CCB-1FAF-3568-1458F8AC11C1}"/>
                </a:ext>
              </a:extLst>
            </p:cNvPr>
            <p:cNvSpPr/>
            <p:nvPr/>
          </p:nvSpPr>
          <p:spPr>
            <a:xfrm>
              <a:off x="2730321" y="3837904"/>
              <a:ext cx="841420" cy="618186"/>
            </a:xfrm>
            <a:prstGeom prst="downArrow">
              <a:avLst>
                <a:gd name="adj1" fmla="val 50000"/>
                <a:gd name="adj2" fmla="val 3958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57" name="TextBox 56">
              <a:extLst>
                <a:ext uri="{FF2B5EF4-FFF2-40B4-BE49-F238E27FC236}">
                  <a16:creationId xmlns:a16="http://schemas.microsoft.com/office/drawing/2014/main" id="{ECD811A3-D7AB-48B7-18E5-3566C076A307}"/>
                </a:ext>
              </a:extLst>
            </p:cNvPr>
            <p:cNvSpPr txBox="1"/>
            <p:nvPr/>
          </p:nvSpPr>
          <p:spPr>
            <a:xfrm>
              <a:off x="2114529" y="3946942"/>
              <a:ext cx="2073003" cy="200055"/>
            </a:xfrm>
            <a:prstGeom prst="rect">
              <a:avLst/>
            </a:prstGeom>
            <a:solidFill>
              <a:schemeClr val="tx1"/>
            </a:solidFill>
          </p:spPr>
          <p:txBody>
            <a:bodyPr wrap="none" rtlCol="0">
              <a:spAutoFit/>
            </a:bodyPr>
            <a:lstStyle/>
            <a:p>
              <a:r>
                <a:rPr lang="en-GB" sz="700">
                  <a:solidFill>
                    <a:schemeClr val="bg1"/>
                  </a:solidFill>
                  <a:latin typeface="Consolas" panose="020B0609020204030204" pitchFamily="49" charset="0"/>
                </a:rPr>
                <a:t>$ gcc –E –P functions.c –o functions.i</a:t>
              </a:r>
              <a:endParaRPr lang="LID4096" sz="700">
                <a:solidFill>
                  <a:schemeClr val="bg1"/>
                </a:solidFill>
                <a:latin typeface="Consolas" panose="020B0609020204030204" pitchFamily="49" charset="0"/>
              </a:endParaRPr>
            </a:p>
          </p:txBody>
        </p:sp>
      </p:grpSp>
      <p:grpSp>
        <p:nvGrpSpPr>
          <p:cNvPr id="3" name="Group 2">
            <a:extLst>
              <a:ext uri="{FF2B5EF4-FFF2-40B4-BE49-F238E27FC236}">
                <a16:creationId xmlns:a16="http://schemas.microsoft.com/office/drawing/2014/main" id="{DF09DDF9-E904-7217-EB26-99DE86066A82}"/>
              </a:ext>
            </a:extLst>
          </p:cNvPr>
          <p:cNvGrpSpPr/>
          <p:nvPr/>
        </p:nvGrpSpPr>
        <p:grpSpPr>
          <a:xfrm>
            <a:off x="4953029" y="4510380"/>
            <a:ext cx="3092340" cy="1538883"/>
            <a:chOff x="161722" y="3688280"/>
            <a:chExt cx="3839993" cy="1538883"/>
          </a:xfrm>
          <a:effectLst>
            <a:outerShdw blurRad="50800" dist="38100" dir="2700000" algn="tl" rotWithShape="0">
              <a:prstClr val="black">
                <a:alpha val="40000"/>
              </a:prstClr>
            </a:outerShdw>
          </a:effectLst>
        </p:grpSpPr>
        <p:sp>
          <p:nvSpPr>
            <p:cNvPr id="4" name="TextBox 3">
              <a:extLst>
                <a:ext uri="{FF2B5EF4-FFF2-40B4-BE49-F238E27FC236}">
                  <a16:creationId xmlns:a16="http://schemas.microsoft.com/office/drawing/2014/main" id="{8B716A78-FF39-12A3-FD79-541653B486DF}"/>
                </a:ext>
              </a:extLst>
            </p:cNvPr>
            <p:cNvSpPr txBox="1"/>
            <p:nvPr/>
          </p:nvSpPr>
          <p:spPr>
            <a:xfrm>
              <a:off x="161722" y="4057612"/>
              <a:ext cx="3839993" cy="1169551"/>
            </a:xfrm>
            <a:prstGeom prst="rect">
              <a:avLst/>
            </a:prstGeom>
            <a:solidFill>
              <a:schemeClr val="tx1">
                <a:lumMod val="75000"/>
                <a:lumOff val="25000"/>
              </a:schemeClr>
            </a:solidFill>
            <a:ln>
              <a:solidFill>
                <a:schemeClr val="accent1">
                  <a:shade val="15000"/>
                </a:schemeClr>
              </a:solidFill>
            </a:ln>
          </p:spPr>
          <p:txBody>
            <a:bodyPr wrap="square">
              <a:spAutoFit/>
            </a:bodyPr>
            <a:lstStyle/>
            <a:p>
              <a:pPr>
                <a:buNone/>
              </a:pP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pi_squared</a:t>
              </a:r>
              <a:r>
                <a:rPr lang="en-US" sz="1400" b="0">
                  <a:solidFill>
                    <a:srgbClr val="CCCCCC"/>
                  </a:solidFill>
                  <a:effectLst/>
                  <a:latin typeface="Consolas" panose="020B0609020204030204" pitchFamily="49" charset="0"/>
                </a:rPr>
                <a:t>();</a:t>
              </a:r>
            </a:p>
            <a:p>
              <a:pPr>
                <a:buNone/>
              </a:pP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function</a:t>
              </a:r>
              <a:r>
                <a:rPr lang="en-US" sz="1400" b="0">
                  <a:solidFill>
                    <a:srgbClr val="CCCCCC"/>
                  </a:solidFill>
                  <a:effectLst/>
                  <a:latin typeface="Consolas" panose="020B0609020204030204" pitchFamily="49" charset="0"/>
                </a:rPr>
                <a:t>(</a:t>
              </a: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9CDCFE"/>
                  </a:solidFill>
                  <a:effectLst/>
                  <a:latin typeface="Consolas" panose="020B0609020204030204" pitchFamily="49" charset="0"/>
                </a:rPr>
                <a:t>a</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    </a:t>
              </a:r>
              <a:r>
                <a:rPr lang="en-US" sz="1400" b="0">
                  <a:solidFill>
                    <a:srgbClr val="C586C0"/>
                  </a:solidFill>
                  <a:effectLst/>
                  <a:latin typeface="Consolas" panose="020B0609020204030204" pitchFamily="49" charset="0"/>
                </a:rPr>
                <a:t>return</a:t>
              </a:r>
              <a:r>
                <a:rPr lang="en-US" sz="1400" b="0">
                  <a:solidFill>
                    <a:srgbClr val="CCCCCC"/>
                  </a:solidFill>
                  <a:effectLst/>
                  <a:latin typeface="Consolas" panose="020B0609020204030204" pitchFamily="49" charset="0"/>
                </a:rPr>
                <a:t> </a:t>
              </a:r>
              <a:r>
                <a:rPr lang="en-US" sz="1400" b="0">
                  <a:solidFill>
                    <a:srgbClr val="9CDCFE"/>
                  </a:solidFill>
                  <a:effectLst/>
                  <a:latin typeface="Consolas" panose="020B0609020204030204" pitchFamily="49" charset="0"/>
                </a:rPr>
                <a:t>a</a:t>
              </a:r>
              <a:r>
                <a:rPr lang="en-US" sz="1400" b="0">
                  <a:solidFill>
                    <a:srgbClr val="CCCCCC"/>
                  </a:solidFill>
                  <a:effectLst/>
                  <a:latin typeface="Consolas" panose="020B0609020204030204" pitchFamily="49" charset="0"/>
                </a:rPr>
                <a:t> </a:t>
              </a:r>
              <a:r>
                <a:rPr lang="en-US" sz="1400" b="0">
                  <a:solidFill>
                    <a:srgbClr val="D4D4D4"/>
                  </a:solidFill>
                  <a:effectLst/>
                  <a:latin typeface="Consolas" panose="020B0609020204030204" pitchFamily="49" charset="0"/>
                </a:rPr>
                <a:t>*</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pi_squared</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p:txBody>
        </p:sp>
        <p:sp>
          <p:nvSpPr>
            <p:cNvPr id="5" name="TextBox 4">
              <a:extLst>
                <a:ext uri="{FF2B5EF4-FFF2-40B4-BE49-F238E27FC236}">
                  <a16:creationId xmlns:a16="http://schemas.microsoft.com/office/drawing/2014/main" id="{8E531EC8-BC51-D75A-6C56-2E40CFB72A6B}"/>
                </a:ext>
              </a:extLst>
            </p:cNvPr>
            <p:cNvSpPr txBox="1"/>
            <p:nvPr/>
          </p:nvSpPr>
          <p:spPr>
            <a:xfrm>
              <a:off x="161722" y="3688280"/>
              <a:ext cx="3839993" cy="369332"/>
            </a:xfrm>
            <a:prstGeom prst="rect">
              <a:avLst/>
            </a:prstGeom>
            <a:solidFill>
              <a:schemeClr val="bg1"/>
            </a:solidFill>
            <a:ln>
              <a:solidFill>
                <a:schemeClr val="accent1">
                  <a:shade val="15000"/>
                </a:schemeClr>
              </a:solidFill>
            </a:ln>
          </p:spPr>
          <p:txBody>
            <a:bodyPr wrap="none" rtlCol="0">
              <a:noAutofit/>
            </a:bodyPr>
            <a:lstStyle/>
            <a:p>
              <a:r>
                <a:rPr lang="en-GB"/>
                <a:t>functions.i</a:t>
              </a:r>
              <a:endParaRPr lang="LID4096"/>
            </a:p>
          </p:txBody>
        </p:sp>
      </p:grpSp>
    </p:spTree>
    <p:extLst>
      <p:ext uri="{BB962C8B-B14F-4D97-AF65-F5344CB8AC3E}">
        <p14:creationId xmlns:p14="http://schemas.microsoft.com/office/powerpoint/2010/main" val="205149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4.58333E-6 -1.11111E-6 L -0.25364 0.14398 " pathEditMode="relative" rAng="0" ptsTypes="AA">
                                      <p:cBhvr>
                                        <p:cTn id="6" dur="1000" fill="hold"/>
                                        <p:tgtEl>
                                          <p:spTgt spid="43"/>
                                        </p:tgtEl>
                                        <p:attrNameLst>
                                          <p:attrName>ppt_x</p:attrName>
                                          <p:attrName>ppt_y</p:attrName>
                                        </p:attrNameLst>
                                      </p:cBhvr>
                                      <p:rCtr x="-12682" y="7199"/>
                                    </p:animMotion>
                                  </p:childTnLst>
                                </p:cTn>
                              </p:par>
                              <p:par>
                                <p:cTn id="7" presetID="10" presetClass="exit" presetSubtype="0" fill="hold" nodeType="withEffect">
                                  <p:stCondLst>
                                    <p:cond delay="0"/>
                                  </p:stCondLst>
                                  <p:childTnLst>
                                    <p:animEffect transition="out" filter="fade">
                                      <p:cBhvr>
                                        <p:cTn id="8" dur="1000"/>
                                        <p:tgtEl>
                                          <p:spTgt spid="43"/>
                                        </p:tgtEl>
                                      </p:cBhvr>
                                    </p:animEffect>
                                    <p:set>
                                      <p:cBhvr>
                                        <p:cTn id="9" dur="1" fill="hold">
                                          <p:stCondLst>
                                            <p:cond delay="999"/>
                                          </p:stCondLst>
                                        </p:cTn>
                                        <p:tgtEl>
                                          <p:spTgt spid="43"/>
                                        </p:tgtEl>
                                        <p:attrNameLst>
                                          <p:attrName>style.visibility</p:attrName>
                                        </p:attrNameLst>
                                      </p:cBhvr>
                                      <p:to>
                                        <p:strVal val="hidden"/>
                                      </p:to>
                                    </p:set>
                                  </p:childTnLst>
                                </p:cTn>
                              </p:par>
                            </p:childTnLst>
                          </p:cTn>
                        </p:par>
                        <p:par>
                          <p:cTn id="10" fill="hold">
                            <p:stCondLst>
                              <p:cond delay="1000"/>
                            </p:stCondLst>
                            <p:childTnLst>
                              <p:par>
                                <p:cTn id="11" presetID="22" presetClass="entr" presetSubtype="1" fill="hold" nodeType="afterEffect">
                                  <p:stCondLst>
                                    <p:cond delay="0"/>
                                  </p:stCondLst>
                                  <p:childTnLst>
                                    <p:set>
                                      <p:cBhvr>
                                        <p:cTn id="12" dur="1" fill="hold">
                                          <p:stCondLst>
                                            <p:cond delay="0"/>
                                          </p:stCondLst>
                                        </p:cTn>
                                        <p:tgtEl>
                                          <p:spTgt spid="55"/>
                                        </p:tgtEl>
                                        <p:attrNameLst>
                                          <p:attrName>style.visibility</p:attrName>
                                        </p:attrNameLst>
                                      </p:cBhvr>
                                      <p:to>
                                        <p:strVal val="visible"/>
                                      </p:to>
                                    </p:set>
                                    <p:animEffect transition="in" filter="wipe(up)">
                                      <p:cBhvr>
                                        <p:cTn id="13" dur="500"/>
                                        <p:tgtEl>
                                          <p:spTgt spid="55"/>
                                        </p:tgtEl>
                                      </p:cBhvr>
                                    </p:animEffect>
                                  </p:childTnLst>
                                </p:cTn>
                              </p:par>
                            </p:childTnLst>
                          </p:cTn>
                        </p:par>
                        <p:par>
                          <p:cTn id="14" fill="hold">
                            <p:stCondLst>
                              <p:cond delay="1500"/>
                            </p:stCondLst>
                            <p:childTnLst>
                              <p:par>
                                <p:cTn id="15" presetID="10" presetClass="entr" presetSubtype="0"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518EA-55B6-7027-34A3-9B6EA59A57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E974DB-0225-E0ED-F431-3C4ADF982936}"/>
              </a:ext>
            </a:extLst>
          </p:cNvPr>
          <p:cNvSpPr>
            <a:spLocks noGrp="1"/>
          </p:cNvSpPr>
          <p:nvPr>
            <p:ph type="title"/>
          </p:nvPr>
        </p:nvSpPr>
        <p:spPr/>
        <p:txBody>
          <a:bodyPr/>
          <a:lstStyle/>
          <a:p>
            <a:r>
              <a:rPr lang="en-GB"/>
              <a:t>Kompilering – </a:t>
            </a:r>
            <a:br>
              <a:rPr lang="en-GB"/>
            </a:br>
            <a:r>
              <a:rPr lang="en-GB"/>
              <a:t>Preprocessorn</a:t>
            </a:r>
            <a:endParaRPr lang="LID4096"/>
          </a:p>
        </p:txBody>
      </p:sp>
      <p:grpSp>
        <p:nvGrpSpPr>
          <p:cNvPr id="34" name="Group 33">
            <a:extLst>
              <a:ext uri="{FF2B5EF4-FFF2-40B4-BE49-F238E27FC236}">
                <a16:creationId xmlns:a16="http://schemas.microsoft.com/office/drawing/2014/main" id="{85B1B03C-92A5-19C1-DA80-DF02BD59B26B}"/>
              </a:ext>
            </a:extLst>
          </p:cNvPr>
          <p:cNvGrpSpPr/>
          <p:nvPr/>
        </p:nvGrpSpPr>
        <p:grpSpPr>
          <a:xfrm>
            <a:off x="1659966" y="1975389"/>
            <a:ext cx="3092340" cy="1754327"/>
            <a:chOff x="161722" y="3688280"/>
            <a:chExt cx="3839993" cy="1754327"/>
          </a:xfrm>
          <a:effectLst>
            <a:outerShdw blurRad="50800" dist="38100" dir="2700000" algn="tl" rotWithShape="0">
              <a:prstClr val="black">
                <a:alpha val="40000"/>
              </a:prstClr>
            </a:outerShdw>
          </a:effectLst>
        </p:grpSpPr>
        <p:sp>
          <p:nvSpPr>
            <p:cNvPr id="35" name="TextBox 34">
              <a:extLst>
                <a:ext uri="{FF2B5EF4-FFF2-40B4-BE49-F238E27FC236}">
                  <a16:creationId xmlns:a16="http://schemas.microsoft.com/office/drawing/2014/main" id="{AA78276A-4E90-6597-34C0-5EB3BDD2E3E7}"/>
                </a:ext>
              </a:extLst>
            </p:cNvPr>
            <p:cNvSpPr txBox="1"/>
            <p:nvPr/>
          </p:nvSpPr>
          <p:spPr>
            <a:xfrm>
              <a:off x="161722" y="4057612"/>
              <a:ext cx="3839993" cy="1384995"/>
            </a:xfrm>
            <a:prstGeom prst="rect">
              <a:avLst/>
            </a:prstGeom>
            <a:solidFill>
              <a:schemeClr val="tx1">
                <a:lumMod val="75000"/>
                <a:lumOff val="25000"/>
              </a:schemeClr>
            </a:solidFill>
            <a:ln>
              <a:solidFill>
                <a:schemeClr val="accent1">
                  <a:shade val="15000"/>
                </a:schemeClr>
              </a:solidFill>
            </a:ln>
          </p:spPr>
          <p:txBody>
            <a:bodyPr wrap="square">
              <a:spAutoFit/>
            </a:bodyPr>
            <a:lstStyle/>
            <a:p>
              <a:pPr>
                <a:buNone/>
              </a:pPr>
              <a:r>
                <a:rPr lang="en-US" sz="1400">
                  <a:solidFill>
                    <a:srgbClr val="C586C0"/>
                  </a:solidFill>
                  <a:effectLst/>
                  <a:latin typeface="Consolas" panose="020B0609020204030204" pitchFamily="49" charset="0"/>
                </a:rPr>
                <a:t>#include</a:t>
              </a:r>
              <a:r>
                <a:rPr lang="en-US" sz="1400">
                  <a:solidFill>
                    <a:srgbClr val="569CD6"/>
                  </a:solidFill>
                  <a:effectLst/>
                  <a:latin typeface="Consolas" panose="020B0609020204030204" pitchFamily="49" charset="0"/>
                </a:rPr>
                <a:t> </a:t>
              </a:r>
              <a:r>
                <a:rPr lang="en-US" sz="1400">
                  <a:solidFill>
                    <a:srgbClr val="CE9178"/>
                  </a:solidFill>
                  <a:effectLst/>
                  <a:latin typeface="Consolas" panose="020B0609020204030204" pitchFamily="49" charset="0"/>
                </a:rPr>
                <a:t>"functions.h"</a:t>
              </a:r>
              <a:endParaRPr lang="en-US" sz="1400">
                <a:solidFill>
                  <a:srgbClr val="CCCCCC"/>
                </a:solidFill>
                <a:effectLst/>
                <a:latin typeface="Consolas" panose="020B0609020204030204" pitchFamily="49" charset="0"/>
              </a:endParaRPr>
            </a:p>
            <a:p>
              <a:pPr>
                <a:buNone/>
              </a:pPr>
              <a:endParaRPr lang="en-US" sz="1400" b="0">
                <a:solidFill>
                  <a:srgbClr val="CCCCCC"/>
                </a:solidFill>
                <a:effectLst/>
                <a:latin typeface="Consolas" panose="020B0609020204030204" pitchFamily="49" charset="0"/>
              </a:endParaRPr>
            </a:p>
            <a:p>
              <a:pPr>
                <a:buNone/>
              </a:pPr>
              <a:r>
                <a:rPr lang="en-US" sz="1400" b="0">
                  <a:solidFill>
                    <a:srgbClr val="569CD6"/>
                  </a:solidFill>
                  <a:effectLst/>
                  <a:latin typeface="Consolas" panose="020B0609020204030204" pitchFamily="49" charset="0"/>
                </a:rPr>
                <a:t>void</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main</a:t>
              </a:r>
              <a:r>
                <a:rPr lang="en-US" sz="1400" b="0">
                  <a:solidFill>
                    <a:srgbClr val="CCCCCC"/>
                  </a:solidFill>
                  <a:effectLst/>
                  <a:latin typeface="Consolas" panose="020B0609020204030204" pitchFamily="49" charset="0"/>
                </a:rPr>
                <a:t>(</a:t>
              </a:r>
              <a:r>
                <a:rPr lang="en-US" sz="1400" b="0">
                  <a:solidFill>
                    <a:srgbClr val="569CD6"/>
                  </a:solidFill>
                  <a:effectLst/>
                  <a:latin typeface="Consolas" panose="020B0609020204030204" pitchFamily="49" charset="0"/>
                </a:rPr>
                <a:t>void</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    </a:t>
              </a: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9CDCFE"/>
                  </a:solidFill>
                  <a:effectLst/>
                  <a:latin typeface="Consolas" panose="020B0609020204030204" pitchFamily="49" charset="0"/>
                </a:rPr>
                <a:t>a</a:t>
              </a:r>
              <a:r>
                <a:rPr lang="en-US" sz="1400" b="0">
                  <a:solidFill>
                    <a:srgbClr val="CCCCCC"/>
                  </a:solidFill>
                  <a:effectLst/>
                  <a:latin typeface="Consolas" panose="020B0609020204030204" pitchFamily="49" charset="0"/>
                </a:rPr>
                <a:t> </a:t>
              </a:r>
              <a:r>
                <a:rPr lang="en-US" sz="1400" b="0">
                  <a:solidFill>
                    <a:srgbClr val="D4D4D4"/>
                  </a:solidFill>
                  <a:effectLst/>
                  <a:latin typeface="Consolas" panose="020B0609020204030204" pitchFamily="49" charset="0"/>
                </a:rPr>
                <a:t>=</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function</a:t>
              </a:r>
              <a:r>
                <a:rPr lang="en-US" sz="1400" b="0">
                  <a:solidFill>
                    <a:srgbClr val="CCCCCC"/>
                  </a:solidFill>
                  <a:effectLst/>
                  <a:latin typeface="Consolas" panose="020B0609020204030204" pitchFamily="49" charset="0"/>
                </a:rPr>
                <a:t>(</a:t>
              </a:r>
              <a:r>
                <a:rPr lang="en-US" sz="1400" b="0">
                  <a:solidFill>
                    <a:srgbClr val="B5CEA8"/>
                  </a:solidFill>
                  <a:effectLst/>
                  <a:latin typeface="Consolas" panose="020B0609020204030204" pitchFamily="49" charset="0"/>
                </a:rPr>
                <a:t>2.0f</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p:txBody>
        </p:sp>
        <p:sp>
          <p:nvSpPr>
            <p:cNvPr id="36" name="TextBox 35">
              <a:extLst>
                <a:ext uri="{FF2B5EF4-FFF2-40B4-BE49-F238E27FC236}">
                  <a16:creationId xmlns:a16="http://schemas.microsoft.com/office/drawing/2014/main" id="{B8E40CA6-ABA7-67D6-B0BD-B14EFC0AA198}"/>
                </a:ext>
              </a:extLst>
            </p:cNvPr>
            <p:cNvSpPr txBox="1"/>
            <p:nvPr/>
          </p:nvSpPr>
          <p:spPr>
            <a:xfrm>
              <a:off x="161722" y="3688280"/>
              <a:ext cx="3839993" cy="369332"/>
            </a:xfrm>
            <a:prstGeom prst="rect">
              <a:avLst/>
            </a:prstGeom>
            <a:solidFill>
              <a:schemeClr val="bg1"/>
            </a:solidFill>
            <a:ln>
              <a:solidFill>
                <a:schemeClr val="accent1">
                  <a:shade val="15000"/>
                </a:schemeClr>
              </a:solidFill>
            </a:ln>
          </p:spPr>
          <p:txBody>
            <a:bodyPr wrap="none" rtlCol="0">
              <a:noAutofit/>
            </a:bodyPr>
            <a:lstStyle/>
            <a:p>
              <a:r>
                <a:rPr lang="en-GB"/>
                <a:t>main.c</a:t>
              </a:r>
              <a:endParaRPr lang="LID4096"/>
            </a:p>
          </p:txBody>
        </p:sp>
      </p:grpSp>
      <p:grpSp>
        <p:nvGrpSpPr>
          <p:cNvPr id="37" name="Group 36">
            <a:extLst>
              <a:ext uri="{FF2B5EF4-FFF2-40B4-BE49-F238E27FC236}">
                <a16:creationId xmlns:a16="http://schemas.microsoft.com/office/drawing/2014/main" id="{9D1D5466-BC0D-D76D-6BAA-A140EADE6123}"/>
              </a:ext>
            </a:extLst>
          </p:cNvPr>
          <p:cNvGrpSpPr/>
          <p:nvPr/>
        </p:nvGrpSpPr>
        <p:grpSpPr>
          <a:xfrm>
            <a:off x="4953029" y="1975389"/>
            <a:ext cx="3031873" cy="1754327"/>
            <a:chOff x="4176003" y="3688280"/>
            <a:chExt cx="3839993" cy="1754327"/>
          </a:xfrm>
          <a:effectLst>
            <a:outerShdw blurRad="50800" dist="38100" dir="2700000" algn="tl" rotWithShape="0">
              <a:prstClr val="black">
                <a:alpha val="40000"/>
              </a:prstClr>
            </a:outerShdw>
          </a:effectLst>
        </p:grpSpPr>
        <p:sp>
          <p:nvSpPr>
            <p:cNvPr id="38" name="TextBox 37">
              <a:extLst>
                <a:ext uri="{FF2B5EF4-FFF2-40B4-BE49-F238E27FC236}">
                  <a16:creationId xmlns:a16="http://schemas.microsoft.com/office/drawing/2014/main" id="{4A2BC8B4-8037-AC54-9089-658910011F07}"/>
                </a:ext>
              </a:extLst>
            </p:cNvPr>
            <p:cNvSpPr txBox="1"/>
            <p:nvPr/>
          </p:nvSpPr>
          <p:spPr>
            <a:xfrm>
              <a:off x="4176003" y="4057612"/>
              <a:ext cx="3839993" cy="1384995"/>
            </a:xfrm>
            <a:prstGeom prst="rect">
              <a:avLst/>
            </a:prstGeom>
            <a:solidFill>
              <a:schemeClr val="tx1">
                <a:lumMod val="75000"/>
                <a:lumOff val="25000"/>
              </a:schemeClr>
            </a:solidFill>
            <a:ln>
              <a:solidFill>
                <a:schemeClr val="accent1">
                  <a:shade val="15000"/>
                </a:schemeClr>
              </a:solidFill>
            </a:ln>
          </p:spPr>
          <p:txBody>
            <a:bodyPr wrap="square">
              <a:spAutoFit/>
            </a:bodyPr>
            <a:lstStyle/>
            <a:p>
              <a:pPr>
                <a:buNone/>
              </a:pPr>
              <a:r>
                <a:rPr lang="en-US" sz="1400">
                  <a:solidFill>
                    <a:srgbClr val="C586C0"/>
                  </a:solidFill>
                  <a:effectLst/>
                  <a:latin typeface="Consolas" panose="020B0609020204030204" pitchFamily="49" charset="0"/>
                </a:rPr>
                <a:t>#include</a:t>
              </a:r>
              <a:r>
                <a:rPr lang="en-US" sz="1400">
                  <a:solidFill>
                    <a:srgbClr val="569CD6"/>
                  </a:solidFill>
                  <a:effectLst/>
                  <a:latin typeface="Consolas" panose="020B0609020204030204" pitchFamily="49" charset="0"/>
                </a:rPr>
                <a:t> </a:t>
              </a:r>
              <a:r>
                <a:rPr lang="en-US" sz="1400">
                  <a:solidFill>
                    <a:srgbClr val="CE9178"/>
                  </a:solidFill>
                  <a:effectLst/>
                  <a:latin typeface="Consolas" panose="020B0609020204030204" pitchFamily="49" charset="0"/>
                </a:rPr>
                <a:t>"math.h"</a:t>
              </a:r>
              <a:endParaRPr lang="en-US" sz="1400">
                <a:solidFill>
                  <a:srgbClr val="CCCCCC"/>
                </a:solidFill>
                <a:effectLst/>
                <a:latin typeface="Consolas" panose="020B0609020204030204" pitchFamily="49" charset="0"/>
              </a:endParaRPr>
            </a:p>
            <a:p>
              <a:pPr>
                <a:buNone/>
              </a:pPr>
              <a:endParaRPr lang="en-US" sz="1400" b="0">
                <a:solidFill>
                  <a:srgbClr val="CCCCCC"/>
                </a:solidFill>
                <a:effectLst/>
                <a:latin typeface="Consolas" panose="020B0609020204030204" pitchFamily="49" charset="0"/>
              </a:endParaRPr>
            </a:p>
            <a:p>
              <a:pPr>
                <a:buNone/>
              </a:pP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function</a:t>
              </a:r>
              <a:r>
                <a:rPr lang="en-US" sz="1400" b="0">
                  <a:solidFill>
                    <a:srgbClr val="CCCCCC"/>
                  </a:solidFill>
                  <a:effectLst/>
                  <a:latin typeface="Consolas" panose="020B0609020204030204" pitchFamily="49" charset="0"/>
                </a:rPr>
                <a:t>(</a:t>
              </a: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9CDCFE"/>
                  </a:solidFill>
                  <a:effectLst/>
                  <a:latin typeface="Consolas" panose="020B0609020204030204" pitchFamily="49" charset="0"/>
                </a:rPr>
                <a:t>a</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    </a:t>
              </a:r>
              <a:r>
                <a:rPr lang="en-US" sz="1400" b="0">
                  <a:solidFill>
                    <a:srgbClr val="C586C0"/>
                  </a:solidFill>
                  <a:effectLst/>
                  <a:latin typeface="Consolas" panose="020B0609020204030204" pitchFamily="49" charset="0"/>
                </a:rPr>
                <a:t>return</a:t>
              </a:r>
              <a:r>
                <a:rPr lang="en-US" sz="1400" b="0">
                  <a:solidFill>
                    <a:srgbClr val="CCCCCC"/>
                  </a:solidFill>
                  <a:effectLst/>
                  <a:latin typeface="Consolas" panose="020B0609020204030204" pitchFamily="49" charset="0"/>
                </a:rPr>
                <a:t> </a:t>
              </a:r>
              <a:r>
                <a:rPr lang="en-US" sz="1400" b="0">
                  <a:solidFill>
                    <a:srgbClr val="9CDCFE"/>
                  </a:solidFill>
                  <a:effectLst/>
                  <a:latin typeface="Consolas" panose="020B0609020204030204" pitchFamily="49" charset="0"/>
                </a:rPr>
                <a:t>a</a:t>
              </a:r>
              <a:r>
                <a:rPr lang="en-US" sz="1400" b="0">
                  <a:solidFill>
                    <a:srgbClr val="CCCCCC"/>
                  </a:solidFill>
                  <a:effectLst/>
                  <a:latin typeface="Consolas" panose="020B0609020204030204" pitchFamily="49" charset="0"/>
                </a:rPr>
                <a:t> </a:t>
              </a:r>
              <a:r>
                <a:rPr lang="en-US" sz="1400" b="0">
                  <a:solidFill>
                    <a:srgbClr val="D4D4D4"/>
                  </a:solidFill>
                  <a:effectLst/>
                  <a:latin typeface="Consolas" panose="020B0609020204030204" pitchFamily="49" charset="0"/>
                </a:rPr>
                <a:t>*</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pi_squared</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p:txBody>
        </p:sp>
        <p:sp>
          <p:nvSpPr>
            <p:cNvPr id="39" name="TextBox 38">
              <a:extLst>
                <a:ext uri="{FF2B5EF4-FFF2-40B4-BE49-F238E27FC236}">
                  <a16:creationId xmlns:a16="http://schemas.microsoft.com/office/drawing/2014/main" id="{08626287-1BAB-57C9-237C-0DE9E359DBC2}"/>
                </a:ext>
              </a:extLst>
            </p:cNvPr>
            <p:cNvSpPr txBox="1"/>
            <p:nvPr/>
          </p:nvSpPr>
          <p:spPr>
            <a:xfrm>
              <a:off x="4176003" y="3688280"/>
              <a:ext cx="3839993" cy="369332"/>
            </a:xfrm>
            <a:prstGeom prst="rect">
              <a:avLst/>
            </a:prstGeom>
            <a:solidFill>
              <a:schemeClr val="bg1"/>
            </a:solidFill>
            <a:ln>
              <a:solidFill>
                <a:schemeClr val="accent1">
                  <a:shade val="15000"/>
                </a:schemeClr>
              </a:solidFill>
            </a:ln>
          </p:spPr>
          <p:txBody>
            <a:bodyPr wrap="none" rtlCol="0">
              <a:noAutofit/>
            </a:bodyPr>
            <a:lstStyle/>
            <a:p>
              <a:r>
                <a:rPr lang="en-GB"/>
                <a:t>functions.c</a:t>
              </a:r>
              <a:endParaRPr lang="LID4096"/>
            </a:p>
          </p:txBody>
        </p:sp>
      </p:grpSp>
      <p:grpSp>
        <p:nvGrpSpPr>
          <p:cNvPr id="40" name="Group 39">
            <a:extLst>
              <a:ext uri="{FF2B5EF4-FFF2-40B4-BE49-F238E27FC236}">
                <a16:creationId xmlns:a16="http://schemas.microsoft.com/office/drawing/2014/main" id="{106C2330-0BD3-F71B-E331-7FE645F9CF12}"/>
              </a:ext>
            </a:extLst>
          </p:cNvPr>
          <p:cNvGrpSpPr/>
          <p:nvPr/>
        </p:nvGrpSpPr>
        <p:grpSpPr>
          <a:xfrm>
            <a:off x="8185625" y="1975389"/>
            <a:ext cx="2597920" cy="1538883"/>
            <a:chOff x="8190283" y="3688280"/>
            <a:chExt cx="3839994" cy="1538883"/>
          </a:xfrm>
          <a:effectLst>
            <a:outerShdw blurRad="50800" dist="38100" dir="2700000" algn="tl" rotWithShape="0">
              <a:prstClr val="black">
                <a:alpha val="40000"/>
              </a:prstClr>
            </a:outerShdw>
          </a:effectLst>
        </p:grpSpPr>
        <p:sp>
          <p:nvSpPr>
            <p:cNvPr id="41" name="TextBox 40">
              <a:extLst>
                <a:ext uri="{FF2B5EF4-FFF2-40B4-BE49-F238E27FC236}">
                  <a16:creationId xmlns:a16="http://schemas.microsoft.com/office/drawing/2014/main" id="{DEE5597A-7117-602C-0F35-4DCB3A00C68E}"/>
                </a:ext>
              </a:extLst>
            </p:cNvPr>
            <p:cNvSpPr txBox="1"/>
            <p:nvPr/>
          </p:nvSpPr>
          <p:spPr>
            <a:xfrm>
              <a:off x="8190284" y="4057612"/>
              <a:ext cx="3839993" cy="1169551"/>
            </a:xfrm>
            <a:prstGeom prst="rect">
              <a:avLst/>
            </a:prstGeom>
            <a:solidFill>
              <a:schemeClr val="tx1">
                <a:lumMod val="75000"/>
                <a:lumOff val="25000"/>
              </a:schemeClr>
            </a:solidFill>
            <a:ln>
              <a:solidFill>
                <a:schemeClr val="accent1">
                  <a:shade val="15000"/>
                </a:schemeClr>
              </a:solidFill>
            </a:ln>
          </p:spPr>
          <p:txBody>
            <a:bodyPr wrap="square">
              <a:spAutoFit/>
            </a:bodyPr>
            <a:lstStyle/>
            <a:p>
              <a:pPr>
                <a:buNone/>
              </a:pPr>
              <a:r>
                <a:rPr lang="en-US" sz="1400" b="1">
                  <a:solidFill>
                    <a:srgbClr val="C586C0"/>
                  </a:solidFill>
                  <a:effectLst/>
                  <a:latin typeface="Consolas" panose="020B0609020204030204" pitchFamily="49" charset="0"/>
                </a:rPr>
                <a:t>#define</a:t>
              </a:r>
              <a:r>
                <a:rPr lang="en-US" sz="1400" b="1">
                  <a:solidFill>
                    <a:srgbClr val="569CD6"/>
                  </a:solidFill>
                  <a:effectLst/>
                  <a:latin typeface="Consolas" panose="020B0609020204030204" pitchFamily="49" charset="0"/>
                </a:rPr>
                <a:t> PI </a:t>
              </a:r>
              <a:r>
                <a:rPr lang="en-US" sz="1400" b="1">
                  <a:solidFill>
                    <a:srgbClr val="B5CEA8"/>
                  </a:solidFill>
                  <a:effectLst/>
                  <a:latin typeface="Consolas" panose="020B0609020204030204" pitchFamily="49" charset="0"/>
                </a:rPr>
                <a:t>3.14</a:t>
              </a:r>
              <a:endParaRPr lang="en-US" sz="1400" b="1">
                <a:solidFill>
                  <a:srgbClr val="CCCCCC"/>
                </a:solidFill>
                <a:effectLst/>
                <a:latin typeface="Consolas" panose="020B0609020204030204" pitchFamily="49" charset="0"/>
              </a:endParaRPr>
            </a:p>
            <a:p>
              <a:pPr>
                <a:buNone/>
              </a:pP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pi_squared</a:t>
              </a:r>
              <a:r>
                <a:rPr lang="en-US" sz="1400" b="0">
                  <a:solidFill>
                    <a:srgbClr val="CCCCCC"/>
                  </a:solidFill>
                  <a:effectLst/>
                  <a:latin typeface="Consolas" panose="020B0609020204030204" pitchFamily="49" charset="0"/>
                </a:rPr>
                <a:t>(</a:t>
              </a:r>
              <a:r>
                <a:rPr lang="en-US" sz="1400" b="0">
                  <a:solidFill>
                    <a:srgbClr val="569CD6"/>
                  </a:solidFill>
                  <a:effectLst/>
                  <a:latin typeface="Consolas" panose="020B0609020204030204" pitchFamily="49" charset="0"/>
                </a:rPr>
                <a:t>void</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    </a:t>
              </a:r>
              <a:r>
                <a:rPr lang="en-US" sz="1400" b="0">
                  <a:solidFill>
                    <a:srgbClr val="C586C0"/>
                  </a:solidFill>
                  <a:effectLst/>
                  <a:latin typeface="Consolas" panose="020B0609020204030204" pitchFamily="49" charset="0"/>
                </a:rPr>
                <a:t>return</a:t>
              </a:r>
              <a:r>
                <a:rPr lang="en-US" sz="1400" b="0">
                  <a:solidFill>
                    <a:srgbClr val="CCCCCC"/>
                  </a:solidFill>
                  <a:effectLst/>
                  <a:latin typeface="Consolas" panose="020B0609020204030204" pitchFamily="49" charset="0"/>
                </a:rPr>
                <a:t> </a:t>
              </a:r>
              <a:r>
                <a:rPr lang="en-US" sz="1400" b="0">
                  <a:solidFill>
                    <a:srgbClr val="569CD6"/>
                  </a:solidFill>
                  <a:effectLst/>
                  <a:latin typeface="Consolas" panose="020B0609020204030204" pitchFamily="49" charset="0"/>
                </a:rPr>
                <a:t>PI</a:t>
              </a:r>
              <a:r>
                <a:rPr lang="en-US" sz="1400" b="0">
                  <a:solidFill>
                    <a:srgbClr val="CCCCCC"/>
                  </a:solidFill>
                  <a:effectLst/>
                  <a:latin typeface="Consolas" panose="020B0609020204030204" pitchFamily="49" charset="0"/>
                </a:rPr>
                <a:t> </a:t>
              </a:r>
              <a:r>
                <a:rPr lang="en-US" sz="1400" b="0">
                  <a:solidFill>
                    <a:srgbClr val="D4D4D4"/>
                  </a:solidFill>
                  <a:effectLst/>
                  <a:latin typeface="Consolas" panose="020B0609020204030204" pitchFamily="49" charset="0"/>
                </a:rPr>
                <a:t>*</a:t>
              </a:r>
              <a:r>
                <a:rPr lang="en-US" sz="1400" b="0">
                  <a:solidFill>
                    <a:srgbClr val="CCCCCC"/>
                  </a:solidFill>
                  <a:effectLst/>
                  <a:latin typeface="Consolas" panose="020B0609020204030204" pitchFamily="49" charset="0"/>
                </a:rPr>
                <a:t> </a:t>
              </a:r>
              <a:r>
                <a:rPr lang="en-US" sz="1400" b="0">
                  <a:solidFill>
                    <a:srgbClr val="569CD6"/>
                  </a:solidFill>
                  <a:effectLst/>
                  <a:latin typeface="Consolas" panose="020B0609020204030204" pitchFamily="49" charset="0"/>
                </a:rPr>
                <a:t>PI</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   </a:t>
              </a:r>
            </a:p>
          </p:txBody>
        </p:sp>
        <p:sp>
          <p:nvSpPr>
            <p:cNvPr id="42" name="TextBox 41">
              <a:extLst>
                <a:ext uri="{FF2B5EF4-FFF2-40B4-BE49-F238E27FC236}">
                  <a16:creationId xmlns:a16="http://schemas.microsoft.com/office/drawing/2014/main" id="{4BE77107-66B4-3DDB-4E48-DC8797FC44E0}"/>
                </a:ext>
              </a:extLst>
            </p:cNvPr>
            <p:cNvSpPr txBox="1"/>
            <p:nvPr/>
          </p:nvSpPr>
          <p:spPr>
            <a:xfrm>
              <a:off x="8190283" y="3688280"/>
              <a:ext cx="3839993" cy="369332"/>
            </a:xfrm>
            <a:prstGeom prst="rect">
              <a:avLst/>
            </a:prstGeom>
            <a:solidFill>
              <a:schemeClr val="bg1"/>
            </a:solidFill>
            <a:ln>
              <a:solidFill>
                <a:schemeClr val="accent1">
                  <a:shade val="15000"/>
                </a:schemeClr>
              </a:solidFill>
            </a:ln>
          </p:spPr>
          <p:txBody>
            <a:bodyPr wrap="none" rtlCol="0">
              <a:noAutofit/>
            </a:bodyPr>
            <a:lstStyle/>
            <a:p>
              <a:r>
                <a:rPr lang="en-GB"/>
                <a:t>math.c</a:t>
              </a:r>
              <a:endParaRPr lang="LID4096"/>
            </a:p>
          </p:txBody>
        </p:sp>
      </p:grpSp>
      <p:grpSp>
        <p:nvGrpSpPr>
          <p:cNvPr id="49" name="Group 48">
            <a:extLst>
              <a:ext uri="{FF2B5EF4-FFF2-40B4-BE49-F238E27FC236}">
                <a16:creationId xmlns:a16="http://schemas.microsoft.com/office/drawing/2014/main" id="{EA2B2A78-3C02-6A0B-E7E5-8AAF605C9C8C}"/>
              </a:ext>
            </a:extLst>
          </p:cNvPr>
          <p:cNvGrpSpPr/>
          <p:nvPr/>
        </p:nvGrpSpPr>
        <p:grpSpPr>
          <a:xfrm>
            <a:off x="1659966" y="4510380"/>
            <a:ext cx="3092340" cy="1538883"/>
            <a:chOff x="161722" y="3688280"/>
            <a:chExt cx="3839993" cy="1538883"/>
          </a:xfrm>
          <a:effectLst>
            <a:outerShdw blurRad="50800" dist="38100" dir="2700000" algn="tl" rotWithShape="0">
              <a:prstClr val="black">
                <a:alpha val="40000"/>
              </a:prstClr>
            </a:outerShdw>
          </a:effectLst>
        </p:grpSpPr>
        <p:sp>
          <p:nvSpPr>
            <p:cNvPr id="50" name="TextBox 49">
              <a:extLst>
                <a:ext uri="{FF2B5EF4-FFF2-40B4-BE49-F238E27FC236}">
                  <a16:creationId xmlns:a16="http://schemas.microsoft.com/office/drawing/2014/main" id="{3BCBFDFA-1629-C227-0CE0-7325C80DBE7D}"/>
                </a:ext>
              </a:extLst>
            </p:cNvPr>
            <p:cNvSpPr txBox="1"/>
            <p:nvPr/>
          </p:nvSpPr>
          <p:spPr>
            <a:xfrm>
              <a:off x="161722" y="4057612"/>
              <a:ext cx="3839993" cy="1169551"/>
            </a:xfrm>
            <a:prstGeom prst="rect">
              <a:avLst/>
            </a:prstGeom>
            <a:solidFill>
              <a:schemeClr val="tx1">
                <a:lumMod val="75000"/>
                <a:lumOff val="25000"/>
              </a:schemeClr>
            </a:solidFill>
            <a:ln>
              <a:solidFill>
                <a:schemeClr val="accent1">
                  <a:shade val="15000"/>
                </a:schemeClr>
              </a:solidFill>
            </a:ln>
          </p:spPr>
          <p:txBody>
            <a:bodyPr wrap="square">
              <a:spAutoFit/>
            </a:bodyPr>
            <a:lstStyle/>
            <a:p>
              <a:pPr>
                <a:buNone/>
              </a:pP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function</a:t>
              </a:r>
              <a:r>
                <a:rPr lang="en-US" sz="1400" b="0">
                  <a:solidFill>
                    <a:srgbClr val="CCCCCC"/>
                  </a:solidFill>
                  <a:effectLst/>
                  <a:latin typeface="Consolas" panose="020B0609020204030204" pitchFamily="49" charset="0"/>
                </a:rPr>
                <a:t>(</a:t>
              </a: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9CDCFE"/>
                  </a:solidFill>
                  <a:effectLst/>
                  <a:latin typeface="Consolas" panose="020B0609020204030204" pitchFamily="49" charset="0"/>
                </a:rPr>
                <a:t>a</a:t>
              </a:r>
              <a:r>
                <a:rPr lang="en-US" sz="1400" b="0">
                  <a:solidFill>
                    <a:srgbClr val="CCCCCC"/>
                  </a:solidFill>
                  <a:effectLst/>
                  <a:latin typeface="Consolas" panose="020B0609020204030204" pitchFamily="49" charset="0"/>
                </a:rPr>
                <a:t>);</a:t>
              </a:r>
            </a:p>
            <a:p>
              <a:pPr>
                <a:buNone/>
              </a:pPr>
              <a:r>
                <a:rPr lang="en-US" sz="1400" b="0">
                  <a:solidFill>
                    <a:srgbClr val="569CD6"/>
                  </a:solidFill>
                  <a:effectLst/>
                  <a:latin typeface="Consolas" panose="020B0609020204030204" pitchFamily="49" charset="0"/>
                </a:rPr>
                <a:t>void</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main</a:t>
              </a:r>
              <a:r>
                <a:rPr lang="en-US" sz="1400" b="0">
                  <a:solidFill>
                    <a:srgbClr val="CCCCCC"/>
                  </a:solidFill>
                  <a:effectLst/>
                  <a:latin typeface="Consolas" panose="020B0609020204030204" pitchFamily="49" charset="0"/>
                </a:rPr>
                <a:t>(</a:t>
              </a:r>
              <a:r>
                <a:rPr lang="en-US" sz="1400" b="0">
                  <a:solidFill>
                    <a:srgbClr val="569CD6"/>
                  </a:solidFill>
                  <a:effectLst/>
                  <a:latin typeface="Consolas" panose="020B0609020204030204" pitchFamily="49" charset="0"/>
                </a:rPr>
                <a:t>void</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    </a:t>
              </a: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9CDCFE"/>
                  </a:solidFill>
                  <a:effectLst/>
                  <a:latin typeface="Consolas" panose="020B0609020204030204" pitchFamily="49" charset="0"/>
                </a:rPr>
                <a:t>a</a:t>
              </a:r>
              <a:r>
                <a:rPr lang="en-US" sz="1400" b="0">
                  <a:solidFill>
                    <a:srgbClr val="CCCCCC"/>
                  </a:solidFill>
                  <a:effectLst/>
                  <a:latin typeface="Consolas" panose="020B0609020204030204" pitchFamily="49" charset="0"/>
                </a:rPr>
                <a:t> </a:t>
              </a:r>
              <a:r>
                <a:rPr lang="en-US" sz="1400" b="0">
                  <a:solidFill>
                    <a:srgbClr val="D4D4D4"/>
                  </a:solidFill>
                  <a:effectLst/>
                  <a:latin typeface="Consolas" panose="020B0609020204030204" pitchFamily="49" charset="0"/>
                </a:rPr>
                <a:t>=</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function</a:t>
              </a:r>
              <a:r>
                <a:rPr lang="en-US" sz="1400" b="0">
                  <a:solidFill>
                    <a:srgbClr val="CCCCCC"/>
                  </a:solidFill>
                  <a:effectLst/>
                  <a:latin typeface="Consolas" panose="020B0609020204030204" pitchFamily="49" charset="0"/>
                </a:rPr>
                <a:t>(</a:t>
              </a:r>
              <a:r>
                <a:rPr lang="en-US" sz="1400" b="0">
                  <a:solidFill>
                    <a:srgbClr val="B5CEA8"/>
                  </a:solidFill>
                  <a:effectLst/>
                  <a:latin typeface="Consolas" panose="020B0609020204030204" pitchFamily="49" charset="0"/>
                </a:rPr>
                <a:t>2.0f</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p:txBody>
        </p:sp>
        <p:sp>
          <p:nvSpPr>
            <p:cNvPr id="51" name="TextBox 50">
              <a:extLst>
                <a:ext uri="{FF2B5EF4-FFF2-40B4-BE49-F238E27FC236}">
                  <a16:creationId xmlns:a16="http://schemas.microsoft.com/office/drawing/2014/main" id="{900E0E86-D23B-AAEC-98E9-23FAF7156533}"/>
                </a:ext>
              </a:extLst>
            </p:cNvPr>
            <p:cNvSpPr txBox="1"/>
            <p:nvPr/>
          </p:nvSpPr>
          <p:spPr>
            <a:xfrm>
              <a:off x="161722" y="3688280"/>
              <a:ext cx="3839993" cy="369332"/>
            </a:xfrm>
            <a:prstGeom prst="rect">
              <a:avLst/>
            </a:prstGeom>
            <a:solidFill>
              <a:schemeClr val="bg1"/>
            </a:solidFill>
            <a:ln>
              <a:solidFill>
                <a:schemeClr val="accent1">
                  <a:shade val="15000"/>
                </a:schemeClr>
              </a:solidFill>
            </a:ln>
          </p:spPr>
          <p:txBody>
            <a:bodyPr wrap="none" rtlCol="0">
              <a:noAutofit/>
            </a:bodyPr>
            <a:lstStyle/>
            <a:p>
              <a:r>
                <a:rPr lang="en-GB"/>
                <a:t>main.i</a:t>
              </a:r>
              <a:endParaRPr lang="LID4096"/>
            </a:p>
          </p:txBody>
        </p:sp>
      </p:grpSp>
      <p:grpSp>
        <p:nvGrpSpPr>
          <p:cNvPr id="54" name="Group 53">
            <a:extLst>
              <a:ext uri="{FF2B5EF4-FFF2-40B4-BE49-F238E27FC236}">
                <a16:creationId xmlns:a16="http://schemas.microsoft.com/office/drawing/2014/main" id="{900E52F6-A342-D9ED-0207-BC38B868A15F}"/>
              </a:ext>
            </a:extLst>
          </p:cNvPr>
          <p:cNvGrpSpPr/>
          <p:nvPr/>
        </p:nvGrpSpPr>
        <p:grpSpPr>
          <a:xfrm>
            <a:off x="2362995" y="3837904"/>
            <a:ext cx="1576072" cy="618186"/>
            <a:chOff x="2362995" y="3837904"/>
            <a:chExt cx="1576072" cy="618186"/>
          </a:xfrm>
        </p:grpSpPr>
        <p:sp>
          <p:nvSpPr>
            <p:cNvPr id="52" name="Arrow: Down 51">
              <a:extLst>
                <a:ext uri="{FF2B5EF4-FFF2-40B4-BE49-F238E27FC236}">
                  <a16:creationId xmlns:a16="http://schemas.microsoft.com/office/drawing/2014/main" id="{89EF4CF8-794D-4406-6137-ABD59A040FE9}"/>
                </a:ext>
              </a:extLst>
            </p:cNvPr>
            <p:cNvSpPr/>
            <p:nvPr/>
          </p:nvSpPr>
          <p:spPr>
            <a:xfrm>
              <a:off x="2730321" y="3837904"/>
              <a:ext cx="841420" cy="618186"/>
            </a:xfrm>
            <a:prstGeom prst="downArrow">
              <a:avLst>
                <a:gd name="adj1" fmla="val 50000"/>
                <a:gd name="adj2" fmla="val 3958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53" name="TextBox 52">
              <a:extLst>
                <a:ext uri="{FF2B5EF4-FFF2-40B4-BE49-F238E27FC236}">
                  <a16:creationId xmlns:a16="http://schemas.microsoft.com/office/drawing/2014/main" id="{EF99DB78-9800-BA25-22AC-719D3026FCD4}"/>
                </a:ext>
              </a:extLst>
            </p:cNvPr>
            <p:cNvSpPr txBox="1"/>
            <p:nvPr/>
          </p:nvSpPr>
          <p:spPr>
            <a:xfrm>
              <a:off x="2362995" y="3946942"/>
              <a:ext cx="1576072" cy="200055"/>
            </a:xfrm>
            <a:prstGeom prst="rect">
              <a:avLst/>
            </a:prstGeom>
            <a:solidFill>
              <a:schemeClr val="tx1"/>
            </a:solidFill>
          </p:spPr>
          <p:txBody>
            <a:bodyPr wrap="none" rtlCol="0">
              <a:spAutoFit/>
            </a:bodyPr>
            <a:lstStyle/>
            <a:p>
              <a:r>
                <a:rPr lang="en-GB" sz="700">
                  <a:solidFill>
                    <a:schemeClr val="bg1"/>
                  </a:solidFill>
                  <a:latin typeface="Consolas" panose="020B0609020204030204" pitchFamily="49" charset="0"/>
                </a:rPr>
                <a:t>$ gcc –E –P main.c –o main.i</a:t>
              </a:r>
              <a:endParaRPr lang="LID4096" sz="700">
                <a:solidFill>
                  <a:schemeClr val="bg1"/>
                </a:solidFill>
                <a:latin typeface="Consolas" panose="020B0609020204030204" pitchFamily="49" charset="0"/>
              </a:endParaRPr>
            </a:p>
          </p:txBody>
        </p:sp>
      </p:grpSp>
      <p:grpSp>
        <p:nvGrpSpPr>
          <p:cNvPr id="55" name="Group 54">
            <a:extLst>
              <a:ext uri="{FF2B5EF4-FFF2-40B4-BE49-F238E27FC236}">
                <a16:creationId xmlns:a16="http://schemas.microsoft.com/office/drawing/2014/main" id="{FE600A65-0C0C-B813-8ED3-0D803812FC54}"/>
              </a:ext>
            </a:extLst>
          </p:cNvPr>
          <p:cNvGrpSpPr/>
          <p:nvPr/>
        </p:nvGrpSpPr>
        <p:grpSpPr>
          <a:xfrm>
            <a:off x="5392203" y="3837904"/>
            <a:ext cx="2073003" cy="618186"/>
            <a:chOff x="2114529" y="3837904"/>
            <a:chExt cx="2073003" cy="618186"/>
          </a:xfrm>
        </p:grpSpPr>
        <p:sp>
          <p:nvSpPr>
            <p:cNvPr id="56" name="Arrow: Down 55">
              <a:extLst>
                <a:ext uri="{FF2B5EF4-FFF2-40B4-BE49-F238E27FC236}">
                  <a16:creationId xmlns:a16="http://schemas.microsoft.com/office/drawing/2014/main" id="{24140EC3-3099-5A17-1A90-7964826A9C0E}"/>
                </a:ext>
              </a:extLst>
            </p:cNvPr>
            <p:cNvSpPr/>
            <p:nvPr/>
          </p:nvSpPr>
          <p:spPr>
            <a:xfrm>
              <a:off x="2730321" y="3837904"/>
              <a:ext cx="841420" cy="618186"/>
            </a:xfrm>
            <a:prstGeom prst="downArrow">
              <a:avLst>
                <a:gd name="adj1" fmla="val 50000"/>
                <a:gd name="adj2" fmla="val 3958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57" name="TextBox 56">
              <a:extLst>
                <a:ext uri="{FF2B5EF4-FFF2-40B4-BE49-F238E27FC236}">
                  <a16:creationId xmlns:a16="http://schemas.microsoft.com/office/drawing/2014/main" id="{69179112-06C5-63F2-7FBE-9376F204211E}"/>
                </a:ext>
              </a:extLst>
            </p:cNvPr>
            <p:cNvSpPr txBox="1"/>
            <p:nvPr/>
          </p:nvSpPr>
          <p:spPr>
            <a:xfrm>
              <a:off x="2114529" y="3946942"/>
              <a:ext cx="2073003" cy="200055"/>
            </a:xfrm>
            <a:prstGeom prst="rect">
              <a:avLst/>
            </a:prstGeom>
            <a:solidFill>
              <a:schemeClr val="tx1"/>
            </a:solidFill>
          </p:spPr>
          <p:txBody>
            <a:bodyPr wrap="none" rtlCol="0">
              <a:spAutoFit/>
            </a:bodyPr>
            <a:lstStyle/>
            <a:p>
              <a:r>
                <a:rPr lang="en-GB" sz="700">
                  <a:solidFill>
                    <a:schemeClr val="bg1"/>
                  </a:solidFill>
                  <a:latin typeface="Consolas" panose="020B0609020204030204" pitchFamily="49" charset="0"/>
                </a:rPr>
                <a:t>$ gcc –E –P functions.c –o functions.i</a:t>
              </a:r>
              <a:endParaRPr lang="LID4096" sz="700">
                <a:solidFill>
                  <a:schemeClr val="bg1"/>
                </a:solidFill>
                <a:latin typeface="Consolas" panose="020B0609020204030204" pitchFamily="49" charset="0"/>
              </a:endParaRPr>
            </a:p>
          </p:txBody>
        </p:sp>
      </p:grpSp>
      <p:grpSp>
        <p:nvGrpSpPr>
          <p:cNvPr id="58" name="Group 57">
            <a:extLst>
              <a:ext uri="{FF2B5EF4-FFF2-40B4-BE49-F238E27FC236}">
                <a16:creationId xmlns:a16="http://schemas.microsoft.com/office/drawing/2014/main" id="{BF2FC925-B61F-6D12-A36B-9BBA66F1B58F}"/>
              </a:ext>
            </a:extLst>
          </p:cNvPr>
          <p:cNvGrpSpPr/>
          <p:nvPr/>
        </p:nvGrpSpPr>
        <p:grpSpPr>
          <a:xfrm>
            <a:off x="8696548" y="3737876"/>
            <a:ext cx="1576072" cy="618186"/>
            <a:chOff x="2362995" y="3837904"/>
            <a:chExt cx="1576072" cy="618186"/>
          </a:xfrm>
        </p:grpSpPr>
        <p:sp>
          <p:nvSpPr>
            <p:cNvPr id="59" name="Arrow: Down 58">
              <a:extLst>
                <a:ext uri="{FF2B5EF4-FFF2-40B4-BE49-F238E27FC236}">
                  <a16:creationId xmlns:a16="http://schemas.microsoft.com/office/drawing/2014/main" id="{8C16DF6D-8ED1-F6A7-64B6-D86994B5409B}"/>
                </a:ext>
              </a:extLst>
            </p:cNvPr>
            <p:cNvSpPr/>
            <p:nvPr/>
          </p:nvSpPr>
          <p:spPr>
            <a:xfrm>
              <a:off x="2730321" y="3837904"/>
              <a:ext cx="841420" cy="618186"/>
            </a:xfrm>
            <a:prstGeom prst="downArrow">
              <a:avLst>
                <a:gd name="adj1" fmla="val 50000"/>
                <a:gd name="adj2" fmla="val 3958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60" name="TextBox 59">
              <a:extLst>
                <a:ext uri="{FF2B5EF4-FFF2-40B4-BE49-F238E27FC236}">
                  <a16:creationId xmlns:a16="http://schemas.microsoft.com/office/drawing/2014/main" id="{4961237F-97BA-1477-A536-0D3AF0DED815}"/>
                </a:ext>
              </a:extLst>
            </p:cNvPr>
            <p:cNvSpPr txBox="1"/>
            <p:nvPr/>
          </p:nvSpPr>
          <p:spPr>
            <a:xfrm>
              <a:off x="2362995" y="3927732"/>
              <a:ext cx="1576072" cy="200055"/>
            </a:xfrm>
            <a:prstGeom prst="rect">
              <a:avLst/>
            </a:prstGeom>
            <a:solidFill>
              <a:schemeClr val="tx1"/>
            </a:solidFill>
          </p:spPr>
          <p:txBody>
            <a:bodyPr wrap="none" rtlCol="0">
              <a:spAutoFit/>
            </a:bodyPr>
            <a:lstStyle/>
            <a:p>
              <a:r>
                <a:rPr lang="en-GB" sz="700">
                  <a:solidFill>
                    <a:schemeClr val="bg1"/>
                  </a:solidFill>
                  <a:latin typeface="Consolas" panose="020B0609020204030204" pitchFamily="49" charset="0"/>
                </a:rPr>
                <a:t>$ gcc –E –P math.c –o math.i</a:t>
              </a:r>
              <a:endParaRPr lang="LID4096" sz="700">
                <a:solidFill>
                  <a:schemeClr val="bg1"/>
                </a:solidFill>
                <a:latin typeface="Consolas" panose="020B0609020204030204" pitchFamily="49" charset="0"/>
              </a:endParaRPr>
            </a:p>
          </p:txBody>
        </p:sp>
      </p:grpSp>
      <p:grpSp>
        <p:nvGrpSpPr>
          <p:cNvPr id="3" name="Group 2">
            <a:extLst>
              <a:ext uri="{FF2B5EF4-FFF2-40B4-BE49-F238E27FC236}">
                <a16:creationId xmlns:a16="http://schemas.microsoft.com/office/drawing/2014/main" id="{3018618B-C998-6B0E-2D85-95D204D9B8AE}"/>
              </a:ext>
            </a:extLst>
          </p:cNvPr>
          <p:cNvGrpSpPr/>
          <p:nvPr/>
        </p:nvGrpSpPr>
        <p:grpSpPr>
          <a:xfrm>
            <a:off x="4953029" y="4510380"/>
            <a:ext cx="3092340" cy="1538883"/>
            <a:chOff x="161722" y="3688280"/>
            <a:chExt cx="3839993" cy="1538883"/>
          </a:xfrm>
          <a:effectLst>
            <a:outerShdw blurRad="50800" dist="38100" dir="2700000" algn="tl" rotWithShape="0">
              <a:prstClr val="black">
                <a:alpha val="40000"/>
              </a:prstClr>
            </a:outerShdw>
          </a:effectLst>
        </p:grpSpPr>
        <p:sp>
          <p:nvSpPr>
            <p:cNvPr id="4" name="TextBox 3">
              <a:extLst>
                <a:ext uri="{FF2B5EF4-FFF2-40B4-BE49-F238E27FC236}">
                  <a16:creationId xmlns:a16="http://schemas.microsoft.com/office/drawing/2014/main" id="{125979E7-D5F9-ADDA-5096-197B30F3DEE7}"/>
                </a:ext>
              </a:extLst>
            </p:cNvPr>
            <p:cNvSpPr txBox="1"/>
            <p:nvPr/>
          </p:nvSpPr>
          <p:spPr>
            <a:xfrm>
              <a:off x="161722" y="4057612"/>
              <a:ext cx="3839993" cy="1169551"/>
            </a:xfrm>
            <a:prstGeom prst="rect">
              <a:avLst/>
            </a:prstGeom>
            <a:solidFill>
              <a:schemeClr val="tx1">
                <a:lumMod val="75000"/>
                <a:lumOff val="25000"/>
              </a:schemeClr>
            </a:solidFill>
            <a:ln>
              <a:solidFill>
                <a:schemeClr val="accent1">
                  <a:shade val="15000"/>
                </a:schemeClr>
              </a:solidFill>
            </a:ln>
          </p:spPr>
          <p:txBody>
            <a:bodyPr wrap="square">
              <a:spAutoFit/>
            </a:bodyPr>
            <a:lstStyle/>
            <a:p>
              <a:pPr>
                <a:buNone/>
              </a:pP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pi_squared</a:t>
              </a:r>
              <a:r>
                <a:rPr lang="en-US" sz="1400" b="0">
                  <a:solidFill>
                    <a:srgbClr val="CCCCCC"/>
                  </a:solidFill>
                  <a:effectLst/>
                  <a:latin typeface="Consolas" panose="020B0609020204030204" pitchFamily="49" charset="0"/>
                </a:rPr>
                <a:t>();</a:t>
              </a:r>
            </a:p>
            <a:p>
              <a:pPr>
                <a:buNone/>
              </a:pP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function</a:t>
              </a:r>
              <a:r>
                <a:rPr lang="en-US" sz="1400" b="0">
                  <a:solidFill>
                    <a:srgbClr val="CCCCCC"/>
                  </a:solidFill>
                  <a:effectLst/>
                  <a:latin typeface="Consolas" panose="020B0609020204030204" pitchFamily="49" charset="0"/>
                </a:rPr>
                <a:t>(</a:t>
              </a: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9CDCFE"/>
                  </a:solidFill>
                  <a:effectLst/>
                  <a:latin typeface="Consolas" panose="020B0609020204030204" pitchFamily="49" charset="0"/>
                </a:rPr>
                <a:t>a</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    </a:t>
              </a:r>
              <a:r>
                <a:rPr lang="en-US" sz="1400" b="0">
                  <a:solidFill>
                    <a:srgbClr val="C586C0"/>
                  </a:solidFill>
                  <a:effectLst/>
                  <a:latin typeface="Consolas" panose="020B0609020204030204" pitchFamily="49" charset="0"/>
                </a:rPr>
                <a:t>return</a:t>
              </a:r>
              <a:r>
                <a:rPr lang="en-US" sz="1400" b="0">
                  <a:solidFill>
                    <a:srgbClr val="CCCCCC"/>
                  </a:solidFill>
                  <a:effectLst/>
                  <a:latin typeface="Consolas" panose="020B0609020204030204" pitchFamily="49" charset="0"/>
                </a:rPr>
                <a:t> </a:t>
              </a:r>
              <a:r>
                <a:rPr lang="en-US" sz="1400" b="0">
                  <a:solidFill>
                    <a:srgbClr val="9CDCFE"/>
                  </a:solidFill>
                  <a:effectLst/>
                  <a:latin typeface="Consolas" panose="020B0609020204030204" pitchFamily="49" charset="0"/>
                </a:rPr>
                <a:t>a</a:t>
              </a:r>
              <a:r>
                <a:rPr lang="en-US" sz="1400" b="0">
                  <a:solidFill>
                    <a:srgbClr val="CCCCCC"/>
                  </a:solidFill>
                  <a:effectLst/>
                  <a:latin typeface="Consolas" panose="020B0609020204030204" pitchFamily="49" charset="0"/>
                </a:rPr>
                <a:t> </a:t>
              </a:r>
              <a:r>
                <a:rPr lang="en-US" sz="1400" b="0">
                  <a:solidFill>
                    <a:srgbClr val="D4D4D4"/>
                  </a:solidFill>
                  <a:effectLst/>
                  <a:latin typeface="Consolas" panose="020B0609020204030204" pitchFamily="49" charset="0"/>
                </a:rPr>
                <a:t>*</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pi_squared</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p:txBody>
        </p:sp>
        <p:sp>
          <p:nvSpPr>
            <p:cNvPr id="5" name="TextBox 4">
              <a:extLst>
                <a:ext uri="{FF2B5EF4-FFF2-40B4-BE49-F238E27FC236}">
                  <a16:creationId xmlns:a16="http://schemas.microsoft.com/office/drawing/2014/main" id="{5D281F9F-4363-1F93-1D49-4B98414CB89F}"/>
                </a:ext>
              </a:extLst>
            </p:cNvPr>
            <p:cNvSpPr txBox="1"/>
            <p:nvPr/>
          </p:nvSpPr>
          <p:spPr>
            <a:xfrm>
              <a:off x="161722" y="3688280"/>
              <a:ext cx="3839993" cy="369332"/>
            </a:xfrm>
            <a:prstGeom prst="rect">
              <a:avLst/>
            </a:prstGeom>
            <a:solidFill>
              <a:schemeClr val="bg1"/>
            </a:solidFill>
            <a:ln>
              <a:solidFill>
                <a:schemeClr val="accent1">
                  <a:shade val="15000"/>
                </a:schemeClr>
              </a:solidFill>
            </a:ln>
          </p:spPr>
          <p:txBody>
            <a:bodyPr wrap="none" rtlCol="0">
              <a:noAutofit/>
            </a:bodyPr>
            <a:lstStyle/>
            <a:p>
              <a:r>
                <a:rPr lang="en-GB"/>
                <a:t>functions.i</a:t>
              </a:r>
              <a:endParaRPr lang="LID4096"/>
            </a:p>
          </p:txBody>
        </p:sp>
      </p:grpSp>
      <p:grpSp>
        <p:nvGrpSpPr>
          <p:cNvPr id="6" name="Group 5">
            <a:extLst>
              <a:ext uri="{FF2B5EF4-FFF2-40B4-BE49-F238E27FC236}">
                <a16:creationId xmlns:a16="http://schemas.microsoft.com/office/drawing/2014/main" id="{C16342C2-14FF-776D-FF72-18679E592927}"/>
              </a:ext>
            </a:extLst>
          </p:cNvPr>
          <p:cNvGrpSpPr/>
          <p:nvPr/>
        </p:nvGrpSpPr>
        <p:grpSpPr>
          <a:xfrm>
            <a:off x="8185625" y="4510380"/>
            <a:ext cx="3092340" cy="1323439"/>
            <a:chOff x="161722" y="3688280"/>
            <a:chExt cx="3839993" cy="1323439"/>
          </a:xfrm>
          <a:effectLst>
            <a:outerShdw blurRad="50800" dist="38100" dir="2700000" algn="tl" rotWithShape="0">
              <a:prstClr val="black">
                <a:alpha val="40000"/>
              </a:prstClr>
            </a:outerShdw>
          </a:effectLst>
        </p:grpSpPr>
        <p:sp>
          <p:nvSpPr>
            <p:cNvPr id="7" name="TextBox 6">
              <a:extLst>
                <a:ext uri="{FF2B5EF4-FFF2-40B4-BE49-F238E27FC236}">
                  <a16:creationId xmlns:a16="http://schemas.microsoft.com/office/drawing/2014/main" id="{4C8CBCD9-9B40-EB35-232F-56DB09016AF5}"/>
                </a:ext>
              </a:extLst>
            </p:cNvPr>
            <p:cNvSpPr txBox="1"/>
            <p:nvPr/>
          </p:nvSpPr>
          <p:spPr>
            <a:xfrm>
              <a:off x="161722" y="4057612"/>
              <a:ext cx="3839993" cy="954107"/>
            </a:xfrm>
            <a:prstGeom prst="rect">
              <a:avLst/>
            </a:prstGeom>
            <a:solidFill>
              <a:schemeClr val="tx1">
                <a:lumMod val="75000"/>
                <a:lumOff val="25000"/>
              </a:schemeClr>
            </a:solidFill>
            <a:ln>
              <a:solidFill>
                <a:schemeClr val="accent1">
                  <a:shade val="15000"/>
                </a:schemeClr>
              </a:solidFill>
            </a:ln>
          </p:spPr>
          <p:txBody>
            <a:bodyPr wrap="square">
              <a:spAutoFit/>
            </a:bodyPr>
            <a:lstStyle/>
            <a:p>
              <a:pPr>
                <a:buNone/>
              </a:pP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pi_squared</a:t>
              </a:r>
              <a:r>
                <a:rPr lang="en-US" sz="1400" b="0">
                  <a:solidFill>
                    <a:srgbClr val="CCCCCC"/>
                  </a:solidFill>
                  <a:effectLst/>
                  <a:latin typeface="Consolas" panose="020B0609020204030204" pitchFamily="49" charset="0"/>
                </a:rPr>
                <a:t>(</a:t>
              </a:r>
              <a:r>
                <a:rPr lang="en-US" sz="1400" b="0">
                  <a:solidFill>
                    <a:srgbClr val="569CD6"/>
                  </a:solidFill>
                  <a:effectLst/>
                  <a:latin typeface="Consolas" panose="020B0609020204030204" pitchFamily="49" charset="0"/>
                </a:rPr>
                <a:t>void</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    </a:t>
              </a:r>
              <a:r>
                <a:rPr lang="en-US" sz="1400" b="0">
                  <a:solidFill>
                    <a:srgbClr val="C586C0"/>
                  </a:solidFill>
                  <a:effectLst/>
                  <a:latin typeface="Consolas" panose="020B0609020204030204" pitchFamily="49" charset="0"/>
                </a:rPr>
                <a:t>return</a:t>
              </a:r>
              <a:r>
                <a:rPr lang="en-US" sz="1400" b="0">
                  <a:solidFill>
                    <a:srgbClr val="CCCCCC"/>
                  </a:solidFill>
                  <a:effectLst/>
                  <a:latin typeface="Consolas" panose="020B0609020204030204" pitchFamily="49" charset="0"/>
                </a:rPr>
                <a:t> </a:t>
              </a:r>
              <a:r>
                <a:rPr lang="en-US" sz="1400" b="0">
                  <a:solidFill>
                    <a:srgbClr val="B5CEA8"/>
                  </a:solidFill>
                  <a:effectLst/>
                  <a:latin typeface="Consolas" panose="020B0609020204030204" pitchFamily="49" charset="0"/>
                </a:rPr>
                <a:t>3.14</a:t>
              </a:r>
              <a:r>
                <a:rPr lang="en-US" sz="1400" b="0">
                  <a:solidFill>
                    <a:srgbClr val="CCCCCC"/>
                  </a:solidFill>
                  <a:effectLst/>
                  <a:latin typeface="Consolas" panose="020B0609020204030204" pitchFamily="49" charset="0"/>
                </a:rPr>
                <a:t> </a:t>
              </a:r>
              <a:r>
                <a:rPr lang="en-US" sz="1400" b="0">
                  <a:solidFill>
                    <a:srgbClr val="D4D4D4"/>
                  </a:solidFill>
                  <a:effectLst/>
                  <a:latin typeface="Consolas" panose="020B0609020204030204" pitchFamily="49" charset="0"/>
                </a:rPr>
                <a:t>*</a:t>
              </a:r>
              <a:r>
                <a:rPr lang="en-US" sz="1400" b="0">
                  <a:solidFill>
                    <a:srgbClr val="CCCCCC"/>
                  </a:solidFill>
                  <a:effectLst/>
                  <a:latin typeface="Consolas" panose="020B0609020204030204" pitchFamily="49" charset="0"/>
                </a:rPr>
                <a:t> </a:t>
              </a:r>
              <a:r>
                <a:rPr lang="en-US" sz="1400" b="0">
                  <a:solidFill>
                    <a:srgbClr val="B5CEA8"/>
                  </a:solidFill>
                  <a:effectLst/>
                  <a:latin typeface="Consolas" panose="020B0609020204030204" pitchFamily="49" charset="0"/>
                </a:rPr>
                <a:t>3.14</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76F5E1DA-A496-EE24-ACA8-0A361969C082}"/>
                </a:ext>
              </a:extLst>
            </p:cNvPr>
            <p:cNvSpPr txBox="1"/>
            <p:nvPr/>
          </p:nvSpPr>
          <p:spPr>
            <a:xfrm>
              <a:off x="161722" y="3688280"/>
              <a:ext cx="3839993" cy="369332"/>
            </a:xfrm>
            <a:prstGeom prst="rect">
              <a:avLst/>
            </a:prstGeom>
            <a:solidFill>
              <a:schemeClr val="bg1"/>
            </a:solidFill>
            <a:ln>
              <a:solidFill>
                <a:schemeClr val="accent1">
                  <a:shade val="15000"/>
                </a:schemeClr>
              </a:solidFill>
            </a:ln>
          </p:spPr>
          <p:txBody>
            <a:bodyPr wrap="none" rtlCol="0">
              <a:noAutofit/>
            </a:bodyPr>
            <a:lstStyle/>
            <a:p>
              <a:r>
                <a:rPr lang="en-GB"/>
                <a:t>math.i</a:t>
              </a:r>
              <a:endParaRPr lang="LID4096"/>
            </a:p>
          </p:txBody>
        </p:sp>
      </p:grpSp>
    </p:spTree>
    <p:extLst>
      <p:ext uri="{BB962C8B-B14F-4D97-AF65-F5344CB8AC3E}">
        <p14:creationId xmlns:p14="http://schemas.microsoft.com/office/powerpoint/2010/main" val="3488624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up)">
                                      <p:cBhvr>
                                        <p:cTn id="7" dur="500"/>
                                        <p:tgtEl>
                                          <p:spTgt spid="5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D6F71-5FAB-63EA-80BF-FC49F50F3A74}"/>
              </a:ext>
            </a:extLst>
          </p:cNvPr>
          <p:cNvSpPr>
            <a:spLocks noGrp="1"/>
          </p:cNvSpPr>
          <p:nvPr>
            <p:ph type="title"/>
          </p:nvPr>
        </p:nvSpPr>
        <p:spPr/>
        <p:txBody>
          <a:bodyPr/>
          <a:lstStyle/>
          <a:p>
            <a:r>
              <a:rPr lang="en-GB"/>
              <a:t>Kompilering – </a:t>
            </a:r>
            <a:br>
              <a:rPr lang="en-GB"/>
            </a:br>
            <a:r>
              <a:rPr lang="en-GB"/>
              <a:t>Kompilatorn</a:t>
            </a:r>
            <a:endParaRPr lang="LID4096"/>
          </a:p>
        </p:txBody>
      </p:sp>
      <p:grpSp>
        <p:nvGrpSpPr>
          <p:cNvPr id="4" name="Group 3">
            <a:extLst>
              <a:ext uri="{FF2B5EF4-FFF2-40B4-BE49-F238E27FC236}">
                <a16:creationId xmlns:a16="http://schemas.microsoft.com/office/drawing/2014/main" id="{D925BBAF-5495-398D-8F7A-2980642E6DA6}"/>
              </a:ext>
            </a:extLst>
          </p:cNvPr>
          <p:cNvGrpSpPr/>
          <p:nvPr/>
        </p:nvGrpSpPr>
        <p:grpSpPr>
          <a:xfrm>
            <a:off x="1277893" y="1745715"/>
            <a:ext cx="3092340" cy="1538883"/>
            <a:chOff x="161722" y="3688280"/>
            <a:chExt cx="3839993" cy="1538883"/>
          </a:xfrm>
          <a:effectLst>
            <a:outerShdw blurRad="50800" dist="38100" dir="2700000" algn="tl" rotWithShape="0">
              <a:prstClr val="black">
                <a:alpha val="40000"/>
              </a:prstClr>
            </a:outerShdw>
          </a:effectLst>
        </p:grpSpPr>
        <p:sp>
          <p:nvSpPr>
            <p:cNvPr id="5" name="TextBox 4">
              <a:extLst>
                <a:ext uri="{FF2B5EF4-FFF2-40B4-BE49-F238E27FC236}">
                  <a16:creationId xmlns:a16="http://schemas.microsoft.com/office/drawing/2014/main" id="{16103E83-A078-3B83-59D1-5529AF86DFBE}"/>
                </a:ext>
              </a:extLst>
            </p:cNvPr>
            <p:cNvSpPr txBox="1"/>
            <p:nvPr/>
          </p:nvSpPr>
          <p:spPr>
            <a:xfrm>
              <a:off x="161722" y="4057612"/>
              <a:ext cx="3839993" cy="1169551"/>
            </a:xfrm>
            <a:prstGeom prst="rect">
              <a:avLst/>
            </a:prstGeom>
            <a:solidFill>
              <a:schemeClr val="tx1">
                <a:lumMod val="75000"/>
                <a:lumOff val="25000"/>
              </a:schemeClr>
            </a:solidFill>
            <a:ln>
              <a:solidFill>
                <a:schemeClr val="accent1">
                  <a:shade val="15000"/>
                </a:schemeClr>
              </a:solidFill>
            </a:ln>
          </p:spPr>
          <p:txBody>
            <a:bodyPr wrap="square">
              <a:spAutoFit/>
            </a:bodyPr>
            <a:lstStyle/>
            <a:p>
              <a:pPr>
                <a:buNone/>
              </a:pP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function</a:t>
              </a:r>
              <a:r>
                <a:rPr lang="en-US" sz="1400" b="0">
                  <a:solidFill>
                    <a:srgbClr val="CCCCCC"/>
                  </a:solidFill>
                  <a:effectLst/>
                  <a:latin typeface="Consolas" panose="020B0609020204030204" pitchFamily="49" charset="0"/>
                </a:rPr>
                <a:t>(</a:t>
              </a: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9CDCFE"/>
                  </a:solidFill>
                  <a:effectLst/>
                  <a:latin typeface="Consolas" panose="020B0609020204030204" pitchFamily="49" charset="0"/>
                </a:rPr>
                <a:t>a</a:t>
              </a:r>
              <a:r>
                <a:rPr lang="en-US" sz="1400" b="0">
                  <a:solidFill>
                    <a:srgbClr val="CCCCCC"/>
                  </a:solidFill>
                  <a:effectLst/>
                  <a:latin typeface="Consolas" panose="020B0609020204030204" pitchFamily="49" charset="0"/>
                </a:rPr>
                <a:t>);</a:t>
              </a:r>
            </a:p>
            <a:p>
              <a:pPr>
                <a:buNone/>
              </a:pPr>
              <a:r>
                <a:rPr lang="en-US" sz="1400" b="0">
                  <a:solidFill>
                    <a:srgbClr val="569CD6"/>
                  </a:solidFill>
                  <a:effectLst/>
                  <a:latin typeface="Consolas" panose="020B0609020204030204" pitchFamily="49" charset="0"/>
                </a:rPr>
                <a:t>void</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main</a:t>
              </a:r>
              <a:r>
                <a:rPr lang="en-US" sz="1400" b="0">
                  <a:solidFill>
                    <a:srgbClr val="CCCCCC"/>
                  </a:solidFill>
                  <a:effectLst/>
                  <a:latin typeface="Consolas" panose="020B0609020204030204" pitchFamily="49" charset="0"/>
                </a:rPr>
                <a:t>(</a:t>
              </a:r>
              <a:r>
                <a:rPr lang="en-US" sz="1400" b="0">
                  <a:solidFill>
                    <a:srgbClr val="569CD6"/>
                  </a:solidFill>
                  <a:effectLst/>
                  <a:latin typeface="Consolas" panose="020B0609020204030204" pitchFamily="49" charset="0"/>
                </a:rPr>
                <a:t>void</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    </a:t>
              </a: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9CDCFE"/>
                  </a:solidFill>
                  <a:effectLst/>
                  <a:latin typeface="Consolas" panose="020B0609020204030204" pitchFamily="49" charset="0"/>
                </a:rPr>
                <a:t>a</a:t>
              </a:r>
              <a:r>
                <a:rPr lang="en-US" sz="1400" b="0">
                  <a:solidFill>
                    <a:srgbClr val="CCCCCC"/>
                  </a:solidFill>
                  <a:effectLst/>
                  <a:latin typeface="Consolas" panose="020B0609020204030204" pitchFamily="49" charset="0"/>
                </a:rPr>
                <a:t> </a:t>
              </a:r>
              <a:r>
                <a:rPr lang="en-US" sz="1400" b="0">
                  <a:solidFill>
                    <a:srgbClr val="D4D4D4"/>
                  </a:solidFill>
                  <a:effectLst/>
                  <a:latin typeface="Consolas" panose="020B0609020204030204" pitchFamily="49" charset="0"/>
                </a:rPr>
                <a:t>=</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function</a:t>
              </a:r>
              <a:r>
                <a:rPr lang="en-US" sz="1400" b="0">
                  <a:solidFill>
                    <a:srgbClr val="CCCCCC"/>
                  </a:solidFill>
                  <a:effectLst/>
                  <a:latin typeface="Consolas" panose="020B0609020204030204" pitchFamily="49" charset="0"/>
                </a:rPr>
                <a:t>(</a:t>
              </a:r>
              <a:r>
                <a:rPr lang="en-US" sz="1400" b="0">
                  <a:solidFill>
                    <a:srgbClr val="B5CEA8"/>
                  </a:solidFill>
                  <a:effectLst/>
                  <a:latin typeface="Consolas" panose="020B0609020204030204" pitchFamily="49" charset="0"/>
                </a:rPr>
                <a:t>2.0f</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p:txBody>
        </p:sp>
        <p:sp>
          <p:nvSpPr>
            <p:cNvPr id="6" name="TextBox 5">
              <a:extLst>
                <a:ext uri="{FF2B5EF4-FFF2-40B4-BE49-F238E27FC236}">
                  <a16:creationId xmlns:a16="http://schemas.microsoft.com/office/drawing/2014/main" id="{0175C857-84F7-2F65-64BD-076831EAFCEF}"/>
                </a:ext>
              </a:extLst>
            </p:cNvPr>
            <p:cNvSpPr txBox="1"/>
            <p:nvPr/>
          </p:nvSpPr>
          <p:spPr>
            <a:xfrm>
              <a:off x="161722" y="3688280"/>
              <a:ext cx="3839993" cy="369332"/>
            </a:xfrm>
            <a:prstGeom prst="rect">
              <a:avLst/>
            </a:prstGeom>
            <a:solidFill>
              <a:schemeClr val="bg1"/>
            </a:solidFill>
            <a:ln>
              <a:solidFill>
                <a:schemeClr val="accent1">
                  <a:shade val="15000"/>
                </a:schemeClr>
              </a:solidFill>
            </a:ln>
          </p:spPr>
          <p:txBody>
            <a:bodyPr wrap="none" rtlCol="0">
              <a:noAutofit/>
            </a:bodyPr>
            <a:lstStyle/>
            <a:p>
              <a:r>
                <a:rPr lang="en-GB"/>
                <a:t>main.i</a:t>
              </a:r>
              <a:endParaRPr lang="LID4096"/>
            </a:p>
          </p:txBody>
        </p:sp>
      </p:grpSp>
      <p:grpSp>
        <p:nvGrpSpPr>
          <p:cNvPr id="7" name="Group 6">
            <a:extLst>
              <a:ext uri="{FF2B5EF4-FFF2-40B4-BE49-F238E27FC236}">
                <a16:creationId xmlns:a16="http://schemas.microsoft.com/office/drawing/2014/main" id="{38F133AB-1A67-403B-C13A-36C787B53C21}"/>
              </a:ext>
            </a:extLst>
          </p:cNvPr>
          <p:cNvGrpSpPr/>
          <p:nvPr/>
        </p:nvGrpSpPr>
        <p:grpSpPr>
          <a:xfrm>
            <a:off x="4570956" y="1745715"/>
            <a:ext cx="3092340" cy="1538883"/>
            <a:chOff x="161722" y="3688280"/>
            <a:chExt cx="3839993" cy="1538883"/>
          </a:xfrm>
          <a:effectLst>
            <a:outerShdw blurRad="50800" dist="38100" dir="2700000" algn="tl" rotWithShape="0">
              <a:prstClr val="black">
                <a:alpha val="40000"/>
              </a:prstClr>
            </a:outerShdw>
          </a:effectLst>
        </p:grpSpPr>
        <p:sp>
          <p:nvSpPr>
            <p:cNvPr id="8" name="TextBox 7">
              <a:extLst>
                <a:ext uri="{FF2B5EF4-FFF2-40B4-BE49-F238E27FC236}">
                  <a16:creationId xmlns:a16="http://schemas.microsoft.com/office/drawing/2014/main" id="{E1FA1CB1-B12E-D814-3C42-B15014A2A0F1}"/>
                </a:ext>
              </a:extLst>
            </p:cNvPr>
            <p:cNvSpPr txBox="1"/>
            <p:nvPr/>
          </p:nvSpPr>
          <p:spPr>
            <a:xfrm>
              <a:off x="161722" y="4057612"/>
              <a:ext cx="3839993" cy="1169551"/>
            </a:xfrm>
            <a:prstGeom prst="rect">
              <a:avLst/>
            </a:prstGeom>
            <a:solidFill>
              <a:schemeClr val="tx1">
                <a:lumMod val="75000"/>
                <a:lumOff val="25000"/>
              </a:schemeClr>
            </a:solidFill>
            <a:ln>
              <a:solidFill>
                <a:schemeClr val="accent1">
                  <a:shade val="15000"/>
                </a:schemeClr>
              </a:solidFill>
            </a:ln>
          </p:spPr>
          <p:txBody>
            <a:bodyPr wrap="square">
              <a:spAutoFit/>
            </a:bodyPr>
            <a:lstStyle/>
            <a:p>
              <a:pPr>
                <a:buNone/>
              </a:pP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pi_squared</a:t>
              </a:r>
              <a:r>
                <a:rPr lang="en-US" sz="1400" b="0">
                  <a:solidFill>
                    <a:srgbClr val="CCCCCC"/>
                  </a:solidFill>
                  <a:effectLst/>
                  <a:latin typeface="Consolas" panose="020B0609020204030204" pitchFamily="49" charset="0"/>
                </a:rPr>
                <a:t>();</a:t>
              </a:r>
            </a:p>
            <a:p>
              <a:pPr>
                <a:buNone/>
              </a:pP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function</a:t>
              </a:r>
              <a:r>
                <a:rPr lang="en-US" sz="1400" b="0">
                  <a:solidFill>
                    <a:srgbClr val="CCCCCC"/>
                  </a:solidFill>
                  <a:effectLst/>
                  <a:latin typeface="Consolas" panose="020B0609020204030204" pitchFamily="49" charset="0"/>
                </a:rPr>
                <a:t>(</a:t>
              </a: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9CDCFE"/>
                  </a:solidFill>
                  <a:effectLst/>
                  <a:latin typeface="Consolas" panose="020B0609020204030204" pitchFamily="49" charset="0"/>
                </a:rPr>
                <a:t>a</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    </a:t>
              </a:r>
              <a:r>
                <a:rPr lang="en-US" sz="1400" b="0">
                  <a:solidFill>
                    <a:srgbClr val="C586C0"/>
                  </a:solidFill>
                  <a:effectLst/>
                  <a:latin typeface="Consolas" panose="020B0609020204030204" pitchFamily="49" charset="0"/>
                </a:rPr>
                <a:t>return</a:t>
              </a:r>
              <a:r>
                <a:rPr lang="en-US" sz="1400" b="0">
                  <a:solidFill>
                    <a:srgbClr val="CCCCCC"/>
                  </a:solidFill>
                  <a:effectLst/>
                  <a:latin typeface="Consolas" panose="020B0609020204030204" pitchFamily="49" charset="0"/>
                </a:rPr>
                <a:t> </a:t>
              </a:r>
              <a:r>
                <a:rPr lang="en-US" sz="1400" b="0">
                  <a:solidFill>
                    <a:srgbClr val="9CDCFE"/>
                  </a:solidFill>
                  <a:effectLst/>
                  <a:latin typeface="Consolas" panose="020B0609020204030204" pitchFamily="49" charset="0"/>
                </a:rPr>
                <a:t>a</a:t>
              </a:r>
              <a:r>
                <a:rPr lang="en-US" sz="1400" b="0">
                  <a:solidFill>
                    <a:srgbClr val="CCCCCC"/>
                  </a:solidFill>
                  <a:effectLst/>
                  <a:latin typeface="Consolas" panose="020B0609020204030204" pitchFamily="49" charset="0"/>
                </a:rPr>
                <a:t> </a:t>
              </a:r>
              <a:r>
                <a:rPr lang="en-US" sz="1400" b="0">
                  <a:solidFill>
                    <a:srgbClr val="D4D4D4"/>
                  </a:solidFill>
                  <a:effectLst/>
                  <a:latin typeface="Consolas" panose="020B0609020204030204" pitchFamily="49" charset="0"/>
                </a:rPr>
                <a:t>*</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pi_squared</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p:txBody>
        </p:sp>
        <p:sp>
          <p:nvSpPr>
            <p:cNvPr id="9" name="TextBox 8">
              <a:extLst>
                <a:ext uri="{FF2B5EF4-FFF2-40B4-BE49-F238E27FC236}">
                  <a16:creationId xmlns:a16="http://schemas.microsoft.com/office/drawing/2014/main" id="{FE230995-C5FC-A8B5-F8DF-A5B4571C455F}"/>
                </a:ext>
              </a:extLst>
            </p:cNvPr>
            <p:cNvSpPr txBox="1"/>
            <p:nvPr/>
          </p:nvSpPr>
          <p:spPr>
            <a:xfrm>
              <a:off x="161722" y="3688280"/>
              <a:ext cx="3839993" cy="369332"/>
            </a:xfrm>
            <a:prstGeom prst="rect">
              <a:avLst/>
            </a:prstGeom>
            <a:solidFill>
              <a:schemeClr val="bg1"/>
            </a:solidFill>
            <a:ln>
              <a:solidFill>
                <a:schemeClr val="accent1">
                  <a:shade val="15000"/>
                </a:schemeClr>
              </a:solidFill>
            </a:ln>
          </p:spPr>
          <p:txBody>
            <a:bodyPr wrap="none" rtlCol="0">
              <a:noAutofit/>
            </a:bodyPr>
            <a:lstStyle/>
            <a:p>
              <a:r>
                <a:rPr lang="en-GB"/>
                <a:t>functions.i</a:t>
              </a:r>
              <a:endParaRPr lang="LID4096"/>
            </a:p>
          </p:txBody>
        </p:sp>
      </p:grpSp>
      <p:grpSp>
        <p:nvGrpSpPr>
          <p:cNvPr id="10" name="Group 9">
            <a:extLst>
              <a:ext uri="{FF2B5EF4-FFF2-40B4-BE49-F238E27FC236}">
                <a16:creationId xmlns:a16="http://schemas.microsoft.com/office/drawing/2014/main" id="{492CB210-40A7-B973-701B-0E4155C9929E}"/>
              </a:ext>
            </a:extLst>
          </p:cNvPr>
          <p:cNvGrpSpPr/>
          <p:nvPr/>
        </p:nvGrpSpPr>
        <p:grpSpPr>
          <a:xfrm>
            <a:off x="7803552" y="1745715"/>
            <a:ext cx="3092340" cy="1323439"/>
            <a:chOff x="161722" y="3688280"/>
            <a:chExt cx="3839993" cy="1323439"/>
          </a:xfrm>
          <a:effectLst>
            <a:outerShdw blurRad="50800" dist="38100" dir="2700000" algn="tl" rotWithShape="0">
              <a:prstClr val="black">
                <a:alpha val="40000"/>
              </a:prstClr>
            </a:outerShdw>
          </a:effectLst>
        </p:grpSpPr>
        <p:sp>
          <p:nvSpPr>
            <p:cNvPr id="11" name="TextBox 10">
              <a:extLst>
                <a:ext uri="{FF2B5EF4-FFF2-40B4-BE49-F238E27FC236}">
                  <a16:creationId xmlns:a16="http://schemas.microsoft.com/office/drawing/2014/main" id="{57AD6D46-919B-58F6-2C39-E53DADDF9141}"/>
                </a:ext>
              </a:extLst>
            </p:cNvPr>
            <p:cNvSpPr txBox="1"/>
            <p:nvPr/>
          </p:nvSpPr>
          <p:spPr>
            <a:xfrm>
              <a:off x="161722" y="4057612"/>
              <a:ext cx="3839993" cy="954107"/>
            </a:xfrm>
            <a:prstGeom prst="rect">
              <a:avLst/>
            </a:prstGeom>
            <a:solidFill>
              <a:schemeClr val="tx1">
                <a:lumMod val="75000"/>
                <a:lumOff val="25000"/>
              </a:schemeClr>
            </a:solidFill>
            <a:ln>
              <a:solidFill>
                <a:schemeClr val="accent1">
                  <a:shade val="15000"/>
                </a:schemeClr>
              </a:solidFill>
            </a:ln>
          </p:spPr>
          <p:txBody>
            <a:bodyPr wrap="square">
              <a:spAutoFit/>
            </a:bodyPr>
            <a:lstStyle/>
            <a:p>
              <a:pPr>
                <a:buNone/>
              </a:pPr>
              <a:r>
                <a:rPr lang="en-US" sz="1400" b="0">
                  <a:solidFill>
                    <a:srgbClr val="569CD6"/>
                  </a:solidFill>
                  <a:effectLst/>
                  <a:latin typeface="Consolas" panose="020B0609020204030204" pitchFamily="49" charset="0"/>
                </a:rPr>
                <a:t>float</a:t>
              </a:r>
              <a:r>
                <a:rPr lang="en-US" sz="1400" b="0">
                  <a:solidFill>
                    <a:srgbClr val="CCCCCC"/>
                  </a:solidFill>
                  <a:effectLst/>
                  <a:latin typeface="Consolas" panose="020B0609020204030204" pitchFamily="49" charset="0"/>
                </a:rPr>
                <a:t> </a:t>
              </a:r>
              <a:r>
                <a:rPr lang="en-US" sz="1400" b="0">
                  <a:solidFill>
                    <a:srgbClr val="DCDCAA"/>
                  </a:solidFill>
                  <a:effectLst/>
                  <a:latin typeface="Consolas" panose="020B0609020204030204" pitchFamily="49" charset="0"/>
                </a:rPr>
                <a:t>pi_squared</a:t>
              </a:r>
              <a:r>
                <a:rPr lang="en-US" sz="1400" b="0">
                  <a:solidFill>
                    <a:srgbClr val="CCCCCC"/>
                  </a:solidFill>
                  <a:effectLst/>
                  <a:latin typeface="Consolas" panose="020B0609020204030204" pitchFamily="49" charset="0"/>
                </a:rPr>
                <a:t>(</a:t>
              </a:r>
              <a:r>
                <a:rPr lang="en-US" sz="1400" b="0">
                  <a:solidFill>
                    <a:srgbClr val="569CD6"/>
                  </a:solidFill>
                  <a:effectLst/>
                  <a:latin typeface="Consolas" panose="020B0609020204030204" pitchFamily="49" charset="0"/>
                </a:rPr>
                <a:t>void</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    </a:t>
              </a:r>
              <a:r>
                <a:rPr lang="en-US" sz="1400" b="0">
                  <a:solidFill>
                    <a:srgbClr val="C586C0"/>
                  </a:solidFill>
                  <a:effectLst/>
                  <a:latin typeface="Consolas" panose="020B0609020204030204" pitchFamily="49" charset="0"/>
                </a:rPr>
                <a:t>return</a:t>
              </a:r>
              <a:r>
                <a:rPr lang="en-US" sz="1400" b="0">
                  <a:solidFill>
                    <a:srgbClr val="CCCCCC"/>
                  </a:solidFill>
                  <a:effectLst/>
                  <a:latin typeface="Consolas" panose="020B0609020204030204" pitchFamily="49" charset="0"/>
                </a:rPr>
                <a:t> </a:t>
              </a:r>
              <a:r>
                <a:rPr lang="en-US" sz="1400" b="0">
                  <a:solidFill>
                    <a:srgbClr val="B5CEA8"/>
                  </a:solidFill>
                  <a:effectLst/>
                  <a:latin typeface="Consolas" panose="020B0609020204030204" pitchFamily="49" charset="0"/>
                </a:rPr>
                <a:t>3.14</a:t>
              </a:r>
              <a:r>
                <a:rPr lang="en-US" sz="1400" b="0">
                  <a:solidFill>
                    <a:srgbClr val="CCCCCC"/>
                  </a:solidFill>
                  <a:effectLst/>
                  <a:latin typeface="Consolas" panose="020B0609020204030204" pitchFamily="49" charset="0"/>
                </a:rPr>
                <a:t> </a:t>
              </a:r>
              <a:r>
                <a:rPr lang="en-US" sz="1400" b="0">
                  <a:solidFill>
                    <a:srgbClr val="D4D4D4"/>
                  </a:solidFill>
                  <a:effectLst/>
                  <a:latin typeface="Consolas" panose="020B0609020204030204" pitchFamily="49" charset="0"/>
                </a:rPr>
                <a:t>*</a:t>
              </a:r>
              <a:r>
                <a:rPr lang="en-US" sz="1400" b="0">
                  <a:solidFill>
                    <a:srgbClr val="CCCCCC"/>
                  </a:solidFill>
                  <a:effectLst/>
                  <a:latin typeface="Consolas" panose="020B0609020204030204" pitchFamily="49" charset="0"/>
                </a:rPr>
                <a:t> </a:t>
              </a:r>
              <a:r>
                <a:rPr lang="en-US" sz="1400" b="0">
                  <a:solidFill>
                    <a:srgbClr val="B5CEA8"/>
                  </a:solidFill>
                  <a:effectLst/>
                  <a:latin typeface="Consolas" panose="020B0609020204030204" pitchFamily="49" charset="0"/>
                </a:rPr>
                <a:t>3.14</a:t>
              </a:r>
              <a:r>
                <a:rPr lang="en-US" sz="1400" b="0">
                  <a:solidFill>
                    <a:srgbClr val="CCCCCC"/>
                  </a:solidFill>
                  <a:effectLst/>
                  <a:latin typeface="Consolas" panose="020B0609020204030204" pitchFamily="49" charset="0"/>
                </a:rPr>
                <a:t>;</a:t>
              </a:r>
            </a:p>
            <a:p>
              <a:pPr>
                <a:buNone/>
              </a:pPr>
              <a:r>
                <a:rPr lang="en-US" sz="1400" b="0">
                  <a:solidFill>
                    <a:srgbClr val="CCCCCC"/>
                  </a:solidFill>
                  <a:effectLst/>
                  <a:latin typeface="Consolas" panose="020B0609020204030204" pitchFamily="49" charset="0"/>
                </a:rPr>
                <a:t>}</a:t>
              </a:r>
            </a:p>
          </p:txBody>
        </p:sp>
        <p:sp>
          <p:nvSpPr>
            <p:cNvPr id="12" name="TextBox 11">
              <a:extLst>
                <a:ext uri="{FF2B5EF4-FFF2-40B4-BE49-F238E27FC236}">
                  <a16:creationId xmlns:a16="http://schemas.microsoft.com/office/drawing/2014/main" id="{E9058E3E-3B52-84B7-F381-A9B782070E7C}"/>
                </a:ext>
              </a:extLst>
            </p:cNvPr>
            <p:cNvSpPr txBox="1"/>
            <p:nvPr/>
          </p:nvSpPr>
          <p:spPr>
            <a:xfrm>
              <a:off x="161722" y="3688280"/>
              <a:ext cx="3839993" cy="369332"/>
            </a:xfrm>
            <a:prstGeom prst="rect">
              <a:avLst/>
            </a:prstGeom>
            <a:solidFill>
              <a:schemeClr val="bg1"/>
            </a:solidFill>
            <a:ln>
              <a:solidFill>
                <a:schemeClr val="accent1">
                  <a:shade val="15000"/>
                </a:schemeClr>
              </a:solidFill>
            </a:ln>
          </p:spPr>
          <p:txBody>
            <a:bodyPr wrap="none" rtlCol="0">
              <a:noAutofit/>
            </a:bodyPr>
            <a:lstStyle/>
            <a:p>
              <a:r>
                <a:rPr lang="en-GB"/>
                <a:t>math.i</a:t>
              </a:r>
              <a:endParaRPr lang="LID4096"/>
            </a:p>
          </p:txBody>
        </p:sp>
      </p:grpSp>
      <p:grpSp>
        <p:nvGrpSpPr>
          <p:cNvPr id="31" name="Group 30">
            <a:extLst>
              <a:ext uri="{FF2B5EF4-FFF2-40B4-BE49-F238E27FC236}">
                <a16:creationId xmlns:a16="http://schemas.microsoft.com/office/drawing/2014/main" id="{2632F8B6-5F39-3843-0CF2-73D554C4A5D0}"/>
              </a:ext>
            </a:extLst>
          </p:cNvPr>
          <p:cNvGrpSpPr/>
          <p:nvPr/>
        </p:nvGrpSpPr>
        <p:grpSpPr>
          <a:xfrm>
            <a:off x="1233388" y="3165360"/>
            <a:ext cx="3092340" cy="3215994"/>
            <a:chOff x="1233388" y="3165360"/>
            <a:chExt cx="3092340" cy="3215994"/>
          </a:xfrm>
        </p:grpSpPr>
        <p:grpSp>
          <p:nvGrpSpPr>
            <p:cNvPr id="13" name="Group 12">
              <a:extLst>
                <a:ext uri="{FF2B5EF4-FFF2-40B4-BE49-F238E27FC236}">
                  <a16:creationId xmlns:a16="http://schemas.microsoft.com/office/drawing/2014/main" id="{8EFD343A-FE97-324E-6EF4-C3E28D887F50}"/>
                </a:ext>
              </a:extLst>
            </p:cNvPr>
            <p:cNvGrpSpPr/>
            <p:nvPr/>
          </p:nvGrpSpPr>
          <p:grpSpPr>
            <a:xfrm>
              <a:off x="1800308" y="3165360"/>
              <a:ext cx="1426994" cy="618186"/>
              <a:chOff x="2362995" y="3837904"/>
              <a:chExt cx="1426994" cy="618186"/>
            </a:xfrm>
          </p:grpSpPr>
          <p:sp>
            <p:nvSpPr>
              <p:cNvPr id="14" name="Arrow: Down 13">
                <a:extLst>
                  <a:ext uri="{FF2B5EF4-FFF2-40B4-BE49-F238E27FC236}">
                    <a16:creationId xmlns:a16="http://schemas.microsoft.com/office/drawing/2014/main" id="{567B529D-53FE-5C05-FEAF-3B73F3F7953B}"/>
                  </a:ext>
                </a:extLst>
              </p:cNvPr>
              <p:cNvSpPr/>
              <p:nvPr/>
            </p:nvSpPr>
            <p:spPr>
              <a:xfrm>
                <a:off x="2730321" y="3837904"/>
                <a:ext cx="841420" cy="618186"/>
              </a:xfrm>
              <a:prstGeom prst="downArrow">
                <a:avLst>
                  <a:gd name="adj1" fmla="val 50000"/>
                  <a:gd name="adj2" fmla="val 3958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5" name="TextBox 14">
                <a:extLst>
                  <a:ext uri="{FF2B5EF4-FFF2-40B4-BE49-F238E27FC236}">
                    <a16:creationId xmlns:a16="http://schemas.microsoft.com/office/drawing/2014/main" id="{AA982B31-238F-499B-0F3F-26CB0A873FAE}"/>
                  </a:ext>
                </a:extLst>
              </p:cNvPr>
              <p:cNvSpPr txBox="1"/>
              <p:nvPr/>
            </p:nvSpPr>
            <p:spPr>
              <a:xfrm>
                <a:off x="2362995" y="3946942"/>
                <a:ext cx="1426994" cy="200055"/>
              </a:xfrm>
              <a:prstGeom prst="rect">
                <a:avLst/>
              </a:prstGeom>
              <a:solidFill>
                <a:schemeClr val="tx1"/>
              </a:solidFill>
            </p:spPr>
            <p:txBody>
              <a:bodyPr wrap="none" rtlCol="0">
                <a:spAutoFit/>
              </a:bodyPr>
              <a:lstStyle/>
              <a:p>
                <a:r>
                  <a:rPr lang="en-GB" sz="700">
                    <a:solidFill>
                      <a:schemeClr val="bg1"/>
                    </a:solidFill>
                    <a:latin typeface="Consolas" panose="020B0609020204030204" pitchFamily="49" charset="0"/>
                  </a:rPr>
                  <a:t>$ gcc –S main.i -o main.s</a:t>
                </a:r>
                <a:endParaRPr lang="LID4096" sz="700">
                  <a:solidFill>
                    <a:schemeClr val="bg1"/>
                  </a:solidFill>
                  <a:latin typeface="Consolas" panose="020B0609020204030204" pitchFamily="49" charset="0"/>
                </a:endParaRPr>
              </a:p>
            </p:txBody>
          </p:sp>
        </p:grpSp>
        <p:grpSp>
          <p:nvGrpSpPr>
            <p:cNvPr id="22" name="Group 21">
              <a:extLst>
                <a:ext uri="{FF2B5EF4-FFF2-40B4-BE49-F238E27FC236}">
                  <a16:creationId xmlns:a16="http://schemas.microsoft.com/office/drawing/2014/main" id="{0DBC219F-CA8D-4044-B47E-A6514FC60D8B}"/>
                </a:ext>
              </a:extLst>
            </p:cNvPr>
            <p:cNvGrpSpPr/>
            <p:nvPr/>
          </p:nvGrpSpPr>
          <p:grpSpPr>
            <a:xfrm>
              <a:off x="1233388" y="3842197"/>
              <a:ext cx="3092340" cy="2539157"/>
              <a:chOff x="161722" y="3688280"/>
              <a:chExt cx="3839993" cy="2539157"/>
            </a:xfrm>
            <a:effectLst>
              <a:outerShdw blurRad="50800" dist="38100" dir="2700000" algn="tl" rotWithShape="0">
                <a:prstClr val="black">
                  <a:alpha val="40000"/>
                </a:prstClr>
              </a:outerShdw>
            </a:effectLst>
          </p:grpSpPr>
          <p:sp>
            <p:nvSpPr>
              <p:cNvPr id="23" name="TextBox 22">
                <a:extLst>
                  <a:ext uri="{FF2B5EF4-FFF2-40B4-BE49-F238E27FC236}">
                    <a16:creationId xmlns:a16="http://schemas.microsoft.com/office/drawing/2014/main" id="{0D1BFBD3-6B24-1FBF-45F2-A49C62A9BF9B}"/>
                  </a:ext>
                </a:extLst>
              </p:cNvPr>
              <p:cNvSpPr txBox="1"/>
              <p:nvPr/>
            </p:nvSpPr>
            <p:spPr>
              <a:xfrm>
                <a:off x="161722" y="4057612"/>
                <a:ext cx="3839993" cy="2169825"/>
              </a:xfrm>
              <a:prstGeom prst="rect">
                <a:avLst/>
              </a:prstGeom>
              <a:solidFill>
                <a:schemeClr val="tx1">
                  <a:lumMod val="75000"/>
                  <a:lumOff val="25000"/>
                </a:schemeClr>
              </a:solidFill>
              <a:ln>
                <a:solidFill>
                  <a:schemeClr val="accent1">
                    <a:shade val="15000"/>
                  </a:schemeClr>
                </a:solidFill>
              </a:ln>
            </p:spPr>
            <p:txBody>
              <a:bodyPr wrap="square">
                <a:spAutoFit/>
              </a:bodyPr>
              <a:lstStyle/>
              <a:p>
                <a:pPr>
                  <a:buNone/>
                </a:pPr>
                <a:r>
                  <a:rPr lang="en-GB" sz="900" b="0">
                    <a:solidFill>
                      <a:srgbClr val="DCDCAA"/>
                    </a:solidFill>
                    <a:effectLst/>
                    <a:latin typeface="Consolas" panose="020B0609020204030204" pitchFamily="49" charset="0"/>
                  </a:rPr>
                  <a:t>main</a:t>
                </a:r>
                <a:r>
                  <a:rPr lang="en-GB" sz="900" b="0">
                    <a:solidFill>
                      <a:srgbClr val="CCCCCC"/>
                    </a:solidFill>
                    <a:effectLst/>
                    <a:latin typeface="Consolas" panose="020B0609020204030204" pitchFamily="49" charset="0"/>
                  </a:rPr>
                  <a:t>:</a:t>
                </a: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addi</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r>
                  <a:rPr lang="en-GB" sz="900" b="0">
                    <a:solidFill>
                      <a:srgbClr val="B5CEA8"/>
                    </a:solidFill>
                    <a:effectLst/>
                    <a:latin typeface="Consolas" panose="020B0609020204030204" pitchFamily="49" charset="0"/>
                  </a:rPr>
                  <a:t>32</a:t>
                </a:r>
                <a:endParaRPr lang="en-GB" sz="900" b="0">
                  <a:solidFill>
                    <a:srgbClr val="CCCCCC"/>
                  </a:solidFill>
                  <a:effectLst/>
                  <a:latin typeface="Consolas" panose="020B0609020204030204" pitchFamily="49" charset="0"/>
                </a:endParaRP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sw</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ra</a:t>
                </a:r>
                <a:r>
                  <a:rPr lang="en-GB" sz="900" b="0">
                    <a:solidFill>
                      <a:srgbClr val="CCCCCC"/>
                    </a:solidFill>
                    <a:effectLst/>
                    <a:latin typeface="Consolas" panose="020B0609020204030204" pitchFamily="49" charset="0"/>
                  </a:rPr>
                  <a:t>,</a:t>
                </a:r>
                <a:r>
                  <a:rPr lang="en-GB" sz="900" b="0">
                    <a:solidFill>
                      <a:srgbClr val="B5CEA8"/>
                    </a:solidFill>
                    <a:effectLst/>
                    <a:latin typeface="Consolas" panose="020B0609020204030204" pitchFamily="49" charset="0"/>
                  </a:rPr>
                  <a:t>28</a:t>
                </a:r>
                <a:r>
                  <a:rPr lang="en-GB" sz="900" b="0">
                    <a:solidFill>
                      <a:srgbClr val="CCCCCC"/>
                    </a:solidFill>
                    <a:effectLst/>
                    <a:latin typeface="Consolas" panose="020B0609020204030204" pitchFamily="49" charset="0"/>
                  </a:rPr>
                  <a:t>(</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sw</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s0</a:t>
                </a:r>
                <a:r>
                  <a:rPr lang="en-GB" sz="900" b="0">
                    <a:solidFill>
                      <a:srgbClr val="CCCCCC"/>
                    </a:solidFill>
                    <a:effectLst/>
                    <a:latin typeface="Consolas" panose="020B0609020204030204" pitchFamily="49" charset="0"/>
                  </a:rPr>
                  <a:t>,</a:t>
                </a:r>
                <a:r>
                  <a:rPr lang="en-GB" sz="900" b="0">
                    <a:solidFill>
                      <a:srgbClr val="B5CEA8"/>
                    </a:solidFill>
                    <a:effectLst/>
                    <a:latin typeface="Consolas" panose="020B0609020204030204" pitchFamily="49" charset="0"/>
                  </a:rPr>
                  <a:t>24</a:t>
                </a:r>
                <a:r>
                  <a:rPr lang="en-GB" sz="900" b="0">
                    <a:solidFill>
                      <a:srgbClr val="CCCCCC"/>
                    </a:solidFill>
                    <a:effectLst/>
                    <a:latin typeface="Consolas" panose="020B0609020204030204" pitchFamily="49" charset="0"/>
                  </a:rPr>
                  <a:t>(</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addi</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s0</a:t>
                </a:r>
                <a:r>
                  <a:rPr lang="en-GB" sz="900" b="0">
                    <a:solidFill>
                      <a:srgbClr val="CCCCCC"/>
                    </a:solidFill>
                    <a:effectLst/>
                    <a:latin typeface="Consolas" panose="020B0609020204030204" pitchFamily="49" charset="0"/>
                  </a:rPr>
                  <a:t>,</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r>
                  <a:rPr lang="en-GB" sz="900" b="0">
                    <a:solidFill>
                      <a:srgbClr val="B5CEA8"/>
                    </a:solidFill>
                    <a:effectLst/>
                    <a:latin typeface="Consolas" panose="020B0609020204030204" pitchFamily="49" charset="0"/>
                  </a:rPr>
                  <a:t>32</a:t>
                </a:r>
                <a:endParaRPr lang="en-GB" sz="900" b="0">
                  <a:solidFill>
                    <a:srgbClr val="CCCCCC"/>
                  </a:solidFill>
                  <a:effectLst/>
                  <a:latin typeface="Consolas" panose="020B0609020204030204" pitchFamily="49" charset="0"/>
                </a:endParaRP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lui</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a5</a:t>
                </a:r>
                <a:r>
                  <a:rPr lang="en-GB" sz="900" b="0">
                    <a:solidFill>
                      <a:srgbClr val="CCCCCC"/>
                    </a:solidFill>
                    <a:effectLst/>
                    <a:latin typeface="Consolas" panose="020B0609020204030204" pitchFamily="49" charset="0"/>
                  </a:rPr>
                  <a:t>,%hi(.LC0)</a:t>
                </a: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lw</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a5</a:t>
                </a:r>
                <a:r>
                  <a:rPr lang="en-GB" sz="900" b="0">
                    <a:solidFill>
                      <a:srgbClr val="CCCCCC"/>
                    </a:solidFill>
                    <a:effectLst/>
                    <a:latin typeface="Consolas" panose="020B0609020204030204" pitchFamily="49" charset="0"/>
                  </a:rPr>
                  <a:t>,%lo(.LC0)(</a:t>
                </a:r>
                <a:r>
                  <a:rPr lang="en-GB" sz="900" b="0">
                    <a:solidFill>
                      <a:srgbClr val="9CDCFE"/>
                    </a:solidFill>
                    <a:effectLst/>
                    <a:latin typeface="Consolas" panose="020B0609020204030204" pitchFamily="49" charset="0"/>
                  </a:rPr>
                  <a:t>a5</a:t>
                </a:r>
                <a:r>
                  <a:rPr lang="en-GB" sz="900" b="0">
                    <a:solidFill>
                      <a:srgbClr val="CCCCCC"/>
                    </a:solidFill>
                    <a:effectLst/>
                    <a:latin typeface="Consolas" panose="020B0609020204030204" pitchFamily="49" charset="0"/>
                  </a:rPr>
                  <a:t>)</a:t>
                </a: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mv</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a0</a:t>
                </a:r>
                <a:r>
                  <a:rPr lang="en-GB" sz="900" b="0">
                    <a:solidFill>
                      <a:srgbClr val="CCCCCC"/>
                    </a:solidFill>
                    <a:effectLst/>
                    <a:latin typeface="Consolas" panose="020B0609020204030204" pitchFamily="49" charset="0"/>
                  </a:rPr>
                  <a:t>,</a:t>
                </a:r>
                <a:r>
                  <a:rPr lang="en-GB" sz="900" b="0">
                    <a:solidFill>
                      <a:srgbClr val="9CDCFE"/>
                    </a:solidFill>
                    <a:effectLst/>
                    <a:latin typeface="Consolas" panose="020B0609020204030204" pitchFamily="49" charset="0"/>
                  </a:rPr>
                  <a:t>a5</a:t>
                </a:r>
                <a:endParaRPr lang="en-GB" sz="900" b="0">
                  <a:solidFill>
                    <a:srgbClr val="CCCCCC"/>
                  </a:solidFill>
                  <a:effectLst/>
                  <a:latin typeface="Consolas" panose="020B0609020204030204" pitchFamily="49" charset="0"/>
                </a:endParaRP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call</a:t>
                </a:r>
                <a:r>
                  <a:rPr lang="en-GB" sz="900" b="0">
                    <a:solidFill>
                      <a:srgbClr val="CCCCCC"/>
                    </a:solidFill>
                    <a:effectLst/>
                    <a:latin typeface="Consolas" panose="020B0609020204030204" pitchFamily="49" charset="0"/>
                  </a:rPr>
                  <a:t>    function</a:t>
                </a: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sw</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a0</a:t>
                </a:r>
                <a:r>
                  <a:rPr lang="en-GB" sz="900" b="0">
                    <a:solidFill>
                      <a:srgbClr val="CCCCCC"/>
                    </a:solidFill>
                    <a:effectLst/>
                    <a:latin typeface="Consolas" panose="020B0609020204030204" pitchFamily="49" charset="0"/>
                  </a:rPr>
                  <a:t>,-</a:t>
                </a:r>
                <a:r>
                  <a:rPr lang="en-GB" sz="900" b="0">
                    <a:solidFill>
                      <a:srgbClr val="B5CEA8"/>
                    </a:solidFill>
                    <a:effectLst/>
                    <a:latin typeface="Consolas" panose="020B0609020204030204" pitchFamily="49" charset="0"/>
                  </a:rPr>
                  <a:t>20</a:t>
                </a:r>
                <a:r>
                  <a:rPr lang="en-GB" sz="900" b="0">
                    <a:solidFill>
                      <a:srgbClr val="CCCCCC"/>
                    </a:solidFill>
                    <a:effectLst/>
                    <a:latin typeface="Consolas" panose="020B0609020204030204" pitchFamily="49" charset="0"/>
                  </a:rPr>
                  <a:t>(</a:t>
                </a:r>
                <a:r>
                  <a:rPr lang="en-GB" sz="900" b="0">
                    <a:solidFill>
                      <a:srgbClr val="9CDCFE"/>
                    </a:solidFill>
                    <a:effectLst/>
                    <a:latin typeface="Consolas" panose="020B0609020204030204" pitchFamily="49" charset="0"/>
                  </a:rPr>
                  <a:t>s0</a:t>
                </a:r>
                <a:r>
                  <a:rPr lang="en-GB" sz="900" b="0">
                    <a:solidFill>
                      <a:srgbClr val="CCCCCC"/>
                    </a:solidFill>
                    <a:effectLst/>
                    <a:latin typeface="Consolas" panose="020B0609020204030204" pitchFamily="49" charset="0"/>
                  </a:rPr>
                  <a:t>)</a:t>
                </a: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nop</a:t>
                </a:r>
                <a:endParaRPr lang="en-GB" sz="900" b="0">
                  <a:solidFill>
                    <a:srgbClr val="CCCCCC"/>
                  </a:solidFill>
                  <a:effectLst/>
                  <a:latin typeface="Consolas" panose="020B0609020204030204" pitchFamily="49" charset="0"/>
                </a:endParaRP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lw</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ra</a:t>
                </a:r>
                <a:r>
                  <a:rPr lang="en-GB" sz="900" b="0">
                    <a:solidFill>
                      <a:srgbClr val="CCCCCC"/>
                    </a:solidFill>
                    <a:effectLst/>
                    <a:latin typeface="Consolas" panose="020B0609020204030204" pitchFamily="49" charset="0"/>
                  </a:rPr>
                  <a:t>,</a:t>
                </a:r>
                <a:r>
                  <a:rPr lang="en-GB" sz="900" b="0">
                    <a:solidFill>
                      <a:srgbClr val="B5CEA8"/>
                    </a:solidFill>
                    <a:effectLst/>
                    <a:latin typeface="Consolas" panose="020B0609020204030204" pitchFamily="49" charset="0"/>
                  </a:rPr>
                  <a:t>28</a:t>
                </a:r>
                <a:r>
                  <a:rPr lang="en-GB" sz="900" b="0">
                    <a:solidFill>
                      <a:srgbClr val="CCCCCC"/>
                    </a:solidFill>
                    <a:effectLst/>
                    <a:latin typeface="Consolas" panose="020B0609020204030204" pitchFamily="49" charset="0"/>
                  </a:rPr>
                  <a:t>(</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lw</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s0</a:t>
                </a:r>
                <a:r>
                  <a:rPr lang="en-GB" sz="900" b="0">
                    <a:solidFill>
                      <a:srgbClr val="CCCCCC"/>
                    </a:solidFill>
                    <a:effectLst/>
                    <a:latin typeface="Consolas" panose="020B0609020204030204" pitchFamily="49" charset="0"/>
                  </a:rPr>
                  <a:t>,</a:t>
                </a:r>
                <a:r>
                  <a:rPr lang="en-GB" sz="900" b="0">
                    <a:solidFill>
                      <a:srgbClr val="B5CEA8"/>
                    </a:solidFill>
                    <a:effectLst/>
                    <a:latin typeface="Consolas" panose="020B0609020204030204" pitchFamily="49" charset="0"/>
                  </a:rPr>
                  <a:t>24</a:t>
                </a:r>
                <a:r>
                  <a:rPr lang="en-GB" sz="900" b="0">
                    <a:solidFill>
                      <a:srgbClr val="CCCCCC"/>
                    </a:solidFill>
                    <a:effectLst/>
                    <a:latin typeface="Consolas" panose="020B0609020204030204" pitchFamily="49" charset="0"/>
                  </a:rPr>
                  <a:t>(</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addi</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r>
                  <a:rPr lang="en-GB" sz="900" b="0">
                    <a:solidFill>
                      <a:srgbClr val="B5CEA8"/>
                    </a:solidFill>
                    <a:effectLst/>
                    <a:latin typeface="Consolas" panose="020B0609020204030204" pitchFamily="49" charset="0"/>
                  </a:rPr>
                  <a:t>32</a:t>
                </a:r>
                <a:endParaRPr lang="en-GB" sz="900" b="0">
                  <a:solidFill>
                    <a:srgbClr val="CCCCCC"/>
                  </a:solidFill>
                  <a:effectLst/>
                  <a:latin typeface="Consolas" panose="020B0609020204030204" pitchFamily="49" charset="0"/>
                </a:endParaRP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jr</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ra</a:t>
                </a:r>
                <a:endParaRPr lang="en-GB" sz="900" b="0">
                  <a:solidFill>
                    <a:srgbClr val="CCCCCC"/>
                  </a:solidFill>
                  <a:effectLst/>
                  <a:latin typeface="Consolas" panose="020B0609020204030204" pitchFamily="49" charset="0"/>
                </a:endParaRPr>
              </a:p>
            </p:txBody>
          </p:sp>
          <p:sp>
            <p:nvSpPr>
              <p:cNvPr id="24" name="TextBox 23">
                <a:extLst>
                  <a:ext uri="{FF2B5EF4-FFF2-40B4-BE49-F238E27FC236}">
                    <a16:creationId xmlns:a16="http://schemas.microsoft.com/office/drawing/2014/main" id="{6C321E40-58EE-1EF2-17AA-72900004093C}"/>
                  </a:ext>
                </a:extLst>
              </p:cNvPr>
              <p:cNvSpPr txBox="1"/>
              <p:nvPr/>
            </p:nvSpPr>
            <p:spPr>
              <a:xfrm>
                <a:off x="161722" y="3688280"/>
                <a:ext cx="3839993" cy="369332"/>
              </a:xfrm>
              <a:prstGeom prst="rect">
                <a:avLst/>
              </a:prstGeom>
              <a:solidFill>
                <a:schemeClr val="bg1"/>
              </a:solidFill>
              <a:ln>
                <a:solidFill>
                  <a:schemeClr val="accent1">
                    <a:shade val="15000"/>
                  </a:schemeClr>
                </a:solidFill>
              </a:ln>
            </p:spPr>
            <p:txBody>
              <a:bodyPr wrap="none" rtlCol="0">
                <a:noAutofit/>
              </a:bodyPr>
              <a:lstStyle/>
              <a:p>
                <a:r>
                  <a:rPr lang="en-GB"/>
                  <a:t>main.s</a:t>
                </a:r>
                <a:endParaRPr lang="LID4096"/>
              </a:p>
            </p:txBody>
          </p:sp>
        </p:grpSp>
      </p:grpSp>
      <p:grpSp>
        <p:nvGrpSpPr>
          <p:cNvPr id="32" name="Group 31">
            <a:extLst>
              <a:ext uri="{FF2B5EF4-FFF2-40B4-BE49-F238E27FC236}">
                <a16:creationId xmlns:a16="http://schemas.microsoft.com/office/drawing/2014/main" id="{666C015F-737C-8A57-8FDC-5B2DE329409B}"/>
              </a:ext>
            </a:extLst>
          </p:cNvPr>
          <p:cNvGrpSpPr/>
          <p:nvPr/>
        </p:nvGrpSpPr>
        <p:grpSpPr>
          <a:xfrm>
            <a:off x="4549830" y="3224011"/>
            <a:ext cx="3092340" cy="3482793"/>
            <a:chOff x="4549830" y="3224011"/>
            <a:chExt cx="3092340" cy="3482793"/>
          </a:xfrm>
        </p:grpSpPr>
        <p:grpSp>
          <p:nvGrpSpPr>
            <p:cNvPr id="16" name="Group 15">
              <a:extLst>
                <a:ext uri="{FF2B5EF4-FFF2-40B4-BE49-F238E27FC236}">
                  <a16:creationId xmlns:a16="http://schemas.microsoft.com/office/drawing/2014/main" id="{6E610929-C32E-E170-3FE3-76C9EA34CC41}"/>
                </a:ext>
              </a:extLst>
            </p:cNvPr>
            <p:cNvGrpSpPr/>
            <p:nvPr/>
          </p:nvGrpSpPr>
          <p:grpSpPr>
            <a:xfrm>
              <a:off x="4808361" y="3224011"/>
              <a:ext cx="1923925" cy="618186"/>
              <a:chOff x="2114529" y="3837904"/>
              <a:chExt cx="1923925" cy="618186"/>
            </a:xfrm>
          </p:grpSpPr>
          <p:sp>
            <p:nvSpPr>
              <p:cNvPr id="17" name="Arrow: Down 16">
                <a:extLst>
                  <a:ext uri="{FF2B5EF4-FFF2-40B4-BE49-F238E27FC236}">
                    <a16:creationId xmlns:a16="http://schemas.microsoft.com/office/drawing/2014/main" id="{F6D6C5F6-FEF6-595B-DF5C-1DF6C7474798}"/>
                  </a:ext>
                </a:extLst>
              </p:cNvPr>
              <p:cNvSpPr/>
              <p:nvPr/>
            </p:nvSpPr>
            <p:spPr>
              <a:xfrm>
                <a:off x="2730321" y="3837904"/>
                <a:ext cx="841420" cy="618186"/>
              </a:xfrm>
              <a:prstGeom prst="downArrow">
                <a:avLst>
                  <a:gd name="adj1" fmla="val 50000"/>
                  <a:gd name="adj2" fmla="val 3958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8" name="TextBox 17">
                <a:extLst>
                  <a:ext uri="{FF2B5EF4-FFF2-40B4-BE49-F238E27FC236}">
                    <a16:creationId xmlns:a16="http://schemas.microsoft.com/office/drawing/2014/main" id="{F420B1C5-B3F7-9EEC-CA04-8D5440EB9F84}"/>
                  </a:ext>
                </a:extLst>
              </p:cNvPr>
              <p:cNvSpPr txBox="1"/>
              <p:nvPr/>
            </p:nvSpPr>
            <p:spPr>
              <a:xfrm>
                <a:off x="2114529" y="3946942"/>
                <a:ext cx="1923925" cy="200055"/>
              </a:xfrm>
              <a:prstGeom prst="rect">
                <a:avLst/>
              </a:prstGeom>
              <a:solidFill>
                <a:schemeClr val="tx1"/>
              </a:solidFill>
            </p:spPr>
            <p:txBody>
              <a:bodyPr wrap="none" rtlCol="0">
                <a:spAutoFit/>
              </a:bodyPr>
              <a:lstStyle/>
              <a:p>
                <a:r>
                  <a:rPr lang="en-GB" sz="700">
                    <a:solidFill>
                      <a:schemeClr val="bg1"/>
                    </a:solidFill>
                    <a:latin typeface="Consolas" panose="020B0609020204030204" pitchFamily="49" charset="0"/>
                  </a:rPr>
                  <a:t>$ gcc –S functions.i –o functions.s</a:t>
                </a:r>
                <a:endParaRPr lang="LID4096" sz="700">
                  <a:solidFill>
                    <a:schemeClr val="bg1"/>
                  </a:solidFill>
                  <a:latin typeface="Consolas" panose="020B0609020204030204" pitchFamily="49" charset="0"/>
                </a:endParaRPr>
              </a:p>
            </p:txBody>
          </p:sp>
        </p:grpSp>
        <p:grpSp>
          <p:nvGrpSpPr>
            <p:cNvPr id="25" name="Group 24">
              <a:extLst>
                <a:ext uri="{FF2B5EF4-FFF2-40B4-BE49-F238E27FC236}">
                  <a16:creationId xmlns:a16="http://schemas.microsoft.com/office/drawing/2014/main" id="{2BFE9D17-E30E-2073-09EC-F6EF60470B2B}"/>
                </a:ext>
              </a:extLst>
            </p:cNvPr>
            <p:cNvGrpSpPr/>
            <p:nvPr/>
          </p:nvGrpSpPr>
          <p:grpSpPr>
            <a:xfrm>
              <a:off x="4549830" y="3890648"/>
              <a:ext cx="3092340" cy="2816156"/>
              <a:chOff x="161722" y="3688280"/>
              <a:chExt cx="3839993" cy="2816156"/>
            </a:xfrm>
            <a:effectLst>
              <a:outerShdw blurRad="50800" dist="38100" dir="2700000" algn="tl" rotWithShape="0">
                <a:prstClr val="black">
                  <a:alpha val="40000"/>
                </a:prstClr>
              </a:outerShdw>
            </a:effectLst>
          </p:grpSpPr>
          <p:sp>
            <p:nvSpPr>
              <p:cNvPr id="26" name="TextBox 25">
                <a:extLst>
                  <a:ext uri="{FF2B5EF4-FFF2-40B4-BE49-F238E27FC236}">
                    <a16:creationId xmlns:a16="http://schemas.microsoft.com/office/drawing/2014/main" id="{8CB0C572-7F8A-56CA-1ED9-2AF36B513BCC}"/>
                  </a:ext>
                </a:extLst>
              </p:cNvPr>
              <p:cNvSpPr txBox="1"/>
              <p:nvPr/>
            </p:nvSpPr>
            <p:spPr>
              <a:xfrm>
                <a:off x="161722" y="4057612"/>
                <a:ext cx="3839993" cy="2446824"/>
              </a:xfrm>
              <a:prstGeom prst="rect">
                <a:avLst/>
              </a:prstGeom>
              <a:solidFill>
                <a:schemeClr val="tx1">
                  <a:lumMod val="75000"/>
                  <a:lumOff val="25000"/>
                </a:schemeClr>
              </a:solidFill>
              <a:ln>
                <a:solidFill>
                  <a:schemeClr val="accent1">
                    <a:shade val="15000"/>
                  </a:schemeClr>
                </a:solidFill>
              </a:ln>
            </p:spPr>
            <p:txBody>
              <a:bodyPr wrap="square">
                <a:spAutoFit/>
              </a:bodyPr>
              <a:lstStyle/>
              <a:p>
                <a:pPr>
                  <a:buNone/>
                </a:pPr>
                <a:r>
                  <a:rPr lang="en-US" sz="900" b="0">
                    <a:solidFill>
                      <a:srgbClr val="DCDCAA"/>
                    </a:solidFill>
                    <a:effectLst/>
                    <a:latin typeface="Consolas" panose="020B0609020204030204" pitchFamily="49" charset="0"/>
                  </a:rPr>
                  <a:t>function</a:t>
                </a:r>
                <a:r>
                  <a:rPr lang="en-US" sz="900" b="0">
                    <a:solidFill>
                      <a:srgbClr val="CCCCCC"/>
                    </a:solidFill>
                    <a:effectLst/>
                    <a:latin typeface="Consolas" panose="020B0609020204030204" pitchFamily="49" charset="0"/>
                  </a:rPr>
                  <a:t>:</a:t>
                </a:r>
              </a:p>
              <a:p>
                <a:pPr>
                  <a:buNone/>
                </a:pPr>
                <a:r>
                  <a:rPr lang="en-US" sz="900" b="0">
                    <a:solidFill>
                      <a:srgbClr val="CCCCCC"/>
                    </a:solidFill>
                    <a:effectLst/>
                    <a:latin typeface="Consolas" panose="020B0609020204030204" pitchFamily="49" charset="0"/>
                  </a:rPr>
                  <a:t>    </a:t>
                </a:r>
                <a:r>
                  <a:rPr lang="en-US" sz="900" b="0">
                    <a:solidFill>
                      <a:srgbClr val="DCDCAA"/>
                    </a:solidFill>
                    <a:effectLst/>
                    <a:latin typeface="Consolas" panose="020B0609020204030204" pitchFamily="49" charset="0"/>
                  </a:rPr>
                  <a:t>addi</a:t>
                </a:r>
                <a:r>
                  <a:rPr lang="en-US" sz="900" b="0">
                    <a:solidFill>
                      <a:srgbClr val="CCCCCC"/>
                    </a:solidFill>
                    <a:effectLst/>
                    <a:latin typeface="Consolas" panose="020B0609020204030204" pitchFamily="49" charset="0"/>
                  </a:rPr>
                  <a:t>    </a:t>
                </a:r>
                <a:r>
                  <a:rPr lang="en-US" sz="900" b="0">
                    <a:solidFill>
                      <a:srgbClr val="9CDCFE"/>
                    </a:solidFill>
                    <a:effectLst/>
                    <a:latin typeface="Consolas" panose="020B0609020204030204" pitchFamily="49" charset="0"/>
                  </a:rPr>
                  <a:t>sp</a:t>
                </a:r>
                <a:r>
                  <a:rPr lang="en-US" sz="900" b="0">
                    <a:solidFill>
                      <a:srgbClr val="CCCCCC"/>
                    </a:solidFill>
                    <a:effectLst/>
                    <a:latin typeface="Consolas" panose="020B0609020204030204" pitchFamily="49" charset="0"/>
                  </a:rPr>
                  <a:t>,</a:t>
                </a:r>
                <a:r>
                  <a:rPr lang="en-US" sz="900" b="0">
                    <a:solidFill>
                      <a:srgbClr val="9CDCFE"/>
                    </a:solidFill>
                    <a:effectLst/>
                    <a:latin typeface="Consolas" panose="020B0609020204030204" pitchFamily="49" charset="0"/>
                  </a:rPr>
                  <a:t>sp</a:t>
                </a:r>
                <a:r>
                  <a:rPr lang="en-US" sz="900" b="0">
                    <a:solidFill>
                      <a:srgbClr val="CCCCCC"/>
                    </a:solidFill>
                    <a:effectLst/>
                    <a:latin typeface="Consolas" panose="020B0609020204030204" pitchFamily="49" charset="0"/>
                  </a:rPr>
                  <a:t>,-</a:t>
                </a:r>
                <a:r>
                  <a:rPr lang="en-US" sz="900" b="0">
                    <a:solidFill>
                      <a:srgbClr val="B5CEA8"/>
                    </a:solidFill>
                    <a:effectLst/>
                    <a:latin typeface="Consolas" panose="020B0609020204030204" pitchFamily="49" charset="0"/>
                  </a:rPr>
                  <a:t>32</a:t>
                </a:r>
                <a:endParaRPr lang="en-US" sz="900" b="0">
                  <a:solidFill>
                    <a:srgbClr val="CCCCCC"/>
                  </a:solidFill>
                  <a:effectLst/>
                  <a:latin typeface="Consolas" panose="020B0609020204030204" pitchFamily="49" charset="0"/>
                </a:endParaRPr>
              </a:p>
              <a:p>
                <a:pPr>
                  <a:buNone/>
                </a:pPr>
                <a:r>
                  <a:rPr lang="en-US" sz="900" b="0">
                    <a:solidFill>
                      <a:srgbClr val="CCCCCC"/>
                    </a:solidFill>
                    <a:effectLst/>
                    <a:latin typeface="Consolas" panose="020B0609020204030204" pitchFamily="49" charset="0"/>
                  </a:rPr>
                  <a:t>    </a:t>
                </a:r>
                <a:r>
                  <a:rPr lang="en-US" sz="900" b="0">
                    <a:solidFill>
                      <a:srgbClr val="DCDCAA"/>
                    </a:solidFill>
                    <a:effectLst/>
                    <a:latin typeface="Consolas" panose="020B0609020204030204" pitchFamily="49" charset="0"/>
                  </a:rPr>
                  <a:t>sw</a:t>
                </a:r>
                <a:r>
                  <a:rPr lang="en-US" sz="900" b="0">
                    <a:solidFill>
                      <a:srgbClr val="CCCCCC"/>
                    </a:solidFill>
                    <a:effectLst/>
                    <a:latin typeface="Consolas" panose="020B0609020204030204" pitchFamily="49" charset="0"/>
                  </a:rPr>
                  <a:t>  </a:t>
                </a:r>
                <a:r>
                  <a:rPr lang="en-US" sz="900" b="0">
                    <a:solidFill>
                      <a:srgbClr val="9CDCFE"/>
                    </a:solidFill>
                    <a:effectLst/>
                    <a:latin typeface="Consolas" panose="020B0609020204030204" pitchFamily="49" charset="0"/>
                  </a:rPr>
                  <a:t>ra</a:t>
                </a:r>
                <a:r>
                  <a:rPr lang="en-US" sz="900" b="0">
                    <a:solidFill>
                      <a:srgbClr val="CCCCCC"/>
                    </a:solidFill>
                    <a:effectLst/>
                    <a:latin typeface="Consolas" panose="020B0609020204030204" pitchFamily="49" charset="0"/>
                  </a:rPr>
                  <a:t>,</a:t>
                </a:r>
                <a:r>
                  <a:rPr lang="en-US" sz="900" b="0">
                    <a:solidFill>
                      <a:srgbClr val="B5CEA8"/>
                    </a:solidFill>
                    <a:effectLst/>
                    <a:latin typeface="Consolas" panose="020B0609020204030204" pitchFamily="49" charset="0"/>
                  </a:rPr>
                  <a:t>28</a:t>
                </a:r>
                <a:r>
                  <a:rPr lang="en-US" sz="900" b="0">
                    <a:solidFill>
                      <a:srgbClr val="CCCCCC"/>
                    </a:solidFill>
                    <a:effectLst/>
                    <a:latin typeface="Consolas" panose="020B0609020204030204" pitchFamily="49" charset="0"/>
                  </a:rPr>
                  <a:t>(</a:t>
                </a:r>
                <a:r>
                  <a:rPr lang="en-US" sz="900" b="0">
                    <a:solidFill>
                      <a:srgbClr val="9CDCFE"/>
                    </a:solidFill>
                    <a:effectLst/>
                    <a:latin typeface="Consolas" panose="020B0609020204030204" pitchFamily="49" charset="0"/>
                  </a:rPr>
                  <a:t>sp</a:t>
                </a:r>
                <a:r>
                  <a:rPr lang="en-US" sz="900" b="0">
                    <a:solidFill>
                      <a:srgbClr val="CCCCCC"/>
                    </a:solidFill>
                    <a:effectLst/>
                    <a:latin typeface="Consolas" panose="020B0609020204030204" pitchFamily="49" charset="0"/>
                  </a:rPr>
                  <a:t>)</a:t>
                </a:r>
              </a:p>
              <a:p>
                <a:pPr>
                  <a:buNone/>
                </a:pPr>
                <a:r>
                  <a:rPr lang="en-US" sz="900" b="0">
                    <a:solidFill>
                      <a:srgbClr val="CCCCCC"/>
                    </a:solidFill>
                    <a:effectLst/>
                    <a:latin typeface="Consolas" panose="020B0609020204030204" pitchFamily="49" charset="0"/>
                  </a:rPr>
                  <a:t>    </a:t>
                </a:r>
                <a:r>
                  <a:rPr lang="en-US" sz="900" b="0">
                    <a:solidFill>
                      <a:srgbClr val="DCDCAA"/>
                    </a:solidFill>
                    <a:effectLst/>
                    <a:latin typeface="Consolas" panose="020B0609020204030204" pitchFamily="49" charset="0"/>
                  </a:rPr>
                  <a:t>sw</a:t>
                </a:r>
                <a:r>
                  <a:rPr lang="en-US" sz="900" b="0">
                    <a:solidFill>
                      <a:srgbClr val="CCCCCC"/>
                    </a:solidFill>
                    <a:effectLst/>
                    <a:latin typeface="Consolas" panose="020B0609020204030204" pitchFamily="49" charset="0"/>
                  </a:rPr>
                  <a:t>  </a:t>
                </a:r>
                <a:r>
                  <a:rPr lang="en-US" sz="900" b="0">
                    <a:solidFill>
                      <a:srgbClr val="9CDCFE"/>
                    </a:solidFill>
                    <a:effectLst/>
                    <a:latin typeface="Consolas" panose="020B0609020204030204" pitchFamily="49" charset="0"/>
                  </a:rPr>
                  <a:t>s0</a:t>
                </a:r>
                <a:r>
                  <a:rPr lang="en-US" sz="900" b="0">
                    <a:solidFill>
                      <a:srgbClr val="CCCCCC"/>
                    </a:solidFill>
                    <a:effectLst/>
                    <a:latin typeface="Consolas" panose="020B0609020204030204" pitchFamily="49" charset="0"/>
                  </a:rPr>
                  <a:t>,</a:t>
                </a:r>
                <a:r>
                  <a:rPr lang="en-US" sz="900" b="0">
                    <a:solidFill>
                      <a:srgbClr val="B5CEA8"/>
                    </a:solidFill>
                    <a:effectLst/>
                    <a:latin typeface="Consolas" panose="020B0609020204030204" pitchFamily="49" charset="0"/>
                  </a:rPr>
                  <a:t>24</a:t>
                </a:r>
                <a:r>
                  <a:rPr lang="en-US" sz="900" b="0">
                    <a:solidFill>
                      <a:srgbClr val="CCCCCC"/>
                    </a:solidFill>
                    <a:effectLst/>
                    <a:latin typeface="Consolas" panose="020B0609020204030204" pitchFamily="49" charset="0"/>
                  </a:rPr>
                  <a:t>(</a:t>
                </a:r>
                <a:r>
                  <a:rPr lang="en-US" sz="900" b="0">
                    <a:solidFill>
                      <a:srgbClr val="9CDCFE"/>
                    </a:solidFill>
                    <a:effectLst/>
                    <a:latin typeface="Consolas" panose="020B0609020204030204" pitchFamily="49" charset="0"/>
                  </a:rPr>
                  <a:t>sp</a:t>
                </a:r>
                <a:r>
                  <a:rPr lang="en-US" sz="900" b="0">
                    <a:solidFill>
                      <a:srgbClr val="CCCCCC"/>
                    </a:solidFill>
                    <a:effectLst/>
                    <a:latin typeface="Consolas" panose="020B0609020204030204" pitchFamily="49" charset="0"/>
                  </a:rPr>
                  <a:t>)</a:t>
                </a:r>
              </a:p>
              <a:p>
                <a:pPr>
                  <a:buNone/>
                </a:pPr>
                <a:r>
                  <a:rPr lang="en-US" sz="900" b="0">
                    <a:solidFill>
                      <a:srgbClr val="CCCCCC"/>
                    </a:solidFill>
                    <a:effectLst/>
                    <a:latin typeface="Consolas" panose="020B0609020204030204" pitchFamily="49" charset="0"/>
                  </a:rPr>
                  <a:t>    </a:t>
                </a:r>
                <a:r>
                  <a:rPr lang="en-US" sz="900" b="0">
                    <a:solidFill>
                      <a:srgbClr val="DCDCAA"/>
                    </a:solidFill>
                    <a:effectLst/>
                    <a:latin typeface="Consolas" panose="020B0609020204030204" pitchFamily="49" charset="0"/>
                  </a:rPr>
                  <a:t>addi</a:t>
                </a:r>
                <a:r>
                  <a:rPr lang="en-US" sz="900" b="0">
                    <a:solidFill>
                      <a:srgbClr val="CCCCCC"/>
                    </a:solidFill>
                    <a:effectLst/>
                    <a:latin typeface="Consolas" panose="020B0609020204030204" pitchFamily="49" charset="0"/>
                  </a:rPr>
                  <a:t>    </a:t>
                </a:r>
                <a:r>
                  <a:rPr lang="en-US" sz="900" b="0">
                    <a:solidFill>
                      <a:srgbClr val="9CDCFE"/>
                    </a:solidFill>
                    <a:effectLst/>
                    <a:latin typeface="Consolas" panose="020B0609020204030204" pitchFamily="49" charset="0"/>
                  </a:rPr>
                  <a:t>s0</a:t>
                </a:r>
                <a:r>
                  <a:rPr lang="en-US" sz="900" b="0">
                    <a:solidFill>
                      <a:srgbClr val="CCCCCC"/>
                    </a:solidFill>
                    <a:effectLst/>
                    <a:latin typeface="Consolas" panose="020B0609020204030204" pitchFamily="49" charset="0"/>
                  </a:rPr>
                  <a:t>,</a:t>
                </a:r>
                <a:r>
                  <a:rPr lang="en-US" sz="900" b="0">
                    <a:solidFill>
                      <a:srgbClr val="9CDCFE"/>
                    </a:solidFill>
                    <a:effectLst/>
                    <a:latin typeface="Consolas" panose="020B0609020204030204" pitchFamily="49" charset="0"/>
                  </a:rPr>
                  <a:t>sp</a:t>
                </a:r>
                <a:r>
                  <a:rPr lang="en-US" sz="900" b="0">
                    <a:solidFill>
                      <a:srgbClr val="CCCCCC"/>
                    </a:solidFill>
                    <a:effectLst/>
                    <a:latin typeface="Consolas" panose="020B0609020204030204" pitchFamily="49" charset="0"/>
                  </a:rPr>
                  <a:t>,</a:t>
                </a:r>
                <a:r>
                  <a:rPr lang="en-US" sz="900" b="0">
                    <a:solidFill>
                      <a:srgbClr val="B5CEA8"/>
                    </a:solidFill>
                    <a:effectLst/>
                    <a:latin typeface="Consolas" panose="020B0609020204030204" pitchFamily="49" charset="0"/>
                  </a:rPr>
                  <a:t>32</a:t>
                </a:r>
                <a:endParaRPr lang="en-US" sz="900" b="0">
                  <a:solidFill>
                    <a:srgbClr val="CCCCCC"/>
                  </a:solidFill>
                  <a:effectLst/>
                  <a:latin typeface="Consolas" panose="020B0609020204030204" pitchFamily="49" charset="0"/>
                </a:endParaRPr>
              </a:p>
              <a:p>
                <a:pPr>
                  <a:buNone/>
                </a:pPr>
                <a:r>
                  <a:rPr lang="en-US" sz="900" b="0">
                    <a:solidFill>
                      <a:srgbClr val="CCCCCC"/>
                    </a:solidFill>
                    <a:effectLst/>
                    <a:latin typeface="Consolas" panose="020B0609020204030204" pitchFamily="49" charset="0"/>
                  </a:rPr>
                  <a:t>    </a:t>
                </a:r>
                <a:r>
                  <a:rPr lang="en-US" sz="900" b="0">
                    <a:solidFill>
                      <a:srgbClr val="DCDCAA"/>
                    </a:solidFill>
                    <a:effectLst/>
                    <a:latin typeface="Consolas" panose="020B0609020204030204" pitchFamily="49" charset="0"/>
                  </a:rPr>
                  <a:t>sw</a:t>
                </a:r>
                <a:r>
                  <a:rPr lang="en-US" sz="900" b="0">
                    <a:solidFill>
                      <a:srgbClr val="CCCCCC"/>
                    </a:solidFill>
                    <a:effectLst/>
                    <a:latin typeface="Consolas" panose="020B0609020204030204" pitchFamily="49" charset="0"/>
                  </a:rPr>
                  <a:t>  </a:t>
                </a:r>
                <a:r>
                  <a:rPr lang="en-US" sz="900" b="0">
                    <a:solidFill>
                      <a:srgbClr val="9CDCFE"/>
                    </a:solidFill>
                    <a:effectLst/>
                    <a:latin typeface="Consolas" panose="020B0609020204030204" pitchFamily="49" charset="0"/>
                  </a:rPr>
                  <a:t>a0</a:t>
                </a:r>
                <a:r>
                  <a:rPr lang="en-US" sz="900" b="0">
                    <a:solidFill>
                      <a:srgbClr val="CCCCCC"/>
                    </a:solidFill>
                    <a:effectLst/>
                    <a:latin typeface="Consolas" panose="020B0609020204030204" pitchFamily="49" charset="0"/>
                  </a:rPr>
                  <a:t>,-</a:t>
                </a:r>
                <a:r>
                  <a:rPr lang="en-US" sz="900" b="0">
                    <a:solidFill>
                      <a:srgbClr val="B5CEA8"/>
                    </a:solidFill>
                    <a:effectLst/>
                    <a:latin typeface="Consolas" panose="020B0609020204030204" pitchFamily="49" charset="0"/>
                  </a:rPr>
                  <a:t>20</a:t>
                </a:r>
                <a:r>
                  <a:rPr lang="en-US" sz="900" b="0">
                    <a:solidFill>
                      <a:srgbClr val="CCCCCC"/>
                    </a:solidFill>
                    <a:effectLst/>
                    <a:latin typeface="Consolas" panose="020B0609020204030204" pitchFamily="49" charset="0"/>
                  </a:rPr>
                  <a:t>(</a:t>
                </a:r>
                <a:r>
                  <a:rPr lang="en-US" sz="900" b="0">
                    <a:solidFill>
                      <a:srgbClr val="9CDCFE"/>
                    </a:solidFill>
                    <a:effectLst/>
                    <a:latin typeface="Consolas" panose="020B0609020204030204" pitchFamily="49" charset="0"/>
                  </a:rPr>
                  <a:t>s0</a:t>
                </a:r>
                <a:r>
                  <a:rPr lang="en-US" sz="900" b="0">
                    <a:solidFill>
                      <a:srgbClr val="CCCCCC"/>
                    </a:solidFill>
                    <a:effectLst/>
                    <a:latin typeface="Consolas" panose="020B0609020204030204" pitchFamily="49" charset="0"/>
                  </a:rPr>
                  <a:t>)</a:t>
                </a:r>
              </a:p>
              <a:p>
                <a:pPr>
                  <a:buNone/>
                </a:pPr>
                <a:r>
                  <a:rPr lang="en-US" sz="900" b="0">
                    <a:solidFill>
                      <a:srgbClr val="CCCCCC"/>
                    </a:solidFill>
                    <a:effectLst/>
                    <a:latin typeface="Consolas" panose="020B0609020204030204" pitchFamily="49" charset="0"/>
                  </a:rPr>
                  <a:t>    </a:t>
                </a:r>
                <a:r>
                  <a:rPr lang="en-US" sz="900" b="0">
                    <a:solidFill>
                      <a:srgbClr val="DCDCAA"/>
                    </a:solidFill>
                    <a:effectLst/>
                    <a:latin typeface="Consolas" panose="020B0609020204030204" pitchFamily="49" charset="0"/>
                  </a:rPr>
                  <a:t>call</a:t>
                </a:r>
                <a:r>
                  <a:rPr lang="en-US" sz="900" b="0">
                    <a:solidFill>
                      <a:srgbClr val="CCCCCC"/>
                    </a:solidFill>
                    <a:effectLst/>
                    <a:latin typeface="Consolas" panose="020B0609020204030204" pitchFamily="49" charset="0"/>
                  </a:rPr>
                  <a:t>    pi_squared</a:t>
                </a:r>
              </a:p>
              <a:p>
                <a:pPr>
                  <a:buNone/>
                </a:pPr>
                <a:r>
                  <a:rPr lang="en-US" sz="900" b="0">
                    <a:solidFill>
                      <a:srgbClr val="CCCCCC"/>
                    </a:solidFill>
                    <a:effectLst/>
                    <a:latin typeface="Consolas" panose="020B0609020204030204" pitchFamily="49" charset="0"/>
                  </a:rPr>
                  <a:t>    </a:t>
                </a:r>
                <a:r>
                  <a:rPr lang="en-US" sz="900" b="0">
                    <a:solidFill>
                      <a:srgbClr val="DCDCAA"/>
                    </a:solidFill>
                    <a:effectLst/>
                    <a:latin typeface="Consolas" panose="020B0609020204030204" pitchFamily="49" charset="0"/>
                  </a:rPr>
                  <a:t>mv</a:t>
                </a:r>
                <a:r>
                  <a:rPr lang="en-US" sz="900" b="0">
                    <a:solidFill>
                      <a:srgbClr val="CCCCCC"/>
                    </a:solidFill>
                    <a:effectLst/>
                    <a:latin typeface="Consolas" panose="020B0609020204030204" pitchFamily="49" charset="0"/>
                  </a:rPr>
                  <a:t>  </a:t>
                </a:r>
                <a:r>
                  <a:rPr lang="en-US" sz="900" b="0">
                    <a:solidFill>
                      <a:srgbClr val="9CDCFE"/>
                    </a:solidFill>
                    <a:effectLst/>
                    <a:latin typeface="Consolas" panose="020B0609020204030204" pitchFamily="49" charset="0"/>
                  </a:rPr>
                  <a:t>a5</a:t>
                </a:r>
                <a:r>
                  <a:rPr lang="en-US" sz="900" b="0">
                    <a:solidFill>
                      <a:srgbClr val="CCCCCC"/>
                    </a:solidFill>
                    <a:effectLst/>
                    <a:latin typeface="Consolas" panose="020B0609020204030204" pitchFamily="49" charset="0"/>
                  </a:rPr>
                  <a:t>,</a:t>
                </a:r>
                <a:r>
                  <a:rPr lang="en-US" sz="900" b="0">
                    <a:solidFill>
                      <a:srgbClr val="9CDCFE"/>
                    </a:solidFill>
                    <a:effectLst/>
                    <a:latin typeface="Consolas" panose="020B0609020204030204" pitchFamily="49" charset="0"/>
                  </a:rPr>
                  <a:t>a0</a:t>
                </a:r>
                <a:endParaRPr lang="en-US" sz="900" b="0">
                  <a:solidFill>
                    <a:srgbClr val="CCCCCC"/>
                  </a:solidFill>
                  <a:effectLst/>
                  <a:latin typeface="Consolas" panose="020B0609020204030204" pitchFamily="49" charset="0"/>
                </a:endParaRPr>
              </a:p>
              <a:p>
                <a:pPr>
                  <a:buNone/>
                </a:pPr>
                <a:r>
                  <a:rPr lang="en-US" sz="900" b="0">
                    <a:solidFill>
                      <a:srgbClr val="CCCCCC"/>
                    </a:solidFill>
                    <a:effectLst/>
                    <a:latin typeface="Consolas" panose="020B0609020204030204" pitchFamily="49" charset="0"/>
                  </a:rPr>
                  <a:t>    </a:t>
                </a:r>
                <a:r>
                  <a:rPr lang="en-US" sz="900" b="0">
                    <a:solidFill>
                      <a:srgbClr val="DCDCAA"/>
                    </a:solidFill>
                    <a:effectLst/>
                    <a:latin typeface="Consolas" panose="020B0609020204030204" pitchFamily="49" charset="0"/>
                  </a:rPr>
                  <a:t>lw</a:t>
                </a:r>
                <a:r>
                  <a:rPr lang="en-US" sz="900" b="0">
                    <a:solidFill>
                      <a:srgbClr val="CCCCCC"/>
                    </a:solidFill>
                    <a:effectLst/>
                    <a:latin typeface="Consolas" panose="020B0609020204030204" pitchFamily="49" charset="0"/>
                  </a:rPr>
                  <a:t>  </a:t>
                </a:r>
                <a:r>
                  <a:rPr lang="en-US" sz="900" b="0">
                    <a:solidFill>
                      <a:srgbClr val="9CDCFE"/>
                    </a:solidFill>
                    <a:effectLst/>
                    <a:latin typeface="Consolas" panose="020B0609020204030204" pitchFamily="49" charset="0"/>
                  </a:rPr>
                  <a:t>a1</a:t>
                </a:r>
                <a:r>
                  <a:rPr lang="en-US" sz="900" b="0">
                    <a:solidFill>
                      <a:srgbClr val="CCCCCC"/>
                    </a:solidFill>
                    <a:effectLst/>
                    <a:latin typeface="Consolas" panose="020B0609020204030204" pitchFamily="49" charset="0"/>
                  </a:rPr>
                  <a:t>,-</a:t>
                </a:r>
                <a:r>
                  <a:rPr lang="en-US" sz="900" b="0">
                    <a:solidFill>
                      <a:srgbClr val="B5CEA8"/>
                    </a:solidFill>
                    <a:effectLst/>
                    <a:latin typeface="Consolas" panose="020B0609020204030204" pitchFamily="49" charset="0"/>
                  </a:rPr>
                  <a:t>20</a:t>
                </a:r>
                <a:r>
                  <a:rPr lang="en-US" sz="900" b="0">
                    <a:solidFill>
                      <a:srgbClr val="CCCCCC"/>
                    </a:solidFill>
                    <a:effectLst/>
                    <a:latin typeface="Consolas" panose="020B0609020204030204" pitchFamily="49" charset="0"/>
                  </a:rPr>
                  <a:t>(</a:t>
                </a:r>
                <a:r>
                  <a:rPr lang="en-US" sz="900" b="0">
                    <a:solidFill>
                      <a:srgbClr val="9CDCFE"/>
                    </a:solidFill>
                    <a:effectLst/>
                    <a:latin typeface="Consolas" panose="020B0609020204030204" pitchFamily="49" charset="0"/>
                  </a:rPr>
                  <a:t>s0</a:t>
                </a:r>
                <a:r>
                  <a:rPr lang="en-US" sz="900" b="0">
                    <a:solidFill>
                      <a:srgbClr val="CCCCCC"/>
                    </a:solidFill>
                    <a:effectLst/>
                    <a:latin typeface="Consolas" panose="020B0609020204030204" pitchFamily="49" charset="0"/>
                  </a:rPr>
                  <a:t>)</a:t>
                </a:r>
              </a:p>
              <a:p>
                <a:pPr>
                  <a:buNone/>
                </a:pPr>
                <a:r>
                  <a:rPr lang="en-US" sz="900" b="0">
                    <a:solidFill>
                      <a:srgbClr val="CCCCCC"/>
                    </a:solidFill>
                    <a:effectLst/>
                    <a:latin typeface="Consolas" panose="020B0609020204030204" pitchFamily="49" charset="0"/>
                  </a:rPr>
                  <a:t>    </a:t>
                </a:r>
                <a:r>
                  <a:rPr lang="en-US" sz="900" b="0">
                    <a:solidFill>
                      <a:srgbClr val="DCDCAA"/>
                    </a:solidFill>
                    <a:effectLst/>
                    <a:latin typeface="Consolas" panose="020B0609020204030204" pitchFamily="49" charset="0"/>
                  </a:rPr>
                  <a:t>mv</a:t>
                </a:r>
                <a:r>
                  <a:rPr lang="en-US" sz="900" b="0">
                    <a:solidFill>
                      <a:srgbClr val="CCCCCC"/>
                    </a:solidFill>
                    <a:effectLst/>
                    <a:latin typeface="Consolas" panose="020B0609020204030204" pitchFamily="49" charset="0"/>
                  </a:rPr>
                  <a:t>  </a:t>
                </a:r>
                <a:r>
                  <a:rPr lang="en-US" sz="900" b="0">
                    <a:solidFill>
                      <a:srgbClr val="9CDCFE"/>
                    </a:solidFill>
                    <a:effectLst/>
                    <a:latin typeface="Consolas" panose="020B0609020204030204" pitchFamily="49" charset="0"/>
                  </a:rPr>
                  <a:t>a0</a:t>
                </a:r>
                <a:r>
                  <a:rPr lang="en-US" sz="900" b="0">
                    <a:solidFill>
                      <a:srgbClr val="CCCCCC"/>
                    </a:solidFill>
                    <a:effectLst/>
                    <a:latin typeface="Consolas" panose="020B0609020204030204" pitchFamily="49" charset="0"/>
                  </a:rPr>
                  <a:t>,</a:t>
                </a:r>
                <a:r>
                  <a:rPr lang="en-US" sz="900" b="0">
                    <a:solidFill>
                      <a:srgbClr val="9CDCFE"/>
                    </a:solidFill>
                    <a:effectLst/>
                    <a:latin typeface="Consolas" panose="020B0609020204030204" pitchFamily="49" charset="0"/>
                  </a:rPr>
                  <a:t>a5</a:t>
                </a:r>
                <a:endParaRPr lang="en-US" sz="900" b="0">
                  <a:solidFill>
                    <a:srgbClr val="CCCCCC"/>
                  </a:solidFill>
                  <a:effectLst/>
                  <a:latin typeface="Consolas" panose="020B0609020204030204" pitchFamily="49" charset="0"/>
                </a:endParaRPr>
              </a:p>
              <a:p>
                <a:pPr>
                  <a:buNone/>
                </a:pPr>
                <a:r>
                  <a:rPr lang="en-US" sz="900" b="0">
                    <a:solidFill>
                      <a:srgbClr val="CCCCCC"/>
                    </a:solidFill>
                    <a:effectLst/>
                    <a:latin typeface="Consolas" panose="020B0609020204030204" pitchFamily="49" charset="0"/>
                  </a:rPr>
                  <a:t>    </a:t>
                </a:r>
                <a:r>
                  <a:rPr lang="en-US" sz="900" b="0">
                    <a:solidFill>
                      <a:srgbClr val="DCDCAA"/>
                    </a:solidFill>
                    <a:effectLst/>
                    <a:latin typeface="Consolas" panose="020B0609020204030204" pitchFamily="49" charset="0"/>
                  </a:rPr>
                  <a:t>call</a:t>
                </a:r>
                <a:r>
                  <a:rPr lang="en-US" sz="900" b="0">
                    <a:solidFill>
                      <a:srgbClr val="CCCCCC"/>
                    </a:solidFill>
                    <a:effectLst/>
                    <a:latin typeface="Consolas" panose="020B0609020204030204" pitchFamily="49" charset="0"/>
                  </a:rPr>
                  <a:t>    __mulsf3</a:t>
                </a:r>
              </a:p>
              <a:p>
                <a:pPr>
                  <a:buNone/>
                </a:pPr>
                <a:r>
                  <a:rPr lang="en-US" sz="900" b="0">
                    <a:solidFill>
                      <a:srgbClr val="CCCCCC"/>
                    </a:solidFill>
                    <a:effectLst/>
                    <a:latin typeface="Consolas" panose="020B0609020204030204" pitchFamily="49" charset="0"/>
                  </a:rPr>
                  <a:t>    </a:t>
                </a:r>
                <a:r>
                  <a:rPr lang="en-US" sz="900" b="0">
                    <a:solidFill>
                      <a:srgbClr val="DCDCAA"/>
                    </a:solidFill>
                    <a:effectLst/>
                    <a:latin typeface="Consolas" panose="020B0609020204030204" pitchFamily="49" charset="0"/>
                  </a:rPr>
                  <a:t>mv</a:t>
                </a:r>
                <a:r>
                  <a:rPr lang="en-US" sz="900" b="0">
                    <a:solidFill>
                      <a:srgbClr val="CCCCCC"/>
                    </a:solidFill>
                    <a:effectLst/>
                    <a:latin typeface="Consolas" panose="020B0609020204030204" pitchFamily="49" charset="0"/>
                  </a:rPr>
                  <a:t>  </a:t>
                </a:r>
                <a:r>
                  <a:rPr lang="en-US" sz="900" b="0">
                    <a:solidFill>
                      <a:srgbClr val="9CDCFE"/>
                    </a:solidFill>
                    <a:effectLst/>
                    <a:latin typeface="Consolas" panose="020B0609020204030204" pitchFamily="49" charset="0"/>
                  </a:rPr>
                  <a:t>a5</a:t>
                </a:r>
                <a:r>
                  <a:rPr lang="en-US" sz="900" b="0">
                    <a:solidFill>
                      <a:srgbClr val="CCCCCC"/>
                    </a:solidFill>
                    <a:effectLst/>
                    <a:latin typeface="Consolas" panose="020B0609020204030204" pitchFamily="49" charset="0"/>
                  </a:rPr>
                  <a:t>,</a:t>
                </a:r>
                <a:r>
                  <a:rPr lang="en-US" sz="900" b="0">
                    <a:solidFill>
                      <a:srgbClr val="9CDCFE"/>
                    </a:solidFill>
                    <a:effectLst/>
                    <a:latin typeface="Consolas" panose="020B0609020204030204" pitchFamily="49" charset="0"/>
                  </a:rPr>
                  <a:t>a0</a:t>
                </a:r>
                <a:endParaRPr lang="en-US" sz="900" b="0">
                  <a:solidFill>
                    <a:srgbClr val="CCCCCC"/>
                  </a:solidFill>
                  <a:effectLst/>
                  <a:latin typeface="Consolas" panose="020B0609020204030204" pitchFamily="49" charset="0"/>
                </a:endParaRPr>
              </a:p>
              <a:p>
                <a:pPr>
                  <a:buNone/>
                </a:pPr>
                <a:r>
                  <a:rPr lang="en-US" sz="900" b="0">
                    <a:solidFill>
                      <a:srgbClr val="CCCCCC"/>
                    </a:solidFill>
                    <a:effectLst/>
                    <a:latin typeface="Consolas" panose="020B0609020204030204" pitchFamily="49" charset="0"/>
                  </a:rPr>
                  <a:t>    </a:t>
                </a:r>
                <a:r>
                  <a:rPr lang="en-US" sz="900" b="0">
                    <a:solidFill>
                      <a:srgbClr val="DCDCAA"/>
                    </a:solidFill>
                    <a:effectLst/>
                    <a:latin typeface="Consolas" panose="020B0609020204030204" pitchFamily="49" charset="0"/>
                  </a:rPr>
                  <a:t>mv</a:t>
                </a:r>
                <a:r>
                  <a:rPr lang="en-US" sz="900" b="0">
                    <a:solidFill>
                      <a:srgbClr val="CCCCCC"/>
                    </a:solidFill>
                    <a:effectLst/>
                    <a:latin typeface="Consolas" panose="020B0609020204030204" pitchFamily="49" charset="0"/>
                  </a:rPr>
                  <a:t>  </a:t>
                </a:r>
                <a:r>
                  <a:rPr lang="en-US" sz="900" b="0">
                    <a:solidFill>
                      <a:srgbClr val="9CDCFE"/>
                    </a:solidFill>
                    <a:effectLst/>
                    <a:latin typeface="Consolas" panose="020B0609020204030204" pitchFamily="49" charset="0"/>
                  </a:rPr>
                  <a:t>a0</a:t>
                </a:r>
                <a:r>
                  <a:rPr lang="en-US" sz="900" b="0">
                    <a:solidFill>
                      <a:srgbClr val="CCCCCC"/>
                    </a:solidFill>
                    <a:effectLst/>
                    <a:latin typeface="Consolas" panose="020B0609020204030204" pitchFamily="49" charset="0"/>
                  </a:rPr>
                  <a:t>,</a:t>
                </a:r>
                <a:r>
                  <a:rPr lang="en-US" sz="900" b="0">
                    <a:solidFill>
                      <a:srgbClr val="9CDCFE"/>
                    </a:solidFill>
                    <a:effectLst/>
                    <a:latin typeface="Consolas" panose="020B0609020204030204" pitchFamily="49" charset="0"/>
                  </a:rPr>
                  <a:t>a5</a:t>
                </a:r>
                <a:endParaRPr lang="en-US" sz="900" b="0">
                  <a:solidFill>
                    <a:srgbClr val="CCCCCC"/>
                  </a:solidFill>
                  <a:effectLst/>
                  <a:latin typeface="Consolas" panose="020B0609020204030204" pitchFamily="49" charset="0"/>
                </a:endParaRPr>
              </a:p>
              <a:p>
                <a:pPr>
                  <a:buNone/>
                </a:pPr>
                <a:r>
                  <a:rPr lang="en-US" sz="900" b="0">
                    <a:solidFill>
                      <a:srgbClr val="CCCCCC"/>
                    </a:solidFill>
                    <a:effectLst/>
                    <a:latin typeface="Consolas" panose="020B0609020204030204" pitchFamily="49" charset="0"/>
                  </a:rPr>
                  <a:t>    </a:t>
                </a:r>
                <a:r>
                  <a:rPr lang="en-US" sz="900" b="0">
                    <a:solidFill>
                      <a:srgbClr val="DCDCAA"/>
                    </a:solidFill>
                    <a:effectLst/>
                    <a:latin typeface="Consolas" panose="020B0609020204030204" pitchFamily="49" charset="0"/>
                  </a:rPr>
                  <a:t>lw</a:t>
                </a:r>
                <a:r>
                  <a:rPr lang="en-US" sz="900" b="0">
                    <a:solidFill>
                      <a:srgbClr val="CCCCCC"/>
                    </a:solidFill>
                    <a:effectLst/>
                    <a:latin typeface="Consolas" panose="020B0609020204030204" pitchFamily="49" charset="0"/>
                  </a:rPr>
                  <a:t>  </a:t>
                </a:r>
                <a:r>
                  <a:rPr lang="en-US" sz="900" b="0">
                    <a:solidFill>
                      <a:srgbClr val="9CDCFE"/>
                    </a:solidFill>
                    <a:effectLst/>
                    <a:latin typeface="Consolas" panose="020B0609020204030204" pitchFamily="49" charset="0"/>
                  </a:rPr>
                  <a:t>ra</a:t>
                </a:r>
                <a:r>
                  <a:rPr lang="en-US" sz="900" b="0">
                    <a:solidFill>
                      <a:srgbClr val="CCCCCC"/>
                    </a:solidFill>
                    <a:effectLst/>
                    <a:latin typeface="Consolas" panose="020B0609020204030204" pitchFamily="49" charset="0"/>
                  </a:rPr>
                  <a:t>,</a:t>
                </a:r>
                <a:r>
                  <a:rPr lang="en-US" sz="900" b="0">
                    <a:solidFill>
                      <a:srgbClr val="B5CEA8"/>
                    </a:solidFill>
                    <a:effectLst/>
                    <a:latin typeface="Consolas" panose="020B0609020204030204" pitchFamily="49" charset="0"/>
                  </a:rPr>
                  <a:t>28</a:t>
                </a:r>
                <a:r>
                  <a:rPr lang="en-US" sz="900" b="0">
                    <a:solidFill>
                      <a:srgbClr val="CCCCCC"/>
                    </a:solidFill>
                    <a:effectLst/>
                    <a:latin typeface="Consolas" panose="020B0609020204030204" pitchFamily="49" charset="0"/>
                  </a:rPr>
                  <a:t>(</a:t>
                </a:r>
                <a:r>
                  <a:rPr lang="en-US" sz="900" b="0">
                    <a:solidFill>
                      <a:srgbClr val="9CDCFE"/>
                    </a:solidFill>
                    <a:effectLst/>
                    <a:latin typeface="Consolas" panose="020B0609020204030204" pitchFamily="49" charset="0"/>
                  </a:rPr>
                  <a:t>sp</a:t>
                </a:r>
                <a:r>
                  <a:rPr lang="en-US" sz="900" b="0">
                    <a:solidFill>
                      <a:srgbClr val="CCCCCC"/>
                    </a:solidFill>
                    <a:effectLst/>
                    <a:latin typeface="Consolas" panose="020B0609020204030204" pitchFamily="49" charset="0"/>
                  </a:rPr>
                  <a:t>)</a:t>
                </a:r>
              </a:p>
              <a:p>
                <a:pPr>
                  <a:buNone/>
                </a:pPr>
                <a:r>
                  <a:rPr lang="en-US" sz="900" b="0">
                    <a:solidFill>
                      <a:srgbClr val="CCCCCC"/>
                    </a:solidFill>
                    <a:effectLst/>
                    <a:latin typeface="Consolas" panose="020B0609020204030204" pitchFamily="49" charset="0"/>
                  </a:rPr>
                  <a:t>    </a:t>
                </a:r>
                <a:r>
                  <a:rPr lang="en-US" sz="900" b="0">
                    <a:solidFill>
                      <a:srgbClr val="DCDCAA"/>
                    </a:solidFill>
                    <a:effectLst/>
                    <a:latin typeface="Consolas" panose="020B0609020204030204" pitchFamily="49" charset="0"/>
                  </a:rPr>
                  <a:t>lw</a:t>
                </a:r>
                <a:r>
                  <a:rPr lang="en-US" sz="900" b="0">
                    <a:solidFill>
                      <a:srgbClr val="CCCCCC"/>
                    </a:solidFill>
                    <a:effectLst/>
                    <a:latin typeface="Consolas" panose="020B0609020204030204" pitchFamily="49" charset="0"/>
                  </a:rPr>
                  <a:t>  </a:t>
                </a:r>
                <a:r>
                  <a:rPr lang="en-US" sz="900" b="0">
                    <a:solidFill>
                      <a:srgbClr val="9CDCFE"/>
                    </a:solidFill>
                    <a:effectLst/>
                    <a:latin typeface="Consolas" panose="020B0609020204030204" pitchFamily="49" charset="0"/>
                  </a:rPr>
                  <a:t>s0</a:t>
                </a:r>
                <a:r>
                  <a:rPr lang="en-US" sz="900" b="0">
                    <a:solidFill>
                      <a:srgbClr val="CCCCCC"/>
                    </a:solidFill>
                    <a:effectLst/>
                    <a:latin typeface="Consolas" panose="020B0609020204030204" pitchFamily="49" charset="0"/>
                  </a:rPr>
                  <a:t>,</a:t>
                </a:r>
                <a:r>
                  <a:rPr lang="en-US" sz="900" b="0">
                    <a:solidFill>
                      <a:srgbClr val="B5CEA8"/>
                    </a:solidFill>
                    <a:effectLst/>
                    <a:latin typeface="Consolas" panose="020B0609020204030204" pitchFamily="49" charset="0"/>
                  </a:rPr>
                  <a:t>24</a:t>
                </a:r>
                <a:r>
                  <a:rPr lang="en-US" sz="900" b="0">
                    <a:solidFill>
                      <a:srgbClr val="CCCCCC"/>
                    </a:solidFill>
                    <a:effectLst/>
                    <a:latin typeface="Consolas" panose="020B0609020204030204" pitchFamily="49" charset="0"/>
                  </a:rPr>
                  <a:t>(</a:t>
                </a:r>
                <a:r>
                  <a:rPr lang="en-US" sz="900" b="0">
                    <a:solidFill>
                      <a:srgbClr val="9CDCFE"/>
                    </a:solidFill>
                    <a:effectLst/>
                    <a:latin typeface="Consolas" panose="020B0609020204030204" pitchFamily="49" charset="0"/>
                  </a:rPr>
                  <a:t>sp</a:t>
                </a:r>
                <a:r>
                  <a:rPr lang="en-US" sz="900" b="0">
                    <a:solidFill>
                      <a:srgbClr val="CCCCCC"/>
                    </a:solidFill>
                    <a:effectLst/>
                    <a:latin typeface="Consolas" panose="020B0609020204030204" pitchFamily="49" charset="0"/>
                  </a:rPr>
                  <a:t>)</a:t>
                </a:r>
              </a:p>
              <a:p>
                <a:pPr>
                  <a:buNone/>
                </a:pPr>
                <a:r>
                  <a:rPr lang="en-US" sz="900" b="0">
                    <a:solidFill>
                      <a:srgbClr val="CCCCCC"/>
                    </a:solidFill>
                    <a:effectLst/>
                    <a:latin typeface="Consolas" panose="020B0609020204030204" pitchFamily="49" charset="0"/>
                  </a:rPr>
                  <a:t>    </a:t>
                </a:r>
                <a:r>
                  <a:rPr lang="en-US" sz="900" b="0">
                    <a:solidFill>
                      <a:srgbClr val="DCDCAA"/>
                    </a:solidFill>
                    <a:effectLst/>
                    <a:latin typeface="Consolas" panose="020B0609020204030204" pitchFamily="49" charset="0"/>
                  </a:rPr>
                  <a:t>addi</a:t>
                </a:r>
                <a:r>
                  <a:rPr lang="en-US" sz="900" b="0">
                    <a:solidFill>
                      <a:srgbClr val="CCCCCC"/>
                    </a:solidFill>
                    <a:effectLst/>
                    <a:latin typeface="Consolas" panose="020B0609020204030204" pitchFamily="49" charset="0"/>
                  </a:rPr>
                  <a:t>    </a:t>
                </a:r>
                <a:r>
                  <a:rPr lang="en-US" sz="900" b="0">
                    <a:solidFill>
                      <a:srgbClr val="9CDCFE"/>
                    </a:solidFill>
                    <a:effectLst/>
                    <a:latin typeface="Consolas" panose="020B0609020204030204" pitchFamily="49" charset="0"/>
                  </a:rPr>
                  <a:t>sp</a:t>
                </a:r>
                <a:r>
                  <a:rPr lang="en-US" sz="900" b="0">
                    <a:solidFill>
                      <a:srgbClr val="CCCCCC"/>
                    </a:solidFill>
                    <a:effectLst/>
                    <a:latin typeface="Consolas" panose="020B0609020204030204" pitchFamily="49" charset="0"/>
                  </a:rPr>
                  <a:t>,</a:t>
                </a:r>
                <a:r>
                  <a:rPr lang="en-US" sz="900" b="0">
                    <a:solidFill>
                      <a:srgbClr val="9CDCFE"/>
                    </a:solidFill>
                    <a:effectLst/>
                    <a:latin typeface="Consolas" panose="020B0609020204030204" pitchFamily="49" charset="0"/>
                  </a:rPr>
                  <a:t>sp</a:t>
                </a:r>
                <a:r>
                  <a:rPr lang="en-US" sz="900" b="0">
                    <a:solidFill>
                      <a:srgbClr val="CCCCCC"/>
                    </a:solidFill>
                    <a:effectLst/>
                    <a:latin typeface="Consolas" panose="020B0609020204030204" pitchFamily="49" charset="0"/>
                  </a:rPr>
                  <a:t>,</a:t>
                </a:r>
                <a:r>
                  <a:rPr lang="en-US" sz="900" b="0">
                    <a:solidFill>
                      <a:srgbClr val="B5CEA8"/>
                    </a:solidFill>
                    <a:effectLst/>
                    <a:latin typeface="Consolas" panose="020B0609020204030204" pitchFamily="49" charset="0"/>
                  </a:rPr>
                  <a:t>32</a:t>
                </a:r>
                <a:endParaRPr lang="en-US" sz="900" b="0">
                  <a:solidFill>
                    <a:srgbClr val="CCCCCC"/>
                  </a:solidFill>
                  <a:effectLst/>
                  <a:latin typeface="Consolas" panose="020B0609020204030204" pitchFamily="49" charset="0"/>
                </a:endParaRPr>
              </a:p>
              <a:p>
                <a:pPr>
                  <a:buNone/>
                </a:pPr>
                <a:r>
                  <a:rPr lang="en-US" sz="900" b="0">
                    <a:solidFill>
                      <a:srgbClr val="CCCCCC"/>
                    </a:solidFill>
                    <a:effectLst/>
                    <a:latin typeface="Consolas" panose="020B0609020204030204" pitchFamily="49" charset="0"/>
                  </a:rPr>
                  <a:t>    </a:t>
                </a:r>
                <a:r>
                  <a:rPr lang="en-US" sz="900" b="0">
                    <a:solidFill>
                      <a:srgbClr val="DCDCAA"/>
                    </a:solidFill>
                    <a:effectLst/>
                    <a:latin typeface="Consolas" panose="020B0609020204030204" pitchFamily="49" charset="0"/>
                  </a:rPr>
                  <a:t>jr</a:t>
                </a:r>
                <a:r>
                  <a:rPr lang="en-US" sz="900" b="0">
                    <a:solidFill>
                      <a:srgbClr val="CCCCCC"/>
                    </a:solidFill>
                    <a:effectLst/>
                    <a:latin typeface="Consolas" panose="020B0609020204030204" pitchFamily="49" charset="0"/>
                  </a:rPr>
                  <a:t>  </a:t>
                </a:r>
                <a:r>
                  <a:rPr lang="en-US" sz="900" b="0">
                    <a:solidFill>
                      <a:srgbClr val="9CDCFE"/>
                    </a:solidFill>
                    <a:effectLst/>
                    <a:latin typeface="Consolas" panose="020B0609020204030204" pitchFamily="49" charset="0"/>
                  </a:rPr>
                  <a:t>ra</a:t>
                </a:r>
                <a:endParaRPr lang="en-US" sz="900" b="0">
                  <a:solidFill>
                    <a:srgbClr val="CCCCCC"/>
                  </a:solidFill>
                  <a:effectLst/>
                  <a:latin typeface="Consolas" panose="020B0609020204030204" pitchFamily="49" charset="0"/>
                </a:endParaRPr>
              </a:p>
            </p:txBody>
          </p:sp>
          <p:sp>
            <p:nvSpPr>
              <p:cNvPr id="27" name="TextBox 26">
                <a:extLst>
                  <a:ext uri="{FF2B5EF4-FFF2-40B4-BE49-F238E27FC236}">
                    <a16:creationId xmlns:a16="http://schemas.microsoft.com/office/drawing/2014/main" id="{6BB8F3FC-3257-DD56-531D-397DC99F68E7}"/>
                  </a:ext>
                </a:extLst>
              </p:cNvPr>
              <p:cNvSpPr txBox="1"/>
              <p:nvPr/>
            </p:nvSpPr>
            <p:spPr>
              <a:xfrm>
                <a:off x="161722" y="3688280"/>
                <a:ext cx="3839993" cy="369332"/>
              </a:xfrm>
              <a:prstGeom prst="rect">
                <a:avLst/>
              </a:prstGeom>
              <a:solidFill>
                <a:schemeClr val="bg1"/>
              </a:solidFill>
              <a:ln>
                <a:solidFill>
                  <a:schemeClr val="accent1">
                    <a:shade val="15000"/>
                  </a:schemeClr>
                </a:solidFill>
              </a:ln>
            </p:spPr>
            <p:txBody>
              <a:bodyPr wrap="none" rtlCol="0">
                <a:noAutofit/>
              </a:bodyPr>
              <a:lstStyle/>
              <a:p>
                <a:r>
                  <a:rPr lang="en-GB"/>
                  <a:t>functions.s</a:t>
                </a:r>
                <a:endParaRPr lang="LID4096"/>
              </a:p>
            </p:txBody>
          </p:sp>
        </p:grpSp>
      </p:grpSp>
      <p:grpSp>
        <p:nvGrpSpPr>
          <p:cNvPr id="33" name="Group 32">
            <a:extLst>
              <a:ext uri="{FF2B5EF4-FFF2-40B4-BE49-F238E27FC236}">
                <a16:creationId xmlns:a16="http://schemas.microsoft.com/office/drawing/2014/main" id="{DA9900DA-F9DC-FFDC-B395-06E3F31EDCD1}"/>
              </a:ext>
            </a:extLst>
          </p:cNvPr>
          <p:cNvGrpSpPr/>
          <p:nvPr/>
        </p:nvGrpSpPr>
        <p:grpSpPr>
          <a:xfrm>
            <a:off x="7803552" y="2975505"/>
            <a:ext cx="3092340" cy="3488616"/>
            <a:chOff x="7803552" y="2975505"/>
            <a:chExt cx="3092340" cy="3488616"/>
          </a:xfrm>
        </p:grpSpPr>
        <p:grpSp>
          <p:nvGrpSpPr>
            <p:cNvPr id="19" name="Group 18">
              <a:extLst>
                <a:ext uri="{FF2B5EF4-FFF2-40B4-BE49-F238E27FC236}">
                  <a16:creationId xmlns:a16="http://schemas.microsoft.com/office/drawing/2014/main" id="{AEC9CD39-99B9-5AE4-9908-499715EF8D1B}"/>
                </a:ext>
              </a:extLst>
            </p:cNvPr>
            <p:cNvGrpSpPr/>
            <p:nvPr/>
          </p:nvGrpSpPr>
          <p:grpSpPr>
            <a:xfrm>
              <a:off x="8469449" y="2975505"/>
              <a:ext cx="1426994" cy="618186"/>
              <a:chOff x="2362995" y="3837904"/>
              <a:chExt cx="1426994" cy="618186"/>
            </a:xfrm>
          </p:grpSpPr>
          <p:sp>
            <p:nvSpPr>
              <p:cNvPr id="20" name="Arrow: Down 19">
                <a:extLst>
                  <a:ext uri="{FF2B5EF4-FFF2-40B4-BE49-F238E27FC236}">
                    <a16:creationId xmlns:a16="http://schemas.microsoft.com/office/drawing/2014/main" id="{8F5A860A-F47A-2A51-7670-71121E8D95BB}"/>
                  </a:ext>
                </a:extLst>
              </p:cNvPr>
              <p:cNvSpPr/>
              <p:nvPr/>
            </p:nvSpPr>
            <p:spPr>
              <a:xfrm>
                <a:off x="2730321" y="3837904"/>
                <a:ext cx="841420" cy="618186"/>
              </a:xfrm>
              <a:prstGeom prst="downArrow">
                <a:avLst>
                  <a:gd name="adj1" fmla="val 50000"/>
                  <a:gd name="adj2" fmla="val 3958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1" name="TextBox 20">
                <a:extLst>
                  <a:ext uri="{FF2B5EF4-FFF2-40B4-BE49-F238E27FC236}">
                    <a16:creationId xmlns:a16="http://schemas.microsoft.com/office/drawing/2014/main" id="{7D151F34-51C7-6731-6D18-355C88C41D88}"/>
                  </a:ext>
                </a:extLst>
              </p:cNvPr>
              <p:cNvSpPr txBox="1"/>
              <p:nvPr/>
            </p:nvSpPr>
            <p:spPr>
              <a:xfrm>
                <a:off x="2362995" y="3927732"/>
                <a:ext cx="1426994" cy="200055"/>
              </a:xfrm>
              <a:prstGeom prst="rect">
                <a:avLst/>
              </a:prstGeom>
              <a:solidFill>
                <a:schemeClr val="tx1"/>
              </a:solidFill>
            </p:spPr>
            <p:txBody>
              <a:bodyPr wrap="none" rtlCol="0">
                <a:spAutoFit/>
              </a:bodyPr>
              <a:lstStyle/>
              <a:p>
                <a:r>
                  <a:rPr lang="en-GB" sz="700">
                    <a:solidFill>
                      <a:schemeClr val="bg1"/>
                    </a:solidFill>
                    <a:latin typeface="Consolas" panose="020B0609020204030204" pitchFamily="49" charset="0"/>
                  </a:rPr>
                  <a:t>$ gcc -S math.i –o math.s</a:t>
                </a:r>
                <a:endParaRPr lang="LID4096" sz="700">
                  <a:solidFill>
                    <a:schemeClr val="bg1"/>
                  </a:solidFill>
                  <a:latin typeface="Consolas" panose="020B0609020204030204" pitchFamily="49" charset="0"/>
                </a:endParaRPr>
              </a:p>
            </p:txBody>
          </p:sp>
        </p:grpSp>
        <p:grpSp>
          <p:nvGrpSpPr>
            <p:cNvPr id="28" name="Group 27">
              <a:extLst>
                <a:ext uri="{FF2B5EF4-FFF2-40B4-BE49-F238E27FC236}">
                  <a16:creationId xmlns:a16="http://schemas.microsoft.com/office/drawing/2014/main" id="{4578961A-B65D-5EE7-F9AA-E10DE165C72E}"/>
                </a:ext>
              </a:extLst>
            </p:cNvPr>
            <p:cNvGrpSpPr/>
            <p:nvPr/>
          </p:nvGrpSpPr>
          <p:grpSpPr>
            <a:xfrm>
              <a:off x="7803552" y="3647965"/>
              <a:ext cx="3092340" cy="2816156"/>
              <a:chOff x="161722" y="3688280"/>
              <a:chExt cx="3839993" cy="2816156"/>
            </a:xfrm>
            <a:effectLst>
              <a:outerShdw blurRad="50800" dist="38100" dir="2700000" algn="tl" rotWithShape="0">
                <a:prstClr val="black">
                  <a:alpha val="40000"/>
                </a:prstClr>
              </a:outerShdw>
            </a:effectLst>
          </p:grpSpPr>
          <p:sp>
            <p:nvSpPr>
              <p:cNvPr id="29" name="TextBox 28">
                <a:extLst>
                  <a:ext uri="{FF2B5EF4-FFF2-40B4-BE49-F238E27FC236}">
                    <a16:creationId xmlns:a16="http://schemas.microsoft.com/office/drawing/2014/main" id="{6599AECB-0D21-8ECE-6560-2C400A5C7CD5}"/>
                  </a:ext>
                </a:extLst>
              </p:cNvPr>
              <p:cNvSpPr txBox="1"/>
              <p:nvPr/>
            </p:nvSpPr>
            <p:spPr>
              <a:xfrm>
                <a:off x="161722" y="4057612"/>
                <a:ext cx="3839993" cy="2446824"/>
              </a:xfrm>
              <a:prstGeom prst="rect">
                <a:avLst/>
              </a:prstGeom>
              <a:solidFill>
                <a:schemeClr val="tx1">
                  <a:lumMod val="75000"/>
                  <a:lumOff val="25000"/>
                </a:schemeClr>
              </a:solidFill>
              <a:ln>
                <a:solidFill>
                  <a:schemeClr val="accent1">
                    <a:shade val="15000"/>
                  </a:schemeClr>
                </a:solidFill>
              </a:ln>
            </p:spPr>
            <p:txBody>
              <a:bodyPr wrap="square">
                <a:spAutoFit/>
              </a:bodyPr>
              <a:lstStyle/>
              <a:p>
                <a:pPr>
                  <a:buNone/>
                </a:pPr>
                <a:r>
                  <a:rPr lang="en-GB" sz="900" b="0">
                    <a:solidFill>
                      <a:srgbClr val="DCDCAA"/>
                    </a:solidFill>
                    <a:effectLst/>
                    <a:latin typeface="Consolas" panose="020B0609020204030204" pitchFamily="49" charset="0"/>
                  </a:rPr>
                  <a:t>pi_squared</a:t>
                </a:r>
                <a:r>
                  <a:rPr lang="en-GB" sz="900" b="0">
                    <a:solidFill>
                      <a:srgbClr val="CCCCCC"/>
                    </a:solidFill>
                    <a:effectLst/>
                    <a:latin typeface="Consolas" panose="020B0609020204030204" pitchFamily="49" charset="0"/>
                  </a:rPr>
                  <a:t>:</a:t>
                </a: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addi</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r>
                  <a:rPr lang="en-GB" sz="900" b="0">
                    <a:solidFill>
                      <a:srgbClr val="B5CEA8"/>
                    </a:solidFill>
                    <a:effectLst/>
                    <a:latin typeface="Consolas" panose="020B0609020204030204" pitchFamily="49" charset="0"/>
                  </a:rPr>
                  <a:t>16</a:t>
                </a:r>
                <a:endParaRPr lang="en-GB" sz="900" b="0">
                  <a:solidFill>
                    <a:srgbClr val="CCCCCC"/>
                  </a:solidFill>
                  <a:effectLst/>
                  <a:latin typeface="Consolas" panose="020B0609020204030204" pitchFamily="49" charset="0"/>
                </a:endParaRP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sw</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ra</a:t>
                </a:r>
                <a:r>
                  <a:rPr lang="en-GB" sz="900" b="0">
                    <a:solidFill>
                      <a:srgbClr val="CCCCCC"/>
                    </a:solidFill>
                    <a:effectLst/>
                    <a:latin typeface="Consolas" panose="020B0609020204030204" pitchFamily="49" charset="0"/>
                  </a:rPr>
                  <a:t>,</a:t>
                </a:r>
                <a:r>
                  <a:rPr lang="en-GB" sz="900" b="0">
                    <a:solidFill>
                      <a:srgbClr val="B5CEA8"/>
                    </a:solidFill>
                    <a:effectLst/>
                    <a:latin typeface="Consolas" panose="020B0609020204030204" pitchFamily="49" charset="0"/>
                  </a:rPr>
                  <a:t>12</a:t>
                </a:r>
                <a:r>
                  <a:rPr lang="en-GB" sz="900" b="0">
                    <a:solidFill>
                      <a:srgbClr val="CCCCCC"/>
                    </a:solidFill>
                    <a:effectLst/>
                    <a:latin typeface="Consolas" panose="020B0609020204030204" pitchFamily="49" charset="0"/>
                  </a:rPr>
                  <a:t>(</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sw</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s0</a:t>
                </a:r>
                <a:r>
                  <a:rPr lang="en-GB" sz="900" b="0">
                    <a:solidFill>
                      <a:srgbClr val="CCCCCC"/>
                    </a:solidFill>
                    <a:effectLst/>
                    <a:latin typeface="Consolas" panose="020B0609020204030204" pitchFamily="49" charset="0"/>
                  </a:rPr>
                  <a:t>,</a:t>
                </a:r>
                <a:r>
                  <a:rPr lang="en-GB" sz="900" b="0">
                    <a:solidFill>
                      <a:srgbClr val="B5CEA8"/>
                    </a:solidFill>
                    <a:effectLst/>
                    <a:latin typeface="Consolas" panose="020B0609020204030204" pitchFamily="49" charset="0"/>
                  </a:rPr>
                  <a:t>8</a:t>
                </a:r>
                <a:r>
                  <a:rPr lang="en-GB" sz="900" b="0">
                    <a:solidFill>
                      <a:srgbClr val="CCCCCC"/>
                    </a:solidFill>
                    <a:effectLst/>
                    <a:latin typeface="Consolas" panose="020B0609020204030204" pitchFamily="49" charset="0"/>
                  </a:rPr>
                  <a:t>(</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addi</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s0</a:t>
                </a:r>
                <a:r>
                  <a:rPr lang="en-GB" sz="900" b="0">
                    <a:solidFill>
                      <a:srgbClr val="CCCCCC"/>
                    </a:solidFill>
                    <a:effectLst/>
                    <a:latin typeface="Consolas" panose="020B0609020204030204" pitchFamily="49" charset="0"/>
                  </a:rPr>
                  <a:t>,</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r>
                  <a:rPr lang="en-GB" sz="900" b="0">
                    <a:solidFill>
                      <a:srgbClr val="B5CEA8"/>
                    </a:solidFill>
                    <a:effectLst/>
                    <a:latin typeface="Consolas" panose="020B0609020204030204" pitchFamily="49" charset="0"/>
                  </a:rPr>
                  <a:t>16</a:t>
                </a:r>
                <a:endParaRPr lang="en-GB" sz="900" b="0">
                  <a:solidFill>
                    <a:srgbClr val="CCCCCC"/>
                  </a:solidFill>
                  <a:effectLst/>
                  <a:latin typeface="Consolas" panose="020B0609020204030204" pitchFamily="49" charset="0"/>
                </a:endParaRP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lui</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a5</a:t>
                </a:r>
                <a:r>
                  <a:rPr lang="en-GB" sz="900" b="0">
                    <a:solidFill>
                      <a:srgbClr val="CCCCCC"/>
                    </a:solidFill>
                    <a:effectLst/>
                    <a:latin typeface="Consolas" panose="020B0609020204030204" pitchFamily="49" charset="0"/>
                  </a:rPr>
                  <a:t>,%hi(.LC0)</a:t>
                </a: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lw</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a5</a:t>
                </a:r>
                <a:r>
                  <a:rPr lang="en-GB" sz="900" b="0">
                    <a:solidFill>
                      <a:srgbClr val="CCCCCC"/>
                    </a:solidFill>
                    <a:effectLst/>
                    <a:latin typeface="Consolas" panose="020B0609020204030204" pitchFamily="49" charset="0"/>
                  </a:rPr>
                  <a:t>,%lo(.LC0)(</a:t>
                </a:r>
                <a:r>
                  <a:rPr lang="en-GB" sz="900" b="0">
                    <a:solidFill>
                      <a:srgbClr val="9CDCFE"/>
                    </a:solidFill>
                    <a:effectLst/>
                    <a:latin typeface="Consolas" panose="020B0609020204030204" pitchFamily="49" charset="0"/>
                  </a:rPr>
                  <a:t>a5</a:t>
                </a:r>
                <a:r>
                  <a:rPr lang="en-GB" sz="900" b="0">
                    <a:solidFill>
                      <a:srgbClr val="CCCCCC"/>
                    </a:solidFill>
                    <a:effectLst/>
                    <a:latin typeface="Consolas" panose="020B0609020204030204" pitchFamily="49" charset="0"/>
                  </a:rPr>
                  <a:t>)</a:t>
                </a: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mv</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a0</a:t>
                </a:r>
                <a:r>
                  <a:rPr lang="en-GB" sz="900" b="0">
                    <a:solidFill>
                      <a:srgbClr val="CCCCCC"/>
                    </a:solidFill>
                    <a:effectLst/>
                    <a:latin typeface="Consolas" panose="020B0609020204030204" pitchFamily="49" charset="0"/>
                  </a:rPr>
                  <a:t>,</a:t>
                </a:r>
                <a:r>
                  <a:rPr lang="en-GB" sz="900" b="0">
                    <a:solidFill>
                      <a:srgbClr val="9CDCFE"/>
                    </a:solidFill>
                    <a:effectLst/>
                    <a:latin typeface="Consolas" panose="020B0609020204030204" pitchFamily="49" charset="0"/>
                  </a:rPr>
                  <a:t>a5</a:t>
                </a:r>
                <a:endParaRPr lang="en-GB" sz="900" b="0">
                  <a:solidFill>
                    <a:srgbClr val="CCCCCC"/>
                  </a:solidFill>
                  <a:effectLst/>
                  <a:latin typeface="Consolas" panose="020B0609020204030204" pitchFamily="49" charset="0"/>
                </a:endParaRP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lw</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ra</a:t>
                </a:r>
                <a:r>
                  <a:rPr lang="en-GB" sz="900" b="0">
                    <a:solidFill>
                      <a:srgbClr val="CCCCCC"/>
                    </a:solidFill>
                    <a:effectLst/>
                    <a:latin typeface="Consolas" panose="020B0609020204030204" pitchFamily="49" charset="0"/>
                  </a:rPr>
                  <a:t>,</a:t>
                </a:r>
                <a:r>
                  <a:rPr lang="en-GB" sz="900" b="0">
                    <a:solidFill>
                      <a:srgbClr val="B5CEA8"/>
                    </a:solidFill>
                    <a:effectLst/>
                    <a:latin typeface="Consolas" panose="020B0609020204030204" pitchFamily="49" charset="0"/>
                  </a:rPr>
                  <a:t>12</a:t>
                </a:r>
                <a:r>
                  <a:rPr lang="en-GB" sz="900" b="0">
                    <a:solidFill>
                      <a:srgbClr val="CCCCCC"/>
                    </a:solidFill>
                    <a:effectLst/>
                    <a:latin typeface="Consolas" panose="020B0609020204030204" pitchFamily="49" charset="0"/>
                  </a:rPr>
                  <a:t>(</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lw</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s0</a:t>
                </a:r>
                <a:r>
                  <a:rPr lang="en-GB" sz="900" b="0">
                    <a:solidFill>
                      <a:srgbClr val="CCCCCC"/>
                    </a:solidFill>
                    <a:effectLst/>
                    <a:latin typeface="Consolas" panose="020B0609020204030204" pitchFamily="49" charset="0"/>
                  </a:rPr>
                  <a:t>,</a:t>
                </a:r>
                <a:r>
                  <a:rPr lang="en-GB" sz="900" b="0">
                    <a:solidFill>
                      <a:srgbClr val="B5CEA8"/>
                    </a:solidFill>
                    <a:effectLst/>
                    <a:latin typeface="Consolas" panose="020B0609020204030204" pitchFamily="49" charset="0"/>
                  </a:rPr>
                  <a:t>8</a:t>
                </a:r>
                <a:r>
                  <a:rPr lang="en-GB" sz="900" b="0">
                    <a:solidFill>
                      <a:srgbClr val="CCCCCC"/>
                    </a:solidFill>
                    <a:effectLst/>
                    <a:latin typeface="Consolas" panose="020B0609020204030204" pitchFamily="49" charset="0"/>
                  </a:rPr>
                  <a:t>(</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addi</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r>
                  <a:rPr lang="en-GB" sz="900" b="0">
                    <a:solidFill>
                      <a:srgbClr val="B5CEA8"/>
                    </a:solidFill>
                    <a:effectLst/>
                    <a:latin typeface="Consolas" panose="020B0609020204030204" pitchFamily="49" charset="0"/>
                  </a:rPr>
                  <a:t>16</a:t>
                </a:r>
                <a:endParaRPr lang="en-GB" sz="900" b="0">
                  <a:solidFill>
                    <a:srgbClr val="CCCCCC"/>
                  </a:solidFill>
                  <a:effectLst/>
                  <a:latin typeface="Consolas" panose="020B0609020204030204" pitchFamily="49" charset="0"/>
                </a:endParaRP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jr</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ra</a:t>
                </a:r>
                <a:endParaRPr lang="en-GB" sz="900" b="0">
                  <a:solidFill>
                    <a:srgbClr val="CCCCCC"/>
                  </a:solidFill>
                  <a:effectLst/>
                  <a:latin typeface="Consolas" panose="020B0609020204030204" pitchFamily="49" charset="0"/>
                </a:endParaRPr>
              </a:p>
              <a:p>
                <a:pPr>
                  <a:buNone/>
                </a:pPr>
                <a:r>
                  <a:rPr lang="en-GB" sz="900" b="0">
                    <a:solidFill>
                      <a:srgbClr val="CCCCCC"/>
                    </a:solidFill>
                    <a:effectLst/>
                    <a:latin typeface="Consolas" panose="020B0609020204030204" pitchFamily="49" charset="0"/>
                  </a:rPr>
                  <a:t>    .size   pi_squared, .-pi_squared</a:t>
                </a:r>
              </a:p>
              <a:p>
                <a:pPr>
                  <a:buNone/>
                </a:pPr>
                <a:r>
                  <a:rPr lang="en-GB" sz="900" b="0">
                    <a:solidFill>
                      <a:srgbClr val="CCCCCC"/>
                    </a:solidFill>
                    <a:effectLst/>
                    <a:latin typeface="Consolas" panose="020B0609020204030204" pitchFamily="49" charset="0"/>
                  </a:rPr>
                  <a:t>    </a:t>
                </a:r>
                <a:r>
                  <a:rPr lang="en-GB" sz="900" b="0">
                    <a:solidFill>
                      <a:srgbClr val="569CD6"/>
                    </a:solidFill>
                    <a:effectLst/>
                    <a:latin typeface="Consolas" panose="020B0609020204030204" pitchFamily="49" charset="0"/>
                  </a:rPr>
                  <a:t>.section</a:t>
                </a:r>
                <a:r>
                  <a:rPr lang="en-GB" sz="900" b="0">
                    <a:solidFill>
                      <a:srgbClr val="CCCCCC"/>
                    </a:solidFill>
                    <a:effectLst/>
                    <a:latin typeface="Consolas" panose="020B0609020204030204" pitchFamily="49" charset="0"/>
                  </a:rPr>
                  <a:t>    </a:t>
                </a:r>
                <a:r>
                  <a:rPr lang="en-GB" sz="900" b="0">
                    <a:solidFill>
                      <a:srgbClr val="569CD6"/>
                    </a:solidFill>
                    <a:effectLst/>
                    <a:latin typeface="Consolas" panose="020B0609020204030204" pitchFamily="49" charset="0"/>
                  </a:rPr>
                  <a:t>.rodata</a:t>
                </a:r>
                <a:endParaRPr lang="en-GB" sz="900" b="0">
                  <a:solidFill>
                    <a:srgbClr val="CCCCCC"/>
                  </a:solidFill>
                  <a:effectLst/>
                  <a:latin typeface="Consolas" panose="020B0609020204030204" pitchFamily="49" charset="0"/>
                </a:endParaRPr>
              </a:p>
              <a:p>
                <a:pPr>
                  <a:buNone/>
                </a:pPr>
                <a:r>
                  <a:rPr lang="en-GB" sz="900" b="0">
                    <a:solidFill>
                      <a:srgbClr val="CCCCCC"/>
                    </a:solidFill>
                    <a:effectLst/>
                    <a:latin typeface="Consolas" panose="020B0609020204030204" pitchFamily="49" charset="0"/>
                  </a:rPr>
                  <a:t>    </a:t>
                </a:r>
                <a:r>
                  <a:rPr lang="en-GB" sz="900" b="0">
                    <a:solidFill>
                      <a:srgbClr val="569CD6"/>
                    </a:solidFill>
                    <a:effectLst/>
                    <a:latin typeface="Consolas" panose="020B0609020204030204" pitchFamily="49" charset="0"/>
                  </a:rPr>
                  <a:t>.align</a:t>
                </a:r>
                <a:r>
                  <a:rPr lang="en-GB" sz="900" b="0">
                    <a:solidFill>
                      <a:srgbClr val="CCCCCC"/>
                    </a:solidFill>
                    <a:effectLst/>
                    <a:latin typeface="Consolas" panose="020B0609020204030204" pitchFamily="49" charset="0"/>
                  </a:rPr>
                  <a:t>  </a:t>
                </a:r>
                <a:r>
                  <a:rPr lang="en-GB" sz="900" b="0">
                    <a:solidFill>
                      <a:srgbClr val="B5CEA8"/>
                    </a:solidFill>
                    <a:effectLst/>
                    <a:latin typeface="Consolas" panose="020B0609020204030204" pitchFamily="49" charset="0"/>
                  </a:rPr>
                  <a:t>2</a:t>
                </a:r>
                <a:endParaRPr lang="en-GB" sz="900" b="0">
                  <a:solidFill>
                    <a:srgbClr val="CCCCCC"/>
                  </a:solidFill>
                  <a:effectLst/>
                  <a:latin typeface="Consolas" panose="020B0609020204030204" pitchFamily="49" charset="0"/>
                </a:endParaRPr>
              </a:p>
              <a:p>
                <a:pPr>
                  <a:buNone/>
                </a:pPr>
                <a:r>
                  <a:rPr lang="en-GB" sz="900" b="0">
                    <a:solidFill>
                      <a:srgbClr val="CCCCCC"/>
                    </a:solidFill>
                    <a:effectLst/>
                    <a:latin typeface="Consolas" panose="020B0609020204030204" pitchFamily="49" charset="0"/>
                  </a:rPr>
                  <a:t>.</a:t>
                </a:r>
                <a:r>
                  <a:rPr lang="en-GB" sz="900" b="0">
                    <a:solidFill>
                      <a:srgbClr val="DCDCAA"/>
                    </a:solidFill>
                    <a:effectLst/>
                    <a:latin typeface="Consolas" panose="020B0609020204030204" pitchFamily="49" charset="0"/>
                  </a:rPr>
                  <a:t>LC0</a:t>
                </a:r>
                <a:r>
                  <a:rPr lang="en-GB" sz="900" b="0">
                    <a:solidFill>
                      <a:srgbClr val="CCCCCC"/>
                    </a:solidFill>
                    <a:effectLst/>
                    <a:latin typeface="Consolas" panose="020B0609020204030204" pitchFamily="49" charset="0"/>
                  </a:rPr>
                  <a:t>:</a:t>
                </a:r>
              </a:p>
              <a:p>
                <a:pPr>
                  <a:buNone/>
                </a:pPr>
                <a:r>
                  <a:rPr lang="en-GB" sz="900" b="0">
                    <a:solidFill>
                      <a:srgbClr val="CCCCCC"/>
                    </a:solidFill>
                    <a:effectLst/>
                    <a:latin typeface="Consolas" panose="020B0609020204030204" pitchFamily="49" charset="0"/>
                  </a:rPr>
                  <a:t>    </a:t>
                </a:r>
                <a:r>
                  <a:rPr lang="en-GB" sz="900" b="0">
                    <a:solidFill>
                      <a:srgbClr val="569CD6"/>
                    </a:solidFill>
                    <a:effectLst/>
                    <a:latin typeface="Consolas" panose="020B0609020204030204" pitchFamily="49" charset="0"/>
                  </a:rPr>
                  <a:t>.word</a:t>
                </a:r>
                <a:r>
                  <a:rPr lang="en-GB" sz="900" b="0">
                    <a:solidFill>
                      <a:srgbClr val="CCCCCC"/>
                    </a:solidFill>
                    <a:effectLst/>
                    <a:latin typeface="Consolas" panose="020B0609020204030204" pitchFamily="49" charset="0"/>
                  </a:rPr>
                  <a:t>   </a:t>
                </a:r>
                <a:r>
                  <a:rPr lang="en-GB" sz="900" b="0">
                    <a:solidFill>
                      <a:srgbClr val="B5CEA8"/>
                    </a:solidFill>
                    <a:effectLst/>
                    <a:latin typeface="Consolas" panose="020B0609020204030204" pitchFamily="49" charset="0"/>
                  </a:rPr>
                  <a:t>1092468972</a:t>
                </a:r>
                <a:endParaRPr lang="en-GB" sz="900" b="0">
                  <a:solidFill>
                    <a:srgbClr val="CCCCCC"/>
                  </a:solidFill>
                  <a:effectLst/>
                  <a:latin typeface="Consolas" panose="020B0609020204030204" pitchFamily="49" charset="0"/>
                </a:endParaRPr>
              </a:p>
            </p:txBody>
          </p:sp>
          <p:sp>
            <p:nvSpPr>
              <p:cNvPr id="30" name="TextBox 29">
                <a:extLst>
                  <a:ext uri="{FF2B5EF4-FFF2-40B4-BE49-F238E27FC236}">
                    <a16:creationId xmlns:a16="http://schemas.microsoft.com/office/drawing/2014/main" id="{558180E4-1FDD-8E3E-6F5D-4B61439A0C65}"/>
                  </a:ext>
                </a:extLst>
              </p:cNvPr>
              <p:cNvSpPr txBox="1"/>
              <p:nvPr/>
            </p:nvSpPr>
            <p:spPr>
              <a:xfrm>
                <a:off x="161722" y="3688280"/>
                <a:ext cx="3839993" cy="369332"/>
              </a:xfrm>
              <a:prstGeom prst="rect">
                <a:avLst/>
              </a:prstGeom>
              <a:solidFill>
                <a:schemeClr val="bg1"/>
              </a:solidFill>
              <a:ln>
                <a:solidFill>
                  <a:schemeClr val="accent1">
                    <a:shade val="15000"/>
                  </a:schemeClr>
                </a:solidFill>
              </a:ln>
            </p:spPr>
            <p:txBody>
              <a:bodyPr wrap="none" rtlCol="0">
                <a:noAutofit/>
              </a:bodyPr>
              <a:lstStyle/>
              <a:p>
                <a:r>
                  <a:rPr lang="en-GB"/>
                  <a:t>math.s</a:t>
                </a:r>
                <a:endParaRPr lang="LID4096"/>
              </a:p>
            </p:txBody>
          </p:sp>
        </p:grpSp>
      </p:grpSp>
    </p:spTree>
    <p:extLst>
      <p:ext uri="{BB962C8B-B14F-4D97-AF65-F5344CB8AC3E}">
        <p14:creationId xmlns:p14="http://schemas.microsoft.com/office/powerpoint/2010/main" val="319812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up)">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wipe(up)">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wipe(up)">
                                      <p:cBhvr>
                                        <p:cTn id="1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4AA4F-F212-7535-FC5A-850BA65AEF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320630-8B58-6E70-F523-434ADAFFC3E1}"/>
              </a:ext>
            </a:extLst>
          </p:cNvPr>
          <p:cNvSpPr>
            <a:spLocks noGrp="1"/>
          </p:cNvSpPr>
          <p:nvPr>
            <p:ph type="title"/>
          </p:nvPr>
        </p:nvSpPr>
        <p:spPr/>
        <p:txBody>
          <a:bodyPr/>
          <a:lstStyle/>
          <a:p>
            <a:r>
              <a:rPr lang="en-GB"/>
              <a:t>Kompilering – </a:t>
            </a:r>
            <a:br>
              <a:rPr lang="en-GB"/>
            </a:br>
            <a:r>
              <a:rPr lang="en-GB"/>
              <a:t>Assemblern</a:t>
            </a:r>
            <a:endParaRPr lang="LID4096"/>
          </a:p>
        </p:txBody>
      </p:sp>
      <p:grpSp>
        <p:nvGrpSpPr>
          <p:cNvPr id="22" name="Group 21">
            <a:extLst>
              <a:ext uri="{FF2B5EF4-FFF2-40B4-BE49-F238E27FC236}">
                <a16:creationId xmlns:a16="http://schemas.microsoft.com/office/drawing/2014/main" id="{85F0BF2E-9CB7-506D-5E9C-E5847EDEFA1C}"/>
              </a:ext>
            </a:extLst>
          </p:cNvPr>
          <p:cNvGrpSpPr/>
          <p:nvPr/>
        </p:nvGrpSpPr>
        <p:grpSpPr>
          <a:xfrm>
            <a:off x="1233388" y="1732065"/>
            <a:ext cx="3092340" cy="2539157"/>
            <a:chOff x="161722" y="3688280"/>
            <a:chExt cx="3839993" cy="2539157"/>
          </a:xfrm>
          <a:effectLst>
            <a:outerShdw blurRad="50800" dist="38100" dir="2700000" algn="tl" rotWithShape="0">
              <a:prstClr val="black">
                <a:alpha val="40000"/>
              </a:prstClr>
            </a:outerShdw>
          </a:effectLst>
        </p:grpSpPr>
        <p:sp>
          <p:nvSpPr>
            <p:cNvPr id="23" name="TextBox 22">
              <a:extLst>
                <a:ext uri="{FF2B5EF4-FFF2-40B4-BE49-F238E27FC236}">
                  <a16:creationId xmlns:a16="http://schemas.microsoft.com/office/drawing/2014/main" id="{3F6BD1FA-E174-1D9F-1BA2-624AD8C3AB6A}"/>
                </a:ext>
              </a:extLst>
            </p:cNvPr>
            <p:cNvSpPr txBox="1"/>
            <p:nvPr/>
          </p:nvSpPr>
          <p:spPr>
            <a:xfrm>
              <a:off x="161722" y="4057612"/>
              <a:ext cx="3839993" cy="2169825"/>
            </a:xfrm>
            <a:prstGeom prst="rect">
              <a:avLst/>
            </a:prstGeom>
            <a:solidFill>
              <a:schemeClr val="tx1">
                <a:lumMod val="75000"/>
                <a:lumOff val="25000"/>
              </a:schemeClr>
            </a:solidFill>
            <a:ln>
              <a:solidFill>
                <a:schemeClr val="accent1">
                  <a:shade val="15000"/>
                </a:schemeClr>
              </a:solidFill>
            </a:ln>
          </p:spPr>
          <p:txBody>
            <a:bodyPr wrap="square">
              <a:spAutoFit/>
            </a:bodyPr>
            <a:lstStyle/>
            <a:p>
              <a:pPr>
                <a:buNone/>
              </a:pPr>
              <a:r>
                <a:rPr lang="en-GB" sz="900" b="0">
                  <a:solidFill>
                    <a:srgbClr val="DCDCAA"/>
                  </a:solidFill>
                  <a:effectLst/>
                  <a:latin typeface="Consolas" panose="020B0609020204030204" pitchFamily="49" charset="0"/>
                </a:rPr>
                <a:t>main</a:t>
              </a:r>
              <a:r>
                <a:rPr lang="en-GB" sz="900" b="0">
                  <a:solidFill>
                    <a:srgbClr val="CCCCCC"/>
                  </a:solidFill>
                  <a:effectLst/>
                  <a:latin typeface="Consolas" panose="020B0609020204030204" pitchFamily="49" charset="0"/>
                </a:rPr>
                <a:t>:</a:t>
              </a: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addi</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r>
                <a:rPr lang="en-GB" sz="900" b="0">
                  <a:solidFill>
                    <a:srgbClr val="B5CEA8"/>
                  </a:solidFill>
                  <a:effectLst/>
                  <a:latin typeface="Consolas" panose="020B0609020204030204" pitchFamily="49" charset="0"/>
                </a:rPr>
                <a:t>32</a:t>
              </a:r>
              <a:endParaRPr lang="en-GB" sz="900" b="0">
                <a:solidFill>
                  <a:srgbClr val="CCCCCC"/>
                </a:solidFill>
                <a:effectLst/>
                <a:latin typeface="Consolas" panose="020B0609020204030204" pitchFamily="49" charset="0"/>
              </a:endParaRP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sw</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ra</a:t>
              </a:r>
              <a:r>
                <a:rPr lang="en-GB" sz="900" b="0">
                  <a:solidFill>
                    <a:srgbClr val="CCCCCC"/>
                  </a:solidFill>
                  <a:effectLst/>
                  <a:latin typeface="Consolas" panose="020B0609020204030204" pitchFamily="49" charset="0"/>
                </a:rPr>
                <a:t>,</a:t>
              </a:r>
              <a:r>
                <a:rPr lang="en-GB" sz="900" b="0">
                  <a:solidFill>
                    <a:srgbClr val="B5CEA8"/>
                  </a:solidFill>
                  <a:effectLst/>
                  <a:latin typeface="Consolas" panose="020B0609020204030204" pitchFamily="49" charset="0"/>
                </a:rPr>
                <a:t>28</a:t>
              </a:r>
              <a:r>
                <a:rPr lang="en-GB" sz="900" b="0">
                  <a:solidFill>
                    <a:srgbClr val="CCCCCC"/>
                  </a:solidFill>
                  <a:effectLst/>
                  <a:latin typeface="Consolas" panose="020B0609020204030204" pitchFamily="49" charset="0"/>
                </a:rPr>
                <a:t>(</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sw</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s0</a:t>
              </a:r>
              <a:r>
                <a:rPr lang="en-GB" sz="900" b="0">
                  <a:solidFill>
                    <a:srgbClr val="CCCCCC"/>
                  </a:solidFill>
                  <a:effectLst/>
                  <a:latin typeface="Consolas" panose="020B0609020204030204" pitchFamily="49" charset="0"/>
                </a:rPr>
                <a:t>,</a:t>
              </a:r>
              <a:r>
                <a:rPr lang="en-GB" sz="900" b="0">
                  <a:solidFill>
                    <a:srgbClr val="B5CEA8"/>
                  </a:solidFill>
                  <a:effectLst/>
                  <a:latin typeface="Consolas" panose="020B0609020204030204" pitchFamily="49" charset="0"/>
                </a:rPr>
                <a:t>24</a:t>
              </a:r>
              <a:r>
                <a:rPr lang="en-GB" sz="900" b="0">
                  <a:solidFill>
                    <a:srgbClr val="CCCCCC"/>
                  </a:solidFill>
                  <a:effectLst/>
                  <a:latin typeface="Consolas" panose="020B0609020204030204" pitchFamily="49" charset="0"/>
                </a:rPr>
                <a:t>(</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addi</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s0</a:t>
              </a:r>
              <a:r>
                <a:rPr lang="en-GB" sz="900" b="0">
                  <a:solidFill>
                    <a:srgbClr val="CCCCCC"/>
                  </a:solidFill>
                  <a:effectLst/>
                  <a:latin typeface="Consolas" panose="020B0609020204030204" pitchFamily="49" charset="0"/>
                </a:rPr>
                <a:t>,</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r>
                <a:rPr lang="en-GB" sz="900" b="0">
                  <a:solidFill>
                    <a:srgbClr val="B5CEA8"/>
                  </a:solidFill>
                  <a:effectLst/>
                  <a:latin typeface="Consolas" panose="020B0609020204030204" pitchFamily="49" charset="0"/>
                </a:rPr>
                <a:t>32</a:t>
              </a:r>
              <a:endParaRPr lang="en-GB" sz="900" b="0">
                <a:solidFill>
                  <a:srgbClr val="CCCCCC"/>
                </a:solidFill>
                <a:effectLst/>
                <a:latin typeface="Consolas" panose="020B0609020204030204" pitchFamily="49" charset="0"/>
              </a:endParaRP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lui</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a5</a:t>
              </a:r>
              <a:r>
                <a:rPr lang="en-GB" sz="900" b="0">
                  <a:solidFill>
                    <a:srgbClr val="CCCCCC"/>
                  </a:solidFill>
                  <a:effectLst/>
                  <a:latin typeface="Consolas" panose="020B0609020204030204" pitchFamily="49" charset="0"/>
                </a:rPr>
                <a:t>,%hi(.LC0)</a:t>
              </a: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lw</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a5</a:t>
              </a:r>
              <a:r>
                <a:rPr lang="en-GB" sz="900" b="0">
                  <a:solidFill>
                    <a:srgbClr val="CCCCCC"/>
                  </a:solidFill>
                  <a:effectLst/>
                  <a:latin typeface="Consolas" panose="020B0609020204030204" pitchFamily="49" charset="0"/>
                </a:rPr>
                <a:t>,%lo(.LC0)(</a:t>
              </a:r>
              <a:r>
                <a:rPr lang="en-GB" sz="900" b="0">
                  <a:solidFill>
                    <a:srgbClr val="9CDCFE"/>
                  </a:solidFill>
                  <a:effectLst/>
                  <a:latin typeface="Consolas" panose="020B0609020204030204" pitchFamily="49" charset="0"/>
                </a:rPr>
                <a:t>a5</a:t>
              </a:r>
              <a:r>
                <a:rPr lang="en-GB" sz="900" b="0">
                  <a:solidFill>
                    <a:srgbClr val="CCCCCC"/>
                  </a:solidFill>
                  <a:effectLst/>
                  <a:latin typeface="Consolas" panose="020B0609020204030204" pitchFamily="49" charset="0"/>
                </a:rPr>
                <a:t>)</a:t>
              </a: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mv</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a0</a:t>
              </a:r>
              <a:r>
                <a:rPr lang="en-GB" sz="900" b="0">
                  <a:solidFill>
                    <a:srgbClr val="CCCCCC"/>
                  </a:solidFill>
                  <a:effectLst/>
                  <a:latin typeface="Consolas" panose="020B0609020204030204" pitchFamily="49" charset="0"/>
                </a:rPr>
                <a:t>,</a:t>
              </a:r>
              <a:r>
                <a:rPr lang="en-GB" sz="900" b="0">
                  <a:solidFill>
                    <a:srgbClr val="9CDCFE"/>
                  </a:solidFill>
                  <a:effectLst/>
                  <a:latin typeface="Consolas" panose="020B0609020204030204" pitchFamily="49" charset="0"/>
                </a:rPr>
                <a:t>a5</a:t>
              </a:r>
              <a:endParaRPr lang="en-GB" sz="900" b="0">
                <a:solidFill>
                  <a:srgbClr val="CCCCCC"/>
                </a:solidFill>
                <a:effectLst/>
                <a:latin typeface="Consolas" panose="020B0609020204030204" pitchFamily="49" charset="0"/>
              </a:endParaRP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call</a:t>
              </a:r>
              <a:r>
                <a:rPr lang="en-GB" sz="900" b="0">
                  <a:solidFill>
                    <a:srgbClr val="CCCCCC"/>
                  </a:solidFill>
                  <a:effectLst/>
                  <a:latin typeface="Consolas" panose="020B0609020204030204" pitchFamily="49" charset="0"/>
                </a:rPr>
                <a:t>    function</a:t>
              </a: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sw</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a0</a:t>
              </a:r>
              <a:r>
                <a:rPr lang="en-GB" sz="900" b="0">
                  <a:solidFill>
                    <a:srgbClr val="CCCCCC"/>
                  </a:solidFill>
                  <a:effectLst/>
                  <a:latin typeface="Consolas" panose="020B0609020204030204" pitchFamily="49" charset="0"/>
                </a:rPr>
                <a:t>,-</a:t>
              </a:r>
              <a:r>
                <a:rPr lang="en-GB" sz="900" b="0">
                  <a:solidFill>
                    <a:srgbClr val="B5CEA8"/>
                  </a:solidFill>
                  <a:effectLst/>
                  <a:latin typeface="Consolas" panose="020B0609020204030204" pitchFamily="49" charset="0"/>
                </a:rPr>
                <a:t>20</a:t>
              </a:r>
              <a:r>
                <a:rPr lang="en-GB" sz="900" b="0">
                  <a:solidFill>
                    <a:srgbClr val="CCCCCC"/>
                  </a:solidFill>
                  <a:effectLst/>
                  <a:latin typeface="Consolas" panose="020B0609020204030204" pitchFamily="49" charset="0"/>
                </a:rPr>
                <a:t>(</a:t>
              </a:r>
              <a:r>
                <a:rPr lang="en-GB" sz="900" b="0">
                  <a:solidFill>
                    <a:srgbClr val="9CDCFE"/>
                  </a:solidFill>
                  <a:effectLst/>
                  <a:latin typeface="Consolas" panose="020B0609020204030204" pitchFamily="49" charset="0"/>
                </a:rPr>
                <a:t>s0</a:t>
              </a:r>
              <a:r>
                <a:rPr lang="en-GB" sz="900" b="0">
                  <a:solidFill>
                    <a:srgbClr val="CCCCCC"/>
                  </a:solidFill>
                  <a:effectLst/>
                  <a:latin typeface="Consolas" panose="020B0609020204030204" pitchFamily="49" charset="0"/>
                </a:rPr>
                <a:t>)</a:t>
              </a: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nop</a:t>
              </a:r>
              <a:endParaRPr lang="en-GB" sz="900" b="0">
                <a:solidFill>
                  <a:srgbClr val="CCCCCC"/>
                </a:solidFill>
                <a:effectLst/>
                <a:latin typeface="Consolas" panose="020B0609020204030204" pitchFamily="49" charset="0"/>
              </a:endParaRP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lw</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ra</a:t>
              </a:r>
              <a:r>
                <a:rPr lang="en-GB" sz="900" b="0">
                  <a:solidFill>
                    <a:srgbClr val="CCCCCC"/>
                  </a:solidFill>
                  <a:effectLst/>
                  <a:latin typeface="Consolas" panose="020B0609020204030204" pitchFamily="49" charset="0"/>
                </a:rPr>
                <a:t>,</a:t>
              </a:r>
              <a:r>
                <a:rPr lang="en-GB" sz="900" b="0">
                  <a:solidFill>
                    <a:srgbClr val="B5CEA8"/>
                  </a:solidFill>
                  <a:effectLst/>
                  <a:latin typeface="Consolas" panose="020B0609020204030204" pitchFamily="49" charset="0"/>
                </a:rPr>
                <a:t>28</a:t>
              </a:r>
              <a:r>
                <a:rPr lang="en-GB" sz="900" b="0">
                  <a:solidFill>
                    <a:srgbClr val="CCCCCC"/>
                  </a:solidFill>
                  <a:effectLst/>
                  <a:latin typeface="Consolas" panose="020B0609020204030204" pitchFamily="49" charset="0"/>
                </a:rPr>
                <a:t>(</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lw</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s0</a:t>
              </a:r>
              <a:r>
                <a:rPr lang="en-GB" sz="900" b="0">
                  <a:solidFill>
                    <a:srgbClr val="CCCCCC"/>
                  </a:solidFill>
                  <a:effectLst/>
                  <a:latin typeface="Consolas" panose="020B0609020204030204" pitchFamily="49" charset="0"/>
                </a:rPr>
                <a:t>,</a:t>
              </a:r>
              <a:r>
                <a:rPr lang="en-GB" sz="900" b="0">
                  <a:solidFill>
                    <a:srgbClr val="B5CEA8"/>
                  </a:solidFill>
                  <a:effectLst/>
                  <a:latin typeface="Consolas" panose="020B0609020204030204" pitchFamily="49" charset="0"/>
                </a:rPr>
                <a:t>24</a:t>
              </a:r>
              <a:r>
                <a:rPr lang="en-GB" sz="900" b="0">
                  <a:solidFill>
                    <a:srgbClr val="CCCCCC"/>
                  </a:solidFill>
                  <a:effectLst/>
                  <a:latin typeface="Consolas" panose="020B0609020204030204" pitchFamily="49" charset="0"/>
                </a:rPr>
                <a:t>(</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addi</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r>
                <a:rPr lang="en-GB" sz="900" b="0">
                  <a:solidFill>
                    <a:srgbClr val="B5CEA8"/>
                  </a:solidFill>
                  <a:effectLst/>
                  <a:latin typeface="Consolas" panose="020B0609020204030204" pitchFamily="49" charset="0"/>
                </a:rPr>
                <a:t>32</a:t>
              </a:r>
              <a:endParaRPr lang="en-GB" sz="900" b="0">
                <a:solidFill>
                  <a:srgbClr val="CCCCCC"/>
                </a:solidFill>
                <a:effectLst/>
                <a:latin typeface="Consolas" panose="020B0609020204030204" pitchFamily="49" charset="0"/>
              </a:endParaRP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jr</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ra</a:t>
              </a:r>
              <a:endParaRPr lang="en-GB" sz="900" b="0">
                <a:solidFill>
                  <a:srgbClr val="CCCCCC"/>
                </a:solidFill>
                <a:effectLst/>
                <a:latin typeface="Consolas" panose="020B0609020204030204" pitchFamily="49" charset="0"/>
              </a:endParaRPr>
            </a:p>
          </p:txBody>
        </p:sp>
        <p:sp>
          <p:nvSpPr>
            <p:cNvPr id="24" name="TextBox 23">
              <a:extLst>
                <a:ext uri="{FF2B5EF4-FFF2-40B4-BE49-F238E27FC236}">
                  <a16:creationId xmlns:a16="http://schemas.microsoft.com/office/drawing/2014/main" id="{95AC4602-AF81-CCCB-1795-12F85BF9484B}"/>
                </a:ext>
              </a:extLst>
            </p:cNvPr>
            <p:cNvSpPr txBox="1"/>
            <p:nvPr/>
          </p:nvSpPr>
          <p:spPr>
            <a:xfrm>
              <a:off x="161722" y="3688280"/>
              <a:ext cx="3839993" cy="369332"/>
            </a:xfrm>
            <a:prstGeom prst="rect">
              <a:avLst/>
            </a:prstGeom>
            <a:solidFill>
              <a:schemeClr val="bg1"/>
            </a:solidFill>
            <a:ln>
              <a:solidFill>
                <a:schemeClr val="accent1">
                  <a:shade val="15000"/>
                </a:schemeClr>
              </a:solidFill>
            </a:ln>
          </p:spPr>
          <p:txBody>
            <a:bodyPr wrap="none" rtlCol="0">
              <a:noAutofit/>
            </a:bodyPr>
            <a:lstStyle/>
            <a:p>
              <a:r>
                <a:rPr lang="en-GB"/>
                <a:t>main.s</a:t>
              </a:r>
              <a:endParaRPr lang="LID4096"/>
            </a:p>
          </p:txBody>
        </p:sp>
      </p:grpSp>
      <p:grpSp>
        <p:nvGrpSpPr>
          <p:cNvPr id="25" name="Group 24">
            <a:extLst>
              <a:ext uri="{FF2B5EF4-FFF2-40B4-BE49-F238E27FC236}">
                <a16:creationId xmlns:a16="http://schemas.microsoft.com/office/drawing/2014/main" id="{67C34935-61EA-52ED-764D-CEE5835A20F7}"/>
              </a:ext>
            </a:extLst>
          </p:cNvPr>
          <p:cNvGrpSpPr/>
          <p:nvPr/>
        </p:nvGrpSpPr>
        <p:grpSpPr>
          <a:xfrm>
            <a:off x="4549830" y="1780516"/>
            <a:ext cx="3092340" cy="2816156"/>
            <a:chOff x="161722" y="3688280"/>
            <a:chExt cx="3839993" cy="2816156"/>
          </a:xfrm>
          <a:effectLst>
            <a:outerShdw blurRad="50800" dist="38100" dir="2700000" algn="tl" rotWithShape="0">
              <a:prstClr val="black">
                <a:alpha val="40000"/>
              </a:prstClr>
            </a:outerShdw>
          </a:effectLst>
        </p:grpSpPr>
        <p:sp>
          <p:nvSpPr>
            <p:cNvPr id="26" name="TextBox 25">
              <a:extLst>
                <a:ext uri="{FF2B5EF4-FFF2-40B4-BE49-F238E27FC236}">
                  <a16:creationId xmlns:a16="http://schemas.microsoft.com/office/drawing/2014/main" id="{B28BA730-2E98-C175-E055-89CB1A159835}"/>
                </a:ext>
              </a:extLst>
            </p:cNvPr>
            <p:cNvSpPr txBox="1"/>
            <p:nvPr/>
          </p:nvSpPr>
          <p:spPr>
            <a:xfrm>
              <a:off x="161722" y="4057612"/>
              <a:ext cx="3839993" cy="2446824"/>
            </a:xfrm>
            <a:prstGeom prst="rect">
              <a:avLst/>
            </a:prstGeom>
            <a:solidFill>
              <a:schemeClr val="tx1">
                <a:lumMod val="75000"/>
                <a:lumOff val="25000"/>
              </a:schemeClr>
            </a:solidFill>
            <a:ln>
              <a:solidFill>
                <a:schemeClr val="accent1">
                  <a:shade val="15000"/>
                </a:schemeClr>
              </a:solidFill>
            </a:ln>
          </p:spPr>
          <p:txBody>
            <a:bodyPr wrap="square">
              <a:spAutoFit/>
            </a:bodyPr>
            <a:lstStyle/>
            <a:p>
              <a:pPr>
                <a:buNone/>
              </a:pPr>
              <a:r>
                <a:rPr lang="en-US" sz="900" b="0">
                  <a:solidFill>
                    <a:srgbClr val="DCDCAA"/>
                  </a:solidFill>
                  <a:effectLst/>
                  <a:latin typeface="Consolas" panose="020B0609020204030204" pitchFamily="49" charset="0"/>
                </a:rPr>
                <a:t>function</a:t>
              </a:r>
              <a:r>
                <a:rPr lang="en-US" sz="900" b="0">
                  <a:solidFill>
                    <a:srgbClr val="CCCCCC"/>
                  </a:solidFill>
                  <a:effectLst/>
                  <a:latin typeface="Consolas" panose="020B0609020204030204" pitchFamily="49" charset="0"/>
                </a:rPr>
                <a:t>:</a:t>
              </a:r>
            </a:p>
            <a:p>
              <a:pPr>
                <a:buNone/>
              </a:pPr>
              <a:r>
                <a:rPr lang="en-US" sz="900" b="0">
                  <a:solidFill>
                    <a:srgbClr val="CCCCCC"/>
                  </a:solidFill>
                  <a:effectLst/>
                  <a:latin typeface="Consolas" panose="020B0609020204030204" pitchFamily="49" charset="0"/>
                </a:rPr>
                <a:t>    </a:t>
              </a:r>
              <a:r>
                <a:rPr lang="en-US" sz="900" b="0">
                  <a:solidFill>
                    <a:srgbClr val="DCDCAA"/>
                  </a:solidFill>
                  <a:effectLst/>
                  <a:latin typeface="Consolas" panose="020B0609020204030204" pitchFamily="49" charset="0"/>
                </a:rPr>
                <a:t>addi</a:t>
              </a:r>
              <a:r>
                <a:rPr lang="en-US" sz="900" b="0">
                  <a:solidFill>
                    <a:srgbClr val="CCCCCC"/>
                  </a:solidFill>
                  <a:effectLst/>
                  <a:latin typeface="Consolas" panose="020B0609020204030204" pitchFamily="49" charset="0"/>
                </a:rPr>
                <a:t>    </a:t>
              </a:r>
              <a:r>
                <a:rPr lang="en-US" sz="900" b="0">
                  <a:solidFill>
                    <a:srgbClr val="9CDCFE"/>
                  </a:solidFill>
                  <a:effectLst/>
                  <a:latin typeface="Consolas" panose="020B0609020204030204" pitchFamily="49" charset="0"/>
                </a:rPr>
                <a:t>sp</a:t>
              </a:r>
              <a:r>
                <a:rPr lang="en-US" sz="900" b="0">
                  <a:solidFill>
                    <a:srgbClr val="CCCCCC"/>
                  </a:solidFill>
                  <a:effectLst/>
                  <a:latin typeface="Consolas" panose="020B0609020204030204" pitchFamily="49" charset="0"/>
                </a:rPr>
                <a:t>,</a:t>
              </a:r>
              <a:r>
                <a:rPr lang="en-US" sz="900" b="0">
                  <a:solidFill>
                    <a:srgbClr val="9CDCFE"/>
                  </a:solidFill>
                  <a:effectLst/>
                  <a:latin typeface="Consolas" panose="020B0609020204030204" pitchFamily="49" charset="0"/>
                </a:rPr>
                <a:t>sp</a:t>
              </a:r>
              <a:r>
                <a:rPr lang="en-US" sz="900" b="0">
                  <a:solidFill>
                    <a:srgbClr val="CCCCCC"/>
                  </a:solidFill>
                  <a:effectLst/>
                  <a:latin typeface="Consolas" panose="020B0609020204030204" pitchFamily="49" charset="0"/>
                </a:rPr>
                <a:t>,-</a:t>
              </a:r>
              <a:r>
                <a:rPr lang="en-US" sz="900" b="0">
                  <a:solidFill>
                    <a:srgbClr val="B5CEA8"/>
                  </a:solidFill>
                  <a:effectLst/>
                  <a:latin typeface="Consolas" panose="020B0609020204030204" pitchFamily="49" charset="0"/>
                </a:rPr>
                <a:t>32</a:t>
              </a:r>
              <a:endParaRPr lang="en-US" sz="900" b="0">
                <a:solidFill>
                  <a:srgbClr val="CCCCCC"/>
                </a:solidFill>
                <a:effectLst/>
                <a:latin typeface="Consolas" panose="020B0609020204030204" pitchFamily="49" charset="0"/>
              </a:endParaRPr>
            </a:p>
            <a:p>
              <a:pPr>
                <a:buNone/>
              </a:pPr>
              <a:r>
                <a:rPr lang="en-US" sz="900" b="0">
                  <a:solidFill>
                    <a:srgbClr val="CCCCCC"/>
                  </a:solidFill>
                  <a:effectLst/>
                  <a:latin typeface="Consolas" panose="020B0609020204030204" pitchFamily="49" charset="0"/>
                </a:rPr>
                <a:t>    </a:t>
              </a:r>
              <a:r>
                <a:rPr lang="en-US" sz="900" b="0">
                  <a:solidFill>
                    <a:srgbClr val="DCDCAA"/>
                  </a:solidFill>
                  <a:effectLst/>
                  <a:latin typeface="Consolas" panose="020B0609020204030204" pitchFamily="49" charset="0"/>
                </a:rPr>
                <a:t>sw</a:t>
              </a:r>
              <a:r>
                <a:rPr lang="en-US" sz="900" b="0">
                  <a:solidFill>
                    <a:srgbClr val="CCCCCC"/>
                  </a:solidFill>
                  <a:effectLst/>
                  <a:latin typeface="Consolas" panose="020B0609020204030204" pitchFamily="49" charset="0"/>
                </a:rPr>
                <a:t>  </a:t>
              </a:r>
              <a:r>
                <a:rPr lang="en-US" sz="900" b="0">
                  <a:solidFill>
                    <a:srgbClr val="9CDCFE"/>
                  </a:solidFill>
                  <a:effectLst/>
                  <a:latin typeface="Consolas" panose="020B0609020204030204" pitchFamily="49" charset="0"/>
                </a:rPr>
                <a:t>ra</a:t>
              </a:r>
              <a:r>
                <a:rPr lang="en-US" sz="900" b="0">
                  <a:solidFill>
                    <a:srgbClr val="CCCCCC"/>
                  </a:solidFill>
                  <a:effectLst/>
                  <a:latin typeface="Consolas" panose="020B0609020204030204" pitchFamily="49" charset="0"/>
                </a:rPr>
                <a:t>,</a:t>
              </a:r>
              <a:r>
                <a:rPr lang="en-US" sz="900" b="0">
                  <a:solidFill>
                    <a:srgbClr val="B5CEA8"/>
                  </a:solidFill>
                  <a:effectLst/>
                  <a:latin typeface="Consolas" panose="020B0609020204030204" pitchFamily="49" charset="0"/>
                </a:rPr>
                <a:t>28</a:t>
              </a:r>
              <a:r>
                <a:rPr lang="en-US" sz="900" b="0">
                  <a:solidFill>
                    <a:srgbClr val="CCCCCC"/>
                  </a:solidFill>
                  <a:effectLst/>
                  <a:latin typeface="Consolas" panose="020B0609020204030204" pitchFamily="49" charset="0"/>
                </a:rPr>
                <a:t>(</a:t>
              </a:r>
              <a:r>
                <a:rPr lang="en-US" sz="900" b="0">
                  <a:solidFill>
                    <a:srgbClr val="9CDCFE"/>
                  </a:solidFill>
                  <a:effectLst/>
                  <a:latin typeface="Consolas" panose="020B0609020204030204" pitchFamily="49" charset="0"/>
                </a:rPr>
                <a:t>sp</a:t>
              </a:r>
              <a:r>
                <a:rPr lang="en-US" sz="900" b="0">
                  <a:solidFill>
                    <a:srgbClr val="CCCCCC"/>
                  </a:solidFill>
                  <a:effectLst/>
                  <a:latin typeface="Consolas" panose="020B0609020204030204" pitchFamily="49" charset="0"/>
                </a:rPr>
                <a:t>)</a:t>
              </a:r>
            </a:p>
            <a:p>
              <a:pPr>
                <a:buNone/>
              </a:pPr>
              <a:r>
                <a:rPr lang="en-US" sz="900" b="0">
                  <a:solidFill>
                    <a:srgbClr val="CCCCCC"/>
                  </a:solidFill>
                  <a:effectLst/>
                  <a:latin typeface="Consolas" panose="020B0609020204030204" pitchFamily="49" charset="0"/>
                </a:rPr>
                <a:t>    </a:t>
              </a:r>
              <a:r>
                <a:rPr lang="en-US" sz="900" b="0">
                  <a:solidFill>
                    <a:srgbClr val="DCDCAA"/>
                  </a:solidFill>
                  <a:effectLst/>
                  <a:latin typeface="Consolas" panose="020B0609020204030204" pitchFamily="49" charset="0"/>
                </a:rPr>
                <a:t>sw</a:t>
              </a:r>
              <a:r>
                <a:rPr lang="en-US" sz="900" b="0">
                  <a:solidFill>
                    <a:srgbClr val="CCCCCC"/>
                  </a:solidFill>
                  <a:effectLst/>
                  <a:latin typeface="Consolas" panose="020B0609020204030204" pitchFamily="49" charset="0"/>
                </a:rPr>
                <a:t>  </a:t>
              </a:r>
              <a:r>
                <a:rPr lang="en-US" sz="900" b="0">
                  <a:solidFill>
                    <a:srgbClr val="9CDCFE"/>
                  </a:solidFill>
                  <a:effectLst/>
                  <a:latin typeface="Consolas" panose="020B0609020204030204" pitchFamily="49" charset="0"/>
                </a:rPr>
                <a:t>s0</a:t>
              </a:r>
              <a:r>
                <a:rPr lang="en-US" sz="900" b="0">
                  <a:solidFill>
                    <a:srgbClr val="CCCCCC"/>
                  </a:solidFill>
                  <a:effectLst/>
                  <a:latin typeface="Consolas" panose="020B0609020204030204" pitchFamily="49" charset="0"/>
                </a:rPr>
                <a:t>,</a:t>
              </a:r>
              <a:r>
                <a:rPr lang="en-US" sz="900" b="0">
                  <a:solidFill>
                    <a:srgbClr val="B5CEA8"/>
                  </a:solidFill>
                  <a:effectLst/>
                  <a:latin typeface="Consolas" panose="020B0609020204030204" pitchFamily="49" charset="0"/>
                </a:rPr>
                <a:t>24</a:t>
              </a:r>
              <a:r>
                <a:rPr lang="en-US" sz="900" b="0">
                  <a:solidFill>
                    <a:srgbClr val="CCCCCC"/>
                  </a:solidFill>
                  <a:effectLst/>
                  <a:latin typeface="Consolas" panose="020B0609020204030204" pitchFamily="49" charset="0"/>
                </a:rPr>
                <a:t>(</a:t>
              </a:r>
              <a:r>
                <a:rPr lang="en-US" sz="900" b="0">
                  <a:solidFill>
                    <a:srgbClr val="9CDCFE"/>
                  </a:solidFill>
                  <a:effectLst/>
                  <a:latin typeface="Consolas" panose="020B0609020204030204" pitchFamily="49" charset="0"/>
                </a:rPr>
                <a:t>sp</a:t>
              </a:r>
              <a:r>
                <a:rPr lang="en-US" sz="900" b="0">
                  <a:solidFill>
                    <a:srgbClr val="CCCCCC"/>
                  </a:solidFill>
                  <a:effectLst/>
                  <a:latin typeface="Consolas" panose="020B0609020204030204" pitchFamily="49" charset="0"/>
                </a:rPr>
                <a:t>)</a:t>
              </a:r>
            </a:p>
            <a:p>
              <a:pPr>
                <a:buNone/>
              </a:pPr>
              <a:r>
                <a:rPr lang="en-US" sz="900" b="0">
                  <a:solidFill>
                    <a:srgbClr val="CCCCCC"/>
                  </a:solidFill>
                  <a:effectLst/>
                  <a:latin typeface="Consolas" panose="020B0609020204030204" pitchFamily="49" charset="0"/>
                </a:rPr>
                <a:t>    </a:t>
              </a:r>
              <a:r>
                <a:rPr lang="en-US" sz="900" b="0">
                  <a:solidFill>
                    <a:srgbClr val="DCDCAA"/>
                  </a:solidFill>
                  <a:effectLst/>
                  <a:latin typeface="Consolas" panose="020B0609020204030204" pitchFamily="49" charset="0"/>
                </a:rPr>
                <a:t>addi</a:t>
              </a:r>
              <a:r>
                <a:rPr lang="en-US" sz="900" b="0">
                  <a:solidFill>
                    <a:srgbClr val="CCCCCC"/>
                  </a:solidFill>
                  <a:effectLst/>
                  <a:latin typeface="Consolas" panose="020B0609020204030204" pitchFamily="49" charset="0"/>
                </a:rPr>
                <a:t>    </a:t>
              </a:r>
              <a:r>
                <a:rPr lang="en-US" sz="900" b="0">
                  <a:solidFill>
                    <a:srgbClr val="9CDCFE"/>
                  </a:solidFill>
                  <a:effectLst/>
                  <a:latin typeface="Consolas" panose="020B0609020204030204" pitchFamily="49" charset="0"/>
                </a:rPr>
                <a:t>s0</a:t>
              </a:r>
              <a:r>
                <a:rPr lang="en-US" sz="900" b="0">
                  <a:solidFill>
                    <a:srgbClr val="CCCCCC"/>
                  </a:solidFill>
                  <a:effectLst/>
                  <a:latin typeface="Consolas" panose="020B0609020204030204" pitchFamily="49" charset="0"/>
                </a:rPr>
                <a:t>,</a:t>
              </a:r>
              <a:r>
                <a:rPr lang="en-US" sz="900" b="0">
                  <a:solidFill>
                    <a:srgbClr val="9CDCFE"/>
                  </a:solidFill>
                  <a:effectLst/>
                  <a:latin typeface="Consolas" panose="020B0609020204030204" pitchFamily="49" charset="0"/>
                </a:rPr>
                <a:t>sp</a:t>
              </a:r>
              <a:r>
                <a:rPr lang="en-US" sz="900" b="0">
                  <a:solidFill>
                    <a:srgbClr val="CCCCCC"/>
                  </a:solidFill>
                  <a:effectLst/>
                  <a:latin typeface="Consolas" panose="020B0609020204030204" pitchFamily="49" charset="0"/>
                </a:rPr>
                <a:t>,</a:t>
              </a:r>
              <a:r>
                <a:rPr lang="en-US" sz="900" b="0">
                  <a:solidFill>
                    <a:srgbClr val="B5CEA8"/>
                  </a:solidFill>
                  <a:effectLst/>
                  <a:latin typeface="Consolas" panose="020B0609020204030204" pitchFamily="49" charset="0"/>
                </a:rPr>
                <a:t>32</a:t>
              </a:r>
              <a:endParaRPr lang="en-US" sz="900" b="0">
                <a:solidFill>
                  <a:srgbClr val="CCCCCC"/>
                </a:solidFill>
                <a:effectLst/>
                <a:latin typeface="Consolas" panose="020B0609020204030204" pitchFamily="49" charset="0"/>
              </a:endParaRPr>
            </a:p>
            <a:p>
              <a:pPr>
                <a:buNone/>
              </a:pPr>
              <a:r>
                <a:rPr lang="en-US" sz="900" b="0">
                  <a:solidFill>
                    <a:srgbClr val="CCCCCC"/>
                  </a:solidFill>
                  <a:effectLst/>
                  <a:latin typeface="Consolas" panose="020B0609020204030204" pitchFamily="49" charset="0"/>
                </a:rPr>
                <a:t>    </a:t>
              </a:r>
              <a:r>
                <a:rPr lang="en-US" sz="900" b="0">
                  <a:solidFill>
                    <a:srgbClr val="DCDCAA"/>
                  </a:solidFill>
                  <a:effectLst/>
                  <a:latin typeface="Consolas" panose="020B0609020204030204" pitchFamily="49" charset="0"/>
                </a:rPr>
                <a:t>sw</a:t>
              </a:r>
              <a:r>
                <a:rPr lang="en-US" sz="900" b="0">
                  <a:solidFill>
                    <a:srgbClr val="CCCCCC"/>
                  </a:solidFill>
                  <a:effectLst/>
                  <a:latin typeface="Consolas" panose="020B0609020204030204" pitchFamily="49" charset="0"/>
                </a:rPr>
                <a:t>  </a:t>
              </a:r>
              <a:r>
                <a:rPr lang="en-US" sz="900" b="0">
                  <a:solidFill>
                    <a:srgbClr val="9CDCFE"/>
                  </a:solidFill>
                  <a:effectLst/>
                  <a:latin typeface="Consolas" panose="020B0609020204030204" pitchFamily="49" charset="0"/>
                </a:rPr>
                <a:t>a0</a:t>
              </a:r>
              <a:r>
                <a:rPr lang="en-US" sz="900" b="0">
                  <a:solidFill>
                    <a:srgbClr val="CCCCCC"/>
                  </a:solidFill>
                  <a:effectLst/>
                  <a:latin typeface="Consolas" panose="020B0609020204030204" pitchFamily="49" charset="0"/>
                </a:rPr>
                <a:t>,-</a:t>
              </a:r>
              <a:r>
                <a:rPr lang="en-US" sz="900" b="0">
                  <a:solidFill>
                    <a:srgbClr val="B5CEA8"/>
                  </a:solidFill>
                  <a:effectLst/>
                  <a:latin typeface="Consolas" panose="020B0609020204030204" pitchFamily="49" charset="0"/>
                </a:rPr>
                <a:t>20</a:t>
              </a:r>
              <a:r>
                <a:rPr lang="en-US" sz="900" b="0">
                  <a:solidFill>
                    <a:srgbClr val="CCCCCC"/>
                  </a:solidFill>
                  <a:effectLst/>
                  <a:latin typeface="Consolas" panose="020B0609020204030204" pitchFamily="49" charset="0"/>
                </a:rPr>
                <a:t>(</a:t>
              </a:r>
              <a:r>
                <a:rPr lang="en-US" sz="900" b="0">
                  <a:solidFill>
                    <a:srgbClr val="9CDCFE"/>
                  </a:solidFill>
                  <a:effectLst/>
                  <a:latin typeface="Consolas" panose="020B0609020204030204" pitchFamily="49" charset="0"/>
                </a:rPr>
                <a:t>s0</a:t>
              </a:r>
              <a:r>
                <a:rPr lang="en-US" sz="900" b="0">
                  <a:solidFill>
                    <a:srgbClr val="CCCCCC"/>
                  </a:solidFill>
                  <a:effectLst/>
                  <a:latin typeface="Consolas" panose="020B0609020204030204" pitchFamily="49" charset="0"/>
                </a:rPr>
                <a:t>)</a:t>
              </a:r>
            </a:p>
            <a:p>
              <a:pPr>
                <a:buNone/>
              </a:pPr>
              <a:r>
                <a:rPr lang="en-US" sz="900" b="0">
                  <a:solidFill>
                    <a:srgbClr val="CCCCCC"/>
                  </a:solidFill>
                  <a:effectLst/>
                  <a:latin typeface="Consolas" panose="020B0609020204030204" pitchFamily="49" charset="0"/>
                </a:rPr>
                <a:t>    </a:t>
              </a:r>
              <a:r>
                <a:rPr lang="en-US" sz="900" b="0">
                  <a:solidFill>
                    <a:srgbClr val="DCDCAA"/>
                  </a:solidFill>
                  <a:effectLst/>
                  <a:latin typeface="Consolas" panose="020B0609020204030204" pitchFamily="49" charset="0"/>
                </a:rPr>
                <a:t>call</a:t>
              </a:r>
              <a:r>
                <a:rPr lang="en-US" sz="900" b="0">
                  <a:solidFill>
                    <a:srgbClr val="CCCCCC"/>
                  </a:solidFill>
                  <a:effectLst/>
                  <a:latin typeface="Consolas" panose="020B0609020204030204" pitchFamily="49" charset="0"/>
                </a:rPr>
                <a:t>    pi_squared</a:t>
              </a:r>
            </a:p>
            <a:p>
              <a:pPr>
                <a:buNone/>
              </a:pPr>
              <a:r>
                <a:rPr lang="en-US" sz="900" b="0">
                  <a:solidFill>
                    <a:srgbClr val="CCCCCC"/>
                  </a:solidFill>
                  <a:effectLst/>
                  <a:latin typeface="Consolas" panose="020B0609020204030204" pitchFamily="49" charset="0"/>
                </a:rPr>
                <a:t>    </a:t>
              </a:r>
              <a:r>
                <a:rPr lang="en-US" sz="900" b="0">
                  <a:solidFill>
                    <a:srgbClr val="DCDCAA"/>
                  </a:solidFill>
                  <a:effectLst/>
                  <a:latin typeface="Consolas" panose="020B0609020204030204" pitchFamily="49" charset="0"/>
                </a:rPr>
                <a:t>mv</a:t>
              </a:r>
              <a:r>
                <a:rPr lang="en-US" sz="900" b="0">
                  <a:solidFill>
                    <a:srgbClr val="CCCCCC"/>
                  </a:solidFill>
                  <a:effectLst/>
                  <a:latin typeface="Consolas" panose="020B0609020204030204" pitchFamily="49" charset="0"/>
                </a:rPr>
                <a:t>  </a:t>
              </a:r>
              <a:r>
                <a:rPr lang="en-US" sz="900" b="0">
                  <a:solidFill>
                    <a:srgbClr val="9CDCFE"/>
                  </a:solidFill>
                  <a:effectLst/>
                  <a:latin typeface="Consolas" panose="020B0609020204030204" pitchFamily="49" charset="0"/>
                </a:rPr>
                <a:t>a5</a:t>
              </a:r>
              <a:r>
                <a:rPr lang="en-US" sz="900" b="0">
                  <a:solidFill>
                    <a:srgbClr val="CCCCCC"/>
                  </a:solidFill>
                  <a:effectLst/>
                  <a:latin typeface="Consolas" panose="020B0609020204030204" pitchFamily="49" charset="0"/>
                </a:rPr>
                <a:t>,</a:t>
              </a:r>
              <a:r>
                <a:rPr lang="en-US" sz="900" b="0">
                  <a:solidFill>
                    <a:srgbClr val="9CDCFE"/>
                  </a:solidFill>
                  <a:effectLst/>
                  <a:latin typeface="Consolas" panose="020B0609020204030204" pitchFamily="49" charset="0"/>
                </a:rPr>
                <a:t>a0</a:t>
              </a:r>
              <a:endParaRPr lang="en-US" sz="900" b="0">
                <a:solidFill>
                  <a:srgbClr val="CCCCCC"/>
                </a:solidFill>
                <a:effectLst/>
                <a:latin typeface="Consolas" panose="020B0609020204030204" pitchFamily="49" charset="0"/>
              </a:endParaRPr>
            </a:p>
            <a:p>
              <a:pPr>
                <a:buNone/>
              </a:pPr>
              <a:r>
                <a:rPr lang="en-US" sz="900" b="0">
                  <a:solidFill>
                    <a:srgbClr val="CCCCCC"/>
                  </a:solidFill>
                  <a:effectLst/>
                  <a:latin typeface="Consolas" panose="020B0609020204030204" pitchFamily="49" charset="0"/>
                </a:rPr>
                <a:t>    </a:t>
              </a:r>
              <a:r>
                <a:rPr lang="en-US" sz="900" b="0">
                  <a:solidFill>
                    <a:srgbClr val="DCDCAA"/>
                  </a:solidFill>
                  <a:effectLst/>
                  <a:latin typeface="Consolas" panose="020B0609020204030204" pitchFamily="49" charset="0"/>
                </a:rPr>
                <a:t>lw</a:t>
              </a:r>
              <a:r>
                <a:rPr lang="en-US" sz="900" b="0">
                  <a:solidFill>
                    <a:srgbClr val="CCCCCC"/>
                  </a:solidFill>
                  <a:effectLst/>
                  <a:latin typeface="Consolas" panose="020B0609020204030204" pitchFamily="49" charset="0"/>
                </a:rPr>
                <a:t>  </a:t>
              </a:r>
              <a:r>
                <a:rPr lang="en-US" sz="900" b="0">
                  <a:solidFill>
                    <a:srgbClr val="9CDCFE"/>
                  </a:solidFill>
                  <a:effectLst/>
                  <a:latin typeface="Consolas" panose="020B0609020204030204" pitchFamily="49" charset="0"/>
                </a:rPr>
                <a:t>a1</a:t>
              </a:r>
              <a:r>
                <a:rPr lang="en-US" sz="900" b="0">
                  <a:solidFill>
                    <a:srgbClr val="CCCCCC"/>
                  </a:solidFill>
                  <a:effectLst/>
                  <a:latin typeface="Consolas" panose="020B0609020204030204" pitchFamily="49" charset="0"/>
                </a:rPr>
                <a:t>,-</a:t>
              </a:r>
              <a:r>
                <a:rPr lang="en-US" sz="900" b="0">
                  <a:solidFill>
                    <a:srgbClr val="B5CEA8"/>
                  </a:solidFill>
                  <a:effectLst/>
                  <a:latin typeface="Consolas" panose="020B0609020204030204" pitchFamily="49" charset="0"/>
                </a:rPr>
                <a:t>20</a:t>
              </a:r>
              <a:r>
                <a:rPr lang="en-US" sz="900" b="0">
                  <a:solidFill>
                    <a:srgbClr val="CCCCCC"/>
                  </a:solidFill>
                  <a:effectLst/>
                  <a:latin typeface="Consolas" panose="020B0609020204030204" pitchFamily="49" charset="0"/>
                </a:rPr>
                <a:t>(</a:t>
              </a:r>
              <a:r>
                <a:rPr lang="en-US" sz="900" b="0">
                  <a:solidFill>
                    <a:srgbClr val="9CDCFE"/>
                  </a:solidFill>
                  <a:effectLst/>
                  <a:latin typeface="Consolas" panose="020B0609020204030204" pitchFamily="49" charset="0"/>
                </a:rPr>
                <a:t>s0</a:t>
              </a:r>
              <a:r>
                <a:rPr lang="en-US" sz="900" b="0">
                  <a:solidFill>
                    <a:srgbClr val="CCCCCC"/>
                  </a:solidFill>
                  <a:effectLst/>
                  <a:latin typeface="Consolas" panose="020B0609020204030204" pitchFamily="49" charset="0"/>
                </a:rPr>
                <a:t>)</a:t>
              </a:r>
            </a:p>
            <a:p>
              <a:pPr>
                <a:buNone/>
              </a:pPr>
              <a:r>
                <a:rPr lang="en-US" sz="900" b="0">
                  <a:solidFill>
                    <a:srgbClr val="CCCCCC"/>
                  </a:solidFill>
                  <a:effectLst/>
                  <a:latin typeface="Consolas" panose="020B0609020204030204" pitchFamily="49" charset="0"/>
                </a:rPr>
                <a:t>    </a:t>
              </a:r>
              <a:r>
                <a:rPr lang="en-US" sz="900" b="0">
                  <a:solidFill>
                    <a:srgbClr val="DCDCAA"/>
                  </a:solidFill>
                  <a:effectLst/>
                  <a:latin typeface="Consolas" panose="020B0609020204030204" pitchFamily="49" charset="0"/>
                </a:rPr>
                <a:t>mv</a:t>
              </a:r>
              <a:r>
                <a:rPr lang="en-US" sz="900" b="0">
                  <a:solidFill>
                    <a:srgbClr val="CCCCCC"/>
                  </a:solidFill>
                  <a:effectLst/>
                  <a:latin typeface="Consolas" panose="020B0609020204030204" pitchFamily="49" charset="0"/>
                </a:rPr>
                <a:t>  </a:t>
              </a:r>
              <a:r>
                <a:rPr lang="en-US" sz="900" b="0">
                  <a:solidFill>
                    <a:srgbClr val="9CDCFE"/>
                  </a:solidFill>
                  <a:effectLst/>
                  <a:latin typeface="Consolas" panose="020B0609020204030204" pitchFamily="49" charset="0"/>
                </a:rPr>
                <a:t>a0</a:t>
              </a:r>
              <a:r>
                <a:rPr lang="en-US" sz="900" b="0">
                  <a:solidFill>
                    <a:srgbClr val="CCCCCC"/>
                  </a:solidFill>
                  <a:effectLst/>
                  <a:latin typeface="Consolas" panose="020B0609020204030204" pitchFamily="49" charset="0"/>
                </a:rPr>
                <a:t>,</a:t>
              </a:r>
              <a:r>
                <a:rPr lang="en-US" sz="900" b="0">
                  <a:solidFill>
                    <a:srgbClr val="9CDCFE"/>
                  </a:solidFill>
                  <a:effectLst/>
                  <a:latin typeface="Consolas" panose="020B0609020204030204" pitchFamily="49" charset="0"/>
                </a:rPr>
                <a:t>a5</a:t>
              </a:r>
              <a:endParaRPr lang="en-US" sz="900" b="0">
                <a:solidFill>
                  <a:srgbClr val="CCCCCC"/>
                </a:solidFill>
                <a:effectLst/>
                <a:latin typeface="Consolas" panose="020B0609020204030204" pitchFamily="49" charset="0"/>
              </a:endParaRPr>
            </a:p>
            <a:p>
              <a:pPr>
                <a:buNone/>
              </a:pPr>
              <a:r>
                <a:rPr lang="en-US" sz="900" b="0">
                  <a:solidFill>
                    <a:srgbClr val="CCCCCC"/>
                  </a:solidFill>
                  <a:effectLst/>
                  <a:latin typeface="Consolas" panose="020B0609020204030204" pitchFamily="49" charset="0"/>
                </a:rPr>
                <a:t>    </a:t>
              </a:r>
              <a:r>
                <a:rPr lang="en-US" sz="900" b="0">
                  <a:solidFill>
                    <a:srgbClr val="DCDCAA"/>
                  </a:solidFill>
                  <a:effectLst/>
                  <a:latin typeface="Consolas" panose="020B0609020204030204" pitchFamily="49" charset="0"/>
                </a:rPr>
                <a:t>call</a:t>
              </a:r>
              <a:r>
                <a:rPr lang="en-US" sz="900" b="0">
                  <a:solidFill>
                    <a:srgbClr val="CCCCCC"/>
                  </a:solidFill>
                  <a:effectLst/>
                  <a:latin typeface="Consolas" panose="020B0609020204030204" pitchFamily="49" charset="0"/>
                </a:rPr>
                <a:t>    __mulsf3</a:t>
              </a:r>
            </a:p>
            <a:p>
              <a:pPr>
                <a:buNone/>
              </a:pPr>
              <a:r>
                <a:rPr lang="en-US" sz="900" b="0">
                  <a:solidFill>
                    <a:srgbClr val="CCCCCC"/>
                  </a:solidFill>
                  <a:effectLst/>
                  <a:latin typeface="Consolas" panose="020B0609020204030204" pitchFamily="49" charset="0"/>
                </a:rPr>
                <a:t>    </a:t>
              </a:r>
              <a:r>
                <a:rPr lang="en-US" sz="900" b="0">
                  <a:solidFill>
                    <a:srgbClr val="DCDCAA"/>
                  </a:solidFill>
                  <a:effectLst/>
                  <a:latin typeface="Consolas" panose="020B0609020204030204" pitchFamily="49" charset="0"/>
                </a:rPr>
                <a:t>mv</a:t>
              </a:r>
              <a:r>
                <a:rPr lang="en-US" sz="900" b="0">
                  <a:solidFill>
                    <a:srgbClr val="CCCCCC"/>
                  </a:solidFill>
                  <a:effectLst/>
                  <a:latin typeface="Consolas" panose="020B0609020204030204" pitchFamily="49" charset="0"/>
                </a:rPr>
                <a:t>  </a:t>
              </a:r>
              <a:r>
                <a:rPr lang="en-US" sz="900" b="0">
                  <a:solidFill>
                    <a:srgbClr val="9CDCFE"/>
                  </a:solidFill>
                  <a:effectLst/>
                  <a:latin typeface="Consolas" panose="020B0609020204030204" pitchFamily="49" charset="0"/>
                </a:rPr>
                <a:t>a5</a:t>
              </a:r>
              <a:r>
                <a:rPr lang="en-US" sz="900" b="0">
                  <a:solidFill>
                    <a:srgbClr val="CCCCCC"/>
                  </a:solidFill>
                  <a:effectLst/>
                  <a:latin typeface="Consolas" panose="020B0609020204030204" pitchFamily="49" charset="0"/>
                </a:rPr>
                <a:t>,</a:t>
              </a:r>
              <a:r>
                <a:rPr lang="en-US" sz="900" b="0">
                  <a:solidFill>
                    <a:srgbClr val="9CDCFE"/>
                  </a:solidFill>
                  <a:effectLst/>
                  <a:latin typeface="Consolas" panose="020B0609020204030204" pitchFamily="49" charset="0"/>
                </a:rPr>
                <a:t>a0</a:t>
              </a:r>
              <a:endParaRPr lang="en-US" sz="900" b="0">
                <a:solidFill>
                  <a:srgbClr val="CCCCCC"/>
                </a:solidFill>
                <a:effectLst/>
                <a:latin typeface="Consolas" panose="020B0609020204030204" pitchFamily="49" charset="0"/>
              </a:endParaRPr>
            </a:p>
            <a:p>
              <a:pPr>
                <a:buNone/>
              </a:pPr>
              <a:r>
                <a:rPr lang="en-US" sz="900" b="0">
                  <a:solidFill>
                    <a:srgbClr val="CCCCCC"/>
                  </a:solidFill>
                  <a:effectLst/>
                  <a:latin typeface="Consolas" panose="020B0609020204030204" pitchFamily="49" charset="0"/>
                </a:rPr>
                <a:t>    </a:t>
              </a:r>
              <a:r>
                <a:rPr lang="en-US" sz="900" b="0">
                  <a:solidFill>
                    <a:srgbClr val="DCDCAA"/>
                  </a:solidFill>
                  <a:effectLst/>
                  <a:latin typeface="Consolas" panose="020B0609020204030204" pitchFamily="49" charset="0"/>
                </a:rPr>
                <a:t>mv</a:t>
              </a:r>
              <a:r>
                <a:rPr lang="en-US" sz="900" b="0">
                  <a:solidFill>
                    <a:srgbClr val="CCCCCC"/>
                  </a:solidFill>
                  <a:effectLst/>
                  <a:latin typeface="Consolas" panose="020B0609020204030204" pitchFamily="49" charset="0"/>
                </a:rPr>
                <a:t>  </a:t>
              </a:r>
              <a:r>
                <a:rPr lang="en-US" sz="900" b="0">
                  <a:solidFill>
                    <a:srgbClr val="9CDCFE"/>
                  </a:solidFill>
                  <a:effectLst/>
                  <a:latin typeface="Consolas" panose="020B0609020204030204" pitchFamily="49" charset="0"/>
                </a:rPr>
                <a:t>a0</a:t>
              </a:r>
              <a:r>
                <a:rPr lang="en-US" sz="900" b="0">
                  <a:solidFill>
                    <a:srgbClr val="CCCCCC"/>
                  </a:solidFill>
                  <a:effectLst/>
                  <a:latin typeface="Consolas" panose="020B0609020204030204" pitchFamily="49" charset="0"/>
                </a:rPr>
                <a:t>,</a:t>
              </a:r>
              <a:r>
                <a:rPr lang="en-US" sz="900" b="0">
                  <a:solidFill>
                    <a:srgbClr val="9CDCFE"/>
                  </a:solidFill>
                  <a:effectLst/>
                  <a:latin typeface="Consolas" panose="020B0609020204030204" pitchFamily="49" charset="0"/>
                </a:rPr>
                <a:t>a5</a:t>
              </a:r>
              <a:endParaRPr lang="en-US" sz="900" b="0">
                <a:solidFill>
                  <a:srgbClr val="CCCCCC"/>
                </a:solidFill>
                <a:effectLst/>
                <a:latin typeface="Consolas" panose="020B0609020204030204" pitchFamily="49" charset="0"/>
              </a:endParaRPr>
            </a:p>
            <a:p>
              <a:pPr>
                <a:buNone/>
              </a:pPr>
              <a:r>
                <a:rPr lang="en-US" sz="900" b="0">
                  <a:solidFill>
                    <a:srgbClr val="CCCCCC"/>
                  </a:solidFill>
                  <a:effectLst/>
                  <a:latin typeface="Consolas" panose="020B0609020204030204" pitchFamily="49" charset="0"/>
                </a:rPr>
                <a:t>    </a:t>
              </a:r>
              <a:r>
                <a:rPr lang="en-US" sz="900" b="0">
                  <a:solidFill>
                    <a:srgbClr val="DCDCAA"/>
                  </a:solidFill>
                  <a:effectLst/>
                  <a:latin typeface="Consolas" panose="020B0609020204030204" pitchFamily="49" charset="0"/>
                </a:rPr>
                <a:t>lw</a:t>
              </a:r>
              <a:r>
                <a:rPr lang="en-US" sz="900" b="0">
                  <a:solidFill>
                    <a:srgbClr val="CCCCCC"/>
                  </a:solidFill>
                  <a:effectLst/>
                  <a:latin typeface="Consolas" panose="020B0609020204030204" pitchFamily="49" charset="0"/>
                </a:rPr>
                <a:t>  </a:t>
              </a:r>
              <a:r>
                <a:rPr lang="en-US" sz="900" b="0">
                  <a:solidFill>
                    <a:srgbClr val="9CDCFE"/>
                  </a:solidFill>
                  <a:effectLst/>
                  <a:latin typeface="Consolas" panose="020B0609020204030204" pitchFamily="49" charset="0"/>
                </a:rPr>
                <a:t>ra</a:t>
              </a:r>
              <a:r>
                <a:rPr lang="en-US" sz="900" b="0">
                  <a:solidFill>
                    <a:srgbClr val="CCCCCC"/>
                  </a:solidFill>
                  <a:effectLst/>
                  <a:latin typeface="Consolas" panose="020B0609020204030204" pitchFamily="49" charset="0"/>
                </a:rPr>
                <a:t>,</a:t>
              </a:r>
              <a:r>
                <a:rPr lang="en-US" sz="900" b="0">
                  <a:solidFill>
                    <a:srgbClr val="B5CEA8"/>
                  </a:solidFill>
                  <a:effectLst/>
                  <a:latin typeface="Consolas" panose="020B0609020204030204" pitchFamily="49" charset="0"/>
                </a:rPr>
                <a:t>28</a:t>
              </a:r>
              <a:r>
                <a:rPr lang="en-US" sz="900" b="0">
                  <a:solidFill>
                    <a:srgbClr val="CCCCCC"/>
                  </a:solidFill>
                  <a:effectLst/>
                  <a:latin typeface="Consolas" panose="020B0609020204030204" pitchFamily="49" charset="0"/>
                </a:rPr>
                <a:t>(</a:t>
              </a:r>
              <a:r>
                <a:rPr lang="en-US" sz="900" b="0">
                  <a:solidFill>
                    <a:srgbClr val="9CDCFE"/>
                  </a:solidFill>
                  <a:effectLst/>
                  <a:latin typeface="Consolas" panose="020B0609020204030204" pitchFamily="49" charset="0"/>
                </a:rPr>
                <a:t>sp</a:t>
              </a:r>
              <a:r>
                <a:rPr lang="en-US" sz="900" b="0">
                  <a:solidFill>
                    <a:srgbClr val="CCCCCC"/>
                  </a:solidFill>
                  <a:effectLst/>
                  <a:latin typeface="Consolas" panose="020B0609020204030204" pitchFamily="49" charset="0"/>
                </a:rPr>
                <a:t>)</a:t>
              </a:r>
            </a:p>
            <a:p>
              <a:pPr>
                <a:buNone/>
              </a:pPr>
              <a:r>
                <a:rPr lang="en-US" sz="900" b="0">
                  <a:solidFill>
                    <a:srgbClr val="CCCCCC"/>
                  </a:solidFill>
                  <a:effectLst/>
                  <a:latin typeface="Consolas" panose="020B0609020204030204" pitchFamily="49" charset="0"/>
                </a:rPr>
                <a:t>    </a:t>
              </a:r>
              <a:r>
                <a:rPr lang="en-US" sz="900" b="0">
                  <a:solidFill>
                    <a:srgbClr val="DCDCAA"/>
                  </a:solidFill>
                  <a:effectLst/>
                  <a:latin typeface="Consolas" panose="020B0609020204030204" pitchFamily="49" charset="0"/>
                </a:rPr>
                <a:t>lw</a:t>
              </a:r>
              <a:r>
                <a:rPr lang="en-US" sz="900" b="0">
                  <a:solidFill>
                    <a:srgbClr val="CCCCCC"/>
                  </a:solidFill>
                  <a:effectLst/>
                  <a:latin typeface="Consolas" panose="020B0609020204030204" pitchFamily="49" charset="0"/>
                </a:rPr>
                <a:t>  </a:t>
              </a:r>
              <a:r>
                <a:rPr lang="en-US" sz="900" b="0">
                  <a:solidFill>
                    <a:srgbClr val="9CDCFE"/>
                  </a:solidFill>
                  <a:effectLst/>
                  <a:latin typeface="Consolas" panose="020B0609020204030204" pitchFamily="49" charset="0"/>
                </a:rPr>
                <a:t>s0</a:t>
              </a:r>
              <a:r>
                <a:rPr lang="en-US" sz="900" b="0">
                  <a:solidFill>
                    <a:srgbClr val="CCCCCC"/>
                  </a:solidFill>
                  <a:effectLst/>
                  <a:latin typeface="Consolas" panose="020B0609020204030204" pitchFamily="49" charset="0"/>
                </a:rPr>
                <a:t>,</a:t>
              </a:r>
              <a:r>
                <a:rPr lang="en-US" sz="900" b="0">
                  <a:solidFill>
                    <a:srgbClr val="B5CEA8"/>
                  </a:solidFill>
                  <a:effectLst/>
                  <a:latin typeface="Consolas" panose="020B0609020204030204" pitchFamily="49" charset="0"/>
                </a:rPr>
                <a:t>24</a:t>
              </a:r>
              <a:r>
                <a:rPr lang="en-US" sz="900" b="0">
                  <a:solidFill>
                    <a:srgbClr val="CCCCCC"/>
                  </a:solidFill>
                  <a:effectLst/>
                  <a:latin typeface="Consolas" panose="020B0609020204030204" pitchFamily="49" charset="0"/>
                </a:rPr>
                <a:t>(</a:t>
              </a:r>
              <a:r>
                <a:rPr lang="en-US" sz="900" b="0">
                  <a:solidFill>
                    <a:srgbClr val="9CDCFE"/>
                  </a:solidFill>
                  <a:effectLst/>
                  <a:latin typeface="Consolas" panose="020B0609020204030204" pitchFamily="49" charset="0"/>
                </a:rPr>
                <a:t>sp</a:t>
              </a:r>
              <a:r>
                <a:rPr lang="en-US" sz="900" b="0">
                  <a:solidFill>
                    <a:srgbClr val="CCCCCC"/>
                  </a:solidFill>
                  <a:effectLst/>
                  <a:latin typeface="Consolas" panose="020B0609020204030204" pitchFamily="49" charset="0"/>
                </a:rPr>
                <a:t>)</a:t>
              </a:r>
            </a:p>
            <a:p>
              <a:pPr>
                <a:buNone/>
              </a:pPr>
              <a:r>
                <a:rPr lang="en-US" sz="900" b="0">
                  <a:solidFill>
                    <a:srgbClr val="CCCCCC"/>
                  </a:solidFill>
                  <a:effectLst/>
                  <a:latin typeface="Consolas" panose="020B0609020204030204" pitchFamily="49" charset="0"/>
                </a:rPr>
                <a:t>    </a:t>
              </a:r>
              <a:r>
                <a:rPr lang="en-US" sz="900" b="0">
                  <a:solidFill>
                    <a:srgbClr val="DCDCAA"/>
                  </a:solidFill>
                  <a:effectLst/>
                  <a:latin typeface="Consolas" panose="020B0609020204030204" pitchFamily="49" charset="0"/>
                </a:rPr>
                <a:t>addi</a:t>
              </a:r>
              <a:r>
                <a:rPr lang="en-US" sz="900" b="0">
                  <a:solidFill>
                    <a:srgbClr val="CCCCCC"/>
                  </a:solidFill>
                  <a:effectLst/>
                  <a:latin typeface="Consolas" panose="020B0609020204030204" pitchFamily="49" charset="0"/>
                </a:rPr>
                <a:t>    </a:t>
              </a:r>
              <a:r>
                <a:rPr lang="en-US" sz="900" b="0">
                  <a:solidFill>
                    <a:srgbClr val="9CDCFE"/>
                  </a:solidFill>
                  <a:effectLst/>
                  <a:latin typeface="Consolas" panose="020B0609020204030204" pitchFamily="49" charset="0"/>
                </a:rPr>
                <a:t>sp</a:t>
              </a:r>
              <a:r>
                <a:rPr lang="en-US" sz="900" b="0">
                  <a:solidFill>
                    <a:srgbClr val="CCCCCC"/>
                  </a:solidFill>
                  <a:effectLst/>
                  <a:latin typeface="Consolas" panose="020B0609020204030204" pitchFamily="49" charset="0"/>
                </a:rPr>
                <a:t>,</a:t>
              </a:r>
              <a:r>
                <a:rPr lang="en-US" sz="900" b="0">
                  <a:solidFill>
                    <a:srgbClr val="9CDCFE"/>
                  </a:solidFill>
                  <a:effectLst/>
                  <a:latin typeface="Consolas" panose="020B0609020204030204" pitchFamily="49" charset="0"/>
                </a:rPr>
                <a:t>sp</a:t>
              </a:r>
              <a:r>
                <a:rPr lang="en-US" sz="900" b="0">
                  <a:solidFill>
                    <a:srgbClr val="CCCCCC"/>
                  </a:solidFill>
                  <a:effectLst/>
                  <a:latin typeface="Consolas" panose="020B0609020204030204" pitchFamily="49" charset="0"/>
                </a:rPr>
                <a:t>,</a:t>
              </a:r>
              <a:r>
                <a:rPr lang="en-US" sz="900" b="0">
                  <a:solidFill>
                    <a:srgbClr val="B5CEA8"/>
                  </a:solidFill>
                  <a:effectLst/>
                  <a:latin typeface="Consolas" panose="020B0609020204030204" pitchFamily="49" charset="0"/>
                </a:rPr>
                <a:t>32</a:t>
              </a:r>
              <a:endParaRPr lang="en-US" sz="900" b="0">
                <a:solidFill>
                  <a:srgbClr val="CCCCCC"/>
                </a:solidFill>
                <a:effectLst/>
                <a:latin typeface="Consolas" panose="020B0609020204030204" pitchFamily="49" charset="0"/>
              </a:endParaRPr>
            </a:p>
            <a:p>
              <a:pPr>
                <a:buNone/>
              </a:pPr>
              <a:r>
                <a:rPr lang="en-US" sz="900" b="0">
                  <a:solidFill>
                    <a:srgbClr val="CCCCCC"/>
                  </a:solidFill>
                  <a:effectLst/>
                  <a:latin typeface="Consolas" panose="020B0609020204030204" pitchFamily="49" charset="0"/>
                </a:rPr>
                <a:t>    </a:t>
              </a:r>
              <a:r>
                <a:rPr lang="en-US" sz="900" b="0">
                  <a:solidFill>
                    <a:srgbClr val="DCDCAA"/>
                  </a:solidFill>
                  <a:effectLst/>
                  <a:latin typeface="Consolas" panose="020B0609020204030204" pitchFamily="49" charset="0"/>
                </a:rPr>
                <a:t>jr</a:t>
              </a:r>
              <a:r>
                <a:rPr lang="en-US" sz="900" b="0">
                  <a:solidFill>
                    <a:srgbClr val="CCCCCC"/>
                  </a:solidFill>
                  <a:effectLst/>
                  <a:latin typeface="Consolas" panose="020B0609020204030204" pitchFamily="49" charset="0"/>
                </a:rPr>
                <a:t>  </a:t>
              </a:r>
              <a:r>
                <a:rPr lang="en-US" sz="900" b="0">
                  <a:solidFill>
                    <a:srgbClr val="9CDCFE"/>
                  </a:solidFill>
                  <a:effectLst/>
                  <a:latin typeface="Consolas" panose="020B0609020204030204" pitchFamily="49" charset="0"/>
                </a:rPr>
                <a:t>ra</a:t>
              </a:r>
              <a:endParaRPr lang="en-US" sz="900" b="0">
                <a:solidFill>
                  <a:srgbClr val="CCCCCC"/>
                </a:solidFill>
                <a:effectLst/>
                <a:latin typeface="Consolas" panose="020B0609020204030204" pitchFamily="49" charset="0"/>
              </a:endParaRPr>
            </a:p>
          </p:txBody>
        </p:sp>
        <p:sp>
          <p:nvSpPr>
            <p:cNvPr id="27" name="TextBox 26">
              <a:extLst>
                <a:ext uri="{FF2B5EF4-FFF2-40B4-BE49-F238E27FC236}">
                  <a16:creationId xmlns:a16="http://schemas.microsoft.com/office/drawing/2014/main" id="{B0422832-4404-CF5D-9D3B-999E83C4AE34}"/>
                </a:ext>
              </a:extLst>
            </p:cNvPr>
            <p:cNvSpPr txBox="1"/>
            <p:nvPr/>
          </p:nvSpPr>
          <p:spPr>
            <a:xfrm>
              <a:off x="161722" y="3688280"/>
              <a:ext cx="3839993" cy="369332"/>
            </a:xfrm>
            <a:prstGeom prst="rect">
              <a:avLst/>
            </a:prstGeom>
            <a:solidFill>
              <a:schemeClr val="bg1"/>
            </a:solidFill>
            <a:ln>
              <a:solidFill>
                <a:schemeClr val="accent1">
                  <a:shade val="15000"/>
                </a:schemeClr>
              </a:solidFill>
            </a:ln>
          </p:spPr>
          <p:txBody>
            <a:bodyPr wrap="none" rtlCol="0">
              <a:noAutofit/>
            </a:bodyPr>
            <a:lstStyle/>
            <a:p>
              <a:r>
                <a:rPr lang="en-GB"/>
                <a:t>functions.s</a:t>
              </a:r>
              <a:endParaRPr lang="LID4096"/>
            </a:p>
          </p:txBody>
        </p:sp>
      </p:grpSp>
      <p:grpSp>
        <p:nvGrpSpPr>
          <p:cNvPr id="28" name="Group 27">
            <a:extLst>
              <a:ext uri="{FF2B5EF4-FFF2-40B4-BE49-F238E27FC236}">
                <a16:creationId xmlns:a16="http://schemas.microsoft.com/office/drawing/2014/main" id="{7D1A0686-7667-E363-167A-46E03687E780}"/>
              </a:ext>
            </a:extLst>
          </p:cNvPr>
          <p:cNvGrpSpPr/>
          <p:nvPr/>
        </p:nvGrpSpPr>
        <p:grpSpPr>
          <a:xfrm>
            <a:off x="7803552" y="1537833"/>
            <a:ext cx="3092340" cy="2816156"/>
            <a:chOff x="161722" y="3688280"/>
            <a:chExt cx="3839993" cy="2816156"/>
          </a:xfrm>
          <a:effectLst>
            <a:outerShdw blurRad="50800" dist="38100" dir="2700000" algn="tl" rotWithShape="0">
              <a:prstClr val="black">
                <a:alpha val="40000"/>
              </a:prstClr>
            </a:outerShdw>
          </a:effectLst>
        </p:grpSpPr>
        <p:sp>
          <p:nvSpPr>
            <p:cNvPr id="29" name="TextBox 28">
              <a:extLst>
                <a:ext uri="{FF2B5EF4-FFF2-40B4-BE49-F238E27FC236}">
                  <a16:creationId xmlns:a16="http://schemas.microsoft.com/office/drawing/2014/main" id="{5D97E38E-5CD5-8725-2178-49296D3417F2}"/>
                </a:ext>
              </a:extLst>
            </p:cNvPr>
            <p:cNvSpPr txBox="1"/>
            <p:nvPr/>
          </p:nvSpPr>
          <p:spPr>
            <a:xfrm>
              <a:off x="161722" y="4057612"/>
              <a:ext cx="3839993" cy="2446824"/>
            </a:xfrm>
            <a:prstGeom prst="rect">
              <a:avLst/>
            </a:prstGeom>
            <a:solidFill>
              <a:schemeClr val="tx1">
                <a:lumMod val="75000"/>
                <a:lumOff val="25000"/>
              </a:schemeClr>
            </a:solidFill>
            <a:ln>
              <a:solidFill>
                <a:schemeClr val="accent1">
                  <a:shade val="15000"/>
                </a:schemeClr>
              </a:solidFill>
            </a:ln>
          </p:spPr>
          <p:txBody>
            <a:bodyPr wrap="square">
              <a:spAutoFit/>
            </a:bodyPr>
            <a:lstStyle/>
            <a:p>
              <a:pPr>
                <a:buNone/>
              </a:pPr>
              <a:r>
                <a:rPr lang="en-GB" sz="900" b="0">
                  <a:solidFill>
                    <a:srgbClr val="DCDCAA"/>
                  </a:solidFill>
                  <a:effectLst/>
                  <a:latin typeface="Consolas" panose="020B0609020204030204" pitchFamily="49" charset="0"/>
                </a:rPr>
                <a:t>pi_squared</a:t>
              </a:r>
              <a:r>
                <a:rPr lang="en-GB" sz="900" b="0">
                  <a:solidFill>
                    <a:srgbClr val="CCCCCC"/>
                  </a:solidFill>
                  <a:effectLst/>
                  <a:latin typeface="Consolas" panose="020B0609020204030204" pitchFamily="49" charset="0"/>
                </a:rPr>
                <a:t>:</a:t>
              </a: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addi</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r>
                <a:rPr lang="en-GB" sz="900" b="0">
                  <a:solidFill>
                    <a:srgbClr val="B5CEA8"/>
                  </a:solidFill>
                  <a:effectLst/>
                  <a:latin typeface="Consolas" panose="020B0609020204030204" pitchFamily="49" charset="0"/>
                </a:rPr>
                <a:t>16</a:t>
              </a:r>
              <a:endParaRPr lang="en-GB" sz="900" b="0">
                <a:solidFill>
                  <a:srgbClr val="CCCCCC"/>
                </a:solidFill>
                <a:effectLst/>
                <a:latin typeface="Consolas" panose="020B0609020204030204" pitchFamily="49" charset="0"/>
              </a:endParaRP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sw</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ra</a:t>
              </a:r>
              <a:r>
                <a:rPr lang="en-GB" sz="900" b="0">
                  <a:solidFill>
                    <a:srgbClr val="CCCCCC"/>
                  </a:solidFill>
                  <a:effectLst/>
                  <a:latin typeface="Consolas" panose="020B0609020204030204" pitchFamily="49" charset="0"/>
                </a:rPr>
                <a:t>,</a:t>
              </a:r>
              <a:r>
                <a:rPr lang="en-GB" sz="900" b="0">
                  <a:solidFill>
                    <a:srgbClr val="B5CEA8"/>
                  </a:solidFill>
                  <a:effectLst/>
                  <a:latin typeface="Consolas" panose="020B0609020204030204" pitchFamily="49" charset="0"/>
                </a:rPr>
                <a:t>12</a:t>
              </a:r>
              <a:r>
                <a:rPr lang="en-GB" sz="900" b="0">
                  <a:solidFill>
                    <a:srgbClr val="CCCCCC"/>
                  </a:solidFill>
                  <a:effectLst/>
                  <a:latin typeface="Consolas" panose="020B0609020204030204" pitchFamily="49" charset="0"/>
                </a:rPr>
                <a:t>(</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sw</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s0</a:t>
              </a:r>
              <a:r>
                <a:rPr lang="en-GB" sz="900" b="0">
                  <a:solidFill>
                    <a:srgbClr val="CCCCCC"/>
                  </a:solidFill>
                  <a:effectLst/>
                  <a:latin typeface="Consolas" panose="020B0609020204030204" pitchFamily="49" charset="0"/>
                </a:rPr>
                <a:t>,</a:t>
              </a:r>
              <a:r>
                <a:rPr lang="en-GB" sz="900" b="0">
                  <a:solidFill>
                    <a:srgbClr val="B5CEA8"/>
                  </a:solidFill>
                  <a:effectLst/>
                  <a:latin typeface="Consolas" panose="020B0609020204030204" pitchFamily="49" charset="0"/>
                </a:rPr>
                <a:t>8</a:t>
              </a:r>
              <a:r>
                <a:rPr lang="en-GB" sz="900" b="0">
                  <a:solidFill>
                    <a:srgbClr val="CCCCCC"/>
                  </a:solidFill>
                  <a:effectLst/>
                  <a:latin typeface="Consolas" panose="020B0609020204030204" pitchFamily="49" charset="0"/>
                </a:rPr>
                <a:t>(</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addi</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s0</a:t>
              </a:r>
              <a:r>
                <a:rPr lang="en-GB" sz="900" b="0">
                  <a:solidFill>
                    <a:srgbClr val="CCCCCC"/>
                  </a:solidFill>
                  <a:effectLst/>
                  <a:latin typeface="Consolas" panose="020B0609020204030204" pitchFamily="49" charset="0"/>
                </a:rPr>
                <a:t>,</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r>
                <a:rPr lang="en-GB" sz="900" b="0">
                  <a:solidFill>
                    <a:srgbClr val="B5CEA8"/>
                  </a:solidFill>
                  <a:effectLst/>
                  <a:latin typeface="Consolas" panose="020B0609020204030204" pitchFamily="49" charset="0"/>
                </a:rPr>
                <a:t>16</a:t>
              </a:r>
              <a:endParaRPr lang="en-GB" sz="900" b="0">
                <a:solidFill>
                  <a:srgbClr val="CCCCCC"/>
                </a:solidFill>
                <a:effectLst/>
                <a:latin typeface="Consolas" panose="020B0609020204030204" pitchFamily="49" charset="0"/>
              </a:endParaRP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lui</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a5</a:t>
              </a:r>
              <a:r>
                <a:rPr lang="en-GB" sz="900" b="0">
                  <a:solidFill>
                    <a:srgbClr val="CCCCCC"/>
                  </a:solidFill>
                  <a:effectLst/>
                  <a:latin typeface="Consolas" panose="020B0609020204030204" pitchFamily="49" charset="0"/>
                </a:rPr>
                <a:t>,%hi(.LC0)</a:t>
              </a: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lw</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a5</a:t>
              </a:r>
              <a:r>
                <a:rPr lang="en-GB" sz="900" b="0">
                  <a:solidFill>
                    <a:srgbClr val="CCCCCC"/>
                  </a:solidFill>
                  <a:effectLst/>
                  <a:latin typeface="Consolas" panose="020B0609020204030204" pitchFamily="49" charset="0"/>
                </a:rPr>
                <a:t>,%lo(.LC0)(</a:t>
              </a:r>
              <a:r>
                <a:rPr lang="en-GB" sz="900" b="0">
                  <a:solidFill>
                    <a:srgbClr val="9CDCFE"/>
                  </a:solidFill>
                  <a:effectLst/>
                  <a:latin typeface="Consolas" panose="020B0609020204030204" pitchFamily="49" charset="0"/>
                </a:rPr>
                <a:t>a5</a:t>
              </a:r>
              <a:r>
                <a:rPr lang="en-GB" sz="900" b="0">
                  <a:solidFill>
                    <a:srgbClr val="CCCCCC"/>
                  </a:solidFill>
                  <a:effectLst/>
                  <a:latin typeface="Consolas" panose="020B0609020204030204" pitchFamily="49" charset="0"/>
                </a:rPr>
                <a:t>)</a:t>
              </a: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mv</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a0</a:t>
              </a:r>
              <a:r>
                <a:rPr lang="en-GB" sz="900" b="0">
                  <a:solidFill>
                    <a:srgbClr val="CCCCCC"/>
                  </a:solidFill>
                  <a:effectLst/>
                  <a:latin typeface="Consolas" panose="020B0609020204030204" pitchFamily="49" charset="0"/>
                </a:rPr>
                <a:t>,</a:t>
              </a:r>
              <a:r>
                <a:rPr lang="en-GB" sz="900" b="0">
                  <a:solidFill>
                    <a:srgbClr val="9CDCFE"/>
                  </a:solidFill>
                  <a:effectLst/>
                  <a:latin typeface="Consolas" panose="020B0609020204030204" pitchFamily="49" charset="0"/>
                </a:rPr>
                <a:t>a5</a:t>
              </a:r>
              <a:endParaRPr lang="en-GB" sz="900" b="0">
                <a:solidFill>
                  <a:srgbClr val="CCCCCC"/>
                </a:solidFill>
                <a:effectLst/>
                <a:latin typeface="Consolas" panose="020B0609020204030204" pitchFamily="49" charset="0"/>
              </a:endParaRP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lw</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ra</a:t>
              </a:r>
              <a:r>
                <a:rPr lang="en-GB" sz="900" b="0">
                  <a:solidFill>
                    <a:srgbClr val="CCCCCC"/>
                  </a:solidFill>
                  <a:effectLst/>
                  <a:latin typeface="Consolas" panose="020B0609020204030204" pitchFamily="49" charset="0"/>
                </a:rPr>
                <a:t>,</a:t>
              </a:r>
              <a:r>
                <a:rPr lang="en-GB" sz="900" b="0">
                  <a:solidFill>
                    <a:srgbClr val="B5CEA8"/>
                  </a:solidFill>
                  <a:effectLst/>
                  <a:latin typeface="Consolas" panose="020B0609020204030204" pitchFamily="49" charset="0"/>
                </a:rPr>
                <a:t>12</a:t>
              </a:r>
              <a:r>
                <a:rPr lang="en-GB" sz="900" b="0">
                  <a:solidFill>
                    <a:srgbClr val="CCCCCC"/>
                  </a:solidFill>
                  <a:effectLst/>
                  <a:latin typeface="Consolas" panose="020B0609020204030204" pitchFamily="49" charset="0"/>
                </a:rPr>
                <a:t>(</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lw</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s0</a:t>
              </a:r>
              <a:r>
                <a:rPr lang="en-GB" sz="900" b="0">
                  <a:solidFill>
                    <a:srgbClr val="CCCCCC"/>
                  </a:solidFill>
                  <a:effectLst/>
                  <a:latin typeface="Consolas" panose="020B0609020204030204" pitchFamily="49" charset="0"/>
                </a:rPr>
                <a:t>,</a:t>
              </a:r>
              <a:r>
                <a:rPr lang="en-GB" sz="900" b="0">
                  <a:solidFill>
                    <a:srgbClr val="B5CEA8"/>
                  </a:solidFill>
                  <a:effectLst/>
                  <a:latin typeface="Consolas" panose="020B0609020204030204" pitchFamily="49" charset="0"/>
                </a:rPr>
                <a:t>8</a:t>
              </a:r>
              <a:r>
                <a:rPr lang="en-GB" sz="900" b="0">
                  <a:solidFill>
                    <a:srgbClr val="CCCCCC"/>
                  </a:solidFill>
                  <a:effectLst/>
                  <a:latin typeface="Consolas" panose="020B0609020204030204" pitchFamily="49" charset="0"/>
                </a:rPr>
                <a:t>(</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addi</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r>
                <a:rPr lang="en-GB" sz="900" b="0">
                  <a:solidFill>
                    <a:srgbClr val="9CDCFE"/>
                  </a:solidFill>
                  <a:effectLst/>
                  <a:latin typeface="Consolas" panose="020B0609020204030204" pitchFamily="49" charset="0"/>
                </a:rPr>
                <a:t>sp</a:t>
              </a:r>
              <a:r>
                <a:rPr lang="en-GB" sz="900" b="0">
                  <a:solidFill>
                    <a:srgbClr val="CCCCCC"/>
                  </a:solidFill>
                  <a:effectLst/>
                  <a:latin typeface="Consolas" panose="020B0609020204030204" pitchFamily="49" charset="0"/>
                </a:rPr>
                <a:t>,</a:t>
              </a:r>
              <a:r>
                <a:rPr lang="en-GB" sz="900" b="0">
                  <a:solidFill>
                    <a:srgbClr val="B5CEA8"/>
                  </a:solidFill>
                  <a:effectLst/>
                  <a:latin typeface="Consolas" panose="020B0609020204030204" pitchFamily="49" charset="0"/>
                </a:rPr>
                <a:t>16</a:t>
              </a:r>
              <a:endParaRPr lang="en-GB" sz="900" b="0">
                <a:solidFill>
                  <a:srgbClr val="CCCCCC"/>
                </a:solidFill>
                <a:effectLst/>
                <a:latin typeface="Consolas" panose="020B0609020204030204" pitchFamily="49" charset="0"/>
              </a:endParaRPr>
            </a:p>
            <a:p>
              <a:pPr>
                <a:buNone/>
              </a:pPr>
              <a:r>
                <a:rPr lang="en-GB" sz="900" b="0">
                  <a:solidFill>
                    <a:srgbClr val="CCCCCC"/>
                  </a:solidFill>
                  <a:effectLst/>
                  <a:latin typeface="Consolas" panose="020B0609020204030204" pitchFamily="49" charset="0"/>
                </a:rPr>
                <a:t>    </a:t>
              </a:r>
              <a:r>
                <a:rPr lang="en-GB" sz="900" b="0">
                  <a:solidFill>
                    <a:srgbClr val="DCDCAA"/>
                  </a:solidFill>
                  <a:effectLst/>
                  <a:latin typeface="Consolas" panose="020B0609020204030204" pitchFamily="49" charset="0"/>
                </a:rPr>
                <a:t>jr</a:t>
              </a:r>
              <a:r>
                <a:rPr lang="en-GB" sz="900" b="0">
                  <a:solidFill>
                    <a:srgbClr val="CCCCCC"/>
                  </a:solidFill>
                  <a:effectLst/>
                  <a:latin typeface="Consolas" panose="020B0609020204030204" pitchFamily="49" charset="0"/>
                </a:rPr>
                <a:t>  </a:t>
              </a:r>
              <a:r>
                <a:rPr lang="en-GB" sz="900" b="0">
                  <a:solidFill>
                    <a:srgbClr val="9CDCFE"/>
                  </a:solidFill>
                  <a:effectLst/>
                  <a:latin typeface="Consolas" panose="020B0609020204030204" pitchFamily="49" charset="0"/>
                </a:rPr>
                <a:t>ra</a:t>
              </a:r>
              <a:endParaRPr lang="en-GB" sz="900" b="0">
                <a:solidFill>
                  <a:srgbClr val="CCCCCC"/>
                </a:solidFill>
                <a:effectLst/>
                <a:latin typeface="Consolas" panose="020B0609020204030204" pitchFamily="49" charset="0"/>
              </a:endParaRPr>
            </a:p>
            <a:p>
              <a:pPr>
                <a:buNone/>
              </a:pPr>
              <a:r>
                <a:rPr lang="en-GB" sz="900" b="0">
                  <a:solidFill>
                    <a:srgbClr val="CCCCCC"/>
                  </a:solidFill>
                  <a:effectLst/>
                  <a:latin typeface="Consolas" panose="020B0609020204030204" pitchFamily="49" charset="0"/>
                </a:rPr>
                <a:t>    .size   pi_squared, .-pi_squared</a:t>
              </a:r>
            </a:p>
            <a:p>
              <a:pPr>
                <a:buNone/>
              </a:pPr>
              <a:r>
                <a:rPr lang="en-GB" sz="900" b="0">
                  <a:solidFill>
                    <a:srgbClr val="CCCCCC"/>
                  </a:solidFill>
                  <a:effectLst/>
                  <a:latin typeface="Consolas" panose="020B0609020204030204" pitchFamily="49" charset="0"/>
                </a:rPr>
                <a:t>    </a:t>
              </a:r>
              <a:r>
                <a:rPr lang="en-GB" sz="900" b="0">
                  <a:solidFill>
                    <a:srgbClr val="569CD6"/>
                  </a:solidFill>
                  <a:effectLst/>
                  <a:latin typeface="Consolas" panose="020B0609020204030204" pitchFamily="49" charset="0"/>
                </a:rPr>
                <a:t>.section</a:t>
              </a:r>
              <a:r>
                <a:rPr lang="en-GB" sz="900" b="0">
                  <a:solidFill>
                    <a:srgbClr val="CCCCCC"/>
                  </a:solidFill>
                  <a:effectLst/>
                  <a:latin typeface="Consolas" panose="020B0609020204030204" pitchFamily="49" charset="0"/>
                </a:rPr>
                <a:t>    </a:t>
              </a:r>
              <a:r>
                <a:rPr lang="en-GB" sz="900" b="0">
                  <a:solidFill>
                    <a:srgbClr val="569CD6"/>
                  </a:solidFill>
                  <a:effectLst/>
                  <a:latin typeface="Consolas" panose="020B0609020204030204" pitchFamily="49" charset="0"/>
                </a:rPr>
                <a:t>.rodata</a:t>
              </a:r>
              <a:endParaRPr lang="en-GB" sz="900" b="0">
                <a:solidFill>
                  <a:srgbClr val="CCCCCC"/>
                </a:solidFill>
                <a:effectLst/>
                <a:latin typeface="Consolas" panose="020B0609020204030204" pitchFamily="49" charset="0"/>
              </a:endParaRPr>
            </a:p>
            <a:p>
              <a:pPr>
                <a:buNone/>
              </a:pPr>
              <a:r>
                <a:rPr lang="en-GB" sz="900" b="0">
                  <a:solidFill>
                    <a:srgbClr val="CCCCCC"/>
                  </a:solidFill>
                  <a:effectLst/>
                  <a:latin typeface="Consolas" panose="020B0609020204030204" pitchFamily="49" charset="0"/>
                </a:rPr>
                <a:t>    </a:t>
              </a:r>
              <a:r>
                <a:rPr lang="en-GB" sz="900" b="0">
                  <a:solidFill>
                    <a:srgbClr val="569CD6"/>
                  </a:solidFill>
                  <a:effectLst/>
                  <a:latin typeface="Consolas" panose="020B0609020204030204" pitchFamily="49" charset="0"/>
                </a:rPr>
                <a:t>.align</a:t>
              </a:r>
              <a:r>
                <a:rPr lang="en-GB" sz="900" b="0">
                  <a:solidFill>
                    <a:srgbClr val="CCCCCC"/>
                  </a:solidFill>
                  <a:effectLst/>
                  <a:latin typeface="Consolas" panose="020B0609020204030204" pitchFamily="49" charset="0"/>
                </a:rPr>
                <a:t>  </a:t>
              </a:r>
              <a:r>
                <a:rPr lang="en-GB" sz="900" b="0">
                  <a:solidFill>
                    <a:srgbClr val="B5CEA8"/>
                  </a:solidFill>
                  <a:effectLst/>
                  <a:latin typeface="Consolas" panose="020B0609020204030204" pitchFamily="49" charset="0"/>
                </a:rPr>
                <a:t>2</a:t>
              </a:r>
              <a:endParaRPr lang="en-GB" sz="900" b="0">
                <a:solidFill>
                  <a:srgbClr val="CCCCCC"/>
                </a:solidFill>
                <a:effectLst/>
                <a:latin typeface="Consolas" panose="020B0609020204030204" pitchFamily="49" charset="0"/>
              </a:endParaRPr>
            </a:p>
            <a:p>
              <a:pPr>
                <a:buNone/>
              </a:pPr>
              <a:r>
                <a:rPr lang="en-GB" sz="900" b="0">
                  <a:solidFill>
                    <a:srgbClr val="CCCCCC"/>
                  </a:solidFill>
                  <a:effectLst/>
                  <a:latin typeface="Consolas" panose="020B0609020204030204" pitchFamily="49" charset="0"/>
                </a:rPr>
                <a:t>.</a:t>
              </a:r>
              <a:r>
                <a:rPr lang="en-GB" sz="900" b="0">
                  <a:solidFill>
                    <a:srgbClr val="DCDCAA"/>
                  </a:solidFill>
                  <a:effectLst/>
                  <a:latin typeface="Consolas" panose="020B0609020204030204" pitchFamily="49" charset="0"/>
                </a:rPr>
                <a:t>LC0</a:t>
              </a:r>
              <a:r>
                <a:rPr lang="en-GB" sz="900" b="0">
                  <a:solidFill>
                    <a:srgbClr val="CCCCCC"/>
                  </a:solidFill>
                  <a:effectLst/>
                  <a:latin typeface="Consolas" panose="020B0609020204030204" pitchFamily="49" charset="0"/>
                </a:rPr>
                <a:t>:</a:t>
              </a:r>
            </a:p>
            <a:p>
              <a:pPr>
                <a:buNone/>
              </a:pPr>
              <a:r>
                <a:rPr lang="en-GB" sz="900" b="0">
                  <a:solidFill>
                    <a:srgbClr val="CCCCCC"/>
                  </a:solidFill>
                  <a:effectLst/>
                  <a:latin typeface="Consolas" panose="020B0609020204030204" pitchFamily="49" charset="0"/>
                </a:rPr>
                <a:t>    </a:t>
              </a:r>
              <a:r>
                <a:rPr lang="en-GB" sz="900" b="0">
                  <a:solidFill>
                    <a:srgbClr val="569CD6"/>
                  </a:solidFill>
                  <a:effectLst/>
                  <a:latin typeface="Consolas" panose="020B0609020204030204" pitchFamily="49" charset="0"/>
                </a:rPr>
                <a:t>.word</a:t>
              </a:r>
              <a:r>
                <a:rPr lang="en-GB" sz="900" b="0">
                  <a:solidFill>
                    <a:srgbClr val="CCCCCC"/>
                  </a:solidFill>
                  <a:effectLst/>
                  <a:latin typeface="Consolas" panose="020B0609020204030204" pitchFamily="49" charset="0"/>
                </a:rPr>
                <a:t>   </a:t>
              </a:r>
              <a:r>
                <a:rPr lang="en-GB" sz="900" b="0">
                  <a:solidFill>
                    <a:srgbClr val="B5CEA8"/>
                  </a:solidFill>
                  <a:effectLst/>
                  <a:latin typeface="Consolas" panose="020B0609020204030204" pitchFamily="49" charset="0"/>
                </a:rPr>
                <a:t>1092468972</a:t>
              </a:r>
              <a:endParaRPr lang="en-GB" sz="900" b="0">
                <a:solidFill>
                  <a:srgbClr val="CCCCCC"/>
                </a:solidFill>
                <a:effectLst/>
                <a:latin typeface="Consolas" panose="020B0609020204030204" pitchFamily="49" charset="0"/>
              </a:endParaRPr>
            </a:p>
          </p:txBody>
        </p:sp>
        <p:sp>
          <p:nvSpPr>
            <p:cNvPr id="30" name="TextBox 29">
              <a:extLst>
                <a:ext uri="{FF2B5EF4-FFF2-40B4-BE49-F238E27FC236}">
                  <a16:creationId xmlns:a16="http://schemas.microsoft.com/office/drawing/2014/main" id="{0394BFEE-38A9-AD37-AA4E-8C20CA31360F}"/>
                </a:ext>
              </a:extLst>
            </p:cNvPr>
            <p:cNvSpPr txBox="1"/>
            <p:nvPr/>
          </p:nvSpPr>
          <p:spPr>
            <a:xfrm>
              <a:off x="161722" y="3688280"/>
              <a:ext cx="3839993" cy="369332"/>
            </a:xfrm>
            <a:prstGeom prst="rect">
              <a:avLst/>
            </a:prstGeom>
            <a:solidFill>
              <a:schemeClr val="bg1"/>
            </a:solidFill>
            <a:ln>
              <a:solidFill>
                <a:schemeClr val="accent1">
                  <a:shade val="15000"/>
                </a:schemeClr>
              </a:solidFill>
            </a:ln>
          </p:spPr>
          <p:txBody>
            <a:bodyPr wrap="none" rtlCol="0">
              <a:noAutofit/>
            </a:bodyPr>
            <a:lstStyle/>
            <a:p>
              <a:r>
                <a:rPr lang="en-GB"/>
                <a:t>math.s</a:t>
              </a:r>
              <a:endParaRPr lang="LID4096"/>
            </a:p>
          </p:txBody>
        </p:sp>
      </p:grpSp>
      <p:grpSp>
        <p:nvGrpSpPr>
          <p:cNvPr id="40" name="Group 39">
            <a:extLst>
              <a:ext uri="{FF2B5EF4-FFF2-40B4-BE49-F238E27FC236}">
                <a16:creationId xmlns:a16="http://schemas.microsoft.com/office/drawing/2014/main" id="{E14AF3D3-AB54-03C2-B702-225882605EB0}"/>
              </a:ext>
            </a:extLst>
          </p:cNvPr>
          <p:cNvGrpSpPr/>
          <p:nvPr/>
        </p:nvGrpSpPr>
        <p:grpSpPr>
          <a:xfrm>
            <a:off x="1973273" y="4347818"/>
            <a:ext cx="1526380" cy="1983880"/>
            <a:chOff x="1973273" y="4347818"/>
            <a:chExt cx="1526380" cy="1983880"/>
          </a:xfrm>
        </p:grpSpPr>
        <p:grpSp>
          <p:nvGrpSpPr>
            <p:cNvPr id="13" name="Group 12">
              <a:extLst>
                <a:ext uri="{FF2B5EF4-FFF2-40B4-BE49-F238E27FC236}">
                  <a16:creationId xmlns:a16="http://schemas.microsoft.com/office/drawing/2014/main" id="{8705EBF5-4902-4FAF-38AD-EC614E5D94E2}"/>
                </a:ext>
              </a:extLst>
            </p:cNvPr>
            <p:cNvGrpSpPr/>
            <p:nvPr/>
          </p:nvGrpSpPr>
          <p:grpSpPr>
            <a:xfrm>
              <a:off x="1973273" y="4347818"/>
              <a:ext cx="1526380" cy="618186"/>
              <a:chOff x="2463845" y="3837904"/>
              <a:chExt cx="1526380" cy="618186"/>
            </a:xfrm>
          </p:grpSpPr>
          <p:sp>
            <p:nvSpPr>
              <p:cNvPr id="14" name="Arrow: Down 13">
                <a:extLst>
                  <a:ext uri="{FF2B5EF4-FFF2-40B4-BE49-F238E27FC236}">
                    <a16:creationId xmlns:a16="http://schemas.microsoft.com/office/drawing/2014/main" id="{32EA94DC-8CCE-9E7F-981C-B0D315B64CAB}"/>
                  </a:ext>
                </a:extLst>
              </p:cNvPr>
              <p:cNvSpPr/>
              <p:nvPr/>
            </p:nvSpPr>
            <p:spPr>
              <a:xfrm>
                <a:off x="2730321" y="3837904"/>
                <a:ext cx="841420" cy="618186"/>
              </a:xfrm>
              <a:prstGeom prst="downArrow">
                <a:avLst>
                  <a:gd name="adj1" fmla="val 50000"/>
                  <a:gd name="adj2" fmla="val 3958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5" name="TextBox 14">
                <a:extLst>
                  <a:ext uri="{FF2B5EF4-FFF2-40B4-BE49-F238E27FC236}">
                    <a16:creationId xmlns:a16="http://schemas.microsoft.com/office/drawing/2014/main" id="{BFF42FB3-8AE4-B667-235C-71E746030899}"/>
                  </a:ext>
                </a:extLst>
              </p:cNvPr>
              <p:cNvSpPr txBox="1"/>
              <p:nvPr/>
            </p:nvSpPr>
            <p:spPr>
              <a:xfrm>
                <a:off x="2463845" y="3927594"/>
                <a:ext cx="1526380" cy="200055"/>
              </a:xfrm>
              <a:prstGeom prst="rect">
                <a:avLst/>
              </a:prstGeom>
              <a:solidFill>
                <a:schemeClr val="tx1"/>
              </a:solidFill>
            </p:spPr>
            <p:txBody>
              <a:bodyPr wrap="none" rtlCol="0">
                <a:spAutoFit/>
              </a:bodyPr>
              <a:lstStyle/>
              <a:p>
                <a:r>
                  <a:rPr lang="en-GB" sz="700">
                    <a:solidFill>
                      <a:schemeClr val="bg1"/>
                    </a:solidFill>
                    <a:latin typeface="Consolas" panose="020B0609020204030204" pitchFamily="49" charset="0"/>
                  </a:rPr>
                  <a:t>$ gcc -c main.s –o main.obj</a:t>
                </a:r>
                <a:endParaRPr lang="LID4096" sz="700">
                  <a:solidFill>
                    <a:schemeClr val="bg1"/>
                  </a:solidFill>
                  <a:latin typeface="Consolas" panose="020B0609020204030204" pitchFamily="49" charset="0"/>
                </a:endParaRPr>
              </a:p>
            </p:txBody>
          </p:sp>
        </p:grpSp>
        <p:pic>
          <p:nvPicPr>
            <p:cNvPr id="34" name="Picture 33">
              <a:extLst>
                <a:ext uri="{FF2B5EF4-FFF2-40B4-BE49-F238E27FC236}">
                  <a16:creationId xmlns:a16="http://schemas.microsoft.com/office/drawing/2014/main" id="{A6319D3E-08A7-6B3D-234E-7F423FB89FF7}"/>
                </a:ext>
              </a:extLst>
            </p:cNvPr>
            <p:cNvPicPr>
              <a:picLocks noChangeAspect="1"/>
            </p:cNvPicPr>
            <p:nvPr/>
          </p:nvPicPr>
          <p:blipFill>
            <a:blip r:embed="rId3"/>
            <a:stretch>
              <a:fillRect/>
            </a:stretch>
          </p:blipFill>
          <p:spPr>
            <a:xfrm>
              <a:off x="2141274" y="5026591"/>
              <a:ext cx="1038370" cy="1305107"/>
            </a:xfrm>
            <a:prstGeom prst="rect">
              <a:avLst/>
            </a:prstGeom>
            <a:effectLst>
              <a:outerShdw blurRad="50800" dist="38100" dir="2700000" algn="tl" rotWithShape="0">
                <a:prstClr val="black">
                  <a:alpha val="40000"/>
                </a:prstClr>
              </a:outerShdw>
            </a:effectLst>
          </p:spPr>
        </p:pic>
      </p:grpSp>
      <p:grpSp>
        <p:nvGrpSpPr>
          <p:cNvPr id="41" name="Group 40">
            <a:extLst>
              <a:ext uri="{FF2B5EF4-FFF2-40B4-BE49-F238E27FC236}">
                <a16:creationId xmlns:a16="http://schemas.microsoft.com/office/drawing/2014/main" id="{95280382-BB43-BBCA-F7F3-CEE1525BA430}"/>
              </a:ext>
            </a:extLst>
          </p:cNvPr>
          <p:cNvGrpSpPr/>
          <p:nvPr/>
        </p:nvGrpSpPr>
        <p:grpSpPr>
          <a:xfrm>
            <a:off x="4981660" y="4656911"/>
            <a:ext cx="2023311" cy="1869216"/>
            <a:chOff x="4981660" y="4656911"/>
            <a:chExt cx="2023311" cy="1869216"/>
          </a:xfrm>
        </p:grpSpPr>
        <p:grpSp>
          <p:nvGrpSpPr>
            <p:cNvPr id="16" name="Group 15">
              <a:extLst>
                <a:ext uri="{FF2B5EF4-FFF2-40B4-BE49-F238E27FC236}">
                  <a16:creationId xmlns:a16="http://schemas.microsoft.com/office/drawing/2014/main" id="{71D75D3F-E14C-F654-65E8-C34D62CA83E4}"/>
                </a:ext>
              </a:extLst>
            </p:cNvPr>
            <p:cNvGrpSpPr/>
            <p:nvPr/>
          </p:nvGrpSpPr>
          <p:grpSpPr>
            <a:xfrm>
              <a:off x="4981660" y="4656911"/>
              <a:ext cx="2023311" cy="618186"/>
              <a:chOff x="2219141" y="3837904"/>
              <a:chExt cx="2023311" cy="618186"/>
            </a:xfrm>
          </p:grpSpPr>
          <p:sp>
            <p:nvSpPr>
              <p:cNvPr id="17" name="Arrow: Down 16">
                <a:extLst>
                  <a:ext uri="{FF2B5EF4-FFF2-40B4-BE49-F238E27FC236}">
                    <a16:creationId xmlns:a16="http://schemas.microsoft.com/office/drawing/2014/main" id="{7B216DFA-B0B0-D302-F7E6-55E057D94A13}"/>
                  </a:ext>
                </a:extLst>
              </p:cNvPr>
              <p:cNvSpPr/>
              <p:nvPr/>
            </p:nvSpPr>
            <p:spPr>
              <a:xfrm>
                <a:off x="2730321" y="3837904"/>
                <a:ext cx="841420" cy="618186"/>
              </a:xfrm>
              <a:prstGeom prst="downArrow">
                <a:avLst>
                  <a:gd name="adj1" fmla="val 50000"/>
                  <a:gd name="adj2" fmla="val 3958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8" name="TextBox 17">
                <a:extLst>
                  <a:ext uri="{FF2B5EF4-FFF2-40B4-BE49-F238E27FC236}">
                    <a16:creationId xmlns:a16="http://schemas.microsoft.com/office/drawing/2014/main" id="{6C2F6458-E380-886D-1D31-DD21B4F01CDB}"/>
                  </a:ext>
                </a:extLst>
              </p:cNvPr>
              <p:cNvSpPr txBox="1"/>
              <p:nvPr/>
            </p:nvSpPr>
            <p:spPr>
              <a:xfrm>
                <a:off x="2219141" y="3946942"/>
                <a:ext cx="2023311" cy="200055"/>
              </a:xfrm>
              <a:prstGeom prst="rect">
                <a:avLst/>
              </a:prstGeom>
              <a:solidFill>
                <a:schemeClr val="tx1"/>
              </a:solidFill>
            </p:spPr>
            <p:txBody>
              <a:bodyPr wrap="none" rtlCol="0">
                <a:spAutoFit/>
              </a:bodyPr>
              <a:lstStyle/>
              <a:p>
                <a:r>
                  <a:rPr lang="en-GB" sz="700">
                    <a:solidFill>
                      <a:schemeClr val="bg1"/>
                    </a:solidFill>
                    <a:latin typeface="Consolas" panose="020B0609020204030204" pitchFamily="49" charset="0"/>
                  </a:rPr>
                  <a:t>$ gcc -c functions.s –o functions.obj</a:t>
                </a:r>
                <a:endParaRPr lang="LID4096" sz="700">
                  <a:solidFill>
                    <a:schemeClr val="bg1"/>
                  </a:solidFill>
                  <a:latin typeface="Consolas" panose="020B0609020204030204" pitchFamily="49" charset="0"/>
                </a:endParaRPr>
              </a:p>
            </p:txBody>
          </p:sp>
        </p:grpSp>
        <p:pic>
          <p:nvPicPr>
            <p:cNvPr id="36" name="Picture 35">
              <a:extLst>
                <a:ext uri="{FF2B5EF4-FFF2-40B4-BE49-F238E27FC236}">
                  <a16:creationId xmlns:a16="http://schemas.microsoft.com/office/drawing/2014/main" id="{4FDA9F79-CD71-1F48-0150-59016C814394}"/>
                </a:ext>
              </a:extLst>
            </p:cNvPr>
            <p:cNvPicPr>
              <a:picLocks noChangeAspect="1"/>
            </p:cNvPicPr>
            <p:nvPr/>
          </p:nvPicPr>
          <p:blipFill>
            <a:blip r:embed="rId4"/>
            <a:stretch>
              <a:fillRect/>
            </a:stretch>
          </p:blipFill>
          <p:spPr>
            <a:xfrm>
              <a:off x="5437233" y="5335336"/>
              <a:ext cx="952633" cy="1190791"/>
            </a:xfrm>
            <a:prstGeom prst="rect">
              <a:avLst/>
            </a:prstGeom>
            <a:effectLst>
              <a:outerShdw blurRad="50800" dist="38100" dir="2700000" algn="tl" rotWithShape="0">
                <a:prstClr val="black">
                  <a:alpha val="40000"/>
                </a:prstClr>
              </a:outerShdw>
            </a:effectLst>
          </p:spPr>
        </p:pic>
      </p:grpSp>
      <p:grpSp>
        <p:nvGrpSpPr>
          <p:cNvPr id="42" name="Group 41">
            <a:extLst>
              <a:ext uri="{FF2B5EF4-FFF2-40B4-BE49-F238E27FC236}">
                <a16:creationId xmlns:a16="http://schemas.microsoft.com/office/drawing/2014/main" id="{3EDC6FFC-95A3-C9B3-B71C-0FD637C83D16}"/>
              </a:ext>
            </a:extLst>
          </p:cNvPr>
          <p:cNvGrpSpPr/>
          <p:nvPr/>
        </p:nvGrpSpPr>
        <p:grpSpPr>
          <a:xfrm>
            <a:off x="8586532" y="4408405"/>
            <a:ext cx="1526380" cy="1923293"/>
            <a:chOff x="8586532" y="4408405"/>
            <a:chExt cx="1526380" cy="1923293"/>
          </a:xfrm>
        </p:grpSpPr>
        <p:grpSp>
          <p:nvGrpSpPr>
            <p:cNvPr id="19" name="Group 18">
              <a:extLst>
                <a:ext uri="{FF2B5EF4-FFF2-40B4-BE49-F238E27FC236}">
                  <a16:creationId xmlns:a16="http://schemas.microsoft.com/office/drawing/2014/main" id="{061B8273-A2CA-487D-161E-ED90572E0696}"/>
                </a:ext>
              </a:extLst>
            </p:cNvPr>
            <p:cNvGrpSpPr/>
            <p:nvPr/>
          </p:nvGrpSpPr>
          <p:grpSpPr>
            <a:xfrm>
              <a:off x="8586532" y="4408405"/>
              <a:ext cx="1526380" cy="618186"/>
              <a:chOff x="2411391" y="3837904"/>
              <a:chExt cx="1526380" cy="618186"/>
            </a:xfrm>
          </p:grpSpPr>
          <p:sp>
            <p:nvSpPr>
              <p:cNvPr id="20" name="Arrow: Down 19">
                <a:extLst>
                  <a:ext uri="{FF2B5EF4-FFF2-40B4-BE49-F238E27FC236}">
                    <a16:creationId xmlns:a16="http://schemas.microsoft.com/office/drawing/2014/main" id="{4505AB85-B4BD-E6D1-D875-CD83EA51531A}"/>
                  </a:ext>
                </a:extLst>
              </p:cNvPr>
              <p:cNvSpPr/>
              <p:nvPr/>
            </p:nvSpPr>
            <p:spPr>
              <a:xfrm>
                <a:off x="2730321" y="3837904"/>
                <a:ext cx="841420" cy="618186"/>
              </a:xfrm>
              <a:prstGeom prst="downArrow">
                <a:avLst>
                  <a:gd name="adj1" fmla="val 50000"/>
                  <a:gd name="adj2" fmla="val 3958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1" name="TextBox 20">
                <a:extLst>
                  <a:ext uri="{FF2B5EF4-FFF2-40B4-BE49-F238E27FC236}">
                    <a16:creationId xmlns:a16="http://schemas.microsoft.com/office/drawing/2014/main" id="{3E4B2FCF-B416-7BD3-DDBF-6CD0A4763458}"/>
                  </a:ext>
                </a:extLst>
              </p:cNvPr>
              <p:cNvSpPr txBox="1"/>
              <p:nvPr/>
            </p:nvSpPr>
            <p:spPr>
              <a:xfrm>
                <a:off x="2411391" y="3920236"/>
                <a:ext cx="1526380" cy="200055"/>
              </a:xfrm>
              <a:prstGeom prst="rect">
                <a:avLst/>
              </a:prstGeom>
              <a:solidFill>
                <a:schemeClr val="tx1"/>
              </a:solidFill>
            </p:spPr>
            <p:txBody>
              <a:bodyPr wrap="none" rtlCol="0">
                <a:spAutoFit/>
              </a:bodyPr>
              <a:lstStyle/>
              <a:p>
                <a:r>
                  <a:rPr lang="en-GB" sz="700">
                    <a:solidFill>
                      <a:schemeClr val="bg1"/>
                    </a:solidFill>
                    <a:latin typeface="Consolas" panose="020B0609020204030204" pitchFamily="49" charset="0"/>
                  </a:rPr>
                  <a:t>$ gcc -c math.s –o math.obj</a:t>
                </a:r>
                <a:endParaRPr lang="LID4096" sz="700">
                  <a:solidFill>
                    <a:schemeClr val="bg1"/>
                  </a:solidFill>
                  <a:latin typeface="Consolas" panose="020B0609020204030204" pitchFamily="49" charset="0"/>
                </a:endParaRPr>
              </a:p>
            </p:txBody>
          </p:sp>
        </p:grpSp>
        <p:pic>
          <p:nvPicPr>
            <p:cNvPr id="38" name="Picture 37">
              <a:extLst>
                <a:ext uri="{FF2B5EF4-FFF2-40B4-BE49-F238E27FC236}">
                  <a16:creationId xmlns:a16="http://schemas.microsoft.com/office/drawing/2014/main" id="{C835DB6D-B648-407D-075B-84C1B73700C4}"/>
                </a:ext>
              </a:extLst>
            </p:cNvPr>
            <p:cNvPicPr>
              <a:picLocks noChangeAspect="1"/>
            </p:cNvPicPr>
            <p:nvPr/>
          </p:nvPicPr>
          <p:blipFill>
            <a:blip r:embed="rId5"/>
            <a:stretch>
              <a:fillRect/>
            </a:stretch>
          </p:blipFill>
          <p:spPr>
            <a:xfrm>
              <a:off x="8840329" y="5083749"/>
              <a:ext cx="971686" cy="1247949"/>
            </a:xfrm>
            <a:prstGeom prst="rect">
              <a:avLst/>
            </a:prstGeom>
            <a:effectLst>
              <a:outerShdw blurRad="50800" dist="38100" dir="2700000" algn="tl" rotWithShape="0">
                <a:prstClr val="black">
                  <a:alpha val="40000"/>
                </a:prstClr>
              </a:outerShdw>
            </a:effectLst>
          </p:spPr>
        </p:pic>
      </p:grpSp>
      <p:sp>
        <p:nvSpPr>
          <p:cNvPr id="39" name="TextBox 38">
            <a:extLst>
              <a:ext uri="{FF2B5EF4-FFF2-40B4-BE49-F238E27FC236}">
                <a16:creationId xmlns:a16="http://schemas.microsoft.com/office/drawing/2014/main" id="{0C900EDE-76A4-B530-AABB-59594579C07A}"/>
              </a:ext>
            </a:extLst>
          </p:cNvPr>
          <p:cNvSpPr txBox="1"/>
          <p:nvPr/>
        </p:nvSpPr>
        <p:spPr>
          <a:xfrm>
            <a:off x="3499653" y="5746065"/>
            <a:ext cx="6872074" cy="369332"/>
          </a:xfrm>
          <a:prstGeom prst="rect">
            <a:avLst/>
          </a:prstGeom>
          <a:solidFill>
            <a:schemeClr val="bg1"/>
          </a:solidFill>
          <a:ln>
            <a:solidFill>
              <a:schemeClr val="accent1">
                <a:shade val="15000"/>
              </a:schemeClr>
            </a:solidFill>
          </a:ln>
        </p:spPr>
        <p:txBody>
          <a:bodyPr wrap="none" rtlCol="0">
            <a:spAutoFit/>
          </a:bodyPr>
          <a:lstStyle/>
          <a:p>
            <a:r>
              <a:rPr lang="en-GB"/>
              <a:t>Objektfiler </a:t>
            </a:r>
            <a:r>
              <a:rPr lang="sv-SE"/>
              <a:t>är maskinkod, men </a:t>
            </a:r>
            <a:r>
              <a:rPr lang="sv-SE" b="1" i="1"/>
              <a:t>med symboler </a:t>
            </a:r>
            <a:r>
              <a:rPr lang="sv-SE"/>
              <a:t>istället för </a:t>
            </a:r>
            <a:r>
              <a:rPr lang="sv-SE" b="1" i="1"/>
              <a:t>addresser</a:t>
            </a:r>
            <a:endParaRPr lang="LID4096"/>
          </a:p>
        </p:txBody>
      </p:sp>
    </p:spTree>
    <p:extLst>
      <p:ext uri="{BB962C8B-B14F-4D97-AF65-F5344CB8AC3E}">
        <p14:creationId xmlns:p14="http://schemas.microsoft.com/office/powerpoint/2010/main" val="3934717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up)">
                                      <p:cBhvr>
                                        <p:cTn id="7" dur="500"/>
                                        <p:tgtEl>
                                          <p:spTgt spid="40"/>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wipe(up)">
                                      <p:cBhvr>
                                        <p:cTn id="11" dur="500"/>
                                        <p:tgtEl>
                                          <p:spTgt spid="41"/>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42"/>
                                        </p:tgtEl>
                                        <p:attrNameLst>
                                          <p:attrName>style.visibility</p:attrName>
                                        </p:attrNameLst>
                                      </p:cBhvr>
                                      <p:to>
                                        <p:strVal val="visible"/>
                                      </p:to>
                                    </p:set>
                                    <p:animEffect transition="in" filter="wipe(up)">
                                      <p:cBhvr>
                                        <p:cTn id="15" dur="500"/>
                                        <p:tgtEl>
                                          <p:spTgt spid="4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fade">
                                      <p:cBhvr>
                                        <p:cTn id="20"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B8B8E-7C13-D5F9-BBBC-5CB986440F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DB05DB-D6E6-D14C-8BB4-9E19F49B9E22}"/>
              </a:ext>
            </a:extLst>
          </p:cNvPr>
          <p:cNvSpPr>
            <a:spLocks noGrp="1"/>
          </p:cNvSpPr>
          <p:nvPr>
            <p:ph type="title"/>
          </p:nvPr>
        </p:nvSpPr>
        <p:spPr/>
        <p:txBody>
          <a:bodyPr/>
          <a:lstStyle/>
          <a:p>
            <a:r>
              <a:rPr lang="en-GB"/>
              <a:t>Kompilering – </a:t>
            </a:r>
            <a:br>
              <a:rPr lang="en-GB"/>
            </a:br>
            <a:r>
              <a:rPr lang="en-GB"/>
              <a:t>Länkaren</a:t>
            </a:r>
            <a:endParaRPr lang="LID4096"/>
          </a:p>
        </p:txBody>
      </p:sp>
      <p:grpSp>
        <p:nvGrpSpPr>
          <p:cNvPr id="28" name="Group 27">
            <a:extLst>
              <a:ext uri="{FF2B5EF4-FFF2-40B4-BE49-F238E27FC236}">
                <a16:creationId xmlns:a16="http://schemas.microsoft.com/office/drawing/2014/main" id="{6653A5F2-3B1F-C997-A79B-6563051A31AD}"/>
              </a:ext>
            </a:extLst>
          </p:cNvPr>
          <p:cNvGrpSpPr/>
          <p:nvPr/>
        </p:nvGrpSpPr>
        <p:grpSpPr>
          <a:xfrm>
            <a:off x="2903163" y="1589092"/>
            <a:ext cx="3092340" cy="1754327"/>
            <a:chOff x="161722" y="3688280"/>
            <a:chExt cx="3839993" cy="1754327"/>
          </a:xfrm>
          <a:effectLst>
            <a:outerShdw blurRad="50800" dist="38100" dir="2700000" algn="tl" rotWithShape="0">
              <a:prstClr val="black">
                <a:alpha val="40000"/>
              </a:prstClr>
            </a:outerShdw>
          </a:effectLst>
        </p:grpSpPr>
        <p:sp>
          <p:nvSpPr>
            <p:cNvPr id="29" name="TextBox 28">
              <a:extLst>
                <a:ext uri="{FF2B5EF4-FFF2-40B4-BE49-F238E27FC236}">
                  <a16:creationId xmlns:a16="http://schemas.microsoft.com/office/drawing/2014/main" id="{68304FDC-FF1C-C489-675E-E3EC4687B83E}"/>
                </a:ext>
              </a:extLst>
            </p:cNvPr>
            <p:cNvSpPr txBox="1"/>
            <p:nvPr/>
          </p:nvSpPr>
          <p:spPr>
            <a:xfrm>
              <a:off x="161722" y="4057612"/>
              <a:ext cx="3839993" cy="1384995"/>
            </a:xfrm>
            <a:prstGeom prst="rect">
              <a:avLst/>
            </a:prstGeom>
            <a:solidFill>
              <a:schemeClr val="tx1">
                <a:lumMod val="75000"/>
                <a:lumOff val="25000"/>
              </a:schemeClr>
            </a:solidFill>
            <a:ln>
              <a:solidFill>
                <a:schemeClr val="accent1">
                  <a:shade val="15000"/>
                </a:schemeClr>
              </a:solidFill>
            </a:ln>
          </p:spPr>
          <p:txBody>
            <a:bodyPr wrap="square">
              <a:spAutoFit/>
            </a:bodyPr>
            <a:lstStyle/>
            <a:p>
              <a:pPr>
                <a:buNone/>
              </a:pPr>
              <a:r>
                <a:rPr lang="en-GB" sz="400">
                  <a:solidFill>
                    <a:srgbClr val="CCCCCC"/>
                  </a:solidFill>
                  <a:latin typeface="Consolas" panose="020B0609020204030204" pitchFamily="49" charset="0"/>
                </a:rPr>
                <a:t>/*</a:t>
              </a:r>
            </a:p>
            <a:p>
              <a:pPr>
                <a:buNone/>
              </a:pPr>
              <a:r>
                <a:rPr lang="en-GB" sz="400">
                  <a:solidFill>
                    <a:srgbClr val="CCCCCC"/>
                  </a:solidFill>
                  <a:latin typeface="Consolas" panose="020B0609020204030204" pitchFamily="49" charset="0"/>
                </a:rPr>
                <a:t>md307-ram-crt.x</a:t>
              </a:r>
            </a:p>
            <a:p>
              <a:pPr>
                <a:buNone/>
              </a:pPr>
              <a:r>
                <a:rPr lang="en-GB" sz="400">
                  <a:solidFill>
                    <a:srgbClr val="CCCCCC"/>
                  </a:solidFill>
                  <a:latin typeface="Consolas" panose="020B0609020204030204" pitchFamily="49" charset="0"/>
                </a:rPr>
                <a:t>Linker script for MD307</a:t>
              </a:r>
            </a:p>
            <a:p>
              <a:pPr>
                <a:buNone/>
              </a:pPr>
              <a:r>
                <a:rPr lang="en-GB" sz="400">
                  <a:solidFill>
                    <a:srgbClr val="CCCCCC"/>
                  </a:solidFill>
                  <a:latin typeface="Consolas" panose="020B0609020204030204" pitchFamily="49" charset="0"/>
                </a:rPr>
                <a:t>*/</a:t>
              </a:r>
            </a:p>
            <a:p>
              <a:pPr>
                <a:buNone/>
              </a:pPr>
              <a:endParaRPr lang="en-GB" sz="400">
                <a:solidFill>
                  <a:srgbClr val="CCCCCC"/>
                </a:solidFill>
                <a:latin typeface="Consolas" panose="020B0609020204030204" pitchFamily="49" charset="0"/>
              </a:endParaRPr>
            </a:p>
            <a:p>
              <a:pPr>
                <a:buNone/>
              </a:pPr>
              <a:r>
                <a:rPr lang="en-GB" sz="400">
                  <a:solidFill>
                    <a:srgbClr val="CCCCCC"/>
                  </a:solidFill>
                  <a:latin typeface="Consolas" panose="020B0609020204030204" pitchFamily="49" charset="0"/>
                </a:rPr>
                <a:t>MEMORY</a:t>
              </a:r>
            </a:p>
            <a:p>
              <a:pPr>
                <a:buNone/>
              </a:pPr>
              <a:r>
                <a:rPr lang="en-GB" sz="400">
                  <a:solidFill>
                    <a:srgbClr val="CCCCCC"/>
                  </a:solidFill>
                  <a:latin typeface="Consolas" panose="020B0609020204030204" pitchFamily="49" charset="0"/>
                </a:rPr>
                <a:t>{</a:t>
              </a:r>
            </a:p>
            <a:p>
              <a:pPr>
                <a:buNone/>
              </a:pPr>
              <a:r>
                <a:rPr lang="en-GB" sz="400">
                  <a:solidFill>
                    <a:srgbClr val="CCCCCC"/>
                  </a:solidFill>
                  <a:latin typeface="Consolas" panose="020B0609020204030204" pitchFamily="49" charset="0"/>
                </a:rPr>
                <a:t>  RAM (xrw) : ORIGIN = 0x20000000, LENGTH = 108K</a:t>
              </a:r>
            </a:p>
            <a:p>
              <a:pPr>
                <a:buNone/>
              </a:pPr>
              <a:r>
                <a:rPr lang="en-GB" sz="400">
                  <a:solidFill>
                    <a:srgbClr val="CCCCCC"/>
                  </a:solidFill>
                  <a:latin typeface="Consolas" panose="020B0609020204030204" pitchFamily="49" charset="0"/>
                </a:rPr>
                <a:t>}</a:t>
              </a:r>
            </a:p>
            <a:p>
              <a:pPr>
                <a:buNone/>
              </a:pPr>
              <a:endParaRPr lang="en-GB" sz="400">
                <a:solidFill>
                  <a:srgbClr val="CCCCCC"/>
                </a:solidFill>
                <a:latin typeface="Consolas" panose="020B0609020204030204" pitchFamily="49" charset="0"/>
              </a:endParaRPr>
            </a:p>
            <a:p>
              <a:pPr>
                <a:buNone/>
              </a:pPr>
              <a:r>
                <a:rPr lang="en-GB" sz="400">
                  <a:solidFill>
                    <a:srgbClr val="CCCCCC"/>
                  </a:solidFill>
                  <a:latin typeface="Consolas" panose="020B0609020204030204" pitchFamily="49" charset="0"/>
                </a:rPr>
                <a:t>SECTIONS</a:t>
              </a:r>
            </a:p>
            <a:p>
              <a:pPr>
                <a:buNone/>
              </a:pPr>
              <a:r>
                <a:rPr lang="en-GB" sz="400">
                  <a:solidFill>
                    <a:srgbClr val="CCCCCC"/>
                  </a:solidFill>
                  <a:latin typeface="Consolas" panose="020B0609020204030204" pitchFamily="49" charset="0"/>
                </a:rPr>
                <a:t>{</a:t>
              </a:r>
            </a:p>
            <a:p>
              <a:pPr>
                <a:buNone/>
              </a:pPr>
              <a:r>
                <a:rPr lang="en-GB" sz="400">
                  <a:solidFill>
                    <a:srgbClr val="CCCCCC"/>
                  </a:solidFill>
                  <a:latin typeface="Consolas" panose="020B0609020204030204" pitchFamily="49" charset="0"/>
                </a:rPr>
                <a:t>    .text :</a:t>
              </a:r>
            </a:p>
            <a:p>
              <a:pPr>
                <a:buNone/>
              </a:pPr>
              <a:r>
                <a:rPr lang="en-GB" sz="400">
                  <a:solidFill>
                    <a:srgbClr val="CCCCCC"/>
                  </a:solidFill>
                  <a:latin typeface="Consolas" panose="020B0609020204030204" pitchFamily="49" charset="0"/>
                </a:rPr>
                <a:t>    {</a:t>
              </a:r>
            </a:p>
            <a:p>
              <a:pPr>
                <a:buNone/>
              </a:pPr>
              <a:r>
                <a:rPr lang="en-GB" sz="400">
                  <a:solidFill>
                    <a:srgbClr val="CCCCCC"/>
                  </a:solidFill>
                  <a:latin typeface="Consolas" panose="020B0609020204030204" pitchFamily="49" charset="0"/>
                </a:rPr>
                <a:t>    . = ALIGN(4);	    </a:t>
              </a:r>
            </a:p>
            <a:p>
              <a:pPr>
                <a:buNone/>
              </a:pPr>
              <a:r>
                <a:rPr lang="en-GB" sz="400">
                  <a:solidFill>
                    <a:srgbClr val="CCCCCC"/>
                  </a:solidFill>
                  <a:latin typeface="Consolas" panose="020B0609020204030204" pitchFamily="49" charset="0"/>
                </a:rPr>
                <a:t>    *(.start_section)	/* startup code */</a:t>
              </a:r>
            </a:p>
            <a:p>
              <a:pPr>
                <a:buNone/>
              </a:pPr>
              <a:r>
                <a:rPr lang="en-GB" sz="400">
                  <a:solidFill>
                    <a:srgbClr val="CCCCCC"/>
                  </a:solidFill>
                  <a:latin typeface="Consolas" panose="020B0609020204030204" pitchFamily="49" charset="0"/>
                </a:rPr>
                <a:t>    *(.text*)	/* remaining code */</a:t>
              </a:r>
            </a:p>
            <a:p>
              <a:pPr>
                <a:buNone/>
              </a:pPr>
              <a:r>
                <a:rPr lang="en-GB" sz="400">
                  <a:solidFill>
                    <a:srgbClr val="CCCCCC"/>
                  </a:solidFill>
                  <a:latin typeface="Consolas" panose="020B0609020204030204" pitchFamily="49" charset="0"/>
                </a:rPr>
                <a:t>    *(.text.*)                 </a:t>
              </a:r>
            </a:p>
            <a:p>
              <a:pPr>
                <a:buNone/>
              </a:pPr>
              <a:r>
                <a:rPr lang="en-GB" sz="400">
                  <a:solidFill>
                    <a:srgbClr val="CCCCCC"/>
                  </a:solidFill>
                  <a:latin typeface="Consolas" panose="020B0609020204030204" pitchFamily="49" charset="0"/>
                </a:rPr>
                <a:t>    *(.rodata*) 	/* read-only data (constants) */</a:t>
              </a:r>
            </a:p>
            <a:p>
              <a:pPr>
                <a:buNone/>
              </a:pPr>
              <a:r>
                <a:rPr lang="en-GB" sz="400">
                  <a:solidFill>
                    <a:srgbClr val="CCCCCC"/>
                  </a:solidFill>
                  <a:latin typeface="Consolas" panose="020B0609020204030204" pitchFamily="49" charset="0"/>
                </a:rPr>
                <a:t>        *(.rodata.*) </a:t>
              </a:r>
            </a:p>
            <a:p>
              <a:pPr>
                <a:buNone/>
              </a:pPr>
              <a:r>
                <a:rPr lang="en-GB" sz="400" b="0">
                  <a:solidFill>
                    <a:srgbClr val="CCCCCC"/>
                  </a:solidFill>
                  <a:effectLst/>
                  <a:latin typeface="Consolas" panose="020B0609020204030204" pitchFamily="49" charset="0"/>
                </a:rPr>
                <a:t>...</a:t>
              </a:r>
            </a:p>
          </p:txBody>
        </p:sp>
        <p:sp>
          <p:nvSpPr>
            <p:cNvPr id="30" name="TextBox 29">
              <a:extLst>
                <a:ext uri="{FF2B5EF4-FFF2-40B4-BE49-F238E27FC236}">
                  <a16:creationId xmlns:a16="http://schemas.microsoft.com/office/drawing/2014/main" id="{915F4099-90CF-0DAE-4AE5-036FDD6768F0}"/>
                </a:ext>
              </a:extLst>
            </p:cNvPr>
            <p:cNvSpPr txBox="1"/>
            <p:nvPr/>
          </p:nvSpPr>
          <p:spPr>
            <a:xfrm>
              <a:off x="161722" y="3688280"/>
              <a:ext cx="3839993" cy="369332"/>
            </a:xfrm>
            <a:prstGeom prst="rect">
              <a:avLst/>
            </a:prstGeom>
            <a:solidFill>
              <a:schemeClr val="bg1"/>
            </a:solidFill>
            <a:ln>
              <a:solidFill>
                <a:schemeClr val="accent1">
                  <a:shade val="15000"/>
                </a:schemeClr>
              </a:solidFill>
            </a:ln>
          </p:spPr>
          <p:txBody>
            <a:bodyPr wrap="none" rtlCol="0">
              <a:noAutofit/>
            </a:bodyPr>
            <a:lstStyle/>
            <a:p>
              <a:r>
                <a:rPr lang="en-GB"/>
                <a:t>mdx307-ram.x</a:t>
              </a:r>
              <a:endParaRPr lang="LID4096"/>
            </a:p>
          </p:txBody>
        </p:sp>
      </p:grpSp>
      <p:sp>
        <p:nvSpPr>
          <p:cNvPr id="14" name="Arrow: Down 13">
            <a:extLst>
              <a:ext uri="{FF2B5EF4-FFF2-40B4-BE49-F238E27FC236}">
                <a16:creationId xmlns:a16="http://schemas.microsoft.com/office/drawing/2014/main" id="{ADE55282-32F9-7431-4469-DEC959A2E511}"/>
              </a:ext>
            </a:extLst>
          </p:cNvPr>
          <p:cNvSpPr/>
          <p:nvPr/>
        </p:nvSpPr>
        <p:spPr>
          <a:xfrm rot="17498855">
            <a:off x="2753683" y="3572450"/>
            <a:ext cx="841420" cy="618186"/>
          </a:xfrm>
          <a:prstGeom prst="downArrow">
            <a:avLst>
              <a:gd name="adj1" fmla="val 50000"/>
              <a:gd name="adj2" fmla="val 3958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34" name="Picture 33">
            <a:extLst>
              <a:ext uri="{FF2B5EF4-FFF2-40B4-BE49-F238E27FC236}">
                <a16:creationId xmlns:a16="http://schemas.microsoft.com/office/drawing/2014/main" id="{5E5A942B-7130-E5FE-B24C-1001611ACA92}"/>
              </a:ext>
            </a:extLst>
          </p:cNvPr>
          <p:cNvPicPr>
            <a:picLocks noChangeAspect="1"/>
          </p:cNvPicPr>
          <p:nvPr/>
        </p:nvPicPr>
        <p:blipFill>
          <a:blip r:embed="rId3"/>
          <a:stretch>
            <a:fillRect/>
          </a:stretch>
        </p:blipFill>
        <p:spPr>
          <a:xfrm>
            <a:off x="1740035" y="3190462"/>
            <a:ext cx="1038370" cy="1305107"/>
          </a:xfrm>
          <a:prstGeom prst="rect">
            <a:avLst/>
          </a:prstGeom>
          <a:effectLst>
            <a:outerShdw blurRad="50800" dist="38100" dir="2700000" algn="tl" rotWithShape="0">
              <a:prstClr val="black">
                <a:alpha val="40000"/>
              </a:prstClr>
            </a:outerShdw>
          </a:effectLst>
        </p:spPr>
      </p:pic>
      <p:sp>
        <p:nvSpPr>
          <p:cNvPr id="17" name="Arrow: Down 16">
            <a:extLst>
              <a:ext uri="{FF2B5EF4-FFF2-40B4-BE49-F238E27FC236}">
                <a16:creationId xmlns:a16="http://schemas.microsoft.com/office/drawing/2014/main" id="{093A0F5A-8BFE-B389-26B3-4DAD2D1BF59D}"/>
              </a:ext>
            </a:extLst>
          </p:cNvPr>
          <p:cNvSpPr/>
          <p:nvPr/>
        </p:nvSpPr>
        <p:spPr>
          <a:xfrm rot="13877030">
            <a:off x="3061645" y="4354402"/>
            <a:ext cx="841420" cy="618186"/>
          </a:xfrm>
          <a:prstGeom prst="downArrow">
            <a:avLst>
              <a:gd name="adj1" fmla="val 50000"/>
              <a:gd name="adj2" fmla="val 3958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36" name="Picture 35">
            <a:extLst>
              <a:ext uri="{FF2B5EF4-FFF2-40B4-BE49-F238E27FC236}">
                <a16:creationId xmlns:a16="http://schemas.microsoft.com/office/drawing/2014/main" id="{3EE3CF24-7C7D-9DFD-9E5A-70D45D155D59}"/>
              </a:ext>
            </a:extLst>
          </p:cNvPr>
          <p:cNvPicPr>
            <a:picLocks noChangeAspect="1"/>
          </p:cNvPicPr>
          <p:nvPr/>
        </p:nvPicPr>
        <p:blipFill>
          <a:blip r:embed="rId4"/>
          <a:stretch>
            <a:fillRect/>
          </a:stretch>
        </p:blipFill>
        <p:spPr>
          <a:xfrm>
            <a:off x="2188627" y="4631301"/>
            <a:ext cx="952633" cy="1190791"/>
          </a:xfrm>
          <a:prstGeom prst="rect">
            <a:avLst/>
          </a:prstGeom>
          <a:effectLst>
            <a:outerShdw blurRad="50800" dist="38100" dir="2700000" algn="tl" rotWithShape="0">
              <a:prstClr val="black">
                <a:alpha val="40000"/>
              </a:prstClr>
            </a:outerShdw>
          </a:effectLst>
        </p:spPr>
      </p:pic>
      <p:sp>
        <p:nvSpPr>
          <p:cNvPr id="20" name="Arrow: Down 19">
            <a:extLst>
              <a:ext uri="{FF2B5EF4-FFF2-40B4-BE49-F238E27FC236}">
                <a16:creationId xmlns:a16="http://schemas.microsoft.com/office/drawing/2014/main" id="{EE567B74-BE80-8C37-C53B-9FC2BFE41AC6}"/>
              </a:ext>
            </a:extLst>
          </p:cNvPr>
          <p:cNvSpPr/>
          <p:nvPr/>
        </p:nvSpPr>
        <p:spPr>
          <a:xfrm rot="10961708">
            <a:off x="3874408" y="4515010"/>
            <a:ext cx="841420" cy="618186"/>
          </a:xfrm>
          <a:prstGeom prst="downArrow">
            <a:avLst>
              <a:gd name="adj1" fmla="val 50000"/>
              <a:gd name="adj2" fmla="val 3958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38" name="Picture 37">
            <a:extLst>
              <a:ext uri="{FF2B5EF4-FFF2-40B4-BE49-F238E27FC236}">
                <a16:creationId xmlns:a16="http://schemas.microsoft.com/office/drawing/2014/main" id="{47C8677D-F747-912B-A0DC-18FF20ACC162}"/>
              </a:ext>
            </a:extLst>
          </p:cNvPr>
          <p:cNvPicPr>
            <a:picLocks noChangeAspect="1"/>
          </p:cNvPicPr>
          <p:nvPr/>
        </p:nvPicPr>
        <p:blipFill>
          <a:blip r:embed="rId5"/>
          <a:stretch>
            <a:fillRect/>
          </a:stretch>
        </p:blipFill>
        <p:spPr>
          <a:xfrm>
            <a:off x="3805390" y="5244926"/>
            <a:ext cx="971686" cy="1247949"/>
          </a:xfrm>
          <a:prstGeom prst="rect">
            <a:avLst/>
          </a:prstGeom>
          <a:effectLst>
            <a:outerShdw blurRad="50800" dist="38100" dir="2700000" algn="tl" rotWithShape="0">
              <a:prstClr val="black">
                <a:alpha val="40000"/>
              </a:prstClr>
            </a:outerShdw>
          </a:effectLst>
        </p:spPr>
      </p:pic>
      <p:sp>
        <p:nvSpPr>
          <p:cNvPr id="3" name="TextBox 2">
            <a:extLst>
              <a:ext uri="{FF2B5EF4-FFF2-40B4-BE49-F238E27FC236}">
                <a16:creationId xmlns:a16="http://schemas.microsoft.com/office/drawing/2014/main" id="{9D5DBFDA-9056-EC66-F297-FFFFE137F996}"/>
              </a:ext>
            </a:extLst>
          </p:cNvPr>
          <p:cNvSpPr txBox="1"/>
          <p:nvPr/>
        </p:nvSpPr>
        <p:spPr>
          <a:xfrm>
            <a:off x="3816524" y="4092030"/>
            <a:ext cx="3070071" cy="230832"/>
          </a:xfrm>
          <a:prstGeom prst="rect">
            <a:avLst/>
          </a:prstGeom>
          <a:solidFill>
            <a:schemeClr val="tx1"/>
          </a:solidFill>
        </p:spPr>
        <p:txBody>
          <a:bodyPr wrap="none" rtlCol="0">
            <a:spAutoFit/>
          </a:bodyPr>
          <a:lstStyle/>
          <a:p>
            <a:r>
              <a:rPr lang="en-GB" sz="900">
                <a:solidFill>
                  <a:schemeClr val="bg1"/>
                </a:solidFill>
                <a:latin typeface="Consolas" panose="020B0609020204030204" pitchFamily="49" charset="0"/>
              </a:rPr>
              <a:t>$ gcc *.obj –T mdx307-ram.x –o my_program.elf</a:t>
            </a:r>
            <a:endParaRPr lang="LID4096" sz="900">
              <a:solidFill>
                <a:schemeClr val="bg1"/>
              </a:solidFill>
              <a:latin typeface="Consolas" panose="020B0609020204030204" pitchFamily="49" charset="0"/>
            </a:endParaRPr>
          </a:p>
        </p:txBody>
      </p:sp>
      <p:sp>
        <p:nvSpPr>
          <p:cNvPr id="4" name="Arrow: Down 3">
            <a:extLst>
              <a:ext uri="{FF2B5EF4-FFF2-40B4-BE49-F238E27FC236}">
                <a16:creationId xmlns:a16="http://schemas.microsoft.com/office/drawing/2014/main" id="{167592BF-1AE8-CF09-A9CE-9FEC6A0675A0}"/>
              </a:ext>
            </a:extLst>
          </p:cNvPr>
          <p:cNvSpPr/>
          <p:nvPr/>
        </p:nvSpPr>
        <p:spPr>
          <a:xfrm rot="21320680">
            <a:off x="3705791" y="3230232"/>
            <a:ext cx="841420" cy="618186"/>
          </a:xfrm>
          <a:prstGeom prst="downArrow">
            <a:avLst>
              <a:gd name="adj1" fmla="val 50000"/>
              <a:gd name="adj2" fmla="val 3958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nvGrpSpPr>
          <p:cNvPr id="8" name="Group 7">
            <a:extLst>
              <a:ext uri="{FF2B5EF4-FFF2-40B4-BE49-F238E27FC236}">
                <a16:creationId xmlns:a16="http://schemas.microsoft.com/office/drawing/2014/main" id="{33B03A9E-C631-0526-40FC-AF89ECFC27AE}"/>
              </a:ext>
            </a:extLst>
          </p:cNvPr>
          <p:cNvGrpSpPr/>
          <p:nvPr/>
        </p:nvGrpSpPr>
        <p:grpSpPr>
          <a:xfrm>
            <a:off x="7086234" y="3408424"/>
            <a:ext cx="2511888" cy="1976734"/>
            <a:chOff x="7086234" y="3408424"/>
            <a:chExt cx="2511888" cy="1976734"/>
          </a:xfrm>
        </p:grpSpPr>
        <p:sp>
          <p:nvSpPr>
            <p:cNvPr id="5" name="Arrow: Down 4">
              <a:extLst>
                <a:ext uri="{FF2B5EF4-FFF2-40B4-BE49-F238E27FC236}">
                  <a16:creationId xmlns:a16="http://schemas.microsoft.com/office/drawing/2014/main" id="{DDDA3F11-F340-36A7-1D4E-3A732D9C2145}"/>
                </a:ext>
              </a:extLst>
            </p:cNvPr>
            <p:cNvSpPr/>
            <p:nvPr/>
          </p:nvSpPr>
          <p:spPr>
            <a:xfrm rot="16200000">
              <a:off x="6974617" y="3933692"/>
              <a:ext cx="841420" cy="618186"/>
            </a:xfrm>
            <a:prstGeom prst="downArrow">
              <a:avLst>
                <a:gd name="adj1" fmla="val 50000"/>
                <a:gd name="adj2" fmla="val 3958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7" name="Picture 6">
              <a:extLst>
                <a:ext uri="{FF2B5EF4-FFF2-40B4-BE49-F238E27FC236}">
                  <a16:creationId xmlns:a16="http://schemas.microsoft.com/office/drawing/2014/main" id="{D43DC56E-E4DF-C7CA-2262-02FC0ED91C8A}"/>
                </a:ext>
              </a:extLst>
            </p:cNvPr>
            <p:cNvPicPr>
              <a:picLocks noChangeAspect="1"/>
            </p:cNvPicPr>
            <p:nvPr/>
          </p:nvPicPr>
          <p:blipFill>
            <a:blip r:embed="rId6"/>
            <a:stretch>
              <a:fillRect/>
            </a:stretch>
          </p:blipFill>
          <p:spPr>
            <a:xfrm>
              <a:off x="7963230" y="3408424"/>
              <a:ext cx="1634892" cy="1976734"/>
            </a:xfrm>
            <a:prstGeom prst="rect">
              <a:avLst/>
            </a:prstGeom>
          </p:spPr>
        </p:pic>
      </p:grpSp>
    </p:spTree>
    <p:extLst>
      <p:ext uri="{BB962C8B-B14F-4D97-AF65-F5344CB8AC3E}">
        <p14:creationId xmlns:p14="http://schemas.microsoft.com/office/powerpoint/2010/main" val="704293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2450</TotalTime>
  <Words>3990</Words>
  <Application>Microsoft Office PowerPoint</Application>
  <PresentationFormat>Widescreen</PresentationFormat>
  <Paragraphs>561</Paragraphs>
  <Slides>31</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Aptos</vt:lpstr>
      <vt:lpstr>Aptos Display</vt:lpstr>
      <vt:lpstr>Arial</vt:lpstr>
      <vt:lpstr>Consolas</vt:lpstr>
      <vt:lpstr>Office Theme</vt:lpstr>
      <vt:lpstr>Ganska tomt på övningstillfällena</vt:lpstr>
      <vt:lpstr>Lektion 4</vt:lpstr>
      <vt:lpstr>GPIO Portar och Pinnar</vt:lpstr>
      <vt:lpstr>Tända en lampa med ett program (översikt)</vt:lpstr>
      <vt:lpstr>Tända en lampa med ett program (översikt)</vt:lpstr>
      <vt:lpstr>Tända en lampa med ett program (översikt)</vt:lpstr>
      <vt:lpstr>PowerPoint Presentation</vt:lpstr>
      <vt:lpstr>Konfigurera pinnar</vt:lpstr>
      <vt:lpstr>Konfigurera pinnar</vt:lpstr>
      <vt:lpstr>Konfigurera pinnar</vt:lpstr>
      <vt:lpstr>Konfigurera pinnar</vt:lpstr>
      <vt:lpstr>Konfigurera pinnar</vt:lpstr>
      <vt:lpstr>Konfigurera pinnar</vt:lpstr>
      <vt:lpstr>Konfigurera pinnar</vt:lpstr>
      <vt:lpstr>Tända LED – Skriva till en pinne</vt:lpstr>
      <vt:lpstr>Tända LED – Skriva till en pinne (snabbare)</vt:lpstr>
      <vt:lpstr>PowerPoint Presentation</vt:lpstr>
      <vt:lpstr>Introduktion till C - Motivering</vt:lpstr>
      <vt:lpstr>Introduktion till C – Enkelt exempel</vt:lpstr>
      <vt:lpstr>Introduktion till C – Enkelt exempel</vt:lpstr>
      <vt:lpstr>Introduktion till C – Enkelt exempel</vt:lpstr>
      <vt:lpstr>Introduktion till C – Enkelt exempel</vt:lpstr>
      <vt:lpstr>Introduktion till C – Enkelt exempel</vt:lpstr>
      <vt:lpstr>Introduktion till C – Enkelt exempel</vt:lpstr>
      <vt:lpstr>Kompilering</vt:lpstr>
      <vt:lpstr>Kompilering –  Preprocessorn</vt:lpstr>
      <vt:lpstr>Kompilering –  Preprocessorn</vt:lpstr>
      <vt:lpstr>Kompilering –  Preprocessorn</vt:lpstr>
      <vt:lpstr>Kompilering –  Kompilatorn</vt:lpstr>
      <vt:lpstr>Kompilering –  Assemblern</vt:lpstr>
      <vt:lpstr>Kompilering –  Länkaren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Erik Sintorn</dc:creator>
  <cp:lastModifiedBy>Erik Sintorn</cp:lastModifiedBy>
  <cp:revision>38</cp:revision>
  <dcterms:created xsi:type="dcterms:W3CDTF">2026-01-14T14:09:03Z</dcterms:created>
  <dcterms:modified xsi:type="dcterms:W3CDTF">2026-01-30T10:55:38Z</dcterms:modified>
</cp:coreProperties>
</file>