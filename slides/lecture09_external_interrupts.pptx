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82" r:id="rId11"/>
    <p:sldId id="265" r:id="rId12"/>
    <p:sldId id="266" r:id="rId13"/>
    <p:sldId id="267" r:id="rId14"/>
    <p:sldId id="268" r:id="rId15"/>
    <p:sldId id="283" r:id="rId16"/>
    <p:sldId id="269" r:id="rId17"/>
    <p:sldId id="270" r:id="rId18"/>
    <p:sldId id="271" r:id="rId19"/>
    <p:sldId id="284" r:id="rId20"/>
    <p:sldId id="272" r:id="rId21"/>
    <p:sldId id="273" r:id="rId22"/>
    <p:sldId id="274" r:id="rId23"/>
    <p:sldId id="275" r:id="rId24"/>
    <p:sldId id="285" r:id="rId25"/>
    <p:sldId id="276" r:id="rId26"/>
    <p:sldId id="277" r:id="rId27"/>
    <p:sldId id="278" r:id="rId28"/>
    <p:sldId id="279" r:id="rId29"/>
    <p:sldId id="280" r:id="rId30"/>
    <p:sldId id="281" r:id="rId31"/>
  </p:sldIdLst>
  <p:sldSz cx="12192000" cy="6858000"/>
  <p:notesSz cx="6794500" cy="9906000"/>
  <p:defaultText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4E61B486-9643-4A02-8A51-D34E00CDE215}">
          <p14:sldIdLst>
            <p14:sldId id="256"/>
            <p14:sldId id="257"/>
            <p14:sldId id="258"/>
            <p14:sldId id="259"/>
            <p14:sldId id="260"/>
            <p14:sldId id="261"/>
            <p14:sldId id="262"/>
            <p14:sldId id="263"/>
            <p14:sldId id="264"/>
            <p14:sldId id="282"/>
            <p14:sldId id="265"/>
            <p14:sldId id="266"/>
            <p14:sldId id="267"/>
            <p14:sldId id="268"/>
            <p14:sldId id="283"/>
            <p14:sldId id="269"/>
            <p14:sldId id="270"/>
            <p14:sldId id="271"/>
            <p14:sldId id="284"/>
            <p14:sldId id="272"/>
            <p14:sldId id="273"/>
            <p14:sldId id="274"/>
            <p14:sldId id="275"/>
            <p14:sldId id="285"/>
            <p14:sldId id="276"/>
            <p14:sldId id="277"/>
            <p14:sldId id="278"/>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473" autoAdjust="0"/>
    <p:restoredTop sz="83595" autoAdjust="0"/>
  </p:normalViewPr>
  <p:slideViewPr>
    <p:cSldViewPr snapToGrid="0">
      <p:cViewPr>
        <p:scale>
          <a:sx n="125" d="100"/>
          <a:sy n="125" d="100"/>
        </p:scale>
        <p:origin x="1068" y="678"/>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4283" cy="497020"/>
          </a:xfrm>
          <a:prstGeom prst="rect">
            <a:avLst/>
          </a:prstGeom>
        </p:spPr>
        <p:txBody>
          <a:bodyPr vert="horz" lIns="91440" tIns="45720" rIns="91440" bIns="45720" rtlCol="0"/>
          <a:lstStyle>
            <a:lvl1pPr algn="l">
              <a:defRPr sz="1200"/>
            </a:lvl1pPr>
          </a:lstStyle>
          <a:p>
            <a:endParaRPr lang="LID4096"/>
          </a:p>
        </p:txBody>
      </p:sp>
      <p:sp>
        <p:nvSpPr>
          <p:cNvPr id="3" name="Date Placeholder 2"/>
          <p:cNvSpPr>
            <a:spLocks noGrp="1"/>
          </p:cNvSpPr>
          <p:nvPr>
            <p:ph type="dt" idx="1"/>
          </p:nvPr>
        </p:nvSpPr>
        <p:spPr>
          <a:xfrm>
            <a:off x="3848645" y="0"/>
            <a:ext cx="2944283" cy="497020"/>
          </a:xfrm>
          <a:prstGeom prst="rect">
            <a:avLst/>
          </a:prstGeom>
        </p:spPr>
        <p:txBody>
          <a:bodyPr vert="horz" lIns="91440" tIns="45720" rIns="91440" bIns="45720" rtlCol="0"/>
          <a:lstStyle>
            <a:lvl1pPr algn="r">
              <a:defRPr sz="1200"/>
            </a:lvl1pPr>
          </a:lstStyle>
          <a:p>
            <a:fld id="{55C9657E-FDB3-4206-AA4E-9AE2AAB0A71C}" type="datetimeFigureOut">
              <a:rPr lang="LID4096" smtClean="0"/>
              <a:t>02/24/2026</a:t>
            </a:fld>
            <a:endParaRPr lang="LID4096"/>
          </a:p>
        </p:txBody>
      </p:sp>
      <p:sp>
        <p:nvSpPr>
          <p:cNvPr id="4" name="Slide Image Placeholder 3"/>
          <p:cNvSpPr>
            <a:spLocks noGrp="1" noRot="1" noChangeAspect="1"/>
          </p:cNvSpPr>
          <p:nvPr>
            <p:ph type="sldImg" idx="2"/>
          </p:nvPr>
        </p:nvSpPr>
        <p:spPr>
          <a:xfrm>
            <a:off x="425450" y="1238250"/>
            <a:ext cx="5943600" cy="3343275"/>
          </a:xfrm>
          <a:prstGeom prst="rect">
            <a:avLst/>
          </a:prstGeom>
          <a:noFill/>
          <a:ln w="12700">
            <a:solidFill>
              <a:prstClr val="black"/>
            </a:solidFill>
          </a:ln>
        </p:spPr>
        <p:txBody>
          <a:bodyPr vert="horz" lIns="91440" tIns="45720" rIns="91440" bIns="45720" rtlCol="0" anchor="ctr"/>
          <a:lstStyle/>
          <a:p>
            <a:endParaRPr lang="LID4096"/>
          </a:p>
        </p:txBody>
      </p:sp>
      <p:sp>
        <p:nvSpPr>
          <p:cNvPr id="5" name="Notes Placeholder 4"/>
          <p:cNvSpPr>
            <a:spLocks noGrp="1"/>
          </p:cNvSpPr>
          <p:nvPr>
            <p:ph type="body" sz="quarter" idx="3"/>
          </p:nvPr>
        </p:nvSpPr>
        <p:spPr>
          <a:xfrm>
            <a:off x="679450" y="4767262"/>
            <a:ext cx="5435600" cy="390048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6" name="Footer Placeholder 5"/>
          <p:cNvSpPr>
            <a:spLocks noGrp="1"/>
          </p:cNvSpPr>
          <p:nvPr>
            <p:ph type="ftr" sz="quarter" idx="4"/>
          </p:nvPr>
        </p:nvSpPr>
        <p:spPr>
          <a:xfrm>
            <a:off x="0" y="9408981"/>
            <a:ext cx="2944283" cy="497019"/>
          </a:xfrm>
          <a:prstGeom prst="rect">
            <a:avLst/>
          </a:prstGeom>
        </p:spPr>
        <p:txBody>
          <a:bodyPr vert="horz" lIns="91440" tIns="45720" rIns="91440" bIns="45720" rtlCol="0" anchor="b"/>
          <a:lstStyle>
            <a:lvl1pPr algn="l">
              <a:defRPr sz="1200"/>
            </a:lvl1pPr>
          </a:lstStyle>
          <a:p>
            <a:endParaRPr lang="LID4096"/>
          </a:p>
        </p:txBody>
      </p:sp>
      <p:sp>
        <p:nvSpPr>
          <p:cNvPr id="7" name="Slide Number Placeholder 6"/>
          <p:cNvSpPr>
            <a:spLocks noGrp="1"/>
          </p:cNvSpPr>
          <p:nvPr>
            <p:ph type="sldNum" sz="quarter" idx="5"/>
          </p:nvPr>
        </p:nvSpPr>
        <p:spPr>
          <a:xfrm>
            <a:off x="3848645" y="9408981"/>
            <a:ext cx="2944283" cy="497019"/>
          </a:xfrm>
          <a:prstGeom prst="rect">
            <a:avLst/>
          </a:prstGeom>
        </p:spPr>
        <p:txBody>
          <a:bodyPr vert="horz" lIns="91440" tIns="45720" rIns="91440" bIns="45720" rtlCol="0" anchor="b"/>
          <a:lstStyle>
            <a:lvl1pPr algn="r">
              <a:defRPr sz="1200"/>
            </a:lvl1pPr>
          </a:lstStyle>
          <a:p>
            <a:fld id="{01B4E41B-EE32-43AA-BF26-21D12108C66F}" type="slidenum">
              <a:rPr lang="LID4096" smtClean="0"/>
              <a:t>‹#›</a:t>
            </a:fld>
            <a:endParaRPr lang="LID4096"/>
          </a:p>
        </p:txBody>
      </p:sp>
    </p:spTree>
    <p:extLst>
      <p:ext uri="{BB962C8B-B14F-4D97-AF65-F5344CB8AC3E}">
        <p14:creationId xmlns:p14="http://schemas.microsoft.com/office/powerpoint/2010/main" val="23401497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i="0"/>
              <a:t>Nu när ni fått några dagar att smälta grundläggande interrupts (vi fick maskinen att avbryta vårat program när systick räknat ner till 0)</a:t>
            </a:r>
          </a:p>
          <a:p>
            <a:r>
              <a:rPr lang="sv-SE" i="0"/>
              <a:t>så skall vi gå vidare och lära oss hur man hanterar många interruptkällor på samma gång, och hur man kan hantera interrupts från GPIO pinnarna. </a:t>
            </a:r>
          </a:p>
          <a:p>
            <a:endParaRPr lang="sv-SE" i="0"/>
          </a:p>
          <a:p>
            <a:r>
              <a:rPr lang="sv-SE" i="0"/>
              <a:t>Vi har en del att gå igenom idag, men detta är sista lektionen med saker som dom skall förstå så väl att dom faktiskt kan programmera dem. </a:t>
            </a:r>
          </a:p>
          <a:p>
            <a:endParaRPr lang="sv-SE" i="0"/>
          </a:p>
          <a:p>
            <a:endParaRPr lang="sv-SE" i="0"/>
          </a:p>
          <a:p>
            <a:endParaRPr lang="LID4096" i="0" dirty="0"/>
          </a:p>
        </p:txBody>
      </p:sp>
      <p:sp>
        <p:nvSpPr>
          <p:cNvPr id="4" name="Slide Number Placeholder 3"/>
          <p:cNvSpPr>
            <a:spLocks noGrp="1"/>
          </p:cNvSpPr>
          <p:nvPr>
            <p:ph type="sldNum" sz="quarter" idx="5"/>
          </p:nvPr>
        </p:nvSpPr>
        <p:spPr/>
        <p:txBody>
          <a:bodyPr/>
          <a:lstStyle/>
          <a:p>
            <a:fld id="{01B4E41B-EE32-43AA-BF26-21D12108C66F}" type="slidenum">
              <a:rPr lang="LID4096" smtClean="0"/>
              <a:t>1</a:t>
            </a:fld>
            <a:endParaRPr lang="LID4096"/>
          </a:p>
        </p:txBody>
      </p:sp>
    </p:spTree>
    <p:extLst>
      <p:ext uri="{BB962C8B-B14F-4D97-AF65-F5344CB8AC3E}">
        <p14:creationId xmlns:p14="http://schemas.microsoft.com/office/powerpoint/2010/main" val="40193726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Alla interrupts f</a:t>
            </a:r>
            <a:r>
              <a:rPr lang="sv-SE" dirty="0"/>
              <a:t>rån alla möjliga källor går igenom </a:t>
            </a:r>
            <a:r>
              <a:rPr lang="sv-SE" dirty="0" err="1"/>
              <a:t>PFICen</a:t>
            </a:r>
            <a:endParaRPr lang="sv-SE" dirty="0"/>
          </a:p>
          <a:p>
            <a:endParaRPr lang="sv-SE" dirty="0"/>
          </a:p>
          <a:p>
            <a:r>
              <a:rPr lang="sv-SE" dirty="0"/>
              <a:t>Varje möjligt </a:t>
            </a:r>
            <a:r>
              <a:rPr lang="sv-SE" dirty="0" err="1"/>
              <a:t>interrupt</a:t>
            </a:r>
            <a:r>
              <a:rPr lang="sv-SE" dirty="0"/>
              <a:t> har ett eget hårdkodat nummer IRQ som vi hittar i </a:t>
            </a:r>
            <a:r>
              <a:rPr lang="sv-SE" dirty="0" err="1"/>
              <a:t>vector</a:t>
            </a:r>
            <a:r>
              <a:rPr lang="sv-SE" dirty="0"/>
              <a:t> tabellen</a:t>
            </a:r>
          </a:p>
          <a:p>
            <a:endParaRPr lang="sv-SE" dirty="0"/>
          </a:p>
          <a:p>
            <a:r>
              <a:rPr lang="sv-SE" dirty="0"/>
              <a:t>Vi har hittills konfigurerat </a:t>
            </a:r>
            <a:r>
              <a:rPr lang="sv-SE" dirty="0" err="1"/>
              <a:t>PFICen</a:t>
            </a:r>
            <a:r>
              <a:rPr lang="sv-SE" dirty="0"/>
              <a:t> bara genom att </a:t>
            </a:r>
            <a:r>
              <a:rPr lang="sv-SE" dirty="0" err="1"/>
              <a:t>enabla</a:t>
            </a:r>
            <a:r>
              <a:rPr lang="sv-SE" dirty="0"/>
              <a:t> ett visst </a:t>
            </a:r>
            <a:r>
              <a:rPr lang="sv-SE" dirty="0" err="1"/>
              <a:t>interrupt</a:t>
            </a:r>
            <a:r>
              <a:rPr lang="sv-SE" dirty="0"/>
              <a:t> i IENR registret &lt;</a:t>
            </a:r>
            <a:r>
              <a:rPr lang="sv-SE" dirty="0" err="1"/>
              <a:t>click</a:t>
            </a:r>
            <a:r>
              <a:rPr lang="sv-SE" dirty="0"/>
              <a:t>&gt;. </a:t>
            </a:r>
          </a:p>
          <a:p>
            <a:endParaRPr lang="sv-SE" dirty="0"/>
          </a:p>
          <a:p>
            <a:r>
              <a:rPr lang="sv-SE" dirty="0"/>
              <a:t>Idag kommer vi lära oss lite mer om några av dessa register. </a:t>
            </a:r>
            <a:endParaRPr lang="LID4096" dirty="0"/>
          </a:p>
        </p:txBody>
      </p:sp>
      <p:sp>
        <p:nvSpPr>
          <p:cNvPr id="4" name="Slide Number Placeholder 3"/>
          <p:cNvSpPr>
            <a:spLocks noGrp="1"/>
          </p:cNvSpPr>
          <p:nvPr>
            <p:ph type="sldNum" sz="quarter" idx="5"/>
          </p:nvPr>
        </p:nvSpPr>
        <p:spPr/>
        <p:txBody>
          <a:bodyPr/>
          <a:lstStyle/>
          <a:p>
            <a:fld id="{01B4E41B-EE32-43AA-BF26-21D12108C66F}" type="slidenum">
              <a:rPr lang="LID4096" smtClean="0"/>
              <a:t>2</a:t>
            </a:fld>
            <a:endParaRPr lang="LID4096"/>
          </a:p>
        </p:txBody>
      </p:sp>
    </p:spTree>
    <p:extLst>
      <p:ext uri="{BB962C8B-B14F-4D97-AF65-F5344CB8AC3E}">
        <p14:creationId xmlns:p14="http://schemas.microsoft.com/office/powerpoint/2010/main" val="38181011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Går att lösa, om man programmerar om systick varje gång man får ett interrupt, </a:t>
            </a:r>
          </a:p>
          <a:p>
            <a:r>
              <a:rPr lang="sv-SE"/>
              <a:t>Men mycket enklare att använda tre olika timers? </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3</a:t>
            </a:fld>
            <a:endParaRPr lang="LID4096"/>
          </a:p>
        </p:txBody>
      </p:sp>
    </p:spTree>
    <p:extLst>
      <p:ext uri="{BB962C8B-B14F-4D97-AF65-F5344CB8AC3E}">
        <p14:creationId xmlns:p14="http://schemas.microsoft.com/office/powerpoint/2010/main" val="23676563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
            </a:r>
            <a:r>
              <a:rPr lang="sv-SE" dirty="0"/>
              <a:t>å igenom. Jämför med </a:t>
            </a:r>
            <a:r>
              <a:rPr lang="sv-SE" dirty="0" err="1"/>
              <a:t>systick</a:t>
            </a:r>
            <a:r>
              <a:rPr lang="sv-SE" dirty="0"/>
              <a:t>.</a:t>
            </a:r>
          </a:p>
          <a:p>
            <a:endParaRPr lang="sv-SE" dirty="0"/>
          </a:p>
          <a:p>
            <a:r>
              <a:rPr lang="sv-SE" dirty="0"/>
              <a:t>Kan räkna väldigt kort. Därför finns </a:t>
            </a:r>
            <a:r>
              <a:rPr lang="sv-SE" dirty="0" err="1"/>
              <a:t>prescalern</a:t>
            </a:r>
            <a:r>
              <a:rPr lang="sv-SE" dirty="0"/>
              <a:t>.</a:t>
            </a:r>
            <a:endParaRPr lang="LID4096" dirty="0"/>
          </a:p>
        </p:txBody>
      </p:sp>
      <p:sp>
        <p:nvSpPr>
          <p:cNvPr id="4" name="Slide Number Placeholder 3"/>
          <p:cNvSpPr>
            <a:spLocks noGrp="1"/>
          </p:cNvSpPr>
          <p:nvPr>
            <p:ph type="sldNum" sz="quarter" idx="5"/>
          </p:nvPr>
        </p:nvSpPr>
        <p:spPr/>
        <p:txBody>
          <a:bodyPr/>
          <a:lstStyle/>
          <a:p>
            <a:fld id="{01B4E41B-EE32-43AA-BF26-21D12108C66F}" type="slidenum">
              <a:rPr lang="LID4096" smtClean="0"/>
              <a:t>4</a:t>
            </a:fld>
            <a:endParaRPr lang="LID4096"/>
          </a:p>
        </p:txBody>
      </p:sp>
    </p:spTree>
    <p:extLst>
      <p:ext uri="{BB962C8B-B14F-4D97-AF65-F5344CB8AC3E}">
        <p14:creationId xmlns:p14="http://schemas.microsoft.com/office/powerpoint/2010/main" val="17732672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dirty="0"/>
              <a:t>Gå igenom koden. </a:t>
            </a:r>
          </a:p>
          <a:p>
            <a:endParaRPr lang="sv-SE" dirty="0"/>
          </a:p>
          <a:p>
            <a:r>
              <a:rPr lang="sv-SE" dirty="0"/>
              <a:t>Vi har sagt åt alla timers att skapa ett </a:t>
            </a:r>
            <a:r>
              <a:rPr lang="sv-SE" dirty="0" err="1"/>
              <a:t>interrupt</a:t>
            </a:r>
            <a:r>
              <a:rPr lang="sv-SE" dirty="0"/>
              <a:t> när dom räknat klart, men det betyder bara att det kommer fram ett </a:t>
            </a:r>
            <a:r>
              <a:rPr lang="sv-SE" dirty="0" err="1"/>
              <a:t>interrupt</a:t>
            </a:r>
            <a:r>
              <a:rPr lang="sv-SE" dirty="0"/>
              <a:t> till </a:t>
            </a:r>
            <a:r>
              <a:rPr lang="sv-SE" dirty="0" err="1"/>
              <a:t>PFIC:en</a:t>
            </a:r>
            <a:r>
              <a:rPr lang="sv-SE" dirty="0"/>
              <a:t> (inte att processorn avbryts)</a:t>
            </a:r>
            <a:endParaRPr lang="LID4096" dirty="0"/>
          </a:p>
        </p:txBody>
      </p:sp>
      <p:sp>
        <p:nvSpPr>
          <p:cNvPr id="4" name="Slide Number Placeholder 3"/>
          <p:cNvSpPr>
            <a:spLocks noGrp="1"/>
          </p:cNvSpPr>
          <p:nvPr>
            <p:ph type="sldNum" sz="quarter" idx="5"/>
          </p:nvPr>
        </p:nvSpPr>
        <p:spPr/>
        <p:txBody>
          <a:bodyPr/>
          <a:lstStyle/>
          <a:p>
            <a:fld id="{01B4E41B-EE32-43AA-BF26-21D12108C66F}" type="slidenum">
              <a:rPr lang="LID4096" smtClean="0"/>
              <a:t>6</a:t>
            </a:fld>
            <a:endParaRPr lang="LID4096"/>
          </a:p>
        </p:txBody>
      </p:sp>
    </p:spTree>
    <p:extLst>
      <p:ext uri="{BB962C8B-B14F-4D97-AF65-F5344CB8AC3E}">
        <p14:creationId xmlns:p14="http://schemas.microsoft.com/office/powerpoint/2010/main" val="35205956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Sedan måste vi säga till PFIC:en att dessa interrupts skall vara enablade. </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7</a:t>
            </a:fld>
            <a:endParaRPr lang="LID4096"/>
          </a:p>
        </p:txBody>
      </p:sp>
    </p:spTree>
    <p:extLst>
      <p:ext uri="{BB962C8B-B14F-4D97-AF65-F5344CB8AC3E}">
        <p14:creationId xmlns:p14="http://schemas.microsoft.com/office/powerpoint/2010/main" val="11567422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Förklara mcause</a:t>
            </a:r>
          </a:p>
          <a:p>
            <a:r>
              <a:rPr lang="sv-SE"/>
              <a:t>Förklara koden</a:t>
            </a:r>
          </a:p>
          <a:p>
            <a:r>
              <a:rPr lang="sv-SE"/>
              <a:t>Förklara att vi måste ankowledga interrupten för att kunna få nya. </a:t>
            </a:r>
          </a:p>
          <a:p>
            <a:endParaRPr lang="sv-SE"/>
          </a:p>
          <a:p>
            <a:r>
              <a:rPr lang="sv-SE"/>
              <a:t>Detta funkar, och på dom enklaste RISCV maskinerna är detta allt som behöver finnas. </a:t>
            </a:r>
          </a:p>
          <a:p>
            <a:r>
              <a:rPr lang="sv-SE"/>
              <a:t>Men när allt vi behöver göra är att flippa en bit så är detta ganska ineffektivt. </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9</a:t>
            </a:fld>
            <a:endParaRPr lang="LID4096"/>
          </a:p>
        </p:txBody>
      </p:sp>
    </p:spTree>
    <p:extLst>
      <p:ext uri="{BB962C8B-B14F-4D97-AF65-F5344CB8AC3E}">
        <p14:creationId xmlns:p14="http://schemas.microsoft.com/office/powerpoint/2010/main" val="13312234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En riscv processor kan hantera avbrott på olika sätt beroende på hur den är konfigurerad. </a:t>
            </a:r>
          </a:p>
          <a:p>
            <a:r>
              <a:rPr lang="sv-SE"/>
              <a:t>Vilket mode vi skall ha ställs in med dom två nedersta bitarna i mtvec. </a:t>
            </a:r>
          </a:p>
          <a:p>
            <a:r>
              <a:rPr lang="sv-SE"/>
              <a:t>Hittills har vi bara använt mode 0. </a:t>
            </a:r>
          </a:p>
          <a:p>
            <a:r>
              <a:rPr lang="en-GB"/>
              <a:t>&lt;click&gt;</a:t>
            </a:r>
            <a:endParaRPr lang="sv-SE"/>
          </a:p>
          <a:p>
            <a:r>
              <a:rPr lang="sv-SE"/>
              <a:t>Repetera vad mode 0 är. </a:t>
            </a:r>
          </a:p>
          <a:p>
            <a:endParaRPr lang="sv-SE"/>
          </a:p>
          <a:p>
            <a:r>
              <a:rPr lang="sv-SE"/>
              <a:t>men... vi har ju aldrig ändrat dom nedersta två bitarna? Hur har vi kommit undan med detta? </a:t>
            </a:r>
          </a:p>
          <a:p>
            <a:endParaRPr lang="sv-SE"/>
          </a:p>
          <a:p>
            <a:r>
              <a:rPr lang="sv-SE"/>
              <a:t>Idag skall vi lära oss hur man använder vectored mode. </a:t>
            </a:r>
          </a:p>
          <a:p>
            <a:r>
              <a:rPr lang="sv-SE"/>
              <a:t>För att välja detta skriver vi alltså addressen till mtvec, och sedan sätter vi de nedersta två bitarna till 01.</a:t>
            </a:r>
          </a:p>
          <a:p>
            <a:endParaRPr lang="sv-SE"/>
          </a:p>
          <a:p>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11</a:t>
            </a:fld>
            <a:endParaRPr lang="LID4096"/>
          </a:p>
        </p:txBody>
      </p:sp>
    </p:spTree>
    <p:extLst>
      <p:ext uri="{BB962C8B-B14F-4D97-AF65-F5344CB8AC3E}">
        <p14:creationId xmlns:p14="http://schemas.microsoft.com/office/powerpoint/2010/main" val="28663133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Då fungerar det istället så här. </a:t>
            </a:r>
          </a:p>
          <a:p>
            <a:r>
              <a:rPr lang="sv-SE"/>
              <a:t>mcause pekar alltså nu istället på en lång lista med jump instruktioner.</a:t>
            </a:r>
          </a:p>
          <a:p>
            <a:r>
              <a:rPr lang="sv-SE"/>
              <a:t>Utan att vi behöver göra något speciellt alls så hoppar alltså processorn till den interrupthanterare vi vill. </a:t>
            </a:r>
          </a:p>
          <a:p>
            <a:r>
              <a:rPr lang="sv-SE"/>
              <a:t>Hur får vi en sådan här lista med jump instruktioner någonstans i minnet då? </a:t>
            </a:r>
          </a:p>
          <a:p>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12</a:t>
            </a:fld>
            <a:endParaRPr lang="LID4096"/>
          </a:p>
        </p:txBody>
      </p:sp>
    </p:spTree>
    <p:extLst>
      <p:ext uri="{BB962C8B-B14F-4D97-AF65-F5344CB8AC3E}">
        <p14:creationId xmlns:p14="http://schemas.microsoft.com/office/powerpoint/2010/main" val="34550859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Enklast (och vanligast) är att vi låter kompilatorn ta hand om det. </a:t>
            </a:r>
          </a:p>
          <a:p>
            <a:r>
              <a:rPr lang="sv-SE"/>
              <a:t>Vi skapar en assembler fil, och skapar våran lista med jump instruktioner på det här viset. </a:t>
            </a:r>
          </a:p>
          <a:p>
            <a:endParaRPr lang="sv-SE"/>
          </a:p>
          <a:p>
            <a:r>
              <a:rPr lang="sv-SE"/>
              <a:t>Gå igenom vad koden gör:</a:t>
            </a:r>
          </a:p>
          <a:p>
            <a:r>
              <a:rPr lang="sv-SE"/>
              <a:t>align</a:t>
            </a:r>
          </a:p>
          <a:p>
            <a:r>
              <a:rPr lang="sv-SE"/>
              <a:t>org</a:t>
            </a:r>
          </a:p>
          <a:p>
            <a:endParaRPr lang="sv-SE"/>
          </a:p>
          <a:p>
            <a:r>
              <a:rPr lang="sv-SE"/>
              <a:t>Påpeka igen att när ett timer6 interrupt kommer så hoppar processorn direkt </a:t>
            </a:r>
            <a:r>
              <a:rPr lang="sv-SE" i="1"/>
              <a:t>hit</a:t>
            </a:r>
            <a:r>
              <a:rPr lang="sv-SE" i="0"/>
              <a:t> vilket i sin tur gör att det hoppas till interrupt handlern. </a:t>
            </a:r>
          </a:p>
          <a:p>
            <a:r>
              <a:rPr lang="en-GB" i="0"/>
              <a:t>&lt;click&gt;</a:t>
            </a:r>
          </a:p>
          <a:p>
            <a:r>
              <a:rPr lang="en-GB" i="0"/>
              <a:t>F</a:t>
            </a:r>
            <a:r>
              <a:rPr lang="sv-SE" i="0"/>
              <a:t>ör att skriva sätt värde till mtvec så använder vi antingen inline asm, eller så skriver vi en liten funktion på det här viset. </a:t>
            </a:r>
          </a:p>
          <a:p>
            <a:endParaRPr lang="sv-SE" i="0"/>
          </a:p>
          <a:p>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13</a:t>
            </a:fld>
            <a:endParaRPr lang="LID4096"/>
          </a:p>
        </p:txBody>
      </p:sp>
    </p:spTree>
    <p:extLst>
      <p:ext uri="{BB962C8B-B14F-4D97-AF65-F5344CB8AC3E}">
        <p14:creationId xmlns:p14="http://schemas.microsoft.com/office/powerpoint/2010/main" val="30455792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Om jag har tid över här så skulle jag kunna gå igenom ett färdigskrivet program som blinkar de tre lamporna. </a:t>
            </a:r>
          </a:p>
          <a:p>
            <a:r>
              <a:rPr lang="sv-SE"/>
              <a:t>Annars pekar jag bara på den här koden. </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14</a:t>
            </a:fld>
            <a:endParaRPr lang="LID4096"/>
          </a:p>
        </p:txBody>
      </p:sp>
    </p:spTree>
    <p:extLst>
      <p:ext uri="{BB962C8B-B14F-4D97-AF65-F5344CB8AC3E}">
        <p14:creationId xmlns:p14="http://schemas.microsoft.com/office/powerpoint/2010/main" val="39673490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 </a:t>
            </a:r>
            <a:r>
              <a:rPr lang="en-US" dirty="0" err="1"/>
              <a:t>kommer</a:t>
            </a:r>
            <a:r>
              <a:rPr lang="en-US" dirty="0"/>
              <a:t> </a:t>
            </a:r>
            <a:r>
              <a:rPr lang="en-US" dirty="0" err="1"/>
              <a:t>inte</a:t>
            </a:r>
            <a:r>
              <a:rPr lang="en-US" dirty="0"/>
              <a:t> </a:t>
            </a:r>
            <a:r>
              <a:rPr lang="en-US" dirty="0" err="1"/>
              <a:t>att</a:t>
            </a:r>
            <a:r>
              <a:rPr lang="en-US" dirty="0"/>
              <a:t> prata </a:t>
            </a:r>
            <a:r>
              <a:rPr lang="en-US" dirty="0" err="1"/>
              <a:t>mer</a:t>
            </a:r>
            <a:r>
              <a:rPr lang="en-US" dirty="0"/>
              <a:t> om, </a:t>
            </a:r>
            <a:r>
              <a:rPr lang="en-US" dirty="0" err="1"/>
              <a:t>eller</a:t>
            </a:r>
            <a:r>
              <a:rPr lang="en-US" dirty="0"/>
              <a:t> </a:t>
            </a:r>
            <a:r>
              <a:rPr lang="en-US" dirty="0" err="1"/>
              <a:t>testa</a:t>
            </a:r>
            <a:r>
              <a:rPr lang="en-US" dirty="0"/>
              <a:t> er, p</a:t>
            </a:r>
            <a:r>
              <a:rPr lang="sv-SE" dirty="0"/>
              <a:t>å prioriteter, men ni skall veta att det fungerar. </a:t>
            </a:r>
          </a:p>
          <a:p>
            <a:endParaRPr lang="LID4096" dirty="0"/>
          </a:p>
        </p:txBody>
      </p:sp>
      <p:sp>
        <p:nvSpPr>
          <p:cNvPr id="4" name="Slide Number Placeholder 3"/>
          <p:cNvSpPr>
            <a:spLocks noGrp="1"/>
          </p:cNvSpPr>
          <p:nvPr>
            <p:ph type="sldNum" sz="quarter" idx="5"/>
          </p:nvPr>
        </p:nvSpPr>
        <p:spPr/>
        <p:txBody>
          <a:bodyPr/>
          <a:lstStyle/>
          <a:p>
            <a:fld id="{01B4E41B-EE32-43AA-BF26-21D12108C66F}" type="slidenum">
              <a:rPr lang="LID4096" smtClean="0"/>
              <a:t>18</a:t>
            </a:fld>
            <a:endParaRPr lang="LID4096"/>
          </a:p>
        </p:txBody>
      </p:sp>
    </p:spTree>
    <p:extLst>
      <p:ext uri="{BB962C8B-B14F-4D97-AF65-F5344CB8AC3E}">
        <p14:creationId xmlns:p14="http://schemas.microsoft.com/office/powerpoint/2010/main" val="29382033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dirty="0"/>
              <a:t>Poängen: </a:t>
            </a:r>
          </a:p>
          <a:p>
            <a:r>
              <a:rPr lang="sv-SE" dirty="0"/>
              <a:t>EXTI modulen kollar värdet på pinnar och skickar </a:t>
            </a:r>
            <a:r>
              <a:rPr lang="sv-SE" dirty="0" err="1"/>
              <a:t>interrupt</a:t>
            </a:r>
            <a:r>
              <a:rPr lang="sv-SE" dirty="0"/>
              <a:t> vidare till </a:t>
            </a:r>
            <a:r>
              <a:rPr lang="sv-SE" dirty="0" err="1"/>
              <a:t>pficen</a:t>
            </a:r>
            <a:r>
              <a:rPr lang="sv-SE" dirty="0"/>
              <a:t> om den så ombedes.</a:t>
            </a:r>
            <a:endParaRPr lang="LID4096" dirty="0"/>
          </a:p>
        </p:txBody>
      </p:sp>
      <p:sp>
        <p:nvSpPr>
          <p:cNvPr id="4" name="Slide Number Placeholder 3"/>
          <p:cNvSpPr>
            <a:spLocks noGrp="1"/>
          </p:cNvSpPr>
          <p:nvPr>
            <p:ph type="sldNum" sz="quarter" idx="5"/>
          </p:nvPr>
        </p:nvSpPr>
        <p:spPr/>
        <p:txBody>
          <a:bodyPr/>
          <a:lstStyle/>
          <a:p>
            <a:fld id="{01B4E41B-EE32-43AA-BF26-21D12108C66F}" type="slidenum">
              <a:rPr lang="LID4096" smtClean="0"/>
              <a:t>20</a:t>
            </a:fld>
            <a:endParaRPr lang="LID4096"/>
          </a:p>
        </p:txBody>
      </p:sp>
    </p:spTree>
    <p:extLst>
      <p:ext uri="{BB962C8B-B14F-4D97-AF65-F5344CB8AC3E}">
        <p14:creationId xmlns:p14="http://schemas.microsoft.com/office/powerpoint/2010/main" val="87734549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dirty="0"/>
              <a:t>Så nu skall vi lära oss hur den här kedjan fungerar. </a:t>
            </a:r>
          </a:p>
          <a:p>
            <a:r>
              <a:rPr lang="sv-SE" dirty="0"/>
              <a:t>EXTI enheten har 16 ingångar (en </a:t>
            </a:r>
            <a:r>
              <a:rPr lang="sv-SE" dirty="0" err="1"/>
              <a:t>en</a:t>
            </a:r>
            <a:r>
              <a:rPr lang="sv-SE" dirty="0"/>
              <a:t> för pinne 0, en för pinne 1, en för pinne 2, o.s.v.)</a:t>
            </a:r>
          </a:p>
          <a:p>
            <a:r>
              <a:rPr lang="sv-SE" dirty="0"/>
              <a:t>På något sätt måste vi alltså välja vilken av portarna som skall få </a:t>
            </a:r>
            <a:r>
              <a:rPr lang="sv-SE"/>
              <a:t>skicka vid</a:t>
            </a:r>
            <a:endParaRPr lang="sv-SE" dirty="0"/>
          </a:p>
          <a:p>
            <a:endParaRPr lang="LID4096" dirty="0"/>
          </a:p>
        </p:txBody>
      </p:sp>
      <p:sp>
        <p:nvSpPr>
          <p:cNvPr id="4" name="Slide Number Placeholder 3"/>
          <p:cNvSpPr>
            <a:spLocks noGrp="1"/>
          </p:cNvSpPr>
          <p:nvPr>
            <p:ph type="sldNum" sz="quarter" idx="5"/>
          </p:nvPr>
        </p:nvSpPr>
        <p:spPr/>
        <p:txBody>
          <a:bodyPr/>
          <a:lstStyle/>
          <a:p>
            <a:fld id="{01B4E41B-EE32-43AA-BF26-21D12108C66F}" type="slidenum">
              <a:rPr lang="LID4096" smtClean="0"/>
              <a:t>21</a:t>
            </a:fld>
            <a:endParaRPr lang="LID4096"/>
          </a:p>
        </p:txBody>
      </p:sp>
    </p:spTree>
    <p:extLst>
      <p:ext uri="{BB962C8B-B14F-4D97-AF65-F5344CB8AC3E}">
        <p14:creationId xmlns:p14="http://schemas.microsoft.com/office/powerpoint/2010/main" val="262925749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dirty="0"/>
              <a:t>Detta gör vi med EXTICR registren i AFIO blocket. </a:t>
            </a:r>
          </a:p>
          <a:p>
            <a:r>
              <a:rPr lang="sv-SE" dirty="0"/>
              <a:t>Förklara, och </a:t>
            </a:r>
          </a:p>
          <a:p>
            <a:r>
              <a:rPr lang="en-US" dirty="0"/>
              <a:t>&lt;click&gt;</a:t>
            </a:r>
          </a:p>
          <a:p>
            <a:r>
              <a:rPr lang="sv-SE" dirty="0"/>
              <a:t>I kod skulle det se ut så här: </a:t>
            </a:r>
          </a:p>
          <a:p>
            <a:r>
              <a:rPr lang="en-US" dirty="0"/>
              <a:t>&lt;click&gt;</a:t>
            </a:r>
            <a:endParaRPr lang="LID4096" dirty="0"/>
          </a:p>
        </p:txBody>
      </p:sp>
      <p:sp>
        <p:nvSpPr>
          <p:cNvPr id="4" name="Slide Number Placeholder 3"/>
          <p:cNvSpPr>
            <a:spLocks noGrp="1"/>
          </p:cNvSpPr>
          <p:nvPr>
            <p:ph type="sldNum" sz="quarter" idx="5"/>
          </p:nvPr>
        </p:nvSpPr>
        <p:spPr/>
        <p:txBody>
          <a:bodyPr/>
          <a:lstStyle/>
          <a:p>
            <a:fld id="{01B4E41B-EE32-43AA-BF26-21D12108C66F}" type="slidenum">
              <a:rPr lang="LID4096" smtClean="0"/>
              <a:t>22</a:t>
            </a:fld>
            <a:endParaRPr lang="LID4096"/>
          </a:p>
        </p:txBody>
      </p:sp>
    </p:spTree>
    <p:extLst>
      <p:ext uri="{BB962C8B-B14F-4D97-AF65-F5344CB8AC3E}">
        <p14:creationId xmlns:p14="http://schemas.microsoft.com/office/powerpoint/2010/main" val="6383878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Om vi </a:t>
            </a:r>
            <a:r>
              <a:rPr lang="en-US" dirty="0" err="1"/>
              <a:t>ville</a:t>
            </a:r>
            <a:r>
              <a:rPr lang="en-US" dirty="0"/>
              <a:t> </a:t>
            </a:r>
            <a:r>
              <a:rPr lang="sv-SE" dirty="0"/>
              <a:t>läsa av ett </a:t>
            </a:r>
            <a:r>
              <a:rPr lang="sv-SE" dirty="0" err="1"/>
              <a:t>interrupt</a:t>
            </a:r>
            <a:r>
              <a:rPr lang="sv-SE" dirty="0"/>
              <a:t> från pinne 0 på någon port skulle vi istället konfigurera EXTI0, och så vidare. </a:t>
            </a:r>
          </a:p>
          <a:p>
            <a:endParaRPr lang="sv-SE" dirty="0"/>
          </a:p>
          <a:p>
            <a:r>
              <a:rPr lang="sv-SE" dirty="0"/>
              <a:t>När vi är klara med </a:t>
            </a:r>
            <a:r>
              <a:rPr lang="sv-SE" dirty="0" err="1"/>
              <a:t>routingen</a:t>
            </a:r>
            <a:r>
              <a:rPr lang="sv-SE" dirty="0"/>
              <a:t> kommer alltså pinnens värde in i EXTI blocket. </a:t>
            </a:r>
          </a:p>
          <a:p>
            <a:r>
              <a:rPr lang="sv-SE" dirty="0"/>
              <a:t>Det är </a:t>
            </a:r>
            <a:r>
              <a:rPr lang="sv-SE" i="1" dirty="0"/>
              <a:t>där</a:t>
            </a:r>
            <a:r>
              <a:rPr lang="sv-SE" dirty="0"/>
              <a:t> vi måste konfigurera när vi faktiskt vill att den skall skapa ett </a:t>
            </a:r>
            <a:r>
              <a:rPr lang="sv-SE" dirty="0" err="1"/>
              <a:t>interrupt</a:t>
            </a:r>
            <a:r>
              <a:rPr lang="sv-SE" dirty="0"/>
              <a:t>, som går vidare till </a:t>
            </a:r>
            <a:r>
              <a:rPr lang="sv-SE" dirty="0" err="1"/>
              <a:t>PFICen</a:t>
            </a:r>
            <a:r>
              <a:rPr lang="sv-SE" dirty="0"/>
              <a:t>. </a:t>
            </a:r>
          </a:p>
          <a:p>
            <a:endParaRPr lang="LID4096" dirty="0"/>
          </a:p>
        </p:txBody>
      </p:sp>
      <p:sp>
        <p:nvSpPr>
          <p:cNvPr id="4" name="Slide Number Placeholder 3"/>
          <p:cNvSpPr>
            <a:spLocks noGrp="1"/>
          </p:cNvSpPr>
          <p:nvPr>
            <p:ph type="sldNum" sz="quarter" idx="5"/>
          </p:nvPr>
        </p:nvSpPr>
        <p:spPr/>
        <p:txBody>
          <a:bodyPr/>
          <a:lstStyle/>
          <a:p>
            <a:fld id="{01B4E41B-EE32-43AA-BF26-21D12108C66F}" type="slidenum">
              <a:rPr lang="LID4096" smtClean="0"/>
              <a:t>23</a:t>
            </a:fld>
            <a:endParaRPr lang="LID4096"/>
          </a:p>
        </p:txBody>
      </p:sp>
    </p:spTree>
    <p:extLst>
      <p:ext uri="{BB962C8B-B14F-4D97-AF65-F5344CB8AC3E}">
        <p14:creationId xmlns:p14="http://schemas.microsoft.com/office/powerpoint/2010/main" val="414007598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dirty="0"/>
              <a:t>Nu när vi har rätt pinnes signal in till EXTI så skall vi konfigurera den så att den bara skapar ett </a:t>
            </a:r>
            <a:r>
              <a:rPr lang="sv-SE" dirty="0" err="1"/>
              <a:t>interrupt</a:t>
            </a:r>
            <a:r>
              <a:rPr lang="sv-SE" dirty="0"/>
              <a:t> precis när vi vill det. </a:t>
            </a:r>
          </a:p>
          <a:p>
            <a:r>
              <a:rPr lang="sv-SE" dirty="0"/>
              <a:t>Det gör vi genom att konfigurera dessa </a:t>
            </a:r>
            <a:r>
              <a:rPr lang="sv-SE" dirty="0" err="1"/>
              <a:t>registrena</a:t>
            </a:r>
            <a:r>
              <a:rPr lang="sv-SE" dirty="0"/>
              <a:t>. Vi tar dem i ordning.</a:t>
            </a:r>
            <a:endParaRPr lang="LID4096" dirty="0"/>
          </a:p>
        </p:txBody>
      </p:sp>
      <p:sp>
        <p:nvSpPr>
          <p:cNvPr id="4" name="Slide Number Placeholder 3"/>
          <p:cNvSpPr>
            <a:spLocks noGrp="1"/>
          </p:cNvSpPr>
          <p:nvPr>
            <p:ph type="sldNum" sz="quarter" idx="5"/>
          </p:nvPr>
        </p:nvSpPr>
        <p:spPr/>
        <p:txBody>
          <a:bodyPr/>
          <a:lstStyle/>
          <a:p>
            <a:fld id="{01B4E41B-EE32-43AA-BF26-21D12108C66F}" type="slidenum">
              <a:rPr lang="LID4096" smtClean="0"/>
              <a:t>25</a:t>
            </a:fld>
            <a:endParaRPr lang="LID4096"/>
          </a:p>
        </p:txBody>
      </p:sp>
    </p:spTree>
    <p:extLst>
      <p:ext uri="{BB962C8B-B14F-4D97-AF65-F5344CB8AC3E}">
        <p14:creationId xmlns:p14="http://schemas.microsoft.com/office/powerpoint/2010/main" val="314905699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B0F94-FA4D-9A95-F209-070D9FF21C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014C5D-A39E-FE3F-3905-28ED220D86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4595AA-B156-52AF-7AF0-4060DC1D77BE}"/>
              </a:ext>
            </a:extLst>
          </p:cNvPr>
          <p:cNvSpPr>
            <a:spLocks noGrp="1"/>
          </p:cNvSpPr>
          <p:nvPr>
            <p:ph type="body" idx="1"/>
          </p:nvPr>
        </p:nvSpPr>
        <p:spPr/>
        <p:txBody>
          <a:bodyPr/>
          <a:lstStyle/>
          <a:p>
            <a:r>
              <a:rPr lang="sv-SE" dirty="0"/>
              <a:t>Först har vi en </a:t>
            </a:r>
            <a:r>
              <a:rPr lang="sv-SE" dirty="0" err="1"/>
              <a:t>edge</a:t>
            </a:r>
            <a:r>
              <a:rPr lang="sv-SE" dirty="0"/>
              <a:t> detektion </a:t>
            </a:r>
            <a:r>
              <a:rPr lang="sv-SE" dirty="0" err="1"/>
              <a:t>curcuit</a:t>
            </a:r>
            <a:r>
              <a:rPr lang="sv-SE" dirty="0"/>
              <a:t>. Vi vill ju bara ha </a:t>
            </a:r>
            <a:r>
              <a:rPr lang="sv-SE" dirty="0" err="1"/>
              <a:t>interrupts</a:t>
            </a:r>
            <a:r>
              <a:rPr lang="sv-SE" dirty="0"/>
              <a:t> när någonting </a:t>
            </a:r>
            <a:r>
              <a:rPr lang="sv-SE" i="1" dirty="0"/>
              <a:t>händer</a:t>
            </a:r>
            <a:r>
              <a:rPr lang="sv-SE" dirty="0"/>
              <a:t>, d.v.s., när pinnens värde går från </a:t>
            </a:r>
          </a:p>
          <a:p>
            <a:pPr marL="171450" indent="-171450">
              <a:buFontTx/>
              <a:buChar char="-"/>
            </a:pPr>
            <a:r>
              <a:rPr lang="sv-SE" dirty="0"/>
              <a:t>noll till ett (</a:t>
            </a:r>
            <a:r>
              <a:rPr lang="sv-SE" dirty="0" err="1"/>
              <a:t>rising</a:t>
            </a:r>
            <a:r>
              <a:rPr lang="sv-SE" dirty="0"/>
              <a:t> trigger)</a:t>
            </a:r>
          </a:p>
          <a:p>
            <a:pPr marL="171450" indent="-171450">
              <a:buFontTx/>
              <a:buChar char="-"/>
            </a:pPr>
            <a:r>
              <a:rPr lang="sv-SE" dirty="0"/>
              <a:t>eller ett till noll (</a:t>
            </a:r>
            <a:r>
              <a:rPr lang="sv-SE" dirty="0" err="1"/>
              <a:t>falling</a:t>
            </a:r>
            <a:r>
              <a:rPr lang="sv-SE" dirty="0"/>
              <a:t> trigger)</a:t>
            </a:r>
          </a:p>
          <a:p>
            <a:pPr marL="171450" indent="-171450">
              <a:buFontTx/>
              <a:buChar char="-"/>
            </a:pPr>
            <a:r>
              <a:rPr lang="sv-SE" dirty="0"/>
              <a:t>eller båda två</a:t>
            </a:r>
          </a:p>
          <a:p>
            <a:pPr marL="0" indent="0">
              <a:buFontTx/>
              <a:buNone/>
            </a:pPr>
            <a:endParaRPr lang="sv-SE" dirty="0"/>
          </a:p>
          <a:p>
            <a:pPr marL="0" indent="0">
              <a:buFontTx/>
              <a:buNone/>
            </a:pPr>
            <a:r>
              <a:rPr lang="sv-SE" dirty="0"/>
              <a:t>Vi bestämmer vilken eller vilka events vi vill ha </a:t>
            </a:r>
            <a:r>
              <a:rPr lang="sv-SE" dirty="0" err="1"/>
              <a:t>interrupts</a:t>
            </a:r>
            <a:r>
              <a:rPr lang="sv-SE" dirty="0"/>
              <a:t> på med dessa register. </a:t>
            </a:r>
          </a:p>
          <a:p>
            <a:pPr marL="0" indent="0">
              <a:buFontTx/>
              <a:buNone/>
            </a:pPr>
            <a:r>
              <a:rPr lang="sv-SE" dirty="0"/>
              <a:t>När pinnen sedan byter värde så kommer det en </a:t>
            </a:r>
            <a:r>
              <a:rPr lang="sv-SE" i="1" dirty="0"/>
              <a:t>puls</a:t>
            </a:r>
            <a:r>
              <a:rPr lang="sv-SE" i="0" dirty="0"/>
              <a:t> ur </a:t>
            </a:r>
            <a:r>
              <a:rPr lang="sv-SE" i="0" dirty="0" err="1"/>
              <a:t>edge</a:t>
            </a:r>
            <a:r>
              <a:rPr lang="sv-SE" i="0" dirty="0"/>
              <a:t> </a:t>
            </a:r>
            <a:r>
              <a:rPr lang="sv-SE" i="0" dirty="0" err="1"/>
              <a:t>detection</a:t>
            </a:r>
            <a:r>
              <a:rPr lang="sv-SE" i="0" dirty="0"/>
              <a:t> enheten. Den är alltså alltid 0, förutom en </a:t>
            </a:r>
            <a:r>
              <a:rPr lang="sv-SE" i="0" dirty="0" err="1"/>
              <a:t>jättekort</a:t>
            </a:r>
            <a:r>
              <a:rPr lang="sv-SE" i="0" dirty="0"/>
              <a:t> stund precis när pinnen bytt värde. </a:t>
            </a:r>
          </a:p>
          <a:p>
            <a:pPr marL="0" indent="0">
              <a:buFontTx/>
              <a:buNone/>
            </a:pPr>
            <a:endParaRPr lang="sv-SE" i="0" dirty="0"/>
          </a:p>
          <a:p>
            <a:pPr marL="0" indent="0">
              <a:buFontTx/>
              <a:buNone/>
            </a:pPr>
            <a:r>
              <a:rPr lang="sv-SE" i="0" dirty="0"/>
              <a:t>Vi har en knapp som ger oss en etta när den är nedtryckt. Vad skall vi skriva? </a:t>
            </a:r>
            <a:endParaRPr lang="LID4096" dirty="0"/>
          </a:p>
        </p:txBody>
      </p:sp>
      <p:sp>
        <p:nvSpPr>
          <p:cNvPr id="4" name="Slide Number Placeholder 3">
            <a:extLst>
              <a:ext uri="{FF2B5EF4-FFF2-40B4-BE49-F238E27FC236}">
                <a16:creationId xmlns:a16="http://schemas.microsoft.com/office/drawing/2014/main" id="{00D26380-844F-0B7F-76B4-1A5A7D8F0C5C}"/>
              </a:ext>
            </a:extLst>
          </p:cNvPr>
          <p:cNvSpPr>
            <a:spLocks noGrp="1"/>
          </p:cNvSpPr>
          <p:nvPr>
            <p:ph type="sldNum" sz="quarter" idx="5"/>
          </p:nvPr>
        </p:nvSpPr>
        <p:spPr/>
        <p:txBody>
          <a:bodyPr/>
          <a:lstStyle/>
          <a:p>
            <a:fld id="{01B4E41B-EE32-43AA-BF26-21D12108C66F}" type="slidenum">
              <a:rPr lang="LID4096" smtClean="0"/>
              <a:t>26</a:t>
            </a:fld>
            <a:endParaRPr lang="LID4096"/>
          </a:p>
        </p:txBody>
      </p:sp>
    </p:spTree>
    <p:extLst>
      <p:ext uri="{BB962C8B-B14F-4D97-AF65-F5344CB8AC3E}">
        <p14:creationId xmlns:p14="http://schemas.microsoft.com/office/powerpoint/2010/main" val="238583290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B18A17-12D4-F2FB-24B2-E3ED7183CD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9985B8-F9DE-32A1-B66A-4EE490E25B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F44847-E957-80F7-3293-39E6DA3C4A0C}"/>
              </a:ext>
            </a:extLst>
          </p:cNvPr>
          <p:cNvSpPr>
            <a:spLocks noGrp="1"/>
          </p:cNvSpPr>
          <p:nvPr>
            <p:ph type="body" idx="1"/>
          </p:nvPr>
        </p:nvSpPr>
        <p:spPr/>
        <p:txBody>
          <a:bodyPr/>
          <a:lstStyle/>
          <a:p>
            <a:r>
              <a:rPr lang="sv-SE" dirty="0"/>
              <a:t>Sen kommer ett specialregister. </a:t>
            </a:r>
          </a:p>
          <a:p>
            <a:r>
              <a:rPr lang="sv-SE" dirty="0"/>
              <a:t>Detta kan vi skriva till om vi vill </a:t>
            </a:r>
            <a:r>
              <a:rPr lang="sv-SE" i="1" dirty="0"/>
              <a:t>simulera</a:t>
            </a:r>
            <a:r>
              <a:rPr lang="sv-SE" i="0" dirty="0"/>
              <a:t> att det kommit en puls från pinnen. </a:t>
            </a:r>
          </a:p>
          <a:p>
            <a:r>
              <a:rPr lang="sv-SE" i="0" dirty="0"/>
              <a:t>Notera att detta inte är ett vanligt register, utan när vi skriver en etta till det så smäller det ut en puls, annars är det noll. </a:t>
            </a:r>
          </a:p>
          <a:p>
            <a:endParaRPr lang="LID4096" dirty="0"/>
          </a:p>
        </p:txBody>
      </p:sp>
      <p:sp>
        <p:nvSpPr>
          <p:cNvPr id="4" name="Slide Number Placeholder 3">
            <a:extLst>
              <a:ext uri="{FF2B5EF4-FFF2-40B4-BE49-F238E27FC236}">
                <a16:creationId xmlns:a16="http://schemas.microsoft.com/office/drawing/2014/main" id="{EC1DBDEF-2169-CD15-31AC-AD54FA40A39E}"/>
              </a:ext>
            </a:extLst>
          </p:cNvPr>
          <p:cNvSpPr>
            <a:spLocks noGrp="1"/>
          </p:cNvSpPr>
          <p:nvPr>
            <p:ph type="sldNum" sz="quarter" idx="5"/>
          </p:nvPr>
        </p:nvSpPr>
        <p:spPr/>
        <p:txBody>
          <a:bodyPr/>
          <a:lstStyle/>
          <a:p>
            <a:fld id="{01B4E41B-EE32-43AA-BF26-21D12108C66F}" type="slidenum">
              <a:rPr lang="LID4096" smtClean="0"/>
              <a:t>27</a:t>
            </a:fld>
            <a:endParaRPr lang="LID4096"/>
          </a:p>
        </p:txBody>
      </p:sp>
    </p:spTree>
    <p:extLst>
      <p:ext uri="{BB962C8B-B14F-4D97-AF65-F5344CB8AC3E}">
        <p14:creationId xmlns:p14="http://schemas.microsoft.com/office/powerpoint/2010/main" val="19709180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F764AF-273A-7DA4-774B-9FD2DDED22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D46AFC-050B-F666-6399-DB8D312D92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D2E194-C3CB-7D9E-00E5-326E0989635F}"/>
              </a:ext>
            </a:extLst>
          </p:cNvPr>
          <p:cNvSpPr>
            <a:spLocks noGrp="1"/>
          </p:cNvSpPr>
          <p:nvPr>
            <p:ph type="body" idx="1"/>
          </p:nvPr>
        </p:nvSpPr>
        <p:spPr/>
        <p:txBody>
          <a:bodyPr/>
          <a:lstStyle/>
          <a:p>
            <a:r>
              <a:rPr lang="sv-SE" dirty="0"/>
              <a:t>Sedan </a:t>
            </a:r>
            <a:r>
              <a:rPr lang="sv-SE" dirty="0" err="1"/>
              <a:t>ANDas</a:t>
            </a:r>
            <a:r>
              <a:rPr lang="sv-SE" dirty="0"/>
              <a:t> pulsen med INTENR registret. </a:t>
            </a:r>
          </a:p>
          <a:p>
            <a:r>
              <a:rPr lang="sv-SE" dirty="0"/>
              <a:t>Där kan vi alltså skriva en nolla till en bit för att helt stänga av möjligheten att få ett </a:t>
            </a:r>
            <a:r>
              <a:rPr lang="sv-SE" dirty="0" err="1"/>
              <a:t>interrupt</a:t>
            </a:r>
            <a:r>
              <a:rPr lang="sv-SE" dirty="0"/>
              <a:t> från motsvarande pinne. </a:t>
            </a:r>
          </a:p>
          <a:p>
            <a:endParaRPr lang="LID4096" dirty="0"/>
          </a:p>
        </p:txBody>
      </p:sp>
      <p:sp>
        <p:nvSpPr>
          <p:cNvPr id="4" name="Slide Number Placeholder 3">
            <a:extLst>
              <a:ext uri="{FF2B5EF4-FFF2-40B4-BE49-F238E27FC236}">
                <a16:creationId xmlns:a16="http://schemas.microsoft.com/office/drawing/2014/main" id="{EA4D59E6-6594-C717-9543-B32A3822BADB}"/>
              </a:ext>
            </a:extLst>
          </p:cNvPr>
          <p:cNvSpPr>
            <a:spLocks noGrp="1"/>
          </p:cNvSpPr>
          <p:nvPr>
            <p:ph type="sldNum" sz="quarter" idx="5"/>
          </p:nvPr>
        </p:nvSpPr>
        <p:spPr/>
        <p:txBody>
          <a:bodyPr/>
          <a:lstStyle/>
          <a:p>
            <a:fld id="{01B4E41B-EE32-43AA-BF26-21D12108C66F}" type="slidenum">
              <a:rPr lang="LID4096" smtClean="0"/>
              <a:t>28</a:t>
            </a:fld>
            <a:endParaRPr lang="LID4096"/>
          </a:p>
        </p:txBody>
      </p:sp>
    </p:spTree>
    <p:extLst>
      <p:ext uri="{BB962C8B-B14F-4D97-AF65-F5344CB8AC3E}">
        <p14:creationId xmlns:p14="http://schemas.microsoft.com/office/powerpoint/2010/main" val="39931029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EE7D-1CBB-7174-F3A3-0CF6DA91AD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5AA4E6-B848-DF24-ACD3-AF07885DCB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3A9FDB-750C-C9F5-4787-B954B832264F}"/>
              </a:ext>
            </a:extLst>
          </p:cNvPr>
          <p:cNvSpPr>
            <a:spLocks noGrp="1"/>
          </p:cNvSpPr>
          <p:nvPr>
            <p:ph type="body" idx="1"/>
          </p:nvPr>
        </p:nvSpPr>
        <p:spPr/>
        <p:txBody>
          <a:bodyPr/>
          <a:lstStyle/>
          <a:p>
            <a:r>
              <a:rPr lang="sv-SE" dirty="0"/>
              <a:t>Om pulsen har tagit sig hela vägen så sätter den motsvarande bit i INTFR registret, som skickas vidare till </a:t>
            </a:r>
            <a:r>
              <a:rPr lang="sv-SE" dirty="0" err="1"/>
              <a:t>PFIC:en</a:t>
            </a:r>
            <a:r>
              <a:rPr lang="sv-SE" dirty="0"/>
              <a:t>. </a:t>
            </a:r>
          </a:p>
          <a:p>
            <a:endParaRPr lang="sv-SE" dirty="0"/>
          </a:p>
          <a:p>
            <a:r>
              <a:rPr lang="sv-SE" dirty="0"/>
              <a:t>I min illustration här är också output från registret tillbakakopplat till ingången. Det är för att visa att det här registret sedan aldrig ändrar värde förrän vi aktivt nollställer det från mjukvaran. </a:t>
            </a:r>
          </a:p>
          <a:p>
            <a:endParaRPr lang="sv-SE" dirty="0"/>
          </a:p>
          <a:p>
            <a:r>
              <a:rPr lang="sv-SE" dirty="0"/>
              <a:t>Vi måste alltså nolla det här registret när vi är klara med att hantera vårat </a:t>
            </a:r>
            <a:r>
              <a:rPr lang="sv-SE" dirty="0" err="1"/>
              <a:t>interrupt</a:t>
            </a:r>
            <a:r>
              <a:rPr lang="sv-SE" dirty="0"/>
              <a:t>. </a:t>
            </a:r>
          </a:p>
          <a:p>
            <a:r>
              <a:rPr lang="sv-SE" dirty="0"/>
              <a:t>Vi nollar genom att skriva ETT!</a:t>
            </a:r>
            <a:endParaRPr lang="LID4096" dirty="0"/>
          </a:p>
        </p:txBody>
      </p:sp>
      <p:sp>
        <p:nvSpPr>
          <p:cNvPr id="4" name="Slide Number Placeholder 3">
            <a:extLst>
              <a:ext uri="{FF2B5EF4-FFF2-40B4-BE49-F238E27FC236}">
                <a16:creationId xmlns:a16="http://schemas.microsoft.com/office/drawing/2014/main" id="{5C3E9B66-1543-B670-3CDE-56A08019789D}"/>
              </a:ext>
            </a:extLst>
          </p:cNvPr>
          <p:cNvSpPr>
            <a:spLocks noGrp="1"/>
          </p:cNvSpPr>
          <p:nvPr>
            <p:ph type="sldNum" sz="quarter" idx="5"/>
          </p:nvPr>
        </p:nvSpPr>
        <p:spPr/>
        <p:txBody>
          <a:bodyPr/>
          <a:lstStyle/>
          <a:p>
            <a:fld id="{01B4E41B-EE32-43AA-BF26-21D12108C66F}" type="slidenum">
              <a:rPr lang="LID4096" smtClean="0"/>
              <a:t>29</a:t>
            </a:fld>
            <a:endParaRPr lang="LID4096"/>
          </a:p>
        </p:txBody>
      </p:sp>
    </p:spTree>
    <p:extLst>
      <p:ext uri="{BB962C8B-B14F-4D97-AF65-F5344CB8AC3E}">
        <p14:creationId xmlns:p14="http://schemas.microsoft.com/office/powerpoint/2010/main" val="76844894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5455FE-5990-141A-84F8-01B4A316E7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1293D7-2376-C233-707B-8090DD229C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D18A19-2CB5-C77E-D0F1-0DCCA4A26CA4}"/>
              </a:ext>
            </a:extLst>
          </p:cNvPr>
          <p:cNvSpPr>
            <a:spLocks noGrp="1"/>
          </p:cNvSpPr>
          <p:nvPr>
            <p:ph type="body" idx="1"/>
          </p:nvPr>
        </p:nvSpPr>
        <p:spPr/>
        <p:txBody>
          <a:bodyPr/>
          <a:lstStyle/>
          <a:p>
            <a:r>
              <a:rPr lang="sv-SE" dirty="0"/>
              <a:t>Slutligen har vi 16 insignaler, men bara 7 möjliga avbrottssignaler till </a:t>
            </a:r>
            <a:r>
              <a:rPr lang="sv-SE" dirty="0" err="1"/>
              <a:t>PFIC:en</a:t>
            </a:r>
            <a:r>
              <a:rPr lang="sv-SE" dirty="0"/>
              <a:t>. </a:t>
            </a:r>
          </a:p>
          <a:p>
            <a:endParaRPr lang="sv-SE" dirty="0"/>
          </a:p>
          <a:p>
            <a:r>
              <a:rPr lang="sv-SE" dirty="0"/>
              <a:t>Hur vet våran </a:t>
            </a:r>
            <a:r>
              <a:rPr lang="sv-SE" dirty="0" err="1"/>
              <a:t>interrupthanterare</a:t>
            </a:r>
            <a:r>
              <a:rPr lang="sv-SE" dirty="0"/>
              <a:t> var avbrottet kommer ifrån, ifall det kommer på t.ex. EXTI5_9 linan? </a:t>
            </a:r>
          </a:p>
          <a:p>
            <a:endParaRPr lang="sv-SE" dirty="0"/>
          </a:p>
          <a:p>
            <a:endParaRPr lang="LID4096" dirty="0"/>
          </a:p>
        </p:txBody>
      </p:sp>
      <p:sp>
        <p:nvSpPr>
          <p:cNvPr id="4" name="Slide Number Placeholder 3">
            <a:extLst>
              <a:ext uri="{FF2B5EF4-FFF2-40B4-BE49-F238E27FC236}">
                <a16:creationId xmlns:a16="http://schemas.microsoft.com/office/drawing/2014/main" id="{6378E72E-D85F-6D39-BEE0-B985896B88B4}"/>
              </a:ext>
            </a:extLst>
          </p:cNvPr>
          <p:cNvSpPr>
            <a:spLocks noGrp="1"/>
          </p:cNvSpPr>
          <p:nvPr>
            <p:ph type="sldNum" sz="quarter" idx="5"/>
          </p:nvPr>
        </p:nvSpPr>
        <p:spPr/>
        <p:txBody>
          <a:bodyPr/>
          <a:lstStyle/>
          <a:p>
            <a:fld id="{01B4E41B-EE32-43AA-BF26-21D12108C66F}" type="slidenum">
              <a:rPr lang="LID4096" smtClean="0"/>
              <a:t>30</a:t>
            </a:fld>
            <a:endParaRPr lang="LID4096"/>
          </a:p>
        </p:txBody>
      </p:sp>
    </p:spTree>
    <p:extLst>
      <p:ext uri="{BB962C8B-B14F-4D97-AF65-F5344CB8AC3E}">
        <p14:creationId xmlns:p14="http://schemas.microsoft.com/office/powerpoint/2010/main" val="30418675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07AAEC-3E6C-4451-F486-87E023A5119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LID4096"/>
          </a:p>
        </p:txBody>
      </p:sp>
      <p:sp>
        <p:nvSpPr>
          <p:cNvPr id="3" name="Subtitle 2">
            <a:extLst>
              <a:ext uri="{FF2B5EF4-FFF2-40B4-BE49-F238E27FC236}">
                <a16:creationId xmlns:a16="http://schemas.microsoft.com/office/drawing/2014/main" id="{2423331C-A0B6-0FB2-3F60-753189EC5DC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LID4096"/>
          </a:p>
        </p:txBody>
      </p:sp>
      <p:sp>
        <p:nvSpPr>
          <p:cNvPr id="4" name="Date Placeholder 3">
            <a:extLst>
              <a:ext uri="{FF2B5EF4-FFF2-40B4-BE49-F238E27FC236}">
                <a16:creationId xmlns:a16="http://schemas.microsoft.com/office/drawing/2014/main" id="{EADF49D7-5229-A7AD-747E-E6E2A94807DB}"/>
              </a:ext>
            </a:extLst>
          </p:cNvPr>
          <p:cNvSpPr>
            <a:spLocks noGrp="1"/>
          </p:cNvSpPr>
          <p:nvPr>
            <p:ph type="dt" sz="half" idx="10"/>
          </p:nvPr>
        </p:nvSpPr>
        <p:spPr/>
        <p:txBody>
          <a:bodyPr/>
          <a:lstStyle/>
          <a:p>
            <a:fld id="{C16EB631-5B1A-4879-85E7-A8D4C94FBFC5}" type="datetimeFigureOut">
              <a:rPr lang="LID4096" smtClean="0"/>
              <a:t>02/24/2026</a:t>
            </a:fld>
            <a:endParaRPr lang="LID4096"/>
          </a:p>
        </p:txBody>
      </p:sp>
      <p:sp>
        <p:nvSpPr>
          <p:cNvPr id="5" name="Footer Placeholder 4">
            <a:extLst>
              <a:ext uri="{FF2B5EF4-FFF2-40B4-BE49-F238E27FC236}">
                <a16:creationId xmlns:a16="http://schemas.microsoft.com/office/drawing/2014/main" id="{E33705F1-D570-FD0F-514D-706EC471432C}"/>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2E82FFF5-DA5D-BE5F-C578-D94F74E27609}"/>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41232673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B61E56A-61B1-4728-4B29-992DB3EED256}"/>
              </a:ext>
            </a:extLst>
          </p:cNvPr>
          <p:cNvSpPr>
            <a:spLocks noGrp="1" noRot="1" noMove="1" noResize="1" noEditPoints="1" noAdjustHandles="1" noChangeArrowheads="1" noChangeShapeType="1"/>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24D76953-890A-D048-2193-B60830D7DD8A}"/>
              </a:ext>
            </a:extLst>
          </p:cNvPr>
          <p:cNvSpPr>
            <a:spLocks noGrp="1"/>
          </p:cNvSpPr>
          <p:nvPr>
            <p:ph type="title"/>
          </p:nvPr>
        </p:nvSpPr>
        <p:spPr/>
        <p:txBody>
          <a:bodyPr/>
          <a:lstStyle/>
          <a:p>
            <a:r>
              <a:rPr lang="en-US"/>
              <a:t>Click to edit Master title style</a:t>
            </a:r>
            <a:endParaRPr lang="LID4096"/>
          </a:p>
        </p:txBody>
      </p:sp>
      <p:sp>
        <p:nvSpPr>
          <p:cNvPr id="3" name="Content Placeholder 2">
            <a:extLst>
              <a:ext uri="{FF2B5EF4-FFF2-40B4-BE49-F238E27FC236}">
                <a16:creationId xmlns:a16="http://schemas.microsoft.com/office/drawing/2014/main" id="{7D433386-BED0-D084-18B4-677D6B198F0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20E72D33-941F-13F9-A7E8-260FC6E52369}"/>
              </a:ext>
            </a:extLst>
          </p:cNvPr>
          <p:cNvSpPr>
            <a:spLocks noGrp="1"/>
          </p:cNvSpPr>
          <p:nvPr>
            <p:ph type="dt" sz="half" idx="10"/>
          </p:nvPr>
        </p:nvSpPr>
        <p:spPr/>
        <p:txBody>
          <a:bodyPr/>
          <a:lstStyle/>
          <a:p>
            <a:fld id="{C16EB631-5B1A-4879-85E7-A8D4C94FBFC5}" type="datetimeFigureOut">
              <a:rPr lang="LID4096" smtClean="0"/>
              <a:t>02/24/2026</a:t>
            </a:fld>
            <a:endParaRPr lang="LID4096"/>
          </a:p>
        </p:txBody>
      </p:sp>
      <p:sp>
        <p:nvSpPr>
          <p:cNvPr id="5" name="Footer Placeholder 4">
            <a:extLst>
              <a:ext uri="{FF2B5EF4-FFF2-40B4-BE49-F238E27FC236}">
                <a16:creationId xmlns:a16="http://schemas.microsoft.com/office/drawing/2014/main" id="{36759F51-CB1B-DF9A-5CC0-93AFDF6758C7}"/>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23E42DB4-6401-3763-4016-068E35BF833C}"/>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10884212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C7224668-B732-F6E4-82FD-48279E8CE7C6}"/>
              </a:ext>
            </a:extLst>
          </p:cNvPr>
          <p:cNvSpPr>
            <a:spLocks noGrp="1" noRot="1" noMove="1" noResize="1" noEditPoints="1" noAdjustHandles="1" noChangeArrowheads="1" noChangeShapeType="1"/>
          </p:cNvSpPr>
          <p:nvPr userDrawn="1"/>
        </p:nvSpPr>
        <p:spPr>
          <a:xfrm>
            <a:off x="0" y="1690688"/>
            <a:ext cx="12192000" cy="5167312"/>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7" name="Rectangle 6">
            <a:extLst>
              <a:ext uri="{FF2B5EF4-FFF2-40B4-BE49-F238E27FC236}">
                <a16:creationId xmlns:a16="http://schemas.microsoft.com/office/drawing/2014/main" id="{8B61E56A-61B1-4728-4B29-992DB3EED256}"/>
              </a:ext>
            </a:extLst>
          </p:cNvPr>
          <p:cNvSpPr>
            <a:spLocks noGrp="1" noRot="1" noMove="1" noResize="1" noEditPoints="1" noAdjustHandles="1" noChangeArrowheads="1" noChangeShapeType="1"/>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24D76953-890A-D048-2193-B60830D7DD8A}"/>
              </a:ext>
            </a:extLst>
          </p:cNvPr>
          <p:cNvSpPr>
            <a:spLocks noGrp="1"/>
          </p:cNvSpPr>
          <p:nvPr>
            <p:ph type="title"/>
          </p:nvPr>
        </p:nvSpPr>
        <p:spPr/>
        <p:txBody>
          <a:bodyPr/>
          <a:lstStyle/>
          <a:p>
            <a:r>
              <a:rPr lang="en-US"/>
              <a:t>Click to edit Master title style</a:t>
            </a:r>
            <a:endParaRPr lang="LID4096"/>
          </a:p>
        </p:txBody>
      </p:sp>
      <p:sp>
        <p:nvSpPr>
          <p:cNvPr id="3" name="Content Placeholder 2">
            <a:extLst>
              <a:ext uri="{FF2B5EF4-FFF2-40B4-BE49-F238E27FC236}">
                <a16:creationId xmlns:a16="http://schemas.microsoft.com/office/drawing/2014/main" id="{7D433386-BED0-D084-18B4-677D6B198F0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20E72D33-941F-13F9-A7E8-260FC6E52369}"/>
              </a:ext>
            </a:extLst>
          </p:cNvPr>
          <p:cNvSpPr>
            <a:spLocks noGrp="1"/>
          </p:cNvSpPr>
          <p:nvPr>
            <p:ph type="dt" sz="half" idx="10"/>
          </p:nvPr>
        </p:nvSpPr>
        <p:spPr/>
        <p:txBody>
          <a:bodyPr/>
          <a:lstStyle/>
          <a:p>
            <a:fld id="{C16EB631-5B1A-4879-85E7-A8D4C94FBFC5}" type="datetimeFigureOut">
              <a:rPr lang="LID4096" smtClean="0"/>
              <a:t>02/24/2026</a:t>
            </a:fld>
            <a:endParaRPr lang="LID4096"/>
          </a:p>
        </p:txBody>
      </p:sp>
      <p:sp>
        <p:nvSpPr>
          <p:cNvPr id="5" name="Footer Placeholder 4">
            <a:extLst>
              <a:ext uri="{FF2B5EF4-FFF2-40B4-BE49-F238E27FC236}">
                <a16:creationId xmlns:a16="http://schemas.microsoft.com/office/drawing/2014/main" id="{36759F51-CB1B-DF9A-5CC0-93AFDF6758C7}"/>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23E42DB4-6401-3763-4016-068E35BF833C}"/>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19975086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5AE1C-835E-4237-40BE-548098F7513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LID4096"/>
          </a:p>
        </p:txBody>
      </p:sp>
      <p:sp>
        <p:nvSpPr>
          <p:cNvPr id="3" name="Text Placeholder 2">
            <a:extLst>
              <a:ext uri="{FF2B5EF4-FFF2-40B4-BE49-F238E27FC236}">
                <a16:creationId xmlns:a16="http://schemas.microsoft.com/office/drawing/2014/main" id="{5680726C-642C-40B9-29E4-8CB6438330D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5D861FB-8DCF-74EB-CB4F-6C8C5FDA2D70}"/>
              </a:ext>
            </a:extLst>
          </p:cNvPr>
          <p:cNvSpPr>
            <a:spLocks noGrp="1"/>
          </p:cNvSpPr>
          <p:nvPr>
            <p:ph type="dt" sz="half" idx="10"/>
          </p:nvPr>
        </p:nvSpPr>
        <p:spPr/>
        <p:txBody>
          <a:bodyPr/>
          <a:lstStyle/>
          <a:p>
            <a:fld id="{C16EB631-5B1A-4879-85E7-A8D4C94FBFC5}" type="datetimeFigureOut">
              <a:rPr lang="LID4096" smtClean="0"/>
              <a:t>02/24/2026</a:t>
            </a:fld>
            <a:endParaRPr lang="LID4096"/>
          </a:p>
        </p:txBody>
      </p:sp>
      <p:sp>
        <p:nvSpPr>
          <p:cNvPr id="5" name="Footer Placeholder 4">
            <a:extLst>
              <a:ext uri="{FF2B5EF4-FFF2-40B4-BE49-F238E27FC236}">
                <a16:creationId xmlns:a16="http://schemas.microsoft.com/office/drawing/2014/main" id="{94B0EE97-CCFB-62D1-AD51-EC2640FFF3A1}"/>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A224E895-9CC8-B3E0-C23B-C34A3154E382}"/>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8308335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ADA9653-920E-A3FB-A09E-24B10BF25882}"/>
              </a:ext>
            </a:extLst>
          </p:cNvPr>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6D912F9C-95D6-9F26-CB8F-4684FA3BC91D}"/>
              </a:ext>
            </a:extLst>
          </p:cNvPr>
          <p:cNvSpPr>
            <a:spLocks noGrp="1"/>
          </p:cNvSpPr>
          <p:nvPr>
            <p:ph type="title"/>
          </p:nvPr>
        </p:nvSpPr>
        <p:spPr/>
        <p:txBody>
          <a:bodyPr/>
          <a:lstStyle/>
          <a:p>
            <a:r>
              <a:rPr lang="en-US"/>
              <a:t>Click to edit Master title style</a:t>
            </a:r>
            <a:endParaRPr lang="LID4096"/>
          </a:p>
        </p:txBody>
      </p:sp>
      <p:sp>
        <p:nvSpPr>
          <p:cNvPr id="3" name="Content Placeholder 2">
            <a:extLst>
              <a:ext uri="{FF2B5EF4-FFF2-40B4-BE49-F238E27FC236}">
                <a16:creationId xmlns:a16="http://schemas.microsoft.com/office/drawing/2014/main" id="{32A225D4-B7C6-E53C-86CB-746972F8BB5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Content Placeholder 3">
            <a:extLst>
              <a:ext uri="{FF2B5EF4-FFF2-40B4-BE49-F238E27FC236}">
                <a16:creationId xmlns:a16="http://schemas.microsoft.com/office/drawing/2014/main" id="{E34E4528-78B3-D076-447C-021E6D75A5A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5" name="Date Placeholder 4">
            <a:extLst>
              <a:ext uri="{FF2B5EF4-FFF2-40B4-BE49-F238E27FC236}">
                <a16:creationId xmlns:a16="http://schemas.microsoft.com/office/drawing/2014/main" id="{81FD6A9B-7759-36F2-D666-8667C8DE7F6A}"/>
              </a:ext>
            </a:extLst>
          </p:cNvPr>
          <p:cNvSpPr>
            <a:spLocks noGrp="1"/>
          </p:cNvSpPr>
          <p:nvPr>
            <p:ph type="dt" sz="half" idx="10"/>
          </p:nvPr>
        </p:nvSpPr>
        <p:spPr/>
        <p:txBody>
          <a:bodyPr/>
          <a:lstStyle/>
          <a:p>
            <a:fld id="{C16EB631-5B1A-4879-85E7-A8D4C94FBFC5}" type="datetimeFigureOut">
              <a:rPr lang="LID4096" smtClean="0"/>
              <a:t>02/24/2026</a:t>
            </a:fld>
            <a:endParaRPr lang="LID4096"/>
          </a:p>
        </p:txBody>
      </p:sp>
      <p:sp>
        <p:nvSpPr>
          <p:cNvPr id="6" name="Footer Placeholder 5">
            <a:extLst>
              <a:ext uri="{FF2B5EF4-FFF2-40B4-BE49-F238E27FC236}">
                <a16:creationId xmlns:a16="http://schemas.microsoft.com/office/drawing/2014/main" id="{6821CEAB-5EF1-8A74-8968-8F0DB2B27660}"/>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11540A9C-A1CD-86C2-36E4-17DFA2A93FEB}"/>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30181394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AC8CFAD-2C3B-E51D-4FD9-E852766792F8}"/>
              </a:ext>
            </a:extLst>
          </p:cNvPr>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68FA55E2-B180-DE62-C73A-B825DAA5CD87}"/>
              </a:ext>
            </a:extLst>
          </p:cNvPr>
          <p:cNvSpPr>
            <a:spLocks noGrp="1"/>
          </p:cNvSpPr>
          <p:nvPr>
            <p:ph type="title"/>
          </p:nvPr>
        </p:nvSpPr>
        <p:spPr>
          <a:xfrm>
            <a:off x="839788" y="365125"/>
            <a:ext cx="10515600" cy="1325563"/>
          </a:xfrm>
        </p:spPr>
        <p:txBody>
          <a:bodyPr/>
          <a:lstStyle/>
          <a:p>
            <a:r>
              <a:rPr lang="en-US"/>
              <a:t>Click to edit Master title style</a:t>
            </a:r>
            <a:endParaRPr lang="LID4096"/>
          </a:p>
        </p:txBody>
      </p:sp>
      <p:sp>
        <p:nvSpPr>
          <p:cNvPr id="3" name="Text Placeholder 2">
            <a:extLst>
              <a:ext uri="{FF2B5EF4-FFF2-40B4-BE49-F238E27FC236}">
                <a16:creationId xmlns:a16="http://schemas.microsoft.com/office/drawing/2014/main" id="{882EA99E-F1A7-2F45-FDF1-5E254A755E8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59AB4C4-573F-7FAB-48DA-DAF97814929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5" name="Text Placeholder 4">
            <a:extLst>
              <a:ext uri="{FF2B5EF4-FFF2-40B4-BE49-F238E27FC236}">
                <a16:creationId xmlns:a16="http://schemas.microsoft.com/office/drawing/2014/main" id="{8F7018C2-E8F6-E5E6-79EA-3155C34500D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31AF297-CD62-07D0-9158-3B908BD1CAF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7" name="Date Placeholder 6">
            <a:extLst>
              <a:ext uri="{FF2B5EF4-FFF2-40B4-BE49-F238E27FC236}">
                <a16:creationId xmlns:a16="http://schemas.microsoft.com/office/drawing/2014/main" id="{1CD7138E-77A6-33DA-62AD-A97A7ECC83FD}"/>
              </a:ext>
            </a:extLst>
          </p:cNvPr>
          <p:cNvSpPr>
            <a:spLocks noGrp="1"/>
          </p:cNvSpPr>
          <p:nvPr>
            <p:ph type="dt" sz="half" idx="10"/>
          </p:nvPr>
        </p:nvSpPr>
        <p:spPr/>
        <p:txBody>
          <a:bodyPr/>
          <a:lstStyle/>
          <a:p>
            <a:fld id="{C16EB631-5B1A-4879-85E7-A8D4C94FBFC5}" type="datetimeFigureOut">
              <a:rPr lang="LID4096" smtClean="0"/>
              <a:t>02/24/2026</a:t>
            </a:fld>
            <a:endParaRPr lang="LID4096"/>
          </a:p>
        </p:txBody>
      </p:sp>
      <p:sp>
        <p:nvSpPr>
          <p:cNvPr id="8" name="Footer Placeholder 7">
            <a:extLst>
              <a:ext uri="{FF2B5EF4-FFF2-40B4-BE49-F238E27FC236}">
                <a16:creationId xmlns:a16="http://schemas.microsoft.com/office/drawing/2014/main" id="{94097087-613E-94E4-030D-9C72E53CB68E}"/>
              </a:ext>
            </a:extLst>
          </p:cNvPr>
          <p:cNvSpPr>
            <a:spLocks noGrp="1"/>
          </p:cNvSpPr>
          <p:nvPr>
            <p:ph type="ftr" sz="quarter" idx="11"/>
          </p:nvPr>
        </p:nvSpPr>
        <p:spPr/>
        <p:txBody>
          <a:bodyPr/>
          <a:lstStyle/>
          <a:p>
            <a:endParaRPr lang="LID4096"/>
          </a:p>
        </p:txBody>
      </p:sp>
      <p:sp>
        <p:nvSpPr>
          <p:cNvPr id="9" name="Slide Number Placeholder 8">
            <a:extLst>
              <a:ext uri="{FF2B5EF4-FFF2-40B4-BE49-F238E27FC236}">
                <a16:creationId xmlns:a16="http://schemas.microsoft.com/office/drawing/2014/main" id="{D53AB01B-9183-BED8-5270-E118181DA12B}"/>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4429146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B0351AC-8666-6A69-B402-81D189976CE4}"/>
              </a:ext>
            </a:extLst>
          </p:cNvPr>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57DC8B82-510D-675C-90C7-E85E633B5811}"/>
              </a:ext>
            </a:extLst>
          </p:cNvPr>
          <p:cNvSpPr>
            <a:spLocks noGrp="1"/>
          </p:cNvSpPr>
          <p:nvPr>
            <p:ph type="title"/>
          </p:nvPr>
        </p:nvSpPr>
        <p:spPr/>
        <p:txBody>
          <a:bodyPr/>
          <a:lstStyle/>
          <a:p>
            <a:r>
              <a:rPr lang="en-US"/>
              <a:t>Click to edit Master title style</a:t>
            </a:r>
            <a:endParaRPr lang="LID4096"/>
          </a:p>
        </p:txBody>
      </p:sp>
      <p:sp>
        <p:nvSpPr>
          <p:cNvPr id="3" name="Date Placeholder 2">
            <a:extLst>
              <a:ext uri="{FF2B5EF4-FFF2-40B4-BE49-F238E27FC236}">
                <a16:creationId xmlns:a16="http://schemas.microsoft.com/office/drawing/2014/main" id="{6AFBD4E8-F59F-752C-FE4A-3B1CDA10D2DB}"/>
              </a:ext>
            </a:extLst>
          </p:cNvPr>
          <p:cNvSpPr>
            <a:spLocks noGrp="1"/>
          </p:cNvSpPr>
          <p:nvPr>
            <p:ph type="dt" sz="half" idx="10"/>
          </p:nvPr>
        </p:nvSpPr>
        <p:spPr/>
        <p:txBody>
          <a:bodyPr/>
          <a:lstStyle/>
          <a:p>
            <a:fld id="{C16EB631-5B1A-4879-85E7-A8D4C94FBFC5}" type="datetimeFigureOut">
              <a:rPr lang="LID4096" smtClean="0"/>
              <a:t>02/24/2026</a:t>
            </a:fld>
            <a:endParaRPr lang="LID4096"/>
          </a:p>
        </p:txBody>
      </p:sp>
      <p:sp>
        <p:nvSpPr>
          <p:cNvPr id="4" name="Footer Placeholder 3">
            <a:extLst>
              <a:ext uri="{FF2B5EF4-FFF2-40B4-BE49-F238E27FC236}">
                <a16:creationId xmlns:a16="http://schemas.microsoft.com/office/drawing/2014/main" id="{4574A05F-55BF-5716-B67E-826F7B5ACE20}"/>
              </a:ext>
            </a:extLst>
          </p:cNvPr>
          <p:cNvSpPr>
            <a:spLocks noGrp="1"/>
          </p:cNvSpPr>
          <p:nvPr>
            <p:ph type="ftr" sz="quarter" idx="11"/>
          </p:nvPr>
        </p:nvSpPr>
        <p:spPr/>
        <p:txBody>
          <a:bodyPr/>
          <a:lstStyle/>
          <a:p>
            <a:endParaRPr lang="LID4096"/>
          </a:p>
        </p:txBody>
      </p:sp>
      <p:sp>
        <p:nvSpPr>
          <p:cNvPr id="5" name="Slide Number Placeholder 4">
            <a:extLst>
              <a:ext uri="{FF2B5EF4-FFF2-40B4-BE49-F238E27FC236}">
                <a16:creationId xmlns:a16="http://schemas.microsoft.com/office/drawing/2014/main" id="{818E29FC-9E20-22D5-23DC-B42B2A2F2D7F}"/>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31546934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28A2B7A-FCD7-89EB-1A96-B7932F9689A4}"/>
              </a:ext>
            </a:extLst>
          </p:cNvPr>
          <p:cNvSpPr>
            <a:spLocks noGrp="1"/>
          </p:cNvSpPr>
          <p:nvPr>
            <p:ph type="dt" sz="half" idx="10"/>
          </p:nvPr>
        </p:nvSpPr>
        <p:spPr/>
        <p:txBody>
          <a:bodyPr/>
          <a:lstStyle/>
          <a:p>
            <a:fld id="{C16EB631-5B1A-4879-85E7-A8D4C94FBFC5}" type="datetimeFigureOut">
              <a:rPr lang="LID4096" smtClean="0"/>
              <a:t>02/24/2026</a:t>
            </a:fld>
            <a:endParaRPr lang="LID4096"/>
          </a:p>
        </p:txBody>
      </p:sp>
      <p:sp>
        <p:nvSpPr>
          <p:cNvPr id="3" name="Footer Placeholder 2">
            <a:extLst>
              <a:ext uri="{FF2B5EF4-FFF2-40B4-BE49-F238E27FC236}">
                <a16:creationId xmlns:a16="http://schemas.microsoft.com/office/drawing/2014/main" id="{FE727F0C-76DF-9396-D50C-E80D75E88C3B}"/>
              </a:ext>
            </a:extLst>
          </p:cNvPr>
          <p:cNvSpPr>
            <a:spLocks noGrp="1"/>
          </p:cNvSpPr>
          <p:nvPr>
            <p:ph type="ftr" sz="quarter" idx="11"/>
          </p:nvPr>
        </p:nvSpPr>
        <p:spPr/>
        <p:txBody>
          <a:bodyPr/>
          <a:lstStyle/>
          <a:p>
            <a:endParaRPr lang="LID4096"/>
          </a:p>
        </p:txBody>
      </p:sp>
      <p:sp>
        <p:nvSpPr>
          <p:cNvPr id="4" name="Slide Number Placeholder 3">
            <a:extLst>
              <a:ext uri="{FF2B5EF4-FFF2-40B4-BE49-F238E27FC236}">
                <a16:creationId xmlns:a16="http://schemas.microsoft.com/office/drawing/2014/main" id="{3F071C10-AF5A-33B6-0088-2D81FA270BCE}"/>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34672464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27353D-A96C-86D7-3B51-4AEF89B0E55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LID4096"/>
          </a:p>
        </p:txBody>
      </p:sp>
      <p:sp>
        <p:nvSpPr>
          <p:cNvPr id="3" name="Content Placeholder 2">
            <a:extLst>
              <a:ext uri="{FF2B5EF4-FFF2-40B4-BE49-F238E27FC236}">
                <a16:creationId xmlns:a16="http://schemas.microsoft.com/office/drawing/2014/main" id="{645426A3-8A7E-2232-C68D-B497DB402E1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Text Placeholder 3">
            <a:extLst>
              <a:ext uri="{FF2B5EF4-FFF2-40B4-BE49-F238E27FC236}">
                <a16:creationId xmlns:a16="http://schemas.microsoft.com/office/drawing/2014/main" id="{71AEDFD2-8147-E4EA-30DB-B6EE92AFAC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042C160-1681-9853-0D30-D48019EF3B84}"/>
              </a:ext>
            </a:extLst>
          </p:cNvPr>
          <p:cNvSpPr>
            <a:spLocks noGrp="1"/>
          </p:cNvSpPr>
          <p:nvPr>
            <p:ph type="dt" sz="half" idx="10"/>
          </p:nvPr>
        </p:nvSpPr>
        <p:spPr/>
        <p:txBody>
          <a:bodyPr/>
          <a:lstStyle/>
          <a:p>
            <a:fld id="{C16EB631-5B1A-4879-85E7-A8D4C94FBFC5}" type="datetimeFigureOut">
              <a:rPr lang="LID4096" smtClean="0"/>
              <a:t>02/24/2026</a:t>
            </a:fld>
            <a:endParaRPr lang="LID4096"/>
          </a:p>
        </p:txBody>
      </p:sp>
      <p:sp>
        <p:nvSpPr>
          <p:cNvPr id="6" name="Footer Placeholder 5">
            <a:extLst>
              <a:ext uri="{FF2B5EF4-FFF2-40B4-BE49-F238E27FC236}">
                <a16:creationId xmlns:a16="http://schemas.microsoft.com/office/drawing/2014/main" id="{B9DBD775-8CC4-1D89-390B-CBE113AFFC15}"/>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BB556AE1-23BA-5111-5A0E-06335408D01A}"/>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8103254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B0FD3-1A53-ADC5-6F25-17D89C1E9B1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LID4096"/>
          </a:p>
        </p:txBody>
      </p:sp>
      <p:sp>
        <p:nvSpPr>
          <p:cNvPr id="3" name="Picture Placeholder 2">
            <a:extLst>
              <a:ext uri="{FF2B5EF4-FFF2-40B4-BE49-F238E27FC236}">
                <a16:creationId xmlns:a16="http://schemas.microsoft.com/office/drawing/2014/main" id="{AE0D64E3-FFB1-8C2C-B98F-A7A970F3E24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LID4096"/>
          </a:p>
        </p:txBody>
      </p:sp>
      <p:sp>
        <p:nvSpPr>
          <p:cNvPr id="4" name="Text Placeholder 3">
            <a:extLst>
              <a:ext uri="{FF2B5EF4-FFF2-40B4-BE49-F238E27FC236}">
                <a16:creationId xmlns:a16="http://schemas.microsoft.com/office/drawing/2014/main" id="{91339862-B6A9-674B-99C4-8ABD188F158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EA0084A-CEA6-A23A-8D58-A22A15A2D404}"/>
              </a:ext>
            </a:extLst>
          </p:cNvPr>
          <p:cNvSpPr>
            <a:spLocks noGrp="1"/>
          </p:cNvSpPr>
          <p:nvPr>
            <p:ph type="dt" sz="half" idx="10"/>
          </p:nvPr>
        </p:nvSpPr>
        <p:spPr/>
        <p:txBody>
          <a:bodyPr/>
          <a:lstStyle/>
          <a:p>
            <a:fld id="{C16EB631-5B1A-4879-85E7-A8D4C94FBFC5}" type="datetimeFigureOut">
              <a:rPr lang="LID4096" smtClean="0"/>
              <a:t>02/24/2026</a:t>
            </a:fld>
            <a:endParaRPr lang="LID4096"/>
          </a:p>
        </p:txBody>
      </p:sp>
      <p:sp>
        <p:nvSpPr>
          <p:cNvPr id="6" name="Footer Placeholder 5">
            <a:extLst>
              <a:ext uri="{FF2B5EF4-FFF2-40B4-BE49-F238E27FC236}">
                <a16:creationId xmlns:a16="http://schemas.microsoft.com/office/drawing/2014/main" id="{C3F3325F-BB03-5E1E-8BBA-77021E9FAB7D}"/>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33FE28DD-BD5D-D807-4F41-CEA2BBBEB65B}"/>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7823676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C1E742-C2AD-6643-CED1-AFDDE4FC6022}"/>
              </a:ext>
            </a:extLst>
          </p:cNvPr>
          <p:cNvSpPr>
            <a:spLocks noGrp="1"/>
          </p:cNvSpPr>
          <p:nvPr>
            <p:ph type="title"/>
          </p:nvPr>
        </p:nvSpPr>
        <p:spPr/>
        <p:txBody>
          <a:bodyPr/>
          <a:lstStyle/>
          <a:p>
            <a:r>
              <a:rPr lang="en-US"/>
              <a:t>Click to edit Master title style</a:t>
            </a:r>
            <a:endParaRPr lang="LID4096"/>
          </a:p>
        </p:txBody>
      </p:sp>
      <p:sp>
        <p:nvSpPr>
          <p:cNvPr id="3" name="Vertical Text Placeholder 2">
            <a:extLst>
              <a:ext uri="{FF2B5EF4-FFF2-40B4-BE49-F238E27FC236}">
                <a16:creationId xmlns:a16="http://schemas.microsoft.com/office/drawing/2014/main" id="{1CEC0158-1729-4A7E-7B94-781E3123752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12ED27F6-811A-D0A0-06B1-41B03656D885}"/>
              </a:ext>
            </a:extLst>
          </p:cNvPr>
          <p:cNvSpPr>
            <a:spLocks noGrp="1"/>
          </p:cNvSpPr>
          <p:nvPr>
            <p:ph type="dt" sz="half" idx="10"/>
          </p:nvPr>
        </p:nvSpPr>
        <p:spPr/>
        <p:txBody>
          <a:bodyPr/>
          <a:lstStyle/>
          <a:p>
            <a:fld id="{C16EB631-5B1A-4879-85E7-A8D4C94FBFC5}" type="datetimeFigureOut">
              <a:rPr lang="LID4096" smtClean="0"/>
              <a:t>02/24/2026</a:t>
            </a:fld>
            <a:endParaRPr lang="LID4096"/>
          </a:p>
        </p:txBody>
      </p:sp>
      <p:sp>
        <p:nvSpPr>
          <p:cNvPr id="5" name="Footer Placeholder 4">
            <a:extLst>
              <a:ext uri="{FF2B5EF4-FFF2-40B4-BE49-F238E27FC236}">
                <a16:creationId xmlns:a16="http://schemas.microsoft.com/office/drawing/2014/main" id="{DAD2C692-F6C8-CB76-B789-5004D9605FF4}"/>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7AAF7830-571D-5B23-D628-16DCF365B59A}"/>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71151017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FC0549-8A95-0497-7701-706A861F197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LID4096"/>
          </a:p>
        </p:txBody>
      </p:sp>
      <p:sp>
        <p:nvSpPr>
          <p:cNvPr id="3" name="Vertical Text Placeholder 2">
            <a:extLst>
              <a:ext uri="{FF2B5EF4-FFF2-40B4-BE49-F238E27FC236}">
                <a16:creationId xmlns:a16="http://schemas.microsoft.com/office/drawing/2014/main" id="{2EEEBB1F-4FAC-A79D-8CEF-065067FC03E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3843EFF8-EAC7-D303-AE5E-3FC052A5973E}"/>
              </a:ext>
            </a:extLst>
          </p:cNvPr>
          <p:cNvSpPr>
            <a:spLocks noGrp="1"/>
          </p:cNvSpPr>
          <p:nvPr>
            <p:ph type="dt" sz="half" idx="10"/>
          </p:nvPr>
        </p:nvSpPr>
        <p:spPr/>
        <p:txBody>
          <a:bodyPr/>
          <a:lstStyle/>
          <a:p>
            <a:fld id="{C16EB631-5B1A-4879-85E7-A8D4C94FBFC5}" type="datetimeFigureOut">
              <a:rPr lang="LID4096" smtClean="0"/>
              <a:t>02/24/2026</a:t>
            </a:fld>
            <a:endParaRPr lang="LID4096"/>
          </a:p>
        </p:txBody>
      </p:sp>
      <p:sp>
        <p:nvSpPr>
          <p:cNvPr id="5" name="Footer Placeholder 4">
            <a:extLst>
              <a:ext uri="{FF2B5EF4-FFF2-40B4-BE49-F238E27FC236}">
                <a16:creationId xmlns:a16="http://schemas.microsoft.com/office/drawing/2014/main" id="{C2840B46-B5A1-A5C4-7709-AF9C579E63CE}"/>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A808CE26-1654-5732-2FCC-D9586B0F14DC}"/>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376779132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FF3BB9D5-722B-FDAA-6867-63BCE26A0024}"/>
              </a:ext>
            </a:extLst>
          </p:cNvPr>
          <p:cNvSpPr txBox="1"/>
          <p:nvPr userDrawn="1"/>
        </p:nvSpPr>
        <p:spPr>
          <a:xfrm>
            <a:off x="4705350" y="-139700"/>
            <a:ext cx="2508250" cy="4489450"/>
          </a:xfrm>
          <a:prstGeom prst="rect">
            <a:avLst/>
          </a:prstGeom>
          <a:noFill/>
          <a:effectLst>
            <a:reflection blurRad="6350" stA="50000" endA="300" endPos="90000" dir="5400000" sy="-100000" algn="bl" rotWithShape="0"/>
          </a:effectLst>
        </p:spPr>
        <p:txBody>
          <a:bodyPr wrap="square" lIns="0" tIns="0" rIns="0" bIns="0" rtlCol="0">
            <a:noAutofit/>
          </a:bodyPr>
          <a:lstStyle/>
          <a:p>
            <a:r>
              <a:rPr lang="sv-SE" sz="38000" b="1"/>
              <a:t>?</a:t>
            </a:r>
            <a:endParaRPr lang="LID4096" sz="38000" b="1"/>
          </a:p>
        </p:txBody>
      </p:sp>
    </p:spTree>
    <p:extLst>
      <p:ext uri="{BB962C8B-B14F-4D97-AF65-F5344CB8AC3E}">
        <p14:creationId xmlns:p14="http://schemas.microsoft.com/office/powerpoint/2010/main" val="7975097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Section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B1C8C8-25EF-88DC-16E7-E04ABB8AD831}"/>
              </a:ext>
            </a:extLst>
          </p:cNvPr>
          <p:cNvSpPr>
            <a:spLocks noGrp="1"/>
          </p:cNvSpPr>
          <p:nvPr>
            <p:ph type="ctrTitle"/>
          </p:nvPr>
        </p:nvSpPr>
        <p:spPr>
          <a:xfrm>
            <a:off x="3886200" y="0"/>
            <a:ext cx="7741920" cy="773430"/>
          </a:xfrm>
          <a:prstGeom prst="rect">
            <a:avLst/>
          </a:prstGeom>
        </p:spPr>
        <p:txBody>
          <a:bodyPr anchor="ctr"/>
          <a:lstStyle>
            <a:lvl1pPr algn="r">
              <a:defRPr sz="3000">
                <a:solidFill>
                  <a:schemeClr val="bg1"/>
                </a:solidFill>
                <a:latin typeface="+mn-lt"/>
              </a:defRPr>
            </a:lvl1pPr>
          </a:lstStyle>
          <a:p>
            <a:r>
              <a:rPr lang="en-US"/>
              <a:t>Click to edit Master title style</a:t>
            </a:r>
            <a:endParaRPr lang="LID4096"/>
          </a:p>
        </p:txBody>
      </p:sp>
      <p:sp>
        <p:nvSpPr>
          <p:cNvPr id="4" name="Date Placeholder 3">
            <a:extLst>
              <a:ext uri="{FF2B5EF4-FFF2-40B4-BE49-F238E27FC236}">
                <a16:creationId xmlns:a16="http://schemas.microsoft.com/office/drawing/2014/main" id="{9156048A-1475-BECA-0D5C-B57BA73CE82C}"/>
              </a:ext>
            </a:extLst>
          </p:cNvPr>
          <p:cNvSpPr>
            <a:spLocks noGrp="1"/>
          </p:cNvSpPr>
          <p:nvPr>
            <p:ph type="dt" sz="half" idx="10"/>
          </p:nvPr>
        </p:nvSpPr>
        <p:spPr/>
        <p:txBody>
          <a:bodyPr/>
          <a:lstStyle/>
          <a:p>
            <a:fld id="{10ECE148-BD56-4755-B580-741EAF415DA4}" type="datetime1">
              <a:rPr lang="LID4096" smtClean="0"/>
              <a:t>02/24/2026</a:t>
            </a:fld>
            <a:endParaRPr lang="LID4096"/>
          </a:p>
        </p:txBody>
      </p:sp>
      <p:sp>
        <p:nvSpPr>
          <p:cNvPr id="5" name="Footer Placeholder 4">
            <a:extLst>
              <a:ext uri="{FF2B5EF4-FFF2-40B4-BE49-F238E27FC236}">
                <a16:creationId xmlns:a16="http://schemas.microsoft.com/office/drawing/2014/main" id="{2BE596A6-8AEA-8E00-82FA-0D02CDAEE9B4}"/>
              </a:ext>
            </a:extLst>
          </p:cNvPr>
          <p:cNvSpPr>
            <a:spLocks noGrp="1"/>
          </p:cNvSpPr>
          <p:nvPr>
            <p:ph type="ftr" sz="quarter" idx="11"/>
          </p:nvPr>
        </p:nvSpPr>
        <p:spPr/>
        <p:txBody>
          <a:bodyPr/>
          <a:lstStyle/>
          <a:p>
            <a:r>
              <a:rPr lang="en-GB"/>
              <a:t>Maskinorienterad Programmering</a:t>
            </a:r>
            <a:endParaRPr lang="LID4096"/>
          </a:p>
        </p:txBody>
      </p:sp>
      <p:sp>
        <p:nvSpPr>
          <p:cNvPr id="6" name="Slide Number Placeholder 5">
            <a:extLst>
              <a:ext uri="{FF2B5EF4-FFF2-40B4-BE49-F238E27FC236}">
                <a16:creationId xmlns:a16="http://schemas.microsoft.com/office/drawing/2014/main" id="{0251CFA3-5459-CB23-2E6A-37FD40749348}"/>
              </a:ext>
            </a:extLst>
          </p:cNvPr>
          <p:cNvSpPr>
            <a:spLocks noGrp="1"/>
          </p:cNvSpPr>
          <p:nvPr>
            <p:ph type="sldNum" sz="quarter" idx="12"/>
          </p:nvPr>
        </p:nvSpPr>
        <p:spPr/>
        <p:txBody>
          <a:bodyPr/>
          <a:lstStyle/>
          <a:p>
            <a:fld id="{E46909CE-3A1D-43F5-8F4E-45D6477AD820}" type="slidenum">
              <a:rPr lang="LID4096" smtClean="0"/>
              <a:t>‹#›</a:t>
            </a:fld>
            <a:endParaRPr lang="LID4096"/>
          </a:p>
        </p:txBody>
      </p:sp>
      <p:sp>
        <p:nvSpPr>
          <p:cNvPr id="8" name="Text Placeholder 7">
            <a:extLst>
              <a:ext uri="{FF2B5EF4-FFF2-40B4-BE49-F238E27FC236}">
                <a16:creationId xmlns:a16="http://schemas.microsoft.com/office/drawing/2014/main" id="{B2D43F1B-5C31-8357-7C5B-028155F6D017}"/>
              </a:ext>
            </a:extLst>
          </p:cNvPr>
          <p:cNvSpPr>
            <a:spLocks noGrp="1"/>
          </p:cNvSpPr>
          <p:nvPr>
            <p:ph type="body" sz="quarter" idx="13"/>
          </p:nvPr>
        </p:nvSpPr>
        <p:spPr>
          <a:xfrm>
            <a:off x="801688" y="1333500"/>
            <a:ext cx="10552112" cy="4702175"/>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Tree>
    <p:extLst>
      <p:ext uri="{BB962C8B-B14F-4D97-AF65-F5344CB8AC3E}">
        <p14:creationId xmlns:p14="http://schemas.microsoft.com/office/powerpoint/2010/main" val="415783488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Section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B1C8C8-25EF-88DC-16E7-E04ABB8AD831}"/>
              </a:ext>
            </a:extLst>
          </p:cNvPr>
          <p:cNvSpPr>
            <a:spLocks noGrp="1"/>
          </p:cNvSpPr>
          <p:nvPr>
            <p:ph type="ctrTitle"/>
          </p:nvPr>
        </p:nvSpPr>
        <p:spPr>
          <a:xfrm>
            <a:off x="3886200" y="0"/>
            <a:ext cx="7741920" cy="773430"/>
          </a:xfrm>
          <a:prstGeom prst="rect">
            <a:avLst/>
          </a:prstGeom>
        </p:spPr>
        <p:txBody>
          <a:bodyPr anchor="ctr"/>
          <a:lstStyle>
            <a:lvl1pPr algn="r">
              <a:defRPr sz="3000">
                <a:solidFill>
                  <a:schemeClr val="bg1"/>
                </a:solidFill>
                <a:latin typeface="+mn-lt"/>
              </a:defRPr>
            </a:lvl1pPr>
          </a:lstStyle>
          <a:p>
            <a:r>
              <a:rPr lang="en-US"/>
              <a:t>Click to edit Master title style</a:t>
            </a:r>
            <a:endParaRPr lang="LID4096"/>
          </a:p>
        </p:txBody>
      </p:sp>
      <p:sp>
        <p:nvSpPr>
          <p:cNvPr id="4" name="Date Placeholder 3">
            <a:extLst>
              <a:ext uri="{FF2B5EF4-FFF2-40B4-BE49-F238E27FC236}">
                <a16:creationId xmlns:a16="http://schemas.microsoft.com/office/drawing/2014/main" id="{9156048A-1475-BECA-0D5C-B57BA73CE82C}"/>
              </a:ext>
            </a:extLst>
          </p:cNvPr>
          <p:cNvSpPr>
            <a:spLocks noGrp="1"/>
          </p:cNvSpPr>
          <p:nvPr>
            <p:ph type="dt" sz="half" idx="10"/>
          </p:nvPr>
        </p:nvSpPr>
        <p:spPr/>
        <p:txBody>
          <a:bodyPr/>
          <a:lstStyle/>
          <a:p>
            <a:fld id="{10ECE148-BD56-4755-B580-741EAF415DA4}" type="datetime1">
              <a:rPr lang="LID4096" smtClean="0"/>
              <a:t>02/24/2026</a:t>
            </a:fld>
            <a:endParaRPr lang="LID4096"/>
          </a:p>
        </p:txBody>
      </p:sp>
      <p:sp>
        <p:nvSpPr>
          <p:cNvPr id="5" name="Footer Placeholder 4">
            <a:extLst>
              <a:ext uri="{FF2B5EF4-FFF2-40B4-BE49-F238E27FC236}">
                <a16:creationId xmlns:a16="http://schemas.microsoft.com/office/drawing/2014/main" id="{2BE596A6-8AEA-8E00-82FA-0D02CDAEE9B4}"/>
              </a:ext>
            </a:extLst>
          </p:cNvPr>
          <p:cNvSpPr>
            <a:spLocks noGrp="1"/>
          </p:cNvSpPr>
          <p:nvPr>
            <p:ph type="ftr" sz="quarter" idx="11"/>
          </p:nvPr>
        </p:nvSpPr>
        <p:spPr/>
        <p:txBody>
          <a:bodyPr/>
          <a:lstStyle/>
          <a:p>
            <a:r>
              <a:rPr lang="en-GB"/>
              <a:t>Maskinorienterad Programmering</a:t>
            </a:r>
            <a:endParaRPr lang="LID4096"/>
          </a:p>
        </p:txBody>
      </p:sp>
      <p:sp>
        <p:nvSpPr>
          <p:cNvPr id="6" name="Slide Number Placeholder 5">
            <a:extLst>
              <a:ext uri="{FF2B5EF4-FFF2-40B4-BE49-F238E27FC236}">
                <a16:creationId xmlns:a16="http://schemas.microsoft.com/office/drawing/2014/main" id="{0251CFA3-5459-CB23-2E6A-37FD40749348}"/>
              </a:ext>
            </a:extLst>
          </p:cNvPr>
          <p:cNvSpPr>
            <a:spLocks noGrp="1"/>
          </p:cNvSpPr>
          <p:nvPr>
            <p:ph type="sldNum" sz="quarter" idx="12"/>
          </p:nvPr>
        </p:nvSpPr>
        <p:spPr/>
        <p:txBody>
          <a:bodyPr/>
          <a:lstStyle/>
          <a:p>
            <a:fld id="{E46909CE-3A1D-43F5-8F4E-45D6477AD820}" type="slidenum">
              <a:rPr lang="LID4096" smtClean="0"/>
              <a:t>‹#›</a:t>
            </a:fld>
            <a:endParaRPr lang="LID4096"/>
          </a:p>
        </p:txBody>
      </p:sp>
    </p:spTree>
    <p:extLst>
      <p:ext uri="{BB962C8B-B14F-4D97-AF65-F5344CB8AC3E}">
        <p14:creationId xmlns:p14="http://schemas.microsoft.com/office/powerpoint/2010/main" val="113452352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492C8A0-0DE0-C4FC-A8FB-D00A440D094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LID4096"/>
          </a:p>
        </p:txBody>
      </p:sp>
      <p:sp>
        <p:nvSpPr>
          <p:cNvPr id="3" name="Text Placeholder 2">
            <a:extLst>
              <a:ext uri="{FF2B5EF4-FFF2-40B4-BE49-F238E27FC236}">
                <a16:creationId xmlns:a16="http://schemas.microsoft.com/office/drawing/2014/main" id="{504CF994-83D9-1216-3BA3-76E9A3D4D6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5CB6BF0C-3972-8E81-14A3-E51F000884D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16EB631-5B1A-4879-85E7-A8D4C94FBFC5}" type="datetimeFigureOut">
              <a:rPr lang="LID4096" smtClean="0"/>
              <a:t>02/24/2026</a:t>
            </a:fld>
            <a:endParaRPr lang="LID4096"/>
          </a:p>
        </p:txBody>
      </p:sp>
      <p:sp>
        <p:nvSpPr>
          <p:cNvPr id="5" name="Footer Placeholder 4">
            <a:extLst>
              <a:ext uri="{FF2B5EF4-FFF2-40B4-BE49-F238E27FC236}">
                <a16:creationId xmlns:a16="http://schemas.microsoft.com/office/drawing/2014/main" id="{5C46C7A3-C949-61E8-A947-BF7E59CD910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LID4096"/>
          </a:p>
        </p:txBody>
      </p:sp>
      <p:sp>
        <p:nvSpPr>
          <p:cNvPr id="6" name="Slide Number Placeholder 5">
            <a:extLst>
              <a:ext uri="{FF2B5EF4-FFF2-40B4-BE49-F238E27FC236}">
                <a16:creationId xmlns:a16="http://schemas.microsoft.com/office/drawing/2014/main" id="{B4661E2F-B9DE-A2C3-9386-5BE1861F098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C189057-92C1-481C-81FE-C4EA53628E84}" type="slidenum">
              <a:rPr lang="LID4096" smtClean="0"/>
              <a:t>‹#›</a:t>
            </a:fld>
            <a:endParaRPr lang="LID4096"/>
          </a:p>
        </p:txBody>
      </p:sp>
    </p:spTree>
    <p:extLst>
      <p:ext uri="{BB962C8B-B14F-4D97-AF65-F5344CB8AC3E}">
        <p14:creationId xmlns:p14="http://schemas.microsoft.com/office/powerpoint/2010/main" val="220542906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1"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2" r:id="rId14"/>
    <p:sldLayoutId id="2147483663" r:id="rId1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8.png"/><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microsoft.com/office/2007/relationships/hdphoto" Target="../media/hdphoto1.wdp"/><Relationship Id="rId4" Type="http://schemas.openxmlformats.org/officeDocument/2006/relationships/image" Target="../media/image20.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452DF-D5C9-52BE-066B-17C7A4BFAA6E}"/>
              </a:ext>
            </a:extLst>
          </p:cNvPr>
          <p:cNvSpPr>
            <a:spLocks noGrp="1"/>
          </p:cNvSpPr>
          <p:nvPr>
            <p:ph type="ctrTitle"/>
          </p:nvPr>
        </p:nvSpPr>
        <p:spPr/>
        <p:txBody>
          <a:bodyPr/>
          <a:lstStyle/>
          <a:p>
            <a:r>
              <a:rPr lang="sv-SE"/>
              <a:t>Lektion 9</a:t>
            </a:r>
            <a:endParaRPr lang="LID4096"/>
          </a:p>
        </p:txBody>
      </p:sp>
      <p:sp>
        <p:nvSpPr>
          <p:cNvPr id="3" name="Subtitle 2">
            <a:extLst>
              <a:ext uri="{FF2B5EF4-FFF2-40B4-BE49-F238E27FC236}">
                <a16:creationId xmlns:a16="http://schemas.microsoft.com/office/drawing/2014/main" id="{BA50E2CB-296B-2D3A-2C5D-AF9D01690A6E}"/>
              </a:ext>
            </a:extLst>
          </p:cNvPr>
          <p:cNvSpPr>
            <a:spLocks noGrp="1"/>
          </p:cNvSpPr>
          <p:nvPr>
            <p:ph type="subTitle" idx="1"/>
          </p:nvPr>
        </p:nvSpPr>
        <p:spPr/>
        <p:txBody>
          <a:bodyPr/>
          <a:lstStyle/>
          <a:p>
            <a:r>
              <a:rPr lang="sv-SE"/>
              <a:t>External Interrupts</a:t>
            </a:r>
          </a:p>
        </p:txBody>
      </p:sp>
    </p:spTree>
    <p:extLst>
      <p:ext uri="{BB962C8B-B14F-4D97-AF65-F5344CB8AC3E}">
        <p14:creationId xmlns:p14="http://schemas.microsoft.com/office/powerpoint/2010/main" val="31743653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7AB3F5-78EF-EAD9-EE87-2B7C973C06CA}"/>
              </a:ext>
            </a:extLst>
          </p:cNvPr>
          <p:cNvSpPr>
            <a:spLocks noGrp="1"/>
          </p:cNvSpPr>
          <p:nvPr>
            <p:ph type="title"/>
          </p:nvPr>
        </p:nvSpPr>
        <p:spPr/>
        <p:txBody>
          <a:bodyPr/>
          <a:lstStyle/>
          <a:p>
            <a:r>
              <a:rPr lang="en-GB"/>
              <a:t>Recap: PFIC</a:t>
            </a:r>
            <a:endParaRPr lang="LID4096"/>
          </a:p>
        </p:txBody>
      </p:sp>
      <p:pic>
        <p:nvPicPr>
          <p:cNvPr id="5" name="Picture 4">
            <a:extLst>
              <a:ext uri="{FF2B5EF4-FFF2-40B4-BE49-F238E27FC236}">
                <a16:creationId xmlns:a16="http://schemas.microsoft.com/office/drawing/2014/main" id="{7B5F34D8-DC02-7938-6265-639246E28FAF}"/>
              </a:ext>
            </a:extLst>
          </p:cNvPr>
          <p:cNvPicPr>
            <a:picLocks noChangeAspect="1"/>
          </p:cNvPicPr>
          <p:nvPr/>
        </p:nvPicPr>
        <p:blipFill>
          <a:blip r:embed="rId3"/>
          <a:stretch>
            <a:fillRect/>
          </a:stretch>
        </p:blipFill>
        <p:spPr>
          <a:xfrm>
            <a:off x="449980" y="2357572"/>
            <a:ext cx="11256899" cy="3488336"/>
          </a:xfrm>
          <a:prstGeom prst="rect">
            <a:avLst/>
          </a:prstGeom>
        </p:spPr>
      </p:pic>
      <p:grpSp>
        <p:nvGrpSpPr>
          <p:cNvPr id="9" name="Group 8">
            <a:extLst>
              <a:ext uri="{FF2B5EF4-FFF2-40B4-BE49-F238E27FC236}">
                <a16:creationId xmlns:a16="http://schemas.microsoft.com/office/drawing/2014/main" id="{90E9A9E0-4B49-F287-B61D-B2FBDB2DCF03}"/>
              </a:ext>
            </a:extLst>
          </p:cNvPr>
          <p:cNvGrpSpPr/>
          <p:nvPr/>
        </p:nvGrpSpPr>
        <p:grpSpPr>
          <a:xfrm>
            <a:off x="6888801" y="0"/>
            <a:ext cx="5303199" cy="6858000"/>
            <a:chOff x="6888801" y="0"/>
            <a:chExt cx="5303199" cy="6858000"/>
          </a:xfrm>
        </p:grpSpPr>
        <p:pic>
          <p:nvPicPr>
            <p:cNvPr id="7" name="Picture 6">
              <a:extLst>
                <a:ext uri="{FF2B5EF4-FFF2-40B4-BE49-F238E27FC236}">
                  <a16:creationId xmlns:a16="http://schemas.microsoft.com/office/drawing/2014/main" id="{EBB209E1-B318-E95C-8E19-350F8BB3FC79}"/>
                </a:ext>
              </a:extLst>
            </p:cNvPr>
            <p:cNvPicPr>
              <a:picLocks noChangeAspect="1"/>
            </p:cNvPicPr>
            <p:nvPr/>
          </p:nvPicPr>
          <p:blipFill>
            <a:blip r:embed="rId4"/>
            <a:stretch>
              <a:fillRect/>
            </a:stretch>
          </p:blipFill>
          <p:spPr>
            <a:xfrm>
              <a:off x="6888801" y="0"/>
              <a:ext cx="5303199" cy="6858000"/>
            </a:xfrm>
            <a:prstGeom prst="rect">
              <a:avLst/>
            </a:prstGeom>
            <a:ln>
              <a:solidFill>
                <a:schemeClr val="tx1"/>
              </a:solidFill>
            </a:ln>
          </p:spPr>
        </p:pic>
        <p:sp>
          <p:nvSpPr>
            <p:cNvPr id="8" name="Rectangle: Rounded Corners 7">
              <a:extLst>
                <a:ext uri="{FF2B5EF4-FFF2-40B4-BE49-F238E27FC236}">
                  <a16:creationId xmlns:a16="http://schemas.microsoft.com/office/drawing/2014/main" id="{D7BE72CE-CAAC-1FC4-1968-1C5CE330DA2E}"/>
                </a:ext>
              </a:extLst>
            </p:cNvPr>
            <p:cNvSpPr/>
            <p:nvPr/>
          </p:nvSpPr>
          <p:spPr>
            <a:xfrm>
              <a:off x="6954819" y="3313355"/>
              <a:ext cx="5158292" cy="941294"/>
            </a:xfrm>
            <a:prstGeom prst="roundRect">
              <a:avLst>
                <a:gd name="adj" fmla="val 8667"/>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spTree>
    <p:extLst>
      <p:ext uri="{BB962C8B-B14F-4D97-AF65-F5344CB8AC3E}">
        <p14:creationId xmlns:p14="http://schemas.microsoft.com/office/powerpoint/2010/main" val="2236185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993647-B573-B62A-0E96-00E704ABD463}"/>
              </a:ext>
            </a:extLst>
          </p:cNvPr>
          <p:cNvSpPr>
            <a:spLocks noGrp="1"/>
          </p:cNvSpPr>
          <p:nvPr>
            <p:ph type="title"/>
          </p:nvPr>
        </p:nvSpPr>
        <p:spPr/>
        <p:txBody>
          <a:bodyPr/>
          <a:lstStyle/>
          <a:p>
            <a:r>
              <a:rPr lang="sv-SE"/>
              <a:t>Challenge! </a:t>
            </a:r>
            <a:endParaRPr lang="LID4096"/>
          </a:p>
        </p:txBody>
      </p:sp>
      <p:sp>
        <p:nvSpPr>
          <p:cNvPr id="3" name="Content Placeholder 2">
            <a:extLst>
              <a:ext uri="{FF2B5EF4-FFF2-40B4-BE49-F238E27FC236}">
                <a16:creationId xmlns:a16="http://schemas.microsoft.com/office/drawing/2014/main" id="{D3E8E1BE-0403-CA40-67C5-68494A503146}"/>
              </a:ext>
            </a:extLst>
          </p:cNvPr>
          <p:cNvSpPr>
            <a:spLocks noGrp="1"/>
          </p:cNvSpPr>
          <p:nvPr>
            <p:ph idx="1"/>
          </p:nvPr>
        </p:nvSpPr>
        <p:spPr/>
        <p:txBody>
          <a:bodyPr>
            <a:normAutofit lnSpcReduction="10000"/>
          </a:bodyPr>
          <a:lstStyle/>
          <a:p>
            <a:r>
              <a:rPr lang="sv-SE" dirty="0"/>
              <a:t>Få tre led lampor att blinka med tre olika frekvenser (f1, f2, f3)</a:t>
            </a:r>
          </a:p>
          <a:p>
            <a:endParaRPr lang="sv-SE" dirty="0"/>
          </a:p>
          <a:p>
            <a:r>
              <a:rPr lang="sv-SE" sz="2400" dirty="0"/>
              <a:t>f1 = 1Hz, f2 = 2Hz, f3 = 3Hz:</a:t>
            </a:r>
            <a:br>
              <a:rPr lang="sv-SE" sz="2400" dirty="0"/>
            </a:br>
            <a:r>
              <a:rPr lang="sv-SE" sz="2400" dirty="0"/>
              <a:t>Med </a:t>
            </a:r>
            <a:r>
              <a:rPr lang="sv-SE" sz="2400" dirty="0" err="1"/>
              <a:t>systick</a:t>
            </a:r>
            <a:r>
              <a:rPr lang="sv-SE" sz="2400" dirty="0"/>
              <a:t>? </a:t>
            </a:r>
          </a:p>
          <a:p>
            <a:endParaRPr lang="sv-SE" dirty="0"/>
          </a:p>
          <a:p>
            <a:endParaRPr lang="sv-SE" dirty="0"/>
          </a:p>
          <a:p>
            <a:br>
              <a:rPr lang="sv-SE" dirty="0"/>
            </a:br>
            <a:endParaRPr lang="sv-SE" dirty="0"/>
          </a:p>
          <a:p>
            <a:r>
              <a:rPr lang="en-US" sz="2400" dirty="0"/>
              <a:t>f1 = 1Hz, f2 = 3, and f3 = 5</a:t>
            </a:r>
          </a:p>
          <a:p>
            <a:pPr lvl="1"/>
            <a:r>
              <a:rPr lang="en-US" sz="2000" dirty="0" err="1"/>
              <a:t>systick</a:t>
            </a:r>
            <a:r>
              <a:rPr lang="en-US" sz="2000" dirty="0"/>
              <a:t> </a:t>
            </a:r>
            <a:r>
              <a:rPr lang="en-US" sz="2000" dirty="0" err="1"/>
              <a:t>måste</a:t>
            </a:r>
            <a:r>
              <a:rPr lang="en-US" sz="2000" dirty="0"/>
              <a:t> </a:t>
            </a:r>
            <a:r>
              <a:rPr lang="en-US" sz="2000" dirty="0" err="1"/>
              <a:t>köras</a:t>
            </a:r>
            <a:r>
              <a:rPr lang="en-US" sz="2000" dirty="0"/>
              <a:t> </a:t>
            </a:r>
            <a:r>
              <a:rPr lang="en-US" sz="2000" dirty="0" err="1"/>
              <a:t>i</a:t>
            </a:r>
            <a:r>
              <a:rPr lang="en-US" sz="2000" dirty="0"/>
              <a:t> 15Hz, och </a:t>
            </a:r>
            <a:r>
              <a:rPr lang="en-US" sz="2000" dirty="0" err="1"/>
              <a:t>oftast</a:t>
            </a:r>
            <a:br>
              <a:rPr lang="en-US" sz="2000" dirty="0"/>
            </a:br>
            <a:r>
              <a:rPr lang="en-US" sz="2000" dirty="0" err="1"/>
              <a:t>inte</a:t>
            </a:r>
            <a:r>
              <a:rPr lang="en-US" sz="2000" dirty="0"/>
              <a:t> </a:t>
            </a:r>
            <a:r>
              <a:rPr lang="en-US" sz="2000" dirty="0" err="1"/>
              <a:t>göra</a:t>
            </a:r>
            <a:r>
              <a:rPr lang="en-US" sz="2000" dirty="0"/>
              <a:t> </a:t>
            </a:r>
            <a:r>
              <a:rPr lang="en-US" sz="2000" dirty="0" err="1"/>
              <a:t>någonting</a:t>
            </a:r>
            <a:endParaRPr lang="sv-SE" sz="2000" dirty="0"/>
          </a:p>
        </p:txBody>
      </p:sp>
      <p:pic>
        <p:nvPicPr>
          <p:cNvPr id="5" name="Picture 4">
            <a:extLst>
              <a:ext uri="{FF2B5EF4-FFF2-40B4-BE49-F238E27FC236}">
                <a16:creationId xmlns:a16="http://schemas.microsoft.com/office/drawing/2014/main" id="{0A654C14-67A2-11B5-5C82-6D0E28E98313}"/>
              </a:ext>
            </a:extLst>
          </p:cNvPr>
          <p:cNvPicPr>
            <a:picLocks noChangeAspect="1"/>
          </p:cNvPicPr>
          <p:nvPr/>
        </p:nvPicPr>
        <p:blipFill>
          <a:blip r:embed="rId3"/>
          <a:stretch>
            <a:fillRect/>
          </a:stretch>
        </p:blipFill>
        <p:spPr>
          <a:xfrm>
            <a:off x="6191026" y="3708600"/>
            <a:ext cx="6000974" cy="3149400"/>
          </a:xfrm>
          <a:prstGeom prst="rect">
            <a:avLst/>
          </a:prstGeom>
        </p:spPr>
      </p:pic>
      <p:sp>
        <p:nvSpPr>
          <p:cNvPr id="7" name="TextBox 6">
            <a:extLst>
              <a:ext uri="{FF2B5EF4-FFF2-40B4-BE49-F238E27FC236}">
                <a16:creationId xmlns:a16="http://schemas.microsoft.com/office/drawing/2014/main" id="{EC707B04-7022-202E-59C8-A787D9ECFB3A}"/>
              </a:ext>
            </a:extLst>
          </p:cNvPr>
          <p:cNvSpPr txBox="1"/>
          <p:nvPr/>
        </p:nvSpPr>
        <p:spPr>
          <a:xfrm>
            <a:off x="11013140" y="3870489"/>
            <a:ext cx="599739" cy="261610"/>
          </a:xfrm>
          <a:prstGeom prst="rect">
            <a:avLst/>
          </a:prstGeom>
          <a:noFill/>
        </p:spPr>
        <p:txBody>
          <a:bodyPr wrap="square">
            <a:spAutoFit/>
          </a:bodyPr>
          <a:lstStyle/>
          <a:p>
            <a:r>
              <a:rPr lang="sv-SE" sz="1100">
                <a:latin typeface="Consolas" panose="020B0609020204030204" pitchFamily="49" charset="0"/>
              </a:rPr>
              <a:t>f1</a:t>
            </a:r>
            <a:endParaRPr lang="LID4096" sz="1100">
              <a:latin typeface="Consolas" panose="020B0609020204030204" pitchFamily="49" charset="0"/>
            </a:endParaRPr>
          </a:p>
        </p:txBody>
      </p:sp>
      <p:sp>
        <p:nvSpPr>
          <p:cNvPr id="8" name="TextBox 7">
            <a:extLst>
              <a:ext uri="{FF2B5EF4-FFF2-40B4-BE49-F238E27FC236}">
                <a16:creationId xmlns:a16="http://schemas.microsoft.com/office/drawing/2014/main" id="{FA30C769-8015-284A-2CA8-050139AD4979}"/>
              </a:ext>
            </a:extLst>
          </p:cNvPr>
          <p:cNvSpPr txBox="1"/>
          <p:nvPr/>
        </p:nvSpPr>
        <p:spPr>
          <a:xfrm>
            <a:off x="10950387" y="4892921"/>
            <a:ext cx="599739" cy="261610"/>
          </a:xfrm>
          <a:prstGeom prst="rect">
            <a:avLst/>
          </a:prstGeom>
          <a:noFill/>
        </p:spPr>
        <p:txBody>
          <a:bodyPr wrap="square">
            <a:spAutoFit/>
          </a:bodyPr>
          <a:lstStyle/>
          <a:p>
            <a:r>
              <a:rPr lang="sv-SE" sz="1100">
                <a:latin typeface="Consolas" panose="020B0609020204030204" pitchFamily="49" charset="0"/>
              </a:rPr>
              <a:t>f2</a:t>
            </a:r>
            <a:endParaRPr lang="LID4096" sz="1100">
              <a:latin typeface="Consolas" panose="020B0609020204030204" pitchFamily="49" charset="0"/>
            </a:endParaRPr>
          </a:p>
        </p:txBody>
      </p:sp>
      <p:sp>
        <p:nvSpPr>
          <p:cNvPr id="9" name="TextBox 8">
            <a:extLst>
              <a:ext uri="{FF2B5EF4-FFF2-40B4-BE49-F238E27FC236}">
                <a16:creationId xmlns:a16="http://schemas.microsoft.com/office/drawing/2014/main" id="{F3863B05-D28A-D5E5-CD25-B1FD08880246}"/>
              </a:ext>
            </a:extLst>
          </p:cNvPr>
          <p:cNvSpPr txBox="1"/>
          <p:nvPr/>
        </p:nvSpPr>
        <p:spPr>
          <a:xfrm>
            <a:off x="11802034" y="5093730"/>
            <a:ext cx="599739" cy="261610"/>
          </a:xfrm>
          <a:prstGeom prst="rect">
            <a:avLst/>
          </a:prstGeom>
          <a:noFill/>
        </p:spPr>
        <p:txBody>
          <a:bodyPr wrap="square">
            <a:spAutoFit/>
          </a:bodyPr>
          <a:lstStyle/>
          <a:p>
            <a:r>
              <a:rPr lang="sv-SE" sz="1100">
                <a:latin typeface="Consolas" panose="020B0609020204030204" pitchFamily="49" charset="0"/>
              </a:rPr>
              <a:t>f3</a:t>
            </a:r>
            <a:endParaRPr lang="LID4096" sz="1100">
              <a:latin typeface="Consolas" panose="020B0609020204030204" pitchFamily="49" charset="0"/>
            </a:endParaRPr>
          </a:p>
        </p:txBody>
      </p:sp>
      <p:pic>
        <p:nvPicPr>
          <p:cNvPr id="11" name="Picture 10">
            <a:extLst>
              <a:ext uri="{FF2B5EF4-FFF2-40B4-BE49-F238E27FC236}">
                <a16:creationId xmlns:a16="http://schemas.microsoft.com/office/drawing/2014/main" id="{0B670589-CB8A-2B62-EAA7-CB702457599E}"/>
              </a:ext>
            </a:extLst>
          </p:cNvPr>
          <p:cNvPicPr>
            <a:picLocks noChangeAspect="1"/>
          </p:cNvPicPr>
          <p:nvPr/>
        </p:nvPicPr>
        <p:blipFill>
          <a:blip r:embed="rId4"/>
          <a:stretch>
            <a:fillRect/>
          </a:stretch>
        </p:blipFill>
        <p:spPr>
          <a:xfrm>
            <a:off x="821501" y="3771411"/>
            <a:ext cx="5243571" cy="1438606"/>
          </a:xfrm>
          <a:prstGeom prst="rect">
            <a:avLst/>
          </a:prstGeom>
        </p:spPr>
      </p:pic>
    </p:spTree>
    <p:extLst>
      <p:ext uri="{BB962C8B-B14F-4D97-AF65-F5344CB8AC3E}">
        <p14:creationId xmlns:p14="http://schemas.microsoft.com/office/powerpoint/2010/main" val="34425219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animEffect transition="in" filter="fade">
                                      <p:cBhvr>
                                        <p:cTn id="17" dur="500"/>
                                        <p:tgtEl>
                                          <p:spTgt spid="3">
                                            <p:txEl>
                                              <p:pRg st="6" end="6"/>
                                            </p:txEl>
                                          </p:spTgt>
                                        </p:tgtEl>
                                      </p:cBhvr>
                                    </p:animEffect>
                                  </p:childTnLst>
                                </p:cTn>
                              </p:par>
                              <p:par>
                                <p:cTn id="18" presetID="10" presetClass="entr" presetSubtype="0" fill="hold" nodeType="withEffect">
                                  <p:stCondLst>
                                    <p:cond delay="0"/>
                                  </p:stCondLst>
                                  <p:childTnLst>
                                    <p:set>
                                      <p:cBhvr>
                                        <p:cTn id="19" dur="1" fill="hold">
                                          <p:stCondLst>
                                            <p:cond delay="0"/>
                                          </p:stCondLst>
                                        </p:cTn>
                                        <p:tgtEl>
                                          <p:spTgt spid="3">
                                            <p:txEl>
                                              <p:pRg st="7" end="7"/>
                                            </p:txEl>
                                          </p:spTgt>
                                        </p:tgtEl>
                                        <p:attrNameLst>
                                          <p:attrName>style.visibility</p:attrName>
                                        </p:attrNameLst>
                                      </p:cBhvr>
                                      <p:to>
                                        <p:strVal val="visible"/>
                                      </p:to>
                                    </p:set>
                                    <p:animEffect transition="in" filter="fade">
                                      <p:cBhvr>
                                        <p:cTn id="20"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B24AEA-50C9-2758-31AF-A6BFAB72E999}"/>
              </a:ext>
            </a:extLst>
          </p:cNvPr>
          <p:cNvSpPr>
            <a:spLocks noGrp="1"/>
          </p:cNvSpPr>
          <p:nvPr>
            <p:ph type="title"/>
          </p:nvPr>
        </p:nvSpPr>
        <p:spPr/>
        <p:txBody>
          <a:bodyPr/>
          <a:lstStyle/>
          <a:p>
            <a:r>
              <a:rPr lang="sv-SE"/>
              <a:t>Basic Timers</a:t>
            </a:r>
            <a:endParaRPr lang="LID4096"/>
          </a:p>
        </p:txBody>
      </p:sp>
      <p:pic>
        <p:nvPicPr>
          <p:cNvPr id="5" name="Picture 4">
            <a:extLst>
              <a:ext uri="{FF2B5EF4-FFF2-40B4-BE49-F238E27FC236}">
                <a16:creationId xmlns:a16="http://schemas.microsoft.com/office/drawing/2014/main" id="{A277E876-0CB3-05FA-C6A7-F315124F3379}"/>
              </a:ext>
            </a:extLst>
          </p:cNvPr>
          <p:cNvPicPr>
            <a:picLocks noChangeAspect="1"/>
          </p:cNvPicPr>
          <p:nvPr/>
        </p:nvPicPr>
        <p:blipFill>
          <a:blip r:embed="rId3"/>
          <a:stretch>
            <a:fillRect/>
          </a:stretch>
        </p:blipFill>
        <p:spPr>
          <a:xfrm>
            <a:off x="283276" y="1893345"/>
            <a:ext cx="4993576" cy="2177317"/>
          </a:xfrm>
          <a:prstGeom prst="rect">
            <a:avLst/>
          </a:prstGeom>
        </p:spPr>
      </p:pic>
      <p:grpSp>
        <p:nvGrpSpPr>
          <p:cNvPr id="10" name="Group 9">
            <a:extLst>
              <a:ext uri="{FF2B5EF4-FFF2-40B4-BE49-F238E27FC236}">
                <a16:creationId xmlns:a16="http://schemas.microsoft.com/office/drawing/2014/main" id="{4A6EFCB0-9C7F-AF3F-BE3A-E46D993DC142}"/>
              </a:ext>
            </a:extLst>
          </p:cNvPr>
          <p:cNvGrpSpPr/>
          <p:nvPr/>
        </p:nvGrpSpPr>
        <p:grpSpPr>
          <a:xfrm>
            <a:off x="4512833" y="2241185"/>
            <a:ext cx="2959441" cy="426712"/>
            <a:chOff x="4512833" y="2241185"/>
            <a:chExt cx="2959441" cy="426712"/>
          </a:xfrm>
        </p:grpSpPr>
        <p:sp>
          <p:nvSpPr>
            <p:cNvPr id="6" name="Rectangle: Rounded Corners 5">
              <a:extLst>
                <a:ext uri="{FF2B5EF4-FFF2-40B4-BE49-F238E27FC236}">
                  <a16:creationId xmlns:a16="http://schemas.microsoft.com/office/drawing/2014/main" id="{B8DAC031-A10F-01EA-D5BC-5EE516805303}"/>
                </a:ext>
              </a:extLst>
            </p:cNvPr>
            <p:cNvSpPr/>
            <p:nvPr/>
          </p:nvSpPr>
          <p:spPr>
            <a:xfrm>
              <a:off x="4512833" y="2463501"/>
              <a:ext cx="129092" cy="204396"/>
            </a:xfrm>
            <a:prstGeom prst="roundRect">
              <a:avLst>
                <a:gd name="adj" fmla="val 8667"/>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8" name="Straight Connector 7">
              <a:extLst>
                <a:ext uri="{FF2B5EF4-FFF2-40B4-BE49-F238E27FC236}">
                  <a16:creationId xmlns:a16="http://schemas.microsoft.com/office/drawing/2014/main" id="{931664FF-6C5C-62E1-9F28-DBC81673B938}"/>
                </a:ext>
              </a:extLst>
            </p:cNvPr>
            <p:cNvCxnSpPr>
              <a:stCxn id="6" idx="0"/>
            </p:cNvCxnSpPr>
            <p:nvPr/>
          </p:nvCxnSpPr>
          <p:spPr>
            <a:xfrm>
              <a:off x="4577379" y="2463501"/>
              <a:ext cx="2791609" cy="0"/>
            </a:xfrm>
            <a:prstGeom prst="line">
              <a:avLst/>
            </a:prstGeom>
            <a:ln>
              <a:solidFill>
                <a:srgbClr val="FFC00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B4865F1D-43F4-98C4-0E6B-9111E49D1625}"/>
                </a:ext>
              </a:extLst>
            </p:cNvPr>
            <p:cNvSpPr txBox="1"/>
            <p:nvPr/>
          </p:nvSpPr>
          <p:spPr>
            <a:xfrm>
              <a:off x="5859332" y="2241185"/>
              <a:ext cx="1612942" cy="276999"/>
            </a:xfrm>
            <a:prstGeom prst="rect">
              <a:avLst/>
            </a:prstGeom>
            <a:noFill/>
          </p:spPr>
          <p:txBody>
            <a:bodyPr wrap="none" rtlCol="0">
              <a:spAutoFit/>
            </a:bodyPr>
            <a:lstStyle/>
            <a:p>
              <a:r>
                <a:rPr lang="en-GB" sz="1200"/>
                <a:t>Enable/Disable Timer</a:t>
              </a:r>
              <a:endParaRPr lang="LID4096" sz="1200"/>
            </a:p>
          </p:txBody>
        </p:sp>
      </p:grpSp>
      <p:grpSp>
        <p:nvGrpSpPr>
          <p:cNvPr id="11" name="Group 10">
            <a:extLst>
              <a:ext uri="{FF2B5EF4-FFF2-40B4-BE49-F238E27FC236}">
                <a16:creationId xmlns:a16="http://schemas.microsoft.com/office/drawing/2014/main" id="{2E718BF6-8B5E-A696-D4CC-AFCA28287F9C}"/>
              </a:ext>
            </a:extLst>
          </p:cNvPr>
          <p:cNvGrpSpPr/>
          <p:nvPr/>
        </p:nvGrpSpPr>
        <p:grpSpPr>
          <a:xfrm>
            <a:off x="4512833" y="2641969"/>
            <a:ext cx="3240223" cy="426712"/>
            <a:chOff x="4512833" y="2241185"/>
            <a:chExt cx="3240223" cy="426712"/>
          </a:xfrm>
        </p:grpSpPr>
        <p:sp>
          <p:nvSpPr>
            <p:cNvPr id="12" name="Rectangle: Rounded Corners 11">
              <a:extLst>
                <a:ext uri="{FF2B5EF4-FFF2-40B4-BE49-F238E27FC236}">
                  <a16:creationId xmlns:a16="http://schemas.microsoft.com/office/drawing/2014/main" id="{C8A6331B-7E04-77D2-A9E1-04CD5DF89AC3}"/>
                </a:ext>
              </a:extLst>
            </p:cNvPr>
            <p:cNvSpPr/>
            <p:nvPr/>
          </p:nvSpPr>
          <p:spPr>
            <a:xfrm>
              <a:off x="4512833" y="2463501"/>
              <a:ext cx="129092" cy="204396"/>
            </a:xfrm>
            <a:prstGeom prst="roundRect">
              <a:avLst>
                <a:gd name="adj" fmla="val 8667"/>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13" name="Straight Connector 12">
              <a:extLst>
                <a:ext uri="{FF2B5EF4-FFF2-40B4-BE49-F238E27FC236}">
                  <a16:creationId xmlns:a16="http://schemas.microsoft.com/office/drawing/2014/main" id="{40E7576B-F0A0-6C40-10B8-D146A68FB8BF}"/>
                </a:ext>
              </a:extLst>
            </p:cNvPr>
            <p:cNvCxnSpPr>
              <a:cxnSpLocks/>
              <a:stCxn id="12" idx="0"/>
            </p:cNvCxnSpPr>
            <p:nvPr/>
          </p:nvCxnSpPr>
          <p:spPr>
            <a:xfrm>
              <a:off x="4577379" y="2463501"/>
              <a:ext cx="3087445" cy="0"/>
            </a:xfrm>
            <a:prstGeom prst="line">
              <a:avLst/>
            </a:prstGeom>
            <a:ln>
              <a:solidFill>
                <a:srgbClr val="FFC000"/>
              </a:solidFill>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19716BCA-29F0-C9E5-CB7E-F3A2229AB562}"/>
                </a:ext>
              </a:extLst>
            </p:cNvPr>
            <p:cNvSpPr txBox="1"/>
            <p:nvPr/>
          </p:nvSpPr>
          <p:spPr>
            <a:xfrm>
              <a:off x="5859332" y="2241185"/>
              <a:ext cx="1893724" cy="276999"/>
            </a:xfrm>
            <a:prstGeom prst="rect">
              <a:avLst/>
            </a:prstGeom>
            <a:noFill/>
          </p:spPr>
          <p:txBody>
            <a:bodyPr wrap="none" rtlCol="0">
              <a:spAutoFit/>
            </a:bodyPr>
            <a:lstStyle/>
            <a:p>
              <a:r>
                <a:rPr lang="en-GB" sz="1200"/>
                <a:t>Enable/Disable Interrupts</a:t>
              </a:r>
              <a:endParaRPr lang="LID4096" sz="1200"/>
            </a:p>
          </p:txBody>
        </p:sp>
      </p:grpSp>
      <p:grpSp>
        <p:nvGrpSpPr>
          <p:cNvPr id="16" name="Group 15">
            <a:extLst>
              <a:ext uri="{FF2B5EF4-FFF2-40B4-BE49-F238E27FC236}">
                <a16:creationId xmlns:a16="http://schemas.microsoft.com/office/drawing/2014/main" id="{0D02348A-E95A-10F9-0468-03055FDED642}"/>
              </a:ext>
            </a:extLst>
          </p:cNvPr>
          <p:cNvGrpSpPr/>
          <p:nvPr/>
        </p:nvGrpSpPr>
        <p:grpSpPr>
          <a:xfrm>
            <a:off x="2770094" y="3227354"/>
            <a:ext cx="5267142" cy="426712"/>
            <a:chOff x="2770094" y="2241185"/>
            <a:chExt cx="5267142" cy="426712"/>
          </a:xfrm>
        </p:grpSpPr>
        <p:sp>
          <p:nvSpPr>
            <p:cNvPr id="17" name="Rectangle: Rounded Corners 16">
              <a:extLst>
                <a:ext uri="{FF2B5EF4-FFF2-40B4-BE49-F238E27FC236}">
                  <a16:creationId xmlns:a16="http://schemas.microsoft.com/office/drawing/2014/main" id="{8BE2F79A-192F-FAB5-6E57-0086781BF78F}"/>
                </a:ext>
              </a:extLst>
            </p:cNvPr>
            <p:cNvSpPr/>
            <p:nvPr/>
          </p:nvSpPr>
          <p:spPr>
            <a:xfrm>
              <a:off x="2770094" y="2463501"/>
              <a:ext cx="1871831" cy="204396"/>
            </a:xfrm>
            <a:prstGeom prst="roundRect">
              <a:avLst>
                <a:gd name="adj" fmla="val 8667"/>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18" name="Straight Connector 17">
              <a:extLst>
                <a:ext uri="{FF2B5EF4-FFF2-40B4-BE49-F238E27FC236}">
                  <a16:creationId xmlns:a16="http://schemas.microsoft.com/office/drawing/2014/main" id="{114CE08C-3939-F8F5-A593-59256A1C165A}"/>
                </a:ext>
              </a:extLst>
            </p:cNvPr>
            <p:cNvCxnSpPr>
              <a:cxnSpLocks/>
              <a:stCxn id="17" idx="0"/>
            </p:cNvCxnSpPr>
            <p:nvPr/>
          </p:nvCxnSpPr>
          <p:spPr>
            <a:xfrm>
              <a:off x="3706010" y="2463501"/>
              <a:ext cx="4249270" cy="0"/>
            </a:xfrm>
            <a:prstGeom prst="line">
              <a:avLst/>
            </a:prstGeom>
            <a:ln>
              <a:solidFill>
                <a:srgbClr val="FFC000"/>
              </a:solidFill>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2F3074B5-38F1-411B-65EE-F256814B18E0}"/>
                </a:ext>
              </a:extLst>
            </p:cNvPr>
            <p:cNvSpPr txBox="1"/>
            <p:nvPr/>
          </p:nvSpPr>
          <p:spPr>
            <a:xfrm>
              <a:off x="5859332" y="2241185"/>
              <a:ext cx="2177904" cy="276999"/>
            </a:xfrm>
            <a:prstGeom prst="rect">
              <a:avLst/>
            </a:prstGeom>
            <a:noFill/>
          </p:spPr>
          <p:txBody>
            <a:bodyPr wrap="none" rtlCol="0">
              <a:spAutoFit/>
            </a:bodyPr>
            <a:lstStyle/>
            <a:p>
              <a:r>
                <a:rPr lang="en-GB" sz="1200"/>
                <a:t>R</a:t>
              </a:r>
              <a:r>
                <a:rPr lang="sv-SE" sz="1200"/>
                <a:t>äknas upp varje klockcykel...</a:t>
              </a:r>
              <a:endParaRPr lang="LID4096" sz="1200"/>
            </a:p>
          </p:txBody>
        </p:sp>
      </p:grpSp>
      <p:grpSp>
        <p:nvGrpSpPr>
          <p:cNvPr id="26" name="Group 25">
            <a:extLst>
              <a:ext uri="{FF2B5EF4-FFF2-40B4-BE49-F238E27FC236}">
                <a16:creationId xmlns:a16="http://schemas.microsoft.com/office/drawing/2014/main" id="{0924D58B-623C-778F-E321-FA7E7E0414BE}"/>
              </a:ext>
            </a:extLst>
          </p:cNvPr>
          <p:cNvGrpSpPr/>
          <p:nvPr/>
        </p:nvGrpSpPr>
        <p:grpSpPr>
          <a:xfrm>
            <a:off x="2779797" y="3608343"/>
            <a:ext cx="4943528" cy="426712"/>
            <a:chOff x="2770094" y="2241185"/>
            <a:chExt cx="4943528" cy="426712"/>
          </a:xfrm>
        </p:grpSpPr>
        <p:sp>
          <p:nvSpPr>
            <p:cNvPr id="27" name="Rectangle: Rounded Corners 26">
              <a:extLst>
                <a:ext uri="{FF2B5EF4-FFF2-40B4-BE49-F238E27FC236}">
                  <a16:creationId xmlns:a16="http://schemas.microsoft.com/office/drawing/2014/main" id="{661B0340-74BB-6B06-5A8F-E4500668EF72}"/>
                </a:ext>
              </a:extLst>
            </p:cNvPr>
            <p:cNvSpPr/>
            <p:nvPr/>
          </p:nvSpPr>
          <p:spPr>
            <a:xfrm>
              <a:off x="2770094" y="2463501"/>
              <a:ext cx="1871831" cy="204396"/>
            </a:xfrm>
            <a:prstGeom prst="roundRect">
              <a:avLst>
                <a:gd name="adj" fmla="val 8667"/>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28" name="Straight Connector 27">
              <a:extLst>
                <a:ext uri="{FF2B5EF4-FFF2-40B4-BE49-F238E27FC236}">
                  <a16:creationId xmlns:a16="http://schemas.microsoft.com/office/drawing/2014/main" id="{2E0E5CB0-7616-AD1A-962B-243F69A67B31}"/>
                </a:ext>
              </a:extLst>
            </p:cNvPr>
            <p:cNvCxnSpPr>
              <a:cxnSpLocks/>
              <a:stCxn id="27" idx="0"/>
            </p:cNvCxnSpPr>
            <p:nvPr/>
          </p:nvCxnSpPr>
          <p:spPr>
            <a:xfrm>
              <a:off x="3706010" y="2463501"/>
              <a:ext cx="3879186" cy="0"/>
            </a:xfrm>
            <a:prstGeom prst="line">
              <a:avLst/>
            </a:prstGeom>
            <a:ln>
              <a:solidFill>
                <a:srgbClr val="FFC000"/>
              </a:solidFill>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7B6E81D6-CA5A-1D28-D3E4-FB8F4648392E}"/>
                </a:ext>
              </a:extLst>
            </p:cNvPr>
            <p:cNvSpPr txBox="1"/>
            <p:nvPr/>
          </p:nvSpPr>
          <p:spPr>
            <a:xfrm>
              <a:off x="5859332" y="2241185"/>
              <a:ext cx="1854290" cy="276999"/>
            </a:xfrm>
            <a:prstGeom prst="rect">
              <a:avLst/>
            </a:prstGeom>
            <a:noFill/>
          </p:spPr>
          <p:txBody>
            <a:bodyPr wrap="none" rtlCol="0">
              <a:spAutoFit/>
            </a:bodyPr>
            <a:lstStyle/>
            <a:p>
              <a:r>
                <a:rPr lang="sv-SE" sz="1200"/>
                <a:t>tills den är lika med detta</a:t>
              </a:r>
              <a:endParaRPr lang="LID4096" sz="1200"/>
            </a:p>
          </p:txBody>
        </p:sp>
      </p:grpSp>
      <p:sp>
        <p:nvSpPr>
          <p:cNvPr id="31" name="TextBox 30">
            <a:extLst>
              <a:ext uri="{FF2B5EF4-FFF2-40B4-BE49-F238E27FC236}">
                <a16:creationId xmlns:a16="http://schemas.microsoft.com/office/drawing/2014/main" id="{654644D7-1BD0-54BE-FAC3-D7A99FDF607E}"/>
              </a:ext>
            </a:extLst>
          </p:cNvPr>
          <p:cNvSpPr txBox="1"/>
          <p:nvPr/>
        </p:nvSpPr>
        <p:spPr>
          <a:xfrm>
            <a:off x="8304903" y="3213062"/>
            <a:ext cx="2636234" cy="646331"/>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txBody>
          <a:bodyPr wrap="none" rtlCol="0">
            <a:spAutoFit/>
          </a:bodyPr>
          <a:lstStyle/>
          <a:p>
            <a:r>
              <a:rPr lang="sv-SE" sz="1200"/>
              <a:t>Dessa registrena är bara 16 bitar.</a:t>
            </a:r>
          </a:p>
          <a:p>
            <a:r>
              <a:rPr lang="sv-SE" sz="1200"/>
              <a:t>Kan som max räkna till 65536 cykler!</a:t>
            </a:r>
          </a:p>
          <a:p>
            <a:r>
              <a:rPr lang="sv-SE" sz="1200"/>
              <a:t>(</a:t>
            </a:r>
            <a:r>
              <a:rPr lang="en-GB" sz="1200"/>
              <a:t>&lt;0.5ms i 144MHz</a:t>
            </a:r>
            <a:r>
              <a:rPr lang="sv-SE" sz="1200"/>
              <a:t>)</a:t>
            </a:r>
            <a:endParaRPr lang="LID4096" sz="1200"/>
          </a:p>
        </p:txBody>
      </p:sp>
      <p:sp>
        <p:nvSpPr>
          <p:cNvPr id="32" name="TextBox 31">
            <a:extLst>
              <a:ext uri="{FF2B5EF4-FFF2-40B4-BE49-F238E27FC236}">
                <a16:creationId xmlns:a16="http://schemas.microsoft.com/office/drawing/2014/main" id="{140ECBF4-84A5-6CF2-C01B-80618113B5F0}"/>
              </a:ext>
            </a:extLst>
          </p:cNvPr>
          <p:cNvSpPr txBox="1"/>
          <p:nvPr/>
        </p:nvSpPr>
        <p:spPr>
          <a:xfrm>
            <a:off x="4455833" y="3614772"/>
            <a:ext cx="260008" cy="261610"/>
          </a:xfrm>
          <a:prstGeom prst="rect">
            <a:avLst/>
          </a:prstGeom>
          <a:noFill/>
        </p:spPr>
        <p:txBody>
          <a:bodyPr wrap="none" rtlCol="0">
            <a:spAutoFit/>
          </a:bodyPr>
          <a:lstStyle/>
          <a:p>
            <a:r>
              <a:rPr lang="en-GB" sz="1100"/>
              <a:t>0</a:t>
            </a:r>
            <a:endParaRPr lang="LID4096"/>
          </a:p>
        </p:txBody>
      </p:sp>
    </p:spTree>
    <p:extLst>
      <p:ext uri="{BB962C8B-B14F-4D97-AF65-F5344CB8AC3E}">
        <p14:creationId xmlns:p14="http://schemas.microsoft.com/office/powerpoint/2010/main" val="20563916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9FCB9-0E93-AFF9-57DE-DAC76D306E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455636-387F-F630-DA65-79C75E747247}"/>
              </a:ext>
            </a:extLst>
          </p:cNvPr>
          <p:cNvSpPr>
            <a:spLocks noGrp="1"/>
          </p:cNvSpPr>
          <p:nvPr>
            <p:ph type="title"/>
          </p:nvPr>
        </p:nvSpPr>
        <p:spPr/>
        <p:txBody>
          <a:bodyPr/>
          <a:lstStyle/>
          <a:p>
            <a:r>
              <a:rPr lang="sv-SE"/>
              <a:t>Basic Timers</a:t>
            </a:r>
            <a:endParaRPr lang="LID4096"/>
          </a:p>
        </p:txBody>
      </p:sp>
      <p:pic>
        <p:nvPicPr>
          <p:cNvPr id="5" name="Picture 4">
            <a:extLst>
              <a:ext uri="{FF2B5EF4-FFF2-40B4-BE49-F238E27FC236}">
                <a16:creationId xmlns:a16="http://schemas.microsoft.com/office/drawing/2014/main" id="{CB85B626-C64F-741B-FE93-DD66549D6D30}"/>
              </a:ext>
            </a:extLst>
          </p:cNvPr>
          <p:cNvPicPr>
            <a:picLocks noChangeAspect="1"/>
          </p:cNvPicPr>
          <p:nvPr/>
        </p:nvPicPr>
        <p:blipFill>
          <a:blip r:embed="rId2"/>
          <a:stretch>
            <a:fillRect/>
          </a:stretch>
        </p:blipFill>
        <p:spPr>
          <a:xfrm>
            <a:off x="283276" y="1893345"/>
            <a:ext cx="4993576" cy="2177317"/>
          </a:xfrm>
          <a:prstGeom prst="rect">
            <a:avLst/>
          </a:prstGeom>
        </p:spPr>
      </p:pic>
      <p:grpSp>
        <p:nvGrpSpPr>
          <p:cNvPr id="10" name="Group 9">
            <a:extLst>
              <a:ext uri="{FF2B5EF4-FFF2-40B4-BE49-F238E27FC236}">
                <a16:creationId xmlns:a16="http://schemas.microsoft.com/office/drawing/2014/main" id="{2872F908-8BA8-9C0D-9B6D-2D49A7149FCC}"/>
              </a:ext>
            </a:extLst>
          </p:cNvPr>
          <p:cNvGrpSpPr/>
          <p:nvPr/>
        </p:nvGrpSpPr>
        <p:grpSpPr>
          <a:xfrm>
            <a:off x="4512833" y="2241185"/>
            <a:ext cx="2959441" cy="426712"/>
            <a:chOff x="4512833" y="2241185"/>
            <a:chExt cx="2959441" cy="426712"/>
          </a:xfrm>
        </p:grpSpPr>
        <p:sp>
          <p:nvSpPr>
            <p:cNvPr id="6" name="Rectangle: Rounded Corners 5">
              <a:extLst>
                <a:ext uri="{FF2B5EF4-FFF2-40B4-BE49-F238E27FC236}">
                  <a16:creationId xmlns:a16="http://schemas.microsoft.com/office/drawing/2014/main" id="{A446045D-D537-95B6-3499-5A96E915D347}"/>
                </a:ext>
              </a:extLst>
            </p:cNvPr>
            <p:cNvSpPr/>
            <p:nvPr/>
          </p:nvSpPr>
          <p:spPr>
            <a:xfrm>
              <a:off x="4512833" y="2463501"/>
              <a:ext cx="129092" cy="204396"/>
            </a:xfrm>
            <a:prstGeom prst="roundRect">
              <a:avLst>
                <a:gd name="adj" fmla="val 8667"/>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8" name="Straight Connector 7">
              <a:extLst>
                <a:ext uri="{FF2B5EF4-FFF2-40B4-BE49-F238E27FC236}">
                  <a16:creationId xmlns:a16="http://schemas.microsoft.com/office/drawing/2014/main" id="{0F202BB1-78A5-9563-CDB7-1875C844EFF5}"/>
                </a:ext>
              </a:extLst>
            </p:cNvPr>
            <p:cNvCxnSpPr>
              <a:stCxn id="6" idx="0"/>
            </p:cNvCxnSpPr>
            <p:nvPr/>
          </p:nvCxnSpPr>
          <p:spPr>
            <a:xfrm>
              <a:off x="4577379" y="2463501"/>
              <a:ext cx="2791609" cy="0"/>
            </a:xfrm>
            <a:prstGeom prst="line">
              <a:avLst/>
            </a:prstGeom>
            <a:ln>
              <a:solidFill>
                <a:srgbClr val="FFC00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0DADD6A0-A1E5-A030-F8E8-BEF7D5059F07}"/>
                </a:ext>
              </a:extLst>
            </p:cNvPr>
            <p:cNvSpPr txBox="1"/>
            <p:nvPr/>
          </p:nvSpPr>
          <p:spPr>
            <a:xfrm>
              <a:off x="5859332" y="2241185"/>
              <a:ext cx="1612942" cy="276999"/>
            </a:xfrm>
            <a:prstGeom prst="rect">
              <a:avLst/>
            </a:prstGeom>
            <a:noFill/>
          </p:spPr>
          <p:txBody>
            <a:bodyPr wrap="none" rtlCol="0">
              <a:spAutoFit/>
            </a:bodyPr>
            <a:lstStyle/>
            <a:p>
              <a:r>
                <a:rPr lang="en-GB" sz="1200"/>
                <a:t>Enable/Disable Timer</a:t>
              </a:r>
              <a:endParaRPr lang="LID4096" sz="1200"/>
            </a:p>
          </p:txBody>
        </p:sp>
      </p:grpSp>
      <p:grpSp>
        <p:nvGrpSpPr>
          <p:cNvPr id="11" name="Group 10">
            <a:extLst>
              <a:ext uri="{FF2B5EF4-FFF2-40B4-BE49-F238E27FC236}">
                <a16:creationId xmlns:a16="http://schemas.microsoft.com/office/drawing/2014/main" id="{0370D0C4-8F92-A71B-5AAB-5171E6854805}"/>
              </a:ext>
            </a:extLst>
          </p:cNvPr>
          <p:cNvGrpSpPr/>
          <p:nvPr/>
        </p:nvGrpSpPr>
        <p:grpSpPr>
          <a:xfrm>
            <a:off x="4512833" y="2641969"/>
            <a:ext cx="3240223" cy="426712"/>
            <a:chOff x="4512833" y="2241185"/>
            <a:chExt cx="3240223" cy="426712"/>
          </a:xfrm>
        </p:grpSpPr>
        <p:sp>
          <p:nvSpPr>
            <p:cNvPr id="12" name="Rectangle: Rounded Corners 11">
              <a:extLst>
                <a:ext uri="{FF2B5EF4-FFF2-40B4-BE49-F238E27FC236}">
                  <a16:creationId xmlns:a16="http://schemas.microsoft.com/office/drawing/2014/main" id="{C985C48F-0284-D9E2-DA78-9C32494FE2EA}"/>
                </a:ext>
              </a:extLst>
            </p:cNvPr>
            <p:cNvSpPr/>
            <p:nvPr/>
          </p:nvSpPr>
          <p:spPr>
            <a:xfrm>
              <a:off x="4512833" y="2463501"/>
              <a:ext cx="129092" cy="204396"/>
            </a:xfrm>
            <a:prstGeom prst="roundRect">
              <a:avLst>
                <a:gd name="adj" fmla="val 8667"/>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13" name="Straight Connector 12">
              <a:extLst>
                <a:ext uri="{FF2B5EF4-FFF2-40B4-BE49-F238E27FC236}">
                  <a16:creationId xmlns:a16="http://schemas.microsoft.com/office/drawing/2014/main" id="{29841224-5D3B-2E54-D766-537981139537}"/>
                </a:ext>
              </a:extLst>
            </p:cNvPr>
            <p:cNvCxnSpPr>
              <a:cxnSpLocks/>
              <a:stCxn id="12" idx="0"/>
            </p:cNvCxnSpPr>
            <p:nvPr/>
          </p:nvCxnSpPr>
          <p:spPr>
            <a:xfrm>
              <a:off x="4577379" y="2463501"/>
              <a:ext cx="3087445" cy="0"/>
            </a:xfrm>
            <a:prstGeom prst="line">
              <a:avLst/>
            </a:prstGeom>
            <a:ln>
              <a:solidFill>
                <a:srgbClr val="FFC000"/>
              </a:solidFill>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294A31EF-C9A2-ADE9-C745-FEFD577AD8F8}"/>
                </a:ext>
              </a:extLst>
            </p:cNvPr>
            <p:cNvSpPr txBox="1"/>
            <p:nvPr/>
          </p:nvSpPr>
          <p:spPr>
            <a:xfrm>
              <a:off x="5859332" y="2241185"/>
              <a:ext cx="1893724" cy="276999"/>
            </a:xfrm>
            <a:prstGeom prst="rect">
              <a:avLst/>
            </a:prstGeom>
            <a:noFill/>
          </p:spPr>
          <p:txBody>
            <a:bodyPr wrap="none" rtlCol="0">
              <a:spAutoFit/>
            </a:bodyPr>
            <a:lstStyle/>
            <a:p>
              <a:r>
                <a:rPr lang="en-GB" sz="1200"/>
                <a:t>Enable/Disable Interrupts</a:t>
              </a:r>
              <a:endParaRPr lang="LID4096" sz="1200"/>
            </a:p>
          </p:txBody>
        </p:sp>
      </p:grpSp>
      <p:grpSp>
        <p:nvGrpSpPr>
          <p:cNvPr id="16" name="Group 15">
            <a:extLst>
              <a:ext uri="{FF2B5EF4-FFF2-40B4-BE49-F238E27FC236}">
                <a16:creationId xmlns:a16="http://schemas.microsoft.com/office/drawing/2014/main" id="{887AB123-B399-D253-74B0-EEEEE29E33FA}"/>
              </a:ext>
            </a:extLst>
          </p:cNvPr>
          <p:cNvGrpSpPr/>
          <p:nvPr/>
        </p:nvGrpSpPr>
        <p:grpSpPr>
          <a:xfrm>
            <a:off x="2770094" y="3227354"/>
            <a:ext cx="5816972" cy="426712"/>
            <a:chOff x="2770094" y="2241185"/>
            <a:chExt cx="5816972" cy="426712"/>
          </a:xfrm>
        </p:grpSpPr>
        <p:sp>
          <p:nvSpPr>
            <p:cNvPr id="17" name="Rectangle: Rounded Corners 16">
              <a:extLst>
                <a:ext uri="{FF2B5EF4-FFF2-40B4-BE49-F238E27FC236}">
                  <a16:creationId xmlns:a16="http://schemas.microsoft.com/office/drawing/2014/main" id="{3C158401-A120-8853-80CF-E48DDE40FACF}"/>
                </a:ext>
              </a:extLst>
            </p:cNvPr>
            <p:cNvSpPr/>
            <p:nvPr/>
          </p:nvSpPr>
          <p:spPr>
            <a:xfrm>
              <a:off x="2770094" y="2463501"/>
              <a:ext cx="1871831" cy="204396"/>
            </a:xfrm>
            <a:prstGeom prst="roundRect">
              <a:avLst>
                <a:gd name="adj" fmla="val 8667"/>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18" name="Straight Connector 17">
              <a:extLst>
                <a:ext uri="{FF2B5EF4-FFF2-40B4-BE49-F238E27FC236}">
                  <a16:creationId xmlns:a16="http://schemas.microsoft.com/office/drawing/2014/main" id="{9F23E952-DD36-297A-2253-92C214072771}"/>
                </a:ext>
              </a:extLst>
            </p:cNvPr>
            <p:cNvCxnSpPr>
              <a:cxnSpLocks/>
              <a:stCxn id="17" idx="0"/>
            </p:cNvCxnSpPr>
            <p:nvPr/>
          </p:nvCxnSpPr>
          <p:spPr>
            <a:xfrm>
              <a:off x="3706010" y="2463501"/>
              <a:ext cx="4814046" cy="0"/>
            </a:xfrm>
            <a:prstGeom prst="line">
              <a:avLst/>
            </a:prstGeom>
            <a:ln>
              <a:solidFill>
                <a:srgbClr val="FFC000"/>
              </a:solidFill>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AD0A20C0-0746-A60E-8653-39E8CBBB6A9D}"/>
                </a:ext>
              </a:extLst>
            </p:cNvPr>
            <p:cNvSpPr txBox="1"/>
            <p:nvPr/>
          </p:nvSpPr>
          <p:spPr>
            <a:xfrm>
              <a:off x="5859332" y="2241185"/>
              <a:ext cx="2727734" cy="276999"/>
            </a:xfrm>
            <a:prstGeom prst="rect">
              <a:avLst/>
            </a:prstGeom>
            <a:noFill/>
          </p:spPr>
          <p:txBody>
            <a:bodyPr wrap="none" rtlCol="0">
              <a:spAutoFit/>
            </a:bodyPr>
            <a:lstStyle/>
            <a:p>
              <a:r>
                <a:rPr lang="en-GB" sz="1200"/>
                <a:t>R</a:t>
              </a:r>
              <a:r>
                <a:rPr lang="sv-SE" sz="1200"/>
                <a:t>äknas upp var </a:t>
              </a:r>
              <a:r>
                <a:rPr lang="sv-SE" sz="1200">
                  <a:solidFill>
                    <a:srgbClr val="C00000"/>
                  </a:solidFill>
                </a:rPr>
                <a:t>(PSC + 1)de </a:t>
              </a:r>
              <a:r>
                <a:rPr lang="sv-SE" sz="1200"/>
                <a:t>klockcykel</a:t>
              </a:r>
              <a:endParaRPr lang="LID4096" sz="1200"/>
            </a:p>
          </p:txBody>
        </p:sp>
      </p:grpSp>
      <p:grpSp>
        <p:nvGrpSpPr>
          <p:cNvPr id="26" name="Group 25">
            <a:extLst>
              <a:ext uri="{FF2B5EF4-FFF2-40B4-BE49-F238E27FC236}">
                <a16:creationId xmlns:a16="http://schemas.microsoft.com/office/drawing/2014/main" id="{481DA649-F85D-7532-8529-C8ED906620A5}"/>
              </a:ext>
            </a:extLst>
          </p:cNvPr>
          <p:cNvGrpSpPr/>
          <p:nvPr/>
        </p:nvGrpSpPr>
        <p:grpSpPr>
          <a:xfrm>
            <a:off x="2779797" y="3608343"/>
            <a:ext cx="4943528" cy="426712"/>
            <a:chOff x="2770094" y="2241185"/>
            <a:chExt cx="4943528" cy="426712"/>
          </a:xfrm>
        </p:grpSpPr>
        <p:sp>
          <p:nvSpPr>
            <p:cNvPr id="27" name="Rectangle: Rounded Corners 26">
              <a:extLst>
                <a:ext uri="{FF2B5EF4-FFF2-40B4-BE49-F238E27FC236}">
                  <a16:creationId xmlns:a16="http://schemas.microsoft.com/office/drawing/2014/main" id="{6482ECD5-95E5-F63A-D7F7-1199B6209D15}"/>
                </a:ext>
              </a:extLst>
            </p:cNvPr>
            <p:cNvSpPr/>
            <p:nvPr/>
          </p:nvSpPr>
          <p:spPr>
            <a:xfrm>
              <a:off x="2770094" y="2463501"/>
              <a:ext cx="1871831" cy="204396"/>
            </a:xfrm>
            <a:prstGeom prst="roundRect">
              <a:avLst>
                <a:gd name="adj" fmla="val 8667"/>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28" name="Straight Connector 27">
              <a:extLst>
                <a:ext uri="{FF2B5EF4-FFF2-40B4-BE49-F238E27FC236}">
                  <a16:creationId xmlns:a16="http://schemas.microsoft.com/office/drawing/2014/main" id="{38E93F0F-3D91-315C-0CC9-2785E3A4EC5B}"/>
                </a:ext>
              </a:extLst>
            </p:cNvPr>
            <p:cNvCxnSpPr>
              <a:cxnSpLocks/>
              <a:stCxn id="27" idx="0"/>
            </p:cNvCxnSpPr>
            <p:nvPr/>
          </p:nvCxnSpPr>
          <p:spPr>
            <a:xfrm>
              <a:off x="3706010" y="2463501"/>
              <a:ext cx="3879186" cy="0"/>
            </a:xfrm>
            <a:prstGeom prst="line">
              <a:avLst/>
            </a:prstGeom>
            <a:ln>
              <a:solidFill>
                <a:srgbClr val="FFC000"/>
              </a:solidFill>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103598AD-E0EB-13BF-29D3-7257FBFBAE91}"/>
                </a:ext>
              </a:extLst>
            </p:cNvPr>
            <p:cNvSpPr txBox="1"/>
            <p:nvPr/>
          </p:nvSpPr>
          <p:spPr>
            <a:xfrm>
              <a:off x="5859332" y="2241185"/>
              <a:ext cx="1854290" cy="276999"/>
            </a:xfrm>
            <a:prstGeom prst="rect">
              <a:avLst/>
            </a:prstGeom>
            <a:noFill/>
          </p:spPr>
          <p:txBody>
            <a:bodyPr wrap="none" rtlCol="0">
              <a:spAutoFit/>
            </a:bodyPr>
            <a:lstStyle/>
            <a:p>
              <a:r>
                <a:rPr lang="sv-SE" sz="1200"/>
                <a:t>tills den är lika med detta</a:t>
              </a:r>
              <a:endParaRPr lang="LID4096" sz="1200"/>
            </a:p>
          </p:txBody>
        </p:sp>
      </p:grpSp>
      <p:sp>
        <p:nvSpPr>
          <p:cNvPr id="32" name="TextBox 31">
            <a:extLst>
              <a:ext uri="{FF2B5EF4-FFF2-40B4-BE49-F238E27FC236}">
                <a16:creationId xmlns:a16="http://schemas.microsoft.com/office/drawing/2014/main" id="{9B441A52-65BA-EA71-EC87-5573E15AE156}"/>
              </a:ext>
            </a:extLst>
          </p:cNvPr>
          <p:cNvSpPr txBox="1"/>
          <p:nvPr/>
        </p:nvSpPr>
        <p:spPr>
          <a:xfrm>
            <a:off x="4380493" y="3610330"/>
            <a:ext cx="335348" cy="261610"/>
          </a:xfrm>
          <a:prstGeom prst="rect">
            <a:avLst/>
          </a:prstGeom>
          <a:noFill/>
        </p:spPr>
        <p:txBody>
          <a:bodyPr wrap="none" rtlCol="0">
            <a:spAutoFit/>
          </a:bodyPr>
          <a:lstStyle/>
          <a:p>
            <a:r>
              <a:rPr lang="en-GB" sz="1100">
                <a:solidFill>
                  <a:srgbClr val="C00000"/>
                </a:solidFill>
              </a:rPr>
              <a:t>99</a:t>
            </a:r>
            <a:endParaRPr lang="LID4096">
              <a:solidFill>
                <a:srgbClr val="C00000"/>
              </a:solidFill>
            </a:endParaRPr>
          </a:p>
        </p:txBody>
      </p:sp>
      <p:sp>
        <p:nvSpPr>
          <p:cNvPr id="7" name="TextBox 6">
            <a:extLst>
              <a:ext uri="{FF2B5EF4-FFF2-40B4-BE49-F238E27FC236}">
                <a16:creationId xmlns:a16="http://schemas.microsoft.com/office/drawing/2014/main" id="{9A8CE9AB-8C6E-186C-8F7B-F6BC95B58E41}"/>
              </a:ext>
            </a:extLst>
          </p:cNvPr>
          <p:cNvSpPr txBox="1"/>
          <p:nvPr/>
        </p:nvSpPr>
        <p:spPr>
          <a:xfrm>
            <a:off x="6665803" y="4455634"/>
            <a:ext cx="3189271" cy="461665"/>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txBody>
          <a:bodyPr wrap="none" rtlCol="0">
            <a:spAutoFit/>
          </a:bodyPr>
          <a:lstStyle/>
          <a:p>
            <a:r>
              <a:rPr lang="en-GB" sz="1200"/>
              <a:t>Vi f</a:t>
            </a:r>
            <a:r>
              <a:rPr lang="sv-SE" sz="1200"/>
              <a:t>år ett interrupt efter (ATRLR + 1) * (PSC + 1)</a:t>
            </a:r>
            <a:br>
              <a:rPr lang="sv-SE" sz="1200"/>
            </a:br>
            <a:r>
              <a:rPr lang="sv-SE" sz="1200"/>
              <a:t>klockcykler</a:t>
            </a:r>
            <a:endParaRPr lang="LID4096" sz="1200"/>
          </a:p>
        </p:txBody>
      </p:sp>
    </p:spTree>
    <p:extLst>
      <p:ext uri="{BB962C8B-B14F-4D97-AF65-F5344CB8AC3E}">
        <p14:creationId xmlns:p14="http://schemas.microsoft.com/office/powerpoint/2010/main" val="105260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95C4D1-4240-D5B0-AFA5-496F403C4D16}"/>
              </a:ext>
            </a:extLst>
          </p:cNvPr>
          <p:cNvSpPr>
            <a:spLocks noGrp="1"/>
          </p:cNvSpPr>
          <p:nvPr>
            <p:ph type="title"/>
          </p:nvPr>
        </p:nvSpPr>
        <p:spPr/>
        <p:txBody>
          <a:bodyPr/>
          <a:lstStyle/>
          <a:p>
            <a:r>
              <a:rPr lang="sv-SE"/>
              <a:t>Konfigurera timers</a:t>
            </a:r>
            <a:endParaRPr lang="LID4096"/>
          </a:p>
        </p:txBody>
      </p:sp>
      <p:pic>
        <p:nvPicPr>
          <p:cNvPr id="5" name="Picture 4">
            <a:extLst>
              <a:ext uri="{FF2B5EF4-FFF2-40B4-BE49-F238E27FC236}">
                <a16:creationId xmlns:a16="http://schemas.microsoft.com/office/drawing/2014/main" id="{673ECDFE-862B-7C00-8688-D3FDDBC3A1E4}"/>
              </a:ext>
            </a:extLst>
          </p:cNvPr>
          <p:cNvPicPr>
            <a:picLocks noChangeAspect="1"/>
          </p:cNvPicPr>
          <p:nvPr/>
        </p:nvPicPr>
        <p:blipFill>
          <a:blip r:embed="rId3"/>
          <a:stretch>
            <a:fillRect/>
          </a:stretch>
        </p:blipFill>
        <p:spPr>
          <a:xfrm>
            <a:off x="0" y="1690688"/>
            <a:ext cx="8312633" cy="5167312"/>
          </a:xfrm>
          <a:prstGeom prst="rect">
            <a:avLst/>
          </a:prstGeom>
        </p:spPr>
      </p:pic>
      <p:grpSp>
        <p:nvGrpSpPr>
          <p:cNvPr id="19" name="Group 18">
            <a:extLst>
              <a:ext uri="{FF2B5EF4-FFF2-40B4-BE49-F238E27FC236}">
                <a16:creationId xmlns:a16="http://schemas.microsoft.com/office/drawing/2014/main" id="{A2BF4954-5EDC-F928-3740-08C9A3CD0BA8}"/>
              </a:ext>
            </a:extLst>
          </p:cNvPr>
          <p:cNvGrpSpPr/>
          <p:nvPr/>
        </p:nvGrpSpPr>
        <p:grpSpPr>
          <a:xfrm>
            <a:off x="4362226" y="3130475"/>
            <a:ext cx="7369333" cy="3462169"/>
            <a:chOff x="4362226" y="3130475"/>
            <a:chExt cx="7369333" cy="3462169"/>
          </a:xfrm>
        </p:grpSpPr>
        <p:cxnSp>
          <p:nvCxnSpPr>
            <p:cNvPr id="7" name="Straight Arrow Connector 6">
              <a:extLst>
                <a:ext uri="{FF2B5EF4-FFF2-40B4-BE49-F238E27FC236}">
                  <a16:creationId xmlns:a16="http://schemas.microsoft.com/office/drawing/2014/main" id="{35BD96E9-6C04-B458-DFBF-635169F6DD55}"/>
                </a:ext>
              </a:extLst>
            </p:cNvPr>
            <p:cNvCxnSpPr/>
            <p:nvPr/>
          </p:nvCxnSpPr>
          <p:spPr>
            <a:xfrm flipH="1">
              <a:off x="4362226" y="3130475"/>
              <a:ext cx="435146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118B029F-34E5-5684-4FD3-95613AA5E9F1}"/>
                </a:ext>
              </a:extLst>
            </p:cNvPr>
            <p:cNvCxnSpPr/>
            <p:nvPr/>
          </p:nvCxnSpPr>
          <p:spPr>
            <a:xfrm flipH="1">
              <a:off x="4665233" y="4982583"/>
              <a:ext cx="435146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FCD3967B-5B85-2B64-2343-85A0A349A3E1}"/>
                </a:ext>
              </a:extLst>
            </p:cNvPr>
            <p:cNvCxnSpPr/>
            <p:nvPr/>
          </p:nvCxnSpPr>
          <p:spPr>
            <a:xfrm flipH="1">
              <a:off x="4419600" y="6592644"/>
              <a:ext cx="435146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202E204F-F3A0-D067-5983-51005F9C6786}"/>
                </a:ext>
              </a:extLst>
            </p:cNvPr>
            <p:cNvCxnSpPr/>
            <p:nvPr/>
          </p:nvCxnSpPr>
          <p:spPr>
            <a:xfrm>
              <a:off x="8713694" y="3130475"/>
              <a:ext cx="303007" cy="185210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B6BF774F-97E1-F245-A6CC-42A9FD045312}"/>
                </a:ext>
              </a:extLst>
            </p:cNvPr>
            <p:cNvCxnSpPr>
              <a:cxnSpLocks/>
            </p:cNvCxnSpPr>
            <p:nvPr/>
          </p:nvCxnSpPr>
          <p:spPr>
            <a:xfrm flipH="1">
              <a:off x="8771068" y="4982583"/>
              <a:ext cx="245633" cy="161006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69D31926-A57D-9753-2FA9-D7F6430C353D}"/>
                </a:ext>
              </a:extLst>
            </p:cNvPr>
            <p:cNvCxnSpPr>
              <a:cxnSpLocks/>
            </p:cNvCxnSpPr>
            <p:nvPr/>
          </p:nvCxnSpPr>
          <p:spPr>
            <a:xfrm flipH="1">
              <a:off x="9016701" y="4982582"/>
              <a:ext cx="458435"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9C551602-5B0A-09A4-32E5-4A0AF8B6290B}"/>
                </a:ext>
              </a:extLst>
            </p:cNvPr>
            <p:cNvSpPr txBox="1"/>
            <p:nvPr/>
          </p:nvSpPr>
          <p:spPr>
            <a:xfrm>
              <a:off x="9462027" y="4751749"/>
              <a:ext cx="2269532" cy="646331"/>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txBody>
            <a:bodyPr wrap="none" rtlCol="0">
              <a:spAutoFit/>
            </a:bodyPr>
            <a:lstStyle/>
            <a:p>
              <a:r>
                <a:rPr lang="sv-SE" sz="1200"/>
                <a:t>Vi säger åt alla timers att skicka</a:t>
              </a:r>
            </a:p>
            <a:p>
              <a:r>
                <a:rPr lang="sv-SE" sz="1200"/>
                <a:t>en interruptrequest till PFIC</a:t>
              </a:r>
              <a:br>
                <a:rPr lang="sv-SE" sz="1200"/>
              </a:br>
              <a:r>
                <a:rPr lang="sv-SE" sz="1200"/>
                <a:t>när dom räknat klart</a:t>
              </a:r>
              <a:endParaRPr lang="LID4096" sz="1200"/>
            </a:p>
          </p:txBody>
        </p:sp>
      </p:grpSp>
    </p:spTree>
    <p:extLst>
      <p:ext uri="{BB962C8B-B14F-4D97-AF65-F5344CB8AC3E}">
        <p14:creationId xmlns:p14="http://schemas.microsoft.com/office/powerpoint/2010/main" val="11152119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57338E-07C8-2B1F-C736-DD1B96899E96}"/>
              </a:ext>
            </a:extLst>
          </p:cNvPr>
          <p:cNvSpPr>
            <a:spLocks noGrp="1"/>
          </p:cNvSpPr>
          <p:nvPr>
            <p:ph type="title"/>
          </p:nvPr>
        </p:nvSpPr>
        <p:spPr/>
        <p:txBody>
          <a:bodyPr/>
          <a:lstStyle/>
          <a:p>
            <a:r>
              <a:rPr lang="sv-SE"/>
              <a:t>Enabla interrupts i PFIC</a:t>
            </a:r>
            <a:endParaRPr lang="LID4096"/>
          </a:p>
        </p:txBody>
      </p:sp>
      <p:grpSp>
        <p:nvGrpSpPr>
          <p:cNvPr id="4" name="Group 3">
            <a:extLst>
              <a:ext uri="{FF2B5EF4-FFF2-40B4-BE49-F238E27FC236}">
                <a16:creationId xmlns:a16="http://schemas.microsoft.com/office/drawing/2014/main" id="{57ACD8A9-95E5-C067-32A8-FB1621549957}"/>
              </a:ext>
            </a:extLst>
          </p:cNvPr>
          <p:cNvGrpSpPr/>
          <p:nvPr/>
        </p:nvGrpSpPr>
        <p:grpSpPr>
          <a:xfrm>
            <a:off x="6888801" y="0"/>
            <a:ext cx="5303199" cy="6858000"/>
            <a:chOff x="6888801" y="0"/>
            <a:chExt cx="5303199" cy="6858000"/>
          </a:xfrm>
        </p:grpSpPr>
        <p:pic>
          <p:nvPicPr>
            <p:cNvPr id="5" name="Picture 4">
              <a:extLst>
                <a:ext uri="{FF2B5EF4-FFF2-40B4-BE49-F238E27FC236}">
                  <a16:creationId xmlns:a16="http://schemas.microsoft.com/office/drawing/2014/main" id="{8230705D-5D1F-DCF0-52D7-58B79344966D}"/>
                </a:ext>
              </a:extLst>
            </p:cNvPr>
            <p:cNvPicPr>
              <a:picLocks noChangeAspect="1"/>
            </p:cNvPicPr>
            <p:nvPr/>
          </p:nvPicPr>
          <p:blipFill>
            <a:blip r:embed="rId3"/>
            <a:stretch>
              <a:fillRect/>
            </a:stretch>
          </p:blipFill>
          <p:spPr>
            <a:xfrm>
              <a:off x="6888801" y="0"/>
              <a:ext cx="5303199" cy="6858000"/>
            </a:xfrm>
            <a:prstGeom prst="rect">
              <a:avLst/>
            </a:prstGeom>
            <a:ln>
              <a:solidFill>
                <a:schemeClr val="tx1"/>
              </a:solidFill>
            </a:ln>
          </p:spPr>
        </p:pic>
        <p:sp>
          <p:nvSpPr>
            <p:cNvPr id="6" name="Rectangle: Rounded Corners 5">
              <a:extLst>
                <a:ext uri="{FF2B5EF4-FFF2-40B4-BE49-F238E27FC236}">
                  <a16:creationId xmlns:a16="http://schemas.microsoft.com/office/drawing/2014/main" id="{B62537D1-3C68-47D6-6897-226D282CFAE7}"/>
                </a:ext>
              </a:extLst>
            </p:cNvPr>
            <p:cNvSpPr/>
            <p:nvPr/>
          </p:nvSpPr>
          <p:spPr>
            <a:xfrm>
              <a:off x="6954819" y="3313355"/>
              <a:ext cx="5158292" cy="941294"/>
            </a:xfrm>
            <a:prstGeom prst="roundRect">
              <a:avLst>
                <a:gd name="adj" fmla="val 8667"/>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grpSp>
        <p:nvGrpSpPr>
          <p:cNvPr id="15" name="Group 14">
            <a:extLst>
              <a:ext uri="{FF2B5EF4-FFF2-40B4-BE49-F238E27FC236}">
                <a16:creationId xmlns:a16="http://schemas.microsoft.com/office/drawing/2014/main" id="{C474705D-7C90-7758-D5C2-906B295EC559}"/>
              </a:ext>
            </a:extLst>
          </p:cNvPr>
          <p:cNvGrpSpPr/>
          <p:nvPr/>
        </p:nvGrpSpPr>
        <p:grpSpPr>
          <a:xfrm>
            <a:off x="435857" y="2055813"/>
            <a:ext cx="2512537" cy="4130935"/>
            <a:chOff x="645407" y="1807285"/>
            <a:chExt cx="2512537" cy="4130935"/>
          </a:xfrm>
        </p:grpSpPr>
        <p:pic>
          <p:nvPicPr>
            <p:cNvPr id="8" name="Picture 7">
              <a:extLst>
                <a:ext uri="{FF2B5EF4-FFF2-40B4-BE49-F238E27FC236}">
                  <a16:creationId xmlns:a16="http://schemas.microsoft.com/office/drawing/2014/main" id="{4C5608B9-D26A-0B26-EBA5-FA322AAAEEFC}"/>
                </a:ext>
              </a:extLst>
            </p:cNvPr>
            <p:cNvPicPr>
              <a:picLocks noChangeAspect="1"/>
            </p:cNvPicPr>
            <p:nvPr/>
          </p:nvPicPr>
          <p:blipFill>
            <a:blip r:embed="rId4"/>
            <a:stretch>
              <a:fillRect/>
            </a:stretch>
          </p:blipFill>
          <p:spPr>
            <a:xfrm>
              <a:off x="645407" y="4087229"/>
              <a:ext cx="2512537" cy="1850991"/>
            </a:xfrm>
            <a:prstGeom prst="rect">
              <a:avLst/>
            </a:prstGeom>
          </p:spPr>
        </p:pic>
        <p:pic>
          <p:nvPicPr>
            <p:cNvPr id="12" name="Picture 11">
              <a:extLst>
                <a:ext uri="{FF2B5EF4-FFF2-40B4-BE49-F238E27FC236}">
                  <a16:creationId xmlns:a16="http://schemas.microsoft.com/office/drawing/2014/main" id="{4EF47D9F-17CC-1C83-4972-61DDF9B5A9FE}"/>
                </a:ext>
              </a:extLst>
            </p:cNvPr>
            <p:cNvPicPr>
              <a:picLocks noChangeAspect="1"/>
            </p:cNvPicPr>
            <p:nvPr/>
          </p:nvPicPr>
          <p:blipFill>
            <a:blip r:embed="rId5"/>
            <a:stretch>
              <a:fillRect/>
            </a:stretch>
          </p:blipFill>
          <p:spPr>
            <a:xfrm>
              <a:off x="645407" y="1807285"/>
              <a:ext cx="2512537" cy="2065765"/>
            </a:xfrm>
            <a:prstGeom prst="rect">
              <a:avLst/>
            </a:prstGeom>
          </p:spPr>
        </p:pic>
        <p:sp>
          <p:nvSpPr>
            <p:cNvPr id="13" name="Freeform: Shape 12">
              <a:extLst>
                <a:ext uri="{FF2B5EF4-FFF2-40B4-BE49-F238E27FC236}">
                  <a16:creationId xmlns:a16="http://schemas.microsoft.com/office/drawing/2014/main" id="{C5345054-1370-6674-76A1-76632B9B92ED}"/>
                </a:ext>
              </a:extLst>
            </p:cNvPr>
            <p:cNvSpPr/>
            <p:nvPr/>
          </p:nvSpPr>
          <p:spPr>
            <a:xfrm>
              <a:off x="671513" y="3890963"/>
              <a:ext cx="2486025" cy="128587"/>
            </a:xfrm>
            <a:custGeom>
              <a:avLst/>
              <a:gdLst>
                <a:gd name="csX0" fmla="*/ 0 w 2486025"/>
                <a:gd name="csY0" fmla="*/ 123825 h 128587"/>
                <a:gd name="csX1" fmla="*/ 209550 w 2486025"/>
                <a:gd name="csY1" fmla="*/ 42862 h 128587"/>
                <a:gd name="csX2" fmla="*/ 200025 w 2486025"/>
                <a:gd name="csY2" fmla="*/ 128587 h 128587"/>
                <a:gd name="csX3" fmla="*/ 466725 w 2486025"/>
                <a:gd name="csY3" fmla="*/ 47625 h 128587"/>
                <a:gd name="csX4" fmla="*/ 461962 w 2486025"/>
                <a:gd name="csY4" fmla="*/ 123825 h 128587"/>
                <a:gd name="csX5" fmla="*/ 714375 w 2486025"/>
                <a:gd name="csY5" fmla="*/ 33337 h 128587"/>
                <a:gd name="csX6" fmla="*/ 723900 w 2486025"/>
                <a:gd name="csY6" fmla="*/ 95250 h 128587"/>
                <a:gd name="csX7" fmla="*/ 933450 w 2486025"/>
                <a:gd name="csY7" fmla="*/ 19050 h 128587"/>
                <a:gd name="csX8" fmla="*/ 933450 w 2486025"/>
                <a:gd name="csY8" fmla="*/ 104775 h 128587"/>
                <a:gd name="csX9" fmla="*/ 1200150 w 2486025"/>
                <a:gd name="csY9" fmla="*/ 28575 h 128587"/>
                <a:gd name="csX10" fmla="*/ 1204912 w 2486025"/>
                <a:gd name="csY10" fmla="*/ 95250 h 128587"/>
                <a:gd name="csX11" fmla="*/ 1533525 w 2486025"/>
                <a:gd name="csY11" fmla="*/ 23812 h 128587"/>
                <a:gd name="csX12" fmla="*/ 1547812 w 2486025"/>
                <a:gd name="csY12" fmla="*/ 80962 h 128587"/>
                <a:gd name="csX13" fmla="*/ 1824037 w 2486025"/>
                <a:gd name="csY13" fmla="*/ 0 h 128587"/>
                <a:gd name="csX14" fmla="*/ 1814512 w 2486025"/>
                <a:gd name="csY14" fmla="*/ 61912 h 128587"/>
                <a:gd name="csX15" fmla="*/ 2128837 w 2486025"/>
                <a:gd name="csY15" fmla="*/ 14287 h 128587"/>
                <a:gd name="csX16" fmla="*/ 2124075 w 2486025"/>
                <a:gd name="csY16" fmla="*/ 95250 h 128587"/>
                <a:gd name="csX17" fmla="*/ 2486025 w 2486025"/>
                <a:gd name="csY17" fmla="*/ 28575 h 1285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486025" h="128587">
                  <a:moveTo>
                    <a:pt x="0" y="123825"/>
                  </a:moveTo>
                  <a:lnTo>
                    <a:pt x="209550" y="42862"/>
                  </a:lnTo>
                  <a:lnTo>
                    <a:pt x="200025" y="128587"/>
                  </a:lnTo>
                  <a:lnTo>
                    <a:pt x="466725" y="47625"/>
                  </a:lnTo>
                  <a:lnTo>
                    <a:pt x="461962" y="123825"/>
                  </a:lnTo>
                  <a:lnTo>
                    <a:pt x="714375" y="33337"/>
                  </a:lnTo>
                  <a:lnTo>
                    <a:pt x="723900" y="95250"/>
                  </a:lnTo>
                  <a:lnTo>
                    <a:pt x="933450" y="19050"/>
                  </a:lnTo>
                  <a:lnTo>
                    <a:pt x="933450" y="104775"/>
                  </a:lnTo>
                  <a:lnTo>
                    <a:pt x="1200150" y="28575"/>
                  </a:lnTo>
                  <a:lnTo>
                    <a:pt x="1204912" y="95250"/>
                  </a:lnTo>
                  <a:lnTo>
                    <a:pt x="1533525" y="23812"/>
                  </a:lnTo>
                  <a:lnTo>
                    <a:pt x="1547812" y="80962"/>
                  </a:lnTo>
                  <a:lnTo>
                    <a:pt x="1824037" y="0"/>
                  </a:lnTo>
                  <a:lnTo>
                    <a:pt x="1814512" y="61912"/>
                  </a:lnTo>
                  <a:lnTo>
                    <a:pt x="2128837" y="14287"/>
                  </a:lnTo>
                  <a:lnTo>
                    <a:pt x="2124075" y="95250"/>
                  </a:lnTo>
                  <a:lnTo>
                    <a:pt x="2486025" y="28575"/>
                  </a:lnTo>
                </a:path>
              </a:pathLst>
            </a:custGeom>
            <a:noFill/>
            <a:ln w="635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4" name="Freeform: Shape 13">
              <a:extLst>
                <a:ext uri="{FF2B5EF4-FFF2-40B4-BE49-F238E27FC236}">
                  <a16:creationId xmlns:a16="http://schemas.microsoft.com/office/drawing/2014/main" id="{849642E2-89A4-AE2E-EF85-AA215BB8CF1F}"/>
                </a:ext>
              </a:extLst>
            </p:cNvPr>
            <p:cNvSpPr/>
            <p:nvPr/>
          </p:nvSpPr>
          <p:spPr>
            <a:xfrm>
              <a:off x="645407" y="3924802"/>
              <a:ext cx="2486025" cy="128587"/>
            </a:xfrm>
            <a:custGeom>
              <a:avLst/>
              <a:gdLst>
                <a:gd name="csX0" fmla="*/ 0 w 2486025"/>
                <a:gd name="csY0" fmla="*/ 123825 h 128587"/>
                <a:gd name="csX1" fmla="*/ 209550 w 2486025"/>
                <a:gd name="csY1" fmla="*/ 42862 h 128587"/>
                <a:gd name="csX2" fmla="*/ 200025 w 2486025"/>
                <a:gd name="csY2" fmla="*/ 128587 h 128587"/>
                <a:gd name="csX3" fmla="*/ 466725 w 2486025"/>
                <a:gd name="csY3" fmla="*/ 47625 h 128587"/>
                <a:gd name="csX4" fmla="*/ 461962 w 2486025"/>
                <a:gd name="csY4" fmla="*/ 123825 h 128587"/>
                <a:gd name="csX5" fmla="*/ 714375 w 2486025"/>
                <a:gd name="csY5" fmla="*/ 33337 h 128587"/>
                <a:gd name="csX6" fmla="*/ 723900 w 2486025"/>
                <a:gd name="csY6" fmla="*/ 95250 h 128587"/>
                <a:gd name="csX7" fmla="*/ 933450 w 2486025"/>
                <a:gd name="csY7" fmla="*/ 19050 h 128587"/>
                <a:gd name="csX8" fmla="*/ 933450 w 2486025"/>
                <a:gd name="csY8" fmla="*/ 104775 h 128587"/>
                <a:gd name="csX9" fmla="*/ 1200150 w 2486025"/>
                <a:gd name="csY9" fmla="*/ 28575 h 128587"/>
                <a:gd name="csX10" fmla="*/ 1204912 w 2486025"/>
                <a:gd name="csY10" fmla="*/ 95250 h 128587"/>
                <a:gd name="csX11" fmla="*/ 1533525 w 2486025"/>
                <a:gd name="csY11" fmla="*/ 23812 h 128587"/>
                <a:gd name="csX12" fmla="*/ 1547812 w 2486025"/>
                <a:gd name="csY12" fmla="*/ 80962 h 128587"/>
                <a:gd name="csX13" fmla="*/ 1824037 w 2486025"/>
                <a:gd name="csY13" fmla="*/ 0 h 128587"/>
                <a:gd name="csX14" fmla="*/ 1814512 w 2486025"/>
                <a:gd name="csY14" fmla="*/ 61912 h 128587"/>
                <a:gd name="csX15" fmla="*/ 2128837 w 2486025"/>
                <a:gd name="csY15" fmla="*/ 14287 h 128587"/>
                <a:gd name="csX16" fmla="*/ 2124075 w 2486025"/>
                <a:gd name="csY16" fmla="*/ 95250 h 128587"/>
                <a:gd name="csX17" fmla="*/ 2486025 w 2486025"/>
                <a:gd name="csY17" fmla="*/ 28575 h 1285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486025" h="128587">
                  <a:moveTo>
                    <a:pt x="0" y="123825"/>
                  </a:moveTo>
                  <a:lnTo>
                    <a:pt x="209550" y="42862"/>
                  </a:lnTo>
                  <a:lnTo>
                    <a:pt x="200025" y="128587"/>
                  </a:lnTo>
                  <a:lnTo>
                    <a:pt x="466725" y="47625"/>
                  </a:lnTo>
                  <a:lnTo>
                    <a:pt x="461962" y="123825"/>
                  </a:lnTo>
                  <a:lnTo>
                    <a:pt x="714375" y="33337"/>
                  </a:lnTo>
                  <a:lnTo>
                    <a:pt x="723900" y="95250"/>
                  </a:lnTo>
                  <a:lnTo>
                    <a:pt x="933450" y="19050"/>
                  </a:lnTo>
                  <a:lnTo>
                    <a:pt x="933450" y="104775"/>
                  </a:lnTo>
                  <a:lnTo>
                    <a:pt x="1200150" y="28575"/>
                  </a:lnTo>
                  <a:lnTo>
                    <a:pt x="1204912" y="95250"/>
                  </a:lnTo>
                  <a:lnTo>
                    <a:pt x="1533525" y="23812"/>
                  </a:lnTo>
                  <a:lnTo>
                    <a:pt x="1547812" y="80962"/>
                  </a:lnTo>
                  <a:lnTo>
                    <a:pt x="1824037" y="0"/>
                  </a:lnTo>
                  <a:lnTo>
                    <a:pt x="1814512" y="61912"/>
                  </a:lnTo>
                  <a:lnTo>
                    <a:pt x="2128837" y="14287"/>
                  </a:lnTo>
                  <a:lnTo>
                    <a:pt x="2124075" y="95250"/>
                  </a:lnTo>
                  <a:lnTo>
                    <a:pt x="2486025" y="28575"/>
                  </a:lnTo>
                </a:path>
              </a:pathLst>
            </a:custGeom>
            <a:noFill/>
            <a:ln w="635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sp>
        <p:nvSpPr>
          <p:cNvPr id="16" name="Rectangle: Rounded Corners 15">
            <a:extLst>
              <a:ext uri="{FF2B5EF4-FFF2-40B4-BE49-F238E27FC236}">
                <a16:creationId xmlns:a16="http://schemas.microsoft.com/office/drawing/2014/main" id="{FF6ABF9D-AC96-B046-518C-A689A5AE8D59}"/>
              </a:ext>
            </a:extLst>
          </p:cNvPr>
          <p:cNvSpPr/>
          <p:nvPr/>
        </p:nvSpPr>
        <p:spPr>
          <a:xfrm>
            <a:off x="461963" y="3143250"/>
            <a:ext cx="2459919" cy="114300"/>
          </a:xfrm>
          <a:prstGeom prst="roundRect">
            <a:avLst/>
          </a:prstGeom>
          <a:noFill/>
          <a:ln>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7" name="Rectangle: Rounded Corners 16">
            <a:extLst>
              <a:ext uri="{FF2B5EF4-FFF2-40B4-BE49-F238E27FC236}">
                <a16:creationId xmlns:a16="http://schemas.microsoft.com/office/drawing/2014/main" id="{528ECC6B-04D4-3D9E-10DA-5DD7D59B8DD6}"/>
              </a:ext>
            </a:extLst>
          </p:cNvPr>
          <p:cNvSpPr/>
          <p:nvPr/>
        </p:nvSpPr>
        <p:spPr>
          <a:xfrm>
            <a:off x="461963" y="5361415"/>
            <a:ext cx="2459919" cy="114300"/>
          </a:xfrm>
          <a:prstGeom prst="roundRect">
            <a:avLst/>
          </a:prstGeom>
          <a:no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8" name="Rectangle: Rounded Corners 17">
            <a:extLst>
              <a:ext uri="{FF2B5EF4-FFF2-40B4-BE49-F238E27FC236}">
                <a16:creationId xmlns:a16="http://schemas.microsoft.com/office/drawing/2014/main" id="{5077CB81-5DBE-525D-9598-D572FC8C63D9}"/>
              </a:ext>
            </a:extLst>
          </p:cNvPr>
          <p:cNvSpPr/>
          <p:nvPr/>
        </p:nvSpPr>
        <p:spPr>
          <a:xfrm>
            <a:off x="461963" y="5486244"/>
            <a:ext cx="2459919" cy="114300"/>
          </a:xfrm>
          <a:prstGeom prst="roundRect">
            <a:avLst/>
          </a:prstGeom>
          <a:noFill/>
          <a:ln>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9" name="Rectangle: Rounded Corners 18">
            <a:extLst>
              <a:ext uri="{FF2B5EF4-FFF2-40B4-BE49-F238E27FC236}">
                <a16:creationId xmlns:a16="http://schemas.microsoft.com/office/drawing/2014/main" id="{F693C057-A899-30D8-4B31-9D639C4382C8}"/>
              </a:ext>
            </a:extLst>
          </p:cNvPr>
          <p:cNvSpPr/>
          <p:nvPr/>
        </p:nvSpPr>
        <p:spPr>
          <a:xfrm>
            <a:off x="9845200" y="3313355"/>
            <a:ext cx="165575" cy="248996"/>
          </a:xfrm>
          <a:prstGeom prst="roundRect">
            <a:avLst/>
          </a:prstGeom>
          <a:noFill/>
          <a:ln>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0" name="Rectangle: Rounded Corners 19">
            <a:extLst>
              <a:ext uri="{FF2B5EF4-FFF2-40B4-BE49-F238E27FC236}">
                <a16:creationId xmlns:a16="http://schemas.microsoft.com/office/drawing/2014/main" id="{FD121779-EEAF-DD36-3A9D-FE9A1DECBD33}"/>
              </a:ext>
            </a:extLst>
          </p:cNvPr>
          <p:cNvSpPr/>
          <p:nvPr/>
        </p:nvSpPr>
        <p:spPr>
          <a:xfrm>
            <a:off x="10171648" y="3784002"/>
            <a:ext cx="165576" cy="248996"/>
          </a:xfrm>
          <a:prstGeom prst="roundRect">
            <a:avLst/>
          </a:prstGeom>
          <a:no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1" name="Rectangle: Rounded Corners 20">
            <a:extLst>
              <a:ext uri="{FF2B5EF4-FFF2-40B4-BE49-F238E27FC236}">
                <a16:creationId xmlns:a16="http://schemas.microsoft.com/office/drawing/2014/main" id="{69B86E35-8D8C-B923-37A6-8018DE67D140}"/>
              </a:ext>
            </a:extLst>
          </p:cNvPr>
          <p:cNvSpPr/>
          <p:nvPr/>
        </p:nvSpPr>
        <p:spPr>
          <a:xfrm>
            <a:off x="10006073" y="3784001"/>
            <a:ext cx="165576" cy="239247"/>
          </a:xfrm>
          <a:prstGeom prst="roundRect">
            <a:avLst/>
          </a:prstGeom>
          <a:noFill/>
          <a:ln>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2" name="TextBox 21">
            <a:extLst>
              <a:ext uri="{FF2B5EF4-FFF2-40B4-BE49-F238E27FC236}">
                <a16:creationId xmlns:a16="http://schemas.microsoft.com/office/drawing/2014/main" id="{FEC5180C-9E49-AEF6-D496-82EE6CF29C9D}"/>
              </a:ext>
            </a:extLst>
          </p:cNvPr>
          <p:cNvSpPr txBox="1"/>
          <p:nvPr/>
        </p:nvSpPr>
        <p:spPr>
          <a:xfrm>
            <a:off x="9797983" y="3313355"/>
            <a:ext cx="260008" cy="261610"/>
          </a:xfrm>
          <a:prstGeom prst="rect">
            <a:avLst/>
          </a:prstGeom>
          <a:noFill/>
        </p:spPr>
        <p:txBody>
          <a:bodyPr wrap="none" rtlCol="0">
            <a:spAutoFit/>
          </a:bodyPr>
          <a:lstStyle/>
          <a:p>
            <a:r>
              <a:rPr lang="sv-SE" sz="1100"/>
              <a:t>1</a:t>
            </a:r>
            <a:endParaRPr lang="LID4096"/>
          </a:p>
        </p:txBody>
      </p:sp>
      <p:sp>
        <p:nvSpPr>
          <p:cNvPr id="23" name="TextBox 22">
            <a:extLst>
              <a:ext uri="{FF2B5EF4-FFF2-40B4-BE49-F238E27FC236}">
                <a16:creationId xmlns:a16="http://schemas.microsoft.com/office/drawing/2014/main" id="{F3B6CA9C-F82E-3E98-345A-BA9C69657795}"/>
              </a:ext>
            </a:extLst>
          </p:cNvPr>
          <p:cNvSpPr txBox="1"/>
          <p:nvPr/>
        </p:nvSpPr>
        <p:spPr>
          <a:xfrm>
            <a:off x="10124433" y="3774251"/>
            <a:ext cx="260008" cy="261610"/>
          </a:xfrm>
          <a:prstGeom prst="rect">
            <a:avLst/>
          </a:prstGeom>
          <a:noFill/>
        </p:spPr>
        <p:txBody>
          <a:bodyPr wrap="none" rtlCol="0">
            <a:spAutoFit/>
          </a:bodyPr>
          <a:lstStyle/>
          <a:p>
            <a:r>
              <a:rPr lang="sv-SE" sz="1100"/>
              <a:t>1</a:t>
            </a:r>
            <a:endParaRPr lang="LID4096"/>
          </a:p>
        </p:txBody>
      </p:sp>
      <p:sp>
        <p:nvSpPr>
          <p:cNvPr id="24" name="TextBox 23">
            <a:extLst>
              <a:ext uri="{FF2B5EF4-FFF2-40B4-BE49-F238E27FC236}">
                <a16:creationId xmlns:a16="http://schemas.microsoft.com/office/drawing/2014/main" id="{483C5C95-9E27-FA7C-4189-3B18529D4433}"/>
              </a:ext>
            </a:extLst>
          </p:cNvPr>
          <p:cNvSpPr txBox="1"/>
          <p:nvPr/>
        </p:nvSpPr>
        <p:spPr>
          <a:xfrm>
            <a:off x="9961420" y="3784001"/>
            <a:ext cx="260008" cy="261610"/>
          </a:xfrm>
          <a:prstGeom prst="rect">
            <a:avLst/>
          </a:prstGeom>
          <a:noFill/>
        </p:spPr>
        <p:txBody>
          <a:bodyPr wrap="none" rtlCol="0">
            <a:spAutoFit/>
          </a:bodyPr>
          <a:lstStyle/>
          <a:p>
            <a:r>
              <a:rPr lang="sv-SE" sz="1100"/>
              <a:t>1</a:t>
            </a:r>
            <a:endParaRPr lang="LID4096"/>
          </a:p>
        </p:txBody>
      </p:sp>
      <p:pic>
        <p:nvPicPr>
          <p:cNvPr id="26" name="Picture 25">
            <a:extLst>
              <a:ext uri="{FF2B5EF4-FFF2-40B4-BE49-F238E27FC236}">
                <a16:creationId xmlns:a16="http://schemas.microsoft.com/office/drawing/2014/main" id="{BC9C04E3-F369-2C22-7A32-2935152901AA}"/>
              </a:ext>
            </a:extLst>
          </p:cNvPr>
          <p:cNvPicPr>
            <a:picLocks noChangeAspect="1"/>
          </p:cNvPicPr>
          <p:nvPr/>
        </p:nvPicPr>
        <p:blipFill>
          <a:blip r:embed="rId6"/>
          <a:stretch>
            <a:fillRect/>
          </a:stretch>
        </p:blipFill>
        <p:spPr>
          <a:xfrm>
            <a:off x="2995203" y="3679467"/>
            <a:ext cx="3786694" cy="816055"/>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611134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500"/>
                                        <p:tgtEl>
                                          <p:spTgt spid="1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500"/>
                                        <p:tgtEl>
                                          <p:spTgt spid="2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500"/>
                                        <p:tgtEl>
                                          <p:spTgt spid="2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00"/>
                                        <p:tgtEl>
                                          <p:spTgt spid="2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fade">
                                      <p:cBhvr>
                                        <p:cTn id="24" dur="500"/>
                                        <p:tgtEl>
                                          <p:spTgt spid="2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00"/>
                                        <p:tgtEl>
                                          <p:spTgt spid="2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p:bldP spid="23" grpId="0"/>
      <p:bldP spid="24"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7A9FF7-0A3C-64FA-D2A6-78190F41986B}"/>
              </a:ext>
            </a:extLst>
          </p:cNvPr>
          <p:cNvSpPr>
            <a:spLocks noGrp="1"/>
          </p:cNvSpPr>
          <p:nvPr>
            <p:ph type="title"/>
          </p:nvPr>
        </p:nvSpPr>
        <p:spPr/>
        <p:txBody>
          <a:bodyPr/>
          <a:lstStyle/>
          <a:p>
            <a:r>
              <a:rPr lang="sv-SE"/>
              <a:t>Skriv en interrupt hanterare</a:t>
            </a:r>
            <a:endParaRPr lang="LID4096"/>
          </a:p>
        </p:txBody>
      </p:sp>
      <p:pic>
        <p:nvPicPr>
          <p:cNvPr id="5" name="Content Placeholder 4">
            <a:extLst>
              <a:ext uri="{FF2B5EF4-FFF2-40B4-BE49-F238E27FC236}">
                <a16:creationId xmlns:a16="http://schemas.microsoft.com/office/drawing/2014/main" id="{23B1584C-87D6-BB7D-A4F8-908F83706678}"/>
              </a:ext>
            </a:extLst>
          </p:cNvPr>
          <p:cNvPicPr>
            <a:picLocks noGrp="1" noChangeAspect="1"/>
          </p:cNvPicPr>
          <p:nvPr>
            <p:ph idx="1"/>
          </p:nvPr>
        </p:nvPicPr>
        <p:blipFill>
          <a:blip r:embed="rId2"/>
          <a:stretch>
            <a:fillRect/>
          </a:stretch>
        </p:blipFill>
        <p:spPr>
          <a:xfrm>
            <a:off x="952023" y="2115112"/>
            <a:ext cx="6830378" cy="3315163"/>
          </a:xfrm>
          <a:prstGeom prst="rect">
            <a:avLst/>
          </a:prstGeom>
        </p:spPr>
      </p:pic>
      <p:sp>
        <p:nvSpPr>
          <p:cNvPr id="6" name="TextBox 5">
            <a:extLst>
              <a:ext uri="{FF2B5EF4-FFF2-40B4-BE49-F238E27FC236}">
                <a16:creationId xmlns:a16="http://schemas.microsoft.com/office/drawing/2014/main" id="{F4D1C0CF-1BA6-DBF3-E06A-2C1F47E01EFF}"/>
              </a:ext>
            </a:extLst>
          </p:cNvPr>
          <p:cNvSpPr txBox="1"/>
          <p:nvPr/>
        </p:nvSpPr>
        <p:spPr>
          <a:xfrm>
            <a:off x="2103328" y="2991148"/>
            <a:ext cx="2499980" cy="276999"/>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txBody>
          <a:bodyPr wrap="none" rtlCol="0">
            <a:spAutoFit/>
          </a:bodyPr>
          <a:lstStyle/>
          <a:p>
            <a:r>
              <a:rPr lang="sv-SE" sz="1200"/>
              <a:t>Öhmm.... vem var det som avbröt? </a:t>
            </a:r>
            <a:endParaRPr lang="LID4096" sz="1200"/>
          </a:p>
        </p:txBody>
      </p:sp>
    </p:spTree>
    <p:extLst>
      <p:ext uri="{BB962C8B-B14F-4D97-AF65-F5344CB8AC3E}">
        <p14:creationId xmlns:p14="http://schemas.microsoft.com/office/powerpoint/2010/main" val="806887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4A6BC-1608-CCFE-4EB9-9D9BA0582B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35B713-D2C5-6CDB-06C3-C894F5D455B5}"/>
              </a:ext>
            </a:extLst>
          </p:cNvPr>
          <p:cNvSpPr>
            <a:spLocks noGrp="1"/>
          </p:cNvSpPr>
          <p:nvPr>
            <p:ph type="title"/>
          </p:nvPr>
        </p:nvSpPr>
        <p:spPr/>
        <p:txBody>
          <a:bodyPr/>
          <a:lstStyle/>
          <a:p>
            <a:r>
              <a:rPr lang="sv-SE"/>
              <a:t>Skriv en interrupt hanterare</a:t>
            </a:r>
            <a:endParaRPr lang="LID4096"/>
          </a:p>
        </p:txBody>
      </p:sp>
      <p:pic>
        <p:nvPicPr>
          <p:cNvPr id="8" name="Picture 7">
            <a:extLst>
              <a:ext uri="{FF2B5EF4-FFF2-40B4-BE49-F238E27FC236}">
                <a16:creationId xmlns:a16="http://schemas.microsoft.com/office/drawing/2014/main" id="{0B0D7CCC-2E53-1019-3ACC-32E437CDE7D7}"/>
              </a:ext>
            </a:extLst>
          </p:cNvPr>
          <p:cNvPicPr>
            <a:picLocks noChangeAspect="1"/>
          </p:cNvPicPr>
          <p:nvPr/>
        </p:nvPicPr>
        <p:blipFill>
          <a:blip r:embed="rId3"/>
          <a:stretch>
            <a:fillRect/>
          </a:stretch>
        </p:blipFill>
        <p:spPr>
          <a:xfrm>
            <a:off x="0" y="1690688"/>
            <a:ext cx="4482092" cy="5143975"/>
          </a:xfrm>
          <a:prstGeom prst="rect">
            <a:avLst/>
          </a:prstGeom>
        </p:spPr>
      </p:pic>
      <p:pic>
        <p:nvPicPr>
          <p:cNvPr id="10" name="Picture 9">
            <a:extLst>
              <a:ext uri="{FF2B5EF4-FFF2-40B4-BE49-F238E27FC236}">
                <a16:creationId xmlns:a16="http://schemas.microsoft.com/office/drawing/2014/main" id="{EFA7314A-0E05-CD70-C9B2-A99E2F3DF2E4}"/>
              </a:ext>
            </a:extLst>
          </p:cNvPr>
          <p:cNvPicPr>
            <a:picLocks noChangeAspect="1"/>
          </p:cNvPicPr>
          <p:nvPr/>
        </p:nvPicPr>
        <p:blipFill>
          <a:blip r:embed="rId4"/>
          <a:stretch>
            <a:fillRect/>
          </a:stretch>
        </p:blipFill>
        <p:spPr>
          <a:xfrm>
            <a:off x="4695232" y="1847792"/>
            <a:ext cx="7211018" cy="1033606"/>
          </a:xfrm>
          <a:prstGeom prst="rect">
            <a:avLst/>
          </a:prstGeom>
          <a:ln>
            <a:solidFill>
              <a:schemeClr val="tx1"/>
            </a:solidFill>
          </a:ln>
          <a:effectLst>
            <a:outerShdw blurRad="50800" dist="38100" dir="2700000" algn="tl" rotWithShape="0">
              <a:prstClr val="black">
                <a:alpha val="40000"/>
              </a:prstClr>
            </a:outerShdw>
          </a:effectLst>
        </p:spPr>
      </p:pic>
      <p:grpSp>
        <p:nvGrpSpPr>
          <p:cNvPr id="11" name="Group 10">
            <a:extLst>
              <a:ext uri="{FF2B5EF4-FFF2-40B4-BE49-F238E27FC236}">
                <a16:creationId xmlns:a16="http://schemas.microsoft.com/office/drawing/2014/main" id="{BA09BC0E-A314-259B-F449-FDB55136A26D}"/>
              </a:ext>
            </a:extLst>
          </p:cNvPr>
          <p:cNvGrpSpPr/>
          <p:nvPr/>
        </p:nvGrpSpPr>
        <p:grpSpPr>
          <a:xfrm>
            <a:off x="2780880" y="3857625"/>
            <a:ext cx="6405982" cy="2514873"/>
            <a:chOff x="1437175" y="3130475"/>
            <a:chExt cx="15058165" cy="5949659"/>
          </a:xfrm>
        </p:grpSpPr>
        <p:cxnSp>
          <p:nvCxnSpPr>
            <p:cNvPr id="12" name="Straight Arrow Connector 11">
              <a:extLst>
                <a:ext uri="{FF2B5EF4-FFF2-40B4-BE49-F238E27FC236}">
                  <a16:creationId xmlns:a16="http://schemas.microsoft.com/office/drawing/2014/main" id="{D906EF8E-605A-1FCB-A5A5-867696E33F5C}"/>
                </a:ext>
              </a:extLst>
            </p:cNvPr>
            <p:cNvCxnSpPr/>
            <p:nvPr/>
          </p:nvCxnSpPr>
          <p:spPr>
            <a:xfrm flipH="1">
              <a:off x="4362226" y="3130475"/>
              <a:ext cx="435146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B0AC429E-BFC9-4935-C4B0-DE9A4B86D750}"/>
                </a:ext>
              </a:extLst>
            </p:cNvPr>
            <p:cNvCxnSpPr/>
            <p:nvPr/>
          </p:nvCxnSpPr>
          <p:spPr>
            <a:xfrm flipH="1">
              <a:off x="4665233" y="4982583"/>
              <a:ext cx="435146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8595656B-E325-702C-0E8D-7BE6F89A329F}"/>
                </a:ext>
              </a:extLst>
            </p:cNvPr>
            <p:cNvCxnSpPr/>
            <p:nvPr/>
          </p:nvCxnSpPr>
          <p:spPr>
            <a:xfrm flipH="1">
              <a:off x="4419600" y="6592644"/>
              <a:ext cx="435146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29AD4D4-A888-9AEE-3738-81F7CE7E2047}"/>
                </a:ext>
              </a:extLst>
            </p:cNvPr>
            <p:cNvCxnSpPr/>
            <p:nvPr/>
          </p:nvCxnSpPr>
          <p:spPr>
            <a:xfrm>
              <a:off x="8713694" y="3130475"/>
              <a:ext cx="303007" cy="185210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165A3668-C2F1-5965-D6AB-820400E724EA}"/>
                </a:ext>
              </a:extLst>
            </p:cNvPr>
            <p:cNvCxnSpPr>
              <a:cxnSpLocks/>
            </p:cNvCxnSpPr>
            <p:nvPr/>
          </p:nvCxnSpPr>
          <p:spPr>
            <a:xfrm flipH="1">
              <a:off x="8771068" y="4982583"/>
              <a:ext cx="245633" cy="161006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67AB9B11-BFED-33F3-CBAE-BB4DB38FFC14}"/>
                </a:ext>
              </a:extLst>
            </p:cNvPr>
            <p:cNvCxnSpPr>
              <a:cxnSpLocks/>
            </p:cNvCxnSpPr>
            <p:nvPr/>
          </p:nvCxnSpPr>
          <p:spPr>
            <a:xfrm flipH="1">
              <a:off x="9016701" y="4982582"/>
              <a:ext cx="458435"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CE526D2A-D605-979E-E907-86A18774D736}"/>
                </a:ext>
              </a:extLst>
            </p:cNvPr>
            <p:cNvSpPr txBox="1"/>
            <p:nvPr/>
          </p:nvSpPr>
          <p:spPr>
            <a:xfrm>
              <a:off x="9475134" y="4258531"/>
              <a:ext cx="7020206" cy="1529083"/>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txBody>
            <a:bodyPr wrap="square" rtlCol="0">
              <a:spAutoFit/>
            </a:bodyPr>
            <a:lstStyle/>
            <a:p>
              <a:r>
                <a:rPr lang="sv-SE" sz="1200" dirty="0"/>
                <a:t>Säg åt timern att vi har tagit hand om</a:t>
              </a:r>
            </a:p>
            <a:p>
              <a:r>
                <a:rPr lang="sv-SE" sz="1200" dirty="0" err="1"/>
                <a:t>interruptet</a:t>
              </a:r>
              <a:r>
                <a:rPr lang="sv-SE" sz="1200" dirty="0"/>
                <a:t>, så det är fritt fram att skicka </a:t>
              </a:r>
            </a:p>
            <a:p>
              <a:r>
                <a:rPr lang="sv-SE" sz="1200" dirty="0"/>
                <a:t>ett nytt</a:t>
              </a:r>
              <a:endParaRPr lang="LID4096" sz="1200" dirty="0"/>
            </a:p>
          </p:txBody>
        </p:sp>
        <p:sp>
          <p:nvSpPr>
            <p:cNvPr id="19" name="TextBox 18">
              <a:extLst>
                <a:ext uri="{FF2B5EF4-FFF2-40B4-BE49-F238E27FC236}">
                  <a16:creationId xmlns:a16="http://schemas.microsoft.com/office/drawing/2014/main" id="{16D39585-D256-0845-892E-9C0A408E8836}"/>
                </a:ext>
              </a:extLst>
            </p:cNvPr>
            <p:cNvSpPr txBox="1"/>
            <p:nvPr/>
          </p:nvSpPr>
          <p:spPr>
            <a:xfrm>
              <a:off x="1437175" y="7987932"/>
              <a:ext cx="7020206" cy="1092202"/>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txBody>
            <a:bodyPr wrap="square" rtlCol="0">
              <a:spAutoFit/>
            </a:bodyPr>
            <a:lstStyle/>
            <a:p>
              <a:r>
                <a:rPr lang="sv-SE" sz="1200"/>
                <a:t>Detta är ganska mycket kod, när allt vi ville göra var att flippa en bit.</a:t>
              </a:r>
              <a:endParaRPr lang="LID4096" sz="1200"/>
            </a:p>
          </p:txBody>
        </p:sp>
      </p:grpSp>
    </p:spTree>
    <p:extLst>
      <p:ext uri="{BB962C8B-B14F-4D97-AF65-F5344CB8AC3E}">
        <p14:creationId xmlns:p14="http://schemas.microsoft.com/office/powerpoint/2010/main" val="1282460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2291063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E59086-43C0-F389-1A84-B1919E40F746}"/>
              </a:ext>
            </a:extLst>
          </p:cNvPr>
          <p:cNvSpPr>
            <a:spLocks noGrp="1"/>
          </p:cNvSpPr>
          <p:nvPr>
            <p:ph type="title"/>
          </p:nvPr>
        </p:nvSpPr>
        <p:spPr/>
        <p:txBody>
          <a:bodyPr/>
          <a:lstStyle/>
          <a:p>
            <a:r>
              <a:rPr lang="sv-SE"/>
              <a:t>Vectored Interrupt Handling</a:t>
            </a:r>
            <a:endParaRPr lang="LID4096"/>
          </a:p>
        </p:txBody>
      </p:sp>
      <p:pic>
        <p:nvPicPr>
          <p:cNvPr id="12" name="Picture 11">
            <a:extLst>
              <a:ext uri="{FF2B5EF4-FFF2-40B4-BE49-F238E27FC236}">
                <a16:creationId xmlns:a16="http://schemas.microsoft.com/office/drawing/2014/main" id="{A775A33D-B8CC-ED86-ECB7-F3A88DAE7A8E}"/>
              </a:ext>
            </a:extLst>
          </p:cNvPr>
          <p:cNvPicPr>
            <a:picLocks noChangeAspect="1"/>
          </p:cNvPicPr>
          <p:nvPr/>
        </p:nvPicPr>
        <p:blipFill>
          <a:blip r:embed="rId3"/>
          <a:stretch>
            <a:fillRect/>
          </a:stretch>
        </p:blipFill>
        <p:spPr>
          <a:xfrm>
            <a:off x="2804472" y="3536632"/>
            <a:ext cx="5596066" cy="1037354"/>
          </a:xfrm>
          <a:prstGeom prst="rect">
            <a:avLst/>
          </a:prstGeom>
        </p:spPr>
      </p:pic>
      <p:sp>
        <p:nvSpPr>
          <p:cNvPr id="14" name="Rectangle 13">
            <a:extLst>
              <a:ext uri="{FF2B5EF4-FFF2-40B4-BE49-F238E27FC236}">
                <a16:creationId xmlns:a16="http://schemas.microsoft.com/office/drawing/2014/main" id="{362E98A0-EB29-9F0B-C326-EAE12786A36F}"/>
              </a:ext>
            </a:extLst>
          </p:cNvPr>
          <p:cNvSpPr/>
          <p:nvPr/>
        </p:nvSpPr>
        <p:spPr>
          <a:xfrm>
            <a:off x="2843662" y="3990221"/>
            <a:ext cx="5525644" cy="144037"/>
          </a:xfrm>
          <a:prstGeom prst="rect">
            <a:avLst/>
          </a:prstGeom>
          <a:solidFill>
            <a:schemeClr val="accent2">
              <a:lumMod val="75000"/>
              <a:alpha val="33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nvGrpSpPr>
          <p:cNvPr id="26" name="Group 25">
            <a:extLst>
              <a:ext uri="{FF2B5EF4-FFF2-40B4-BE49-F238E27FC236}">
                <a16:creationId xmlns:a16="http://schemas.microsoft.com/office/drawing/2014/main" id="{58399B08-331C-9F25-8CD6-EDD08D34E5F9}"/>
              </a:ext>
            </a:extLst>
          </p:cNvPr>
          <p:cNvGrpSpPr/>
          <p:nvPr/>
        </p:nvGrpSpPr>
        <p:grpSpPr>
          <a:xfrm>
            <a:off x="422905" y="2344759"/>
            <a:ext cx="10951152" cy="2650313"/>
            <a:chOff x="422905" y="2344759"/>
            <a:chExt cx="10951152" cy="2650313"/>
          </a:xfrm>
        </p:grpSpPr>
        <p:pic>
          <p:nvPicPr>
            <p:cNvPr id="13" name="Picture 12">
              <a:extLst>
                <a:ext uri="{FF2B5EF4-FFF2-40B4-BE49-F238E27FC236}">
                  <a16:creationId xmlns:a16="http://schemas.microsoft.com/office/drawing/2014/main" id="{5EF2E08F-75CE-7004-58FA-42A1A22E31CA}"/>
                </a:ext>
              </a:extLst>
            </p:cNvPr>
            <p:cNvPicPr>
              <a:picLocks noChangeAspect="1"/>
            </p:cNvPicPr>
            <p:nvPr/>
          </p:nvPicPr>
          <p:blipFill>
            <a:blip r:embed="rId4"/>
            <a:stretch>
              <a:fillRect/>
            </a:stretch>
          </p:blipFill>
          <p:spPr>
            <a:xfrm>
              <a:off x="422905" y="3115546"/>
              <a:ext cx="1954823" cy="1879526"/>
            </a:xfrm>
            <a:prstGeom prst="rect">
              <a:avLst/>
            </a:prstGeom>
          </p:spPr>
        </p:pic>
        <p:sp>
          <p:nvSpPr>
            <p:cNvPr id="16" name="TextBox 15">
              <a:extLst>
                <a:ext uri="{FF2B5EF4-FFF2-40B4-BE49-F238E27FC236}">
                  <a16:creationId xmlns:a16="http://schemas.microsoft.com/office/drawing/2014/main" id="{38638005-336D-8A5A-549A-F0BE61E0EBFF}"/>
                </a:ext>
              </a:extLst>
            </p:cNvPr>
            <p:cNvSpPr txBox="1"/>
            <p:nvPr/>
          </p:nvSpPr>
          <p:spPr>
            <a:xfrm>
              <a:off x="8524946" y="2367958"/>
              <a:ext cx="2849111" cy="1363578"/>
            </a:xfrm>
            <a:prstGeom prst="rect">
              <a:avLst/>
            </a:prstGeom>
            <a:solidFill>
              <a:schemeClr val="tx1">
                <a:lumMod val="85000"/>
                <a:lumOff val="15000"/>
              </a:schemeClr>
            </a:solidFill>
          </p:spPr>
          <p:txBody>
            <a:bodyPr wrap="square">
              <a:spAutoFit/>
            </a:bodyPr>
            <a:lstStyle/>
            <a:p>
              <a:pPr>
                <a:lnSpc>
                  <a:spcPts val="1425"/>
                </a:lnSpc>
                <a:buNone/>
              </a:pPr>
              <a:r>
                <a:rPr lang="en-GB" sz="1000" b="0">
                  <a:solidFill>
                    <a:srgbClr val="DCDCAA"/>
                  </a:solidFill>
                  <a:effectLst/>
                  <a:latin typeface="Consolas" panose="020B0609020204030204" pitchFamily="49" charset="0"/>
                </a:rPr>
                <a:t>__attribute__</a:t>
              </a:r>
              <a:r>
                <a:rPr lang="en-GB" sz="1000" b="0">
                  <a:solidFill>
                    <a:srgbClr val="CCCCCC"/>
                  </a:solidFill>
                  <a:effectLst/>
                  <a:latin typeface="Consolas" panose="020B0609020204030204" pitchFamily="49" charset="0"/>
                </a:rPr>
                <a:t>((</a:t>
              </a:r>
              <a:r>
                <a:rPr lang="en-GB" sz="1000" b="0">
                  <a:solidFill>
                    <a:srgbClr val="DCDCAA"/>
                  </a:solidFill>
                  <a:effectLst/>
                  <a:latin typeface="Consolas" panose="020B0609020204030204" pitchFamily="49" charset="0"/>
                </a:rPr>
                <a:t>interrupt</a:t>
              </a:r>
              <a:r>
                <a:rPr lang="en-GB" sz="1000" b="0">
                  <a:solidFill>
                    <a:srgbClr val="CCCCCC"/>
                  </a:solidFill>
                  <a:effectLst/>
                  <a:latin typeface="Consolas" panose="020B0609020204030204" pitchFamily="49" charset="0"/>
                </a:rPr>
                <a:t>(</a:t>
              </a:r>
              <a:r>
                <a:rPr lang="en-GB" sz="1000" b="0">
                  <a:solidFill>
                    <a:srgbClr val="CE9178"/>
                  </a:solidFill>
                  <a:effectLst/>
                  <a:latin typeface="Consolas" panose="020B0609020204030204" pitchFamily="49" charset="0"/>
                </a:rPr>
                <a:t>"machine"</a:t>
              </a:r>
              <a:r>
                <a:rPr lang="en-GB" sz="1000" b="0">
                  <a:solidFill>
                    <a:srgbClr val="CCCCCC"/>
                  </a:solidFill>
                  <a:effectLst/>
                  <a:latin typeface="Consolas" panose="020B0609020204030204" pitchFamily="49" charset="0"/>
                </a:rPr>
                <a:t>)))</a:t>
              </a:r>
            </a:p>
            <a:p>
              <a:pPr>
                <a:lnSpc>
                  <a:spcPts val="1425"/>
                </a:lnSpc>
                <a:buNone/>
              </a:pPr>
              <a:r>
                <a:rPr lang="en-GB" sz="1000" b="0">
                  <a:solidFill>
                    <a:srgbClr val="569CD6"/>
                  </a:solidFill>
                  <a:effectLst/>
                  <a:latin typeface="Consolas" panose="020B0609020204030204" pitchFamily="49" charset="0"/>
                </a:rPr>
                <a:t>void</a:t>
              </a:r>
              <a:r>
                <a:rPr lang="en-GB" sz="1000" b="0">
                  <a:solidFill>
                    <a:srgbClr val="CCCCCC"/>
                  </a:solidFill>
                  <a:effectLst/>
                  <a:latin typeface="Consolas" panose="020B0609020204030204" pitchFamily="49" charset="0"/>
                </a:rPr>
                <a:t> </a:t>
              </a:r>
              <a:r>
                <a:rPr lang="en-GB" sz="1000" b="0">
                  <a:solidFill>
                    <a:srgbClr val="DCDCAA"/>
                  </a:solidFill>
                  <a:effectLst/>
                  <a:latin typeface="Consolas" panose="020B0609020204030204" pitchFamily="49" charset="0"/>
                </a:rPr>
                <a:t>Interrupt_Handler</a:t>
              </a:r>
              <a:r>
                <a:rPr lang="en-GB" sz="1000" b="0">
                  <a:solidFill>
                    <a:srgbClr val="CCCCCC"/>
                  </a:solidFill>
                  <a:effectLst/>
                  <a:latin typeface="Consolas" panose="020B0609020204030204" pitchFamily="49" charset="0"/>
                </a:rPr>
                <a:t>(</a:t>
              </a:r>
              <a:r>
                <a:rPr lang="en-GB" sz="1000" b="0">
                  <a:solidFill>
                    <a:srgbClr val="569CD6"/>
                  </a:solidFill>
                  <a:effectLst/>
                  <a:latin typeface="Consolas" panose="020B0609020204030204" pitchFamily="49" charset="0"/>
                </a:rPr>
                <a:t>void</a:t>
              </a:r>
              <a:r>
                <a:rPr lang="en-GB" sz="1000" b="0">
                  <a:solidFill>
                    <a:srgbClr val="CCCCCC"/>
                  </a:solidFill>
                  <a:effectLst/>
                  <a:latin typeface="Consolas" panose="020B0609020204030204" pitchFamily="49" charset="0"/>
                </a:rPr>
                <a:t>)</a:t>
              </a:r>
            </a:p>
            <a:p>
              <a:pPr>
                <a:lnSpc>
                  <a:spcPts val="1425"/>
                </a:lnSpc>
                <a:buNone/>
              </a:pPr>
              <a:r>
                <a:rPr lang="en-GB" sz="1000" b="0">
                  <a:solidFill>
                    <a:srgbClr val="CCCCCC"/>
                  </a:solidFill>
                  <a:effectLst/>
                  <a:latin typeface="Consolas" panose="020B0609020204030204" pitchFamily="49" charset="0"/>
                </a:rPr>
                <a:t>{</a:t>
              </a:r>
            </a:p>
            <a:p>
              <a:pPr>
                <a:lnSpc>
                  <a:spcPts val="1425"/>
                </a:lnSpc>
                <a:buNone/>
              </a:pPr>
              <a:r>
                <a:rPr lang="en-GB" sz="1000" b="0">
                  <a:solidFill>
                    <a:srgbClr val="CCCCCC"/>
                  </a:solidFill>
                  <a:effectLst/>
                  <a:latin typeface="Consolas" panose="020B0609020204030204" pitchFamily="49" charset="0"/>
                </a:rPr>
                <a:t>    ...</a:t>
              </a:r>
            </a:p>
            <a:p>
              <a:pPr>
                <a:lnSpc>
                  <a:spcPts val="1425"/>
                </a:lnSpc>
                <a:buNone/>
              </a:pPr>
              <a:r>
                <a:rPr lang="en-GB" sz="1000" b="0">
                  <a:solidFill>
                    <a:srgbClr val="CCCCCC"/>
                  </a:solidFill>
                  <a:effectLst/>
                  <a:latin typeface="Consolas" panose="020B0609020204030204" pitchFamily="49" charset="0"/>
                </a:rPr>
                <a:t>}</a:t>
              </a:r>
            </a:p>
            <a:p>
              <a:pPr>
                <a:lnSpc>
                  <a:spcPts val="1425"/>
                </a:lnSpc>
                <a:buNone/>
              </a:pPr>
              <a:br>
                <a:rPr lang="en-GB" sz="1000" b="0">
                  <a:solidFill>
                    <a:srgbClr val="CCCCCC"/>
                  </a:solidFill>
                  <a:effectLst/>
                  <a:latin typeface="Consolas" panose="020B0609020204030204" pitchFamily="49" charset="0"/>
                </a:rPr>
              </a:br>
              <a:endParaRPr lang="en-GB" sz="1000" b="0">
                <a:solidFill>
                  <a:srgbClr val="CCCCCC"/>
                </a:solidFill>
                <a:effectLst/>
                <a:latin typeface="Consolas" panose="020B0609020204030204" pitchFamily="49" charset="0"/>
              </a:endParaRPr>
            </a:p>
          </p:txBody>
        </p:sp>
        <p:sp>
          <p:nvSpPr>
            <p:cNvPr id="17" name="Freeform: Shape 16">
              <a:extLst>
                <a:ext uri="{FF2B5EF4-FFF2-40B4-BE49-F238E27FC236}">
                  <a16:creationId xmlns:a16="http://schemas.microsoft.com/office/drawing/2014/main" id="{FEE97D96-5BDB-46FC-48B8-A5F857BC011B}"/>
                </a:ext>
              </a:extLst>
            </p:cNvPr>
            <p:cNvSpPr/>
            <p:nvPr/>
          </p:nvSpPr>
          <p:spPr>
            <a:xfrm>
              <a:off x="6430117" y="2716360"/>
              <a:ext cx="2051109" cy="1275051"/>
            </a:xfrm>
            <a:custGeom>
              <a:avLst/>
              <a:gdLst>
                <a:gd name="csX0" fmla="*/ 0 w 1199626"/>
                <a:gd name="csY0" fmla="*/ 1082180 h 1082180"/>
                <a:gd name="csX1" fmla="*/ 322976 w 1199626"/>
                <a:gd name="csY1" fmla="*/ 209725 h 1082180"/>
                <a:gd name="csX2" fmla="*/ 1199626 w 1199626"/>
                <a:gd name="csY2" fmla="*/ 0 h 1082180"/>
                <a:gd name="csX0" fmla="*/ 0 w 2051109"/>
                <a:gd name="csY0" fmla="*/ 1270932 h 1270932"/>
                <a:gd name="csX1" fmla="*/ 322976 w 2051109"/>
                <a:gd name="csY1" fmla="*/ 398477 h 1270932"/>
                <a:gd name="csX2" fmla="*/ 2051109 w 2051109"/>
                <a:gd name="csY2" fmla="*/ 0 h 1270932"/>
                <a:gd name="csX0" fmla="*/ 0 w 2051109"/>
                <a:gd name="csY0" fmla="*/ 1275051 h 1275051"/>
                <a:gd name="csX1" fmla="*/ 322976 w 2051109"/>
                <a:gd name="csY1" fmla="*/ 402596 h 1275051"/>
                <a:gd name="csX2" fmla="*/ 2051109 w 2051109"/>
                <a:gd name="csY2" fmla="*/ 4119 h 1275051"/>
              </a:gdLst>
              <a:ahLst/>
              <a:cxnLst>
                <a:cxn ang="0">
                  <a:pos x="csX0" y="csY0"/>
                </a:cxn>
                <a:cxn ang="0">
                  <a:pos x="csX1" y="csY1"/>
                </a:cxn>
                <a:cxn ang="0">
                  <a:pos x="csX2" y="csY2"/>
                </a:cxn>
              </a:cxnLst>
              <a:rect l="l" t="t" r="r" b="b"/>
              <a:pathLst>
                <a:path w="2051109" h="1275051">
                  <a:moveTo>
                    <a:pt x="0" y="1275051"/>
                  </a:moveTo>
                  <a:cubicBezTo>
                    <a:pt x="61519" y="929005"/>
                    <a:pt x="123038" y="582959"/>
                    <a:pt x="322976" y="402596"/>
                  </a:cubicBezTo>
                  <a:cubicBezTo>
                    <a:pt x="522914" y="222233"/>
                    <a:pt x="1276525" y="-35729"/>
                    <a:pt x="2051109" y="4119"/>
                  </a:cubicBezTo>
                </a:path>
              </a:pathLst>
            </a:custGeom>
            <a:noFill/>
            <a:ln w="63500">
              <a:solidFill>
                <a:schemeClr val="accent2">
                  <a:lumMod val="75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8" name="TextBox 17">
              <a:extLst>
                <a:ext uri="{FF2B5EF4-FFF2-40B4-BE49-F238E27FC236}">
                  <a16:creationId xmlns:a16="http://schemas.microsoft.com/office/drawing/2014/main" id="{F0E3A691-8422-C541-02FC-A4F7FE0C6AFE}"/>
                </a:ext>
              </a:extLst>
            </p:cNvPr>
            <p:cNvSpPr txBox="1"/>
            <p:nvPr/>
          </p:nvSpPr>
          <p:spPr>
            <a:xfrm>
              <a:off x="6022695" y="2497772"/>
              <a:ext cx="1704313" cy="646331"/>
            </a:xfrm>
            <a:prstGeom prst="rect">
              <a:avLst/>
            </a:prstGeom>
            <a:solidFill>
              <a:schemeClr val="bg1"/>
            </a:solidFill>
            <a:ln w="25400">
              <a:solidFill>
                <a:schemeClr val="accent2">
                  <a:lumMod val="75000"/>
                </a:schemeClr>
              </a:solidFill>
            </a:ln>
          </p:spPr>
          <p:txBody>
            <a:bodyPr wrap="none" rtlCol="0">
              <a:spAutoFit/>
            </a:bodyPr>
            <a:lstStyle/>
            <a:p>
              <a:r>
                <a:rPr lang="en-GB" b="1">
                  <a:latin typeface="+mj-lt"/>
                </a:rPr>
                <a:t>mode 0: </a:t>
              </a:r>
            </a:p>
            <a:p>
              <a:r>
                <a:rPr lang="en-GB">
                  <a:latin typeface="Consolas" panose="020B0609020204030204" pitchFamily="49" charset="0"/>
                </a:rPr>
                <a:t>pc = address</a:t>
              </a:r>
              <a:endParaRPr lang="LID4096">
                <a:latin typeface="Consolas" panose="020B0609020204030204" pitchFamily="49" charset="0"/>
              </a:endParaRPr>
            </a:p>
          </p:txBody>
        </p:sp>
        <p:sp>
          <p:nvSpPr>
            <p:cNvPr id="21" name="Freeform: Shape 20">
              <a:extLst>
                <a:ext uri="{FF2B5EF4-FFF2-40B4-BE49-F238E27FC236}">
                  <a16:creationId xmlns:a16="http://schemas.microsoft.com/office/drawing/2014/main" id="{3C72B1BC-CDFE-98A5-9C51-54BD65450379}"/>
                </a:ext>
              </a:extLst>
            </p:cNvPr>
            <p:cNvSpPr/>
            <p:nvPr/>
          </p:nvSpPr>
          <p:spPr>
            <a:xfrm>
              <a:off x="1388334" y="2738151"/>
              <a:ext cx="1858297" cy="804449"/>
            </a:xfrm>
            <a:custGeom>
              <a:avLst/>
              <a:gdLst>
                <a:gd name="csX0" fmla="*/ 0 w 1832994"/>
                <a:gd name="csY0" fmla="*/ 0 h 427838"/>
                <a:gd name="csX1" fmla="*/ 1832994 w 1832994"/>
                <a:gd name="csY1" fmla="*/ 427838 h 427838"/>
                <a:gd name="csX0" fmla="*/ 0 w 1858161"/>
                <a:gd name="csY0" fmla="*/ 0 h 423644"/>
                <a:gd name="csX1" fmla="*/ 1858161 w 1858161"/>
                <a:gd name="csY1" fmla="*/ 423644 h 423644"/>
                <a:gd name="csX0" fmla="*/ 0 w 1858356"/>
                <a:gd name="csY0" fmla="*/ 0 h 423644"/>
                <a:gd name="csX1" fmla="*/ 1858161 w 1858356"/>
                <a:gd name="csY1" fmla="*/ 423644 h 423644"/>
                <a:gd name="csX0" fmla="*/ 0 w 1858297"/>
                <a:gd name="csY0" fmla="*/ 380805 h 804449"/>
                <a:gd name="csX1" fmla="*/ 1858161 w 1858297"/>
                <a:gd name="csY1" fmla="*/ 804449 h 804449"/>
              </a:gdLst>
              <a:ahLst/>
              <a:cxnLst>
                <a:cxn ang="0">
                  <a:pos x="csX0" y="csY0"/>
                </a:cxn>
                <a:cxn ang="0">
                  <a:pos x="csX1" y="csY1"/>
                </a:cxn>
              </a:cxnLst>
              <a:rect l="l" t="t" r="r" b="b"/>
              <a:pathLst>
                <a:path w="1858297" h="804449">
                  <a:moveTo>
                    <a:pt x="0" y="380805"/>
                  </a:moveTo>
                  <a:cubicBezTo>
                    <a:pt x="74103" y="-430130"/>
                    <a:pt x="1876338" y="218618"/>
                    <a:pt x="1858161" y="804449"/>
                  </a:cubicBezTo>
                </a:path>
              </a:pathLst>
            </a:custGeom>
            <a:noFill/>
            <a:ln w="63500">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2" name="TextBox 21">
              <a:extLst>
                <a:ext uri="{FF2B5EF4-FFF2-40B4-BE49-F238E27FC236}">
                  <a16:creationId xmlns:a16="http://schemas.microsoft.com/office/drawing/2014/main" id="{3C7FCD14-CBB5-A50A-777E-94D2585B6645}"/>
                </a:ext>
              </a:extLst>
            </p:cNvPr>
            <p:cNvSpPr txBox="1"/>
            <p:nvPr/>
          </p:nvSpPr>
          <p:spPr>
            <a:xfrm>
              <a:off x="1681697" y="2344759"/>
              <a:ext cx="3927807" cy="646331"/>
            </a:xfrm>
            <a:prstGeom prst="rect">
              <a:avLst/>
            </a:prstGeom>
            <a:solidFill>
              <a:schemeClr val="bg1"/>
            </a:solidFill>
            <a:ln w="25400">
              <a:solidFill>
                <a:schemeClr val="tx1"/>
              </a:solidFill>
            </a:ln>
          </p:spPr>
          <p:txBody>
            <a:bodyPr wrap="none" rtlCol="0">
              <a:spAutoFit/>
            </a:bodyPr>
            <a:lstStyle/>
            <a:p>
              <a:r>
                <a:rPr lang="en-GB">
                  <a:latin typeface="+mj-lt"/>
                </a:rPr>
                <a:t>When an interrupt occurs, the processor</a:t>
              </a:r>
              <a:br>
                <a:rPr lang="en-GB">
                  <a:latin typeface="+mj-lt"/>
                </a:rPr>
              </a:br>
              <a:r>
                <a:rPr lang="en-GB">
                  <a:latin typeface="+mj-lt"/>
                </a:rPr>
                <a:t>checks </a:t>
              </a:r>
              <a:r>
                <a:rPr lang="en-GB" b="1">
                  <a:latin typeface="Consolas" panose="020B0609020204030204" pitchFamily="49" charset="0"/>
                </a:rPr>
                <a:t>mtvec</a:t>
              </a:r>
              <a:r>
                <a:rPr lang="en-GB">
                  <a:latin typeface="+mj-lt"/>
                </a:rPr>
                <a:t> to see where to jump</a:t>
              </a:r>
              <a:endParaRPr lang="LID4096">
                <a:latin typeface="+mj-lt"/>
              </a:endParaRPr>
            </a:p>
          </p:txBody>
        </p:sp>
      </p:grpSp>
    </p:spTree>
    <p:extLst>
      <p:ext uri="{BB962C8B-B14F-4D97-AF65-F5344CB8AC3E}">
        <p14:creationId xmlns:p14="http://schemas.microsoft.com/office/powerpoint/2010/main" val="10539655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left)">
                                      <p:cBhvr>
                                        <p:cTn id="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805A7-E985-FA83-E4D2-F0E33E7D3E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677DE9-C573-6DA9-9192-860917FD739B}"/>
              </a:ext>
            </a:extLst>
          </p:cNvPr>
          <p:cNvSpPr>
            <a:spLocks noGrp="1"/>
          </p:cNvSpPr>
          <p:nvPr>
            <p:ph type="title"/>
          </p:nvPr>
        </p:nvSpPr>
        <p:spPr/>
        <p:txBody>
          <a:bodyPr/>
          <a:lstStyle/>
          <a:p>
            <a:r>
              <a:rPr lang="sv-SE"/>
              <a:t>Vectored Interrupt Handling</a:t>
            </a:r>
            <a:endParaRPr lang="LID4096"/>
          </a:p>
        </p:txBody>
      </p:sp>
      <p:pic>
        <p:nvPicPr>
          <p:cNvPr id="12" name="Picture 11">
            <a:extLst>
              <a:ext uri="{FF2B5EF4-FFF2-40B4-BE49-F238E27FC236}">
                <a16:creationId xmlns:a16="http://schemas.microsoft.com/office/drawing/2014/main" id="{A505ED32-9BF3-9B43-45DC-11B16EAC66ED}"/>
              </a:ext>
            </a:extLst>
          </p:cNvPr>
          <p:cNvPicPr>
            <a:picLocks noChangeAspect="1"/>
          </p:cNvPicPr>
          <p:nvPr/>
        </p:nvPicPr>
        <p:blipFill>
          <a:blip r:embed="rId3"/>
          <a:stretch>
            <a:fillRect/>
          </a:stretch>
        </p:blipFill>
        <p:spPr>
          <a:xfrm>
            <a:off x="2804472" y="3536632"/>
            <a:ext cx="5596066" cy="1037354"/>
          </a:xfrm>
          <a:prstGeom prst="rect">
            <a:avLst/>
          </a:prstGeom>
        </p:spPr>
      </p:pic>
      <p:pic>
        <p:nvPicPr>
          <p:cNvPr id="13" name="Picture 12">
            <a:extLst>
              <a:ext uri="{FF2B5EF4-FFF2-40B4-BE49-F238E27FC236}">
                <a16:creationId xmlns:a16="http://schemas.microsoft.com/office/drawing/2014/main" id="{A5772C5D-B588-C86F-A1D9-BF8F4166A902}"/>
              </a:ext>
            </a:extLst>
          </p:cNvPr>
          <p:cNvPicPr>
            <a:picLocks noChangeAspect="1"/>
          </p:cNvPicPr>
          <p:nvPr/>
        </p:nvPicPr>
        <p:blipFill>
          <a:blip r:embed="rId4"/>
          <a:stretch>
            <a:fillRect/>
          </a:stretch>
        </p:blipFill>
        <p:spPr>
          <a:xfrm>
            <a:off x="422905" y="3115546"/>
            <a:ext cx="1954823" cy="1879526"/>
          </a:xfrm>
          <a:prstGeom prst="rect">
            <a:avLst/>
          </a:prstGeom>
        </p:spPr>
      </p:pic>
      <p:sp>
        <p:nvSpPr>
          <p:cNvPr id="14" name="Rectangle 13">
            <a:extLst>
              <a:ext uri="{FF2B5EF4-FFF2-40B4-BE49-F238E27FC236}">
                <a16:creationId xmlns:a16="http://schemas.microsoft.com/office/drawing/2014/main" id="{1717C53B-6CC1-8B93-229B-C408F600E8B9}"/>
              </a:ext>
            </a:extLst>
          </p:cNvPr>
          <p:cNvSpPr/>
          <p:nvPr/>
        </p:nvSpPr>
        <p:spPr>
          <a:xfrm>
            <a:off x="2843662" y="3990221"/>
            <a:ext cx="5525644" cy="144037"/>
          </a:xfrm>
          <a:prstGeom prst="rect">
            <a:avLst/>
          </a:prstGeom>
          <a:solidFill>
            <a:schemeClr val="accent2">
              <a:lumMod val="75000"/>
              <a:alpha val="33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5" name="Rectangle 14">
            <a:extLst>
              <a:ext uri="{FF2B5EF4-FFF2-40B4-BE49-F238E27FC236}">
                <a16:creationId xmlns:a16="http://schemas.microsoft.com/office/drawing/2014/main" id="{E8A0F73A-05F2-AB0C-185C-647A12554CAD}"/>
              </a:ext>
            </a:extLst>
          </p:cNvPr>
          <p:cNvSpPr/>
          <p:nvPr/>
        </p:nvSpPr>
        <p:spPr>
          <a:xfrm>
            <a:off x="2845069" y="4142621"/>
            <a:ext cx="5525644" cy="144037"/>
          </a:xfrm>
          <a:prstGeom prst="rect">
            <a:avLst/>
          </a:prstGeom>
          <a:solidFill>
            <a:schemeClr val="accent6">
              <a:lumMod val="75000"/>
              <a:alpha val="33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6" name="TextBox 15">
            <a:extLst>
              <a:ext uri="{FF2B5EF4-FFF2-40B4-BE49-F238E27FC236}">
                <a16:creationId xmlns:a16="http://schemas.microsoft.com/office/drawing/2014/main" id="{0228971A-245A-B7B0-D598-DE0BF6ACE49E}"/>
              </a:ext>
            </a:extLst>
          </p:cNvPr>
          <p:cNvSpPr txBox="1"/>
          <p:nvPr/>
        </p:nvSpPr>
        <p:spPr>
          <a:xfrm>
            <a:off x="8524946" y="2367958"/>
            <a:ext cx="2849111" cy="1363578"/>
          </a:xfrm>
          <a:prstGeom prst="rect">
            <a:avLst/>
          </a:prstGeom>
          <a:solidFill>
            <a:schemeClr val="tx1">
              <a:lumMod val="85000"/>
              <a:lumOff val="15000"/>
            </a:schemeClr>
          </a:solidFill>
        </p:spPr>
        <p:txBody>
          <a:bodyPr wrap="square">
            <a:spAutoFit/>
          </a:bodyPr>
          <a:lstStyle/>
          <a:p>
            <a:pPr>
              <a:lnSpc>
                <a:spcPts val="1425"/>
              </a:lnSpc>
              <a:buNone/>
            </a:pPr>
            <a:r>
              <a:rPr lang="en-GB" sz="1000" b="0">
                <a:solidFill>
                  <a:srgbClr val="DCDCAA"/>
                </a:solidFill>
                <a:effectLst/>
                <a:latin typeface="Consolas" panose="020B0609020204030204" pitchFamily="49" charset="0"/>
              </a:rPr>
              <a:t>__attribute__</a:t>
            </a:r>
            <a:r>
              <a:rPr lang="en-GB" sz="1000" b="0">
                <a:solidFill>
                  <a:srgbClr val="CCCCCC"/>
                </a:solidFill>
                <a:effectLst/>
                <a:latin typeface="Consolas" panose="020B0609020204030204" pitchFamily="49" charset="0"/>
              </a:rPr>
              <a:t>((</a:t>
            </a:r>
            <a:r>
              <a:rPr lang="en-GB" sz="1000" b="0">
                <a:solidFill>
                  <a:srgbClr val="DCDCAA"/>
                </a:solidFill>
                <a:effectLst/>
                <a:latin typeface="Consolas" panose="020B0609020204030204" pitchFamily="49" charset="0"/>
              </a:rPr>
              <a:t>interrupt</a:t>
            </a:r>
            <a:r>
              <a:rPr lang="en-GB" sz="1000" b="0">
                <a:solidFill>
                  <a:srgbClr val="CCCCCC"/>
                </a:solidFill>
                <a:effectLst/>
                <a:latin typeface="Consolas" panose="020B0609020204030204" pitchFamily="49" charset="0"/>
              </a:rPr>
              <a:t>(</a:t>
            </a:r>
            <a:r>
              <a:rPr lang="en-GB" sz="1000" b="0">
                <a:solidFill>
                  <a:srgbClr val="CE9178"/>
                </a:solidFill>
                <a:effectLst/>
                <a:latin typeface="Consolas" panose="020B0609020204030204" pitchFamily="49" charset="0"/>
              </a:rPr>
              <a:t>"machine"</a:t>
            </a:r>
            <a:r>
              <a:rPr lang="en-GB" sz="1000" b="0">
                <a:solidFill>
                  <a:srgbClr val="CCCCCC"/>
                </a:solidFill>
                <a:effectLst/>
                <a:latin typeface="Consolas" panose="020B0609020204030204" pitchFamily="49" charset="0"/>
              </a:rPr>
              <a:t>)))</a:t>
            </a:r>
          </a:p>
          <a:p>
            <a:pPr>
              <a:lnSpc>
                <a:spcPts val="1425"/>
              </a:lnSpc>
              <a:buNone/>
            </a:pPr>
            <a:r>
              <a:rPr lang="en-GB" sz="1000" b="0">
                <a:solidFill>
                  <a:srgbClr val="569CD6"/>
                </a:solidFill>
                <a:effectLst/>
                <a:latin typeface="Consolas" panose="020B0609020204030204" pitchFamily="49" charset="0"/>
              </a:rPr>
              <a:t>void</a:t>
            </a:r>
            <a:r>
              <a:rPr lang="en-GB" sz="1000" b="0">
                <a:solidFill>
                  <a:srgbClr val="CCCCCC"/>
                </a:solidFill>
                <a:effectLst/>
                <a:latin typeface="Consolas" panose="020B0609020204030204" pitchFamily="49" charset="0"/>
              </a:rPr>
              <a:t> </a:t>
            </a:r>
            <a:r>
              <a:rPr lang="en-GB" sz="1000" b="0">
                <a:solidFill>
                  <a:srgbClr val="DCDCAA"/>
                </a:solidFill>
                <a:effectLst/>
                <a:latin typeface="Consolas" panose="020B0609020204030204" pitchFamily="49" charset="0"/>
              </a:rPr>
              <a:t>Interrupt_Handler</a:t>
            </a:r>
            <a:r>
              <a:rPr lang="en-GB" sz="1000" b="0">
                <a:solidFill>
                  <a:srgbClr val="CCCCCC"/>
                </a:solidFill>
                <a:effectLst/>
                <a:latin typeface="Consolas" panose="020B0609020204030204" pitchFamily="49" charset="0"/>
              </a:rPr>
              <a:t>(</a:t>
            </a:r>
            <a:r>
              <a:rPr lang="en-GB" sz="1000" b="0">
                <a:solidFill>
                  <a:srgbClr val="569CD6"/>
                </a:solidFill>
                <a:effectLst/>
                <a:latin typeface="Consolas" panose="020B0609020204030204" pitchFamily="49" charset="0"/>
              </a:rPr>
              <a:t>void</a:t>
            </a:r>
            <a:r>
              <a:rPr lang="en-GB" sz="1000" b="0">
                <a:solidFill>
                  <a:srgbClr val="CCCCCC"/>
                </a:solidFill>
                <a:effectLst/>
                <a:latin typeface="Consolas" panose="020B0609020204030204" pitchFamily="49" charset="0"/>
              </a:rPr>
              <a:t>)</a:t>
            </a:r>
          </a:p>
          <a:p>
            <a:pPr>
              <a:lnSpc>
                <a:spcPts val="1425"/>
              </a:lnSpc>
              <a:buNone/>
            </a:pPr>
            <a:r>
              <a:rPr lang="en-GB" sz="1000" b="0">
                <a:solidFill>
                  <a:srgbClr val="CCCCCC"/>
                </a:solidFill>
                <a:effectLst/>
                <a:latin typeface="Consolas" panose="020B0609020204030204" pitchFamily="49" charset="0"/>
              </a:rPr>
              <a:t>{</a:t>
            </a:r>
          </a:p>
          <a:p>
            <a:pPr>
              <a:lnSpc>
                <a:spcPts val="1425"/>
              </a:lnSpc>
              <a:buNone/>
            </a:pPr>
            <a:r>
              <a:rPr lang="en-GB" sz="1000" b="0">
                <a:solidFill>
                  <a:srgbClr val="CCCCCC"/>
                </a:solidFill>
                <a:effectLst/>
                <a:latin typeface="Consolas" panose="020B0609020204030204" pitchFamily="49" charset="0"/>
              </a:rPr>
              <a:t>    ...</a:t>
            </a:r>
          </a:p>
          <a:p>
            <a:pPr>
              <a:lnSpc>
                <a:spcPts val="1425"/>
              </a:lnSpc>
              <a:buNone/>
            </a:pPr>
            <a:r>
              <a:rPr lang="en-GB" sz="1000" b="0">
                <a:solidFill>
                  <a:srgbClr val="CCCCCC"/>
                </a:solidFill>
                <a:effectLst/>
                <a:latin typeface="Consolas" panose="020B0609020204030204" pitchFamily="49" charset="0"/>
              </a:rPr>
              <a:t>}</a:t>
            </a:r>
          </a:p>
          <a:p>
            <a:pPr>
              <a:lnSpc>
                <a:spcPts val="1425"/>
              </a:lnSpc>
              <a:buNone/>
            </a:pPr>
            <a:br>
              <a:rPr lang="en-GB" sz="1000" b="0">
                <a:solidFill>
                  <a:srgbClr val="CCCCCC"/>
                </a:solidFill>
                <a:effectLst/>
                <a:latin typeface="Consolas" panose="020B0609020204030204" pitchFamily="49" charset="0"/>
              </a:rPr>
            </a:br>
            <a:endParaRPr lang="en-GB" sz="1000" b="0">
              <a:solidFill>
                <a:srgbClr val="CCCCCC"/>
              </a:solidFill>
              <a:effectLst/>
              <a:latin typeface="Consolas" panose="020B0609020204030204" pitchFamily="49" charset="0"/>
            </a:endParaRPr>
          </a:p>
        </p:txBody>
      </p:sp>
      <p:sp>
        <p:nvSpPr>
          <p:cNvPr id="17" name="Freeform: Shape 16">
            <a:extLst>
              <a:ext uri="{FF2B5EF4-FFF2-40B4-BE49-F238E27FC236}">
                <a16:creationId xmlns:a16="http://schemas.microsoft.com/office/drawing/2014/main" id="{4C78C2AD-C6B9-ADC7-D545-4A2BC3F6C357}"/>
              </a:ext>
            </a:extLst>
          </p:cNvPr>
          <p:cNvSpPr/>
          <p:nvPr/>
        </p:nvSpPr>
        <p:spPr>
          <a:xfrm>
            <a:off x="6430117" y="2716360"/>
            <a:ext cx="2051109" cy="1275051"/>
          </a:xfrm>
          <a:custGeom>
            <a:avLst/>
            <a:gdLst>
              <a:gd name="csX0" fmla="*/ 0 w 1199626"/>
              <a:gd name="csY0" fmla="*/ 1082180 h 1082180"/>
              <a:gd name="csX1" fmla="*/ 322976 w 1199626"/>
              <a:gd name="csY1" fmla="*/ 209725 h 1082180"/>
              <a:gd name="csX2" fmla="*/ 1199626 w 1199626"/>
              <a:gd name="csY2" fmla="*/ 0 h 1082180"/>
              <a:gd name="csX0" fmla="*/ 0 w 2051109"/>
              <a:gd name="csY0" fmla="*/ 1270932 h 1270932"/>
              <a:gd name="csX1" fmla="*/ 322976 w 2051109"/>
              <a:gd name="csY1" fmla="*/ 398477 h 1270932"/>
              <a:gd name="csX2" fmla="*/ 2051109 w 2051109"/>
              <a:gd name="csY2" fmla="*/ 0 h 1270932"/>
              <a:gd name="csX0" fmla="*/ 0 w 2051109"/>
              <a:gd name="csY0" fmla="*/ 1275051 h 1275051"/>
              <a:gd name="csX1" fmla="*/ 322976 w 2051109"/>
              <a:gd name="csY1" fmla="*/ 402596 h 1275051"/>
              <a:gd name="csX2" fmla="*/ 2051109 w 2051109"/>
              <a:gd name="csY2" fmla="*/ 4119 h 1275051"/>
            </a:gdLst>
            <a:ahLst/>
            <a:cxnLst>
              <a:cxn ang="0">
                <a:pos x="csX0" y="csY0"/>
              </a:cxn>
              <a:cxn ang="0">
                <a:pos x="csX1" y="csY1"/>
              </a:cxn>
              <a:cxn ang="0">
                <a:pos x="csX2" y="csY2"/>
              </a:cxn>
            </a:cxnLst>
            <a:rect l="l" t="t" r="r" b="b"/>
            <a:pathLst>
              <a:path w="2051109" h="1275051">
                <a:moveTo>
                  <a:pt x="0" y="1275051"/>
                </a:moveTo>
                <a:cubicBezTo>
                  <a:pt x="61519" y="929005"/>
                  <a:pt x="123038" y="582959"/>
                  <a:pt x="322976" y="402596"/>
                </a:cubicBezTo>
                <a:cubicBezTo>
                  <a:pt x="522914" y="222233"/>
                  <a:pt x="1276525" y="-35729"/>
                  <a:pt x="2051109" y="4119"/>
                </a:cubicBezTo>
              </a:path>
            </a:pathLst>
          </a:custGeom>
          <a:noFill/>
          <a:ln w="63500">
            <a:solidFill>
              <a:schemeClr val="accent2">
                <a:lumMod val="75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8" name="TextBox 17">
            <a:extLst>
              <a:ext uri="{FF2B5EF4-FFF2-40B4-BE49-F238E27FC236}">
                <a16:creationId xmlns:a16="http://schemas.microsoft.com/office/drawing/2014/main" id="{ECA811DE-7C5F-F03F-5FB1-9269232EEDB9}"/>
              </a:ext>
            </a:extLst>
          </p:cNvPr>
          <p:cNvSpPr txBox="1"/>
          <p:nvPr/>
        </p:nvSpPr>
        <p:spPr>
          <a:xfrm>
            <a:off x="6022695" y="2497772"/>
            <a:ext cx="1704313" cy="646331"/>
          </a:xfrm>
          <a:prstGeom prst="rect">
            <a:avLst/>
          </a:prstGeom>
          <a:solidFill>
            <a:schemeClr val="bg1"/>
          </a:solidFill>
          <a:ln w="25400">
            <a:solidFill>
              <a:schemeClr val="accent2">
                <a:lumMod val="75000"/>
              </a:schemeClr>
            </a:solidFill>
          </a:ln>
        </p:spPr>
        <p:txBody>
          <a:bodyPr wrap="none" rtlCol="0">
            <a:spAutoFit/>
          </a:bodyPr>
          <a:lstStyle/>
          <a:p>
            <a:r>
              <a:rPr lang="en-GB" b="1">
                <a:latin typeface="+mj-lt"/>
              </a:rPr>
              <a:t>mode 0: </a:t>
            </a:r>
          </a:p>
          <a:p>
            <a:r>
              <a:rPr lang="en-GB">
                <a:latin typeface="Consolas" panose="020B0609020204030204" pitchFamily="49" charset="0"/>
              </a:rPr>
              <a:t>pc = address</a:t>
            </a:r>
            <a:endParaRPr lang="LID4096">
              <a:latin typeface="Consolas" panose="020B0609020204030204" pitchFamily="49" charset="0"/>
            </a:endParaRPr>
          </a:p>
        </p:txBody>
      </p:sp>
      <p:sp>
        <p:nvSpPr>
          <p:cNvPr id="21" name="Freeform: Shape 20">
            <a:extLst>
              <a:ext uri="{FF2B5EF4-FFF2-40B4-BE49-F238E27FC236}">
                <a16:creationId xmlns:a16="http://schemas.microsoft.com/office/drawing/2014/main" id="{4F8C41B8-03AA-510F-EF0C-E85F6CF353DA}"/>
              </a:ext>
            </a:extLst>
          </p:cNvPr>
          <p:cNvSpPr/>
          <p:nvPr/>
        </p:nvSpPr>
        <p:spPr>
          <a:xfrm>
            <a:off x="1388334" y="2738151"/>
            <a:ext cx="1858297" cy="804449"/>
          </a:xfrm>
          <a:custGeom>
            <a:avLst/>
            <a:gdLst>
              <a:gd name="csX0" fmla="*/ 0 w 1832994"/>
              <a:gd name="csY0" fmla="*/ 0 h 427838"/>
              <a:gd name="csX1" fmla="*/ 1832994 w 1832994"/>
              <a:gd name="csY1" fmla="*/ 427838 h 427838"/>
              <a:gd name="csX0" fmla="*/ 0 w 1858161"/>
              <a:gd name="csY0" fmla="*/ 0 h 423644"/>
              <a:gd name="csX1" fmla="*/ 1858161 w 1858161"/>
              <a:gd name="csY1" fmla="*/ 423644 h 423644"/>
              <a:gd name="csX0" fmla="*/ 0 w 1858356"/>
              <a:gd name="csY0" fmla="*/ 0 h 423644"/>
              <a:gd name="csX1" fmla="*/ 1858161 w 1858356"/>
              <a:gd name="csY1" fmla="*/ 423644 h 423644"/>
              <a:gd name="csX0" fmla="*/ 0 w 1858297"/>
              <a:gd name="csY0" fmla="*/ 380805 h 804449"/>
              <a:gd name="csX1" fmla="*/ 1858161 w 1858297"/>
              <a:gd name="csY1" fmla="*/ 804449 h 804449"/>
            </a:gdLst>
            <a:ahLst/>
            <a:cxnLst>
              <a:cxn ang="0">
                <a:pos x="csX0" y="csY0"/>
              </a:cxn>
              <a:cxn ang="0">
                <a:pos x="csX1" y="csY1"/>
              </a:cxn>
            </a:cxnLst>
            <a:rect l="l" t="t" r="r" b="b"/>
            <a:pathLst>
              <a:path w="1858297" h="804449">
                <a:moveTo>
                  <a:pt x="0" y="380805"/>
                </a:moveTo>
                <a:cubicBezTo>
                  <a:pt x="74103" y="-430130"/>
                  <a:pt x="1876338" y="218618"/>
                  <a:pt x="1858161" y="804449"/>
                </a:cubicBezTo>
              </a:path>
            </a:pathLst>
          </a:custGeom>
          <a:noFill/>
          <a:ln w="63500">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2" name="TextBox 21">
            <a:extLst>
              <a:ext uri="{FF2B5EF4-FFF2-40B4-BE49-F238E27FC236}">
                <a16:creationId xmlns:a16="http://schemas.microsoft.com/office/drawing/2014/main" id="{99A3266F-85FE-A419-530F-2BF4D38EB225}"/>
              </a:ext>
            </a:extLst>
          </p:cNvPr>
          <p:cNvSpPr txBox="1"/>
          <p:nvPr/>
        </p:nvSpPr>
        <p:spPr>
          <a:xfrm>
            <a:off x="1681697" y="2344759"/>
            <a:ext cx="3927807" cy="646331"/>
          </a:xfrm>
          <a:prstGeom prst="rect">
            <a:avLst/>
          </a:prstGeom>
          <a:solidFill>
            <a:schemeClr val="bg1"/>
          </a:solidFill>
          <a:ln w="25400">
            <a:solidFill>
              <a:schemeClr val="tx1"/>
            </a:solidFill>
          </a:ln>
        </p:spPr>
        <p:txBody>
          <a:bodyPr wrap="none" rtlCol="0">
            <a:spAutoFit/>
          </a:bodyPr>
          <a:lstStyle/>
          <a:p>
            <a:r>
              <a:rPr lang="en-GB">
                <a:latin typeface="+mj-lt"/>
              </a:rPr>
              <a:t>When an interrupt occurs, the processor</a:t>
            </a:r>
            <a:br>
              <a:rPr lang="en-GB">
                <a:latin typeface="+mj-lt"/>
              </a:rPr>
            </a:br>
            <a:r>
              <a:rPr lang="en-GB">
                <a:latin typeface="+mj-lt"/>
              </a:rPr>
              <a:t>checks </a:t>
            </a:r>
            <a:r>
              <a:rPr lang="en-GB" b="1">
                <a:latin typeface="Consolas" panose="020B0609020204030204" pitchFamily="49" charset="0"/>
              </a:rPr>
              <a:t>mtvec</a:t>
            </a:r>
            <a:r>
              <a:rPr lang="en-GB">
                <a:latin typeface="+mj-lt"/>
              </a:rPr>
              <a:t> to see where to jump</a:t>
            </a:r>
            <a:endParaRPr lang="LID4096">
              <a:latin typeface="+mj-lt"/>
            </a:endParaRPr>
          </a:p>
        </p:txBody>
      </p:sp>
      <p:grpSp>
        <p:nvGrpSpPr>
          <p:cNvPr id="3" name="Group 2">
            <a:extLst>
              <a:ext uri="{FF2B5EF4-FFF2-40B4-BE49-F238E27FC236}">
                <a16:creationId xmlns:a16="http://schemas.microsoft.com/office/drawing/2014/main" id="{06C09114-3605-B3DC-0E9A-CBC42B8CBF3C}"/>
              </a:ext>
            </a:extLst>
          </p:cNvPr>
          <p:cNvGrpSpPr/>
          <p:nvPr/>
        </p:nvGrpSpPr>
        <p:grpSpPr>
          <a:xfrm>
            <a:off x="2105592" y="4271863"/>
            <a:ext cx="9798369" cy="1893256"/>
            <a:chOff x="2105592" y="4271863"/>
            <a:chExt cx="9798369" cy="1893256"/>
          </a:xfrm>
        </p:grpSpPr>
        <p:sp>
          <p:nvSpPr>
            <p:cNvPr id="19" name="Freeform: Shape 18">
              <a:extLst>
                <a:ext uri="{FF2B5EF4-FFF2-40B4-BE49-F238E27FC236}">
                  <a16:creationId xmlns:a16="http://schemas.microsoft.com/office/drawing/2014/main" id="{D1DFCCEF-31C0-74A0-0986-354CF6ECC23B}"/>
                </a:ext>
              </a:extLst>
            </p:cNvPr>
            <p:cNvSpPr/>
            <p:nvPr/>
          </p:nvSpPr>
          <p:spPr>
            <a:xfrm>
              <a:off x="3512144" y="4271863"/>
              <a:ext cx="1707161" cy="1774751"/>
            </a:xfrm>
            <a:custGeom>
              <a:avLst/>
              <a:gdLst>
                <a:gd name="csX0" fmla="*/ 0 w 1199626"/>
                <a:gd name="csY0" fmla="*/ 1082180 h 1082180"/>
                <a:gd name="csX1" fmla="*/ 322976 w 1199626"/>
                <a:gd name="csY1" fmla="*/ 209725 h 1082180"/>
                <a:gd name="csX2" fmla="*/ 1199626 w 1199626"/>
                <a:gd name="csY2" fmla="*/ 0 h 1082180"/>
                <a:gd name="csX0" fmla="*/ 0 w 1421935"/>
                <a:gd name="csY0" fmla="*/ 56753 h 903857"/>
                <a:gd name="csX1" fmla="*/ 545285 w 1421935"/>
                <a:gd name="csY1" fmla="*/ 887263 h 903857"/>
                <a:gd name="csX2" fmla="*/ 1421935 w 1421935"/>
                <a:gd name="csY2" fmla="*/ 677538 h 903857"/>
                <a:gd name="csX0" fmla="*/ 0 w 1421935"/>
                <a:gd name="csY0" fmla="*/ 0 h 872637"/>
                <a:gd name="csX1" fmla="*/ 545285 w 1421935"/>
                <a:gd name="csY1" fmla="*/ 830510 h 872637"/>
                <a:gd name="csX2" fmla="*/ 1421935 w 1421935"/>
                <a:gd name="csY2" fmla="*/ 620785 h 872637"/>
                <a:gd name="csX0" fmla="*/ 0 w 1421935"/>
                <a:gd name="csY0" fmla="*/ 0 h 963973"/>
                <a:gd name="csX1" fmla="*/ 545285 w 1421935"/>
                <a:gd name="csY1" fmla="*/ 830510 h 963973"/>
                <a:gd name="csX2" fmla="*/ 1421935 w 1421935"/>
                <a:gd name="csY2" fmla="*/ 620785 h 963973"/>
                <a:gd name="csX0" fmla="*/ 0 w 1421935"/>
                <a:gd name="csY0" fmla="*/ 0 h 2100598"/>
                <a:gd name="csX1" fmla="*/ 692092 w 1421935"/>
                <a:gd name="csY1" fmla="*/ 2080470 h 2100598"/>
                <a:gd name="csX2" fmla="*/ 1421935 w 1421935"/>
                <a:gd name="csY2" fmla="*/ 620785 h 2100598"/>
                <a:gd name="csX0" fmla="*/ 0 w 1707161"/>
                <a:gd name="csY0" fmla="*/ 0 h 2100598"/>
                <a:gd name="csX1" fmla="*/ 692092 w 1707161"/>
                <a:gd name="csY1" fmla="*/ 2080470 h 2100598"/>
                <a:gd name="csX2" fmla="*/ 1707161 w 1707161"/>
                <a:gd name="csY2" fmla="*/ 1774272 h 2100598"/>
                <a:gd name="csX0" fmla="*/ 0 w 1707161"/>
                <a:gd name="csY0" fmla="*/ 0 h 1774818"/>
                <a:gd name="csX1" fmla="*/ 440423 w 1707161"/>
                <a:gd name="csY1" fmla="*/ 1681993 h 1774818"/>
                <a:gd name="csX2" fmla="*/ 1707161 w 1707161"/>
                <a:gd name="csY2" fmla="*/ 1774272 h 1774818"/>
                <a:gd name="csX0" fmla="*/ 0 w 1707161"/>
                <a:gd name="csY0" fmla="*/ 0 h 1775381"/>
                <a:gd name="csX1" fmla="*/ 440423 w 1707161"/>
                <a:gd name="csY1" fmla="*/ 1681993 h 1775381"/>
                <a:gd name="csX2" fmla="*/ 1707161 w 1707161"/>
                <a:gd name="csY2" fmla="*/ 1774272 h 1775381"/>
                <a:gd name="csX0" fmla="*/ 0 w 1707161"/>
                <a:gd name="csY0" fmla="*/ 0 h 1775381"/>
                <a:gd name="csX1" fmla="*/ 440423 w 1707161"/>
                <a:gd name="csY1" fmla="*/ 1681993 h 1775381"/>
                <a:gd name="csX2" fmla="*/ 1707161 w 1707161"/>
                <a:gd name="csY2" fmla="*/ 1774272 h 1775381"/>
                <a:gd name="csX0" fmla="*/ 0 w 1707161"/>
                <a:gd name="csY0" fmla="*/ 0 h 1775880"/>
                <a:gd name="csX1" fmla="*/ 440423 w 1707161"/>
                <a:gd name="csY1" fmla="*/ 1681993 h 1775880"/>
                <a:gd name="csX2" fmla="*/ 1707161 w 1707161"/>
                <a:gd name="csY2" fmla="*/ 1774272 h 1775880"/>
                <a:gd name="csX0" fmla="*/ 0 w 1707161"/>
                <a:gd name="csY0" fmla="*/ 0 h 1774751"/>
                <a:gd name="csX1" fmla="*/ 440423 w 1707161"/>
                <a:gd name="csY1" fmla="*/ 1681993 h 1774751"/>
                <a:gd name="csX2" fmla="*/ 1707161 w 1707161"/>
                <a:gd name="csY2" fmla="*/ 1774272 h 1774751"/>
              </a:gdLst>
              <a:ahLst/>
              <a:cxnLst>
                <a:cxn ang="0">
                  <a:pos x="csX0" y="csY0"/>
                </a:cxn>
                <a:cxn ang="0">
                  <a:pos x="csX1" y="csY1"/>
                </a:cxn>
                <a:cxn ang="0">
                  <a:pos x="csX2" y="csY2"/>
                </a:cxn>
              </a:cxnLst>
              <a:rect l="l" t="t" r="r" b="b"/>
              <a:pathLst>
                <a:path w="1707161" h="1774751">
                  <a:moveTo>
                    <a:pt x="0" y="0"/>
                  </a:moveTo>
                  <a:cubicBezTo>
                    <a:pt x="137020" y="1201723"/>
                    <a:pt x="60122" y="1652631"/>
                    <a:pt x="440423" y="1681993"/>
                  </a:cubicBezTo>
                  <a:cubicBezTo>
                    <a:pt x="1055616" y="1459686"/>
                    <a:pt x="1368805" y="1788953"/>
                    <a:pt x="1707161" y="1774272"/>
                  </a:cubicBezTo>
                </a:path>
              </a:pathLst>
            </a:custGeom>
            <a:noFill/>
            <a:ln w="63500">
              <a:solidFill>
                <a:schemeClr val="accent6">
                  <a:lumMod val="75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0" name="TextBox 19">
              <a:extLst>
                <a:ext uri="{FF2B5EF4-FFF2-40B4-BE49-F238E27FC236}">
                  <a16:creationId xmlns:a16="http://schemas.microsoft.com/office/drawing/2014/main" id="{4F749C33-BC26-EFF4-944A-647D6ED9715F}"/>
                </a:ext>
              </a:extLst>
            </p:cNvPr>
            <p:cNvSpPr txBox="1"/>
            <p:nvPr/>
          </p:nvSpPr>
          <p:spPr>
            <a:xfrm>
              <a:off x="2105592" y="5032543"/>
              <a:ext cx="2999539" cy="646331"/>
            </a:xfrm>
            <a:prstGeom prst="rect">
              <a:avLst/>
            </a:prstGeom>
            <a:solidFill>
              <a:schemeClr val="bg1"/>
            </a:solidFill>
            <a:ln w="25400">
              <a:solidFill>
                <a:schemeClr val="accent6">
                  <a:lumMod val="75000"/>
                </a:schemeClr>
              </a:solidFill>
            </a:ln>
          </p:spPr>
          <p:txBody>
            <a:bodyPr wrap="none" rtlCol="0">
              <a:spAutoFit/>
            </a:bodyPr>
            <a:lstStyle/>
            <a:p>
              <a:r>
                <a:rPr lang="en-GB" b="1">
                  <a:latin typeface="+mj-lt"/>
                </a:rPr>
                <a:t>mode 1:</a:t>
              </a:r>
            </a:p>
            <a:p>
              <a:r>
                <a:rPr lang="en-GB">
                  <a:latin typeface="Consolas" panose="020B0609020204030204" pitchFamily="49" charset="0"/>
                </a:rPr>
                <a:t>pc = address</a:t>
              </a:r>
              <a:r>
                <a:rPr lang="en-GB"/>
                <a:t> + </a:t>
              </a:r>
              <a:r>
                <a:rPr lang="en-GB">
                  <a:latin typeface="Consolas" panose="020B0609020204030204" pitchFamily="49" charset="0"/>
                </a:rPr>
                <a:t>mcause</a:t>
              </a:r>
              <a:r>
                <a:rPr lang="en-GB"/>
                <a:t> x 4</a:t>
              </a:r>
              <a:endParaRPr lang="LID4096"/>
            </a:p>
          </p:txBody>
        </p:sp>
        <p:sp>
          <p:nvSpPr>
            <p:cNvPr id="23" name="TextBox 22">
              <a:extLst>
                <a:ext uri="{FF2B5EF4-FFF2-40B4-BE49-F238E27FC236}">
                  <a16:creationId xmlns:a16="http://schemas.microsoft.com/office/drawing/2014/main" id="{A463BFA2-180C-3D7E-836A-AD9BE934DCCE}"/>
                </a:ext>
              </a:extLst>
            </p:cNvPr>
            <p:cNvSpPr txBox="1"/>
            <p:nvPr/>
          </p:nvSpPr>
          <p:spPr>
            <a:xfrm>
              <a:off x="9054850" y="4609216"/>
              <a:ext cx="2849111" cy="1363578"/>
            </a:xfrm>
            <a:prstGeom prst="rect">
              <a:avLst/>
            </a:prstGeom>
            <a:solidFill>
              <a:schemeClr val="tx1">
                <a:lumMod val="85000"/>
                <a:lumOff val="15000"/>
              </a:schemeClr>
            </a:solidFill>
          </p:spPr>
          <p:txBody>
            <a:bodyPr wrap="square">
              <a:spAutoFit/>
            </a:bodyPr>
            <a:lstStyle/>
            <a:p>
              <a:pPr>
                <a:lnSpc>
                  <a:spcPts val="1425"/>
                </a:lnSpc>
                <a:buNone/>
              </a:pPr>
              <a:r>
                <a:rPr lang="en-GB" sz="1000" b="0">
                  <a:solidFill>
                    <a:srgbClr val="DCDCAA"/>
                  </a:solidFill>
                  <a:effectLst/>
                  <a:latin typeface="Consolas" panose="020B0609020204030204" pitchFamily="49" charset="0"/>
                </a:rPr>
                <a:t>__attribute__</a:t>
              </a:r>
              <a:r>
                <a:rPr lang="en-GB" sz="1000" b="0">
                  <a:solidFill>
                    <a:srgbClr val="CCCCCC"/>
                  </a:solidFill>
                  <a:effectLst/>
                  <a:latin typeface="Consolas" panose="020B0609020204030204" pitchFamily="49" charset="0"/>
                </a:rPr>
                <a:t>((</a:t>
              </a:r>
              <a:r>
                <a:rPr lang="en-GB" sz="1000" b="0">
                  <a:solidFill>
                    <a:srgbClr val="DCDCAA"/>
                  </a:solidFill>
                  <a:effectLst/>
                  <a:latin typeface="Consolas" panose="020B0609020204030204" pitchFamily="49" charset="0"/>
                </a:rPr>
                <a:t>interrupt</a:t>
              </a:r>
              <a:r>
                <a:rPr lang="en-GB" sz="1000" b="0">
                  <a:solidFill>
                    <a:srgbClr val="CCCCCC"/>
                  </a:solidFill>
                  <a:effectLst/>
                  <a:latin typeface="Consolas" panose="020B0609020204030204" pitchFamily="49" charset="0"/>
                </a:rPr>
                <a:t>(</a:t>
              </a:r>
              <a:r>
                <a:rPr lang="en-GB" sz="1000" b="0">
                  <a:solidFill>
                    <a:srgbClr val="CE9178"/>
                  </a:solidFill>
                  <a:effectLst/>
                  <a:latin typeface="Consolas" panose="020B0609020204030204" pitchFamily="49" charset="0"/>
                </a:rPr>
                <a:t>"machine"</a:t>
              </a:r>
              <a:r>
                <a:rPr lang="en-GB" sz="1000" b="0">
                  <a:solidFill>
                    <a:srgbClr val="CCCCCC"/>
                  </a:solidFill>
                  <a:effectLst/>
                  <a:latin typeface="Consolas" panose="020B0609020204030204" pitchFamily="49" charset="0"/>
                </a:rPr>
                <a:t>)))</a:t>
              </a:r>
            </a:p>
            <a:p>
              <a:pPr>
                <a:lnSpc>
                  <a:spcPts val="1425"/>
                </a:lnSpc>
                <a:buNone/>
              </a:pPr>
              <a:r>
                <a:rPr lang="en-GB" sz="1000" b="0">
                  <a:solidFill>
                    <a:srgbClr val="569CD6"/>
                  </a:solidFill>
                  <a:effectLst/>
                  <a:latin typeface="Consolas" panose="020B0609020204030204" pitchFamily="49" charset="0"/>
                </a:rPr>
                <a:t>void</a:t>
              </a:r>
              <a:r>
                <a:rPr lang="en-GB" sz="1000" b="0">
                  <a:solidFill>
                    <a:srgbClr val="CCCCCC"/>
                  </a:solidFill>
                  <a:effectLst/>
                  <a:latin typeface="Consolas" panose="020B0609020204030204" pitchFamily="49" charset="0"/>
                </a:rPr>
                <a:t> </a:t>
              </a:r>
              <a:r>
                <a:rPr lang="en-GB" sz="1000" b="0">
                  <a:solidFill>
                    <a:srgbClr val="DCDCAA"/>
                  </a:solidFill>
                  <a:effectLst/>
                  <a:latin typeface="Consolas" panose="020B0609020204030204" pitchFamily="49" charset="0"/>
                </a:rPr>
                <a:t>SysTick_Handler</a:t>
              </a:r>
              <a:r>
                <a:rPr lang="en-GB" sz="1000" b="0">
                  <a:solidFill>
                    <a:srgbClr val="CCCCCC"/>
                  </a:solidFill>
                  <a:effectLst/>
                  <a:latin typeface="Consolas" panose="020B0609020204030204" pitchFamily="49" charset="0"/>
                </a:rPr>
                <a:t>(</a:t>
              </a:r>
              <a:r>
                <a:rPr lang="en-GB" sz="1000" b="0">
                  <a:solidFill>
                    <a:srgbClr val="569CD6"/>
                  </a:solidFill>
                  <a:effectLst/>
                  <a:latin typeface="Consolas" panose="020B0609020204030204" pitchFamily="49" charset="0"/>
                </a:rPr>
                <a:t>void</a:t>
              </a:r>
              <a:r>
                <a:rPr lang="en-GB" sz="1000" b="0">
                  <a:solidFill>
                    <a:srgbClr val="CCCCCC"/>
                  </a:solidFill>
                  <a:effectLst/>
                  <a:latin typeface="Consolas" panose="020B0609020204030204" pitchFamily="49" charset="0"/>
                </a:rPr>
                <a:t>)</a:t>
              </a:r>
            </a:p>
            <a:p>
              <a:pPr>
                <a:lnSpc>
                  <a:spcPts val="1425"/>
                </a:lnSpc>
                <a:buNone/>
              </a:pPr>
              <a:r>
                <a:rPr lang="en-GB" sz="1000" b="0">
                  <a:solidFill>
                    <a:srgbClr val="CCCCCC"/>
                  </a:solidFill>
                  <a:effectLst/>
                  <a:latin typeface="Consolas" panose="020B0609020204030204" pitchFamily="49" charset="0"/>
                </a:rPr>
                <a:t>{</a:t>
              </a:r>
            </a:p>
            <a:p>
              <a:pPr>
                <a:lnSpc>
                  <a:spcPts val="1425"/>
                </a:lnSpc>
                <a:buNone/>
              </a:pPr>
              <a:r>
                <a:rPr lang="en-GB" sz="1000" b="0">
                  <a:solidFill>
                    <a:srgbClr val="CCCCCC"/>
                  </a:solidFill>
                  <a:effectLst/>
                  <a:latin typeface="Consolas" panose="020B0609020204030204" pitchFamily="49" charset="0"/>
                </a:rPr>
                <a:t>    ...</a:t>
              </a:r>
            </a:p>
            <a:p>
              <a:pPr>
                <a:lnSpc>
                  <a:spcPts val="1425"/>
                </a:lnSpc>
                <a:buNone/>
              </a:pPr>
              <a:r>
                <a:rPr lang="en-GB" sz="1000" b="0">
                  <a:solidFill>
                    <a:srgbClr val="CCCCCC"/>
                  </a:solidFill>
                  <a:effectLst/>
                  <a:latin typeface="Consolas" panose="020B0609020204030204" pitchFamily="49" charset="0"/>
                </a:rPr>
                <a:t>}</a:t>
              </a:r>
            </a:p>
            <a:p>
              <a:pPr>
                <a:lnSpc>
                  <a:spcPts val="1425"/>
                </a:lnSpc>
                <a:buNone/>
              </a:pPr>
              <a:br>
                <a:rPr lang="en-GB" sz="1000" b="0">
                  <a:solidFill>
                    <a:srgbClr val="CCCCCC"/>
                  </a:solidFill>
                  <a:effectLst/>
                  <a:latin typeface="Consolas" panose="020B0609020204030204" pitchFamily="49" charset="0"/>
                </a:rPr>
              </a:br>
              <a:endParaRPr lang="en-GB" sz="1000" b="0">
                <a:solidFill>
                  <a:srgbClr val="CCCCCC"/>
                </a:solidFill>
                <a:effectLst/>
                <a:latin typeface="Consolas" panose="020B0609020204030204" pitchFamily="49" charset="0"/>
              </a:endParaRPr>
            </a:p>
          </p:txBody>
        </p:sp>
        <p:pic>
          <p:nvPicPr>
            <p:cNvPr id="24" name="Picture 23">
              <a:extLst>
                <a:ext uri="{FF2B5EF4-FFF2-40B4-BE49-F238E27FC236}">
                  <a16:creationId xmlns:a16="http://schemas.microsoft.com/office/drawing/2014/main" id="{061AB58D-AF1B-BE72-D0A3-98EB958805C1}"/>
                </a:ext>
              </a:extLst>
            </p:cNvPr>
            <p:cNvPicPr>
              <a:picLocks noChangeAspect="1"/>
            </p:cNvPicPr>
            <p:nvPr/>
          </p:nvPicPr>
          <p:blipFill>
            <a:blip r:embed="rId5"/>
            <a:stretch>
              <a:fillRect/>
            </a:stretch>
          </p:blipFill>
          <p:spPr>
            <a:xfrm>
              <a:off x="5245150" y="4995072"/>
              <a:ext cx="2901194" cy="1170047"/>
            </a:xfrm>
            <a:prstGeom prst="rect">
              <a:avLst/>
            </a:prstGeom>
          </p:spPr>
        </p:pic>
        <p:sp>
          <p:nvSpPr>
            <p:cNvPr id="25" name="Freeform: Shape 24">
              <a:extLst>
                <a:ext uri="{FF2B5EF4-FFF2-40B4-BE49-F238E27FC236}">
                  <a16:creationId xmlns:a16="http://schemas.microsoft.com/office/drawing/2014/main" id="{9E65B2F1-4E61-374C-2F51-F70668BC6558}"/>
                </a:ext>
              </a:extLst>
            </p:cNvPr>
            <p:cNvSpPr/>
            <p:nvPr/>
          </p:nvSpPr>
          <p:spPr>
            <a:xfrm>
              <a:off x="8070165" y="4939306"/>
              <a:ext cx="973123" cy="1166132"/>
            </a:xfrm>
            <a:custGeom>
              <a:avLst/>
              <a:gdLst>
                <a:gd name="csX0" fmla="*/ 0 w 973123"/>
                <a:gd name="csY0" fmla="*/ 1166070 h 1166070"/>
                <a:gd name="csX1" fmla="*/ 478172 w 973123"/>
                <a:gd name="csY1" fmla="*/ 562062 h 1166070"/>
                <a:gd name="csX2" fmla="*/ 973123 w 973123"/>
                <a:gd name="csY2" fmla="*/ 0 h 1166070"/>
                <a:gd name="csX0" fmla="*/ 0 w 973123"/>
                <a:gd name="csY0" fmla="*/ 1166070 h 1166070"/>
                <a:gd name="csX1" fmla="*/ 478172 w 973123"/>
                <a:gd name="csY1" fmla="*/ 562062 h 1166070"/>
                <a:gd name="csX2" fmla="*/ 973123 w 973123"/>
                <a:gd name="csY2" fmla="*/ 0 h 1166070"/>
                <a:gd name="csX0" fmla="*/ 0 w 973123"/>
                <a:gd name="csY0" fmla="*/ 1166070 h 1166070"/>
                <a:gd name="csX1" fmla="*/ 478172 w 973123"/>
                <a:gd name="csY1" fmla="*/ 562062 h 1166070"/>
                <a:gd name="csX2" fmla="*/ 973123 w 973123"/>
                <a:gd name="csY2" fmla="*/ 0 h 1166070"/>
                <a:gd name="csX0" fmla="*/ 0 w 973123"/>
                <a:gd name="csY0" fmla="*/ 1166070 h 1166070"/>
                <a:gd name="csX1" fmla="*/ 973123 w 973123"/>
                <a:gd name="csY1" fmla="*/ 0 h 1166070"/>
                <a:gd name="csX0" fmla="*/ 0 w 973123"/>
                <a:gd name="csY0" fmla="*/ 1166070 h 1166070"/>
                <a:gd name="csX1" fmla="*/ 973123 w 973123"/>
                <a:gd name="csY1" fmla="*/ 0 h 1166070"/>
                <a:gd name="csX0" fmla="*/ 0 w 973123"/>
                <a:gd name="csY0" fmla="*/ 1166132 h 1166132"/>
                <a:gd name="csX1" fmla="*/ 973123 w 973123"/>
                <a:gd name="csY1" fmla="*/ 62 h 1166132"/>
              </a:gdLst>
              <a:ahLst/>
              <a:cxnLst>
                <a:cxn ang="0">
                  <a:pos x="csX0" y="csY0"/>
                </a:cxn>
                <a:cxn ang="0">
                  <a:pos x="csX1" y="csY1"/>
                </a:cxn>
              </a:cxnLst>
              <a:rect l="l" t="t" r="r" b="b"/>
              <a:pathLst>
                <a:path w="973123" h="1166132">
                  <a:moveTo>
                    <a:pt x="0" y="1166132"/>
                  </a:moveTo>
                  <a:cubicBezTo>
                    <a:pt x="399875" y="1142363"/>
                    <a:pt x="409663" y="-9725"/>
                    <a:pt x="973123" y="62"/>
                  </a:cubicBezTo>
                </a:path>
              </a:pathLst>
            </a:custGeom>
            <a:noFill/>
            <a:ln w="63500">
              <a:solidFill>
                <a:schemeClr val="accent6">
                  <a:lumMod val="75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spTree>
    <p:extLst>
      <p:ext uri="{BB962C8B-B14F-4D97-AF65-F5344CB8AC3E}">
        <p14:creationId xmlns:p14="http://schemas.microsoft.com/office/powerpoint/2010/main" val="3977513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4468131-2775-8ADD-8915-977D618E1016}"/>
              </a:ext>
            </a:extLst>
          </p:cNvPr>
          <p:cNvPicPr>
            <a:picLocks noChangeAspect="1"/>
          </p:cNvPicPr>
          <p:nvPr/>
        </p:nvPicPr>
        <p:blipFill>
          <a:blip r:embed="rId3"/>
          <a:stretch>
            <a:fillRect/>
          </a:stretch>
        </p:blipFill>
        <p:spPr>
          <a:xfrm>
            <a:off x="1428180" y="2252429"/>
            <a:ext cx="9648729" cy="3929296"/>
          </a:xfrm>
          <a:prstGeom prst="rect">
            <a:avLst/>
          </a:prstGeom>
          <a:ln>
            <a:solidFill>
              <a:schemeClr val="tx1"/>
            </a:solidFill>
          </a:ln>
        </p:spPr>
      </p:pic>
      <p:sp>
        <p:nvSpPr>
          <p:cNvPr id="2" name="Title 1">
            <a:extLst>
              <a:ext uri="{FF2B5EF4-FFF2-40B4-BE49-F238E27FC236}">
                <a16:creationId xmlns:a16="http://schemas.microsoft.com/office/drawing/2014/main" id="{F5EB8041-3E63-3D1D-C268-09112BFBEB90}"/>
              </a:ext>
            </a:extLst>
          </p:cNvPr>
          <p:cNvSpPr>
            <a:spLocks noGrp="1"/>
          </p:cNvSpPr>
          <p:nvPr>
            <p:ph type="title"/>
          </p:nvPr>
        </p:nvSpPr>
        <p:spPr/>
        <p:txBody>
          <a:bodyPr/>
          <a:lstStyle/>
          <a:p>
            <a:r>
              <a:rPr lang="sv-SE"/>
              <a:t>Vector Table</a:t>
            </a:r>
            <a:endParaRPr lang="LID4096"/>
          </a:p>
        </p:txBody>
      </p:sp>
      <p:grpSp>
        <p:nvGrpSpPr>
          <p:cNvPr id="12" name="Group 11">
            <a:extLst>
              <a:ext uri="{FF2B5EF4-FFF2-40B4-BE49-F238E27FC236}">
                <a16:creationId xmlns:a16="http://schemas.microsoft.com/office/drawing/2014/main" id="{97B9457A-FAC1-7581-056B-A62F7F0E82FC}"/>
              </a:ext>
            </a:extLst>
          </p:cNvPr>
          <p:cNvGrpSpPr/>
          <p:nvPr/>
        </p:nvGrpSpPr>
        <p:grpSpPr>
          <a:xfrm>
            <a:off x="9344025" y="2085858"/>
            <a:ext cx="2590799" cy="4262438"/>
            <a:chOff x="9039225" y="1952625"/>
            <a:chExt cx="2590799" cy="4262438"/>
          </a:xfrm>
        </p:grpSpPr>
        <p:sp>
          <p:nvSpPr>
            <p:cNvPr id="11" name="Rectangle 10">
              <a:extLst>
                <a:ext uri="{FF2B5EF4-FFF2-40B4-BE49-F238E27FC236}">
                  <a16:creationId xmlns:a16="http://schemas.microsoft.com/office/drawing/2014/main" id="{AB1327E3-DF45-F693-9EE5-F5DB897A98D5}"/>
                </a:ext>
              </a:extLst>
            </p:cNvPr>
            <p:cNvSpPr/>
            <p:nvPr/>
          </p:nvSpPr>
          <p:spPr>
            <a:xfrm>
              <a:off x="9039225" y="1952625"/>
              <a:ext cx="2590799" cy="4262438"/>
            </a:xfrm>
            <a:prstGeom prst="rect">
              <a:avLst/>
            </a:prstGeom>
            <a:solidFill>
              <a:schemeClr val="bg1"/>
            </a:solidFill>
            <a:ln w="6350"/>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nvGrpSpPr>
            <p:cNvPr id="6" name="Group 5">
              <a:extLst>
                <a:ext uri="{FF2B5EF4-FFF2-40B4-BE49-F238E27FC236}">
                  <a16:creationId xmlns:a16="http://schemas.microsoft.com/office/drawing/2014/main" id="{0B2C2178-2874-0C75-F8DC-2E3B0FB20765}"/>
                </a:ext>
              </a:extLst>
            </p:cNvPr>
            <p:cNvGrpSpPr/>
            <p:nvPr/>
          </p:nvGrpSpPr>
          <p:grpSpPr>
            <a:xfrm>
              <a:off x="9078355" y="1990492"/>
              <a:ext cx="2512537" cy="4130935"/>
              <a:chOff x="645407" y="1807285"/>
              <a:chExt cx="2512537" cy="4130935"/>
            </a:xfrm>
            <a:noFill/>
          </p:grpSpPr>
          <p:pic>
            <p:nvPicPr>
              <p:cNvPr id="7" name="Picture 6">
                <a:extLst>
                  <a:ext uri="{FF2B5EF4-FFF2-40B4-BE49-F238E27FC236}">
                    <a16:creationId xmlns:a16="http://schemas.microsoft.com/office/drawing/2014/main" id="{9A408803-4FDD-EF8F-65B1-AA642827BABA}"/>
                  </a:ext>
                </a:extLst>
              </p:cNvPr>
              <p:cNvPicPr>
                <a:picLocks noChangeAspect="1"/>
              </p:cNvPicPr>
              <p:nvPr/>
            </p:nvPicPr>
            <p:blipFill>
              <a:blip r:embed="rId4"/>
              <a:stretch>
                <a:fillRect/>
              </a:stretch>
            </p:blipFill>
            <p:spPr>
              <a:xfrm>
                <a:off x="645407" y="4087229"/>
                <a:ext cx="2512537" cy="1850991"/>
              </a:xfrm>
              <a:prstGeom prst="rect">
                <a:avLst/>
              </a:prstGeom>
              <a:grpFill/>
            </p:spPr>
          </p:pic>
          <p:pic>
            <p:nvPicPr>
              <p:cNvPr id="8" name="Picture 7">
                <a:extLst>
                  <a:ext uri="{FF2B5EF4-FFF2-40B4-BE49-F238E27FC236}">
                    <a16:creationId xmlns:a16="http://schemas.microsoft.com/office/drawing/2014/main" id="{55331399-587B-ADA2-6A54-A02BE10369B6}"/>
                  </a:ext>
                </a:extLst>
              </p:cNvPr>
              <p:cNvPicPr>
                <a:picLocks noChangeAspect="1"/>
              </p:cNvPicPr>
              <p:nvPr/>
            </p:nvPicPr>
            <p:blipFill>
              <a:blip r:embed="rId5"/>
              <a:stretch>
                <a:fillRect/>
              </a:stretch>
            </p:blipFill>
            <p:spPr>
              <a:xfrm>
                <a:off x="645407" y="1807285"/>
                <a:ext cx="2512537" cy="2065765"/>
              </a:xfrm>
              <a:prstGeom prst="rect">
                <a:avLst/>
              </a:prstGeom>
              <a:grpFill/>
            </p:spPr>
          </p:pic>
          <p:sp>
            <p:nvSpPr>
              <p:cNvPr id="9" name="Freeform: Shape 8">
                <a:extLst>
                  <a:ext uri="{FF2B5EF4-FFF2-40B4-BE49-F238E27FC236}">
                    <a16:creationId xmlns:a16="http://schemas.microsoft.com/office/drawing/2014/main" id="{99D16DC4-0DE4-A0E6-543A-64B467336C9D}"/>
                  </a:ext>
                </a:extLst>
              </p:cNvPr>
              <p:cNvSpPr/>
              <p:nvPr/>
            </p:nvSpPr>
            <p:spPr>
              <a:xfrm>
                <a:off x="671513" y="3890963"/>
                <a:ext cx="2486025" cy="128587"/>
              </a:xfrm>
              <a:custGeom>
                <a:avLst/>
                <a:gdLst>
                  <a:gd name="csX0" fmla="*/ 0 w 2486025"/>
                  <a:gd name="csY0" fmla="*/ 123825 h 128587"/>
                  <a:gd name="csX1" fmla="*/ 209550 w 2486025"/>
                  <a:gd name="csY1" fmla="*/ 42862 h 128587"/>
                  <a:gd name="csX2" fmla="*/ 200025 w 2486025"/>
                  <a:gd name="csY2" fmla="*/ 128587 h 128587"/>
                  <a:gd name="csX3" fmla="*/ 466725 w 2486025"/>
                  <a:gd name="csY3" fmla="*/ 47625 h 128587"/>
                  <a:gd name="csX4" fmla="*/ 461962 w 2486025"/>
                  <a:gd name="csY4" fmla="*/ 123825 h 128587"/>
                  <a:gd name="csX5" fmla="*/ 714375 w 2486025"/>
                  <a:gd name="csY5" fmla="*/ 33337 h 128587"/>
                  <a:gd name="csX6" fmla="*/ 723900 w 2486025"/>
                  <a:gd name="csY6" fmla="*/ 95250 h 128587"/>
                  <a:gd name="csX7" fmla="*/ 933450 w 2486025"/>
                  <a:gd name="csY7" fmla="*/ 19050 h 128587"/>
                  <a:gd name="csX8" fmla="*/ 933450 w 2486025"/>
                  <a:gd name="csY8" fmla="*/ 104775 h 128587"/>
                  <a:gd name="csX9" fmla="*/ 1200150 w 2486025"/>
                  <a:gd name="csY9" fmla="*/ 28575 h 128587"/>
                  <a:gd name="csX10" fmla="*/ 1204912 w 2486025"/>
                  <a:gd name="csY10" fmla="*/ 95250 h 128587"/>
                  <a:gd name="csX11" fmla="*/ 1533525 w 2486025"/>
                  <a:gd name="csY11" fmla="*/ 23812 h 128587"/>
                  <a:gd name="csX12" fmla="*/ 1547812 w 2486025"/>
                  <a:gd name="csY12" fmla="*/ 80962 h 128587"/>
                  <a:gd name="csX13" fmla="*/ 1824037 w 2486025"/>
                  <a:gd name="csY13" fmla="*/ 0 h 128587"/>
                  <a:gd name="csX14" fmla="*/ 1814512 w 2486025"/>
                  <a:gd name="csY14" fmla="*/ 61912 h 128587"/>
                  <a:gd name="csX15" fmla="*/ 2128837 w 2486025"/>
                  <a:gd name="csY15" fmla="*/ 14287 h 128587"/>
                  <a:gd name="csX16" fmla="*/ 2124075 w 2486025"/>
                  <a:gd name="csY16" fmla="*/ 95250 h 128587"/>
                  <a:gd name="csX17" fmla="*/ 2486025 w 2486025"/>
                  <a:gd name="csY17" fmla="*/ 28575 h 1285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486025" h="128587">
                    <a:moveTo>
                      <a:pt x="0" y="123825"/>
                    </a:moveTo>
                    <a:lnTo>
                      <a:pt x="209550" y="42862"/>
                    </a:lnTo>
                    <a:lnTo>
                      <a:pt x="200025" y="128587"/>
                    </a:lnTo>
                    <a:lnTo>
                      <a:pt x="466725" y="47625"/>
                    </a:lnTo>
                    <a:lnTo>
                      <a:pt x="461962" y="123825"/>
                    </a:lnTo>
                    <a:lnTo>
                      <a:pt x="714375" y="33337"/>
                    </a:lnTo>
                    <a:lnTo>
                      <a:pt x="723900" y="95250"/>
                    </a:lnTo>
                    <a:lnTo>
                      <a:pt x="933450" y="19050"/>
                    </a:lnTo>
                    <a:lnTo>
                      <a:pt x="933450" y="104775"/>
                    </a:lnTo>
                    <a:lnTo>
                      <a:pt x="1200150" y="28575"/>
                    </a:lnTo>
                    <a:lnTo>
                      <a:pt x="1204912" y="95250"/>
                    </a:lnTo>
                    <a:lnTo>
                      <a:pt x="1533525" y="23812"/>
                    </a:lnTo>
                    <a:lnTo>
                      <a:pt x="1547812" y="80962"/>
                    </a:lnTo>
                    <a:lnTo>
                      <a:pt x="1824037" y="0"/>
                    </a:lnTo>
                    <a:lnTo>
                      <a:pt x="1814512" y="61912"/>
                    </a:lnTo>
                    <a:lnTo>
                      <a:pt x="2128837" y="14287"/>
                    </a:lnTo>
                    <a:lnTo>
                      <a:pt x="2124075" y="95250"/>
                    </a:lnTo>
                    <a:lnTo>
                      <a:pt x="2486025" y="28575"/>
                    </a:lnTo>
                  </a:path>
                </a:pathLst>
              </a:custGeom>
              <a:grpFill/>
              <a:ln w="635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0" name="Freeform: Shape 9">
                <a:extLst>
                  <a:ext uri="{FF2B5EF4-FFF2-40B4-BE49-F238E27FC236}">
                    <a16:creationId xmlns:a16="http://schemas.microsoft.com/office/drawing/2014/main" id="{A293E6F7-3868-AB1F-E4E3-54FCED3C325B}"/>
                  </a:ext>
                </a:extLst>
              </p:cNvPr>
              <p:cNvSpPr/>
              <p:nvPr/>
            </p:nvSpPr>
            <p:spPr>
              <a:xfrm>
                <a:off x="645407" y="3924802"/>
                <a:ext cx="2486025" cy="128587"/>
              </a:xfrm>
              <a:custGeom>
                <a:avLst/>
                <a:gdLst>
                  <a:gd name="csX0" fmla="*/ 0 w 2486025"/>
                  <a:gd name="csY0" fmla="*/ 123825 h 128587"/>
                  <a:gd name="csX1" fmla="*/ 209550 w 2486025"/>
                  <a:gd name="csY1" fmla="*/ 42862 h 128587"/>
                  <a:gd name="csX2" fmla="*/ 200025 w 2486025"/>
                  <a:gd name="csY2" fmla="*/ 128587 h 128587"/>
                  <a:gd name="csX3" fmla="*/ 466725 w 2486025"/>
                  <a:gd name="csY3" fmla="*/ 47625 h 128587"/>
                  <a:gd name="csX4" fmla="*/ 461962 w 2486025"/>
                  <a:gd name="csY4" fmla="*/ 123825 h 128587"/>
                  <a:gd name="csX5" fmla="*/ 714375 w 2486025"/>
                  <a:gd name="csY5" fmla="*/ 33337 h 128587"/>
                  <a:gd name="csX6" fmla="*/ 723900 w 2486025"/>
                  <a:gd name="csY6" fmla="*/ 95250 h 128587"/>
                  <a:gd name="csX7" fmla="*/ 933450 w 2486025"/>
                  <a:gd name="csY7" fmla="*/ 19050 h 128587"/>
                  <a:gd name="csX8" fmla="*/ 933450 w 2486025"/>
                  <a:gd name="csY8" fmla="*/ 104775 h 128587"/>
                  <a:gd name="csX9" fmla="*/ 1200150 w 2486025"/>
                  <a:gd name="csY9" fmla="*/ 28575 h 128587"/>
                  <a:gd name="csX10" fmla="*/ 1204912 w 2486025"/>
                  <a:gd name="csY10" fmla="*/ 95250 h 128587"/>
                  <a:gd name="csX11" fmla="*/ 1533525 w 2486025"/>
                  <a:gd name="csY11" fmla="*/ 23812 h 128587"/>
                  <a:gd name="csX12" fmla="*/ 1547812 w 2486025"/>
                  <a:gd name="csY12" fmla="*/ 80962 h 128587"/>
                  <a:gd name="csX13" fmla="*/ 1824037 w 2486025"/>
                  <a:gd name="csY13" fmla="*/ 0 h 128587"/>
                  <a:gd name="csX14" fmla="*/ 1814512 w 2486025"/>
                  <a:gd name="csY14" fmla="*/ 61912 h 128587"/>
                  <a:gd name="csX15" fmla="*/ 2128837 w 2486025"/>
                  <a:gd name="csY15" fmla="*/ 14287 h 128587"/>
                  <a:gd name="csX16" fmla="*/ 2124075 w 2486025"/>
                  <a:gd name="csY16" fmla="*/ 95250 h 128587"/>
                  <a:gd name="csX17" fmla="*/ 2486025 w 2486025"/>
                  <a:gd name="csY17" fmla="*/ 28575 h 1285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486025" h="128587">
                    <a:moveTo>
                      <a:pt x="0" y="123825"/>
                    </a:moveTo>
                    <a:lnTo>
                      <a:pt x="209550" y="42862"/>
                    </a:lnTo>
                    <a:lnTo>
                      <a:pt x="200025" y="128587"/>
                    </a:lnTo>
                    <a:lnTo>
                      <a:pt x="466725" y="47625"/>
                    </a:lnTo>
                    <a:lnTo>
                      <a:pt x="461962" y="123825"/>
                    </a:lnTo>
                    <a:lnTo>
                      <a:pt x="714375" y="33337"/>
                    </a:lnTo>
                    <a:lnTo>
                      <a:pt x="723900" y="95250"/>
                    </a:lnTo>
                    <a:lnTo>
                      <a:pt x="933450" y="19050"/>
                    </a:lnTo>
                    <a:lnTo>
                      <a:pt x="933450" y="104775"/>
                    </a:lnTo>
                    <a:lnTo>
                      <a:pt x="1200150" y="28575"/>
                    </a:lnTo>
                    <a:lnTo>
                      <a:pt x="1204912" y="95250"/>
                    </a:lnTo>
                    <a:lnTo>
                      <a:pt x="1533525" y="23812"/>
                    </a:lnTo>
                    <a:lnTo>
                      <a:pt x="1547812" y="80962"/>
                    </a:lnTo>
                    <a:lnTo>
                      <a:pt x="1824037" y="0"/>
                    </a:lnTo>
                    <a:lnTo>
                      <a:pt x="1814512" y="61912"/>
                    </a:lnTo>
                    <a:lnTo>
                      <a:pt x="2128837" y="14287"/>
                    </a:lnTo>
                    <a:lnTo>
                      <a:pt x="2124075" y="95250"/>
                    </a:lnTo>
                    <a:lnTo>
                      <a:pt x="2486025" y="28575"/>
                    </a:lnTo>
                  </a:path>
                </a:pathLst>
              </a:custGeom>
              <a:grpFill/>
              <a:ln w="635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grpSp>
      <p:pic>
        <p:nvPicPr>
          <p:cNvPr id="14" name="Picture 13">
            <a:extLst>
              <a:ext uri="{FF2B5EF4-FFF2-40B4-BE49-F238E27FC236}">
                <a16:creationId xmlns:a16="http://schemas.microsoft.com/office/drawing/2014/main" id="{2E4D91E4-0FAD-764A-40EA-4FC2B34BC939}"/>
              </a:ext>
            </a:extLst>
          </p:cNvPr>
          <p:cNvPicPr>
            <a:picLocks noChangeAspect="1"/>
          </p:cNvPicPr>
          <p:nvPr/>
        </p:nvPicPr>
        <p:blipFill>
          <a:blip r:embed="rId6"/>
          <a:stretch>
            <a:fillRect/>
          </a:stretch>
        </p:blipFill>
        <p:spPr>
          <a:xfrm>
            <a:off x="4504942" y="1908658"/>
            <a:ext cx="5487166" cy="1247949"/>
          </a:xfrm>
          <a:prstGeom prst="rect">
            <a:avLst/>
          </a:prstGeom>
          <a:ln>
            <a:solidFill>
              <a:schemeClr val="accent1">
                <a:shade val="15000"/>
              </a:schemeClr>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519754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34B64B-A15E-D16C-FE62-9EC49ED2925C}"/>
              </a:ext>
            </a:extLst>
          </p:cNvPr>
          <p:cNvSpPr>
            <a:spLocks noGrp="1"/>
          </p:cNvSpPr>
          <p:nvPr>
            <p:ph type="title"/>
          </p:nvPr>
        </p:nvSpPr>
        <p:spPr/>
        <p:txBody>
          <a:bodyPr/>
          <a:lstStyle/>
          <a:p>
            <a:r>
              <a:rPr lang="sv-SE"/>
              <a:t>Exempel? </a:t>
            </a:r>
            <a:endParaRPr lang="LID4096"/>
          </a:p>
        </p:txBody>
      </p:sp>
      <p:pic>
        <p:nvPicPr>
          <p:cNvPr id="5" name="Picture 4">
            <a:extLst>
              <a:ext uri="{FF2B5EF4-FFF2-40B4-BE49-F238E27FC236}">
                <a16:creationId xmlns:a16="http://schemas.microsoft.com/office/drawing/2014/main" id="{6F618F7E-5350-3F1F-4FF9-D162C98D6223}"/>
              </a:ext>
            </a:extLst>
          </p:cNvPr>
          <p:cNvPicPr>
            <a:picLocks noChangeAspect="1"/>
          </p:cNvPicPr>
          <p:nvPr/>
        </p:nvPicPr>
        <p:blipFill>
          <a:blip r:embed="rId3"/>
          <a:stretch>
            <a:fillRect/>
          </a:stretch>
        </p:blipFill>
        <p:spPr>
          <a:xfrm>
            <a:off x="4147865" y="1890398"/>
            <a:ext cx="3896269" cy="4505954"/>
          </a:xfrm>
          <a:prstGeom prst="rect">
            <a:avLst/>
          </a:prstGeom>
        </p:spPr>
      </p:pic>
    </p:spTree>
    <p:extLst>
      <p:ext uri="{BB962C8B-B14F-4D97-AF65-F5344CB8AC3E}">
        <p14:creationId xmlns:p14="http://schemas.microsoft.com/office/powerpoint/2010/main" val="357896012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657069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B1E085-772C-2D65-70F4-F32411F54A88}"/>
              </a:ext>
            </a:extLst>
          </p:cNvPr>
          <p:cNvSpPr>
            <a:spLocks noGrp="1"/>
          </p:cNvSpPr>
          <p:nvPr>
            <p:ph type="title"/>
          </p:nvPr>
        </p:nvSpPr>
        <p:spPr/>
        <p:txBody>
          <a:bodyPr/>
          <a:lstStyle/>
          <a:p>
            <a:r>
              <a:rPr lang="sv-SE"/>
              <a:t>Avbryta interrupthanteraren </a:t>
            </a:r>
            <a:r>
              <a:rPr lang="sv-SE" sz="2800"/>
              <a:t>(nästlade avbrott)</a:t>
            </a:r>
            <a:r>
              <a:rPr lang="sv-SE"/>
              <a:t>? </a:t>
            </a:r>
            <a:endParaRPr lang="LID4096"/>
          </a:p>
        </p:txBody>
      </p:sp>
      <p:sp>
        <p:nvSpPr>
          <p:cNvPr id="7" name="Content Placeholder 6">
            <a:extLst>
              <a:ext uri="{FF2B5EF4-FFF2-40B4-BE49-F238E27FC236}">
                <a16:creationId xmlns:a16="http://schemas.microsoft.com/office/drawing/2014/main" id="{1331D2D7-0DD7-3821-66A5-424A3880107E}"/>
              </a:ext>
            </a:extLst>
          </p:cNvPr>
          <p:cNvSpPr>
            <a:spLocks noGrp="1"/>
          </p:cNvSpPr>
          <p:nvPr>
            <p:ph idx="1"/>
          </p:nvPr>
        </p:nvSpPr>
        <p:spPr>
          <a:xfrm>
            <a:off x="838200" y="1825625"/>
            <a:ext cx="7067550" cy="4351338"/>
          </a:xfrm>
        </p:spPr>
        <p:txBody>
          <a:bodyPr/>
          <a:lstStyle/>
          <a:p>
            <a:r>
              <a:rPr lang="sv-SE"/>
              <a:t>Kan ett avbrott (t.ex. systick) avbryta sig självt? </a:t>
            </a:r>
          </a:p>
          <a:p>
            <a:pPr lvl="1"/>
            <a:r>
              <a:rPr lang="sv-SE" sz="2000"/>
              <a:t>Nope. När processorn börjar ta hand om ett avbrott med IRQ </a:t>
            </a:r>
            <a:r>
              <a:rPr lang="sv-SE" sz="2000" i="1"/>
              <a:t>x</a:t>
            </a:r>
            <a:r>
              <a:rPr lang="sv-SE" sz="2000"/>
              <a:t> så sätter den bit </a:t>
            </a:r>
            <a:r>
              <a:rPr lang="sv-SE" sz="2000" i="1"/>
              <a:t>x</a:t>
            </a:r>
            <a:r>
              <a:rPr lang="sv-SE" sz="2000"/>
              <a:t> i </a:t>
            </a:r>
            <a:r>
              <a:rPr lang="sv-SE" sz="2000" b="1">
                <a:solidFill>
                  <a:schemeClr val="accent1">
                    <a:lumMod val="60000"/>
                    <a:lumOff val="40000"/>
                  </a:schemeClr>
                </a:solidFill>
              </a:rPr>
              <a:t>IACTR</a:t>
            </a:r>
          </a:p>
          <a:p>
            <a:pPr lvl="1"/>
            <a:r>
              <a:rPr lang="sv-SE" sz="2000"/>
              <a:t>Om</a:t>
            </a:r>
            <a:r>
              <a:rPr lang="sv-SE" sz="2000" b="1"/>
              <a:t> </a:t>
            </a:r>
            <a:r>
              <a:rPr lang="sv-SE" sz="2000"/>
              <a:t>det kommer ett avbrott till med IRQ x och processorn ser att det aktivt hanteras just nu så sätts istället en bit i </a:t>
            </a:r>
            <a:r>
              <a:rPr lang="sv-SE" sz="2000" b="1">
                <a:solidFill>
                  <a:schemeClr val="accent6">
                    <a:lumMod val="75000"/>
                  </a:schemeClr>
                </a:solidFill>
              </a:rPr>
              <a:t>IPR</a:t>
            </a:r>
          </a:p>
          <a:p>
            <a:pPr lvl="1"/>
            <a:r>
              <a:rPr lang="sv-SE" sz="2000"/>
              <a:t>När interupthanteraren returnerar så clearas IACTR, men om IPR är satt sätts den omeddelbart igen och nästa interrupt hanteras direkt.</a:t>
            </a:r>
          </a:p>
          <a:p>
            <a:pPr lvl="2"/>
            <a:r>
              <a:rPr lang="sv-SE" sz="1400"/>
              <a:t> Om systick interrupts händer för ofta kan huvudprogrammet </a:t>
            </a:r>
            <a:r>
              <a:rPr lang="sv-SE" sz="1400" i="1"/>
              <a:t>svältas</a:t>
            </a:r>
            <a:r>
              <a:rPr lang="sv-SE" sz="1400"/>
              <a:t>. </a:t>
            </a:r>
          </a:p>
          <a:p>
            <a:pPr lvl="2"/>
            <a:r>
              <a:rPr lang="sv-SE" sz="1400"/>
              <a:t>(Om det kommer ett nytt interrupt medans pending biten är satt så ignoreras det)</a:t>
            </a:r>
            <a:endParaRPr lang="LID4096" sz="1400"/>
          </a:p>
        </p:txBody>
      </p:sp>
      <p:pic>
        <p:nvPicPr>
          <p:cNvPr id="5" name="Picture 4">
            <a:extLst>
              <a:ext uri="{FF2B5EF4-FFF2-40B4-BE49-F238E27FC236}">
                <a16:creationId xmlns:a16="http://schemas.microsoft.com/office/drawing/2014/main" id="{BD206EEE-1976-33F5-B60D-EBE40EC34A2C}"/>
              </a:ext>
            </a:extLst>
          </p:cNvPr>
          <p:cNvPicPr>
            <a:picLocks noChangeAspect="1"/>
          </p:cNvPicPr>
          <p:nvPr/>
        </p:nvPicPr>
        <p:blipFill>
          <a:blip r:embed="rId2"/>
          <a:stretch>
            <a:fillRect/>
          </a:stretch>
        </p:blipFill>
        <p:spPr>
          <a:xfrm>
            <a:off x="8136576" y="1690688"/>
            <a:ext cx="4055424" cy="5167312"/>
          </a:xfrm>
          <a:prstGeom prst="rect">
            <a:avLst/>
          </a:prstGeom>
          <a:ln>
            <a:solidFill>
              <a:schemeClr val="tx1"/>
            </a:solidFill>
          </a:ln>
        </p:spPr>
      </p:pic>
      <p:sp>
        <p:nvSpPr>
          <p:cNvPr id="8" name="Rectangle 7">
            <a:extLst>
              <a:ext uri="{FF2B5EF4-FFF2-40B4-BE49-F238E27FC236}">
                <a16:creationId xmlns:a16="http://schemas.microsoft.com/office/drawing/2014/main" id="{8FC431B5-1ADC-4721-58EB-E9274CE83139}"/>
              </a:ext>
            </a:extLst>
          </p:cNvPr>
          <p:cNvSpPr/>
          <p:nvPr/>
        </p:nvSpPr>
        <p:spPr>
          <a:xfrm>
            <a:off x="8198119" y="5938838"/>
            <a:ext cx="3927206" cy="338545"/>
          </a:xfrm>
          <a:prstGeom prst="rect">
            <a:avLst/>
          </a:prstGeom>
          <a:solidFill>
            <a:schemeClr val="tx2">
              <a:lumMod val="75000"/>
              <a:lumOff val="25000"/>
              <a:alpha val="33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9" name="Rectangle 8">
            <a:extLst>
              <a:ext uri="{FF2B5EF4-FFF2-40B4-BE49-F238E27FC236}">
                <a16:creationId xmlns:a16="http://schemas.microsoft.com/office/drawing/2014/main" id="{516E85D5-48BF-DB0B-E874-90C61680D93C}"/>
              </a:ext>
            </a:extLst>
          </p:cNvPr>
          <p:cNvSpPr/>
          <p:nvPr/>
        </p:nvSpPr>
        <p:spPr>
          <a:xfrm>
            <a:off x="8198119" y="2457451"/>
            <a:ext cx="3927206" cy="338545"/>
          </a:xfrm>
          <a:prstGeom prst="rect">
            <a:avLst/>
          </a:prstGeom>
          <a:solidFill>
            <a:schemeClr val="accent6">
              <a:lumMod val="60000"/>
              <a:lumOff val="40000"/>
              <a:alpha val="33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4929954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
                                            <p:txEl>
                                              <p:pRg st="2" end="2"/>
                                            </p:txEl>
                                          </p:spTgt>
                                        </p:tgtEl>
                                        <p:attrNameLst>
                                          <p:attrName>style.visibility</p:attrName>
                                        </p:attrNameLst>
                                      </p:cBhvr>
                                      <p:to>
                                        <p:strVal val="visible"/>
                                      </p:to>
                                    </p:set>
                                    <p:animEffect transition="in" filter="fade">
                                      <p:cBhvr>
                                        <p:cTn id="17" dur="500"/>
                                        <p:tgtEl>
                                          <p:spTgt spid="7">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xEl>
                                              <p:pRg st="3" end="3"/>
                                            </p:txEl>
                                          </p:spTgt>
                                        </p:tgtEl>
                                        <p:attrNameLst>
                                          <p:attrName>style.visibility</p:attrName>
                                        </p:attrNameLst>
                                      </p:cBhvr>
                                      <p:to>
                                        <p:strVal val="visible"/>
                                      </p:to>
                                    </p:set>
                                    <p:animEffect transition="in" filter="fade">
                                      <p:cBhvr>
                                        <p:cTn id="27" dur="5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2CD1F6-09A1-D6FD-9369-226C9A75B6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3570A3-4222-4946-9BF4-31C61D57CE55}"/>
              </a:ext>
            </a:extLst>
          </p:cNvPr>
          <p:cNvSpPr>
            <a:spLocks noGrp="1"/>
          </p:cNvSpPr>
          <p:nvPr>
            <p:ph type="title"/>
          </p:nvPr>
        </p:nvSpPr>
        <p:spPr/>
        <p:txBody>
          <a:bodyPr/>
          <a:lstStyle/>
          <a:p>
            <a:r>
              <a:rPr lang="sv-SE"/>
              <a:t>Avbryta interrupthanteraren </a:t>
            </a:r>
            <a:r>
              <a:rPr lang="sv-SE" sz="2800"/>
              <a:t>(nästlade avbrott)</a:t>
            </a:r>
            <a:r>
              <a:rPr lang="sv-SE"/>
              <a:t>? </a:t>
            </a:r>
            <a:endParaRPr lang="LID4096"/>
          </a:p>
        </p:txBody>
      </p:sp>
      <p:sp>
        <p:nvSpPr>
          <p:cNvPr id="7" name="Content Placeholder 6">
            <a:extLst>
              <a:ext uri="{FF2B5EF4-FFF2-40B4-BE49-F238E27FC236}">
                <a16:creationId xmlns:a16="http://schemas.microsoft.com/office/drawing/2014/main" id="{0D81E5B8-E3A6-F2CA-42E0-981F2AC122FC}"/>
              </a:ext>
            </a:extLst>
          </p:cNvPr>
          <p:cNvSpPr>
            <a:spLocks noGrp="1"/>
          </p:cNvSpPr>
          <p:nvPr>
            <p:ph idx="1"/>
          </p:nvPr>
        </p:nvSpPr>
        <p:spPr>
          <a:xfrm>
            <a:off x="838200" y="1825625"/>
            <a:ext cx="7067550" cy="4351338"/>
          </a:xfrm>
        </p:spPr>
        <p:txBody>
          <a:bodyPr/>
          <a:lstStyle/>
          <a:p>
            <a:r>
              <a:rPr lang="sv-SE" dirty="0"/>
              <a:t>Kan ett </a:t>
            </a:r>
            <a:r>
              <a:rPr lang="sv-SE" b="1" dirty="0" err="1"/>
              <a:t>Fault</a:t>
            </a:r>
            <a:r>
              <a:rPr lang="sv-SE" dirty="0"/>
              <a:t> (t.ex. </a:t>
            </a:r>
            <a:r>
              <a:rPr lang="sv-SE" dirty="0" err="1"/>
              <a:t>unaligned</a:t>
            </a:r>
            <a:r>
              <a:rPr lang="sv-SE" dirty="0"/>
              <a:t> </a:t>
            </a:r>
            <a:r>
              <a:rPr lang="sv-SE" dirty="0" err="1"/>
              <a:t>memory</a:t>
            </a:r>
            <a:r>
              <a:rPr lang="sv-SE" dirty="0"/>
              <a:t> access) avbryta ett </a:t>
            </a:r>
            <a:r>
              <a:rPr lang="sv-SE" dirty="0" err="1"/>
              <a:t>interrupt</a:t>
            </a:r>
            <a:r>
              <a:rPr lang="sv-SE" dirty="0"/>
              <a:t>? </a:t>
            </a:r>
          </a:p>
          <a:p>
            <a:pPr lvl="1"/>
            <a:r>
              <a:rPr lang="sv-SE" dirty="0" err="1"/>
              <a:t>Yep</a:t>
            </a:r>
            <a:r>
              <a:rPr lang="sv-SE" dirty="0"/>
              <a:t>. Alltid. På så vis kan processorn skyddas mot felaktiga </a:t>
            </a:r>
            <a:r>
              <a:rPr lang="sv-SE" dirty="0" err="1"/>
              <a:t>interrupthanterare</a:t>
            </a:r>
            <a:r>
              <a:rPr lang="sv-SE" dirty="0"/>
              <a:t>. </a:t>
            </a:r>
          </a:p>
          <a:p>
            <a:pPr lvl="1"/>
            <a:r>
              <a:rPr lang="sv-SE" sz="2000" dirty="0"/>
              <a:t>(</a:t>
            </a:r>
            <a:r>
              <a:rPr lang="sv-SE" sz="2000" dirty="0" err="1"/>
              <a:t>mcause</a:t>
            </a:r>
            <a:r>
              <a:rPr lang="sv-SE" sz="2000" dirty="0"/>
              <a:t>, </a:t>
            </a:r>
            <a:r>
              <a:rPr lang="sv-SE" sz="2000" dirty="0" err="1"/>
              <a:t>mepc</a:t>
            </a:r>
            <a:r>
              <a:rPr lang="sv-SE" sz="2000" dirty="0"/>
              <a:t>, </a:t>
            </a:r>
            <a:r>
              <a:rPr lang="sv-SE" sz="2000" dirty="0" err="1"/>
              <a:t>etc</a:t>
            </a:r>
            <a:r>
              <a:rPr lang="sv-SE" sz="2000" dirty="0"/>
              <a:t> sparas på en hårdvarustack)</a:t>
            </a:r>
          </a:p>
        </p:txBody>
      </p:sp>
      <p:pic>
        <p:nvPicPr>
          <p:cNvPr id="5" name="Picture 4">
            <a:extLst>
              <a:ext uri="{FF2B5EF4-FFF2-40B4-BE49-F238E27FC236}">
                <a16:creationId xmlns:a16="http://schemas.microsoft.com/office/drawing/2014/main" id="{6647857B-39F9-A5B8-B520-B8088FB28D97}"/>
              </a:ext>
            </a:extLst>
          </p:cNvPr>
          <p:cNvPicPr>
            <a:picLocks noChangeAspect="1"/>
          </p:cNvPicPr>
          <p:nvPr/>
        </p:nvPicPr>
        <p:blipFill>
          <a:blip r:embed="rId2"/>
          <a:stretch>
            <a:fillRect/>
          </a:stretch>
        </p:blipFill>
        <p:spPr>
          <a:xfrm>
            <a:off x="8136576" y="1690688"/>
            <a:ext cx="4055424" cy="5167312"/>
          </a:xfrm>
          <a:prstGeom prst="rect">
            <a:avLst/>
          </a:prstGeom>
          <a:ln>
            <a:solidFill>
              <a:schemeClr val="tx1"/>
            </a:solidFill>
          </a:ln>
        </p:spPr>
      </p:pic>
    </p:spTree>
    <p:extLst>
      <p:ext uri="{BB962C8B-B14F-4D97-AF65-F5344CB8AC3E}">
        <p14:creationId xmlns:p14="http://schemas.microsoft.com/office/powerpoint/2010/main" val="3880997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7">
                                            <p:txEl>
                                              <p:pRg st="2" end="2"/>
                                            </p:txEl>
                                          </p:spTgt>
                                        </p:tgtEl>
                                        <p:attrNameLst>
                                          <p:attrName>style.visibility</p:attrName>
                                        </p:attrNameLst>
                                      </p:cBhvr>
                                      <p:to>
                                        <p:strVal val="visible"/>
                                      </p:to>
                                    </p:set>
                                    <p:animEffect transition="in" filter="fade">
                                      <p:cBhvr>
                                        <p:cTn id="10" dur="5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C59E38-39F6-EE93-3F78-FDA822DE0F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414DB9-5CEF-AB60-FC4C-F969F679B6A5}"/>
              </a:ext>
            </a:extLst>
          </p:cNvPr>
          <p:cNvSpPr>
            <a:spLocks noGrp="1"/>
          </p:cNvSpPr>
          <p:nvPr>
            <p:ph type="title"/>
          </p:nvPr>
        </p:nvSpPr>
        <p:spPr/>
        <p:txBody>
          <a:bodyPr/>
          <a:lstStyle/>
          <a:p>
            <a:r>
              <a:rPr lang="sv-SE"/>
              <a:t>Avbryta interrupthanteraren </a:t>
            </a:r>
            <a:r>
              <a:rPr lang="sv-SE" sz="2800"/>
              <a:t>(nästlade avbrott)</a:t>
            </a:r>
            <a:r>
              <a:rPr lang="sv-SE"/>
              <a:t>? </a:t>
            </a:r>
            <a:endParaRPr lang="LID4096"/>
          </a:p>
        </p:txBody>
      </p:sp>
      <p:sp>
        <p:nvSpPr>
          <p:cNvPr id="7" name="Content Placeholder 6">
            <a:extLst>
              <a:ext uri="{FF2B5EF4-FFF2-40B4-BE49-F238E27FC236}">
                <a16:creationId xmlns:a16="http://schemas.microsoft.com/office/drawing/2014/main" id="{0209B220-B728-CC8E-E36F-F5FB6F5A1479}"/>
              </a:ext>
            </a:extLst>
          </p:cNvPr>
          <p:cNvSpPr>
            <a:spLocks noGrp="1"/>
          </p:cNvSpPr>
          <p:nvPr>
            <p:ph idx="1"/>
          </p:nvPr>
        </p:nvSpPr>
        <p:spPr>
          <a:xfrm>
            <a:off x="838200" y="1825625"/>
            <a:ext cx="7067550" cy="4351338"/>
          </a:xfrm>
        </p:spPr>
        <p:txBody>
          <a:bodyPr/>
          <a:lstStyle/>
          <a:p>
            <a:r>
              <a:rPr lang="sv-SE" dirty="0"/>
              <a:t>Kan t.ex. Timer6 avbryta en </a:t>
            </a:r>
            <a:r>
              <a:rPr lang="sv-SE" dirty="0" err="1"/>
              <a:t>Systick</a:t>
            </a:r>
            <a:r>
              <a:rPr lang="sv-SE" dirty="0"/>
              <a:t> </a:t>
            </a:r>
            <a:r>
              <a:rPr lang="sv-SE" dirty="0" err="1"/>
              <a:t>interrupthanterare</a:t>
            </a:r>
            <a:r>
              <a:rPr lang="sv-SE" dirty="0"/>
              <a:t>? </a:t>
            </a:r>
          </a:p>
          <a:p>
            <a:pPr lvl="1"/>
            <a:r>
              <a:rPr lang="sv-SE" dirty="0"/>
              <a:t>Ja, </a:t>
            </a:r>
            <a:r>
              <a:rPr lang="sv-SE" i="1" dirty="0"/>
              <a:t>om</a:t>
            </a:r>
            <a:r>
              <a:rPr lang="sv-SE" dirty="0"/>
              <a:t> Timer6 har givits högre prioritet än </a:t>
            </a:r>
            <a:r>
              <a:rPr lang="sv-SE" dirty="0" err="1"/>
              <a:t>systick</a:t>
            </a:r>
            <a:r>
              <a:rPr lang="sv-SE" dirty="0"/>
              <a:t> i </a:t>
            </a:r>
            <a:r>
              <a:rPr lang="sv-SE" b="1" dirty="0">
                <a:solidFill>
                  <a:schemeClr val="accent2">
                    <a:lumMod val="75000"/>
                  </a:schemeClr>
                </a:solidFill>
              </a:rPr>
              <a:t>IPRIOR </a:t>
            </a:r>
            <a:r>
              <a:rPr lang="sv-SE" dirty="0" err="1"/>
              <a:t>registrena</a:t>
            </a:r>
            <a:r>
              <a:rPr lang="sv-SE" dirty="0"/>
              <a:t>.</a:t>
            </a:r>
          </a:p>
          <a:p>
            <a:pPr lvl="1"/>
            <a:r>
              <a:rPr lang="sv-SE" dirty="0"/>
              <a:t>Timer6’s </a:t>
            </a:r>
            <a:r>
              <a:rPr lang="sv-SE" dirty="0" err="1"/>
              <a:t>interrupthanterare</a:t>
            </a:r>
            <a:r>
              <a:rPr lang="sv-SE" dirty="0"/>
              <a:t> kör då klart och sedan återupptas Systickhanteraren där den avbröts.</a:t>
            </a:r>
          </a:p>
        </p:txBody>
      </p:sp>
      <p:pic>
        <p:nvPicPr>
          <p:cNvPr id="5" name="Picture 4">
            <a:extLst>
              <a:ext uri="{FF2B5EF4-FFF2-40B4-BE49-F238E27FC236}">
                <a16:creationId xmlns:a16="http://schemas.microsoft.com/office/drawing/2014/main" id="{FA7585E6-06C4-501A-9E68-68AE76D38AE3}"/>
              </a:ext>
            </a:extLst>
          </p:cNvPr>
          <p:cNvPicPr>
            <a:picLocks noChangeAspect="1"/>
          </p:cNvPicPr>
          <p:nvPr/>
        </p:nvPicPr>
        <p:blipFill>
          <a:blip r:embed="rId3"/>
          <a:stretch>
            <a:fillRect/>
          </a:stretch>
        </p:blipFill>
        <p:spPr>
          <a:xfrm>
            <a:off x="8136576" y="1690688"/>
            <a:ext cx="4055424" cy="5167312"/>
          </a:xfrm>
          <a:prstGeom prst="rect">
            <a:avLst/>
          </a:prstGeom>
          <a:ln>
            <a:solidFill>
              <a:schemeClr val="tx1"/>
            </a:solidFill>
          </a:ln>
        </p:spPr>
      </p:pic>
      <p:sp>
        <p:nvSpPr>
          <p:cNvPr id="3" name="Rectangle 2">
            <a:extLst>
              <a:ext uri="{FF2B5EF4-FFF2-40B4-BE49-F238E27FC236}">
                <a16:creationId xmlns:a16="http://schemas.microsoft.com/office/drawing/2014/main" id="{759481A3-902A-D36C-79FE-B1F6DABFC055}"/>
              </a:ext>
            </a:extLst>
          </p:cNvPr>
          <p:cNvSpPr/>
          <p:nvPr/>
        </p:nvSpPr>
        <p:spPr>
          <a:xfrm>
            <a:off x="8200685" y="6281738"/>
            <a:ext cx="3927206" cy="338545"/>
          </a:xfrm>
          <a:prstGeom prst="rect">
            <a:avLst/>
          </a:prstGeom>
          <a:solidFill>
            <a:schemeClr val="accent2">
              <a:lumMod val="60000"/>
              <a:lumOff val="40000"/>
              <a:alpha val="33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2531927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xEl>
                                              <p:pRg st="1" end="1"/>
                                            </p:txEl>
                                          </p:spTgt>
                                        </p:tgtEl>
                                        <p:attrNameLst>
                                          <p:attrName>style.visibility</p:attrName>
                                        </p:attrNameLst>
                                      </p:cBhvr>
                                      <p:to>
                                        <p:strVal val="visible"/>
                                      </p:to>
                                    </p:set>
                                    <p:animEffect transition="in" filter="fade">
                                      <p:cBhvr>
                                        <p:cTn id="12" dur="500"/>
                                        <p:tgtEl>
                                          <p:spTgt spid="7">
                                            <p:txEl>
                                              <p:pRg st="1" end="1"/>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animEffect transition="in" filter="fade">
                                      <p:cBhvr>
                                        <p:cTn id="15" dur="5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9471908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A5FEB-F6C9-3C42-41B9-217B8C84DD75}"/>
              </a:ext>
            </a:extLst>
          </p:cNvPr>
          <p:cNvSpPr>
            <a:spLocks noGrp="1"/>
          </p:cNvSpPr>
          <p:nvPr>
            <p:ph type="title"/>
          </p:nvPr>
        </p:nvSpPr>
        <p:spPr/>
        <p:txBody>
          <a:bodyPr/>
          <a:lstStyle/>
          <a:p>
            <a:r>
              <a:rPr lang="en-US" dirty="0" err="1"/>
              <a:t>Avbrott</a:t>
            </a:r>
            <a:r>
              <a:rPr lang="en-US" dirty="0"/>
              <a:t> </a:t>
            </a:r>
            <a:r>
              <a:rPr lang="en-US" dirty="0" err="1"/>
              <a:t>fr</a:t>
            </a:r>
            <a:r>
              <a:rPr lang="sv-SE" dirty="0"/>
              <a:t>ån </a:t>
            </a:r>
            <a:r>
              <a:rPr lang="en-US" dirty="0"/>
              <a:t>GPIO</a:t>
            </a:r>
            <a:endParaRPr lang="LID4096" dirty="0"/>
          </a:p>
        </p:txBody>
      </p:sp>
      <p:pic>
        <p:nvPicPr>
          <p:cNvPr id="4" name="Picture 3">
            <a:extLst>
              <a:ext uri="{FF2B5EF4-FFF2-40B4-BE49-F238E27FC236}">
                <a16:creationId xmlns:a16="http://schemas.microsoft.com/office/drawing/2014/main" id="{1B022914-E309-8A40-D6B2-4FEC921D98A3}"/>
              </a:ext>
            </a:extLst>
          </p:cNvPr>
          <p:cNvPicPr>
            <a:picLocks noChangeAspect="1"/>
          </p:cNvPicPr>
          <p:nvPr/>
        </p:nvPicPr>
        <p:blipFill>
          <a:blip r:embed="rId3"/>
          <a:stretch>
            <a:fillRect/>
          </a:stretch>
        </p:blipFill>
        <p:spPr>
          <a:xfrm rot="10800000">
            <a:off x="7555634" y="2891395"/>
            <a:ext cx="2583575" cy="2493188"/>
          </a:xfrm>
          <a:prstGeom prst="rect">
            <a:avLst/>
          </a:prstGeom>
          <a:ln w="50800">
            <a:solidFill>
              <a:schemeClr val="tx1"/>
            </a:solidFill>
          </a:ln>
        </p:spPr>
      </p:pic>
      <p:sp>
        <p:nvSpPr>
          <p:cNvPr id="5" name="TextBox 4">
            <a:extLst>
              <a:ext uri="{FF2B5EF4-FFF2-40B4-BE49-F238E27FC236}">
                <a16:creationId xmlns:a16="http://schemas.microsoft.com/office/drawing/2014/main" id="{0F8BA6D9-A152-49D3-961B-24A23812B168}"/>
              </a:ext>
            </a:extLst>
          </p:cNvPr>
          <p:cNvSpPr txBox="1"/>
          <p:nvPr/>
        </p:nvSpPr>
        <p:spPr>
          <a:xfrm>
            <a:off x="8021313" y="3292677"/>
            <a:ext cx="1005108" cy="845848"/>
          </a:xfrm>
          <a:prstGeom prst="rect">
            <a:avLst/>
          </a:prstGeom>
          <a:solidFill>
            <a:schemeClr val="accent2">
              <a:lumMod val="40000"/>
              <a:lumOff val="60000"/>
            </a:schemeClr>
          </a:solidFill>
          <a:ln>
            <a:solidFill>
              <a:schemeClr val="accent2">
                <a:lumMod val="75000"/>
              </a:schemeClr>
            </a:solidFill>
          </a:ln>
        </p:spPr>
        <p:txBody>
          <a:bodyPr wrap="square" rtlCol="0">
            <a:noAutofit/>
          </a:bodyPr>
          <a:lstStyle/>
          <a:p>
            <a:pPr algn="ctr"/>
            <a:r>
              <a:rPr lang="en-US" sz="1600"/>
              <a:t>CPU</a:t>
            </a:r>
          </a:p>
          <a:p>
            <a:pPr algn="ctr"/>
            <a:r>
              <a:rPr lang="en-US" sz="500"/>
              <a:t>Qingke V4</a:t>
            </a:r>
            <a:endParaRPr lang="LID4096" sz="1400" dirty="0"/>
          </a:p>
        </p:txBody>
      </p:sp>
      <p:sp>
        <p:nvSpPr>
          <p:cNvPr id="6" name="TextBox 5">
            <a:extLst>
              <a:ext uri="{FF2B5EF4-FFF2-40B4-BE49-F238E27FC236}">
                <a16:creationId xmlns:a16="http://schemas.microsoft.com/office/drawing/2014/main" id="{7ED5DD31-4BF1-4FD2-6E67-7D6F9FEC23A9}"/>
              </a:ext>
            </a:extLst>
          </p:cNvPr>
          <p:cNvSpPr txBox="1"/>
          <p:nvPr/>
        </p:nvSpPr>
        <p:spPr>
          <a:xfrm>
            <a:off x="9028230" y="4651215"/>
            <a:ext cx="673132" cy="323165"/>
          </a:xfrm>
          <a:prstGeom prst="rect">
            <a:avLst/>
          </a:prstGeom>
          <a:solidFill>
            <a:schemeClr val="accent6">
              <a:lumMod val="40000"/>
              <a:lumOff val="60000"/>
            </a:schemeClr>
          </a:solidFill>
          <a:ln>
            <a:solidFill>
              <a:schemeClr val="accent6">
                <a:lumMod val="75000"/>
              </a:schemeClr>
            </a:solidFill>
          </a:ln>
        </p:spPr>
        <p:txBody>
          <a:bodyPr wrap="square" rtlCol="0">
            <a:spAutoFit/>
          </a:bodyPr>
          <a:lstStyle/>
          <a:p>
            <a:pPr algn="ctr"/>
            <a:r>
              <a:rPr lang="en-US" sz="1000" dirty="0"/>
              <a:t>EXTI</a:t>
            </a:r>
            <a:br>
              <a:rPr lang="en-US" sz="1000" dirty="0"/>
            </a:br>
            <a:r>
              <a:rPr lang="en-US" sz="500" dirty="0"/>
              <a:t>(GPIO Interrupts)</a:t>
            </a:r>
            <a:endParaRPr lang="LID4096" sz="1600" dirty="0"/>
          </a:p>
        </p:txBody>
      </p:sp>
      <p:sp>
        <p:nvSpPr>
          <p:cNvPr id="7" name="TextBox 6">
            <a:extLst>
              <a:ext uri="{FF2B5EF4-FFF2-40B4-BE49-F238E27FC236}">
                <a16:creationId xmlns:a16="http://schemas.microsoft.com/office/drawing/2014/main" id="{91982D34-646B-2B5B-6E36-B5386043DDA8}"/>
              </a:ext>
            </a:extLst>
          </p:cNvPr>
          <p:cNvSpPr txBox="1"/>
          <p:nvPr/>
        </p:nvSpPr>
        <p:spPr>
          <a:xfrm>
            <a:off x="8481137" y="3840700"/>
            <a:ext cx="487960" cy="246221"/>
          </a:xfrm>
          <a:prstGeom prst="rect">
            <a:avLst/>
          </a:prstGeom>
          <a:solidFill>
            <a:schemeClr val="accent1">
              <a:lumMod val="60000"/>
              <a:lumOff val="40000"/>
            </a:schemeClr>
          </a:solidFill>
          <a:ln>
            <a:solidFill>
              <a:schemeClr val="tx2">
                <a:lumMod val="75000"/>
                <a:lumOff val="25000"/>
              </a:schemeClr>
            </a:solidFill>
          </a:ln>
        </p:spPr>
        <p:txBody>
          <a:bodyPr wrap="square" rtlCol="0">
            <a:spAutoFit/>
          </a:bodyPr>
          <a:lstStyle/>
          <a:p>
            <a:pPr algn="ctr"/>
            <a:r>
              <a:rPr lang="en-US" sz="1000"/>
              <a:t>PFIC</a:t>
            </a:r>
            <a:endParaRPr lang="LID4096" sz="1600" dirty="0"/>
          </a:p>
        </p:txBody>
      </p:sp>
      <p:sp>
        <p:nvSpPr>
          <p:cNvPr id="8" name="TextBox 7">
            <a:extLst>
              <a:ext uri="{FF2B5EF4-FFF2-40B4-BE49-F238E27FC236}">
                <a16:creationId xmlns:a16="http://schemas.microsoft.com/office/drawing/2014/main" id="{D5626098-402D-9CAC-5F56-724270A1D574}"/>
              </a:ext>
            </a:extLst>
          </p:cNvPr>
          <p:cNvSpPr txBox="1"/>
          <p:nvPr/>
        </p:nvSpPr>
        <p:spPr>
          <a:xfrm rot="16200000">
            <a:off x="7945581" y="3774719"/>
            <a:ext cx="439738" cy="184666"/>
          </a:xfrm>
          <a:prstGeom prst="rect">
            <a:avLst/>
          </a:prstGeom>
          <a:solidFill>
            <a:schemeClr val="bg1"/>
          </a:solidFill>
          <a:ln>
            <a:solidFill>
              <a:schemeClr val="tx1"/>
            </a:solidFill>
          </a:ln>
        </p:spPr>
        <p:txBody>
          <a:bodyPr wrap="square" rtlCol="0">
            <a:spAutoFit/>
          </a:bodyPr>
          <a:lstStyle/>
          <a:p>
            <a:pPr algn="ctr"/>
            <a:r>
              <a:rPr lang="sv-SE" sz="600"/>
              <a:t>SysTick</a:t>
            </a:r>
            <a:endParaRPr lang="LID4096" sz="600" dirty="0"/>
          </a:p>
        </p:txBody>
      </p:sp>
      <p:sp>
        <p:nvSpPr>
          <p:cNvPr id="9" name="TextBox 8">
            <a:extLst>
              <a:ext uri="{FF2B5EF4-FFF2-40B4-BE49-F238E27FC236}">
                <a16:creationId xmlns:a16="http://schemas.microsoft.com/office/drawing/2014/main" id="{AECD6D5A-9344-113C-CD06-0A1FBA88D0DA}"/>
              </a:ext>
            </a:extLst>
          </p:cNvPr>
          <p:cNvSpPr txBox="1"/>
          <p:nvPr/>
        </p:nvSpPr>
        <p:spPr>
          <a:xfrm rot="16200000">
            <a:off x="9367176" y="4184410"/>
            <a:ext cx="422150" cy="246221"/>
          </a:xfrm>
          <a:prstGeom prst="rect">
            <a:avLst/>
          </a:prstGeom>
          <a:solidFill>
            <a:schemeClr val="accent6">
              <a:lumMod val="40000"/>
              <a:lumOff val="60000"/>
            </a:schemeClr>
          </a:solidFill>
          <a:ln>
            <a:solidFill>
              <a:schemeClr val="accent6">
                <a:lumMod val="75000"/>
              </a:schemeClr>
            </a:solidFill>
          </a:ln>
        </p:spPr>
        <p:txBody>
          <a:bodyPr wrap="square" rtlCol="0">
            <a:spAutoFit/>
          </a:bodyPr>
          <a:lstStyle/>
          <a:p>
            <a:pPr algn="ctr"/>
            <a:r>
              <a:rPr lang="en-US" sz="1000"/>
              <a:t>USB</a:t>
            </a:r>
            <a:endParaRPr lang="LID4096" sz="1600" dirty="0"/>
          </a:p>
        </p:txBody>
      </p:sp>
      <p:sp>
        <p:nvSpPr>
          <p:cNvPr id="10" name="TextBox 9">
            <a:extLst>
              <a:ext uri="{FF2B5EF4-FFF2-40B4-BE49-F238E27FC236}">
                <a16:creationId xmlns:a16="http://schemas.microsoft.com/office/drawing/2014/main" id="{F44865E4-6419-844E-ABAA-70C0599757F8}"/>
              </a:ext>
            </a:extLst>
          </p:cNvPr>
          <p:cNvSpPr txBox="1"/>
          <p:nvPr/>
        </p:nvSpPr>
        <p:spPr>
          <a:xfrm rot="16200000">
            <a:off x="9367176" y="3571921"/>
            <a:ext cx="422150" cy="246221"/>
          </a:xfrm>
          <a:prstGeom prst="rect">
            <a:avLst/>
          </a:prstGeom>
          <a:solidFill>
            <a:schemeClr val="accent6">
              <a:lumMod val="40000"/>
              <a:lumOff val="60000"/>
            </a:schemeClr>
          </a:solidFill>
          <a:ln>
            <a:solidFill>
              <a:schemeClr val="accent6">
                <a:lumMod val="75000"/>
              </a:schemeClr>
            </a:solidFill>
          </a:ln>
        </p:spPr>
        <p:txBody>
          <a:bodyPr wrap="square" rtlCol="0">
            <a:spAutoFit/>
          </a:bodyPr>
          <a:lstStyle/>
          <a:p>
            <a:pPr algn="ctr"/>
            <a:r>
              <a:rPr lang="en-US" sz="1000"/>
              <a:t>ETH</a:t>
            </a:r>
            <a:endParaRPr lang="LID4096" sz="1600" dirty="0"/>
          </a:p>
        </p:txBody>
      </p:sp>
      <p:sp>
        <p:nvSpPr>
          <p:cNvPr id="11" name="TextBox 10">
            <a:extLst>
              <a:ext uri="{FF2B5EF4-FFF2-40B4-BE49-F238E27FC236}">
                <a16:creationId xmlns:a16="http://schemas.microsoft.com/office/drawing/2014/main" id="{FDDC7C4F-19AA-BDDF-BEC6-376CC83430D6}"/>
              </a:ext>
            </a:extLst>
          </p:cNvPr>
          <p:cNvSpPr txBox="1"/>
          <p:nvPr/>
        </p:nvSpPr>
        <p:spPr>
          <a:xfrm>
            <a:off x="8021313" y="4311380"/>
            <a:ext cx="439738" cy="184666"/>
          </a:xfrm>
          <a:prstGeom prst="rect">
            <a:avLst/>
          </a:prstGeom>
          <a:solidFill>
            <a:schemeClr val="bg1"/>
          </a:solidFill>
          <a:ln>
            <a:solidFill>
              <a:schemeClr val="tx1"/>
            </a:solidFill>
          </a:ln>
        </p:spPr>
        <p:txBody>
          <a:bodyPr wrap="square" rtlCol="0">
            <a:spAutoFit/>
          </a:bodyPr>
          <a:lstStyle/>
          <a:p>
            <a:pPr algn="ctr"/>
            <a:r>
              <a:rPr lang="sv-SE" sz="600"/>
              <a:t>TIMER6</a:t>
            </a:r>
            <a:endParaRPr lang="LID4096" sz="600" dirty="0"/>
          </a:p>
        </p:txBody>
      </p:sp>
      <p:sp>
        <p:nvSpPr>
          <p:cNvPr id="12" name="TextBox 11">
            <a:extLst>
              <a:ext uri="{FF2B5EF4-FFF2-40B4-BE49-F238E27FC236}">
                <a16:creationId xmlns:a16="http://schemas.microsoft.com/office/drawing/2014/main" id="{C560F2BE-1FFD-14E2-A170-E69197D354DE}"/>
              </a:ext>
            </a:extLst>
          </p:cNvPr>
          <p:cNvSpPr txBox="1"/>
          <p:nvPr/>
        </p:nvSpPr>
        <p:spPr>
          <a:xfrm>
            <a:off x="8021313" y="4558882"/>
            <a:ext cx="439738" cy="184666"/>
          </a:xfrm>
          <a:prstGeom prst="rect">
            <a:avLst/>
          </a:prstGeom>
          <a:solidFill>
            <a:schemeClr val="bg1"/>
          </a:solidFill>
          <a:ln>
            <a:solidFill>
              <a:schemeClr val="tx1"/>
            </a:solidFill>
          </a:ln>
        </p:spPr>
        <p:txBody>
          <a:bodyPr wrap="square" rtlCol="0">
            <a:spAutoFit/>
          </a:bodyPr>
          <a:lstStyle/>
          <a:p>
            <a:pPr algn="ctr"/>
            <a:r>
              <a:rPr lang="sv-SE" sz="600"/>
              <a:t>TIMER7</a:t>
            </a:r>
            <a:endParaRPr lang="LID4096" sz="600" dirty="0"/>
          </a:p>
        </p:txBody>
      </p:sp>
      <p:cxnSp>
        <p:nvCxnSpPr>
          <p:cNvPr id="13" name="Connector: Elbow 12">
            <a:extLst>
              <a:ext uri="{FF2B5EF4-FFF2-40B4-BE49-F238E27FC236}">
                <a16:creationId xmlns:a16="http://schemas.microsoft.com/office/drawing/2014/main" id="{3F53CF1B-5AB3-32E1-42A9-8B47D905CB30}"/>
              </a:ext>
            </a:extLst>
          </p:cNvPr>
          <p:cNvCxnSpPr>
            <a:stCxn id="11" idx="3"/>
          </p:cNvCxnSpPr>
          <p:nvPr/>
        </p:nvCxnSpPr>
        <p:spPr>
          <a:xfrm flipV="1">
            <a:off x="8461051" y="4058501"/>
            <a:ext cx="108258" cy="345212"/>
          </a:xfrm>
          <a:prstGeom prst="bentConnector2">
            <a:avLst/>
          </a:prstGeom>
          <a:ln w="12700">
            <a:solidFill>
              <a:schemeClr val="tx1"/>
            </a:solidFill>
            <a:headEnd type="none" w="med" len="sm"/>
            <a:tailEnd type="triangle" w="med" len="sm"/>
          </a:ln>
        </p:spPr>
        <p:style>
          <a:lnRef idx="2">
            <a:schemeClr val="accent1"/>
          </a:lnRef>
          <a:fillRef idx="0">
            <a:schemeClr val="accent1"/>
          </a:fillRef>
          <a:effectRef idx="1">
            <a:schemeClr val="accent1"/>
          </a:effectRef>
          <a:fontRef idx="minor">
            <a:schemeClr val="tx1"/>
          </a:fontRef>
        </p:style>
      </p:cxnSp>
      <p:cxnSp>
        <p:nvCxnSpPr>
          <p:cNvPr id="14" name="Connector: Elbow 13">
            <a:extLst>
              <a:ext uri="{FF2B5EF4-FFF2-40B4-BE49-F238E27FC236}">
                <a16:creationId xmlns:a16="http://schemas.microsoft.com/office/drawing/2014/main" id="{481D6205-BD48-94E6-D6E0-3576392A2FE2}"/>
              </a:ext>
            </a:extLst>
          </p:cNvPr>
          <p:cNvCxnSpPr>
            <a:cxnSpLocks/>
            <a:stCxn id="12" idx="3"/>
          </p:cNvCxnSpPr>
          <p:nvPr/>
        </p:nvCxnSpPr>
        <p:spPr>
          <a:xfrm flipV="1">
            <a:off x="8461051" y="4058501"/>
            <a:ext cx="179696" cy="592714"/>
          </a:xfrm>
          <a:prstGeom prst="bentConnector2">
            <a:avLst/>
          </a:prstGeom>
          <a:ln w="12700">
            <a:solidFill>
              <a:schemeClr val="tx1"/>
            </a:solidFill>
            <a:tailEnd type="triangle" w="med" len="sm"/>
          </a:ln>
        </p:spPr>
        <p:style>
          <a:lnRef idx="2">
            <a:schemeClr val="accent1"/>
          </a:lnRef>
          <a:fillRef idx="0">
            <a:schemeClr val="accent1"/>
          </a:fillRef>
          <a:effectRef idx="1">
            <a:schemeClr val="accent1"/>
          </a:effectRef>
          <a:fontRef idx="minor">
            <a:schemeClr val="tx1"/>
          </a:fontRef>
        </p:style>
      </p:cxnSp>
      <p:cxnSp>
        <p:nvCxnSpPr>
          <p:cNvPr id="15" name="Connector: Elbow 14">
            <a:extLst>
              <a:ext uri="{FF2B5EF4-FFF2-40B4-BE49-F238E27FC236}">
                <a16:creationId xmlns:a16="http://schemas.microsoft.com/office/drawing/2014/main" id="{0CE8391D-0EA7-8BB8-A2CC-AE090585B3ED}"/>
              </a:ext>
            </a:extLst>
          </p:cNvPr>
          <p:cNvCxnSpPr>
            <a:cxnSpLocks/>
            <a:stCxn id="6" idx="1"/>
          </p:cNvCxnSpPr>
          <p:nvPr/>
        </p:nvCxnSpPr>
        <p:spPr>
          <a:xfrm rot="10800000">
            <a:off x="8716948" y="4060884"/>
            <a:ext cx="311283" cy="751915"/>
          </a:xfrm>
          <a:prstGeom prst="bentConnector2">
            <a:avLst/>
          </a:prstGeom>
          <a:ln w="12700">
            <a:solidFill>
              <a:schemeClr val="tx1"/>
            </a:solidFill>
            <a:tailEnd type="triangle" w="med" len="sm"/>
          </a:ln>
        </p:spPr>
        <p:style>
          <a:lnRef idx="2">
            <a:schemeClr val="accent1"/>
          </a:lnRef>
          <a:fillRef idx="0">
            <a:schemeClr val="accent1"/>
          </a:fillRef>
          <a:effectRef idx="1">
            <a:schemeClr val="accent1"/>
          </a:effectRef>
          <a:fontRef idx="minor">
            <a:schemeClr val="tx1"/>
          </a:fontRef>
        </p:style>
      </p:cxnSp>
      <p:cxnSp>
        <p:nvCxnSpPr>
          <p:cNvPr id="16" name="Connector: Elbow 15">
            <a:extLst>
              <a:ext uri="{FF2B5EF4-FFF2-40B4-BE49-F238E27FC236}">
                <a16:creationId xmlns:a16="http://schemas.microsoft.com/office/drawing/2014/main" id="{E7B71868-AB4F-E53F-17C1-044C6882279A}"/>
              </a:ext>
            </a:extLst>
          </p:cNvPr>
          <p:cNvCxnSpPr>
            <a:cxnSpLocks/>
            <a:stCxn id="9" idx="0"/>
          </p:cNvCxnSpPr>
          <p:nvPr/>
        </p:nvCxnSpPr>
        <p:spPr>
          <a:xfrm rot="10800000">
            <a:off x="8969359" y="4027545"/>
            <a:ext cx="485782" cy="279976"/>
          </a:xfrm>
          <a:prstGeom prst="bentConnector3">
            <a:avLst>
              <a:gd name="adj1" fmla="val 50000"/>
            </a:avLst>
          </a:prstGeom>
          <a:ln w="12700">
            <a:solidFill>
              <a:schemeClr val="tx1"/>
            </a:solidFill>
            <a:tailEnd type="triangle" w="med" len="sm"/>
          </a:ln>
        </p:spPr>
        <p:style>
          <a:lnRef idx="2">
            <a:schemeClr val="accent1"/>
          </a:lnRef>
          <a:fillRef idx="0">
            <a:schemeClr val="accent1"/>
          </a:fillRef>
          <a:effectRef idx="1">
            <a:schemeClr val="accent1"/>
          </a:effectRef>
          <a:fontRef idx="minor">
            <a:schemeClr val="tx1"/>
          </a:fontRef>
        </p:style>
      </p:cxnSp>
      <p:cxnSp>
        <p:nvCxnSpPr>
          <p:cNvPr id="17" name="Connector: Elbow 16">
            <a:extLst>
              <a:ext uri="{FF2B5EF4-FFF2-40B4-BE49-F238E27FC236}">
                <a16:creationId xmlns:a16="http://schemas.microsoft.com/office/drawing/2014/main" id="{92E9D538-FC12-3689-B98F-4D9564644E58}"/>
              </a:ext>
            </a:extLst>
          </p:cNvPr>
          <p:cNvCxnSpPr>
            <a:cxnSpLocks/>
            <a:stCxn id="10" idx="0"/>
            <a:endCxn id="7" idx="3"/>
          </p:cNvCxnSpPr>
          <p:nvPr/>
        </p:nvCxnSpPr>
        <p:spPr>
          <a:xfrm rot="10800000" flipV="1">
            <a:off x="8969097" y="3695031"/>
            <a:ext cx="486044" cy="268779"/>
          </a:xfrm>
          <a:prstGeom prst="bentConnector3">
            <a:avLst>
              <a:gd name="adj1" fmla="val 50000"/>
            </a:avLst>
          </a:prstGeom>
          <a:ln w="12700">
            <a:solidFill>
              <a:schemeClr val="tx1"/>
            </a:solidFill>
            <a:tailEnd type="triangle" w="med" len="sm"/>
          </a:ln>
        </p:spPr>
        <p:style>
          <a:lnRef idx="2">
            <a:schemeClr val="accent1"/>
          </a:lnRef>
          <a:fillRef idx="0">
            <a:schemeClr val="accent1"/>
          </a:fillRef>
          <a:effectRef idx="1">
            <a:schemeClr val="accent1"/>
          </a:effectRef>
          <a:fontRef idx="minor">
            <a:schemeClr val="tx1"/>
          </a:fontRef>
        </p:style>
      </p:cxnSp>
      <p:cxnSp>
        <p:nvCxnSpPr>
          <p:cNvPr id="18" name="Connector: Elbow 17">
            <a:extLst>
              <a:ext uri="{FF2B5EF4-FFF2-40B4-BE49-F238E27FC236}">
                <a16:creationId xmlns:a16="http://schemas.microsoft.com/office/drawing/2014/main" id="{9D36CA67-E90A-63ED-2623-FC9C16401382}"/>
              </a:ext>
            </a:extLst>
          </p:cNvPr>
          <p:cNvCxnSpPr>
            <a:cxnSpLocks/>
            <a:stCxn id="8" idx="2"/>
            <a:endCxn id="7" idx="1"/>
          </p:cNvCxnSpPr>
          <p:nvPr/>
        </p:nvCxnSpPr>
        <p:spPr>
          <a:xfrm>
            <a:off x="8257783" y="3867052"/>
            <a:ext cx="223354" cy="96759"/>
          </a:xfrm>
          <a:prstGeom prst="bentConnector3">
            <a:avLst>
              <a:gd name="adj1" fmla="val 50000"/>
            </a:avLst>
          </a:prstGeom>
          <a:ln w="12700">
            <a:solidFill>
              <a:schemeClr val="tx1"/>
            </a:solidFill>
            <a:headEnd type="none" w="med" len="sm"/>
            <a:tailEnd type="triangle" w="med" len="sm"/>
          </a:ln>
        </p:spPr>
        <p:style>
          <a:lnRef idx="2">
            <a:schemeClr val="accent1"/>
          </a:lnRef>
          <a:fillRef idx="0">
            <a:schemeClr val="accent1"/>
          </a:fillRef>
          <a:effectRef idx="1">
            <a:schemeClr val="accent1"/>
          </a:effectRef>
          <a:fontRef idx="minor">
            <a:schemeClr val="tx1"/>
          </a:fontRef>
        </p:style>
      </p:cxnSp>
      <p:pic>
        <p:nvPicPr>
          <p:cNvPr id="19" name="Picture 18" descr="A close-up of a circuit board&#10;&#10;AI-generated content may be incorrect.">
            <a:extLst>
              <a:ext uri="{FF2B5EF4-FFF2-40B4-BE49-F238E27FC236}">
                <a16:creationId xmlns:a16="http://schemas.microsoft.com/office/drawing/2014/main" id="{055723CA-D5E5-9927-FB1F-74AF55439D84}"/>
              </a:ext>
            </a:extLst>
          </p:cNvPr>
          <p:cNvPicPr>
            <a:picLocks noChangeAspect="1"/>
          </p:cNvPicPr>
          <p:nvPr/>
        </p:nvPicPr>
        <p:blipFill>
          <a:blip r:embed="rId4">
            <a:extLst>
              <a:ext uri="{BEBA8EAE-BF5A-486C-A8C5-ECC9F3942E4B}">
                <a14:imgProps xmlns:a14="http://schemas.microsoft.com/office/drawing/2010/main">
                  <a14:imgLayer r:embed="rId5">
                    <a14:imgEffect>
                      <a14:saturation sat="66000"/>
                    </a14:imgEffect>
                    <a14:imgEffect>
                      <a14:brightnessContrast bright="33000" contrast="-20000"/>
                    </a14:imgEffect>
                  </a14:imgLayer>
                </a14:imgProps>
              </a:ext>
              <a:ext uri="{28A0092B-C50C-407E-A947-70E740481C1C}">
                <a14:useLocalDpi xmlns:a14="http://schemas.microsoft.com/office/drawing/2010/main" val="0"/>
              </a:ext>
            </a:extLst>
          </a:blip>
          <a:stretch>
            <a:fillRect/>
          </a:stretch>
        </p:blipFill>
        <p:spPr>
          <a:xfrm>
            <a:off x="1700300" y="2832242"/>
            <a:ext cx="5236475" cy="2633477"/>
          </a:xfrm>
          <a:prstGeom prst="rect">
            <a:avLst/>
          </a:prstGeom>
        </p:spPr>
      </p:pic>
      <p:sp>
        <p:nvSpPr>
          <p:cNvPr id="20" name="Rectangle 19">
            <a:extLst>
              <a:ext uri="{FF2B5EF4-FFF2-40B4-BE49-F238E27FC236}">
                <a16:creationId xmlns:a16="http://schemas.microsoft.com/office/drawing/2014/main" id="{C703E412-C492-B916-111D-FD3C6948B022}"/>
              </a:ext>
            </a:extLst>
          </p:cNvPr>
          <p:cNvSpPr/>
          <p:nvPr/>
        </p:nvSpPr>
        <p:spPr>
          <a:xfrm>
            <a:off x="4921706" y="3878158"/>
            <a:ext cx="802567" cy="82888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21" name="Straight Connector 20">
            <a:extLst>
              <a:ext uri="{FF2B5EF4-FFF2-40B4-BE49-F238E27FC236}">
                <a16:creationId xmlns:a16="http://schemas.microsoft.com/office/drawing/2014/main" id="{2A9E75EC-77C0-5CB1-3733-24DE44B78301}"/>
              </a:ext>
            </a:extLst>
          </p:cNvPr>
          <p:cNvCxnSpPr/>
          <p:nvPr/>
        </p:nvCxnSpPr>
        <p:spPr>
          <a:xfrm flipV="1">
            <a:off x="4921706" y="2891395"/>
            <a:ext cx="2690572" cy="98676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EE9B5E5-4194-141C-3E65-18FE51270A9A}"/>
              </a:ext>
            </a:extLst>
          </p:cNvPr>
          <p:cNvCxnSpPr>
            <a:cxnSpLocks/>
          </p:cNvCxnSpPr>
          <p:nvPr/>
        </p:nvCxnSpPr>
        <p:spPr>
          <a:xfrm>
            <a:off x="4921706" y="4707038"/>
            <a:ext cx="2690572" cy="67754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23" name="Right Brace 22">
            <a:extLst>
              <a:ext uri="{FF2B5EF4-FFF2-40B4-BE49-F238E27FC236}">
                <a16:creationId xmlns:a16="http://schemas.microsoft.com/office/drawing/2014/main" id="{B94C6562-F017-4E80-0B08-9D8E6A943933}"/>
              </a:ext>
            </a:extLst>
          </p:cNvPr>
          <p:cNvSpPr/>
          <p:nvPr/>
        </p:nvSpPr>
        <p:spPr>
          <a:xfrm rot="5400000">
            <a:off x="2724515" y="5200420"/>
            <a:ext cx="78941" cy="776253"/>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LID4096"/>
          </a:p>
        </p:txBody>
      </p:sp>
      <p:sp>
        <p:nvSpPr>
          <p:cNvPr id="24" name="TextBox 23">
            <a:extLst>
              <a:ext uri="{FF2B5EF4-FFF2-40B4-BE49-F238E27FC236}">
                <a16:creationId xmlns:a16="http://schemas.microsoft.com/office/drawing/2014/main" id="{EC41FCDA-825B-9697-0EF5-38C3EA72013C}"/>
              </a:ext>
            </a:extLst>
          </p:cNvPr>
          <p:cNvSpPr txBox="1"/>
          <p:nvPr/>
        </p:nvSpPr>
        <p:spPr>
          <a:xfrm>
            <a:off x="2375859" y="5588546"/>
            <a:ext cx="795411" cy="246221"/>
          </a:xfrm>
          <a:prstGeom prst="rect">
            <a:avLst/>
          </a:prstGeom>
          <a:noFill/>
        </p:spPr>
        <p:txBody>
          <a:bodyPr wrap="none" rtlCol="0">
            <a:spAutoFit/>
          </a:bodyPr>
          <a:lstStyle/>
          <a:p>
            <a:r>
              <a:rPr lang="en-US" sz="1000" dirty="0"/>
              <a:t>Upper Byte</a:t>
            </a:r>
            <a:endParaRPr lang="LID4096" sz="1000" dirty="0"/>
          </a:p>
        </p:txBody>
      </p:sp>
      <p:sp>
        <p:nvSpPr>
          <p:cNvPr id="25" name="Right Brace 24">
            <a:extLst>
              <a:ext uri="{FF2B5EF4-FFF2-40B4-BE49-F238E27FC236}">
                <a16:creationId xmlns:a16="http://schemas.microsoft.com/office/drawing/2014/main" id="{61A11F2D-E3DB-602A-229F-A8BF812ACFB2}"/>
              </a:ext>
            </a:extLst>
          </p:cNvPr>
          <p:cNvSpPr/>
          <p:nvPr/>
        </p:nvSpPr>
        <p:spPr>
          <a:xfrm rot="5400000">
            <a:off x="3811050" y="5200420"/>
            <a:ext cx="78941" cy="776253"/>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LID4096"/>
          </a:p>
        </p:txBody>
      </p:sp>
      <p:sp>
        <p:nvSpPr>
          <p:cNvPr id="26" name="TextBox 25">
            <a:extLst>
              <a:ext uri="{FF2B5EF4-FFF2-40B4-BE49-F238E27FC236}">
                <a16:creationId xmlns:a16="http://schemas.microsoft.com/office/drawing/2014/main" id="{E4C94806-3C63-DF0F-03D2-CD5062F4F70A}"/>
              </a:ext>
            </a:extLst>
          </p:cNvPr>
          <p:cNvSpPr txBox="1"/>
          <p:nvPr/>
        </p:nvSpPr>
        <p:spPr>
          <a:xfrm>
            <a:off x="3462394" y="5588546"/>
            <a:ext cx="792205" cy="246221"/>
          </a:xfrm>
          <a:prstGeom prst="rect">
            <a:avLst/>
          </a:prstGeom>
          <a:noFill/>
        </p:spPr>
        <p:txBody>
          <a:bodyPr wrap="none" rtlCol="0">
            <a:spAutoFit/>
          </a:bodyPr>
          <a:lstStyle/>
          <a:p>
            <a:r>
              <a:rPr lang="en-US" sz="1000" dirty="0"/>
              <a:t>Lower Byte</a:t>
            </a:r>
            <a:endParaRPr lang="LID4096" sz="1000" dirty="0"/>
          </a:p>
        </p:txBody>
      </p:sp>
      <p:sp>
        <p:nvSpPr>
          <p:cNvPr id="27" name="Right Brace 26">
            <a:extLst>
              <a:ext uri="{FF2B5EF4-FFF2-40B4-BE49-F238E27FC236}">
                <a16:creationId xmlns:a16="http://schemas.microsoft.com/office/drawing/2014/main" id="{4FEB0B31-D627-211D-6E3B-274D99FE1EF7}"/>
              </a:ext>
            </a:extLst>
          </p:cNvPr>
          <p:cNvSpPr/>
          <p:nvPr/>
        </p:nvSpPr>
        <p:spPr>
          <a:xfrm rot="5400000">
            <a:off x="3271125" y="4890764"/>
            <a:ext cx="78941" cy="188800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LID4096"/>
          </a:p>
        </p:txBody>
      </p:sp>
      <p:sp>
        <p:nvSpPr>
          <p:cNvPr id="28" name="TextBox 27">
            <a:extLst>
              <a:ext uri="{FF2B5EF4-FFF2-40B4-BE49-F238E27FC236}">
                <a16:creationId xmlns:a16="http://schemas.microsoft.com/office/drawing/2014/main" id="{47775337-1556-5BCB-117B-4F3A30AFA8EB}"/>
              </a:ext>
            </a:extLst>
          </p:cNvPr>
          <p:cNvSpPr txBox="1"/>
          <p:nvPr/>
        </p:nvSpPr>
        <p:spPr>
          <a:xfrm>
            <a:off x="2773564" y="5874237"/>
            <a:ext cx="1119730" cy="307777"/>
          </a:xfrm>
          <a:prstGeom prst="rect">
            <a:avLst/>
          </a:prstGeom>
          <a:noFill/>
        </p:spPr>
        <p:txBody>
          <a:bodyPr wrap="none" rtlCol="0">
            <a:spAutoFit/>
          </a:bodyPr>
          <a:lstStyle/>
          <a:p>
            <a:r>
              <a:rPr lang="en-US" sz="1400" b="1" dirty="0"/>
              <a:t>GPIO Port E</a:t>
            </a:r>
            <a:endParaRPr lang="LID4096" sz="1400" b="1" dirty="0"/>
          </a:p>
        </p:txBody>
      </p:sp>
      <p:sp>
        <p:nvSpPr>
          <p:cNvPr id="35" name="Right Brace 34">
            <a:extLst>
              <a:ext uri="{FF2B5EF4-FFF2-40B4-BE49-F238E27FC236}">
                <a16:creationId xmlns:a16="http://schemas.microsoft.com/office/drawing/2014/main" id="{50E7DCDC-CD33-B1BC-30D5-E558C15AB3EC}"/>
              </a:ext>
            </a:extLst>
          </p:cNvPr>
          <p:cNvSpPr/>
          <p:nvPr/>
        </p:nvSpPr>
        <p:spPr>
          <a:xfrm rot="16200000">
            <a:off x="4871879" y="1378883"/>
            <a:ext cx="147597" cy="268018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LID4096"/>
          </a:p>
        </p:txBody>
      </p:sp>
      <p:sp>
        <p:nvSpPr>
          <p:cNvPr id="36" name="TextBox 35">
            <a:extLst>
              <a:ext uri="{FF2B5EF4-FFF2-40B4-BE49-F238E27FC236}">
                <a16:creationId xmlns:a16="http://schemas.microsoft.com/office/drawing/2014/main" id="{8365C449-A421-726A-5BB1-75EE89114636}"/>
              </a:ext>
            </a:extLst>
          </p:cNvPr>
          <p:cNvSpPr txBox="1"/>
          <p:nvPr/>
        </p:nvSpPr>
        <p:spPr>
          <a:xfrm>
            <a:off x="3961701" y="2337397"/>
            <a:ext cx="1904945" cy="307777"/>
          </a:xfrm>
          <a:prstGeom prst="rect">
            <a:avLst/>
          </a:prstGeom>
          <a:noFill/>
        </p:spPr>
        <p:txBody>
          <a:bodyPr wrap="none" rtlCol="0">
            <a:spAutoFit/>
          </a:bodyPr>
          <a:lstStyle/>
          <a:p>
            <a:r>
              <a:rPr lang="en-US" sz="1400" b="1"/>
              <a:t>GPIO </a:t>
            </a:r>
            <a:r>
              <a:rPr lang="en-US" sz="1400" b="1" dirty="0"/>
              <a:t>Pins (</a:t>
            </a:r>
            <a:r>
              <a:rPr lang="en-US" sz="1400" b="1"/>
              <a:t>Ports A-C)</a:t>
            </a:r>
            <a:endParaRPr lang="LID4096" sz="1400" b="1" dirty="0"/>
          </a:p>
        </p:txBody>
      </p:sp>
      <p:sp>
        <p:nvSpPr>
          <p:cNvPr id="37" name="Freeform: Shape 36">
            <a:extLst>
              <a:ext uri="{FF2B5EF4-FFF2-40B4-BE49-F238E27FC236}">
                <a16:creationId xmlns:a16="http://schemas.microsoft.com/office/drawing/2014/main" id="{37C084F9-C79A-2AA4-EEE3-11D7839AF841}"/>
              </a:ext>
            </a:extLst>
          </p:cNvPr>
          <p:cNvSpPr/>
          <p:nvPr/>
        </p:nvSpPr>
        <p:spPr>
          <a:xfrm>
            <a:off x="3709204" y="4539758"/>
            <a:ext cx="1268464" cy="561299"/>
          </a:xfrm>
          <a:custGeom>
            <a:avLst/>
            <a:gdLst>
              <a:gd name="connsiteX0" fmla="*/ 2317750 w 2317750"/>
              <a:gd name="connsiteY0" fmla="*/ 0 h 723900"/>
              <a:gd name="connsiteX1" fmla="*/ 1022350 w 2317750"/>
              <a:gd name="connsiteY1" fmla="*/ 15875 h 723900"/>
              <a:gd name="connsiteX2" fmla="*/ 549275 w 2317750"/>
              <a:gd name="connsiteY2" fmla="*/ 482600 h 723900"/>
              <a:gd name="connsiteX3" fmla="*/ 228600 w 2317750"/>
              <a:gd name="connsiteY3" fmla="*/ 482600 h 723900"/>
              <a:gd name="connsiteX4" fmla="*/ 0 w 2317750"/>
              <a:gd name="connsiteY4" fmla="*/ 723900 h 7239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17750" h="723900">
                <a:moveTo>
                  <a:pt x="2317750" y="0"/>
                </a:moveTo>
                <a:lnTo>
                  <a:pt x="1022350" y="15875"/>
                </a:lnTo>
                <a:lnTo>
                  <a:pt x="549275" y="482600"/>
                </a:lnTo>
                <a:lnTo>
                  <a:pt x="228600" y="482600"/>
                </a:lnTo>
                <a:lnTo>
                  <a:pt x="0" y="723900"/>
                </a:lnTo>
              </a:path>
            </a:pathLst>
          </a:custGeom>
          <a:noFill/>
          <a:ln w="25400">
            <a:solidFill>
              <a:srgbClr val="92D050"/>
            </a:solidFill>
            <a:prstDash val="sysDot"/>
            <a:headEnd type="triangle"/>
          </a:ln>
          <a:effectLst>
            <a:glow rad="635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48" name="Straight Arrow Connector 47">
            <a:extLst>
              <a:ext uri="{FF2B5EF4-FFF2-40B4-BE49-F238E27FC236}">
                <a16:creationId xmlns:a16="http://schemas.microsoft.com/office/drawing/2014/main" id="{029A43E5-7AC8-AFE4-7829-F6FA913D0441}"/>
              </a:ext>
            </a:extLst>
          </p:cNvPr>
          <p:cNvCxnSpPr>
            <a:cxnSpLocks/>
          </p:cNvCxnSpPr>
          <p:nvPr/>
        </p:nvCxnSpPr>
        <p:spPr>
          <a:xfrm>
            <a:off x="7921269" y="4888509"/>
            <a:ext cx="1105152" cy="0"/>
          </a:xfrm>
          <a:prstGeom prst="straightConnector1">
            <a:avLst/>
          </a:prstGeom>
          <a:ln w="25400">
            <a:solidFill>
              <a:srgbClr val="92D050"/>
            </a:solidFill>
            <a:prstDash val="sysDash"/>
            <a:tailEnd type="triangle"/>
          </a:ln>
          <a:effectLst>
            <a:glow rad="63500">
              <a:schemeClr val="accent6">
                <a:satMod val="175000"/>
                <a:alpha val="40000"/>
              </a:schemeClr>
            </a:glow>
          </a:effectLst>
        </p:spPr>
        <p:style>
          <a:lnRef idx="2">
            <a:schemeClr val="accent1"/>
          </a:lnRef>
          <a:fillRef idx="0">
            <a:schemeClr val="accent1"/>
          </a:fillRef>
          <a:effectRef idx="1">
            <a:schemeClr val="accent1"/>
          </a:effectRef>
          <a:fontRef idx="minor">
            <a:schemeClr val="tx1"/>
          </a:fontRef>
        </p:style>
      </p:cxnSp>
      <p:cxnSp>
        <p:nvCxnSpPr>
          <p:cNvPr id="50" name="Connector: Elbow 49">
            <a:extLst>
              <a:ext uri="{FF2B5EF4-FFF2-40B4-BE49-F238E27FC236}">
                <a16:creationId xmlns:a16="http://schemas.microsoft.com/office/drawing/2014/main" id="{B002FB85-D916-C234-9292-0D6BF1615C2A}"/>
              </a:ext>
            </a:extLst>
          </p:cNvPr>
          <p:cNvCxnSpPr>
            <a:cxnSpLocks/>
          </p:cNvCxnSpPr>
          <p:nvPr/>
        </p:nvCxnSpPr>
        <p:spPr>
          <a:xfrm rot="10800000">
            <a:off x="8719211" y="4060822"/>
            <a:ext cx="311283" cy="751915"/>
          </a:xfrm>
          <a:prstGeom prst="bentConnector2">
            <a:avLst/>
          </a:prstGeom>
          <a:ln w="25400">
            <a:solidFill>
              <a:srgbClr val="92D050"/>
            </a:solidFill>
            <a:prstDash val="sysDot"/>
            <a:tailEnd type="triangle" w="med" len="sm"/>
          </a:ln>
          <a:effectLst>
            <a:glow rad="63500">
              <a:schemeClr val="accent6">
                <a:satMod val="175000"/>
                <a:alpha val="40000"/>
              </a:schemeClr>
            </a:glow>
          </a:effectLst>
        </p:spPr>
        <p:style>
          <a:lnRef idx="2">
            <a:schemeClr val="accent1"/>
          </a:lnRef>
          <a:fillRef idx="0">
            <a:schemeClr val="accent1"/>
          </a:fillRef>
          <a:effectRef idx="1">
            <a:schemeClr val="accent1"/>
          </a:effectRef>
          <a:fontRef idx="minor">
            <a:schemeClr val="tx1"/>
          </a:fontRef>
        </p:style>
      </p:cxnSp>
      <p:grpSp>
        <p:nvGrpSpPr>
          <p:cNvPr id="70" name="Group 69">
            <a:extLst>
              <a:ext uri="{FF2B5EF4-FFF2-40B4-BE49-F238E27FC236}">
                <a16:creationId xmlns:a16="http://schemas.microsoft.com/office/drawing/2014/main" id="{079292FD-6261-89AB-8BBA-4F56E8138606}"/>
              </a:ext>
            </a:extLst>
          </p:cNvPr>
          <p:cNvGrpSpPr/>
          <p:nvPr/>
        </p:nvGrpSpPr>
        <p:grpSpPr>
          <a:xfrm>
            <a:off x="3501989" y="5101057"/>
            <a:ext cx="2044024" cy="1599086"/>
            <a:chOff x="3166980" y="1392353"/>
            <a:chExt cx="5678825" cy="4442670"/>
          </a:xfrm>
        </p:grpSpPr>
        <p:sp>
          <p:nvSpPr>
            <p:cNvPr id="51" name="Freeform: Shape 50">
              <a:extLst>
                <a:ext uri="{FF2B5EF4-FFF2-40B4-BE49-F238E27FC236}">
                  <a16:creationId xmlns:a16="http://schemas.microsoft.com/office/drawing/2014/main" id="{D30C71DC-928B-6E51-F9F7-8BFB7995DAD2}"/>
                </a:ext>
              </a:extLst>
            </p:cNvPr>
            <p:cNvSpPr/>
            <p:nvPr/>
          </p:nvSpPr>
          <p:spPr>
            <a:xfrm flipH="1">
              <a:off x="8228595" y="5020754"/>
              <a:ext cx="617210" cy="410586"/>
            </a:xfrm>
            <a:custGeom>
              <a:avLst/>
              <a:gdLst>
                <a:gd name="connsiteX0" fmla="*/ 0 w 321468"/>
                <a:gd name="connsiteY0" fmla="*/ 200025 h 200025"/>
                <a:gd name="connsiteX1" fmla="*/ 0 w 321468"/>
                <a:gd name="connsiteY1" fmla="*/ 0 h 200025"/>
                <a:gd name="connsiteX2" fmla="*/ 321468 w 321468"/>
                <a:gd name="connsiteY2" fmla="*/ 0 h 200025"/>
                <a:gd name="connsiteX3" fmla="*/ 321468 w 321468"/>
                <a:gd name="connsiteY3" fmla="*/ 61913 h 200025"/>
                <a:gd name="connsiteX4" fmla="*/ 71437 w 321468"/>
                <a:gd name="connsiteY4" fmla="*/ 61913 h 200025"/>
                <a:gd name="connsiteX5" fmla="*/ 71437 w 321468"/>
                <a:gd name="connsiteY5" fmla="*/ 192882 h 200025"/>
                <a:gd name="connsiteX6" fmla="*/ 0 w 321468"/>
                <a:gd name="connsiteY6" fmla="*/ 200025 h 200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21468" h="200025">
                  <a:moveTo>
                    <a:pt x="0" y="200025"/>
                  </a:moveTo>
                  <a:lnTo>
                    <a:pt x="0" y="0"/>
                  </a:lnTo>
                  <a:lnTo>
                    <a:pt x="321468" y="0"/>
                  </a:lnTo>
                  <a:lnTo>
                    <a:pt x="321468" y="61913"/>
                  </a:lnTo>
                  <a:lnTo>
                    <a:pt x="71437" y="61913"/>
                  </a:lnTo>
                  <a:lnTo>
                    <a:pt x="71437" y="192882"/>
                  </a:lnTo>
                  <a:lnTo>
                    <a:pt x="0" y="200025"/>
                  </a:lnTo>
                  <a:close/>
                </a:path>
              </a:pathLst>
            </a:custGeom>
            <a:solidFill>
              <a:sysClr val="window" lastClr="FFFFFF">
                <a:lumMod val="75000"/>
              </a:sysClr>
            </a:solidFill>
            <a:ln w="38100" cap="flat" cmpd="sng" algn="ctr">
              <a:solidFill>
                <a:srgbClr val="4472C4">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52" name="Freeform: Shape 51">
              <a:extLst>
                <a:ext uri="{FF2B5EF4-FFF2-40B4-BE49-F238E27FC236}">
                  <a16:creationId xmlns:a16="http://schemas.microsoft.com/office/drawing/2014/main" id="{42211029-75E7-DB39-797E-DBE44C99B802}"/>
                </a:ext>
              </a:extLst>
            </p:cNvPr>
            <p:cNvSpPr/>
            <p:nvPr/>
          </p:nvSpPr>
          <p:spPr>
            <a:xfrm>
              <a:off x="7282167" y="5023187"/>
              <a:ext cx="659869" cy="410586"/>
            </a:xfrm>
            <a:custGeom>
              <a:avLst/>
              <a:gdLst>
                <a:gd name="connsiteX0" fmla="*/ 0 w 321468"/>
                <a:gd name="connsiteY0" fmla="*/ 200025 h 200025"/>
                <a:gd name="connsiteX1" fmla="*/ 0 w 321468"/>
                <a:gd name="connsiteY1" fmla="*/ 0 h 200025"/>
                <a:gd name="connsiteX2" fmla="*/ 321468 w 321468"/>
                <a:gd name="connsiteY2" fmla="*/ 0 h 200025"/>
                <a:gd name="connsiteX3" fmla="*/ 321468 w 321468"/>
                <a:gd name="connsiteY3" fmla="*/ 61913 h 200025"/>
                <a:gd name="connsiteX4" fmla="*/ 71437 w 321468"/>
                <a:gd name="connsiteY4" fmla="*/ 61913 h 200025"/>
                <a:gd name="connsiteX5" fmla="*/ 71437 w 321468"/>
                <a:gd name="connsiteY5" fmla="*/ 192882 h 200025"/>
                <a:gd name="connsiteX6" fmla="*/ 0 w 321468"/>
                <a:gd name="connsiteY6" fmla="*/ 200025 h 200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21468" h="200025">
                  <a:moveTo>
                    <a:pt x="0" y="200025"/>
                  </a:moveTo>
                  <a:lnTo>
                    <a:pt x="0" y="0"/>
                  </a:lnTo>
                  <a:lnTo>
                    <a:pt x="321468" y="0"/>
                  </a:lnTo>
                  <a:lnTo>
                    <a:pt x="321468" y="61913"/>
                  </a:lnTo>
                  <a:lnTo>
                    <a:pt x="71437" y="61913"/>
                  </a:lnTo>
                  <a:lnTo>
                    <a:pt x="71437" y="192882"/>
                  </a:lnTo>
                  <a:lnTo>
                    <a:pt x="0" y="200025"/>
                  </a:lnTo>
                  <a:close/>
                </a:path>
              </a:pathLst>
            </a:custGeom>
            <a:solidFill>
              <a:sysClr val="window" lastClr="FFFFFF">
                <a:lumMod val="75000"/>
              </a:sysClr>
            </a:solidFill>
            <a:ln w="38100" cap="flat" cmpd="sng" algn="ctr">
              <a:solidFill>
                <a:srgbClr val="4472C4">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53" name="Rectangle 52">
              <a:extLst>
                <a:ext uri="{FF2B5EF4-FFF2-40B4-BE49-F238E27FC236}">
                  <a16:creationId xmlns:a16="http://schemas.microsoft.com/office/drawing/2014/main" id="{F779AF19-C7F7-BB2A-3742-674509AE3DA7}"/>
                </a:ext>
              </a:extLst>
            </p:cNvPr>
            <p:cNvSpPr/>
            <p:nvPr/>
          </p:nvSpPr>
          <p:spPr>
            <a:xfrm>
              <a:off x="8038392" y="4540257"/>
              <a:ext cx="93846" cy="565768"/>
            </a:xfrm>
            <a:prstGeom prst="rect">
              <a:avLst/>
            </a:prstGeom>
            <a:solidFill>
              <a:sysClr val="windowText" lastClr="000000">
                <a:lumMod val="65000"/>
                <a:lumOff val="35000"/>
              </a:sysClr>
            </a:solidFill>
            <a:ln w="38100" cap="flat" cmpd="sng" algn="ctr">
              <a:solidFill>
                <a:sysClr val="windowText" lastClr="000000">
                  <a:lumMod val="75000"/>
                  <a:lumOff val="25000"/>
                </a:sys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54" name="Rectangle: Rounded Corners 53">
              <a:extLst>
                <a:ext uri="{FF2B5EF4-FFF2-40B4-BE49-F238E27FC236}">
                  <a16:creationId xmlns:a16="http://schemas.microsoft.com/office/drawing/2014/main" id="{18A551F5-22D7-0E95-D4E9-88D115AD7404}"/>
                </a:ext>
              </a:extLst>
            </p:cNvPr>
            <p:cNvSpPr/>
            <p:nvPr/>
          </p:nvSpPr>
          <p:spPr>
            <a:xfrm>
              <a:off x="7710872" y="3655879"/>
              <a:ext cx="748889" cy="891084"/>
            </a:xfrm>
            <a:prstGeom prst="roundRect">
              <a:avLst/>
            </a:prstGeom>
            <a:solidFill>
              <a:schemeClr val="bg1">
                <a:lumMod val="85000"/>
              </a:schemeClr>
            </a:solidFill>
            <a:ln w="38100" cap="flat" cmpd="sng" algn="ctr">
              <a:solidFill>
                <a:srgbClr val="4472C4">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grpSp>
          <p:nvGrpSpPr>
            <p:cNvPr id="55" name="Group 54">
              <a:extLst>
                <a:ext uri="{FF2B5EF4-FFF2-40B4-BE49-F238E27FC236}">
                  <a16:creationId xmlns:a16="http://schemas.microsoft.com/office/drawing/2014/main" id="{7BBF6CBF-FCAA-95BC-F37D-A2799679701D}"/>
                </a:ext>
              </a:extLst>
            </p:cNvPr>
            <p:cNvGrpSpPr/>
            <p:nvPr/>
          </p:nvGrpSpPr>
          <p:grpSpPr>
            <a:xfrm>
              <a:off x="7762047" y="4546963"/>
              <a:ext cx="631874" cy="503488"/>
              <a:chOff x="5198211" y="3413816"/>
              <a:chExt cx="307830" cy="260468"/>
            </a:xfrm>
          </p:grpSpPr>
          <p:sp>
            <p:nvSpPr>
              <p:cNvPr id="56" name="Freeform: Shape 55">
                <a:extLst>
                  <a:ext uri="{FF2B5EF4-FFF2-40B4-BE49-F238E27FC236}">
                    <a16:creationId xmlns:a16="http://schemas.microsoft.com/office/drawing/2014/main" id="{93343F6E-A38E-C338-E106-6E3693135586}"/>
                  </a:ext>
                </a:extLst>
              </p:cNvPr>
              <p:cNvSpPr/>
              <p:nvPr/>
            </p:nvSpPr>
            <p:spPr>
              <a:xfrm>
                <a:off x="5198211" y="3413816"/>
                <a:ext cx="300686" cy="117593"/>
              </a:xfrm>
              <a:custGeom>
                <a:avLst/>
                <a:gdLst>
                  <a:gd name="connsiteX0" fmla="*/ 157594 w 310623"/>
                  <a:gd name="connsiteY0" fmla="*/ 3666 h 63205"/>
                  <a:gd name="connsiteX1" fmla="*/ 76632 w 310623"/>
                  <a:gd name="connsiteY1" fmla="*/ 3666 h 63205"/>
                  <a:gd name="connsiteX2" fmla="*/ 2813 w 310623"/>
                  <a:gd name="connsiteY2" fmla="*/ 41766 h 63205"/>
                  <a:gd name="connsiteX3" fmla="*/ 179026 w 310623"/>
                  <a:gd name="connsiteY3" fmla="*/ 63197 h 63205"/>
                  <a:gd name="connsiteX4" fmla="*/ 309994 w 310623"/>
                  <a:gd name="connsiteY4" fmla="*/ 44147 h 63205"/>
                  <a:gd name="connsiteX5" fmla="*/ 219507 w 310623"/>
                  <a:gd name="connsiteY5" fmla="*/ 25097 h 63205"/>
                  <a:gd name="connsiteX0" fmla="*/ 159989 w 310637"/>
                  <a:gd name="connsiteY0" fmla="*/ 666 h 74492"/>
                  <a:gd name="connsiteX1" fmla="*/ 76646 w 310637"/>
                  <a:gd name="connsiteY1" fmla="*/ 14953 h 74492"/>
                  <a:gd name="connsiteX2" fmla="*/ 2827 w 310637"/>
                  <a:gd name="connsiteY2" fmla="*/ 53053 h 74492"/>
                  <a:gd name="connsiteX3" fmla="*/ 179040 w 310637"/>
                  <a:gd name="connsiteY3" fmla="*/ 74484 h 74492"/>
                  <a:gd name="connsiteX4" fmla="*/ 310008 w 310637"/>
                  <a:gd name="connsiteY4" fmla="*/ 55434 h 74492"/>
                  <a:gd name="connsiteX5" fmla="*/ 219521 w 310637"/>
                  <a:gd name="connsiteY5" fmla="*/ 36384 h 74492"/>
                  <a:gd name="connsiteX0" fmla="*/ 159989 w 310297"/>
                  <a:gd name="connsiteY0" fmla="*/ 666 h 74492"/>
                  <a:gd name="connsiteX1" fmla="*/ 76646 w 310297"/>
                  <a:gd name="connsiteY1" fmla="*/ 14953 h 74492"/>
                  <a:gd name="connsiteX2" fmla="*/ 2827 w 310297"/>
                  <a:gd name="connsiteY2" fmla="*/ 53053 h 74492"/>
                  <a:gd name="connsiteX3" fmla="*/ 179040 w 310297"/>
                  <a:gd name="connsiteY3" fmla="*/ 74484 h 74492"/>
                  <a:gd name="connsiteX4" fmla="*/ 310008 w 310297"/>
                  <a:gd name="connsiteY4" fmla="*/ 55434 h 74492"/>
                  <a:gd name="connsiteX5" fmla="*/ 155228 w 310297"/>
                  <a:gd name="connsiteY5" fmla="*/ 31621 h 74492"/>
                  <a:gd name="connsiteX0" fmla="*/ 159989 w 310598"/>
                  <a:gd name="connsiteY0" fmla="*/ 666 h 74492"/>
                  <a:gd name="connsiteX1" fmla="*/ 76646 w 310598"/>
                  <a:gd name="connsiteY1" fmla="*/ 14953 h 74492"/>
                  <a:gd name="connsiteX2" fmla="*/ 2827 w 310598"/>
                  <a:gd name="connsiteY2" fmla="*/ 53053 h 74492"/>
                  <a:gd name="connsiteX3" fmla="*/ 179040 w 310598"/>
                  <a:gd name="connsiteY3" fmla="*/ 74484 h 74492"/>
                  <a:gd name="connsiteX4" fmla="*/ 310008 w 310598"/>
                  <a:gd name="connsiteY4" fmla="*/ 55434 h 74492"/>
                  <a:gd name="connsiteX5" fmla="*/ 155228 w 310598"/>
                  <a:gd name="connsiteY5" fmla="*/ 31621 h 74492"/>
                  <a:gd name="connsiteX0" fmla="*/ 162970 w 313579"/>
                  <a:gd name="connsiteY0" fmla="*/ 830 h 74656"/>
                  <a:gd name="connsiteX1" fmla="*/ 53433 w 313579"/>
                  <a:gd name="connsiteY1" fmla="*/ 12736 h 74656"/>
                  <a:gd name="connsiteX2" fmla="*/ 5808 w 313579"/>
                  <a:gd name="connsiteY2" fmla="*/ 53217 h 74656"/>
                  <a:gd name="connsiteX3" fmla="*/ 182021 w 313579"/>
                  <a:gd name="connsiteY3" fmla="*/ 74648 h 74656"/>
                  <a:gd name="connsiteX4" fmla="*/ 312989 w 313579"/>
                  <a:gd name="connsiteY4" fmla="*/ 55598 h 74656"/>
                  <a:gd name="connsiteX5" fmla="*/ 158209 w 313579"/>
                  <a:gd name="connsiteY5" fmla="*/ 31785 h 74656"/>
                  <a:gd name="connsiteX0" fmla="*/ 145931 w 296540"/>
                  <a:gd name="connsiteY0" fmla="*/ 1014 h 75464"/>
                  <a:gd name="connsiteX1" fmla="*/ 36394 w 296540"/>
                  <a:gd name="connsiteY1" fmla="*/ 12920 h 75464"/>
                  <a:gd name="connsiteX2" fmla="*/ 7819 w 296540"/>
                  <a:gd name="connsiteY2" fmla="*/ 65307 h 75464"/>
                  <a:gd name="connsiteX3" fmla="*/ 164982 w 296540"/>
                  <a:gd name="connsiteY3" fmla="*/ 74832 h 75464"/>
                  <a:gd name="connsiteX4" fmla="*/ 295950 w 296540"/>
                  <a:gd name="connsiteY4" fmla="*/ 55782 h 75464"/>
                  <a:gd name="connsiteX5" fmla="*/ 141170 w 296540"/>
                  <a:gd name="connsiteY5" fmla="*/ 31969 h 75464"/>
                  <a:gd name="connsiteX0" fmla="*/ 150077 w 300686"/>
                  <a:gd name="connsiteY0" fmla="*/ 897 h 74731"/>
                  <a:gd name="connsiteX1" fmla="*/ 40540 w 300686"/>
                  <a:gd name="connsiteY1" fmla="*/ 12803 h 74731"/>
                  <a:gd name="connsiteX2" fmla="*/ 7202 w 300686"/>
                  <a:gd name="connsiteY2" fmla="*/ 58047 h 74731"/>
                  <a:gd name="connsiteX3" fmla="*/ 169128 w 300686"/>
                  <a:gd name="connsiteY3" fmla="*/ 74715 h 74731"/>
                  <a:gd name="connsiteX4" fmla="*/ 300096 w 300686"/>
                  <a:gd name="connsiteY4" fmla="*/ 55665 h 74731"/>
                  <a:gd name="connsiteX5" fmla="*/ 145316 w 300686"/>
                  <a:gd name="connsiteY5" fmla="*/ 31852 h 74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0686" h="74731">
                    <a:moveTo>
                      <a:pt x="150077" y="897"/>
                    </a:moveTo>
                    <a:cubicBezTo>
                      <a:pt x="122494" y="-2278"/>
                      <a:pt x="64353" y="3278"/>
                      <a:pt x="40540" y="12803"/>
                    </a:cubicBezTo>
                    <a:cubicBezTo>
                      <a:pt x="16728" y="22328"/>
                      <a:pt x="-14229" y="47728"/>
                      <a:pt x="7202" y="58047"/>
                    </a:cubicBezTo>
                    <a:cubicBezTo>
                      <a:pt x="28633" y="68366"/>
                      <a:pt x="120312" y="75112"/>
                      <a:pt x="169128" y="74715"/>
                    </a:cubicBezTo>
                    <a:cubicBezTo>
                      <a:pt x="217944" y="74318"/>
                      <a:pt x="293349" y="62015"/>
                      <a:pt x="300096" y="55665"/>
                    </a:cubicBezTo>
                    <a:cubicBezTo>
                      <a:pt x="306843" y="49315"/>
                      <a:pt x="255845" y="23915"/>
                      <a:pt x="145316" y="31852"/>
                    </a:cubicBezTo>
                  </a:path>
                </a:pathLst>
              </a:custGeom>
              <a:noFill/>
              <a:ln w="38100" cap="flat" cmpd="sng" algn="ctr">
                <a:solidFill>
                  <a:srgbClr val="4472C4">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57" name="Freeform: Shape 56">
                <a:extLst>
                  <a:ext uri="{FF2B5EF4-FFF2-40B4-BE49-F238E27FC236}">
                    <a16:creationId xmlns:a16="http://schemas.microsoft.com/office/drawing/2014/main" id="{894530A5-5A2E-D66D-5B60-C2CD8C3698B0}"/>
                  </a:ext>
                </a:extLst>
              </p:cNvPr>
              <p:cNvSpPr/>
              <p:nvPr/>
            </p:nvSpPr>
            <p:spPr>
              <a:xfrm>
                <a:off x="5205355" y="3461441"/>
                <a:ext cx="300686" cy="117593"/>
              </a:xfrm>
              <a:custGeom>
                <a:avLst/>
                <a:gdLst>
                  <a:gd name="connsiteX0" fmla="*/ 157594 w 310623"/>
                  <a:gd name="connsiteY0" fmla="*/ 3666 h 63205"/>
                  <a:gd name="connsiteX1" fmla="*/ 76632 w 310623"/>
                  <a:gd name="connsiteY1" fmla="*/ 3666 h 63205"/>
                  <a:gd name="connsiteX2" fmla="*/ 2813 w 310623"/>
                  <a:gd name="connsiteY2" fmla="*/ 41766 h 63205"/>
                  <a:gd name="connsiteX3" fmla="*/ 179026 w 310623"/>
                  <a:gd name="connsiteY3" fmla="*/ 63197 h 63205"/>
                  <a:gd name="connsiteX4" fmla="*/ 309994 w 310623"/>
                  <a:gd name="connsiteY4" fmla="*/ 44147 h 63205"/>
                  <a:gd name="connsiteX5" fmla="*/ 219507 w 310623"/>
                  <a:gd name="connsiteY5" fmla="*/ 25097 h 63205"/>
                  <a:gd name="connsiteX0" fmla="*/ 159989 w 310637"/>
                  <a:gd name="connsiteY0" fmla="*/ 666 h 74492"/>
                  <a:gd name="connsiteX1" fmla="*/ 76646 w 310637"/>
                  <a:gd name="connsiteY1" fmla="*/ 14953 h 74492"/>
                  <a:gd name="connsiteX2" fmla="*/ 2827 w 310637"/>
                  <a:gd name="connsiteY2" fmla="*/ 53053 h 74492"/>
                  <a:gd name="connsiteX3" fmla="*/ 179040 w 310637"/>
                  <a:gd name="connsiteY3" fmla="*/ 74484 h 74492"/>
                  <a:gd name="connsiteX4" fmla="*/ 310008 w 310637"/>
                  <a:gd name="connsiteY4" fmla="*/ 55434 h 74492"/>
                  <a:gd name="connsiteX5" fmla="*/ 219521 w 310637"/>
                  <a:gd name="connsiteY5" fmla="*/ 36384 h 74492"/>
                  <a:gd name="connsiteX0" fmla="*/ 159989 w 310297"/>
                  <a:gd name="connsiteY0" fmla="*/ 666 h 74492"/>
                  <a:gd name="connsiteX1" fmla="*/ 76646 w 310297"/>
                  <a:gd name="connsiteY1" fmla="*/ 14953 h 74492"/>
                  <a:gd name="connsiteX2" fmla="*/ 2827 w 310297"/>
                  <a:gd name="connsiteY2" fmla="*/ 53053 h 74492"/>
                  <a:gd name="connsiteX3" fmla="*/ 179040 w 310297"/>
                  <a:gd name="connsiteY3" fmla="*/ 74484 h 74492"/>
                  <a:gd name="connsiteX4" fmla="*/ 310008 w 310297"/>
                  <a:gd name="connsiteY4" fmla="*/ 55434 h 74492"/>
                  <a:gd name="connsiteX5" fmla="*/ 155228 w 310297"/>
                  <a:gd name="connsiteY5" fmla="*/ 31621 h 74492"/>
                  <a:gd name="connsiteX0" fmla="*/ 159989 w 310598"/>
                  <a:gd name="connsiteY0" fmla="*/ 666 h 74492"/>
                  <a:gd name="connsiteX1" fmla="*/ 76646 w 310598"/>
                  <a:gd name="connsiteY1" fmla="*/ 14953 h 74492"/>
                  <a:gd name="connsiteX2" fmla="*/ 2827 w 310598"/>
                  <a:gd name="connsiteY2" fmla="*/ 53053 h 74492"/>
                  <a:gd name="connsiteX3" fmla="*/ 179040 w 310598"/>
                  <a:gd name="connsiteY3" fmla="*/ 74484 h 74492"/>
                  <a:gd name="connsiteX4" fmla="*/ 310008 w 310598"/>
                  <a:gd name="connsiteY4" fmla="*/ 55434 h 74492"/>
                  <a:gd name="connsiteX5" fmla="*/ 155228 w 310598"/>
                  <a:gd name="connsiteY5" fmla="*/ 31621 h 74492"/>
                  <a:gd name="connsiteX0" fmla="*/ 162970 w 313579"/>
                  <a:gd name="connsiteY0" fmla="*/ 830 h 74656"/>
                  <a:gd name="connsiteX1" fmla="*/ 53433 w 313579"/>
                  <a:gd name="connsiteY1" fmla="*/ 12736 h 74656"/>
                  <a:gd name="connsiteX2" fmla="*/ 5808 w 313579"/>
                  <a:gd name="connsiteY2" fmla="*/ 53217 h 74656"/>
                  <a:gd name="connsiteX3" fmla="*/ 182021 w 313579"/>
                  <a:gd name="connsiteY3" fmla="*/ 74648 h 74656"/>
                  <a:gd name="connsiteX4" fmla="*/ 312989 w 313579"/>
                  <a:gd name="connsiteY4" fmla="*/ 55598 h 74656"/>
                  <a:gd name="connsiteX5" fmla="*/ 158209 w 313579"/>
                  <a:gd name="connsiteY5" fmla="*/ 31785 h 74656"/>
                  <a:gd name="connsiteX0" fmla="*/ 145931 w 296540"/>
                  <a:gd name="connsiteY0" fmla="*/ 1014 h 75464"/>
                  <a:gd name="connsiteX1" fmla="*/ 36394 w 296540"/>
                  <a:gd name="connsiteY1" fmla="*/ 12920 h 75464"/>
                  <a:gd name="connsiteX2" fmla="*/ 7819 w 296540"/>
                  <a:gd name="connsiteY2" fmla="*/ 65307 h 75464"/>
                  <a:gd name="connsiteX3" fmla="*/ 164982 w 296540"/>
                  <a:gd name="connsiteY3" fmla="*/ 74832 h 75464"/>
                  <a:gd name="connsiteX4" fmla="*/ 295950 w 296540"/>
                  <a:gd name="connsiteY4" fmla="*/ 55782 h 75464"/>
                  <a:gd name="connsiteX5" fmla="*/ 141170 w 296540"/>
                  <a:gd name="connsiteY5" fmla="*/ 31969 h 75464"/>
                  <a:gd name="connsiteX0" fmla="*/ 150077 w 300686"/>
                  <a:gd name="connsiteY0" fmla="*/ 897 h 74731"/>
                  <a:gd name="connsiteX1" fmla="*/ 40540 w 300686"/>
                  <a:gd name="connsiteY1" fmla="*/ 12803 h 74731"/>
                  <a:gd name="connsiteX2" fmla="*/ 7202 w 300686"/>
                  <a:gd name="connsiteY2" fmla="*/ 58047 h 74731"/>
                  <a:gd name="connsiteX3" fmla="*/ 169128 w 300686"/>
                  <a:gd name="connsiteY3" fmla="*/ 74715 h 74731"/>
                  <a:gd name="connsiteX4" fmla="*/ 300096 w 300686"/>
                  <a:gd name="connsiteY4" fmla="*/ 55665 h 74731"/>
                  <a:gd name="connsiteX5" fmla="*/ 145316 w 300686"/>
                  <a:gd name="connsiteY5" fmla="*/ 31852 h 74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0686" h="74731">
                    <a:moveTo>
                      <a:pt x="150077" y="897"/>
                    </a:moveTo>
                    <a:cubicBezTo>
                      <a:pt x="122494" y="-2278"/>
                      <a:pt x="64353" y="3278"/>
                      <a:pt x="40540" y="12803"/>
                    </a:cubicBezTo>
                    <a:cubicBezTo>
                      <a:pt x="16728" y="22328"/>
                      <a:pt x="-14229" y="47728"/>
                      <a:pt x="7202" y="58047"/>
                    </a:cubicBezTo>
                    <a:cubicBezTo>
                      <a:pt x="28633" y="68366"/>
                      <a:pt x="120312" y="75112"/>
                      <a:pt x="169128" y="74715"/>
                    </a:cubicBezTo>
                    <a:cubicBezTo>
                      <a:pt x="217944" y="74318"/>
                      <a:pt x="293349" y="62015"/>
                      <a:pt x="300096" y="55665"/>
                    </a:cubicBezTo>
                    <a:cubicBezTo>
                      <a:pt x="306843" y="49315"/>
                      <a:pt x="255845" y="23915"/>
                      <a:pt x="145316" y="31852"/>
                    </a:cubicBezTo>
                  </a:path>
                </a:pathLst>
              </a:custGeom>
              <a:noFill/>
              <a:ln w="38100" cap="flat" cmpd="sng" algn="ctr">
                <a:solidFill>
                  <a:srgbClr val="4472C4">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58" name="Freeform: Shape 57">
                <a:extLst>
                  <a:ext uri="{FF2B5EF4-FFF2-40B4-BE49-F238E27FC236}">
                    <a16:creationId xmlns:a16="http://schemas.microsoft.com/office/drawing/2014/main" id="{C825BCAC-5B11-28DC-655C-DF9883D4C376}"/>
                  </a:ext>
                </a:extLst>
              </p:cNvPr>
              <p:cNvSpPr/>
              <p:nvPr/>
            </p:nvSpPr>
            <p:spPr>
              <a:xfrm>
                <a:off x="5202974" y="3509066"/>
                <a:ext cx="300686" cy="117593"/>
              </a:xfrm>
              <a:custGeom>
                <a:avLst/>
                <a:gdLst>
                  <a:gd name="connsiteX0" fmla="*/ 157594 w 310623"/>
                  <a:gd name="connsiteY0" fmla="*/ 3666 h 63205"/>
                  <a:gd name="connsiteX1" fmla="*/ 76632 w 310623"/>
                  <a:gd name="connsiteY1" fmla="*/ 3666 h 63205"/>
                  <a:gd name="connsiteX2" fmla="*/ 2813 w 310623"/>
                  <a:gd name="connsiteY2" fmla="*/ 41766 h 63205"/>
                  <a:gd name="connsiteX3" fmla="*/ 179026 w 310623"/>
                  <a:gd name="connsiteY3" fmla="*/ 63197 h 63205"/>
                  <a:gd name="connsiteX4" fmla="*/ 309994 w 310623"/>
                  <a:gd name="connsiteY4" fmla="*/ 44147 h 63205"/>
                  <a:gd name="connsiteX5" fmla="*/ 219507 w 310623"/>
                  <a:gd name="connsiteY5" fmla="*/ 25097 h 63205"/>
                  <a:gd name="connsiteX0" fmla="*/ 159989 w 310637"/>
                  <a:gd name="connsiteY0" fmla="*/ 666 h 74492"/>
                  <a:gd name="connsiteX1" fmla="*/ 76646 w 310637"/>
                  <a:gd name="connsiteY1" fmla="*/ 14953 h 74492"/>
                  <a:gd name="connsiteX2" fmla="*/ 2827 w 310637"/>
                  <a:gd name="connsiteY2" fmla="*/ 53053 h 74492"/>
                  <a:gd name="connsiteX3" fmla="*/ 179040 w 310637"/>
                  <a:gd name="connsiteY3" fmla="*/ 74484 h 74492"/>
                  <a:gd name="connsiteX4" fmla="*/ 310008 w 310637"/>
                  <a:gd name="connsiteY4" fmla="*/ 55434 h 74492"/>
                  <a:gd name="connsiteX5" fmla="*/ 219521 w 310637"/>
                  <a:gd name="connsiteY5" fmla="*/ 36384 h 74492"/>
                  <a:gd name="connsiteX0" fmla="*/ 159989 w 310297"/>
                  <a:gd name="connsiteY0" fmla="*/ 666 h 74492"/>
                  <a:gd name="connsiteX1" fmla="*/ 76646 w 310297"/>
                  <a:gd name="connsiteY1" fmla="*/ 14953 h 74492"/>
                  <a:gd name="connsiteX2" fmla="*/ 2827 w 310297"/>
                  <a:gd name="connsiteY2" fmla="*/ 53053 h 74492"/>
                  <a:gd name="connsiteX3" fmla="*/ 179040 w 310297"/>
                  <a:gd name="connsiteY3" fmla="*/ 74484 h 74492"/>
                  <a:gd name="connsiteX4" fmla="*/ 310008 w 310297"/>
                  <a:gd name="connsiteY4" fmla="*/ 55434 h 74492"/>
                  <a:gd name="connsiteX5" fmla="*/ 155228 w 310297"/>
                  <a:gd name="connsiteY5" fmla="*/ 31621 h 74492"/>
                  <a:gd name="connsiteX0" fmla="*/ 159989 w 310598"/>
                  <a:gd name="connsiteY0" fmla="*/ 666 h 74492"/>
                  <a:gd name="connsiteX1" fmla="*/ 76646 w 310598"/>
                  <a:gd name="connsiteY1" fmla="*/ 14953 h 74492"/>
                  <a:gd name="connsiteX2" fmla="*/ 2827 w 310598"/>
                  <a:gd name="connsiteY2" fmla="*/ 53053 h 74492"/>
                  <a:gd name="connsiteX3" fmla="*/ 179040 w 310598"/>
                  <a:gd name="connsiteY3" fmla="*/ 74484 h 74492"/>
                  <a:gd name="connsiteX4" fmla="*/ 310008 w 310598"/>
                  <a:gd name="connsiteY4" fmla="*/ 55434 h 74492"/>
                  <a:gd name="connsiteX5" fmla="*/ 155228 w 310598"/>
                  <a:gd name="connsiteY5" fmla="*/ 31621 h 74492"/>
                  <a:gd name="connsiteX0" fmla="*/ 162970 w 313579"/>
                  <a:gd name="connsiteY0" fmla="*/ 830 h 74656"/>
                  <a:gd name="connsiteX1" fmla="*/ 53433 w 313579"/>
                  <a:gd name="connsiteY1" fmla="*/ 12736 h 74656"/>
                  <a:gd name="connsiteX2" fmla="*/ 5808 w 313579"/>
                  <a:gd name="connsiteY2" fmla="*/ 53217 h 74656"/>
                  <a:gd name="connsiteX3" fmla="*/ 182021 w 313579"/>
                  <a:gd name="connsiteY3" fmla="*/ 74648 h 74656"/>
                  <a:gd name="connsiteX4" fmla="*/ 312989 w 313579"/>
                  <a:gd name="connsiteY4" fmla="*/ 55598 h 74656"/>
                  <a:gd name="connsiteX5" fmla="*/ 158209 w 313579"/>
                  <a:gd name="connsiteY5" fmla="*/ 31785 h 74656"/>
                  <a:gd name="connsiteX0" fmla="*/ 145931 w 296540"/>
                  <a:gd name="connsiteY0" fmla="*/ 1014 h 75464"/>
                  <a:gd name="connsiteX1" fmla="*/ 36394 w 296540"/>
                  <a:gd name="connsiteY1" fmla="*/ 12920 h 75464"/>
                  <a:gd name="connsiteX2" fmla="*/ 7819 w 296540"/>
                  <a:gd name="connsiteY2" fmla="*/ 65307 h 75464"/>
                  <a:gd name="connsiteX3" fmla="*/ 164982 w 296540"/>
                  <a:gd name="connsiteY3" fmla="*/ 74832 h 75464"/>
                  <a:gd name="connsiteX4" fmla="*/ 295950 w 296540"/>
                  <a:gd name="connsiteY4" fmla="*/ 55782 h 75464"/>
                  <a:gd name="connsiteX5" fmla="*/ 141170 w 296540"/>
                  <a:gd name="connsiteY5" fmla="*/ 31969 h 75464"/>
                  <a:gd name="connsiteX0" fmla="*/ 150077 w 300686"/>
                  <a:gd name="connsiteY0" fmla="*/ 897 h 74731"/>
                  <a:gd name="connsiteX1" fmla="*/ 40540 w 300686"/>
                  <a:gd name="connsiteY1" fmla="*/ 12803 h 74731"/>
                  <a:gd name="connsiteX2" fmla="*/ 7202 w 300686"/>
                  <a:gd name="connsiteY2" fmla="*/ 58047 h 74731"/>
                  <a:gd name="connsiteX3" fmla="*/ 169128 w 300686"/>
                  <a:gd name="connsiteY3" fmla="*/ 74715 h 74731"/>
                  <a:gd name="connsiteX4" fmla="*/ 300096 w 300686"/>
                  <a:gd name="connsiteY4" fmla="*/ 55665 h 74731"/>
                  <a:gd name="connsiteX5" fmla="*/ 145316 w 300686"/>
                  <a:gd name="connsiteY5" fmla="*/ 31852 h 74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0686" h="74731">
                    <a:moveTo>
                      <a:pt x="150077" y="897"/>
                    </a:moveTo>
                    <a:cubicBezTo>
                      <a:pt x="122494" y="-2278"/>
                      <a:pt x="64353" y="3278"/>
                      <a:pt x="40540" y="12803"/>
                    </a:cubicBezTo>
                    <a:cubicBezTo>
                      <a:pt x="16728" y="22328"/>
                      <a:pt x="-14229" y="47728"/>
                      <a:pt x="7202" y="58047"/>
                    </a:cubicBezTo>
                    <a:cubicBezTo>
                      <a:pt x="28633" y="68366"/>
                      <a:pt x="120312" y="75112"/>
                      <a:pt x="169128" y="74715"/>
                    </a:cubicBezTo>
                    <a:cubicBezTo>
                      <a:pt x="217944" y="74318"/>
                      <a:pt x="293349" y="62015"/>
                      <a:pt x="300096" y="55665"/>
                    </a:cubicBezTo>
                    <a:cubicBezTo>
                      <a:pt x="306843" y="49315"/>
                      <a:pt x="255845" y="23915"/>
                      <a:pt x="145316" y="31852"/>
                    </a:cubicBezTo>
                  </a:path>
                </a:pathLst>
              </a:custGeom>
              <a:noFill/>
              <a:ln w="38100" cap="flat" cmpd="sng" algn="ctr">
                <a:solidFill>
                  <a:srgbClr val="4472C4">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59" name="Freeform: Shape 58">
                <a:extLst>
                  <a:ext uri="{FF2B5EF4-FFF2-40B4-BE49-F238E27FC236}">
                    <a16:creationId xmlns:a16="http://schemas.microsoft.com/office/drawing/2014/main" id="{74DDC678-CFA1-180B-171F-BBB21BB63747}"/>
                  </a:ext>
                </a:extLst>
              </p:cNvPr>
              <p:cNvSpPr/>
              <p:nvPr/>
            </p:nvSpPr>
            <p:spPr>
              <a:xfrm>
                <a:off x="5200593" y="3556691"/>
                <a:ext cx="300686" cy="117593"/>
              </a:xfrm>
              <a:custGeom>
                <a:avLst/>
                <a:gdLst>
                  <a:gd name="connsiteX0" fmla="*/ 157594 w 310623"/>
                  <a:gd name="connsiteY0" fmla="*/ 3666 h 63205"/>
                  <a:gd name="connsiteX1" fmla="*/ 76632 w 310623"/>
                  <a:gd name="connsiteY1" fmla="*/ 3666 h 63205"/>
                  <a:gd name="connsiteX2" fmla="*/ 2813 w 310623"/>
                  <a:gd name="connsiteY2" fmla="*/ 41766 h 63205"/>
                  <a:gd name="connsiteX3" fmla="*/ 179026 w 310623"/>
                  <a:gd name="connsiteY3" fmla="*/ 63197 h 63205"/>
                  <a:gd name="connsiteX4" fmla="*/ 309994 w 310623"/>
                  <a:gd name="connsiteY4" fmla="*/ 44147 h 63205"/>
                  <a:gd name="connsiteX5" fmla="*/ 219507 w 310623"/>
                  <a:gd name="connsiteY5" fmla="*/ 25097 h 63205"/>
                  <a:gd name="connsiteX0" fmla="*/ 159989 w 310637"/>
                  <a:gd name="connsiteY0" fmla="*/ 666 h 74492"/>
                  <a:gd name="connsiteX1" fmla="*/ 76646 w 310637"/>
                  <a:gd name="connsiteY1" fmla="*/ 14953 h 74492"/>
                  <a:gd name="connsiteX2" fmla="*/ 2827 w 310637"/>
                  <a:gd name="connsiteY2" fmla="*/ 53053 h 74492"/>
                  <a:gd name="connsiteX3" fmla="*/ 179040 w 310637"/>
                  <a:gd name="connsiteY3" fmla="*/ 74484 h 74492"/>
                  <a:gd name="connsiteX4" fmla="*/ 310008 w 310637"/>
                  <a:gd name="connsiteY4" fmla="*/ 55434 h 74492"/>
                  <a:gd name="connsiteX5" fmla="*/ 219521 w 310637"/>
                  <a:gd name="connsiteY5" fmla="*/ 36384 h 74492"/>
                  <a:gd name="connsiteX0" fmla="*/ 159989 w 310297"/>
                  <a:gd name="connsiteY0" fmla="*/ 666 h 74492"/>
                  <a:gd name="connsiteX1" fmla="*/ 76646 w 310297"/>
                  <a:gd name="connsiteY1" fmla="*/ 14953 h 74492"/>
                  <a:gd name="connsiteX2" fmla="*/ 2827 w 310297"/>
                  <a:gd name="connsiteY2" fmla="*/ 53053 h 74492"/>
                  <a:gd name="connsiteX3" fmla="*/ 179040 w 310297"/>
                  <a:gd name="connsiteY3" fmla="*/ 74484 h 74492"/>
                  <a:gd name="connsiteX4" fmla="*/ 310008 w 310297"/>
                  <a:gd name="connsiteY4" fmla="*/ 55434 h 74492"/>
                  <a:gd name="connsiteX5" fmla="*/ 155228 w 310297"/>
                  <a:gd name="connsiteY5" fmla="*/ 31621 h 74492"/>
                  <a:gd name="connsiteX0" fmla="*/ 159989 w 310598"/>
                  <a:gd name="connsiteY0" fmla="*/ 666 h 74492"/>
                  <a:gd name="connsiteX1" fmla="*/ 76646 w 310598"/>
                  <a:gd name="connsiteY1" fmla="*/ 14953 h 74492"/>
                  <a:gd name="connsiteX2" fmla="*/ 2827 w 310598"/>
                  <a:gd name="connsiteY2" fmla="*/ 53053 h 74492"/>
                  <a:gd name="connsiteX3" fmla="*/ 179040 w 310598"/>
                  <a:gd name="connsiteY3" fmla="*/ 74484 h 74492"/>
                  <a:gd name="connsiteX4" fmla="*/ 310008 w 310598"/>
                  <a:gd name="connsiteY4" fmla="*/ 55434 h 74492"/>
                  <a:gd name="connsiteX5" fmla="*/ 155228 w 310598"/>
                  <a:gd name="connsiteY5" fmla="*/ 31621 h 74492"/>
                  <a:gd name="connsiteX0" fmla="*/ 162970 w 313579"/>
                  <a:gd name="connsiteY0" fmla="*/ 830 h 74656"/>
                  <a:gd name="connsiteX1" fmla="*/ 53433 w 313579"/>
                  <a:gd name="connsiteY1" fmla="*/ 12736 h 74656"/>
                  <a:gd name="connsiteX2" fmla="*/ 5808 w 313579"/>
                  <a:gd name="connsiteY2" fmla="*/ 53217 h 74656"/>
                  <a:gd name="connsiteX3" fmla="*/ 182021 w 313579"/>
                  <a:gd name="connsiteY3" fmla="*/ 74648 h 74656"/>
                  <a:gd name="connsiteX4" fmla="*/ 312989 w 313579"/>
                  <a:gd name="connsiteY4" fmla="*/ 55598 h 74656"/>
                  <a:gd name="connsiteX5" fmla="*/ 158209 w 313579"/>
                  <a:gd name="connsiteY5" fmla="*/ 31785 h 74656"/>
                  <a:gd name="connsiteX0" fmla="*/ 145931 w 296540"/>
                  <a:gd name="connsiteY0" fmla="*/ 1014 h 75464"/>
                  <a:gd name="connsiteX1" fmla="*/ 36394 w 296540"/>
                  <a:gd name="connsiteY1" fmla="*/ 12920 h 75464"/>
                  <a:gd name="connsiteX2" fmla="*/ 7819 w 296540"/>
                  <a:gd name="connsiteY2" fmla="*/ 65307 h 75464"/>
                  <a:gd name="connsiteX3" fmla="*/ 164982 w 296540"/>
                  <a:gd name="connsiteY3" fmla="*/ 74832 h 75464"/>
                  <a:gd name="connsiteX4" fmla="*/ 295950 w 296540"/>
                  <a:gd name="connsiteY4" fmla="*/ 55782 h 75464"/>
                  <a:gd name="connsiteX5" fmla="*/ 141170 w 296540"/>
                  <a:gd name="connsiteY5" fmla="*/ 31969 h 75464"/>
                  <a:gd name="connsiteX0" fmla="*/ 150077 w 300686"/>
                  <a:gd name="connsiteY0" fmla="*/ 897 h 74731"/>
                  <a:gd name="connsiteX1" fmla="*/ 40540 w 300686"/>
                  <a:gd name="connsiteY1" fmla="*/ 12803 h 74731"/>
                  <a:gd name="connsiteX2" fmla="*/ 7202 w 300686"/>
                  <a:gd name="connsiteY2" fmla="*/ 58047 h 74731"/>
                  <a:gd name="connsiteX3" fmla="*/ 169128 w 300686"/>
                  <a:gd name="connsiteY3" fmla="*/ 74715 h 74731"/>
                  <a:gd name="connsiteX4" fmla="*/ 300096 w 300686"/>
                  <a:gd name="connsiteY4" fmla="*/ 55665 h 74731"/>
                  <a:gd name="connsiteX5" fmla="*/ 145316 w 300686"/>
                  <a:gd name="connsiteY5" fmla="*/ 31852 h 74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0686" h="74731">
                    <a:moveTo>
                      <a:pt x="150077" y="897"/>
                    </a:moveTo>
                    <a:cubicBezTo>
                      <a:pt x="122494" y="-2278"/>
                      <a:pt x="64353" y="3278"/>
                      <a:pt x="40540" y="12803"/>
                    </a:cubicBezTo>
                    <a:cubicBezTo>
                      <a:pt x="16728" y="22328"/>
                      <a:pt x="-14229" y="47728"/>
                      <a:pt x="7202" y="58047"/>
                    </a:cubicBezTo>
                    <a:cubicBezTo>
                      <a:pt x="28633" y="68366"/>
                      <a:pt x="120312" y="75112"/>
                      <a:pt x="169128" y="74715"/>
                    </a:cubicBezTo>
                    <a:cubicBezTo>
                      <a:pt x="217944" y="74318"/>
                      <a:pt x="293349" y="62015"/>
                      <a:pt x="300096" y="55665"/>
                    </a:cubicBezTo>
                    <a:cubicBezTo>
                      <a:pt x="306843" y="49315"/>
                      <a:pt x="255845" y="23915"/>
                      <a:pt x="145316" y="31852"/>
                    </a:cubicBezTo>
                  </a:path>
                </a:pathLst>
              </a:custGeom>
              <a:noFill/>
              <a:ln w="38100" cap="flat" cmpd="sng" algn="ctr">
                <a:solidFill>
                  <a:srgbClr val="4472C4">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grpSp>
        <p:cxnSp>
          <p:nvCxnSpPr>
            <p:cNvPr id="60" name="Straight Connector 59">
              <a:extLst>
                <a:ext uri="{FF2B5EF4-FFF2-40B4-BE49-F238E27FC236}">
                  <a16:creationId xmlns:a16="http://schemas.microsoft.com/office/drawing/2014/main" id="{44B7B16C-8080-E5F5-154C-920F07BD7559}"/>
                </a:ext>
              </a:extLst>
            </p:cNvPr>
            <p:cNvCxnSpPr>
              <a:cxnSpLocks/>
            </p:cNvCxnSpPr>
            <p:nvPr/>
          </p:nvCxnSpPr>
          <p:spPr>
            <a:xfrm flipH="1">
              <a:off x="7859925" y="5524548"/>
              <a:ext cx="268837" cy="112423"/>
            </a:xfrm>
            <a:prstGeom prst="line">
              <a:avLst/>
            </a:prstGeom>
            <a:noFill/>
            <a:ln w="38100" cap="flat" cmpd="sng" algn="ctr">
              <a:solidFill>
                <a:sysClr val="window" lastClr="FFFFFF"/>
              </a:solidFill>
              <a:prstDash val="solid"/>
              <a:miter lim="800000"/>
            </a:ln>
            <a:effectLst/>
          </p:spPr>
        </p:cxnSp>
        <p:cxnSp>
          <p:nvCxnSpPr>
            <p:cNvPr id="61" name="Straight Connector 60">
              <a:extLst>
                <a:ext uri="{FF2B5EF4-FFF2-40B4-BE49-F238E27FC236}">
                  <a16:creationId xmlns:a16="http://schemas.microsoft.com/office/drawing/2014/main" id="{AE91E432-6774-9717-5F6A-E66459A50F45}"/>
                </a:ext>
              </a:extLst>
            </p:cNvPr>
            <p:cNvCxnSpPr>
              <a:cxnSpLocks/>
            </p:cNvCxnSpPr>
            <p:nvPr/>
          </p:nvCxnSpPr>
          <p:spPr>
            <a:xfrm flipH="1">
              <a:off x="7903973" y="5529435"/>
              <a:ext cx="381202" cy="147409"/>
            </a:xfrm>
            <a:prstGeom prst="line">
              <a:avLst/>
            </a:prstGeom>
            <a:noFill/>
            <a:ln w="38100" cap="flat" cmpd="sng" algn="ctr">
              <a:solidFill>
                <a:sysClr val="window" lastClr="FFFFFF"/>
              </a:solidFill>
              <a:prstDash val="solid"/>
              <a:miter lim="800000"/>
            </a:ln>
            <a:effectLst/>
          </p:spPr>
        </p:cxnSp>
        <p:sp>
          <p:nvSpPr>
            <p:cNvPr id="62" name="Freeform: Shape 61">
              <a:extLst>
                <a:ext uri="{FF2B5EF4-FFF2-40B4-BE49-F238E27FC236}">
                  <a16:creationId xmlns:a16="http://schemas.microsoft.com/office/drawing/2014/main" id="{3F4A2134-0B96-60F7-D6F0-4493F2F5C994}"/>
                </a:ext>
              </a:extLst>
            </p:cNvPr>
            <p:cNvSpPr/>
            <p:nvPr/>
          </p:nvSpPr>
          <p:spPr>
            <a:xfrm>
              <a:off x="7807971" y="3741890"/>
              <a:ext cx="140598" cy="381299"/>
            </a:xfrm>
            <a:custGeom>
              <a:avLst/>
              <a:gdLst>
                <a:gd name="connsiteX0" fmla="*/ 140598 w 140598"/>
                <a:gd name="connsiteY0" fmla="*/ 3794 h 381299"/>
                <a:gd name="connsiteX1" fmla="*/ 18957 w 140598"/>
                <a:gd name="connsiteY1" fmla="*/ 54128 h 381299"/>
                <a:gd name="connsiteX2" fmla="*/ 2179 w 140598"/>
                <a:gd name="connsiteY2" fmla="*/ 381299 h 381299"/>
              </a:gdLst>
              <a:ahLst/>
              <a:cxnLst>
                <a:cxn ang="0">
                  <a:pos x="connsiteX0" y="connsiteY0"/>
                </a:cxn>
                <a:cxn ang="0">
                  <a:pos x="connsiteX1" y="connsiteY1"/>
                </a:cxn>
                <a:cxn ang="0">
                  <a:pos x="connsiteX2" y="connsiteY2"/>
                </a:cxn>
              </a:cxnLst>
              <a:rect l="l" t="t" r="r" b="b"/>
              <a:pathLst>
                <a:path w="140598" h="381299">
                  <a:moveTo>
                    <a:pt x="140598" y="3794"/>
                  </a:moveTo>
                  <a:cubicBezTo>
                    <a:pt x="91312" y="-2498"/>
                    <a:pt x="42027" y="-8789"/>
                    <a:pt x="18957" y="54128"/>
                  </a:cubicBezTo>
                  <a:cubicBezTo>
                    <a:pt x="-4113" y="117045"/>
                    <a:pt x="-967" y="249172"/>
                    <a:pt x="2179" y="381299"/>
                  </a:cubicBezTo>
                </a:path>
              </a:pathLst>
            </a:custGeom>
            <a:noFill/>
            <a:ln w="38100" cap="rnd">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63" name="Freeform: Shape 62">
              <a:extLst>
                <a:ext uri="{FF2B5EF4-FFF2-40B4-BE49-F238E27FC236}">
                  <a16:creationId xmlns:a16="http://schemas.microsoft.com/office/drawing/2014/main" id="{E290C3E6-5FC8-079B-5EAD-DE1E644BA47F}"/>
                </a:ext>
              </a:extLst>
            </p:cNvPr>
            <p:cNvSpPr/>
            <p:nvPr/>
          </p:nvSpPr>
          <p:spPr>
            <a:xfrm>
              <a:off x="3166980" y="1654543"/>
              <a:ext cx="4764125" cy="4077727"/>
            </a:xfrm>
            <a:custGeom>
              <a:avLst/>
              <a:gdLst>
                <a:gd name="connsiteX0" fmla="*/ 0 w 5180202"/>
                <a:gd name="connsiteY0" fmla="*/ 0 h 850096"/>
                <a:gd name="connsiteX1" fmla="*/ 1249960 w 5180202"/>
                <a:gd name="connsiteY1" fmla="*/ 826315 h 850096"/>
                <a:gd name="connsiteX2" fmla="*/ 5180202 w 5180202"/>
                <a:gd name="connsiteY2" fmla="*/ 545284 h 850096"/>
                <a:gd name="connsiteX0" fmla="*/ 0 w 5415094"/>
                <a:gd name="connsiteY0" fmla="*/ 0 h 1936470"/>
                <a:gd name="connsiteX1" fmla="*/ 1484852 w 5415094"/>
                <a:gd name="connsiteY1" fmla="*/ 1912689 h 1936470"/>
                <a:gd name="connsiteX2" fmla="*/ 5415094 w 5415094"/>
                <a:gd name="connsiteY2" fmla="*/ 1631658 h 1936470"/>
                <a:gd name="connsiteX0" fmla="*/ 3044 w 5418138"/>
                <a:gd name="connsiteY0" fmla="*/ 0 h 1936470"/>
                <a:gd name="connsiteX1" fmla="*/ 1487896 w 5418138"/>
                <a:gd name="connsiteY1" fmla="*/ 1912689 h 1936470"/>
                <a:gd name="connsiteX2" fmla="*/ 5418138 w 5418138"/>
                <a:gd name="connsiteY2" fmla="*/ 1631658 h 1936470"/>
                <a:gd name="connsiteX0" fmla="*/ 2804 w 5480816"/>
                <a:gd name="connsiteY0" fmla="*/ 0 h 1978415"/>
                <a:gd name="connsiteX1" fmla="*/ 1550574 w 5480816"/>
                <a:gd name="connsiteY1" fmla="*/ 1954634 h 1978415"/>
                <a:gd name="connsiteX2" fmla="*/ 5480816 w 5480816"/>
                <a:gd name="connsiteY2" fmla="*/ 1673603 h 1978415"/>
                <a:gd name="csX0" fmla="*/ 80742 w 4554970"/>
                <a:gd name="csY0" fmla="*/ 0 h 4382536"/>
                <a:gd name="csX1" fmla="*/ 624728 w 4554970"/>
                <a:gd name="csY1" fmla="*/ 4358755 h 4382536"/>
                <a:gd name="csX2" fmla="*/ 4554970 w 4554970"/>
                <a:gd name="csY2" fmla="*/ 4077724 h 4382536"/>
                <a:gd name="csX0" fmla="*/ 835792 w 5310020"/>
                <a:gd name="csY0" fmla="*/ 0 h 4382536"/>
                <a:gd name="csX1" fmla="*/ 1379778 w 5310020"/>
                <a:gd name="csY1" fmla="*/ 4358755 h 4382536"/>
                <a:gd name="csX2" fmla="*/ 5310020 w 5310020"/>
                <a:gd name="csY2" fmla="*/ 4077724 h 4382536"/>
                <a:gd name="csX0" fmla="*/ 0 w 4474228"/>
                <a:gd name="csY0" fmla="*/ 0 h 4077725"/>
                <a:gd name="csX1" fmla="*/ 4474228 w 4474228"/>
                <a:gd name="csY1" fmla="*/ 4077724 h 4077725"/>
                <a:gd name="csX0" fmla="*/ 0 w 4474228"/>
                <a:gd name="csY0" fmla="*/ 0 h 4077725"/>
                <a:gd name="csX1" fmla="*/ 4474228 w 4474228"/>
                <a:gd name="csY1" fmla="*/ 4077724 h 4077725"/>
                <a:gd name="csX0" fmla="*/ 289897 w 4764125"/>
                <a:gd name="csY0" fmla="*/ 0 h 4077725"/>
                <a:gd name="csX1" fmla="*/ 4764125 w 4764125"/>
                <a:gd name="csY1" fmla="*/ 4077724 h 4077725"/>
              </a:gdLst>
              <a:ahLst/>
              <a:cxnLst>
                <a:cxn ang="0">
                  <a:pos x="csX0" y="csY0"/>
                </a:cxn>
                <a:cxn ang="0">
                  <a:pos x="csX1" y="csY1"/>
                </a:cxn>
              </a:cxnLst>
              <a:rect l="l" t="t" r="r" b="b"/>
              <a:pathLst>
                <a:path w="4764125" h="4077725">
                  <a:moveTo>
                    <a:pt x="289897" y="0"/>
                  </a:moveTo>
                  <a:cubicBezTo>
                    <a:pt x="-362577" y="2387810"/>
                    <a:pt x="-308681" y="4069251"/>
                    <a:pt x="4764125" y="4077724"/>
                  </a:cubicBezTo>
                </a:path>
              </a:pathLst>
            </a:custGeom>
            <a:noFill/>
            <a:ln w="381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64" name="Freeform: Shape 63">
              <a:extLst>
                <a:ext uri="{FF2B5EF4-FFF2-40B4-BE49-F238E27FC236}">
                  <a16:creationId xmlns:a16="http://schemas.microsoft.com/office/drawing/2014/main" id="{6062849F-ADF5-9B5E-1292-F8403D0EAB16}"/>
                </a:ext>
              </a:extLst>
            </p:cNvPr>
            <p:cNvSpPr/>
            <p:nvPr/>
          </p:nvSpPr>
          <p:spPr>
            <a:xfrm>
              <a:off x="3714805" y="1392353"/>
              <a:ext cx="4342136" cy="4258251"/>
            </a:xfrm>
            <a:custGeom>
              <a:avLst/>
              <a:gdLst>
                <a:gd name="connsiteX0" fmla="*/ 0 w 5549318"/>
                <a:gd name="connsiteY0" fmla="*/ 178006 h 1556019"/>
                <a:gd name="connsiteX1" fmla="*/ 973123 w 5549318"/>
                <a:gd name="connsiteY1" fmla="*/ 6032 h 1556019"/>
                <a:gd name="connsiteX2" fmla="*/ 2063692 w 5549318"/>
                <a:gd name="connsiteY2" fmla="*/ 370953 h 1556019"/>
                <a:gd name="connsiteX3" fmla="*/ 4467138 w 5549318"/>
                <a:gd name="connsiteY3" fmla="*/ 1524439 h 1556019"/>
                <a:gd name="connsiteX4" fmla="*/ 5549318 w 5549318"/>
                <a:gd name="connsiteY4" fmla="*/ 1117573 h 1556019"/>
                <a:gd name="csX0" fmla="*/ 0 w 5549318"/>
                <a:gd name="csY0" fmla="*/ 1 h 1378014"/>
                <a:gd name="csX1" fmla="*/ 2063692 w 5549318"/>
                <a:gd name="csY1" fmla="*/ 192948 h 1378014"/>
                <a:gd name="csX2" fmla="*/ 4467138 w 5549318"/>
                <a:gd name="csY2" fmla="*/ 1346434 h 1378014"/>
                <a:gd name="csX3" fmla="*/ 5549318 w 5549318"/>
                <a:gd name="csY3" fmla="*/ 939568 h 1378014"/>
                <a:gd name="csX0" fmla="*/ 0 w 4592512"/>
                <a:gd name="csY0" fmla="*/ 0 h 4204562"/>
                <a:gd name="csX1" fmla="*/ 1106886 w 4592512"/>
                <a:gd name="csY1" fmla="*/ 3019496 h 4204562"/>
                <a:gd name="csX2" fmla="*/ 3510332 w 4592512"/>
                <a:gd name="csY2" fmla="*/ 4172982 h 4204562"/>
                <a:gd name="csX3" fmla="*/ 4592512 w 4592512"/>
                <a:gd name="csY3" fmla="*/ 3766116 h 4204562"/>
                <a:gd name="csX0" fmla="*/ 0 w 4592512"/>
                <a:gd name="csY0" fmla="*/ 0 h 4204562"/>
                <a:gd name="csX1" fmla="*/ 530183 w 4592512"/>
                <a:gd name="csY1" fmla="*/ 2982789 h 4204562"/>
                <a:gd name="csX2" fmla="*/ 3510332 w 4592512"/>
                <a:gd name="csY2" fmla="*/ 4172982 h 4204562"/>
                <a:gd name="csX3" fmla="*/ 4592512 w 4592512"/>
                <a:gd name="csY3" fmla="*/ 3766116 h 4204562"/>
              </a:gdLst>
              <a:ahLst/>
              <a:cxnLst>
                <a:cxn ang="0">
                  <a:pos x="csX0" y="csY0"/>
                </a:cxn>
                <a:cxn ang="0">
                  <a:pos x="csX1" y="csY1"/>
                </a:cxn>
                <a:cxn ang="0">
                  <a:pos x="csX2" y="csY2"/>
                </a:cxn>
                <a:cxn ang="0">
                  <a:pos x="csX3" y="csY3"/>
                </a:cxn>
              </a:cxnLst>
              <a:rect l="l" t="t" r="r" b="b"/>
              <a:pathLst>
                <a:path w="4592512" h="4204562">
                  <a:moveTo>
                    <a:pt x="0" y="0"/>
                  </a:moveTo>
                  <a:cubicBezTo>
                    <a:pt x="429936" y="40197"/>
                    <a:pt x="-54872" y="2287292"/>
                    <a:pt x="530183" y="2982789"/>
                  </a:cubicBezTo>
                  <a:cubicBezTo>
                    <a:pt x="1115238" y="3678286"/>
                    <a:pt x="2929394" y="4048545"/>
                    <a:pt x="3510332" y="4172982"/>
                  </a:cubicBezTo>
                  <a:cubicBezTo>
                    <a:pt x="4091270" y="4297419"/>
                    <a:pt x="4341891" y="4031767"/>
                    <a:pt x="4592512" y="3766116"/>
                  </a:cubicBezTo>
                </a:path>
              </a:pathLst>
            </a:cu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67" name="Rectangle: Rounded Corners 66">
              <a:extLst>
                <a:ext uri="{FF2B5EF4-FFF2-40B4-BE49-F238E27FC236}">
                  <a16:creationId xmlns:a16="http://schemas.microsoft.com/office/drawing/2014/main" id="{3D83E73F-4597-74B1-8969-F7EBD1862810}"/>
                </a:ext>
              </a:extLst>
            </p:cNvPr>
            <p:cNvSpPr/>
            <p:nvPr/>
          </p:nvSpPr>
          <p:spPr>
            <a:xfrm>
              <a:off x="7996787" y="5106025"/>
              <a:ext cx="185740" cy="325316"/>
            </a:xfrm>
            <a:prstGeom prst="roundRect">
              <a:avLst/>
            </a:prstGeom>
            <a:solidFill>
              <a:srgbClr val="FFC000">
                <a:lumMod val="40000"/>
                <a:lumOff val="60000"/>
              </a:srgbClr>
            </a:solidFill>
            <a:ln w="38100" cap="flat" cmpd="sng" algn="ctr">
              <a:solidFill>
                <a:srgbClr val="FFC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cxnSp>
          <p:nvCxnSpPr>
            <p:cNvPr id="68" name="Straight Connector 67">
              <a:extLst>
                <a:ext uri="{FF2B5EF4-FFF2-40B4-BE49-F238E27FC236}">
                  <a16:creationId xmlns:a16="http://schemas.microsoft.com/office/drawing/2014/main" id="{DA984F29-8FA9-663F-2E49-F94CC6426714}"/>
                </a:ext>
              </a:extLst>
            </p:cNvPr>
            <p:cNvCxnSpPr>
              <a:cxnSpLocks/>
            </p:cNvCxnSpPr>
            <p:nvPr/>
          </p:nvCxnSpPr>
          <p:spPr>
            <a:xfrm>
              <a:off x="8045665" y="5153066"/>
              <a:ext cx="0" cy="175965"/>
            </a:xfrm>
            <a:prstGeom prst="line">
              <a:avLst/>
            </a:prstGeom>
            <a:noFill/>
            <a:ln w="38100" cap="flat" cmpd="sng" algn="ctr">
              <a:solidFill>
                <a:sysClr val="window" lastClr="FFFFFF"/>
              </a:solidFill>
              <a:prstDash val="solid"/>
              <a:miter lim="800000"/>
            </a:ln>
            <a:effectLst/>
          </p:spPr>
        </p:cxnSp>
        <p:sp>
          <p:nvSpPr>
            <p:cNvPr id="69" name="Freeform: Shape 68">
              <a:extLst>
                <a:ext uri="{FF2B5EF4-FFF2-40B4-BE49-F238E27FC236}">
                  <a16:creationId xmlns:a16="http://schemas.microsoft.com/office/drawing/2014/main" id="{A0821B34-F690-0AC8-E794-5222E332F6C3}"/>
                </a:ext>
              </a:extLst>
            </p:cNvPr>
            <p:cNvSpPr/>
            <p:nvPr/>
          </p:nvSpPr>
          <p:spPr>
            <a:xfrm>
              <a:off x="7710872" y="5590628"/>
              <a:ext cx="816282" cy="244395"/>
            </a:xfrm>
            <a:custGeom>
              <a:avLst/>
              <a:gdLst>
                <a:gd name="connsiteX0" fmla="*/ 328612 w 397668"/>
                <a:gd name="connsiteY0" fmla="*/ 2381 h 119062"/>
                <a:gd name="connsiteX1" fmla="*/ 66675 w 397668"/>
                <a:gd name="connsiteY1" fmla="*/ 0 h 119062"/>
                <a:gd name="connsiteX2" fmla="*/ 0 w 397668"/>
                <a:gd name="connsiteY2" fmla="*/ 119062 h 119062"/>
                <a:gd name="connsiteX3" fmla="*/ 397668 w 397668"/>
                <a:gd name="connsiteY3" fmla="*/ 119062 h 119062"/>
                <a:gd name="connsiteX4" fmla="*/ 328612 w 397668"/>
                <a:gd name="connsiteY4" fmla="*/ 2381 h 1190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7668" h="119062">
                  <a:moveTo>
                    <a:pt x="328612" y="2381"/>
                  </a:moveTo>
                  <a:lnTo>
                    <a:pt x="66675" y="0"/>
                  </a:lnTo>
                  <a:lnTo>
                    <a:pt x="0" y="119062"/>
                  </a:lnTo>
                  <a:lnTo>
                    <a:pt x="397668" y="119062"/>
                  </a:lnTo>
                  <a:lnTo>
                    <a:pt x="328612" y="2381"/>
                  </a:lnTo>
                  <a:close/>
                </a:path>
              </a:pathLst>
            </a:custGeom>
            <a:solidFill>
              <a:srgbClr val="FFC000">
                <a:lumMod val="40000"/>
                <a:lumOff val="60000"/>
              </a:srgbClr>
            </a:solidFill>
            <a:ln w="38100" cap="flat" cmpd="sng" algn="ctr">
              <a:solidFill>
                <a:srgbClr val="FFC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grpSp>
    </p:spTree>
    <p:extLst>
      <p:ext uri="{BB962C8B-B14F-4D97-AF65-F5344CB8AC3E}">
        <p14:creationId xmlns:p14="http://schemas.microsoft.com/office/powerpoint/2010/main" val="1473851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wipe(left)">
                                      <p:cBhvr>
                                        <p:cTn id="7" dur="500"/>
                                        <p:tgtEl>
                                          <p:spTgt spid="3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48"/>
                                        </p:tgtEl>
                                        <p:attrNameLst>
                                          <p:attrName>style.visibility</p:attrName>
                                        </p:attrNameLst>
                                      </p:cBhvr>
                                      <p:to>
                                        <p:strVal val="visible"/>
                                      </p:to>
                                    </p:set>
                                    <p:animEffect transition="in" filter="wipe(left)">
                                      <p:cBhvr>
                                        <p:cTn id="12" dur="500"/>
                                        <p:tgtEl>
                                          <p:spTgt spid="4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50"/>
                                        </p:tgtEl>
                                        <p:attrNameLst>
                                          <p:attrName>style.visibility</p:attrName>
                                        </p:attrNameLst>
                                      </p:cBhvr>
                                      <p:to>
                                        <p:strVal val="visible"/>
                                      </p:to>
                                    </p:set>
                                    <p:animEffect transition="in" filter="wipe(down)">
                                      <p:cBhvr>
                                        <p:cTn id="17"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Rectangle 135">
            <a:extLst>
              <a:ext uri="{FF2B5EF4-FFF2-40B4-BE49-F238E27FC236}">
                <a16:creationId xmlns:a16="http://schemas.microsoft.com/office/drawing/2014/main" id="{99FA8A21-6907-AD2E-C27A-56825E5BF1EE}"/>
              </a:ext>
            </a:extLst>
          </p:cNvPr>
          <p:cNvSpPr/>
          <p:nvPr/>
        </p:nvSpPr>
        <p:spPr>
          <a:xfrm>
            <a:off x="4545237" y="0"/>
            <a:ext cx="7646763" cy="18243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B9CD1B4F-9B9A-7E72-9F45-024DEB9BB66E}"/>
              </a:ext>
            </a:extLst>
          </p:cNvPr>
          <p:cNvSpPr>
            <a:spLocks noGrp="1"/>
          </p:cNvSpPr>
          <p:nvPr>
            <p:ph type="title"/>
          </p:nvPr>
        </p:nvSpPr>
        <p:spPr/>
        <p:txBody>
          <a:bodyPr/>
          <a:lstStyle/>
          <a:p>
            <a:r>
              <a:rPr lang="sv-SE" dirty="0"/>
              <a:t>AFIO_EXTICR</a:t>
            </a:r>
            <a:endParaRPr lang="LID4096" dirty="0"/>
          </a:p>
        </p:txBody>
      </p:sp>
      <p:cxnSp>
        <p:nvCxnSpPr>
          <p:cNvPr id="4" name="Straight Arrow Connector 3">
            <a:extLst>
              <a:ext uri="{FF2B5EF4-FFF2-40B4-BE49-F238E27FC236}">
                <a16:creationId xmlns:a16="http://schemas.microsoft.com/office/drawing/2014/main" id="{D98F524C-4DAE-50B3-A61D-F42846203403}"/>
              </a:ext>
            </a:extLst>
          </p:cNvPr>
          <p:cNvCxnSpPr/>
          <p:nvPr/>
        </p:nvCxnSpPr>
        <p:spPr>
          <a:xfrm flipH="1">
            <a:off x="6560866" y="3560881"/>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5" name="Straight Arrow Connector 4">
            <a:extLst>
              <a:ext uri="{FF2B5EF4-FFF2-40B4-BE49-F238E27FC236}">
                <a16:creationId xmlns:a16="http://schemas.microsoft.com/office/drawing/2014/main" id="{6EE2BFB7-020C-439E-D6F1-F0BDB44603C8}"/>
              </a:ext>
            </a:extLst>
          </p:cNvPr>
          <p:cNvCxnSpPr/>
          <p:nvPr/>
        </p:nvCxnSpPr>
        <p:spPr>
          <a:xfrm flipH="1">
            <a:off x="6560866" y="3712953"/>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 name="Straight Arrow Connector 5">
            <a:extLst>
              <a:ext uri="{FF2B5EF4-FFF2-40B4-BE49-F238E27FC236}">
                <a16:creationId xmlns:a16="http://schemas.microsoft.com/office/drawing/2014/main" id="{76C5005F-BA98-A2EA-A306-61B398BE784D}"/>
              </a:ext>
            </a:extLst>
          </p:cNvPr>
          <p:cNvCxnSpPr/>
          <p:nvPr/>
        </p:nvCxnSpPr>
        <p:spPr>
          <a:xfrm flipH="1">
            <a:off x="6560866" y="3865025"/>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974E0CA1-3B70-D6C2-5BC9-F21FFB7B2633}"/>
              </a:ext>
            </a:extLst>
          </p:cNvPr>
          <p:cNvCxnSpPr/>
          <p:nvPr/>
        </p:nvCxnSpPr>
        <p:spPr>
          <a:xfrm flipH="1">
            <a:off x="6560866" y="4029679"/>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F7714D07-F94A-C0EC-C7A1-D73161ED25E8}"/>
              </a:ext>
            </a:extLst>
          </p:cNvPr>
          <p:cNvCxnSpPr/>
          <p:nvPr/>
        </p:nvCxnSpPr>
        <p:spPr>
          <a:xfrm flipH="1">
            <a:off x="6560866" y="4194333"/>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88B019D1-147C-A281-28C0-AEB3B1411D58}"/>
              </a:ext>
            </a:extLst>
          </p:cNvPr>
          <p:cNvCxnSpPr/>
          <p:nvPr/>
        </p:nvCxnSpPr>
        <p:spPr>
          <a:xfrm flipH="1">
            <a:off x="6560866" y="4358987"/>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D9E3900D-F733-BFBA-EEB5-73DEA01272AD}"/>
              </a:ext>
            </a:extLst>
          </p:cNvPr>
          <p:cNvCxnSpPr/>
          <p:nvPr/>
        </p:nvCxnSpPr>
        <p:spPr>
          <a:xfrm flipH="1">
            <a:off x="6560866" y="4515253"/>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Rectangle 21">
            <a:extLst>
              <a:ext uri="{FF2B5EF4-FFF2-40B4-BE49-F238E27FC236}">
                <a16:creationId xmlns:a16="http://schemas.microsoft.com/office/drawing/2014/main" id="{D7287D8C-FF2C-DF13-FFF2-FA293F052645}"/>
              </a:ext>
            </a:extLst>
          </p:cNvPr>
          <p:cNvSpPr/>
          <p:nvPr/>
        </p:nvSpPr>
        <p:spPr>
          <a:xfrm>
            <a:off x="10824545" y="5970889"/>
            <a:ext cx="863289" cy="639391"/>
          </a:xfrm>
          <a:prstGeom prst="rect">
            <a:avLst/>
          </a:prstGeom>
          <a:solidFill>
            <a:schemeClr val="bg1">
              <a:lumMod val="85000"/>
            </a:schemeClr>
          </a:solidFill>
          <a:ln w="127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3" name="Rectangle 22">
            <a:extLst>
              <a:ext uri="{FF2B5EF4-FFF2-40B4-BE49-F238E27FC236}">
                <a16:creationId xmlns:a16="http://schemas.microsoft.com/office/drawing/2014/main" id="{47FEEA11-8E23-E031-1EC6-7DAD8DC2A9CF}"/>
              </a:ext>
            </a:extLst>
          </p:cNvPr>
          <p:cNvSpPr/>
          <p:nvPr/>
        </p:nvSpPr>
        <p:spPr>
          <a:xfrm>
            <a:off x="10830863" y="2326231"/>
            <a:ext cx="863289" cy="1731698"/>
          </a:xfrm>
          <a:prstGeom prst="rect">
            <a:avLst/>
          </a:prstGeom>
          <a:solidFill>
            <a:schemeClr val="bg1">
              <a:lumMod val="8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4" name="TextBox 23">
            <a:extLst>
              <a:ext uri="{FF2B5EF4-FFF2-40B4-BE49-F238E27FC236}">
                <a16:creationId xmlns:a16="http://schemas.microsoft.com/office/drawing/2014/main" id="{96276176-49BC-F419-1168-97FD3DF03879}"/>
              </a:ext>
            </a:extLst>
          </p:cNvPr>
          <p:cNvSpPr txBox="1"/>
          <p:nvPr/>
        </p:nvSpPr>
        <p:spPr>
          <a:xfrm>
            <a:off x="11296286" y="2619342"/>
            <a:ext cx="397866" cy="215444"/>
          </a:xfrm>
          <a:prstGeom prst="rect">
            <a:avLst/>
          </a:prstGeom>
          <a:noFill/>
          <a:ln>
            <a:noFill/>
          </a:ln>
        </p:spPr>
        <p:txBody>
          <a:bodyPr wrap="none" rtlCol="0">
            <a:spAutoFit/>
          </a:bodyPr>
          <a:lstStyle/>
          <a:p>
            <a:r>
              <a:rPr lang="en-GB" sz="800">
                <a:solidFill>
                  <a:schemeClr val="accent2">
                    <a:lumMod val="75000"/>
                  </a:schemeClr>
                </a:solidFill>
              </a:rPr>
              <a:t>pin 0</a:t>
            </a:r>
          </a:p>
        </p:txBody>
      </p:sp>
      <p:cxnSp>
        <p:nvCxnSpPr>
          <p:cNvPr id="25" name="Straight Connector 24">
            <a:extLst>
              <a:ext uri="{FF2B5EF4-FFF2-40B4-BE49-F238E27FC236}">
                <a16:creationId xmlns:a16="http://schemas.microsoft.com/office/drawing/2014/main" id="{B46E1DED-5169-B13F-D87C-FE68063FCDE9}"/>
              </a:ext>
            </a:extLst>
          </p:cNvPr>
          <p:cNvCxnSpPr>
            <a:cxnSpLocks/>
          </p:cNvCxnSpPr>
          <p:nvPr/>
        </p:nvCxnSpPr>
        <p:spPr>
          <a:xfrm>
            <a:off x="10901174" y="2727066"/>
            <a:ext cx="355269" cy="3727"/>
          </a:xfrm>
          <a:prstGeom prst="line">
            <a:avLst/>
          </a:prstGeom>
          <a:ln>
            <a:solidFill>
              <a:schemeClr val="accent2">
                <a:lumMod val="75000"/>
              </a:schemeClr>
            </a:solidFill>
            <a:prstDash val="dash"/>
          </a:ln>
          <a:effectLst/>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40A4BF04-730C-3688-D35D-8747D843688E}"/>
              </a:ext>
            </a:extLst>
          </p:cNvPr>
          <p:cNvSpPr/>
          <p:nvPr/>
        </p:nvSpPr>
        <p:spPr>
          <a:xfrm>
            <a:off x="11256443" y="2682348"/>
            <a:ext cx="79686" cy="89433"/>
          </a:xfrm>
          <a:prstGeom prst="ellipse">
            <a:avLst/>
          </a:prstGeom>
          <a:noFill/>
          <a:ln>
            <a:solidFill>
              <a:schemeClr val="accent2">
                <a:lumMod val="7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27" name="TextBox 26">
            <a:extLst>
              <a:ext uri="{FF2B5EF4-FFF2-40B4-BE49-F238E27FC236}">
                <a16:creationId xmlns:a16="http://schemas.microsoft.com/office/drawing/2014/main" id="{F2725692-F754-13A3-510A-296CD0EA417D}"/>
              </a:ext>
            </a:extLst>
          </p:cNvPr>
          <p:cNvSpPr txBox="1"/>
          <p:nvPr/>
        </p:nvSpPr>
        <p:spPr>
          <a:xfrm>
            <a:off x="11296286" y="2758567"/>
            <a:ext cx="397866" cy="215444"/>
          </a:xfrm>
          <a:prstGeom prst="rect">
            <a:avLst/>
          </a:prstGeom>
          <a:noFill/>
        </p:spPr>
        <p:txBody>
          <a:bodyPr wrap="none" rtlCol="0">
            <a:spAutoFit/>
          </a:bodyPr>
          <a:lstStyle/>
          <a:p>
            <a:r>
              <a:rPr lang="en-GB" sz="800">
                <a:solidFill>
                  <a:schemeClr val="accent6">
                    <a:lumMod val="75000"/>
                  </a:schemeClr>
                </a:solidFill>
              </a:rPr>
              <a:t>pin 1</a:t>
            </a:r>
          </a:p>
        </p:txBody>
      </p:sp>
      <p:cxnSp>
        <p:nvCxnSpPr>
          <p:cNvPr id="28" name="Straight Connector 27">
            <a:extLst>
              <a:ext uri="{FF2B5EF4-FFF2-40B4-BE49-F238E27FC236}">
                <a16:creationId xmlns:a16="http://schemas.microsoft.com/office/drawing/2014/main" id="{7D64EED3-8C30-E88F-C0F8-8E60FE1F5900}"/>
              </a:ext>
            </a:extLst>
          </p:cNvPr>
          <p:cNvCxnSpPr>
            <a:cxnSpLocks/>
          </p:cNvCxnSpPr>
          <p:nvPr/>
        </p:nvCxnSpPr>
        <p:spPr>
          <a:xfrm>
            <a:off x="10901174" y="2866291"/>
            <a:ext cx="355269" cy="3727"/>
          </a:xfrm>
          <a:prstGeom prst="line">
            <a:avLst/>
          </a:prstGeom>
          <a:ln>
            <a:solidFill>
              <a:schemeClr val="accent6">
                <a:lumMod val="75000"/>
              </a:schemeClr>
            </a:solidFill>
            <a:prstDash val="dash"/>
          </a:ln>
          <a:effectLst/>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993054A2-67F5-E212-DF59-B724427F7689}"/>
              </a:ext>
            </a:extLst>
          </p:cNvPr>
          <p:cNvSpPr/>
          <p:nvPr/>
        </p:nvSpPr>
        <p:spPr>
          <a:xfrm>
            <a:off x="11256443" y="2821573"/>
            <a:ext cx="79686" cy="89433"/>
          </a:xfrm>
          <a:prstGeom prst="ellipse">
            <a:avLst/>
          </a:prstGeom>
          <a:noFill/>
          <a:ln>
            <a:solidFill>
              <a:schemeClr val="accent6">
                <a:lumMod val="7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30" name="TextBox 29">
            <a:extLst>
              <a:ext uri="{FF2B5EF4-FFF2-40B4-BE49-F238E27FC236}">
                <a16:creationId xmlns:a16="http://schemas.microsoft.com/office/drawing/2014/main" id="{BE8D89AD-452B-81E3-EBAA-905E8ACBDA2A}"/>
              </a:ext>
            </a:extLst>
          </p:cNvPr>
          <p:cNvSpPr txBox="1"/>
          <p:nvPr/>
        </p:nvSpPr>
        <p:spPr>
          <a:xfrm>
            <a:off x="11296286" y="2897792"/>
            <a:ext cx="397866" cy="215444"/>
          </a:xfrm>
          <a:prstGeom prst="rect">
            <a:avLst/>
          </a:prstGeom>
          <a:noFill/>
        </p:spPr>
        <p:txBody>
          <a:bodyPr wrap="none" rtlCol="0">
            <a:spAutoFit/>
          </a:bodyPr>
          <a:lstStyle/>
          <a:p>
            <a:r>
              <a:rPr lang="en-GB" sz="800"/>
              <a:t>pin 2</a:t>
            </a:r>
          </a:p>
        </p:txBody>
      </p:sp>
      <p:cxnSp>
        <p:nvCxnSpPr>
          <p:cNvPr id="31" name="Straight Connector 30">
            <a:extLst>
              <a:ext uri="{FF2B5EF4-FFF2-40B4-BE49-F238E27FC236}">
                <a16:creationId xmlns:a16="http://schemas.microsoft.com/office/drawing/2014/main" id="{109CAA38-5498-85D6-A391-9694D1E148B4}"/>
              </a:ext>
            </a:extLst>
          </p:cNvPr>
          <p:cNvCxnSpPr>
            <a:cxnSpLocks/>
          </p:cNvCxnSpPr>
          <p:nvPr/>
        </p:nvCxnSpPr>
        <p:spPr>
          <a:xfrm>
            <a:off x="10901174" y="3005516"/>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32" name="Oval 31">
            <a:extLst>
              <a:ext uri="{FF2B5EF4-FFF2-40B4-BE49-F238E27FC236}">
                <a16:creationId xmlns:a16="http://schemas.microsoft.com/office/drawing/2014/main" id="{701B476C-1393-D048-72E7-893D38610BD5}"/>
              </a:ext>
            </a:extLst>
          </p:cNvPr>
          <p:cNvSpPr/>
          <p:nvPr/>
        </p:nvSpPr>
        <p:spPr>
          <a:xfrm>
            <a:off x="11256443" y="2960798"/>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33" name="TextBox 32">
            <a:extLst>
              <a:ext uri="{FF2B5EF4-FFF2-40B4-BE49-F238E27FC236}">
                <a16:creationId xmlns:a16="http://schemas.microsoft.com/office/drawing/2014/main" id="{D5B5E881-815C-06AF-FD9D-EFFC9CAAD3BB}"/>
              </a:ext>
            </a:extLst>
          </p:cNvPr>
          <p:cNvSpPr txBox="1"/>
          <p:nvPr/>
        </p:nvSpPr>
        <p:spPr>
          <a:xfrm>
            <a:off x="11296286" y="3037017"/>
            <a:ext cx="397866" cy="215444"/>
          </a:xfrm>
          <a:prstGeom prst="rect">
            <a:avLst/>
          </a:prstGeom>
          <a:noFill/>
        </p:spPr>
        <p:txBody>
          <a:bodyPr wrap="none" rtlCol="0">
            <a:spAutoFit/>
          </a:bodyPr>
          <a:lstStyle/>
          <a:p>
            <a:r>
              <a:rPr lang="en-GB" sz="800"/>
              <a:t>pin 3</a:t>
            </a:r>
          </a:p>
        </p:txBody>
      </p:sp>
      <p:cxnSp>
        <p:nvCxnSpPr>
          <p:cNvPr id="34" name="Straight Connector 33">
            <a:extLst>
              <a:ext uri="{FF2B5EF4-FFF2-40B4-BE49-F238E27FC236}">
                <a16:creationId xmlns:a16="http://schemas.microsoft.com/office/drawing/2014/main" id="{2B44DEB4-04D2-96D8-0AB3-101BF5713748}"/>
              </a:ext>
            </a:extLst>
          </p:cNvPr>
          <p:cNvCxnSpPr>
            <a:cxnSpLocks/>
          </p:cNvCxnSpPr>
          <p:nvPr/>
        </p:nvCxnSpPr>
        <p:spPr>
          <a:xfrm>
            <a:off x="10901174" y="3144741"/>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50678BC4-641A-5F58-7D84-330DFE6D9C71}"/>
              </a:ext>
            </a:extLst>
          </p:cNvPr>
          <p:cNvSpPr/>
          <p:nvPr/>
        </p:nvSpPr>
        <p:spPr>
          <a:xfrm>
            <a:off x="11256443" y="3100023"/>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36" name="TextBox 35">
            <a:extLst>
              <a:ext uri="{FF2B5EF4-FFF2-40B4-BE49-F238E27FC236}">
                <a16:creationId xmlns:a16="http://schemas.microsoft.com/office/drawing/2014/main" id="{3F0FD08E-D556-F685-23A4-AE0C3397CA0A}"/>
              </a:ext>
            </a:extLst>
          </p:cNvPr>
          <p:cNvSpPr txBox="1"/>
          <p:nvPr/>
        </p:nvSpPr>
        <p:spPr>
          <a:xfrm>
            <a:off x="11296286" y="3176242"/>
            <a:ext cx="397866" cy="215444"/>
          </a:xfrm>
          <a:prstGeom prst="rect">
            <a:avLst/>
          </a:prstGeom>
          <a:noFill/>
        </p:spPr>
        <p:txBody>
          <a:bodyPr wrap="none" rtlCol="0">
            <a:spAutoFit/>
          </a:bodyPr>
          <a:lstStyle/>
          <a:p>
            <a:r>
              <a:rPr lang="en-GB" sz="800"/>
              <a:t>pin 4</a:t>
            </a:r>
          </a:p>
        </p:txBody>
      </p:sp>
      <p:cxnSp>
        <p:nvCxnSpPr>
          <p:cNvPr id="37" name="Straight Connector 36">
            <a:extLst>
              <a:ext uri="{FF2B5EF4-FFF2-40B4-BE49-F238E27FC236}">
                <a16:creationId xmlns:a16="http://schemas.microsoft.com/office/drawing/2014/main" id="{1C326A27-1A83-1691-C6B8-2290AED8B99A}"/>
              </a:ext>
            </a:extLst>
          </p:cNvPr>
          <p:cNvCxnSpPr>
            <a:cxnSpLocks/>
          </p:cNvCxnSpPr>
          <p:nvPr/>
        </p:nvCxnSpPr>
        <p:spPr>
          <a:xfrm>
            <a:off x="10901174" y="3283966"/>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38" name="Oval 37">
            <a:extLst>
              <a:ext uri="{FF2B5EF4-FFF2-40B4-BE49-F238E27FC236}">
                <a16:creationId xmlns:a16="http://schemas.microsoft.com/office/drawing/2014/main" id="{795A8D3F-7F1A-E3D7-334A-48440239167E}"/>
              </a:ext>
            </a:extLst>
          </p:cNvPr>
          <p:cNvSpPr/>
          <p:nvPr/>
        </p:nvSpPr>
        <p:spPr>
          <a:xfrm>
            <a:off x="11256443" y="3239248"/>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39" name="TextBox 38">
            <a:extLst>
              <a:ext uri="{FF2B5EF4-FFF2-40B4-BE49-F238E27FC236}">
                <a16:creationId xmlns:a16="http://schemas.microsoft.com/office/drawing/2014/main" id="{E0504374-E797-2FAF-FC2E-9ADCE4A5561B}"/>
              </a:ext>
            </a:extLst>
          </p:cNvPr>
          <p:cNvSpPr txBox="1"/>
          <p:nvPr/>
        </p:nvSpPr>
        <p:spPr>
          <a:xfrm>
            <a:off x="11296286" y="3315467"/>
            <a:ext cx="397866" cy="215444"/>
          </a:xfrm>
          <a:prstGeom prst="rect">
            <a:avLst/>
          </a:prstGeom>
          <a:noFill/>
        </p:spPr>
        <p:txBody>
          <a:bodyPr wrap="none" rtlCol="0">
            <a:spAutoFit/>
          </a:bodyPr>
          <a:lstStyle/>
          <a:p>
            <a:r>
              <a:rPr lang="en-GB" sz="800"/>
              <a:t>pin 5</a:t>
            </a:r>
          </a:p>
        </p:txBody>
      </p:sp>
      <p:cxnSp>
        <p:nvCxnSpPr>
          <p:cNvPr id="40" name="Straight Connector 39">
            <a:extLst>
              <a:ext uri="{FF2B5EF4-FFF2-40B4-BE49-F238E27FC236}">
                <a16:creationId xmlns:a16="http://schemas.microsoft.com/office/drawing/2014/main" id="{7E58C164-E7DB-9E7A-05D3-B3EC1BDC2D2D}"/>
              </a:ext>
            </a:extLst>
          </p:cNvPr>
          <p:cNvCxnSpPr>
            <a:cxnSpLocks/>
          </p:cNvCxnSpPr>
          <p:nvPr/>
        </p:nvCxnSpPr>
        <p:spPr>
          <a:xfrm>
            <a:off x="10901174" y="3423191"/>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F132EA0B-2A27-4082-DBCE-843AAC809422}"/>
              </a:ext>
            </a:extLst>
          </p:cNvPr>
          <p:cNvSpPr/>
          <p:nvPr/>
        </p:nvSpPr>
        <p:spPr>
          <a:xfrm>
            <a:off x="11256443" y="3378473"/>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42" name="TextBox 41">
            <a:extLst>
              <a:ext uri="{FF2B5EF4-FFF2-40B4-BE49-F238E27FC236}">
                <a16:creationId xmlns:a16="http://schemas.microsoft.com/office/drawing/2014/main" id="{6F958F3C-C1E7-EFE4-8AC4-F754AC58D57F}"/>
              </a:ext>
            </a:extLst>
          </p:cNvPr>
          <p:cNvSpPr txBox="1"/>
          <p:nvPr/>
        </p:nvSpPr>
        <p:spPr>
          <a:xfrm>
            <a:off x="11296286" y="3454692"/>
            <a:ext cx="397866" cy="215444"/>
          </a:xfrm>
          <a:prstGeom prst="rect">
            <a:avLst/>
          </a:prstGeom>
          <a:noFill/>
        </p:spPr>
        <p:txBody>
          <a:bodyPr wrap="none" rtlCol="0">
            <a:spAutoFit/>
          </a:bodyPr>
          <a:lstStyle/>
          <a:p>
            <a:r>
              <a:rPr lang="en-GB" sz="800"/>
              <a:t>pin 6</a:t>
            </a:r>
          </a:p>
        </p:txBody>
      </p:sp>
      <p:cxnSp>
        <p:nvCxnSpPr>
          <p:cNvPr id="43" name="Straight Connector 42">
            <a:extLst>
              <a:ext uri="{FF2B5EF4-FFF2-40B4-BE49-F238E27FC236}">
                <a16:creationId xmlns:a16="http://schemas.microsoft.com/office/drawing/2014/main" id="{6ABC715D-2115-4BE2-2B11-386580995EBD}"/>
              </a:ext>
            </a:extLst>
          </p:cNvPr>
          <p:cNvCxnSpPr>
            <a:cxnSpLocks/>
          </p:cNvCxnSpPr>
          <p:nvPr/>
        </p:nvCxnSpPr>
        <p:spPr>
          <a:xfrm>
            <a:off x="10901174" y="3562416"/>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44" name="Oval 43">
            <a:extLst>
              <a:ext uri="{FF2B5EF4-FFF2-40B4-BE49-F238E27FC236}">
                <a16:creationId xmlns:a16="http://schemas.microsoft.com/office/drawing/2014/main" id="{C1AD0020-5E47-2749-B77C-CDB2C3D6D800}"/>
              </a:ext>
            </a:extLst>
          </p:cNvPr>
          <p:cNvSpPr/>
          <p:nvPr/>
        </p:nvSpPr>
        <p:spPr>
          <a:xfrm>
            <a:off x="11256443" y="3517698"/>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45" name="TextBox 44">
            <a:extLst>
              <a:ext uri="{FF2B5EF4-FFF2-40B4-BE49-F238E27FC236}">
                <a16:creationId xmlns:a16="http://schemas.microsoft.com/office/drawing/2014/main" id="{56C249D9-134B-C904-4D93-DCBFB7F2DD19}"/>
              </a:ext>
            </a:extLst>
          </p:cNvPr>
          <p:cNvSpPr txBox="1"/>
          <p:nvPr/>
        </p:nvSpPr>
        <p:spPr>
          <a:xfrm>
            <a:off x="11296286" y="3593917"/>
            <a:ext cx="397866" cy="215444"/>
          </a:xfrm>
          <a:prstGeom prst="rect">
            <a:avLst/>
          </a:prstGeom>
          <a:noFill/>
        </p:spPr>
        <p:txBody>
          <a:bodyPr wrap="none" rtlCol="0">
            <a:spAutoFit/>
          </a:bodyPr>
          <a:lstStyle/>
          <a:p>
            <a:r>
              <a:rPr lang="en-GB" sz="800"/>
              <a:t>pin 7</a:t>
            </a:r>
          </a:p>
        </p:txBody>
      </p:sp>
      <p:cxnSp>
        <p:nvCxnSpPr>
          <p:cNvPr id="46" name="Straight Connector 45">
            <a:extLst>
              <a:ext uri="{FF2B5EF4-FFF2-40B4-BE49-F238E27FC236}">
                <a16:creationId xmlns:a16="http://schemas.microsoft.com/office/drawing/2014/main" id="{73A6207D-D8C0-6A9C-708A-A28FB0BB7A88}"/>
              </a:ext>
            </a:extLst>
          </p:cNvPr>
          <p:cNvCxnSpPr>
            <a:cxnSpLocks/>
          </p:cNvCxnSpPr>
          <p:nvPr/>
        </p:nvCxnSpPr>
        <p:spPr>
          <a:xfrm>
            <a:off x="10901174" y="3701641"/>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47" name="Oval 46">
            <a:extLst>
              <a:ext uri="{FF2B5EF4-FFF2-40B4-BE49-F238E27FC236}">
                <a16:creationId xmlns:a16="http://schemas.microsoft.com/office/drawing/2014/main" id="{C22A75A7-505D-DB2C-D73B-40D0B1077746}"/>
              </a:ext>
            </a:extLst>
          </p:cNvPr>
          <p:cNvSpPr/>
          <p:nvPr/>
        </p:nvSpPr>
        <p:spPr>
          <a:xfrm>
            <a:off x="11256443" y="3656923"/>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48" name="TextBox 47">
            <a:extLst>
              <a:ext uri="{FF2B5EF4-FFF2-40B4-BE49-F238E27FC236}">
                <a16:creationId xmlns:a16="http://schemas.microsoft.com/office/drawing/2014/main" id="{7AA84912-5295-47D0-59F1-15C586287025}"/>
              </a:ext>
            </a:extLst>
          </p:cNvPr>
          <p:cNvSpPr txBox="1"/>
          <p:nvPr/>
        </p:nvSpPr>
        <p:spPr>
          <a:xfrm rot="5400000">
            <a:off x="11145211" y="3719205"/>
            <a:ext cx="381836" cy="369332"/>
          </a:xfrm>
          <a:prstGeom prst="rect">
            <a:avLst/>
          </a:prstGeom>
          <a:noFill/>
        </p:spPr>
        <p:txBody>
          <a:bodyPr wrap="none" rtlCol="0">
            <a:spAutoFit/>
          </a:bodyPr>
          <a:lstStyle/>
          <a:p>
            <a:r>
              <a:rPr lang="en-GB"/>
              <a:t>...</a:t>
            </a:r>
            <a:endParaRPr lang="LID4096"/>
          </a:p>
        </p:txBody>
      </p:sp>
      <p:sp>
        <p:nvSpPr>
          <p:cNvPr id="49" name="TextBox 48">
            <a:extLst>
              <a:ext uri="{FF2B5EF4-FFF2-40B4-BE49-F238E27FC236}">
                <a16:creationId xmlns:a16="http://schemas.microsoft.com/office/drawing/2014/main" id="{8B2E1A9A-E37E-370A-62AC-48BA36BBB914}"/>
              </a:ext>
            </a:extLst>
          </p:cNvPr>
          <p:cNvSpPr txBox="1"/>
          <p:nvPr/>
        </p:nvSpPr>
        <p:spPr>
          <a:xfrm>
            <a:off x="10878042" y="2326231"/>
            <a:ext cx="793166" cy="369332"/>
          </a:xfrm>
          <a:prstGeom prst="rect">
            <a:avLst/>
          </a:prstGeom>
          <a:noFill/>
        </p:spPr>
        <p:txBody>
          <a:bodyPr wrap="none" rtlCol="0">
            <a:spAutoFit/>
          </a:bodyPr>
          <a:lstStyle/>
          <a:p>
            <a:r>
              <a:rPr lang="en-GB"/>
              <a:t>Port D</a:t>
            </a:r>
            <a:endParaRPr lang="LID4096"/>
          </a:p>
        </p:txBody>
      </p:sp>
      <p:sp>
        <p:nvSpPr>
          <p:cNvPr id="50" name="Rectangle 49">
            <a:extLst>
              <a:ext uri="{FF2B5EF4-FFF2-40B4-BE49-F238E27FC236}">
                <a16:creationId xmlns:a16="http://schemas.microsoft.com/office/drawing/2014/main" id="{D0676AF9-E34E-DC41-E6B2-AA4B9B6BFA3C}"/>
              </a:ext>
            </a:extLst>
          </p:cNvPr>
          <p:cNvSpPr/>
          <p:nvPr/>
        </p:nvSpPr>
        <p:spPr>
          <a:xfrm>
            <a:off x="10830863" y="4150819"/>
            <a:ext cx="863289" cy="1731698"/>
          </a:xfrm>
          <a:prstGeom prst="rect">
            <a:avLst/>
          </a:prstGeom>
          <a:solidFill>
            <a:schemeClr val="bg1">
              <a:lumMod val="8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51" name="TextBox 50">
            <a:extLst>
              <a:ext uri="{FF2B5EF4-FFF2-40B4-BE49-F238E27FC236}">
                <a16:creationId xmlns:a16="http://schemas.microsoft.com/office/drawing/2014/main" id="{B96A4549-153D-253F-C642-57EA3BC65598}"/>
              </a:ext>
            </a:extLst>
          </p:cNvPr>
          <p:cNvSpPr txBox="1"/>
          <p:nvPr/>
        </p:nvSpPr>
        <p:spPr>
          <a:xfrm>
            <a:off x="11296286" y="4443930"/>
            <a:ext cx="397866" cy="215444"/>
          </a:xfrm>
          <a:prstGeom prst="rect">
            <a:avLst/>
          </a:prstGeom>
          <a:noFill/>
        </p:spPr>
        <p:txBody>
          <a:bodyPr wrap="none" rtlCol="0">
            <a:spAutoFit/>
          </a:bodyPr>
          <a:lstStyle/>
          <a:p>
            <a:r>
              <a:rPr lang="en-GB" sz="800">
                <a:solidFill>
                  <a:schemeClr val="accent2">
                    <a:lumMod val="75000"/>
                  </a:schemeClr>
                </a:solidFill>
              </a:rPr>
              <a:t>pin 0</a:t>
            </a:r>
          </a:p>
        </p:txBody>
      </p:sp>
      <p:cxnSp>
        <p:nvCxnSpPr>
          <p:cNvPr id="52" name="Straight Connector 51">
            <a:extLst>
              <a:ext uri="{FF2B5EF4-FFF2-40B4-BE49-F238E27FC236}">
                <a16:creationId xmlns:a16="http://schemas.microsoft.com/office/drawing/2014/main" id="{60D40215-D9B3-AC95-C2CE-350EFD3A6E59}"/>
              </a:ext>
            </a:extLst>
          </p:cNvPr>
          <p:cNvCxnSpPr>
            <a:cxnSpLocks/>
          </p:cNvCxnSpPr>
          <p:nvPr/>
        </p:nvCxnSpPr>
        <p:spPr>
          <a:xfrm>
            <a:off x="10901174" y="4551654"/>
            <a:ext cx="355269" cy="3727"/>
          </a:xfrm>
          <a:prstGeom prst="line">
            <a:avLst/>
          </a:prstGeom>
          <a:ln>
            <a:solidFill>
              <a:schemeClr val="accent2">
                <a:lumMod val="75000"/>
              </a:schemeClr>
            </a:solidFill>
            <a:prstDash val="dash"/>
          </a:ln>
          <a:effectLst/>
        </p:spPr>
        <p:style>
          <a:lnRef idx="1">
            <a:schemeClr val="accent1"/>
          </a:lnRef>
          <a:fillRef idx="0">
            <a:schemeClr val="accent1"/>
          </a:fillRef>
          <a:effectRef idx="0">
            <a:schemeClr val="accent1"/>
          </a:effectRef>
          <a:fontRef idx="minor">
            <a:schemeClr val="tx1"/>
          </a:fontRef>
        </p:style>
      </p:cxnSp>
      <p:sp>
        <p:nvSpPr>
          <p:cNvPr id="53" name="Oval 52">
            <a:extLst>
              <a:ext uri="{FF2B5EF4-FFF2-40B4-BE49-F238E27FC236}">
                <a16:creationId xmlns:a16="http://schemas.microsoft.com/office/drawing/2014/main" id="{E0E0099F-8D73-7123-E9E7-1D12B600BA77}"/>
              </a:ext>
            </a:extLst>
          </p:cNvPr>
          <p:cNvSpPr/>
          <p:nvPr/>
        </p:nvSpPr>
        <p:spPr>
          <a:xfrm>
            <a:off x="11256443" y="4506936"/>
            <a:ext cx="79686" cy="89433"/>
          </a:xfrm>
          <a:prstGeom prst="ellipse">
            <a:avLst/>
          </a:prstGeom>
          <a:noFill/>
          <a:ln>
            <a:solidFill>
              <a:schemeClr val="accent2">
                <a:lumMod val="7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54" name="TextBox 53">
            <a:extLst>
              <a:ext uri="{FF2B5EF4-FFF2-40B4-BE49-F238E27FC236}">
                <a16:creationId xmlns:a16="http://schemas.microsoft.com/office/drawing/2014/main" id="{B2671EBF-8E52-87BF-946E-8F3562ED8F96}"/>
              </a:ext>
            </a:extLst>
          </p:cNvPr>
          <p:cNvSpPr txBox="1"/>
          <p:nvPr/>
        </p:nvSpPr>
        <p:spPr>
          <a:xfrm>
            <a:off x="11296286" y="4583155"/>
            <a:ext cx="397866" cy="215444"/>
          </a:xfrm>
          <a:prstGeom prst="rect">
            <a:avLst/>
          </a:prstGeom>
          <a:noFill/>
        </p:spPr>
        <p:txBody>
          <a:bodyPr wrap="none" rtlCol="0">
            <a:spAutoFit/>
          </a:bodyPr>
          <a:lstStyle/>
          <a:p>
            <a:r>
              <a:rPr lang="en-GB" sz="800">
                <a:solidFill>
                  <a:schemeClr val="accent6">
                    <a:lumMod val="75000"/>
                  </a:schemeClr>
                </a:solidFill>
              </a:rPr>
              <a:t>pin 1</a:t>
            </a:r>
          </a:p>
        </p:txBody>
      </p:sp>
      <p:cxnSp>
        <p:nvCxnSpPr>
          <p:cNvPr id="55" name="Straight Connector 54">
            <a:extLst>
              <a:ext uri="{FF2B5EF4-FFF2-40B4-BE49-F238E27FC236}">
                <a16:creationId xmlns:a16="http://schemas.microsoft.com/office/drawing/2014/main" id="{EEF2C828-1B68-DCB2-0EAA-50E92CB1C715}"/>
              </a:ext>
            </a:extLst>
          </p:cNvPr>
          <p:cNvCxnSpPr>
            <a:cxnSpLocks/>
          </p:cNvCxnSpPr>
          <p:nvPr/>
        </p:nvCxnSpPr>
        <p:spPr>
          <a:xfrm>
            <a:off x="10901174" y="4690879"/>
            <a:ext cx="355269" cy="3727"/>
          </a:xfrm>
          <a:prstGeom prst="line">
            <a:avLst/>
          </a:prstGeom>
          <a:ln>
            <a:solidFill>
              <a:schemeClr val="accent6">
                <a:lumMod val="75000"/>
              </a:schemeClr>
            </a:solidFill>
            <a:prstDash val="dash"/>
          </a:ln>
          <a:effectLst/>
        </p:spPr>
        <p:style>
          <a:lnRef idx="1">
            <a:schemeClr val="accent1"/>
          </a:lnRef>
          <a:fillRef idx="0">
            <a:schemeClr val="accent1"/>
          </a:fillRef>
          <a:effectRef idx="0">
            <a:schemeClr val="accent1"/>
          </a:effectRef>
          <a:fontRef idx="minor">
            <a:schemeClr val="tx1"/>
          </a:fontRef>
        </p:style>
      </p:cxnSp>
      <p:sp>
        <p:nvSpPr>
          <p:cNvPr id="56" name="Oval 55">
            <a:extLst>
              <a:ext uri="{FF2B5EF4-FFF2-40B4-BE49-F238E27FC236}">
                <a16:creationId xmlns:a16="http://schemas.microsoft.com/office/drawing/2014/main" id="{C540A3A4-6CB1-7B2F-15B4-15D7580B6468}"/>
              </a:ext>
            </a:extLst>
          </p:cNvPr>
          <p:cNvSpPr/>
          <p:nvPr/>
        </p:nvSpPr>
        <p:spPr>
          <a:xfrm>
            <a:off x="11256443" y="4646161"/>
            <a:ext cx="79686" cy="89433"/>
          </a:xfrm>
          <a:prstGeom prst="ellipse">
            <a:avLst/>
          </a:prstGeom>
          <a:noFill/>
          <a:ln>
            <a:solidFill>
              <a:schemeClr val="accent6">
                <a:lumMod val="7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57" name="TextBox 56">
            <a:extLst>
              <a:ext uri="{FF2B5EF4-FFF2-40B4-BE49-F238E27FC236}">
                <a16:creationId xmlns:a16="http://schemas.microsoft.com/office/drawing/2014/main" id="{C723428B-22F3-2DD3-7897-646AAB3BCE43}"/>
              </a:ext>
            </a:extLst>
          </p:cNvPr>
          <p:cNvSpPr txBox="1"/>
          <p:nvPr/>
        </p:nvSpPr>
        <p:spPr>
          <a:xfrm>
            <a:off x="11296286" y="4722380"/>
            <a:ext cx="397866" cy="215444"/>
          </a:xfrm>
          <a:prstGeom prst="rect">
            <a:avLst/>
          </a:prstGeom>
          <a:noFill/>
        </p:spPr>
        <p:txBody>
          <a:bodyPr wrap="none" rtlCol="0">
            <a:spAutoFit/>
          </a:bodyPr>
          <a:lstStyle/>
          <a:p>
            <a:r>
              <a:rPr lang="en-GB" sz="800"/>
              <a:t>pin 2</a:t>
            </a:r>
          </a:p>
        </p:txBody>
      </p:sp>
      <p:cxnSp>
        <p:nvCxnSpPr>
          <p:cNvPr id="58" name="Straight Connector 57">
            <a:extLst>
              <a:ext uri="{FF2B5EF4-FFF2-40B4-BE49-F238E27FC236}">
                <a16:creationId xmlns:a16="http://schemas.microsoft.com/office/drawing/2014/main" id="{42CA3344-2DEA-E5B7-2A11-DE04C1159FD7}"/>
              </a:ext>
            </a:extLst>
          </p:cNvPr>
          <p:cNvCxnSpPr>
            <a:cxnSpLocks/>
          </p:cNvCxnSpPr>
          <p:nvPr/>
        </p:nvCxnSpPr>
        <p:spPr>
          <a:xfrm>
            <a:off x="10901174" y="4830104"/>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59" name="Oval 58">
            <a:extLst>
              <a:ext uri="{FF2B5EF4-FFF2-40B4-BE49-F238E27FC236}">
                <a16:creationId xmlns:a16="http://schemas.microsoft.com/office/drawing/2014/main" id="{033A796B-EAA2-8D3B-BE68-8EDB0D79D625}"/>
              </a:ext>
            </a:extLst>
          </p:cNvPr>
          <p:cNvSpPr/>
          <p:nvPr/>
        </p:nvSpPr>
        <p:spPr>
          <a:xfrm>
            <a:off x="11256443" y="4785386"/>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60" name="TextBox 59">
            <a:extLst>
              <a:ext uri="{FF2B5EF4-FFF2-40B4-BE49-F238E27FC236}">
                <a16:creationId xmlns:a16="http://schemas.microsoft.com/office/drawing/2014/main" id="{E01F8234-FA57-B14D-C4EF-C1E4FF6CF4D3}"/>
              </a:ext>
            </a:extLst>
          </p:cNvPr>
          <p:cNvSpPr txBox="1"/>
          <p:nvPr/>
        </p:nvSpPr>
        <p:spPr>
          <a:xfrm>
            <a:off x="11296286" y="4861605"/>
            <a:ext cx="397866" cy="215444"/>
          </a:xfrm>
          <a:prstGeom prst="rect">
            <a:avLst/>
          </a:prstGeom>
          <a:noFill/>
        </p:spPr>
        <p:txBody>
          <a:bodyPr wrap="none" rtlCol="0">
            <a:spAutoFit/>
          </a:bodyPr>
          <a:lstStyle/>
          <a:p>
            <a:r>
              <a:rPr lang="en-GB" sz="800"/>
              <a:t>pin 3</a:t>
            </a:r>
          </a:p>
        </p:txBody>
      </p:sp>
      <p:cxnSp>
        <p:nvCxnSpPr>
          <p:cNvPr id="61" name="Straight Connector 60">
            <a:extLst>
              <a:ext uri="{FF2B5EF4-FFF2-40B4-BE49-F238E27FC236}">
                <a16:creationId xmlns:a16="http://schemas.microsoft.com/office/drawing/2014/main" id="{079092B9-73E2-0DC2-53CB-0A1ED7DB10CD}"/>
              </a:ext>
            </a:extLst>
          </p:cNvPr>
          <p:cNvCxnSpPr>
            <a:cxnSpLocks/>
          </p:cNvCxnSpPr>
          <p:nvPr/>
        </p:nvCxnSpPr>
        <p:spPr>
          <a:xfrm>
            <a:off x="10901174" y="4969329"/>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62" name="Oval 61">
            <a:extLst>
              <a:ext uri="{FF2B5EF4-FFF2-40B4-BE49-F238E27FC236}">
                <a16:creationId xmlns:a16="http://schemas.microsoft.com/office/drawing/2014/main" id="{EBA15F00-5C06-305B-E7E0-2CFBA8BB65AF}"/>
              </a:ext>
            </a:extLst>
          </p:cNvPr>
          <p:cNvSpPr/>
          <p:nvPr/>
        </p:nvSpPr>
        <p:spPr>
          <a:xfrm>
            <a:off x="11256443" y="4924611"/>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63" name="TextBox 62">
            <a:extLst>
              <a:ext uri="{FF2B5EF4-FFF2-40B4-BE49-F238E27FC236}">
                <a16:creationId xmlns:a16="http://schemas.microsoft.com/office/drawing/2014/main" id="{3C22D763-28B4-02EB-E2A9-D6C35639AA54}"/>
              </a:ext>
            </a:extLst>
          </p:cNvPr>
          <p:cNvSpPr txBox="1"/>
          <p:nvPr/>
        </p:nvSpPr>
        <p:spPr>
          <a:xfrm>
            <a:off x="11296286" y="5000830"/>
            <a:ext cx="397866" cy="215444"/>
          </a:xfrm>
          <a:prstGeom prst="rect">
            <a:avLst/>
          </a:prstGeom>
          <a:noFill/>
        </p:spPr>
        <p:txBody>
          <a:bodyPr wrap="none" rtlCol="0">
            <a:spAutoFit/>
          </a:bodyPr>
          <a:lstStyle/>
          <a:p>
            <a:r>
              <a:rPr lang="en-GB" sz="800"/>
              <a:t>pin 4</a:t>
            </a:r>
          </a:p>
        </p:txBody>
      </p:sp>
      <p:cxnSp>
        <p:nvCxnSpPr>
          <p:cNvPr id="64" name="Straight Connector 63">
            <a:extLst>
              <a:ext uri="{FF2B5EF4-FFF2-40B4-BE49-F238E27FC236}">
                <a16:creationId xmlns:a16="http://schemas.microsoft.com/office/drawing/2014/main" id="{85C9D598-7042-15F2-34FA-B0B8144F04B0}"/>
              </a:ext>
            </a:extLst>
          </p:cNvPr>
          <p:cNvCxnSpPr>
            <a:cxnSpLocks/>
          </p:cNvCxnSpPr>
          <p:nvPr/>
        </p:nvCxnSpPr>
        <p:spPr>
          <a:xfrm>
            <a:off x="10901174" y="5108554"/>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65" name="Oval 64">
            <a:extLst>
              <a:ext uri="{FF2B5EF4-FFF2-40B4-BE49-F238E27FC236}">
                <a16:creationId xmlns:a16="http://schemas.microsoft.com/office/drawing/2014/main" id="{09401516-7C95-DCBA-41BA-B3FF24A51268}"/>
              </a:ext>
            </a:extLst>
          </p:cNvPr>
          <p:cNvSpPr/>
          <p:nvPr/>
        </p:nvSpPr>
        <p:spPr>
          <a:xfrm>
            <a:off x="11256443" y="5063836"/>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66" name="TextBox 65">
            <a:extLst>
              <a:ext uri="{FF2B5EF4-FFF2-40B4-BE49-F238E27FC236}">
                <a16:creationId xmlns:a16="http://schemas.microsoft.com/office/drawing/2014/main" id="{07F5466D-36B0-C42A-BFEC-F1FB34C9E378}"/>
              </a:ext>
            </a:extLst>
          </p:cNvPr>
          <p:cNvSpPr txBox="1"/>
          <p:nvPr/>
        </p:nvSpPr>
        <p:spPr>
          <a:xfrm>
            <a:off x="11296286" y="5140055"/>
            <a:ext cx="397866" cy="215444"/>
          </a:xfrm>
          <a:prstGeom prst="rect">
            <a:avLst/>
          </a:prstGeom>
          <a:noFill/>
        </p:spPr>
        <p:txBody>
          <a:bodyPr wrap="none" rtlCol="0">
            <a:spAutoFit/>
          </a:bodyPr>
          <a:lstStyle/>
          <a:p>
            <a:r>
              <a:rPr lang="en-GB" sz="800"/>
              <a:t>pin 5</a:t>
            </a:r>
          </a:p>
        </p:txBody>
      </p:sp>
      <p:cxnSp>
        <p:nvCxnSpPr>
          <p:cNvPr id="67" name="Straight Connector 66">
            <a:extLst>
              <a:ext uri="{FF2B5EF4-FFF2-40B4-BE49-F238E27FC236}">
                <a16:creationId xmlns:a16="http://schemas.microsoft.com/office/drawing/2014/main" id="{EDF2C3F0-542E-74AF-8028-6CEF7BB6AB36}"/>
              </a:ext>
            </a:extLst>
          </p:cNvPr>
          <p:cNvCxnSpPr>
            <a:cxnSpLocks/>
          </p:cNvCxnSpPr>
          <p:nvPr/>
        </p:nvCxnSpPr>
        <p:spPr>
          <a:xfrm>
            <a:off x="10901174" y="5247779"/>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68" name="Oval 67">
            <a:extLst>
              <a:ext uri="{FF2B5EF4-FFF2-40B4-BE49-F238E27FC236}">
                <a16:creationId xmlns:a16="http://schemas.microsoft.com/office/drawing/2014/main" id="{67EE4A69-BF3B-F4B0-2EBA-35FE33B8F34E}"/>
              </a:ext>
            </a:extLst>
          </p:cNvPr>
          <p:cNvSpPr/>
          <p:nvPr/>
        </p:nvSpPr>
        <p:spPr>
          <a:xfrm>
            <a:off x="11256443" y="5203061"/>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69" name="TextBox 68">
            <a:extLst>
              <a:ext uri="{FF2B5EF4-FFF2-40B4-BE49-F238E27FC236}">
                <a16:creationId xmlns:a16="http://schemas.microsoft.com/office/drawing/2014/main" id="{14093F5A-F71B-B422-FF1D-65CDD715498E}"/>
              </a:ext>
            </a:extLst>
          </p:cNvPr>
          <p:cNvSpPr txBox="1"/>
          <p:nvPr/>
        </p:nvSpPr>
        <p:spPr>
          <a:xfrm>
            <a:off x="11296286" y="5279280"/>
            <a:ext cx="397866" cy="215444"/>
          </a:xfrm>
          <a:prstGeom prst="rect">
            <a:avLst/>
          </a:prstGeom>
          <a:noFill/>
        </p:spPr>
        <p:txBody>
          <a:bodyPr wrap="none" rtlCol="0">
            <a:spAutoFit/>
          </a:bodyPr>
          <a:lstStyle/>
          <a:p>
            <a:r>
              <a:rPr lang="en-GB" sz="800"/>
              <a:t>pin 6</a:t>
            </a:r>
          </a:p>
        </p:txBody>
      </p:sp>
      <p:cxnSp>
        <p:nvCxnSpPr>
          <p:cNvPr id="70" name="Straight Connector 69">
            <a:extLst>
              <a:ext uri="{FF2B5EF4-FFF2-40B4-BE49-F238E27FC236}">
                <a16:creationId xmlns:a16="http://schemas.microsoft.com/office/drawing/2014/main" id="{FECBEACB-C91D-39EE-6CF1-4C215B136587}"/>
              </a:ext>
            </a:extLst>
          </p:cNvPr>
          <p:cNvCxnSpPr>
            <a:cxnSpLocks/>
          </p:cNvCxnSpPr>
          <p:nvPr/>
        </p:nvCxnSpPr>
        <p:spPr>
          <a:xfrm>
            <a:off x="10901174" y="5387004"/>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71" name="Oval 70">
            <a:extLst>
              <a:ext uri="{FF2B5EF4-FFF2-40B4-BE49-F238E27FC236}">
                <a16:creationId xmlns:a16="http://schemas.microsoft.com/office/drawing/2014/main" id="{A49E31F0-AAD9-FDB4-973B-AD23900E49A1}"/>
              </a:ext>
            </a:extLst>
          </p:cNvPr>
          <p:cNvSpPr/>
          <p:nvPr/>
        </p:nvSpPr>
        <p:spPr>
          <a:xfrm>
            <a:off x="11256443" y="5342286"/>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72" name="TextBox 71">
            <a:extLst>
              <a:ext uri="{FF2B5EF4-FFF2-40B4-BE49-F238E27FC236}">
                <a16:creationId xmlns:a16="http://schemas.microsoft.com/office/drawing/2014/main" id="{F8E02BFC-C668-0F1B-6C10-303CD5BA98A7}"/>
              </a:ext>
            </a:extLst>
          </p:cNvPr>
          <p:cNvSpPr txBox="1"/>
          <p:nvPr/>
        </p:nvSpPr>
        <p:spPr>
          <a:xfrm>
            <a:off x="11296286" y="5418505"/>
            <a:ext cx="397866" cy="215444"/>
          </a:xfrm>
          <a:prstGeom prst="rect">
            <a:avLst/>
          </a:prstGeom>
          <a:noFill/>
        </p:spPr>
        <p:txBody>
          <a:bodyPr wrap="none" rtlCol="0">
            <a:spAutoFit/>
          </a:bodyPr>
          <a:lstStyle/>
          <a:p>
            <a:r>
              <a:rPr lang="en-GB" sz="800"/>
              <a:t>pin 7</a:t>
            </a:r>
          </a:p>
        </p:txBody>
      </p:sp>
      <p:cxnSp>
        <p:nvCxnSpPr>
          <p:cNvPr id="73" name="Straight Connector 72">
            <a:extLst>
              <a:ext uri="{FF2B5EF4-FFF2-40B4-BE49-F238E27FC236}">
                <a16:creationId xmlns:a16="http://schemas.microsoft.com/office/drawing/2014/main" id="{9DB01020-10B6-C7D4-49B6-67CB5887D622}"/>
              </a:ext>
            </a:extLst>
          </p:cNvPr>
          <p:cNvCxnSpPr>
            <a:cxnSpLocks/>
          </p:cNvCxnSpPr>
          <p:nvPr/>
        </p:nvCxnSpPr>
        <p:spPr>
          <a:xfrm>
            <a:off x="10901174" y="5526229"/>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74" name="Oval 73">
            <a:extLst>
              <a:ext uri="{FF2B5EF4-FFF2-40B4-BE49-F238E27FC236}">
                <a16:creationId xmlns:a16="http://schemas.microsoft.com/office/drawing/2014/main" id="{C4655CE7-6299-3DDE-4F2E-14440ECFF2BE}"/>
              </a:ext>
            </a:extLst>
          </p:cNvPr>
          <p:cNvSpPr/>
          <p:nvPr/>
        </p:nvSpPr>
        <p:spPr>
          <a:xfrm>
            <a:off x="11256443" y="5481511"/>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75" name="TextBox 74">
            <a:extLst>
              <a:ext uri="{FF2B5EF4-FFF2-40B4-BE49-F238E27FC236}">
                <a16:creationId xmlns:a16="http://schemas.microsoft.com/office/drawing/2014/main" id="{6A88EB6C-F665-00E5-A83A-0A9FCFC16D16}"/>
              </a:ext>
            </a:extLst>
          </p:cNvPr>
          <p:cNvSpPr txBox="1"/>
          <p:nvPr/>
        </p:nvSpPr>
        <p:spPr>
          <a:xfrm rot="5400000">
            <a:off x="11145211" y="5543793"/>
            <a:ext cx="381836" cy="369332"/>
          </a:xfrm>
          <a:prstGeom prst="rect">
            <a:avLst/>
          </a:prstGeom>
          <a:noFill/>
        </p:spPr>
        <p:txBody>
          <a:bodyPr wrap="none" rtlCol="0">
            <a:spAutoFit/>
          </a:bodyPr>
          <a:lstStyle/>
          <a:p>
            <a:r>
              <a:rPr lang="en-GB"/>
              <a:t>...</a:t>
            </a:r>
            <a:endParaRPr lang="LID4096"/>
          </a:p>
        </p:txBody>
      </p:sp>
      <p:sp>
        <p:nvSpPr>
          <p:cNvPr id="76" name="TextBox 75">
            <a:extLst>
              <a:ext uri="{FF2B5EF4-FFF2-40B4-BE49-F238E27FC236}">
                <a16:creationId xmlns:a16="http://schemas.microsoft.com/office/drawing/2014/main" id="{DB808CC8-7D4D-A7F3-708C-F670961F5DB7}"/>
              </a:ext>
            </a:extLst>
          </p:cNvPr>
          <p:cNvSpPr txBox="1"/>
          <p:nvPr/>
        </p:nvSpPr>
        <p:spPr>
          <a:xfrm>
            <a:off x="10878042" y="4150819"/>
            <a:ext cx="762709" cy="369332"/>
          </a:xfrm>
          <a:prstGeom prst="rect">
            <a:avLst/>
          </a:prstGeom>
          <a:noFill/>
        </p:spPr>
        <p:txBody>
          <a:bodyPr wrap="none" rtlCol="0">
            <a:spAutoFit/>
          </a:bodyPr>
          <a:lstStyle/>
          <a:p>
            <a:r>
              <a:rPr lang="en-GB"/>
              <a:t>Port E</a:t>
            </a:r>
            <a:endParaRPr lang="LID4096"/>
          </a:p>
        </p:txBody>
      </p:sp>
      <p:sp>
        <p:nvSpPr>
          <p:cNvPr id="79" name="TextBox 78">
            <a:extLst>
              <a:ext uri="{FF2B5EF4-FFF2-40B4-BE49-F238E27FC236}">
                <a16:creationId xmlns:a16="http://schemas.microsoft.com/office/drawing/2014/main" id="{9C17E197-B886-D02A-92B0-754F3025A571}"/>
              </a:ext>
            </a:extLst>
          </p:cNvPr>
          <p:cNvSpPr txBox="1"/>
          <p:nvPr/>
        </p:nvSpPr>
        <p:spPr>
          <a:xfrm>
            <a:off x="10878042" y="5990962"/>
            <a:ext cx="756297" cy="369332"/>
          </a:xfrm>
          <a:prstGeom prst="rect">
            <a:avLst/>
          </a:prstGeom>
          <a:noFill/>
        </p:spPr>
        <p:txBody>
          <a:bodyPr wrap="none" rtlCol="0">
            <a:spAutoFit/>
          </a:bodyPr>
          <a:lstStyle/>
          <a:p>
            <a:r>
              <a:rPr lang="en-GB"/>
              <a:t>Port F</a:t>
            </a:r>
            <a:endParaRPr lang="LID4096"/>
          </a:p>
        </p:txBody>
      </p:sp>
      <p:sp>
        <p:nvSpPr>
          <p:cNvPr id="81" name="Rectangle 80">
            <a:extLst>
              <a:ext uri="{FF2B5EF4-FFF2-40B4-BE49-F238E27FC236}">
                <a16:creationId xmlns:a16="http://schemas.microsoft.com/office/drawing/2014/main" id="{5D82986E-C558-1B1C-BB86-E47001682729}"/>
              </a:ext>
            </a:extLst>
          </p:cNvPr>
          <p:cNvSpPr/>
          <p:nvPr/>
        </p:nvSpPr>
        <p:spPr>
          <a:xfrm>
            <a:off x="10830863" y="1921712"/>
            <a:ext cx="863289" cy="318796"/>
          </a:xfrm>
          <a:prstGeom prst="rect">
            <a:avLst/>
          </a:prstGeom>
          <a:solidFill>
            <a:schemeClr val="bg1">
              <a:lumMod val="85000"/>
            </a:schemeClr>
          </a:solidFill>
          <a:ln w="127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82" name="TextBox 81">
            <a:extLst>
              <a:ext uri="{FF2B5EF4-FFF2-40B4-BE49-F238E27FC236}">
                <a16:creationId xmlns:a16="http://schemas.microsoft.com/office/drawing/2014/main" id="{8A09E6B4-68D9-990A-038B-859ECADE9937}"/>
              </a:ext>
            </a:extLst>
          </p:cNvPr>
          <p:cNvSpPr txBox="1"/>
          <p:nvPr/>
        </p:nvSpPr>
        <p:spPr>
          <a:xfrm rot="5400000">
            <a:off x="11145211" y="1901784"/>
            <a:ext cx="381836" cy="369332"/>
          </a:xfrm>
          <a:prstGeom prst="rect">
            <a:avLst/>
          </a:prstGeom>
          <a:noFill/>
        </p:spPr>
        <p:txBody>
          <a:bodyPr wrap="none" rtlCol="0">
            <a:spAutoFit/>
          </a:bodyPr>
          <a:lstStyle/>
          <a:p>
            <a:r>
              <a:rPr lang="en-GB"/>
              <a:t>...</a:t>
            </a:r>
            <a:endParaRPr lang="LID4096"/>
          </a:p>
        </p:txBody>
      </p:sp>
      <p:sp>
        <p:nvSpPr>
          <p:cNvPr id="83" name="TextBox 82">
            <a:extLst>
              <a:ext uri="{FF2B5EF4-FFF2-40B4-BE49-F238E27FC236}">
                <a16:creationId xmlns:a16="http://schemas.microsoft.com/office/drawing/2014/main" id="{14AD9FD8-8A2E-3451-4216-FABFFFF4CA61}"/>
              </a:ext>
            </a:extLst>
          </p:cNvPr>
          <p:cNvSpPr txBox="1"/>
          <p:nvPr/>
        </p:nvSpPr>
        <p:spPr>
          <a:xfrm>
            <a:off x="11296286" y="6269843"/>
            <a:ext cx="397866" cy="215444"/>
          </a:xfrm>
          <a:prstGeom prst="rect">
            <a:avLst/>
          </a:prstGeom>
          <a:noFill/>
        </p:spPr>
        <p:txBody>
          <a:bodyPr wrap="none" rtlCol="0">
            <a:spAutoFit/>
          </a:bodyPr>
          <a:lstStyle/>
          <a:p>
            <a:r>
              <a:rPr lang="en-GB" sz="800">
                <a:solidFill>
                  <a:schemeClr val="accent2">
                    <a:lumMod val="75000"/>
                  </a:schemeClr>
                </a:solidFill>
              </a:rPr>
              <a:t>pin 0</a:t>
            </a:r>
          </a:p>
        </p:txBody>
      </p:sp>
      <p:cxnSp>
        <p:nvCxnSpPr>
          <p:cNvPr id="84" name="Straight Connector 83">
            <a:extLst>
              <a:ext uri="{FF2B5EF4-FFF2-40B4-BE49-F238E27FC236}">
                <a16:creationId xmlns:a16="http://schemas.microsoft.com/office/drawing/2014/main" id="{AFAB9331-9A2E-8229-E30B-6BF62581D29E}"/>
              </a:ext>
            </a:extLst>
          </p:cNvPr>
          <p:cNvCxnSpPr>
            <a:cxnSpLocks/>
          </p:cNvCxnSpPr>
          <p:nvPr/>
        </p:nvCxnSpPr>
        <p:spPr>
          <a:xfrm>
            <a:off x="10901174" y="6377567"/>
            <a:ext cx="355269" cy="3727"/>
          </a:xfrm>
          <a:prstGeom prst="line">
            <a:avLst/>
          </a:prstGeom>
          <a:ln>
            <a:solidFill>
              <a:schemeClr val="accent2">
                <a:lumMod val="75000"/>
              </a:schemeClr>
            </a:solidFill>
            <a:prstDash val="dash"/>
          </a:ln>
          <a:effectLst/>
        </p:spPr>
        <p:style>
          <a:lnRef idx="1">
            <a:schemeClr val="accent1"/>
          </a:lnRef>
          <a:fillRef idx="0">
            <a:schemeClr val="accent1"/>
          </a:fillRef>
          <a:effectRef idx="0">
            <a:schemeClr val="accent1"/>
          </a:effectRef>
          <a:fontRef idx="minor">
            <a:schemeClr val="tx1"/>
          </a:fontRef>
        </p:style>
      </p:cxnSp>
      <p:sp>
        <p:nvSpPr>
          <p:cNvPr id="85" name="Oval 84">
            <a:extLst>
              <a:ext uri="{FF2B5EF4-FFF2-40B4-BE49-F238E27FC236}">
                <a16:creationId xmlns:a16="http://schemas.microsoft.com/office/drawing/2014/main" id="{C059E42B-9FE2-CF9C-73F4-3B64E0F1C397}"/>
              </a:ext>
            </a:extLst>
          </p:cNvPr>
          <p:cNvSpPr/>
          <p:nvPr/>
        </p:nvSpPr>
        <p:spPr>
          <a:xfrm>
            <a:off x="11256443" y="6332849"/>
            <a:ext cx="79686" cy="89433"/>
          </a:xfrm>
          <a:prstGeom prst="ellipse">
            <a:avLst/>
          </a:prstGeom>
          <a:noFill/>
          <a:ln>
            <a:solidFill>
              <a:schemeClr val="accent2">
                <a:lumMod val="7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121" name="Rectangle 120">
            <a:extLst>
              <a:ext uri="{FF2B5EF4-FFF2-40B4-BE49-F238E27FC236}">
                <a16:creationId xmlns:a16="http://schemas.microsoft.com/office/drawing/2014/main" id="{80E8F5DB-670D-1846-1F5E-FCF91A4E8133}"/>
              </a:ext>
            </a:extLst>
          </p:cNvPr>
          <p:cNvSpPr/>
          <p:nvPr/>
        </p:nvSpPr>
        <p:spPr>
          <a:xfrm>
            <a:off x="10802122" y="6420385"/>
            <a:ext cx="908134" cy="215444"/>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2" name="Rectangle 121">
            <a:extLst>
              <a:ext uri="{FF2B5EF4-FFF2-40B4-BE49-F238E27FC236}">
                <a16:creationId xmlns:a16="http://schemas.microsoft.com/office/drawing/2014/main" id="{7B4299E4-9101-6F34-92F9-9FB43EE297EF}"/>
              </a:ext>
            </a:extLst>
          </p:cNvPr>
          <p:cNvSpPr/>
          <p:nvPr/>
        </p:nvSpPr>
        <p:spPr>
          <a:xfrm rot="10800000">
            <a:off x="10820558" y="1885826"/>
            <a:ext cx="908134" cy="215444"/>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3" name="Rectangle 122">
            <a:extLst>
              <a:ext uri="{FF2B5EF4-FFF2-40B4-BE49-F238E27FC236}">
                <a16:creationId xmlns:a16="http://schemas.microsoft.com/office/drawing/2014/main" id="{CA009D67-FB61-C6A4-9630-CB400D27049A}"/>
              </a:ext>
            </a:extLst>
          </p:cNvPr>
          <p:cNvSpPr/>
          <p:nvPr/>
        </p:nvSpPr>
        <p:spPr>
          <a:xfrm rot="5400000">
            <a:off x="5819793" y="216258"/>
            <a:ext cx="1239500" cy="3109219"/>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4" name="TextBox 123">
            <a:extLst>
              <a:ext uri="{FF2B5EF4-FFF2-40B4-BE49-F238E27FC236}">
                <a16:creationId xmlns:a16="http://schemas.microsoft.com/office/drawing/2014/main" id="{23DCA0F8-2546-EF6C-F250-29691EF3121B}"/>
              </a:ext>
            </a:extLst>
          </p:cNvPr>
          <p:cNvSpPr txBox="1"/>
          <p:nvPr/>
        </p:nvSpPr>
        <p:spPr>
          <a:xfrm>
            <a:off x="7345238" y="3059155"/>
            <a:ext cx="1236729" cy="3064563"/>
          </a:xfrm>
          <a:prstGeom prst="rect">
            <a:avLst/>
          </a:prstGeom>
          <a:solidFill>
            <a:schemeClr val="accent6">
              <a:lumMod val="40000"/>
              <a:lumOff val="60000"/>
            </a:schemeClr>
          </a:solidFill>
          <a:ln>
            <a:solidFill>
              <a:schemeClr val="accent6">
                <a:lumMod val="75000"/>
              </a:schemeClr>
            </a:solidFill>
          </a:ln>
        </p:spPr>
        <p:txBody>
          <a:bodyPr wrap="square" rtlCol="0">
            <a:noAutofit/>
          </a:bodyPr>
          <a:lstStyle/>
          <a:p>
            <a:pPr algn="ctr"/>
            <a:r>
              <a:rPr lang="en-US"/>
              <a:t>EXTI</a:t>
            </a:r>
            <a:br>
              <a:rPr lang="en-US"/>
            </a:br>
            <a:endParaRPr lang="en-US" sz="1050"/>
          </a:p>
        </p:txBody>
      </p:sp>
      <p:sp>
        <p:nvSpPr>
          <p:cNvPr id="125" name="TextBox 124">
            <a:extLst>
              <a:ext uri="{FF2B5EF4-FFF2-40B4-BE49-F238E27FC236}">
                <a16:creationId xmlns:a16="http://schemas.microsoft.com/office/drawing/2014/main" id="{C3B88C81-6732-F432-55CF-296A68BCC5D7}"/>
              </a:ext>
            </a:extLst>
          </p:cNvPr>
          <p:cNvSpPr txBox="1"/>
          <p:nvPr/>
        </p:nvSpPr>
        <p:spPr>
          <a:xfrm>
            <a:off x="7982968" y="3435239"/>
            <a:ext cx="593327" cy="2677656"/>
          </a:xfrm>
          <a:prstGeom prst="rect">
            <a:avLst/>
          </a:prstGeom>
          <a:noFill/>
        </p:spPr>
        <p:txBody>
          <a:bodyPr wrap="square">
            <a:spAutoFit/>
          </a:bodyPr>
          <a:lstStyle/>
          <a:p>
            <a:pPr algn="r"/>
            <a:r>
              <a:rPr lang="en-US" sz="1050"/>
              <a:t>EXTI0</a:t>
            </a:r>
            <a:br>
              <a:rPr lang="en-US" sz="1050"/>
            </a:br>
            <a:r>
              <a:rPr lang="en-US" sz="1050"/>
              <a:t>EXTI1</a:t>
            </a:r>
            <a:br>
              <a:rPr lang="en-US" sz="1050"/>
            </a:br>
            <a:r>
              <a:rPr lang="en-US" sz="1050"/>
              <a:t>EXTI2</a:t>
            </a:r>
            <a:br>
              <a:rPr lang="en-US" sz="1050"/>
            </a:br>
            <a:r>
              <a:rPr lang="en-US" sz="1050"/>
              <a:t>EXTI3</a:t>
            </a:r>
            <a:br>
              <a:rPr lang="en-US" sz="1050"/>
            </a:br>
            <a:r>
              <a:rPr lang="en-US" sz="1050"/>
              <a:t>EXTI4</a:t>
            </a:r>
          </a:p>
          <a:p>
            <a:pPr algn="r"/>
            <a:r>
              <a:rPr lang="en-US" sz="1050"/>
              <a:t>EXTI5</a:t>
            </a:r>
            <a:br>
              <a:rPr lang="en-US" sz="1050"/>
            </a:br>
            <a:r>
              <a:rPr lang="en-US" sz="1050"/>
              <a:t>EXTI6</a:t>
            </a:r>
            <a:br>
              <a:rPr lang="en-US" sz="1050"/>
            </a:br>
            <a:r>
              <a:rPr lang="en-US" sz="1050"/>
              <a:t>EXTI7</a:t>
            </a:r>
            <a:br>
              <a:rPr lang="en-US" sz="1050"/>
            </a:br>
            <a:r>
              <a:rPr lang="en-US" sz="1050"/>
              <a:t>EXTI8</a:t>
            </a:r>
            <a:br>
              <a:rPr lang="en-US" sz="1050"/>
            </a:br>
            <a:r>
              <a:rPr lang="en-US" sz="1050"/>
              <a:t>EXTI9</a:t>
            </a:r>
            <a:br>
              <a:rPr lang="en-US" sz="1050"/>
            </a:br>
            <a:r>
              <a:rPr lang="en-US" sz="1050"/>
              <a:t>EXTI10</a:t>
            </a:r>
            <a:br>
              <a:rPr lang="en-US" sz="1050"/>
            </a:br>
            <a:r>
              <a:rPr lang="en-US" sz="1050"/>
              <a:t>EXTI11</a:t>
            </a:r>
            <a:br>
              <a:rPr lang="en-US" sz="1050"/>
            </a:br>
            <a:r>
              <a:rPr lang="en-US" sz="1050"/>
              <a:t>EXTI12</a:t>
            </a:r>
            <a:br>
              <a:rPr lang="en-US" sz="1050"/>
            </a:br>
            <a:r>
              <a:rPr lang="en-US" sz="1050"/>
              <a:t>EXTI13</a:t>
            </a:r>
            <a:br>
              <a:rPr lang="en-US" sz="1050"/>
            </a:br>
            <a:r>
              <a:rPr lang="en-US" sz="1050"/>
              <a:t>EXTI14</a:t>
            </a:r>
            <a:br>
              <a:rPr lang="en-US" sz="1050"/>
            </a:br>
            <a:r>
              <a:rPr lang="en-US" sz="1050"/>
              <a:t>EXTI15</a:t>
            </a:r>
            <a:endParaRPr lang="LID4096" sz="3600" dirty="0"/>
          </a:p>
        </p:txBody>
      </p:sp>
      <p:cxnSp>
        <p:nvCxnSpPr>
          <p:cNvPr id="127" name="Straight Arrow Connector 126">
            <a:extLst>
              <a:ext uri="{FF2B5EF4-FFF2-40B4-BE49-F238E27FC236}">
                <a16:creationId xmlns:a16="http://schemas.microsoft.com/office/drawing/2014/main" id="{2C485B81-5CB7-C4C8-0555-B94EFD61945D}"/>
              </a:ext>
            </a:extLst>
          </p:cNvPr>
          <p:cNvCxnSpPr/>
          <p:nvPr/>
        </p:nvCxnSpPr>
        <p:spPr>
          <a:xfrm flipH="1">
            <a:off x="8582613" y="3871274"/>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8" name="Straight Arrow Connector 127">
            <a:extLst>
              <a:ext uri="{FF2B5EF4-FFF2-40B4-BE49-F238E27FC236}">
                <a16:creationId xmlns:a16="http://schemas.microsoft.com/office/drawing/2014/main" id="{2094F033-1EA8-60A1-7BB3-C114DAC77596}"/>
              </a:ext>
            </a:extLst>
          </p:cNvPr>
          <p:cNvCxnSpPr/>
          <p:nvPr/>
        </p:nvCxnSpPr>
        <p:spPr>
          <a:xfrm flipH="1">
            <a:off x="8582613" y="4025771"/>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9" name="Straight Arrow Connector 128">
            <a:extLst>
              <a:ext uri="{FF2B5EF4-FFF2-40B4-BE49-F238E27FC236}">
                <a16:creationId xmlns:a16="http://schemas.microsoft.com/office/drawing/2014/main" id="{E81984CA-C4F6-4DEE-F6D1-4E8B51BA9FD9}"/>
              </a:ext>
            </a:extLst>
          </p:cNvPr>
          <p:cNvCxnSpPr/>
          <p:nvPr/>
        </p:nvCxnSpPr>
        <p:spPr>
          <a:xfrm flipH="1">
            <a:off x="8579442" y="4201242"/>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0" name="Straight Arrow Connector 129">
            <a:extLst>
              <a:ext uri="{FF2B5EF4-FFF2-40B4-BE49-F238E27FC236}">
                <a16:creationId xmlns:a16="http://schemas.microsoft.com/office/drawing/2014/main" id="{0C96A6DC-39FE-D6B2-3AD6-BF1C2D91A745}"/>
              </a:ext>
            </a:extLst>
          </p:cNvPr>
          <p:cNvCxnSpPr/>
          <p:nvPr/>
        </p:nvCxnSpPr>
        <p:spPr>
          <a:xfrm flipH="1">
            <a:off x="8579442" y="4362729"/>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1" name="Straight Arrow Connector 130">
            <a:extLst>
              <a:ext uri="{FF2B5EF4-FFF2-40B4-BE49-F238E27FC236}">
                <a16:creationId xmlns:a16="http://schemas.microsoft.com/office/drawing/2014/main" id="{3632095A-A9FC-085C-CBAC-6BACAB658B0C}"/>
              </a:ext>
            </a:extLst>
          </p:cNvPr>
          <p:cNvCxnSpPr/>
          <p:nvPr/>
        </p:nvCxnSpPr>
        <p:spPr>
          <a:xfrm flipH="1">
            <a:off x="8579442" y="4521023"/>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2" name="Straight Arrow Connector 131">
            <a:extLst>
              <a:ext uri="{FF2B5EF4-FFF2-40B4-BE49-F238E27FC236}">
                <a16:creationId xmlns:a16="http://schemas.microsoft.com/office/drawing/2014/main" id="{CC23F20A-4854-68AE-E981-E78241F1A1E0}"/>
              </a:ext>
            </a:extLst>
          </p:cNvPr>
          <p:cNvCxnSpPr/>
          <p:nvPr/>
        </p:nvCxnSpPr>
        <p:spPr>
          <a:xfrm flipH="1">
            <a:off x="8579442" y="4684587"/>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33" name="Rectangle 132">
            <a:extLst>
              <a:ext uri="{FF2B5EF4-FFF2-40B4-BE49-F238E27FC236}">
                <a16:creationId xmlns:a16="http://schemas.microsoft.com/office/drawing/2014/main" id="{E3178896-C25C-190A-1E70-9BF38A986B44}"/>
              </a:ext>
            </a:extLst>
          </p:cNvPr>
          <p:cNvSpPr/>
          <p:nvPr/>
        </p:nvSpPr>
        <p:spPr>
          <a:xfrm>
            <a:off x="8591001" y="4150818"/>
            <a:ext cx="908134" cy="647781"/>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34" name="TextBox 133">
            <a:extLst>
              <a:ext uri="{FF2B5EF4-FFF2-40B4-BE49-F238E27FC236}">
                <a16:creationId xmlns:a16="http://schemas.microsoft.com/office/drawing/2014/main" id="{47A73D42-438A-BCD8-3EFA-010C2BD5A618}"/>
              </a:ext>
            </a:extLst>
          </p:cNvPr>
          <p:cNvSpPr txBox="1"/>
          <p:nvPr/>
        </p:nvSpPr>
        <p:spPr>
          <a:xfrm>
            <a:off x="7336800" y="3435239"/>
            <a:ext cx="849594" cy="1223412"/>
          </a:xfrm>
          <a:prstGeom prst="rect">
            <a:avLst/>
          </a:prstGeom>
          <a:noFill/>
        </p:spPr>
        <p:txBody>
          <a:bodyPr wrap="square">
            <a:spAutoFit/>
          </a:bodyPr>
          <a:lstStyle/>
          <a:p>
            <a:r>
              <a:rPr lang="en-US" sz="1050"/>
              <a:t>EXTI0</a:t>
            </a:r>
            <a:br>
              <a:rPr lang="en-US" sz="1050"/>
            </a:br>
            <a:r>
              <a:rPr lang="en-US" sz="1050"/>
              <a:t>EXTI1</a:t>
            </a:r>
            <a:br>
              <a:rPr lang="en-US" sz="1050"/>
            </a:br>
            <a:r>
              <a:rPr lang="en-US" sz="1050"/>
              <a:t>EXTI2</a:t>
            </a:r>
            <a:br>
              <a:rPr lang="en-US" sz="1050"/>
            </a:br>
            <a:r>
              <a:rPr lang="en-US" sz="1050"/>
              <a:t>EXTI3</a:t>
            </a:r>
            <a:br>
              <a:rPr lang="en-US" sz="1050"/>
            </a:br>
            <a:r>
              <a:rPr lang="en-US" sz="1050"/>
              <a:t>EXTI4</a:t>
            </a:r>
          </a:p>
          <a:p>
            <a:r>
              <a:rPr lang="en-US" sz="1050"/>
              <a:t>EXTI5_9</a:t>
            </a:r>
            <a:br>
              <a:rPr lang="en-US" sz="1050"/>
            </a:br>
            <a:r>
              <a:rPr lang="en-US" sz="1050"/>
              <a:t>EXTI10_15</a:t>
            </a:r>
          </a:p>
        </p:txBody>
      </p:sp>
      <p:sp>
        <p:nvSpPr>
          <p:cNvPr id="135" name="TextBox 134">
            <a:extLst>
              <a:ext uri="{FF2B5EF4-FFF2-40B4-BE49-F238E27FC236}">
                <a16:creationId xmlns:a16="http://schemas.microsoft.com/office/drawing/2014/main" id="{513432C6-0AED-DC43-A6DF-FA232E5DF78B}"/>
              </a:ext>
            </a:extLst>
          </p:cNvPr>
          <p:cNvSpPr txBox="1"/>
          <p:nvPr/>
        </p:nvSpPr>
        <p:spPr>
          <a:xfrm>
            <a:off x="4025651" y="3050231"/>
            <a:ext cx="2535215" cy="1761580"/>
          </a:xfrm>
          <a:prstGeom prst="rect">
            <a:avLst/>
          </a:prstGeom>
          <a:solidFill>
            <a:schemeClr val="accent1">
              <a:lumMod val="60000"/>
              <a:lumOff val="40000"/>
            </a:schemeClr>
          </a:solidFill>
          <a:ln>
            <a:solidFill>
              <a:schemeClr val="tx2">
                <a:lumMod val="75000"/>
                <a:lumOff val="25000"/>
              </a:schemeClr>
            </a:solidFill>
          </a:ln>
        </p:spPr>
        <p:txBody>
          <a:bodyPr wrap="square" rtlCol="0">
            <a:noAutofit/>
          </a:bodyPr>
          <a:lstStyle/>
          <a:p>
            <a:pPr algn="ctr"/>
            <a:endParaRPr lang="en-US" sz="3600"/>
          </a:p>
          <a:p>
            <a:pPr algn="ctr"/>
            <a:r>
              <a:rPr lang="en-US" sz="3600"/>
              <a:t>PFIC</a:t>
            </a:r>
            <a:endParaRPr lang="LID4096" sz="6000" dirty="0"/>
          </a:p>
        </p:txBody>
      </p:sp>
      <p:cxnSp>
        <p:nvCxnSpPr>
          <p:cNvPr id="139" name="Straight Arrow Connector 138">
            <a:extLst>
              <a:ext uri="{FF2B5EF4-FFF2-40B4-BE49-F238E27FC236}">
                <a16:creationId xmlns:a16="http://schemas.microsoft.com/office/drawing/2014/main" id="{FA9EF79E-B293-8655-9C20-C41A7564F2D6}"/>
              </a:ext>
            </a:extLst>
          </p:cNvPr>
          <p:cNvCxnSpPr/>
          <p:nvPr/>
        </p:nvCxnSpPr>
        <p:spPr>
          <a:xfrm flipH="1">
            <a:off x="8582613" y="3701641"/>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40" name="Straight Arrow Connector 139">
            <a:extLst>
              <a:ext uri="{FF2B5EF4-FFF2-40B4-BE49-F238E27FC236}">
                <a16:creationId xmlns:a16="http://schemas.microsoft.com/office/drawing/2014/main" id="{4394C91B-EB04-9E7F-956B-EFCB5F31F7FF}"/>
              </a:ext>
            </a:extLst>
          </p:cNvPr>
          <p:cNvCxnSpPr/>
          <p:nvPr/>
        </p:nvCxnSpPr>
        <p:spPr>
          <a:xfrm flipH="1">
            <a:off x="8582613" y="3532008"/>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41" name="TextBox 140">
            <a:extLst>
              <a:ext uri="{FF2B5EF4-FFF2-40B4-BE49-F238E27FC236}">
                <a16:creationId xmlns:a16="http://schemas.microsoft.com/office/drawing/2014/main" id="{5F0C2E23-FAF4-4FCB-505F-68A2261A692E}"/>
              </a:ext>
            </a:extLst>
          </p:cNvPr>
          <p:cNvSpPr txBox="1"/>
          <p:nvPr/>
        </p:nvSpPr>
        <p:spPr>
          <a:xfrm>
            <a:off x="9214025" y="3610272"/>
            <a:ext cx="1452013" cy="830997"/>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txBody>
          <a:bodyPr wrap="square" rtlCol="0">
            <a:spAutoFit/>
          </a:bodyPr>
          <a:lstStyle/>
          <a:p>
            <a:r>
              <a:rPr lang="sv-SE" sz="1200" dirty="0"/>
              <a:t>16 inputs. Ett per</a:t>
            </a:r>
            <a:br>
              <a:rPr lang="sv-SE" sz="1200" dirty="0"/>
            </a:br>
            <a:r>
              <a:rPr lang="sv-SE" sz="1200" i="1" dirty="0"/>
              <a:t>pinne. </a:t>
            </a:r>
            <a:r>
              <a:rPr lang="sv-SE" sz="1200" dirty="0"/>
              <a:t>Varje pinne måste väljas från en av portarna. </a:t>
            </a:r>
            <a:endParaRPr lang="LID4096" sz="1200" dirty="0"/>
          </a:p>
        </p:txBody>
      </p:sp>
    </p:spTree>
    <p:extLst>
      <p:ext uri="{BB962C8B-B14F-4D97-AF65-F5344CB8AC3E}">
        <p14:creationId xmlns:p14="http://schemas.microsoft.com/office/powerpoint/2010/main" val="36269114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C4ACB9-5D89-A019-9E5B-29629F16B3D8}"/>
            </a:ext>
          </a:extLst>
        </p:cNvPr>
        <p:cNvGrpSpPr/>
        <p:nvPr/>
      </p:nvGrpSpPr>
      <p:grpSpPr>
        <a:xfrm>
          <a:off x="0" y="0"/>
          <a:ext cx="0" cy="0"/>
          <a:chOff x="0" y="0"/>
          <a:chExt cx="0" cy="0"/>
        </a:xfrm>
      </p:grpSpPr>
      <p:sp>
        <p:nvSpPr>
          <p:cNvPr id="136" name="Rectangle 135">
            <a:extLst>
              <a:ext uri="{FF2B5EF4-FFF2-40B4-BE49-F238E27FC236}">
                <a16:creationId xmlns:a16="http://schemas.microsoft.com/office/drawing/2014/main" id="{7A53215E-985B-6914-84DF-A508D9878004}"/>
              </a:ext>
            </a:extLst>
          </p:cNvPr>
          <p:cNvSpPr/>
          <p:nvPr/>
        </p:nvSpPr>
        <p:spPr>
          <a:xfrm>
            <a:off x="4545237" y="0"/>
            <a:ext cx="7646763" cy="18243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D4CF499F-F4CE-A700-22FA-CB2050304ED4}"/>
              </a:ext>
            </a:extLst>
          </p:cNvPr>
          <p:cNvSpPr>
            <a:spLocks noGrp="1"/>
          </p:cNvSpPr>
          <p:nvPr>
            <p:ph type="title"/>
          </p:nvPr>
        </p:nvSpPr>
        <p:spPr/>
        <p:txBody>
          <a:bodyPr/>
          <a:lstStyle/>
          <a:p>
            <a:r>
              <a:rPr lang="sv-SE" dirty="0" err="1"/>
              <a:t>Routing</a:t>
            </a:r>
            <a:br>
              <a:rPr lang="sv-SE" dirty="0"/>
            </a:br>
            <a:r>
              <a:rPr lang="sv-SE" sz="2800" dirty="0"/>
              <a:t>AFIO_EXTICR</a:t>
            </a:r>
            <a:endParaRPr lang="LID4096" sz="2800" dirty="0"/>
          </a:p>
        </p:txBody>
      </p:sp>
      <p:cxnSp>
        <p:nvCxnSpPr>
          <p:cNvPr id="4" name="Straight Arrow Connector 3">
            <a:extLst>
              <a:ext uri="{FF2B5EF4-FFF2-40B4-BE49-F238E27FC236}">
                <a16:creationId xmlns:a16="http://schemas.microsoft.com/office/drawing/2014/main" id="{5C6C7CE8-98C5-1CBE-0AD8-BFBF4DF8436F}"/>
              </a:ext>
            </a:extLst>
          </p:cNvPr>
          <p:cNvCxnSpPr/>
          <p:nvPr/>
        </p:nvCxnSpPr>
        <p:spPr>
          <a:xfrm flipH="1">
            <a:off x="6560866" y="3560881"/>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5" name="Straight Arrow Connector 4">
            <a:extLst>
              <a:ext uri="{FF2B5EF4-FFF2-40B4-BE49-F238E27FC236}">
                <a16:creationId xmlns:a16="http://schemas.microsoft.com/office/drawing/2014/main" id="{BF63DE74-F504-BE36-D880-DCB2B4AA1FA4}"/>
              </a:ext>
            </a:extLst>
          </p:cNvPr>
          <p:cNvCxnSpPr/>
          <p:nvPr/>
        </p:nvCxnSpPr>
        <p:spPr>
          <a:xfrm flipH="1">
            <a:off x="6560866" y="3712953"/>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 name="Straight Arrow Connector 5">
            <a:extLst>
              <a:ext uri="{FF2B5EF4-FFF2-40B4-BE49-F238E27FC236}">
                <a16:creationId xmlns:a16="http://schemas.microsoft.com/office/drawing/2014/main" id="{C43EA05B-8A24-EB49-96EE-787BB99399F4}"/>
              </a:ext>
            </a:extLst>
          </p:cNvPr>
          <p:cNvCxnSpPr/>
          <p:nvPr/>
        </p:nvCxnSpPr>
        <p:spPr>
          <a:xfrm flipH="1">
            <a:off x="6560866" y="3865025"/>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00511EF0-A9DB-05BB-0580-E6FF1AFD9789}"/>
              </a:ext>
            </a:extLst>
          </p:cNvPr>
          <p:cNvCxnSpPr/>
          <p:nvPr/>
        </p:nvCxnSpPr>
        <p:spPr>
          <a:xfrm flipH="1">
            <a:off x="6560866" y="4029679"/>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F2E92562-05E8-D5BA-66A9-2CCDBCBCE19B}"/>
              </a:ext>
            </a:extLst>
          </p:cNvPr>
          <p:cNvCxnSpPr/>
          <p:nvPr/>
        </p:nvCxnSpPr>
        <p:spPr>
          <a:xfrm flipH="1">
            <a:off x="6560866" y="4194333"/>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65A87343-F59D-65C9-5D06-E713654F9705}"/>
              </a:ext>
            </a:extLst>
          </p:cNvPr>
          <p:cNvCxnSpPr/>
          <p:nvPr/>
        </p:nvCxnSpPr>
        <p:spPr>
          <a:xfrm flipH="1">
            <a:off x="6560866" y="4358987"/>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35BF18ED-25F3-8B44-9E7C-1A0A916EAA4F}"/>
              </a:ext>
            </a:extLst>
          </p:cNvPr>
          <p:cNvCxnSpPr/>
          <p:nvPr/>
        </p:nvCxnSpPr>
        <p:spPr>
          <a:xfrm flipH="1">
            <a:off x="6560866" y="4515253"/>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2" name="Arrow: Down 11">
            <a:extLst>
              <a:ext uri="{FF2B5EF4-FFF2-40B4-BE49-F238E27FC236}">
                <a16:creationId xmlns:a16="http://schemas.microsoft.com/office/drawing/2014/main" id="{089C4193-1216-7DD9-DA09-7E6EB36C1EB8}"/>
              </a:ext>
            </a:extLst>
          </p:cNvPr>
          <p:cNvSpPr/>
          <p:nvPr/>
        </p:nvSpPr>
        <p:spPr>
          <a:xfrm>
            <a:off x="7396501" y="1652537"/>
            <a:ext cx="268777" cy="413962"/>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3" name="TextBox 12">
            <a:extLst>
              <a:ext uri="{FF2B5EF4-FFF2-40B4-BE49-F238E27FC236}">
                <a16:creationId xmlns:a16="http://schemas.microsoft.com/office/drawing/2014/main" id="{FDE85BF0-5317-AEB5-CFCB-8577055C29EB}"/>
              </a:ext>
            </a:extLst>
          </p:cNvPr>
          <p:cNvSpPr txBox="1"/>
          <p:nvPr/>
        </p:nvSpPr>
        <p:spPr>
          <a:xfrm rot="5400000">
            <a:off x="7390249" y="2065504"/>
            <a:ext cx="381836" cy="369332"/>
          </a:xfrm>
          <a:prstGeom prst="rect">
            <a:avLst/>
          </a:prstGeom>
          <a:noFill/>
        </p:spPr>
        <p:txBody>
          <a:bodyPr wrap="none" rtlCol="0">
            <a:spAutoFit/>
          </a:bodyPr>
          <a:lstStyle/>
          <a:p>
            <a:r>
              <a:rPr lang="en-GB"/>
              <a:t>...</a:t>
            </a:r>
            <a:endParaRPr lang="LID4096"/>
          </a:p>
        </p:txBody>
      </p:sp>
      <p:sp>
        <p:nvSpPr>
          <p:cNvPr id="14" name="Arrow: Down 13">
            <a:extLst>
              <a:ext uri="{FF2B5EF4-FFF2-40B4-BE49-F238E27FC236}">
                <a16:creationId xmlns:a16="http://schemas.microsoft.com/office/drawing/2014/main" id="{BD83BA88-1D5E-D9BB-F261-EC8F7259BBD8}"/>
              </a:ext>
            </a:extLst>
          </p:cNvPr>
          <p:cNvSpPr/>
          <p:nvPr/>
        </p:nvSpPr>
        <p:spPr>
          <a:xfrm>
            <a:off x="6745844" y="1652537"/>
            <a:ext cx="268777" cy="413962"/>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5" name="TextBox 14">
            <a:extLst>
              <a:ext uri="{FF2B5EF4-FFF2-40B4-BE49-F238E27FC236}">
                <a16:creationId xmlns:a16="http://schemas.microsoft.com/office/drawing/2014/main" id="{B4632AD8-05CA-760B-C2EC-92FEF5661825}"/>
              </a:ext>
            </a:extLst>
          </p:cNvPr>
          <p:cNvSpPr txBox="1"/>
          <p:nvPr/>
        </p:nvSpPr>
        <p:spPr>
          <a:xfrm rot="5400000">
            <a:off x="6739592" y="2065504"/>
            <a:ext cx="381836" cy="369332"/>
          </a:xfrm>
          <a:prstGeom prst="rect">
            <a:avLst/>
          </a:prstGeom>
          <a:noFill/>
        </p:spPr>
        <p:txBody>
          <a:bodyPr wrap="none" rtlCol="0">
            <a:spAutoFit/>
          </a:bodyPr>
          <a:lstStyle/>
          <a:p>
            <a:r>
              <a:rPr lang="en-GB"/>
              <a:t>...</a:t>
            </a:r>
            <a:endParaRPr lang="LID4096"/>
          </a:p>
        </p:txBody>
      </p:sp>
      <p:sp>
        <p:nvSpPr>
          <p:cNvPr id="16" name="Arrow: Down 15">
            <a:extLst>
              <a:ext uri="{FF2B5EF4-FFF2-40B4-BE49-F238E27FC236}">
                <a16:creationId xmlns:a16="http://schemas.microsoft.com/office/drawing/2014/main" id="{E395B11F-F7DD-3518-D82B-93D582653F04}"/>
              </a:ext>
            </a:extLst>
          </p:cNvPr>
          <p:cNvSpPr/>
          <p:nvPr/>
        </p:nvSpPr>
        <p:spPr>
          <a:xfrm>
            <a:off x="6156844" y="1667148"/>
            <a:ext cx="268777" cy="413962"/>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7" name="TextBox 16">
            <a:extLst>
              <a:ext uri="{FF2B5EF4-FFF2-40B4-BE49-F238E27FC236}">
                <a16:creationId xmlns:a16="http://schemas.microsoft.com/office/drawing/2014/main" id="{E370471D-10A5-5B6B-066C-74638F5A44B3}"/>
              </a:ext>
            </a:extLst>
          </p:cNvPr>
          <p:cNvSpPr txBox="1"/>
          <p:nvPr/>
        </p:nvSpPr>
        <p:spPr>
          <a:xfrm rot="5400000">
            <a:off x="6150592" y="2080115"/>
            <a:ext cx="381836" cy="369332"/>
          </a:xfrm>
          <a:prstGeom prst="rect">
            <a:avLst/>
          </a:prstGeom>
          <a:noFill/>
        </p:spPr>
        <p:txBody>
          <a:bodyPr wrap="none" rtlCol="0">
            <a:spAutoFit/>
          </a:bodyPr>
          <a:lstStyle/>
          <a:p>
            <a:r>
              <a:rPr lang="en-GB"/>
              <a:t>...</a:t>
            </a:r>
            <a:endParaRPr lang="LID4096"/>
          </a:p>
        </p:txBody>
      </p:sp>
      <p:sp>
        <p:nvSpPr>
          <p:cNvPr id="18" name="Arrow: Down 17">
            <a:extLst>
              <a:ext uri="{FF2B5EF4-FFF2-40B4-BE49-F238E27FC236}">
                <a16:creationId xmlns:a16="http://schemas.microsoft.com/office/drawing/2014/main" id="{6295C73E-E97E-AF95-A132-EC0A5EA29697}"/>
              </a:ext>
            </a:extLst>
          </p:cNvPr>
          <p:cNvSpPr/>
          <p:nvPr/>
        </p:nvSpPr>
        <p:spPr>
          <a:xfrm>
            <a:off x="5567844" y="1681759"/>
            <a:ext cx="268777" cy="413962"/>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9" name="TextBox 18">
            <a:extLst>
              <a:ext uri="{FF2B5EF4-FFF2-40B4-BE49-F238E27FC236}">
                <a16:creationId xmlns:a16="http://schemas.microsoft.com/office/drawing/2014/main" id="{8931E74F-8136-1025-A3A4-07DDD0A571EF}"/>
              </a:ext>
            </a:extLst>
          </p:cNvPr>
          <p:cNvSpPr txBox="1"/>
          <p:nvPr/>
        </p:nvSpPr>
        <p:spPr>
          <a:xfrm rot="5400000">
            <a:off x="5561592" y="2094726"/>
            <a:ext cx="381836" cy="369332"/>
          </a:xfrm>
          <a:prstGeom prst="rect">
            <a:avLst/>
          </a:prstGeom>
          <a:noFill/>
        </p:spPr>
        <p:txBody>
          <a:bodyPr wrap="none" rtlCol="0">
            <a:spAutoFit/>
          </a:bodyPr>
          <a:lstStyle/>
          <a:p>
            <a:r>
              <a:rPr lang="en-GB"/>
              <a:t>...</a:t>
            </a:r>
            <a:endParaRPr lang="LID4096"/>
          </a:p>
        </p:txBody>
      </p:sp>
      <p:sp>
        <p:nvSpPr>
          <p:cNvPr id="20" name="Arrow: Down 19">
            <a:extLst>
              <a:ext uri="{FF2B5EF4-FFF2-40B4-BE49-F238E27FC236}">
                <a16:creationId xmlns:a16="http://schemas.microsoft.com/office/drawing/2014/main" id="{DB97C4E7-D189-B036-E409-C917ECE50DDD}"/>
              </a:ext>
            </a:extLst>
          </p:cNvPr>
          <p:cNvSpPr/>
          <p:nvPr/>
        </p:nvSpPr>
        <p:spPr>
          <a:xfrm>
            <a:off x="8212267" y="1667148"/>
            <a:ext cx="268777" cy="413962"/>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1" name="Arrow: Down 20">
            <a:extLst>
              <a:ext uri="{FF2B5EF4-FFF2-40B4-BE49-F238E27FC236}">
                <a16:creationId xmlns:a16="http://schemas.microsoft.com/office/drawing/2014/main" id="{3FDC191C-AA5C-0DC7-2AA4-4175E58EB8EB}"/>
              </a:ext>
            </a:extLst>
          </p:cNvPr>
          <p:cNvSpPr/>
          <p:nvPr/>
        </p:nvSpPr>
        <p:spPr>
          <a:xfrm>
            <a:off x="8845049" y="1645290"/>
            <a:ext cx="268777" cy="413962"/>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2" name="Rectangle 21">
            <a:extLst>
              <a:ext uri="{FF2B5EF4-FFF2-40B4-BE49-F238E27FC236}">
                <a16:creationId xmlns:a16="http://schemas.microsoft.com/office/drawing/2014/main" id="{B4C1ED03-4D00-2296-599D-88CCC51490C5}"/>
              </a:ext>
            </a:extLst>
          </p:cNvPr>
          <p:cNvSpPr/>
          <p:nvPr/>
        </p:nvSpPr>
        <p:spPr>
          <a:xfrm>
            <a:off x="10824545" y="5970889"/>
            <a:ext cx="863289" cy="639391"/>
          </a:xfrm>
          <a:prstGeom prst="rect">
            <a:avLst/>
          </a:prstGeom>
          <a:solidFill>
            <a:schemeClr val="bg1">
              <a:lumMod val="85000"/>
            </a:schemeClr>
          </a:solidFill>
          <a:ln w="127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3" name="Rectangle 22">
            <a:extLst>
              <a:ext uri="{FF2B5EF4-FFF2-40B4-BE49-F238E27FC236}">
                <a16:creationId xmlns:a16="http://schemas.microsoft.com/office/drawing/2014/main" id="{4D321C63-1174-98F7-4084-7AE5110802A6}"/>
              </a:ext>
            </a:extLst>
          </p:cNvPr>
          <p:cNvSpPr/>
          <p:nvPr/>
        </p:nvSpPr>
        <p:spPr>
          <a:xfrm>
            <a:off x="10830863" y="2326231"/>
            <a:ext cx="863289" cy="1731698"/>
          </a:xfrm>
          <a:prstGeom prst="rect">
            <a:avLst/>
          </a:prstGeom>
          <a:solidFill>
            <a:schemeClr val="bg1">
              <a:lumMod val="8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4" name="TextBox 23">
            <a:extLst>
              <a:ext uri="{FF2B5EF4-FFF2-40B4-BE49-F238E27FC236}">
                <a16:creationId xmlns:a16="http://schemas.microsoft.com/office/drawing/2014/main" id="{C38DE613-62CE-0CB3-73DC-24B07FA78032}"/>
              </a:ext>
            </a:extLst>
          </p:cNvPr>
          <p:cNvSpPr txBox="1"/>
          <p:nvPr/>
        </p:nvSpPr>
        <p:spPr>
          <a:xfrm>
            <a:off x="11296286" y="2619342"/>
            <a:ext cx="397866" cy="215444"/>
          </a:xfrm>
          <a:prstGeom prst="rect">
            <a:avLst/>
          </a:prstGeom>
          <a:noFill/>
          <a:ln>
            <a:noFill/>
          </a:ln>
        </p:spPr>
        <p:txBody>
          <a:bodyPr wrap="none" rtlCol="0">
            <a:spAutoFit/>
          </a:bodyPr>
          <a:lstStyle/>
          <a:p>
            <a:r>
              <a:rPr lang="en-GB" sz="800">
                <a:solidFill>
                  <a:schemeClr val="accent2">
                    <a:lumMod val="75000"/>
                  </a:schemeClr>
                </a:solidFill>
              </a:rPr>
              <a:t>pin 0</a:t>
            </a:r>
          </a:p>
        </p:txBody>
      </p:sp>
      <p:cxnSp>
        <p:nvCxnSpPr>
          <p:cNvPr id="25" name="Straight Connector 24">
            <a:extLst>
              <a:ext uri="{FF2B5EF4-FFF2-40B4-BE49-F238E27FC236}">
                <a16:creationId xmlns:a16="http://schemas.microsoft.com/office/drawing/2014/main" id="{12AD1CD3-F40D-7675-3EB8-3B7E8A48F6E5}"/>
              </a:ext>
            </a:extLst>
          </p:cNvPr>
          <p:cNvCxnSpPr>
            <a:cxnSpLocks/>
          </p:cNvCxnSpPr>
          <p:nvPr/>
        </p:nvCxnSpPr>
        <p:spPr>
          <a:xfrm>
            <a:off x="10901174" y="2727066"/>
            <a:ext cx="355269" cy="3727"/>
          </a:xfrm>
          <a:prstGeom prst="line">
            <a:avLst/>
          </a:prstGeom>
          <a:ln>
            <a:solidFill>
              <a:schemeClr val="accent2">
                <a:lumMod val="75000"/>
              </a:schemeClr>
            </a:solidFill>
            <a:prstDash val="dash"/>
          </a:ln>
          <a:effectLst/>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84C7DB21-A2E3-D273-6988-2C66EB65F4A2}"/>
              </a:ext>
            </a:extLst>
          </p:cNvPr>
          <p:cNvSpPr/>
          <p:nvPr/>
        </p:nvSpPr>
        <p:spPr>
          <a:xfrm>
            <a:off x="11256443" y="2682348"/>
            <a:ext cx="79686" cy="89433"/>
          </a:xfrm>
          <a:prstGeom prst="ellipse">
            <a:avLst/>
          </a:prstGeom>
          <a:noFill/>
          <a:ln>
            <a:solidFill>
              <a:schemeClr val="accent2">
                <a:lumMod val="7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27" name="TextBox 26">
            <a:extLst>
              <a:ext uri="{FF2B5EF4-FFF2-40B4-BE49-F238E27FC236}">
                <a16:creationId xmlns:a16="http://schemas.microsoft.com/office/drawing/2014/main" id="{FB638AB8-9AB5-A5BD-E35C-8DAD49E1C03A}"/>
              </a:ext>
            </a:extLst>
          </p:cNvPr>
          <p:cNvSpPr txBox="1"/>
          <p:nvPr/>
        </p:nvSpPr>
        <p:spPr>
          <a:xfrm>
            <a:off x="11296286" y="2758567"/>
            <a:ext cx="397866" cy="215444"/>
          </a:xfrm>
          <a:prstGeom prst="rect">
            <a:avLst/>
          </a:prstGeom>
          <a:noFill/>
        </p:spPr>
        <p:txBody>
          <a:bodyPr wrap="none" rtlCol="0">
            <a:spAutoFit/>
          </a:bodyPr>
          <a:lstStyle/>
          <a:p>
            <a:r>
              <a:rPr lang="en-GB" sz="800">
                <a:solidFill>
                  <a:schemeClr val="accent6">
                    <a:lumMod val="75000"/>
                  </a:schemeClr>
                </a:solidFill>
              </a:rPr>
              <a:t>pin 1</a:t>
            </a:r>
          </a:p>
        </p:txBody>
      </p:sp>
      <p:cxnSp>
        <p:nvCxnSpPr>
          <p:cNvPr id="28" name="Straight Connector 27">
            <a:extLst>
              <a:ext uri="{FF2B5EF4-FFF2-40B4-BE49-F238E27FC236}">
                <a16:creationId xmlns:a16="http://schemas.microsoft.com/office/drawing/2014/main" id="{6D3E7751-D868-A5D9-E429-146364CB7CBD}"/>
              </a:ext>
            </a:extLst>
          </p:cNvPr>
          <p:cNvCxnSpPr>
            <a:cxnSpLocks/>
          </p:cNvCxnSpPr>
          <p:nvPr/>
        </p:nvCxnSpPr>
        <p:spPr>
          <a:xfrm>
            <a:off x="10901174" y="2866291"/>
            <a:ext cx="355269" cy="3727"/>
          </a:xfrm>
          <a:prstGeom prst="line">
            <a:avLst/>
          </a:prstGeom>
          <a:ln>
            <a:solidFill>
              <a:schemeClr val="accent6">
                <a:lumMod val="75000"/>
              </a:schemeClr>
            </a:solidFill>
            <a:prstDash val="dash"/>
          </a:ln>
          <a:effectLst/>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1F733381-814D-23D0-9115-1048FC593CD6}"/>
              </a:ext>
            </a:extLst>
          </p:cNvPr>
          <p:cNvSpPr/>
          <p:nvPr/>
        </p:nvSpPr>
        <p:spPr>
          <a:xfrm>
            <a:off x="11256443" y="2821573"/>
            <a:ext cx="79686" cy="89433"/>
          </a:xfrm>
          <a:prstGeom prst="ellipse">
            <a:avLst/>
          </a:prstGeom>
          <a:noFill/>
          <a:ln>
            <a:solidFill>
              <a:schemeClr val="accent6">
                <a:lumMod val="7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30" name="TextBox 29">
            <a:extLst>
              <a:ext uri="{FF2B5EF4-FFF2-40B4-BE49-F238E27FC236}">
                <a16:creationId xmlns:a16="http://schemas.microsoft.com/office/drawing/2014/main" id="{2E5FE653-CA69-C45D-EC5F-E107CB16BBE0}"/>
              </a:ext>
            </a:extLst>
          </p:cNvPr>
          <p:cNvSpPr txBox="1"/>
          <p:nvPr/>
        </p:nvSpPr>
        <p:spPr>
          <a:xfrm>
            <a:off x="11296286" y="2897792"/>
            <a:ext cx="397866" cy="215444"/>
          </a:xfrm>
          <a:prstGeom prst="rect">
            <a:avLst/>
          </a:prstGeom>
          <a:noFill/>
        </p:spPr>
        <p:txBody>
          <a:bodyPr wrap="none" rtlCol="0">
            <a:spAutoFit/>
          </a:bodyPr>
          <a:lstStyle/>
          <a:p>
            <a:r>
              <a:rPr lang="en-GB" sz="800"/>
              <a:t>pin 2</a:t>
            </a:r>
          </a:p>
        </p:txBody>
      </p:sp>
      <p:cxnSp>
        <p:nvCxnSpPr>
          <p:cNvPr id="31" name="Straight Connector 30">
            <a:extLst>
              <a:ext uri="{FF2B5EF4-FFF2-40B4-BE49-F238E27FC236}">
                <a16:creationId xmlns:a16="http://schemas.microsoft.com/office/drawing/2014/main" id="{54166EED-418F-BC2C-9ACF-78E1F8E4202A}"/>
              </a:ext>
            </a:extLst>
          </p:cNvPr>
          <p:cNvCxnSpPr>
            <a:cxnSpLocks/>
          </p:cNvCxnSpPr>
          <p:nvPr/>
        </p:nvCxnSpPr>
        <p:spPr>
          <a:xfrm>
            <a:off x="10901174" y="3005516"/>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32" name="Oval 31">
            <a:extLst>
              <a:ext uri="{FF2B5EF4-FFF2-40B4-BE49-F238E27FC236}">
                <a16:creationId xmlns:a16="http://schemas.microsoft.com/office/drawing/2014/main" id="{61C0226E-41FF-2A7F-96AB-96F92C85B161}"/>
              </a:ext>
            </a:extLst>
          </p:cNvPr>
          <p:cNvSpPr/>
          <p:nvPr/>
        </p:nvSpPr>
        <p:spPr>
          <a:xfrm>
            <a:off x="11256443" y="2960798"/>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33" name="TextBox 32">
            <a:extLst>
              <a:ext uri="{FF2B5EF4-FFF2-40B4-BE49-F238E27FC236}">
                <a16:creationId xmlns:a16="http://schemas.microsoft.com/office/drawing/2014/main" id="{736944AD-26F2-55F8-4493-C101F97384EE}"/>
              </a:ext>
            </a:extLst>
          </p:cNvPr>
          <p:cNvSpPr txBox="1"/>
          <p:nvPr/>
        </p:nvSpPr>
        <p:spPr>
          <a:xfrm>
            <a:off x="11296286" y="3037017"/>
            <a:ext cx="397866" cy="215444"/>
          </a:xfrm>
          <a:prstGeom prst="rect">
            <a:avLst/>
          </a:prstGeom>
          <a:noFill/>
        </p:spPr>
        <p:txBody>
          <a:bodyPr wrap="none" rtlCol="0">
            <a:spAutoFit/>
          </a:bodyPr>
          <a:lstStyle/>
          <a:p>
            <a:r>
              <a:rPr lang="en-GB" sz="800"/>
              <a:t>pin 3</a:t>
            </a:r>
          </a:p>
        </p:txBody>
      </p:sp>
      <p:cxnSp>
        <p:nvCxnSpPr>
          <p:cNvPr id="34" name="Straight Connector 33">
            <a:extLst>
              <a:ext uri="{FF2B5EF4-FFF2-40B4-BE49-F238E27FC236}">
                <a16:creationId xmlns:a16="http://schemas.microsoft.com/office/drawing/2014/main" id="{B933E582-BAE2-34AA-314C-654430678CE5}"/>
              </a:ext>
            </a:extLst>
          </p:cNvPr>
          <p:cNvCxnSpPr>
            <a:cxnSpLocks/>
          </p:cNvCxnSpPr>
          <p:nvPr/>
        </p:nvCxnSpPr>
        <p:spPr>
          <a:xfrm>
            <a:off x="10901174" y="3144741"/>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7E4D9B38-B888-3C62-3213-E414B29786EC}"/>
              </a:ext>
            </a:extLst>
          </p:cNvPr>
          <p:cNvSpPr/>
          <p:nvPr/>
        </p:nvSpPr>
        <p:spPr>
          <a:xfrm>
            <a:off x="11256443" y="3100023"/>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36" name="TextBox 35">
            <a:extLst>
              <a:ext uri="{FF2B5EF4-FFF2-40B4-BE49-F238E27FC236}">
                <a16:creationId xmlns:a16="http://schemas.microsoft.com/office/drawing/2014/main" id="{BB2D8F18-59B5-6C2E-CA78-E1D0AA7759DA}"/>
              </a:ext>
            </a:extLst>
          </p:cNvPr>
          <p:cNvSpPr txBox="1"/>
          <p:nvPr/>
        </p:nvSpPr>
        <p:spPr>
          <a:xfrm>
            <a:off x="11296286" y="3176242"/>
            <a:ext cx="397866" cy="215444"/>
          </a:xfrm>
          <a:prstGeom prst="rect">
            <a:avLst/>
          </a:prstGeom>
          <a:noFill/>
        </p:spPr>
        <p:txBody>
          <a:bodyPr wrap="none" rtlCol="0">
            <a:spAutoFit/>
          </a:bodyPr>
          <a:lstStyle/>
          <a:p>
            <a:r>
              <a:rPr lang="en-GB" sz="800"/>
              <a:t>pin 4</a:t>
            </a:r>
          </a:p>
        </p:txBody>
      </p:sp>
      <p:cxnSp>
        <p:nvCxnSpPr>
          <p:cNvPr id="37" name="Straight Connector 36">
            <a:extLst>
              <a:ext uri="{FF2B5EF4-FFF2-40B4-BE49-F238E27FC236}">
                <a16:creationId xmlns:a16="http://schemas.microsoft.com/office/drawing/2014/main" id="{A10EC928-3102-F86D-838F-3AFB589FFBA8}"/>
              </a:ext>
            </a:extLst>
          </p:cNvPr>
          <p:cNvCxnSpPr>
            <a:cxnSpLocks/>
          </p:cNvCxnSpPr>
          <p:nvPr/>
        </p:nvCxnSpPr>
        <p:spPr>
          <a:xfrm>
            <a:off x="10901174" y="3283966"/>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38" name="Oval 37">
            <a:extLst>
              <a:ext uri="{FF2B5EF4-FFF2-40B4-BE49-F238E27FC236}">
                <a16:creationId xmlns:a16="http://schemas.microsoft.com/office/drawing/2014/main" id="{A2BEB356-BDC1-9DCA-03DB-B355F427D55C}"/>
              </a:ext>
            </a:extLst>
          </p:cNvPr>
          <p:cNvSpPr/>
          <p:nvPr/>
        </p:nvSpPr>
        <p:spPr>
          <a:xfrm>
            <a:off x="11256443" y="3239248"/>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39" name="TextBox 38">
            <a:extLst>
              <a:ext uri="{FF2B5EF4-FFF2-40B4-BE49-F238E27FC236}">
                <a16:creationId xmlns:a16="http://schemas.microsoft.com/office/drawing/2014/main" id="{66A3356F-D73D-BFA6-0789-09CD13B90546}"/>
              </a:ext>
            </a:extLst>
          </p:cNvPr>
          <p:cNvSpPr txBox="1"/>
          <p:nvPr/>
        </p:nvSpPr>
        <p:spPr>
          <a:xfrm>
            <a:off x="11296286" y="3315467"/>
            <a:ext cx="397866" cy="215444"/>
          </a:xfrm>
          <a:prstGeom prst="rect">
            <a:avLst/>
          </a:prstGeom>
          <a:noFill/>
        </p:spPr>
        <p:txBody>
          <a:bodyPr wrap="none" rtlCol="0">
            <a:spAutoFit/>
          </a:bodyPr>
          <a:lstStyle/>
          <a:p>
            <a:r>
              <a:rPr lang="en-GB" sz="800"/>
              <a:t>pin 5</a:t>
            </a:r>
          </a:p>
        </p:txBody>
      </p:sp>
      <p:cxnSp>
        <p:nvCxnSpPr>
          <p:cNvPr id="40" name="Straight Connector 39">
            <a:extLst>
              <a:ext uri="{FF2B5EF4-FFF2-40B4-BE49-F238E27FC236}">
                <a16:creationId xmlns:a16="http://schemas.microsoft.com/office/drawing/2014/main" id="{FE10662E-6C01-F793-5C0D-E3ECAEC370C9}"/>
              </a:ext>
            </a:extLst>
          </p:cNvPr>
          <p:cNvCxnSpPr>
            <a:cxnSpLocks/>
          </p:cNvCxnSpPr>
          <p:nvPr/>
        </p:nvCxnSpPr>
        <p:spPr>
          <a:xfrm>
            <a:off x="10901174" y="3423191"/>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9A1246BD-1A74-CCF0-A9C5-D517E674F255}"/>
              </a:ext>
            </a:extLst>
          </p:cNvPr>
          <p:cNvSpPr/>
          <p:nvPr/>
        </p:nvSpPr>
        <p:spPr>
          <a:xfrm>
            <a:off x="11256443" y="3378473"/>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42" name="TextBox 41">
            <a:extLst>
              <a:ext uri="{FF2B5EF4-FFF2-40B4-BE49-F238E27FC236}">
                <a16:creationId xmlns:a16="http://schemas.microsoft.com/office/drawing/2014/main" id="{A3DD557B-A0F4-5DC4-BFDF-CFC06BA3B3A9}"/>
              </a:ext>
            </a:extLst>
          </p:cNvPr>
          <p:cNvSpPr txBox="1"/>
          <p:nvPr/>
        </p:nvSpPr>
        <p:spPr>
          <a:xfrm>
            <a:off x="11296286" y="3454692"/>
            <a:ext cx="397866" cy="215444"/>
          </a:xfrm>
          <a:prstGeom prst="rect">
            <a:avLst/>
          </a:prstGeom>
          <a:noFill/>
        </p:spPr>
        <p:txBody>
          <a:bodyPr wrap="none" rtlCol="0">
            <a:spAutoFit/>
          </a:bodyPr>
          <a:lstStyle/>
          <a:p>
            <a:r>
              <a:rPr lang="en-GB" sz="800"/>
              <a:t>pin 6</a:t>
            </a:r>
          </a:p>
        </p:txBody>
      </p:sp>
      <p:cxnSp>
        <p:nvCxnSpPr>
          <p:cNvPr id="43" name="Straight Connector 42">
            <a:extLst>
              <a:ext uri="{FF2B5EF4-FFF2-40B4-BE49-F238E27FC236}">
                <a16:creationId xmlns:a16="http://schemas.microsoft.com/office/drawing/2014/main" id="{5EECFEF8-F4C2-A830-0CB5-7627FF1C2ACB}"/>
              </a:ext>
            </a:extLst>
          </p:cNvPr>
          <p:cNvCxnSpPr>
            <a:cxnSpLocks/>
          </p:cNvCxnSpPr>
          <p:nvPr/>
        </p:nvCxnSpPr>
        <p:spPr>
          <a:xfrm>
            <a:off x="10901174" y="3562416"/>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44" name="Oval 43">
            <a:extLst>
              <a:ext uri="{FF2B5EF4-FFF2-40B4-BE49-F238E27FC236}">
                <a16:creationId xmlns:a16="http://schemas.microsoft.com/office/drawing/2014/main" id="{B2787101-06A6-BCCA-710E-C92EC32DDD1C}"/>
              </a:ext>
            </a:extLst>
          </p:cNvPr>
          <p:cNvSpPr/>
          <p:nvPr/>
        </p:nvSpPr>
        <p:spPr>
          <a:xfrm>
            <a:off x="11256443" y="3517698"/>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45" name="TextBox 44">
            <a:extLst>
              <a:ext uri="{FF2B5EF4-FFF2-40B4-BE49-F238E27FC236}">
                <a16:creationId xmlns:a16="http://schemas.microsoft.com/office/drawing/2014/main" id="{00AD2381-007E-6FAE-5265-780A1E1E85C5}"/>
              </a:ext>
            </a:extLst>
          </p:cNvPr>
          <p:cNvSpPr txBox="1"/>
          <p:nvPr/>
        </p:nvSpPr>
        <p:spPr>
          <a:xfrm>
            <a:off x="11296286" y="3593917"/>
            <a:ext cx="397866" cy="215444"/>
          </a:xfrm>
          <a:prstGeom prst="rect">
            <a:avLst/>
          </a:prstGeom>
          <a:noFill/>
        </p:spPr>
        <p:txBody>
          <a:bodyPr wrap="none" rtlCol="0">
            <a:spAutoFit/>
          </a:bodyPr>
          <a:lstStyle/>
          <a:p>
            <a:r>
              <a:rPr lang="en-GB" sz="800"/>
              <a:t>pin 7</a:t>
            </a:r>
          </a:p>
        </p:txBody>
      </p:sp>
      <p:cxnSp>
        <p:nvCxnSpPr>
          <p:cNvPr id="46" name="Straight Connector 45">
            <a:extLst>
              <a:ext uri="{FF2B5EF4-FFF2-40B4-BE49-F238E27FC236}">
                <a16:creationId xmlns:a16="http://schemas.microsoft.com/office/drawing/2014/main" id="{F31CC111-7C0C-C8F9-3557-258083E00943}"/>
              </a:ext>
            </a:extLst>
          </p:cNvPr>
          <p:cNvCxnSpPr>
            <a:cxnSpLocks/>
          </p:cNvCxnSpPr>
          <p:nvPr/>
        </p:nvCxnSpPr>
        <p:spPr>
          <a:xfrm>
            <a:off x="10901174" y="3701641"/>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47" name="Oval 46">
            <a:extLst>
              <a:ext uri="{FF2B5EF4-FFF2-40B4-BE49-F238E27FC236}">
                <a16:creationId xmlns:a16="http://schemas.microsoft.com/office/drawing/2014/main" id="{0ABBD1E5-F1B1-EBC7-163A-8F021F104B03}"/>
              </a:ext>
            </a:extLst>
          </p:cNvPr>
          <p:cNvSpPr/>
          <p:nvPr/>
        </p:nvSpPr>
        <p:spPr>
          <a:xfrm>
            <a:off x="11256443" y="3656923"/>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48" name="TextBox 47">
            <a:extLst>
              <a:ext uri="{FF2B5EF4-FFF2-40B4-BE49-F238E27FC236}">
                <a16:creationId xmlns:a16="http://schemas.microsoft.com/office/drawing/2014/main" id="{58543156-F7D5-E504-01C5-B5EC5AC0193E}"/>
              </a:ext>
            </a:extLst>
          </p:cNvPr>
          <p:cNvSpPr txBox="1"/>
          <p:nvPr/>
        </p:nvSpPr>
        <p:spPr>
          <a:xfrm rot="5400000">
            <a:off x="11145211" y="3719205"/>
            <a:ext cx="381836" cy="369332"/>
          </a:xfrm>
          <a:prstGeom prst="rect">
            <a:avLst/>
          </a:prstGeom>
          <a:noFill/>
        </p:spPr>
        <p:txBody>
          <a:bodyPr wrap="none" rtlCol="0">
            <a:spAutoFit/>
          </a:bodyPr>
          <a:lstStyle/>
          <a:p>
            <a:r>
              <a:rPr lang="en-GB"/>
              <a:t>...</a:t>
            </a:r>
            <a:endParaRPr lang="LID4096"/>
          </a:p>
        </p:txBody>
      </p:sp>
      <p:sp>
        <p:nvSpPr>
          <p:cNvPr id="49" name="TextBox 48">
            <a:extLst>
              <a:ext uri="{FF2B5EF4-FFF2-40B4-BE49-F238E27FC236}">
                <a16:creationId xmlns:a16="http://schemas.microsoft.com/office/drawing/2014/main" id="{216292A8-C858-C1DC-08A8-F6A4F4F1A602}"/>
              </a:ext>
            </a:extLst>
          </p:cNvPr>
          <p:cNvSpPr txBox="1"/>
          <p:nvPr/>
        </p:nvSpPr>
        <p:spPr>
          <a:xfrm>
            <a:off x="10878042" y="2326231"/>
            <a:ext cx="793166" cy="369332"/>
          </a:xfrm>
          <a:prstGeom prst="rect">
            <a:avLst/>
          </a:prstGeom>
          <a:noFill/>
        </p:spPr>
        <p:txBody>
          <a:bodyPr wrap="none" rtlCol="0">
            <a:spAutoFit/>
          </a:bodyPr>
          <a:lstStyle/>
          <a:p>
            <a:r>
              <a:rPr lang="en-GB"/>
              <a:t>Port D</a:t>
            </a:r>
            <a:endParaRPr lang="LID4096"/>
          </a:p>
        </p:txBody>
      </p:sp>
      <p:sp>
        <p:nvSpPr>
          <p:cNvPr id="50" name="Rectangle 49">
            <a:extLst>
              <a:ext uri="{FF2B5EF4-FFF2-40B4-BE49-F238E27FC236}">
                <a16:creationId xmlns:a16="http://schemas.microsoft.com/office/drawing/2014/main" id="{23605128-3140-3099-5221-8F03B6083065}"/>
              </a:ext>
            </a:extLst>
          </p:cNvPr>
          <p:cNvSpPr/>
          <p:nvPr/>
        </p:nvSpPr>
        <p:spPr>
          <a:xfrm>
            <a:off x="10830863" y="4150819"/>
            <a:ext cx="863289" cy="1731698"/>
          </a:xfrm>
          <a:prstGeom prst="rect">
            <a:avLst/>
          </a:prstGeom>
          <a:solidFill>
            <a:schemeClr val="bg1">
              <a:lumMod val="8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51" name="TextBox 50">
            <a:extLst>
              <a:ext uri="{FF2B5EF4-FFF2-40B4-BE49-F238E27FC236}">
                <a16:creationId xmlns:a16="http://schemas.microsoft.com/office/drawing/2014/main" id="{27E766A8-1E1A-4322-D77D-1C3F071FBFC3}"/>
              </a:ext>
            </a:extLst>
          </p:cNvPr>
          <p:cNvSpPr txBox="1"/>
          <p:nvPr/>
        </p:nvSpPr>
        <p:spPr>
          <a:xfrm>
            <a:off x="11296286" y="4443930"/>
            <a:ext cx="397866" cy="215444"/>
          </a:xfrm>
          <a:prstGeom prst="rect">
            <a:avLst/>
          </a:prstGeom>
          <a:noFill/>
        </p:spPr>
        <p:txBody>
          <a:bodyPr wrap="none" rtlCol="0">
            <a:spAutoFit/>
          </a:bodyPr>
          <a:lstStyle/>
          <a:p>
            <a:r>
              <a:rPr lang="en-GB" sz="800">
                <a:solidFill>
                  <a:schemeClr val="accent2">
                    <a:lumMod val="75000"/>
                  </a:schemeClr>
                </a:solidFill>
              </a:rPr>
              <a:t>pin 0</a:t>
            </a:r>
          </a:p>
        </p:txBody>
      </p:sp>
      <p:cxnSp>
        <p:nvCxnSpPr>
          <p:cNvPr id="52" name="Straight Connector 51">
            <a:extLst>
              <a:ext uri="{FF2B5EF4-FFF2-40B4-BE49-F238E27FC236}">
                <a16:creationId xmlns:a16="http://schemas.microsoft.com/office/drawing/2014/main" id="{87033952-CAD4-06DB-FD9C-4EA86350C4D8}"/>
              </a:ext>
            </a:extLst>
          </p:cNvPr>
          <p:cNvCxnSpPr>
            <a:cxnSpLocks/>
          </p:cNvCxnSpPr>
          <p:nvPr/>
        </p:nvCxnSpPr>
        <p:spPr>
          <a:xfrm>
            <a:off x="10901174" y="4551654"/>
            <a:ext cx="355269" cy="3727"/>
          </a:xfrm>
          <a:prstGeom prst="line">
            <a:avLst/>
          </a:prstGeom>
          <a:ln>
            <a:solidFill>
              <a:schemeClr val="accent2">
                <a:lumMod val="75000"/>
              </a:schemeClr>
            </a:solidFill>
            <a:prstDash val="dash"/>
          </a:ln>
          <a:effectLst/>
        </p:spPr>
        <p:style>
          <a:lnRef idx="1">
            <a:schemeClr val="accent1"/>
          </a:lnRef>
          <a:fillRef idx="0">
            <a:schemeClr val="accent1"/>
          </a:fillRef>
          <a:effectRef idx="0">
            <a:schemeClr val="accent1"/>
          </a:effectRef>
          <a:fontRef idx="minor">
            <a:schemeClr val="tx1"/>
          </a:fontRef>
        </p:style>
      </p:cxnSp>
      <p:sp>
        <p:nvSpPr>
          <p:cNvPr id="53" name="Oval 52">
            <a:extLst>
              <a:ext uri="{FF2B5EF4-FFF2-40B4-BE49-F238E27FC236}">
                <a16:creationId xmlns:a16="http://schemas.microsoft.com/office/drawing/2014/main" id="{515B3498-0211-4C8A-FC37-F96D97177C9F}"/>
              </a:ext>
            </a:extLst>
          </p:cNvPr>
          <p:cNvSpPr/>
          <p:nvPr/>
        </p:nvSpPr>
        <p:spPr>
          <a:xfrm>
            <a:off x="11256443" y="4506936"/>
            <a:ext cx="79686" cy="89433"/>
          </a:xfrm>
          <a:prstGeom prst="ellipse">
            <a:avLst/>
          </a:prstGeom>
          <a:noFill/>
          <a:ln>
            <a:solidFill>
              <a:schemeClr val="accent2">
                <a:lumMod val="7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54" name="TextBox 53">
            <a:extLst>
              <a:ext uri="{FF2B5EF4-FFF2-40B4-BE49-F238E27FC236}">
                <a16:creationId xmlns:a16="http://schemas.microsoft.com/office/drawing/2014/main" id="{E7A2E0F5-C996-EF62-B9C1-9EBAD568B30B}"/>
              </a:ext>
            </a:extLst>
          </p:cNvPr>
          <p:cNvSpPr txBox="1"/>
          <p:nvPr/>
        </p:nvSpPr>
        <p:spPr>
          <a:xfrm>
            <a:off x="11296286" y="4583155"/>
            <a:ext cx="397866" cy="215444"/>
          </a:xfrm>
          <a:prstGeom prst="rect">
            <a:avLst/>
          </a:prstGeom>
          <a:noFill/>
        </p:spPr>
        <p:txBody>
          <a:bodyPr wrap="none" rtlCol="0">
            <a:spAutoFit/>
          </a:bodyPr>
          <a:lstStyle/>
          <a:p>
            <a:r>
              <a:rPr lang="en-GB" sz="800">
                <a:solidFill>
                  <a:schemeClr val="accent6">
                    <a:lumMod val="75000"/>
                  </a:schemeClr>
                </a:solidFill>
              </a:rPr>
              <a:t>pin 1</a:t>
            </a:r>
          </a:p>
        </p:txBody>
      </p:sp>
      <p:cxnSp>
        <p:nvCxnSpPr>
          <p:cNvPr id="55" name="Straight Connector 54">
            <a:extLst>
              <a:ext uri="{FF2B5EF4-FFF2-40B4-BE49-F238E27FC236}">
                <a16:creationId xmlns:a16="http://schemas.microsoft.com/office/drawing/2014/main" id="{DCE50AD0-5022-5F19-DE4E-A9DB91BD109D}"/>
              </a:ext>
            </a:extLst>
          </p:cNvPr>
          <p:cNvCxnSpPr>
            <a:cxnSpLocks/>
          </p:cNvCxnSpPr>
          <p:nvPr/>
        </p:nvCxnSpPr>
        <p:spPr>
          <a:xfrm>
            <a:off x="10901174" y="4690879"/>
            <a:ext cx="355269" cy="3727"/>
          </a:xfrm>
          <a:prstGeom prst="line">
            <a:avLst/>
          </a:prstGeom>
          <a:ln>
            <a:solidFill>
              <a:schemeClr val="accent6">
                <a:lumMod val="75000"/>
              </a:schemeClr>
            </a:solidFill>
            <a:prstDash val="dash"/>
          </a:ln>
          <a:effectLst/>
        </p:spPr>
        <p:style>
          <a:lnRef idx="1">
            <a:schemeClr val="accent1"/>
          </a:lnRef>
          <a:fillRef idx="0">
            <a:schemeClr val="accent1"/>
          </a:fillRef>
          <a:effectRef idx="0">
            <a:schemeClr val="accent1"/>
          </a:effectRef>
          <a:fontRef idx="minor">
            <a:schemeClr val="tx1"/>
          </a:fontRef>
        </p:style>
      </p:cxnSp>
      <p:sp>
        <p:nvSpPr>
          <p:cNvPr id="56" name="Oval 55">
            <a:extLst>
              <a:ext uri="{FF2B5EF4-FFF2-40B4-BE49-F238E27FC236}">
                <a16:creationId xmlns:a16="http://schemas.microsoft.com/office/drawing/2014/main" id="{2814F74B-8D7E-8E0C-FFA8-5996661244AB}"/>
              </a:ext>
            </a:extLst>
          </p:cNvPr>
          <p:cNvSpPr/>
          <p:nvPr/>
        </p:nvSpPr>
        <p:spPr>
          <a:xfrm>
            <a:off x="11256443" y="4646161"/>
            <a:ext cx="79686" cy="89433"/>
          </a:xfrm>
          <a:prstGeom prst="ellipse">
            <a:avLst/>
          </a:prstGeom>
          <a:noFill/>
          <a:ln>
            <a:solidFill>
              <a:schemeClr val="accent6">
                <a:lumMod val="7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57" name="TextBox 56">
            <a:extLst>
              <a:ext uri="{FF2B5EF4-FFF2-40B4-BE49-F238E27FC236}">
                <a16:creationId xmlns:a16="http://schemas.microsoft.com/office/drawing/2014/main" id="{E79DF881-537A-5CA5-F4C6-4D36233BC862}"/>
              </a:ext>
            </a:extLst>
          </p:cNvPr>
          <p:cNvSpPr txBox="1"/>
          <p:nvPr/>
        </p:nvSpPr>
        <p:spPr>
          <a:xfrm>
            <a:off x="11296286" y="4722380"/>
            <a:ext cx="397866" cy="215444"/>
          </a:xfrm>
          <a:prstGeom prst="rect">
            <a:avLst/>
          </a:prstGeom>
          <a:noFill/>
        </p:spPr>
        <p:txBody>
          <a:bodyPr wrap="none" rtlCol="0">
            <a:spAutoFit/>
          </a:bodyPr>
          <a:lstStyle/>
          <a:p>
            <a:r>
              <a:rPr lang="en-GB" sz="800"/>
              <a:t>pin 2</a:t>
            </a:r>
          </a:p>
        </p:txBody>
      </p:sp>
      <p:cxnSp>
        <p:nvCxnSpPr>
          <p:cNvPr id="58" name="Straight Connector 57">
            <a:extLst>
              <a:ext uri="{FF2B5EF4-FFF2-40B4-BE49-F238E27FC236}">
                <a16:creationId xmlns:a16="http://schemas.microsoft.com/office/drawing/2014/main" id="{98858DCE-B659-4508-5D23-C6933ABE3B38}"/>
              </a:ext>
            </a:extLst>
          </p:cNvPr>
          <p:cNvCxnSpPr>
            <a:cxnSpLocks/>
          </p:cNvCxnSpPr>
          <p:nvPr/>
        </p:nvCxnSpPr>
        <p:spPr>
          <a:xfrm>
            <a:off x="10901174" y="4830104"/>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59" name="Oval 58">
            <a:extLst>
              <a:ext uri="{FF2B5EF4-FFF2-40B4-BE49-F238E27FC236}">
                <a16:creationId xmlns:a16="http://schemas.microsoft.com/office/drawing/2014/main" id="{F2868BE0-EF4B-11AA-A8A8-14D9D9718FB7}"/>
              </a:ext>
            </a:extLst>
          </p:cNvPr>
          <p:cNvSpPr/>
          <p:nvPr/>
        </p:nvSpPr>
        <p:spPr>
          <a:xfrm>
            <a:off x="11256443" y="4785386"/>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60" name="TextBox 59">
            <a:extLst>
              <a:ext uri="{FF2B5EF4-FFF2-40B4-BE49-F238E27FC236}">
                <a16:creationId xmlns:a16="http://schemas.microsoft.com/office/drawing/2014/main" id="{2D200B6C-66C2-251D-0AD1-8127927FA670}"/>
              </a:ext>
            </a:extLst>
          </p:cNvPr>
          <p:cNvSpPr txBox="1"/>
          <p:nvPr/>
        </p:nvSpPr>
        <p:spPr>
          <a:xfrm>
            <a:off x="11296286" y="4861605"/>
            <a:ext cx="397866" cy="215444"/>
          </a:xfrm>
          <a:prstGeom prst="rect">
            <a:avLst/>
          </a:prstGeom>
          <a:noFill/>
        </p:spPr>
        <p:txBody>
          <a:bodyPr wrap="none" rtlCol="0">
            <a:spAutoFit/>
          </a:bodyPr>
          <a:lstStyle/>
          <a:p>
            <a:r>
              <a:rPr lang="en-GB" sz="800"/>
              <a:t>pin 3</a:t>
            </a:r>
          </a:p>
        </p:txBody>
      </p:sp>
      <p:cxnSp>
        <p:nvCxnSpPr>
          <p:cNvPr id="61" name="Straight Connector 60">
            <a:extLst>
              <a:ext uri="{FF2B5EF4-FFF2-40B4-BE49-F238E27FC236}">
                <a16:creationId xmlns:a16="http://schemas.microsoft.com/office/drawing/2014/main" id="{5C1101B6-68F4-0DE8-55A1-867508DC06E6}"/>
              </a:ext>
            </a:extLst>
          </p:cNvPr>
          <p:cNvCxnSpPr>
            <a:cxnSpLocks/>
          </p:cNvCxnSpPr>
          <p:nvPr/>
        </p:nvCxnSpPr>
        <p:spPr>
          <a:xfrm>
            <a:off x="10901174" y="4969329"/>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62" name="Oval 61">
            <a:extLst>
              <a:ext uri="{FF2B5EF4-FFF2-40B4-BE49-F238E27FC236}">
                <a16:creationId xmlns:a16="http://schemas.microsoft.com/office/drawing/2014/main" id="{2A46A61F-BE7E-95DF-FCEA-C322AB8885F6}"/>
              </a:ext>
            </a:extLst>
          </p:cNvPr>
          <p:cNvSpPr/>
          <p:nvPr/>
        </p:nvSpPr>
        <p:spPr>
          <a:xfrm>
            <a:off x="11256443" y="4924611"/>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63" name="TextBox 62">
            <a:extLst>
              <a:ext uri="{FF2B5EF4-FFF2-40B4-BE49-F238E27FC236}">
                <a16:creationId xmlns:a16="http://schemas.microsoft.com/office/drawing/2014/main" id="{4F60F9F1-0E44-28B2-BB35-A4979ECCE8CF}"/>
              </a:ext>
            </a:extLst>
          </p:cNvPr>
          <p:cNvSpPr txBox="1"/>
          <p:nvPr/>
        </p:nvSpPr>
        <p:spPr>
          <a:xfrm>
            <a:off x="11296286" y="5000830"/>
            <a:ext cx="397866" cy="215444"/>
          </a:xfrm>
          <a:prstGeom prst="rect">
            <a:avLst/>
          </a:prstGeom>
          <a:noFill/>
        </p:spPr>
        <p:txBody>
          <a:bodyPr wrap="none" rtlCol="0">
            <a:spAutoFit/>
          </a:bodyPr>
          <a:lstStyle/>
          <a:p>
            <a:r>
              <a:rPr lang="en-GB" sz="800"/>
              <a:t>pin 4</a:t>
            </a:r>
          </a:p>
        </p:txBody>
      </p:sp>
      <p:cxnSp>
        <p:nvCxnSpPr>
          <p:cNvPr id="64" name="Straight Connector 63">
            <a:extLst>
              <a:ext uri="{FF2B5EF4-FFF2-40B4-BE49-F238E27FC236}">
                <a16:creationId xmlns:a16="http://schemas.microsoft.com/office/drawing/2014/main" id="{E45B9D5E-082D-DFBC-6EFE-D90C6E53A7FF}"/>
              </a:ext>
            </a:extLst>
          </p:cNvPr>
          <p:cNvCxnSpPr>
            <a:cxnSpLocks/>
          </p:cNvCxnSpPr>
          <p:nvPr/>
        </p:nvCxnSpPr>
        <p:spPr>
          <a:xfrm>
            <a:off x="10901174" y="5108554"/>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65" name="Oval 64">
            <a:extLst>
              <a:ext uri="{FF2B5EF4-FFF2-40B4-BE49-F238E27FC236}">
                <a16:creationId xmlns:a16="http://schemas.microsoft.com/office/drawing/2014/main" id="{C5EE0734-AF10-125D-55D9-C0F469768878}"/>
              </a:ext>
            </a:extLst>
          </p:cNvPr>
          <p:cNvSpPr/>
          <p:nvPr/>
        </p:nvSpPr>
        <p:spPr>
          <a:xfrm>
            <a:off x="11256443" y="5063836"/>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66" name="TextBox 65">
            <a:extLst>
              <a:ext uri="{FF2B5EF4-FFF2-40B4-BE49-F238E27FC236}">
                <a16:creationId xmlns:a16="http://schemas.microsoft.com/office/drawing/2014/main" id="{7E7A22B2-BA6B-4DCF-680E-21D1B144C1D4}"/>
              </a:ext>
            </a:extLst>
          </p:cNvPr>
          <p:cNvSpPr txBox="1"/>
          <p:nvPr/>
        </p:nvSpPr>
        <p:spPr>
          <a:xfrm>
            <a:off x="11296286" y="5140055"/>
            <a:ext cx="397866" cy="215444"/>
          </a:xfrm>
          <a:prstGeom prst="rect">
            <a:avLst/>
          </a:prstGeom>
          <a:noFill/>
        </p:spPr>
        <p:txBody>
          <a:bodyPr wrap="none" rtlCol="0">
            <a:spAutoFit/>
          </a:bodyPr>
          <a:lstStyle/>
          <a:p>
            <a:r>
              <a:rPr lang="en-GB" sz="800"/>
              <a:t>pin 5</a:t>
            </a:r>
          </a:p>
        </p:txBody>
      </p:sp>
      <p:cxnSp>
        <p:nvCxnSpPr>
          <p:cNvPr id="67" name="Straight Connector 66">
            <a:extLst>
              <a:ext uri="{FF2B5EF4-FFF2-40B4-BE49-F238E27FC236}">
                <a16:creationId xmlns:a16="http://schemas.microsoft.com/office/drawing/2014/main" id="{73A92128-585E-2CBC-6084-D9BC8F626235}"/>
              </a:ext>
            </a:extLst>
          </p:cNvPr>
          <p:cNvCxnSpPr>
            <a:cxnSpLocks/>
          </p:cNvCxnSpPr>
          <p:nvPr/>
        </p:nvCxnSpPr>
        <p:spPr>
          <a:xfrm>
            <a:off x="10901174" y="5247779"/>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68" name="Oval 67">
            <a:extLst>
              <a:ext uri="{FF2B5EF4-FFF2-40B4-BE49-F238E27FC236}">
                <a16:creationId xmlns:a16="http://schemas.microsoft.com/office/drawing/2014/main" id="{728639B9-2869-A51A-E277-4779B12FF3AB}"/>
              </a:ext>
            </a:extLst>
          </p:cNvPr>
          <p:cNvSpPr/>
          <p:nvPr/>
        </p:nvSpPr>
        <p:spPr>
          <a:xfrm>
            <a:off x="11256443" y="5203061"/>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69" name="TextBox 68">
            <a:extLst>
              <a:ext uri="{FF2B5EF4-FFF2-40B4-BE49-F238E27FC236}">
                <a16:creationId xmlns:a16="http://schemas.microsoft.com/office/drawing/2014/main" id="{B73F55E0-92E5-14F5-1AD7-D8C3815946CE}"/>
              </a:ext>
            </a:extLst>
          </p:cNvPr>
          <p:cNvSpPr txBox="1"/>
          <p:nvPr/>
        </p:nvSpPr>
        <p:spPr>
          <a:xfrm>
            <a:off x="11296286" y="5279280"/>
            <a:ext cx="397866" cy="215444"/>
          </a:xfrm>
          <a:prstGeom prst="rect">
            <a:avLst/>
          </a:prstGeom>
          <a:noFill/>
        </p:spPr>
        <p:txBody>
          <a:bodyPr wrap="none" rtlCol="0">
            <a:spAutoFit/>
          </a:bodyPr>
          <a:lstStyle/>
          <a:p>
            <a:r>
              <a:rPr lang="en-GB" sz="800"/>
              <a:t>pin 6</a:t>
            </a:r>
          </a:p>
        </p:txBody>
      </p:sp>
      <p:cxnSp>
        <p:nvCxnSpPr>
          <p:cNvPr id="70" name="Straight Connector 69">
            <a:extLst>
              <a:ext uri="{FF2B5EF4-FFF2-40B4-BE49-F238E27FC236}">
                <a16:creationId xmlns:a16="http://schemas.microsoft.com/office/drawing/2014/main" id="{97E63DC0-10B7-6E9A-A779-F4F0E4394B47}"/>
              </a:ext>
            </a:extLst>
          </p:cNvPr>
          <p:cNvCxnSpPr>
            <a:cxnSpLocks/>
          </p:cNvCxnSpPr>
          <p:nvPr/>
        </p:nvCxnSpPr>
        <p:spPr>
          <a:xfrm>
            <a:off x="10901174" y="5387004"/>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71" name="Oval 70">
            <a:extLst>
              <a:ext uri="{FF2B5EF4-FFF2-40B4-BE49-F238E27FC236}">
                <a16:creationId xmlns:a16="http://schemas.microsoft.com/office/drawing/2014/main" id="{D191B096-4F1B-5D98-3DF1-A6DF85505AFB}"/>
              </a:ext>
            </a:extLst>
          </p:cNvPr>
          <p:cNvSpPr/>
          <p:nvPr/>
        </p:nvSpPr>
        <p:spPr>
          <a:xfrm>
            <a:off x="11256443" y="5342286"/>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72" name="TextBox 71">
            <a:extLst>
              <a:ext uri="{FF2B5EF4-FFF2-40B4-BE49-F238E27FC236}">
                <a16:creationId xmlns:a16="http://schemas.microsoft.com/office/drawing/2014/main" id="{42A29AC6-F0E1-07AD-A1FC-83FCA4BA304F}"/>
              </a:ext>
            </a:extLst>
          </p:cNvPr>
          <p:cNvSpPr txBox="1"/>
          <p:nvPr/>
        </p:nvSpPr>
        <p:spPr>
          <a:xfrm>
            <a:off x="11296286" y="5418505"/>
            <a:ext cx="397866" cy="215444"/>
          </a:xfrm>
          <a:prstGeom prst="rect">
            <a:avLst/>
          </a:prstGeom>
          <a:noFill/>
        </p:spPr>
        <p:txBody>
          <a:bodyPr wrap="none" rtlCol="0">
            <a:spAutoFit/>
          </a:bodyPr>
          <a:lstStyle/>
          <a:p>
            <a:r>
              <a:rPr lang="en-GB" sz="800"/>
              <a:t>pin 7</a:t>
            </a:r>
          </a:p>
        </p:txBody>
      </p:sp>
      <p:cxnSp>
        <p:nvCxnSpPr>
          <p:cNvPr id="73" name="Straight Connector 72">
            <a:extLst>
              <a:ext uri="{FF2B5EF4-FFF2-40B4-BE49-F238E27FC236}">
                <a16:creationId xmlns:a16="http://schemas.microsoft.com/office/drawing/2014/main" id="{FFC7CA58-822C-B3F3-A742-F8AB56F9E5EC}"/>
              </a:ext>
            </a:extLst>
          </p:cNvPr>
          <p:cNvCxnSpPr>
            <a:cxnSpLocks/>
          </p:cNvCxnSpPr>
          <p:nvPr/>
        </p:nvCxnSpPr>
        <p:spPr>
          <a:xfrm>
            <a:off x="10901174" y="5526229"/>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74" name="Oval 73">
            <a:extLst>
              <a:ext uri="{FF2B5EF4-FFF2-40B4-BE49-F238E27FC236}">
                <a16:creationId xmlns:a16="http://schemas.microsoft.com/office/drawing/2014/main" id="{68AA674B-E27E-8533-6066-598A02EEDDAD}"/>
              </a:ext>
            </a:extLst>
          </p:cNvPr>
          <p:cNvSpPr/>
          <p:nvPr/>
        </p:nvSpPr>
        <p:spPr>
          <a:xfrm>
            <a:off x="11256443" y="5481511"/>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75" name="TextBox 74">
            <a:extLst>
              <a:ext uri="{FF2B5EF4-FFF2-40B4-BE49-F238E27FC236}">
                <a16:creationId xmlns:a16="http://schemas.microsoft.com/office/drawing/2014/main" id="{245903E9-29FE-C8D0-AE9D-26BD162566D1}"/>
              </a:ext>
            </a:extLst>
          </p:cNvPr>
          <p:cNvSpPr txBox="1"/>
          <p:nvPr/>
        </p:nvSpPr>
        <p:spPr>
          <a:xfrm rot="5400000">
            <a:off x="11145211" y="5543793"/>
            <a:ext cx="381836" cy="369332"/>
          </a:xfrm>
          <a:prstGeom prst="rect">
            <a:avLst/>
          </a:prstGeom>
          <a:noFill/>
        </p:spPr>
        <p:txBody>
          <a:bodyPr wrap="none" rtlCol="0">
            <a:spAutoFit/>
          </a:bodyPr>
          <a:lstStyle/>
          <a:p>
            <a:r>
              <a:rPr lang="en-GB"/>
              <a:t>...</a:t>
            </a:r>
            <a:endParaRPr lang="LID4096"/>
          </a:p>
        </p:txBody>
      </p:sp>
      <p:sp>
        <p:nvSpPr>
          <p:cNvPr id="76" name="TextBox 75">
            <a:extLst>
              <a:ext uri="{FF2B5EF4-FFF2-40B4-BE49-F238E27FC236}">
                <a16:creationId xmlns:a16="http://schemas.microsoft.com/office/drawing/2014/main" id="{27A72388-1D93-85AC-D6B3-EA3B48341B09}"/>
              </a:ext>
            </a:extLst>
          </p:cNvPr>
          <p:cNvSpPr txBox="1"/>
          <p:nvPr/>
        </p:nvSpPr>
        <p:spPr>
          <a:xfrm>
            <a:off x="10878042" y="4150819"/>
            <a:ext cx="762709" cy="369332"/>
          </a:xfrm>
          <a:prstGeom prst="rect">
            <a:avLst/>
          </a:prstGeom>
          <a:noFill/>
        </p:spPr>
        <p:txBody>
          <a:bodyPr wrap="none" rtlCol="0">
            <a:spAutoFit/>
          </a:bodyPr>
          <a:lstStyle/>
          <a:p>
            <a:r>
              <a:rPr lang="en-GB"/>
              <a:t>Port E</a:t>
            </a:r>
            <a:endParaRPr lang="LID4096"/>
          </a:p>
        </p:txBody>
      </p:sp>
      <p:sp>
        <p:nvSpPr>
          <p:cNvPr id="79" name="TextBox 78">
            <a:extLst>
              <a:ext uri="{FF2B5EF4-FFF2-40B4-BE49-F238E27FC236}">
                <a16:creationId xmlns:a16="http://schemas.microsoft.com/office/drawing/2014/main" id="{C102F895-4C9F-2C7B-BEDB-B70230066CFF}"/>
              </a:ext>
            </a:extLst>
          </p:cNvPr>
          <p:cNvSpPr txBox="1"/>
          <p:nvPr/>
        </p:nvSpPr>
        <p:spPr>
          <a:xfrm>
            <a:off x="10878042" y="5990962"/>
            <a:ext cx="756297" cy="369332"/>
          </a:xfrm>
          <a:prstGeom prst="rect">
            <a:avLst/>
          </a:prstGeom>
          <a:noFill/>
        </p:spPr>
        <p:txBody>
          <a:bodyPr wrap="none" rtlCol="0">
            <a:spAutoFit/>
          </a:bodyPr>
          <a:lstStyle/>
          <a:p>
            <a:r>
              <a:rPr lang="en-GB"/>
              <a:t>Port F</a:t>
            </a:r>
            <a:endParaRPr lang="LID4096"/>
          </a:p>
        </p:txBody>
      </p:sp>
      <p:sp>
        <p:nvSpPr>
          <p:cNvPr id="81" name="Rectangle 80">
            <a:extLst>
              <a:ext uri="{FF2B5EF4-FFF2-40B4-BE49-F238E27FC236}">
                <a16:creationId xmlns:a16="http://schemas.microsoft.com/office/drawing/2014/main" id="{81C43A10-9CD7-B6C4-544F-83C47B8C3F27}"/>
              </a:ext>
            </a:extLst>
          </p:cNvPr>
          <p:cNvSpPr/>
          <p:nvPr/>
        </p:nvSpPr>
        <p:spPr>
          <a:xfrm>
            <a:off x="10830863" y="1921712"/>
            <a:ext cx="863289" cy="318796"/>
          </a:xfrm>
          <a:prstGeom prst="rect">
            <a:avLst/>
          </a:prstGeom>
          <a:solidFill>
            <a:schemeClr val="bg1">
              <a:lumMod val="85000"/>
            </a:schemeClr>
          </a:solidFill>
          <a:ln w="127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82" name="TextBox 81">
            <a:extLst>
              <a:ext uri="{FF2B5EF4-FFF2-40B4-BE49-F238E27FC236}">
                <a16:creationId xmlns:a16="http://schemas.microsoft.com/office/drawing/2014/main" id="{FEC87696-C00F-A0B8-4AAD-1486CD1765CD}"/>
              </a:ext>
            </a:extLst>
          </p:cNvPr>
          <p:cNvSpPr txBox="1"/>
          <p:nvPr/>
        </p:nvSpPr>
        <p:spPr>
          <a:xfrm rot="5400000">
            <a:off x="11145211" y="1901784"/>
            <a:ext cx="381836" cy="369332"/>
          </a:xfrm>
          <a:prstGeom prst="rect">
            <a:avLst/>
          </a:prstGeom>
          <a:noFill/>
        </p:spPr>
        <p:txBody>
          <a:bodyPr wrap="none" rtlCol="0">
            <a:spAutoFit/>
          </a:bodyPr>
          <a:lstStyle/>
          <a:p>
            <a:r>
              <a:rPr lang="en-GB"/>
              <a:t>...</a:t>
            </a:r>
            <a:endParaRPr lang="LID4096"/>
          </a:p>
        </p:txBody>
      </p:sp>
      <p:sp>
        <p:nvSpPr>
          <p:cNvPr id="83" name="TextBox 82">
            <a:extLst>
              <a:ext uri="{FF2B5EF4-FFF2-40B4-BE49-F238E27FC236}">
                <a16:creationId xmlns:a16="http://schemas.microsoft.com/office/drawing/2014/main" id="{CB68D3F2-1600-B32D-2EB1-52811F8F611E}"/>
              </a:ext>
            </a:extLst>
          </p:cNvPr>
          <p:cNvSpPr txBox="1"/>
          <p:nvPr/>
        </p:nvSpPr>
        <p:spPr>
          <a:xfrm>
            <a:off x="11296286" y="6269843"/>
            <a:ext cx="397866" cy="215444"/>
          </a:xfrm>
          <a:prstGeom prst="rect">
            <a:avLst/>
          </a:prstGeom>
          <a:noFill/>
        </p:spPr>
        <p:txBody>
          <a:bodyPr wrap="none" rtlCol="0">
            <a:spAutoFit/>
          </a:bodyPr>
          <a:lstStyle/>
          <a:p>
            <a:r>
              <a:rPr lang="en-GB" sz="800">
                <a:solidFill>
                  <a:schemeClr val="accent2">
                    <a:lumMod val="75000"/>
                  </a:schemeClr>
                </a:solidFill>
              </a:rPr>
              <a:t>pin 0</a:t>
            </a:r>
          </a:p>
        </p:txBody>
      </p:sp>
      <p:cxnSp>
        <p:nvCxnSpPr>
          <p:cNvPr id="84" name="Straight Connector 83">
            <a:extLst>
              <a:ext uri="{FF2B5EF4-FFF2-40B4-BE49-F238E27FC236}">
                <a16:creationId xmlns:a16="http://schemas.microsoft.com/office/drawing/2014/main" id="{FAC87DB6-C993-D09A-0BA2-8175A75A5FAD}"/>
              </a:ext>
            </a:extLst>
          </p:cNvPr>
          <p:cNvCxnSpPr>
            <a:cxnSpLocks/>
          </p:cNvCxnSpPr>
          <p:nvPr/>
        </p:nvCxnSpPr>
        <p:spPr>
          <a:xfrm>
            <a:off x="10901174" y="6377567"/>
            <a:ext cx="355269" cy="3727"/>
          </a:xfrm>
          <a:prstGeom prst="line">
            <a:avLst/>
          </a:prstGeom>
          <a:ln>
            <a:solidFill>
              <a:schemeClr val="accent2">
                <a:lumMod val="75000"/>
              </a:schemeClr>
            </a:solidFill>
            <a:prstDash val="dash"/>
          </a:ln>
          <a:effectLst/>
        </p:spPr>
        <p:style>
          <a:lnRef idx="1">
            <a:schemeClr val="accent1"/>
          </a:lnRef>
          <a:fillRef idx="0">
            <a:schemeClr val="accent1"/>
          </a:fillRef>
          <a:effectRef idx="0">
            <a:schemeClr val="accent1"/>
          </a:effectRef>
          <a:fontRef idx="minor">
            <a:schemeClr val="tx1"/>
          </a:fontRef>
        </p:style>
      </p:cxnSp>
      <p:sp>
        <p:nvSpPr>
          <p:cNvPr id="85" name="Oval 84">
            <a:extLst>
              <a:ext uri="{FF2B5EF4-FFF2-40B4-BE49-F238E27FC236}">
                <a16:creationId xmlns:a16="http://schemas.microsoft.com/office/drawing/2014/main" id="{2A52D355-DC2F-035C-444D-A05D132AA368}"/>
              </a:ext>
            </a:extLst>
          </p:cNvPr>
          <p:cNvSpPr/>
          <p:nvPr/>
        </p:nvSpPr>
        <p:spPr>
          <a:xfrm>
            <a:off x="11256443" y="6332849"/>
            <a:ext cx="79686" cy="89433"/>
          </a:xfrm>
          <a:prstGeom prst="ellipse">
            <a:avLst/>
          </a:prstGeom>
          <a:noFill/>
          <a:ln>
            <a:solidFill>
              <a:schemeClr val="accent2">
                <a:lumMod val="7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88" name="Arrow: Down 87">
            <a:extLst>
              <a:ext uri="{FF2B5EF4-FFF2-40B4-BE49-F238E27FC236}">
                <a16:creationId xmlns:a16="http://schemas.microsoft.com/office/drawing/2014/main" id="{5D09CFA5-67B8-E1AF-1921-296134903284}"/>
              </a:ext>
            </a:extLst>
          </p:cNvPr>
          <p:cNvSpPr/>
          <p:nvPr/>
        </p:nvSpPr>
        <p:spPr>
          <a:xfrm>
            <a:off x="10046492" y="1698526"/>
            <a:ext cx="268777" cy="367973"/>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89" name="Rectangle 88">
            <a:extLst>
              <a:ext uri="{FF2B5EF4-FFF2-40B4-BE49-F238E27FC236}">
                <a16:creationId xmlns:a16="http://schemas.microsoft.com/office/drawing/2014/main" id="{47337E38-F30E-61BC-7D66-EB193ECD43FC}"/>
              </a:ext>
            </a:extLst>
          </p:cNvPr>
          <p:cNvSpPr/>
          <p:nvPr/>
        </p:nvSpPr>
        <p:spPr>
          <a:xfrm>
            <a:off x="9878713" y="1388132"/>
            <a:ext cx="616590" cy="322976"/>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90" name="TextBox 89">
            <a:extLst>
              <a:ext uri="{FF2B5EF4-FFF2-40B4-BE49-F238E27FC236}">
                <a16:creationId xmlns:a16="http://schemas.microsoft.com/office/drawing/2014/main" id="{CBD97697-26F8-2909-8132-2C391CC9551C}"/>
              </a:ext>
            </a:extLst>
          </p:cNvPr>
          <p:cNvSpPr txBox="1"/>
          <p:nvPr/>
        </p:nvSpPr>
        <p:spPr>
          <a:xfrm>
            <a:off x="9905804" y="1421527"/>
            <a:ext cx="550151" cy="276999"/>
          </a:xfrm>
          <a:prstGeom prst="rect">
            <a:avLst/>
          </a:prstGeom>
          <a:noFill/>
        </p:spPr>
        <p:txBody>
          <a:bodyPr wrap="none" rtlCol="0">
            <a:spAutoFit/>
          </a:bodyPr>
          <a:lstStyle/>
          <a:p>
            <a:r>
              <a:rPr lang="en-GB" sz="1200"/>
              <a:t>EXTI0</a:t>
            </a:r>
            <a:endParaRPr lang="LID4096" sz="1200"/>
          </a:p>
        </p:txBody>
      </p:sp>
      <p:sp>
        <p:nvSpPr>
          <p:cNvPr id="91" name="Arrow: Down 90">
            <a:extLst>
              <a:ext uri="{FF2B5EF4-FFF2-40B4-BE49-F238E27FC236}">
                <a16:creationId xmlns:a16="http://schemas.microsoft.com/office/drawing/2014/main" id="{1C81C529-D019-2CFE-F816-009EDC08F932}"/>
              </a:ext>
            </a:extLst>
          </p:cNvPr>
          <p:cNvSpPr/>
          <p:nvPr/>
        </p:nvSpPr>
        <p:spPr>
          <a:xfrm>
            <a:off x="9434049" y="1698525"/>
            <a:ext cx="268777" cy="1553935"/>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nvGrpSpPr>
          <p:cNvPr id="92" name="Group 91">
            <a:extLst>
              <a:ext uri="{FF2B5EF4-FFF2-40B4-BE49-F238E27FC236}">
                <a16:creationId xmlns:a16="http://schemas.microsoft.com/office/drawing/2014/main" id="{C6B6FCC2-73E2-222E-1310-49F80F091B05}"/>
              </a:ext>
            </a:extLst>
          </p:cNvPr>
          <p:cNvGrpSpPr/>
          <p:nvPr/>
        </p:nvGrpSpPr>
        <p:grpSpPr>
          <a:xfrm>
            <a:off x="9266270" y="1388132"/>
            <a:ext cx="616590" cy="322976"/>
            <a:chOff x="7566824" y="759203"/>
            <a:chExt cx="616590" cy="322976"/>
          </a:xfrm>
        </p:grpSpPr>
        <p:sp>
          <p:nvSpPr>
            <p:cNvPr id="93" name="Rectangle 92">
              <a:extLst>
                <a:ext uri="{FF2B5EF4-FFF2-40B4-BE49-F238E27FC236}">
                  <a16:creationId xmlns:a16="http://schemas.microsoft.com/office/drawing/2014/main" id="{E7F9FB3C-E17C-836D-0FB3-29EAF49F882F}"/>
                </a:ext>
              </a:extLst>
            </p:cNvPr>
            <p:cNvSpPr/>
            <p:nvPr/>
          </p:nvSpPr>
          <p:spPr>
            <a:xfrm>
              <a:off x="7566824" y="759203"/>
              <a:ext cx="616590" cy="322976"/>
            </a:xfrm>
            <a:prstGeom prst="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94" name="TextBox 93">
              <a:extLst>
                <a:ext uri="{FF2B5EF4-FFF2-40B4-BE49-F238E27FC236}">
                  <a16:creationId xmlns:a16="http://schemas.microsoft.com/office/drawing/2014/main" id="{C5824B3D-6889-9C97-86F2-BFCD0880CF5A}"/>
                </a:ext>
              </a:extLst>
            </p:cNvPr>
            <p:cNvSpPr txBox="1"/>
            <p:nvPr/>
          </p:nvSpPr>
          <p:spPr>
            <a:xfrm>
              <a:off x="7593915" y="792598"/>
              <a:ext cx="550151" cy="276999"/>
            </a:xfrm>
            <a:prstGeom prst="rect">
              <a:avLst/>
            </a:prstGeom>
            <a:noFill/>
          </p:spPr>
          <p:txBody>
            <a:bodyPr wrap="none" rtlCol="0">
              <a:spAutoFit/>
            </a:bodyPr>
            <a:lstStyle/>
            <a:p>
              <a:r>
                <a:rPr lang="en-GB" sz="1200"/>
                <a:t>EXTI1</a:t>
              </a:r>
              <a:endParaRPr lang="LID4096" sz="1200"/>
            </a:p>
          </p:txBody>
        </p:sp>
      </p:grpSp>
      <p:sp>
        <p:nvSpPr>
          <p:cNvPr id="95" name="Freeform: Shape 94">
            <a:extLst>
              <a:ext uri="{FF2B5EF4-FFF2-40B4-BE49-F238E27FC236}">
                <a16:creationId xmlns:a16="http://schemas.microsoft.com/office/drawing/2014/main" id="{BF5CA355-3C95-C0D1-BC0A-353D4A46E02F}"/>
              </a:ext>
            </a:extLst>
          </p:cNvPr>
          <p:cNvSpPr/>
          <p:nvPr/>
        </p:nvSpPr>
        <p:spPr>
          <a:xfrm>
            <a:off x="9363539" y="3126861"/>
            <a:ext cx="432137" cy="960539"/>
          </a:xfrm>
          <a:custGeom>
            <a:avLst/>
            <a:gdLst>
              <a:gd name="csX0" fmla="*/ 213919 w 213919"/>
              <a:gd name="csY0" fmla="*/ 0 h 960539"/>
              <a:gd name="csX1" fmla="*/ 0 w 213919"/>
              <a:gd name="csY1" fmla="*/ 213919 h 960539"/>
              <a:gd name="csX2" fmla="*/ 0 w 213919"/>
              <a:gd name="csY2" fmla="*/ 759203 h 960539"/>
              <a:gd name="csX3" fmla="*/ 201336 w 213919"/>
              <a:gd name="csY3" fmla="*/ 960539 h 960539"/>
              <a:gd name="csX4" fmla="*/ 213919 w 213919"/>
              <a:gd name="csY4" fmla="*/ 0 h 960539"/>
              <a:gd name="csX0" fmla="*/ 213919 w 215874"/>
              <a:gd name="csY0" fmla="*/ 0 h 960539"/>
              <a:gd name="csX1" fmla="*/ 0 w 215874"/>
              <a:gd name="csY1" fmla="*/ 213919 h 960539"/>
              <a:gd name="csX2" fmla="*/ 0 w 215874"/>
              <a:gd name="csY2" fmla="*/ 759203 h 960539"/>
              <a:gd name="csX3" fmla="*/ 215874 w 215874"/>
              <a:gd name="csY3" fmla="*/ 960539 h 960539"/>
              <a:gd name="csX4" fmla="*/ 213919 w 215874"/>
              <a:gd name="csY4" fmla="*/ 0 h 960539"/>
              <a:gd name="csX0" fmla="*/ 213919 w 213950"/>
              <a:gd name="csY0" fmla="*/ 0 h 960539"/>
              <a:gd name="csX1" fmla="*/ 0 w 213950"/>
              <a:gd name="csY1" fmla="*/ 213919 h 960539"/>
              <a:gd name="csX2" fmla="*/ 0 w 213950"/>
              <a:gd name="csY2" fmla="*/ 759203 h 960539"/>
              <a:gd name="csX3" fmla="*/ 205490 w 213950"/>
              <a:gd name="csY3" fmla="*/ 960539 h 960539"/>
              <a:gd name="csX4" fmla="*/ 213919 w 213950"/>
              <a:gd name="csY4" fmla="*/ 0 h 960539"/>
              <a:gd name="csX0" fmla="*/ 213919 w 213950"/>
              <a:gd name="csY0" fmla="*/ 0 h 960539"/>
              <a:gd name="csX1" fmla="*/ 0 w 213950"/>
              <a:gd name="csY1" fmla="*/ 213919 h 960539"/>
              <a:gd name="csX2" fmla="*/ 0 w 213950"/>
              <a:gd name="csY2" fmla="*/ 759203 h 960539"/>
              <a:gd name="csX3" fmla="*/ 205490 w 213950"/>
              <a:gd name="csY3" fmla="*/ 960539 h 960539"/>
              <a:gd name="csX4" fmla="*/ 213919 w 213950"/>
              <a:gd name="csY4" fmla="*/ 0 h 960539"/>
              <a:gd name="csX0" fmla="*/ 213919 w 213972"/>
              <a:gd name="csY0" fmla="*/ 0 h 960539"/>
              <a:gd name="csX1" fmla="*/ 0 w 213972"/>
              <a:gd name="csY1" fmla="*/ 213919 h 960539"/>
              <a:gd name="csX2" fmla="*/ 0 w 213972"/>
              <a:gd name="csY2" fmla="*/ 759203 h 960539"/>
              <a:gd name="csX3" fmla="*/ 209644 w 213972"/>
              <a:gd name="csY3" fmla="*/ 960539 h 960539"/>
              <a:gd name="csX4" fmla="*/ 213919 w 213972"/>
              <a:gd name="csY4" fmla="*/ 0 h 960539"/>
            </a:gdLst>
            <a:ahLst/>
            <a:cxnLst>
              <a:cxn ang="0">
                <a:pos x="csX0" y="csY0"/>
              </a:cxn>
              <a:cxn ang="0">
                <a:pos x="csX1" y="csY1"/>
              </a:cxn>
              <a:cxn ang="0">
                <a:pos x="csX2" y="csY2"/>
              </a:cxn>
              <a:cxn ang="0">
                <a:pos x="csX3" y="csY3"/>
              </a:cxn>
              <a:cxn ang="0">
                <a:pos x="csX4" y="csY4"/>
              </a:cxn>
            </a:cxnLst>
            <a:rect l="l" t="t" r="r" b="b"/>
            <a:pathLst>
              <a:path w="213972" h="960539">
                <a:moveTo>
                  <a:pt x="213919" y="0"/>
                </a:moveTo>
                <a:lnTo>
                  <a:pt x="0" y="213919"/>
                </a:lnTo>
                <a:lnTo>
                  <a:pt x="0" y="759203"/>
                </a:lnTo>
                <a:lnTo>
                  <a:pt x="209644" y="960539"/>
                </a:lnTo>
                <a:cubicBezTo>
                  <a:pt x="208992" y="640359"/>
                  <a:pt x="214571" y="320180"/>
                  <a:pt x="213919" y="0"/>
                </a:cubicBezTo>
                <a:close/>
              </a:path>
            </a:pathLst>
          </a:cu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97" name="Freeform: Shape 96">
            <a:extLst>
              <a:ext uri="{FF2B5EF4-FFF2-40B4-BE49-F238E27FC236}">
                <a16:creationId xmlns:a16="http://schemas.microsoft.com/office/drawing/2014/main" id="{E0127ECE-8852-0337-345D-DF259E6C9DCB}"/>
              </a:ext>
            </a:extLst>
          </p:cNvPr>
          <p:cNvSpPr/>
          <p:nvPr/>
        </p:nvSpPr>
        <p:spPr>
          <a:xfrm>
            <a:off x="9803211" y="2860401"/>
            <a:ext cx="1052818" cy="595618"/>
          </a:xfrm>
          <a:custGeom>
            <a:avLst/>
            <a:gdLst>
              <a:gd name="csX0" fmla="*/ 1052818 w 1052818"/>
              <a:gd name="csY0" fmla="*/ 0 h 595618"/>
              <a:gd name="csX1" fmla="*/ 952151 w 1052818"/>
              <a:gd name="csY1" fmla="*/ 0 h 595618"/>
              <a:gd name="csX2" fmla="*/ 952151 w 1052818"/>
              <a:gd name="csY2" fmla="*/ 595618 h 595618"/>
              <a:gd name="csX3" fmla="*/ 0 w 1052818"/>
              <a:gd name="csY3" fmla="*/ 595618 h 595618"/>
            </a:gdLst>
            <a:ahLst/>
            <a:cxnLst>
              <a:cxn ang="0">
                <a:pos x="csX0" y="csY0"/>
              </a:cxn>
              <a:cxn ang="0">
                <a:pos x="csX1" y="csY1"/>
              </a:cxn>
              <a:cxn ang="0">
                <a:pos x="csX2" y="csY2"/>
              </a:cxn>
              <a:cxn ang="0">
                <a:pos x="csX3" y="csY3"/>
              </a:cxn>
            </a:cxnLst>
            <a:rect l="l" t="t" r="r" b="b"/>
            <a:pathLst>
              <a:path w="1052818" h="595618">
                <a:moveTo>
                  <a:pt x="1052818" y="0"/>
                </a:moveTo>
                <a:lnTo>
                  <a:pt x="952151" y="0"/>
                </a:lnTo>
                <a:lnTo>
                  <a:pt x="952151" y="595618"/>
                </a:lnTo>
                <a:lnTo>
                  <a:pt x="0" y="595618"/>
                </a:lnTo>
              </a:path>
            </a:pathLst>
          </a:custGeom>
          <a:no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98" name="Straight Connector 97">
            <a:extLst>
              <a:ext uri="{FF2B5EF4-FFF2-40B4-BE49-F238E27FC236}">
                <a16:creationId xmlns:a16="http://schemas.microsoft.com/office/drawing/2014/main" id="{082EE771-C906-BB2E-04DC-EBEB3E062256}"/>
              </a:ext>
            </a:extLst>
          </p:cNvPr>
          <p:cNvCxnSpPr/>
          <p:nvPr/>
        </p:nvCxnSpPr>
        <p:spPr>
          <a:xfrm>
            <a:off x="10612050" y="1810344"/>
            <a:ext cx="0" cy="527038"/>
          </a:xfrm>
          <a:prstGeom prst="line">
            <a:avLst/>
          </a:prstGeom>
          <a:ln>
            <a:solidFill>
              <a:schemeClr val="accent6">
                <a:lumMod val="7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99" name="Freeform: Shape 98">
            <a:extLst>
              <a:ext uri="{FF2B5EF4-FFF2-40B4-BE49-F238E27FC236}">
                <a16:creationId xmlns:a16="http://schemas.microsoft.com/office/drawing/2014/main" id="{5C991B28-2D59-3B8C-F74C-1A1ACFFC5AF6}"/>
              </a:ext>
            </a:extLst>
          </p:cNvPr>
          <p:cNvSpPr/>
          <p:nvPr/>
        </p:nvSpPr>
        <p:spPr>
          <a:xfrm>
            <a:off x="9807406" y="2340283"/>
            <a:ext cx="805343" cy="1019263"/>
          </a:xfrm>
          <a:custGeom>
            <a:avLst/>
            <a:gdLst>
              <a:gd name="csX0" fmla="*/ 805343 w 805343"/>
              <a:gd name="csY0" fmla="*/ 0 h 1019263"/>
              <a:gd name="csX1" fmla="*/ 805343 w 805343"/>
              <a:gd name="csY1" fmla="*/ 1019263 h 1019263"/>
              <a:gd name="csX2" fmla="*/ 0 w 805343"/>
              <a:gd name="csY2" fmla="*/ 1019263 h 1019263"/>
              <a:gd name="csX3" fmla="*/ 0 w 805343"/>
              <a:gd name="csY3" fmla="*/ 1002485 h 1019263"/>
            </a:gdLst>
            <a:ahLst/>
            <a:cxnLst>
              <a:cxn ang="0">
                <a:pos x="csX0" y="csY0"/>
              </a:cxn>
              <a:cxn ang="0">
                <a:pos x="csX1" y="csY1"/>
              </a:cxn>
              <a:cxn ang="0">
                <a:pos x="csX2" y="csY2"/>
              </a:cxn>
              <a:cxn ang="0">
                <a:pos x="csX3" y="csY3"/>
              </a:cxn>
            </a:cxnLst>
            <a:rect l="l" t="t" r="r" b="b"/>
            <a:pathLst>
              <a:path w="805343" h="1019263">
                <a:moveTo>
                  <a:pt x="805343" y="0"/>
                </a:moveTo>
                <a:lnTo>
                  <a:pt x="805343" y="1019263"/>
                </a:lnTo>
                <a:lnTo>
                  <a:pt x="0" y="1019263"/>
                </a:lnTo>
                <a:lnTo>
                  <a:pt x="0" y="1002485"/>
                </a:lnTo>
              </a:path>
            </a:pathLst>
          </a:custGeom>
          <a:no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00" name="Freeform: Shape 99">
            <a:extLst>
              <a:ext uri="{FF2B5EF4-FFF2-40B4-BE49-F238E27FC236}">
                <a16:creationId xmlns:a16="http://schemas.microsoft.com/office/drawing/2014/main" id="{E4C7D6E0-9A56-4101-8927-E1570E948FEF}"/>
              </a:ext>
            </a:extLst>
          </p:cNvPr>
          <p:cNvSpPr/>
          <p:nvPr/>
        </p:nvSpPr>
        <p:spPr>
          <a:xfrm>
            <a:off x="9794822" y="3565076"/>
            <a:ext cx="1065402" cy="1124125"/>
          </a:xfrm>
          <a:custGeom>
            <a:avLst/>
            <a:gdLst>
              <a:gd name="csX0" fmla="*/ 1052818 w 1052818"/>
              <a:gd name="csY0" fmla="*/ 1124125 h 1124125"/>
              <a:gd name="csX1" fmla="*/ 637563 w 1052818"/>
              <a:gd name="csY1" fmla="*/ 1124125 h 1124125"/>
              <a:gd name="csX2" fmla="*/ 637563 w 1052818"/>
              <a:gd name="csY2" fmla="*/ 0 h 1124125"/>
              <a:gd name="csX3" fmla="*/ 0 w 1052818"/>
              <a:gd name="csY3" fmla="*/ 0 h 1124125"/>
            </a:gdLst>
            <a:ahLst/>
            <a:cxnLst>
              <a:cxn ang="0">
                <a:pos x="csX0" y="csY0"/>
              </a:cxn>
              <a:cxn ang="0">
                <a:pos x="csX1" y="csY1"/>
              </a:cxn>
              <a:cxn ang="0">
                <a:pos x="csX2" y="csY2"/>
              </a:cxn>
              <a:cxn ang="0">
                <a:pos x="csX3" y="csY3"/>
              </a:cxn>
            </a:cxnLst>
            <a:rect l="l" t="t" r="r" b="b"/>
            <a:pathLst>
              <a:path w="1052818" h="1124125">
                <a:moveTo>
                  <a:pt x="1052818" y="1124125"/>
                </a:moveTo>
                <a:lnTo>
                  <a:pt x="637563" y="1124125"/>
                </a:lnTo>
                <a:lnTo>
                  <a:pt x="637563" y="0"/>
                </a:lnTo>
                <a:lnTo>
                  <a:pt x="0" y="0"/>
                </a:lnTo>
              </a:path>
            </a:pathLst>
          </a:custGeom>
          <a:no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101" name="Straight Connector 100">
            <a:extLst>
              <a:ext uri="{FF2B5EF4-FFF2-40B4-BE49-F238E27FC236}">
                <a16:creationId xmlns:a16="http://schemas.microsoft.com/office/drawing/2014/main" id="{0FD1FC7A-5EFE-3879-0CE2-3E90F7DC7DDD}"/>
              </a:ext>
            </a:extLst>
          </p:cNvPr>
          <p:cNvCxnSpPr/>
          <p:nvPr/>
        </p:nvCxnSpPr>
        <p:spPr>
          <a:xfrm>
            <a:off x="10315269" y="5990962"/>
            <a:ext cx="0" cy="527038"/>
          </a:xfrm>
          <a:prstGeom prst="line">
            <a:avLst/>
          </a:prstGeom>
          <a:ln>
            <a:solidFill>
              <a:schemeClr val="accent6">
                <a:lumMod val="7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102" name="Freeform: Shape 101">
            <a:extLst>
              <a:ext uri="{FF2B5EF4-FFF2-40B4-BE49-F238E27FC236}">
                <a16:creationId xmlns:a16="http://schemas.microsoft.com/office/drawing/2014/main" id="{B54515E0-456A-2E31-91F8-14674702D5A4}"/>
              </a:ext>
            </a:extLst>
          </p:cNvPr>
          <p:cNvSpPr/>
          <p:nvPr/>
        </p:nvSpPr>
        <p:spPr>
          <a:xfrm>
            <a:off x="9794822" y="3690911"/>
            <a:ext cx="524312" cy="2294389"/>
          </a:xfrm>
          <a:custGeom>
            <a:avLst/>
            <a:gdLst>
              <a:gd name="csX0" fmla="*/ 524312 w 524312"/>
              <a:gd name="csY0" fmla="*/ 2294389 h 2294389"/>
              <a:gd name="csX1" fmla="*/ 524312 w 524312"/>
              <a:gd name="csY1" fmla="*/ 4194 h 2294389"/>
              <a:gd name="csX2" fmla="*/ 0 w 524312"/>
              <a:gd name="csY2" fmla="*/ 4194 h 2294389"/>
              <a:gd name="csX3" fmla="*/ 0 w 524312"/>
              <a:gd name="csY3" fmla="*/ 0 h 2294389"/>
            </a:gdLst>
            <a:ahLst/>
            <a:cxnLst>
              <a:cxn ang="0">
                <a:pos x="csX0" y="csY0"/>
              </a:cxn>
              <a:cxn ang="0">
                <a:pos x="csX1" y="csY1"/>
              </a:cxn>
              <a:cxn ang="0">
                <a:pos x="csX2" y="csY2"/>
              </a:cxn>
              <a:cxn ang="0">
                <a:pos x="csX3" y="csY3"/>
              </a:cxn>
            </a:cxnLst>
            <a:rect l="l" t="t" r="r" b="b"/>
            <a:pathLst>
              <a:path w="524312" h="2294389">
                <a:moveTo>
                  <a:pt x="524312" y="2294389"/>
                </a:moveTo>
                <a:lnTo>
                  <a:pt x="524312" y="4194"/>
                </a:lnTo>
                <a:lnTo>
                  <a:pt x="0" y="4194"/>
                </a:lnTo>
                <a:lnTo>
                  <a:pt x="0" y="0"/>
                </a:lnTo>
              </a:path>
            </a:pathLst>
          </a:custGeom>
          <a:no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03" name="Rectangle 102">
            <a:extLst>
              <a:ext uri="{FF2B5EF4-FFF2-40B4-BE49-F238E27FC236}">
                <a16:creationId xmlns:a16="http://schemas.microsoft.com/office/drawing/2014/main" id="{76450D68-2303-AAC4-EBFE-F98CAD16FA23}"/>
              </a:ext>
            </a:extLst>
          </p:cNvPr>
          <p:cNvSpPr/>
          <p:nvPr/>
        </p:nvSpPr>
        <p:spPr>
          <a:xfrm>
            <a:off x="8655272" y="1388132"/>
            <a:ext cx="616590" cy="32297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04" name="TextBox 103">
            <a:extLst>
              <a:ext uri="{FF2B5EF4-FFF2-40B4-BE49-F238E27FC236}">
                <a16:creationId xmlns:a16="http://schemas.microsoft.com/office/drawing/2014/main" id="{2E29B28B-C322-ADE8-A8AE-C9AF62B044C3}"/>
              </a:ext>
            </a:extLst>
          </p:cNvPr>
          <p:cNvSpPr txBox="1"/>
          <p:nvPr/>
        </p:nvSpPr>
        <p:spPr>
          <a:xfrm>
            <a:off x="8682363" y="1421527"/>
            <a:ext cx="550151" cy="276999"/>
          </a:xfrm>
          <a:prstGeom prst="rect">
            <a:avLst/>
          </a:prstGeom>
          <a:noFill/>
        </p:spPr>
        <p:txBody>
          <a:bodyPr wrap="none" rtlCol="0">
            <a:spAutoFit/>
          </a:bodyPr>
          <a:lstStyle/>
          <a:p>
            <a:r>
              <a:rPr lang="en-GB" sz="1200"/>
              <a:t>EXTI2</a:t>
            </a:r>
            <a:endParaRPr lang="LID4096" sz="1200"/>
          </a:p>
        </p:txBody>
      </p:sp>
      <p:sp>
        <p:nvSpPr>
          <p:cNvPr id="105" name="Rectangle 104">
            <a:extLst>
              <a:ext uri="{FF2B5EF4-FFF2-40B4-BE49-F238E27FC236}">
                <a16:creationId xmlns:a16="http://schemas.microsoft.com/office/drawing/2014/main" id="{5C443C93-56E4-4ADA-BA8F-08CD6FA75303}"/>
              </a:ext>
            </a:extLst>
          </p:cNvPr>
          <p:cNvSpPr/>
          <p:nvPr/>
        </p:nvSpPr>
        <p:spPr>
          <a:xfrm>
            <a:off x="8044274" y="1388132"/>
            <a:ext cx="616590" cy="32297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06" name="TextBox 105">
            <a:extLst>
              <a:ext uri="{FF2B5EF4-FFF2-40B4-BE49-F238E27FC236}">
                <a16:creationId xmlns:a16="http://schemas.microsoft.com/office/drawing/2014/main" id="{DEB66D68-86B4-A9D3-BB63-C88CCA00C628}"/>
              </a:ext>
            </a:extLst>
          </p:cNvPr>
          <p:cNvSpPr txBox="1"/>
          <p:nvPr/>
        </p:nvSpPr>
        <p:spPr>
          <a:xfrm>
            <a:off x="8071365" y="1421527"/>
            <a:ext cx="550151" cy="276999"/>
          </a:xfrm>
          <a:prstGeom prst="rect">
            <a:avLst/>
          </a:prstGeom>
          <a:noFill/>
        </p:spPr>
        <p:txBody>
          <a:bodyPr wrap="none" rtlCol="0">
            <a:spAutoFit/>
          </a:bodyPr>
          <a:lstStyle/>
          <a:p>
            <a:r>
              <a:rPr lang="en-GB" sz="1200"/>
              <a:t>EXTI3</a:t>
            </a:r>
            <a:endParaRPr lang="LID4096" sz="1200"/>
          </a:p>
        </p:txBody>
      </p:sp>
      <p:sp>
        <p:nvSpPr>
          <p:cNvPr id="107" name="TextBox 106">
            <a:extLst>
              <a:ext uri="{FF2B5EF4-FFF2-40B4-BE49-F238E27FC236}">
                <a16:creationId xmlns:a16="http://schemas.microsoft.com/office/drawing/2014/main" id="{3446FC4E-699B-F177-02C2-A4A164DC1FDD}"/>
              </a:ext>
            </a:extLst>
          </p:cNvPr>
          <p:cNvSpPr txBox="1"/>
          <p:nvPr/>
        </p:nvSpPr>
        <p:spPr>
          <a:xfrm rot="5400000">
            <a:off x="8845786" y="2055842"/>
            <a:ext cx="381836" cy="369332"/>
          </a:xfrm>
          <a:prstGeom prst="rect">
            <a:avLst/>
          </a:prstGeom>
          <a:noFill/>
        </p:spPr>
        <p:txBody>
          <a:bodyPr wrap="none" rtlCol="0">
            <a:spAutoFit/>
          </a:bodyPr>
          <a:lstStyle/>
          <a:p>
            <a:r>
              <a:rPr lang="en-GB"/>
              <a:t>...</a:t>
            </a:r>
            <a:endParaRPr lang="LID4096"/>
          </a:p>
        </p:txBody>
      </p:sp>
      <p:sp>
        <p:nvSpPr>
          <p:cNvPr id="108" name="TextBox 107">
            <a:extLst>
              <a:ext uri="{FF2B5EF4-FFF2-40B4-BE49-F238E27FC236}">
                <a16:creationId xmlns:a16="http://schemas.microsoft.com/office/drawing/2014/main" id="{78D7DD49-397A-B22D-1C7B-2A2E898B989D}"/>
              </a:ext>
            </a:extLst>
          </p:cNvPr>
          <p:cNvSpPr txBox="1"/>
          <p:nvPr/>
        </p:nvSpPr>
        <p:spPr>
          <a:xfrm rot="5400000">
            <a:off x="8206015" y="2080115"/>
            <a:ext cx="381836" cy="369332"/>
          </a:xfrm>
          <a:prstGeom prst="rect">
            <a:avLst/>
          </a:prstGeom>
          <a:noFill/>
        </p:spPr>
        <p:txBody>
          <a:bodyPr wrap="none" rtlCol="0">
            <a:spAutoFit/>
          </a:bodyPr>
          <a:lstStyle/>
          <a:p>
            <a:r>
              <a:rPr lang="en-GB"/>
              <a:t>...</a:t>
            </a:r>
            <a:endParaRPr lang="LID4096"/>
          </a:p>
        </p:txBody>
      </p:sp>
      <p:sp>
        <p:nvSpPr>
          <p:cNvPr id="109" name="Rectangle 108">
            <a:extLst>
              <a:ext uri="{FF2B5EF4-FFF2-40B4-BE49-F238E27FC236}">
                <a16:creationId xmlns:a16="http://schemas.microsoft.com/office/drawing/2014/main" id="{9A7E2A09-8256-2BFF-8F0F-8E1E9FB777EB}"/>
              </a:ext>
            </a:extLst>
          </p:cNvPr>
          <p:cNvSpPr/>
          <p:nvPr/>
        </p:nvSpPr>
        <p:spPr>
          <a:xfrm>
            <a:off x="8045718" y="1228742"/>
            <a:ext cx="2449585" cy="183836"/>
          </a:xfrm>
          <a:prstGeom prst="rect">
            <a:avLst/>
          </a:prstGeom>
          <a:solidFill>
            <a:schemeClr val="bg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10" name="TextBox 109">
            <a:extLst>
              <a:ext uri="{FF2B5EF4-FFF2-40B4-BE49-F238E27FC236}">
                <a16:creationId xmlns:a16="http://schemas.microsoft.com/office/drawing/2014/main" id="{B04F3B92-1942-88EA-1F07-138DE80115B9}"/>
              </a:ext>
            </a:extLst>
          </p:cNvPr>
          <p:cNvSpPr txBox="1"/>
          <p:nvPr/>
        </p:nvSpPr>
        <p:spPr>
          <a:xfrm>
            <a:off x="8763771" y="1192273"/>
            <a:ext cx="1031051" cy="246221"/>
          </a:xfrm>
          <a:prstGeom prst="rect">
            <a:avLst/>
          </a:prstGeom>
          <a:noFill/>
        </p:spPr>
        <p:txBody>
          <a:bodyPr wrap="none" rtlCol="0">
            <a:spAutoFit/>
          </a:bodyPr>
          <a:lstStyle/>
          <a:p>
            <a:r>
              <a:rPr lang="en-GB" sz="1000">
                <a:solidFill>
                  <a:schemeClr val="bg2"/>
                </a:solidFill>
                <a:latin typeface="Consolas" panose="020B0609020204030204" pitchFamily="49" charset="0"/>
              </a:rPr>
              <a:t>AFIO_EXTICR1</a:t>
            </a:r>
            <a:endParaRPr lang="LID4096" sz="1000">
              <a:solidFill>
                <a:schemeClr val="bg2"/>
              </a:solidFill>
              <a:latin typeface="Consolas" panose="020B0609020204030204" pitchFamily="49" charset="0"/>
            </a:endParaRPr>
          </a:p>
        </p:txBody>
      </p:sp>
      <p:sp>
        <p:nvSpPr>
          <p:cNvPr id="111" name="Rectangle 110">
            <a:extLst>
              <a:ext uri="{FF2B5EF4-FFF2-40B4-BE49-F238E27FC236}">
                <a16:creationId xmlns:a16="http://schemas.microsoft.com/office/drawing/2014/main" id="{F187D9C9-EFC5-899F-E8E6-146A8C63F669}"/>
              </a:ext>
            </a:extLst>
          </p:cNvPr>
          <p:cNvSpPr/>
          <p:nvPr/>
        </p:nvSpPr>
        <p:spPr>
          <a:xfrm>
            <a:off x="7231672" y="1388132"/>
            <a:ext cx="616590" cy="32297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12" name="TextBox 111">
            <a:extLst>
              <a:ext uri="{FF2B5EF4-FFF2-40B4-BE49-F238E27FC236}">
                <a16:creationId xmlns:a16="http://schemas.microsoft.com/office/drawing/2014/main" id="{1B1550FC-39CF-5232-3894-C8388EFFE310}"/>
              </a:ext>
            </a:extLst>
          </p:cNvPr>
          <p:cNvSpPr txBox="1"/>
          <p:nvPr/>
        </p:nvSpPr>
        <p:spPr>
          <a:xfrm>
            <a:off x="7258763" y="1421527"/>
            <a:ext cx="550151" cy="276999"/>
          </a:xfrm>
          <a:prstGeom prst="rect">
            <a:avLst/>
          </a:prstGeom>
          <a:noFill/>
        </p:spPr>
        <p:txBody>
          <a:bodyPr wrap="none" rtlCol="0">
            <a:spAutoFit/>
          </a:bodyPr>
          <a:lstStyle/>
          <a:p>
            <a:r>
              <a:rPr lang="en-GB" sz="1200"/>
              <a:t>EXTI4</a:t>
            </a:r>
            <a:endParaRPr lang="LID4096" sz="1200"/>
          </a:p>
        </p:txBody>
      </p:sp>
      <p:sp>
        <p:nvSpPr>
          <p:cNvPr id="113" name="Rectangle 112">
            <a:extLst>
              <a:ext uri="{FF2B5EF4-FFF2-40B4-BE49-F238E27FC236}">
                <a16:creationId xmlns:a16="http://schemas.microsoft.com/office/drawing/2014/main" id="{FA9F082B-011F-A540-BFF8-254FF32A959B}"/>
              </a:ext>
            </a:extLst>
          </p:cNvPr>
          <p:cNvSpPr/>
          <p:nvPr/>
        </p:nvSpPr>
        <p:spPr>
          <a:xfrm>
            <a:off x="6619229" y="1388132"/>
            <a:ext cx="616590" cy="32297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14" name="TextBox 113">
            <a:extLst>
              <a:ext uri="{FF2B5EF4-FFF2-40B4-BE49-F238E27FC236}">
                <a16:creationId xmlns:a16="http://schemas.microsoft.com/office/drawing/2014/main" id="{3C66D550-362A-42DF-92D8-791445BBBBEB}"/>
              </a:ext>
            </a:extLst>
          </p:cNvPr>
          <p:cNvSpPr txBox="1"/>
          <p:nvPr/>
        </p:nvSpPr>
        <p:spPr>
          <a:xfrm>
            <a:off x="6646320" y="1421527"/>
            <a:ext cx="550151" cy="276999"/>
          </a:xfrm>
          <a:prstGeom prst="rect">
            <a:avLst/>
          </a:prstGeom>
          <a:noFill/>
        </p:spPr>
        <p:txBody>
          <a:bodyPr wrap="none" rtlCol="0">
            <a:spAutoFit/>
          </a:bodyPr>
          <a:lstStyle/>
          <a:p>
            <a:r>
              <a:rPr lang="en-GB" sz="1200"/>
              <a:t>EXTI5</a:t>
            </a:r>
            <a:endParaRPr lang="LID4096" sz="1200"/>
          </a:p>
        </p:txBody>
      </p:sp>
      <p:sp>
        <p:nvSpPr>
          <p:cNvPr id="115" name="Rectangle 114">
            <a:extLst>
              <a:ext uri="{FF2B5EF4-FFF2-40B4-BE49-F238E27FC236}">
                <a16:creationId xmlns:a16="http://schemas.microsoft.com/office/drawing/2014/main" id="{CD7E1C73-7FDA-D5DE-55BA-293B91F43585}"/>
              </a:ext>
            </a:extLst>
          </p:cNvPr>
          <p:cNvSpPr/>
          <p:nvPr/>
        </p:nvSpPr>
        <p:spPr>
          <a:xfrm>
            <a:off x="6008231" y="1388132"/>
            <a:ext cx="616590" cy="32297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16" name="TextBox 115">
            <a:extLst>
              <a:ext uri="{FF2B5EF4-FFF2-40B4-BE49-F238E27FC236}">
                <a16:creationId xmlns:a16="http://schemas.microsoft.com/office/drawing/2014/main" id="{DB0A6B72-D080-49EE-777F-9B640134E3ED}"/>
              </a:ext>
            </a:extLst>
          </p:cNvPr>
          <p:cNvSpPr txBox="1"/>
          <p:nvPr/>
        </p:nvSpPr>
        <p:spPr>
          <a:xfrm>
            <a:off x="6035322" y="1421527"/>
            <a:ext cx="550151" cy="276999"/>
          </a:xfrm>
          <a:prstGeom prst="rect">
            <a:avLst/>
          </a:prstGeom>
          <a:noFill/>
        </p:spPr>
        <p:txBody>
          <a:bodyPr wrap="none" rtlCol="0">
            <a:spAutoFit/>
          </a:bodyPr>
          <a:lstStyle/>
          <a:p>
            <a:r>
              <a:rPr lang="en-GB" sz="1200"/>
              <a:t>EXTI6</a:t>
            </a:r>
            <a:endParaRPr lang="LID4096" sz="1200"/>
          </a:p>
        </p:txBody>
      </p:sp>
      <p:sp>
        <p:nvSpPr>
          <p:cNvPr id="117" name="Rectangle 116">
            <a:extLst>
              <a:ext uri="{FF2B5EF4-FFF2-40B4-BE49-F238E27FC236}">
                <a16:creationId xmlns:a16="http://schemas.microsoft.com/office/drawing/2014/main" id="{253ADE49-C015-A860-EA24-8DAB88687D16}"/>
              </a:ext>
            </a:extLst>
          </p:cNvPr>
          <p:cNvSpPr/>
          <p:nvPr/>
        </p:nvSpPr>
        <p:spPr>
          <a:xfrm>
            <a:off x="5397233" y="1388132"/>
            <a:ext cx="616590" cy="32297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18" name="TextBox 117">
            <a:extLst>
              <a:ext uri="{FF2B5EF4-FFF2-40B4-BE49-F238E27FC236}">
                <a16:creationId xmlns:a16="http://schemas.microsoft.com/office/drawing/2014/main" id="{A7410576-3F52-C31B-C10E-268BFBF91227}"/>
              </a:ext>
            </a:extLst>
          </p:cNvPr>
          <p:cNvSpPr txBox="1"/>
          <p:nvPr/>
        </p:nvSpPr>
        <p:spPr>
          <a:xfrm>
            <a:off x="5424324" y="1421527"/>
            <a:ext cx="550151" cy="276999"/>
          </a:xfrm>
          <a:prstGeom prst="rect">
            <a:avLst/>
          </a:prstGeom>
          <a:noFill/>
        </p:spPr>
        <p:txBody>
          <a:bodyPr wrap="none" rtlCol="0">
            <a:spAutoFit/>
          </a:bodyPr>
          <a:lstStyle/>
          <a:p>
            <a:r>
              <a:rPr lang="en-GB" sz="1200"/>
              <a:t>EXTI7</a:t>
            </a:r>
            <a:endParaRPr lang="LID4096" sz="1200"/>
          </a:p>
        </p:txBody>
      </p:sp>
      <p:sp>
        <p:nvSpPr>
          <p:cNvPr id="119" name="Rectangle 118">
            <a:extLst>
              <a:ext uri="{FF2B5EF4-FFF2-40B4-BE49-F238E27FC236}">
                <a16:creationId xmlns:a16="http://schemas.microsoft.com/office/drawing/2014/main" id="{1E7BC358-4863-612F-1E72-A1E9F79CA4DA}"/>
              </a:ext>
            </a:extLst>
          </p:cNvPr>
          <p:cNvSpPr/>
          <p:nvPr/>
        </p:nvSpPr>
        <p:spPr>
          <a:xfrm>
            <a:off x="5398677" y="1228742"/>
            <a:ext cx="2449585" cy="183836"/>
          </a:xfrm>
          <a:prstGeom prst="rect">
            <a:avLst/>
          </a:prstGeom>
          <a:solidFill>
            <a:schemeClr val="bg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0" name="TextBox 119">
            <a:extLst>
              <a:ext uri="{FF2B5EF4-FFF2-40B4-BE49-F238E27FC236}">
                <a16:creationId xmlns:a16="http://schemas.microsoft.com/office/drawing/2014/main" id="{0EE99CE9-C11F-2D6D-B35F-49155F14BA97}"/>
              </a:ext>
            </a:extLst>
          </p:cNvPr>
          <p:cNvSpPr txBox="1"/>
          <p:nvPr/>
        </p:nvSpPr>
        <p:spPr>
          <a:xfrm>
            <a:off x="6116730" y="1192273"/>
            <a:ext cx="1031051" cy="246221"/>
          </a:xfrm>
          <a:prstGeom prst="rect">
            <a:avLst/>
          </a:prstGeom>
          <a:noFill/>
        </p:spPr>
        <p:txBody>
          <a:bodyPr wrap="none" rtlCol="0">
            <a:spAutoFit/>
          </a:bodyPr>
          <a:lstStyle/>
          <a:p>
            <a:r>
              <a:rPr lang="en-GB" sz="1000">
                <a:solidFill>
                  <a:schemeClr val="bg2"/>
                </a:solidFill>
                <a:latin typeface="Consolas" panose="020B0609020204030204" pitchFamily="49" charset="0"/>
              </a:rPr>
              <a:t>AFIO_EXTICR2</a:t>
            </a:r>
            <a:endParaRPr lang="LID4096" sz="1000">
              <a:solidFill>
                <a:schemeClr val="bg2"/>
              </a:solidFill>
              <a:latin typeface="Consolas" panose="020B0609020204030204" pitchFamily="49" charset="0"/>
            </a:endParaRPr>
          </a:p>
        </p:txBody>
      </p:sp>
      <p:sp>
        <p:nvSpPr>
          <p:cNvPr id="121" name="Rectangle 120">
            <a:extLst>
              <a:ext uri="{FF2B5EF4-FFF2-40B4-BE49-F238E27FC236}">
                <a16:creationId xmlns:a16="http://schemas.microsoft.com/office/drawing/2014/main" id="{880129FD-7C66-31CA-6AAA-64C75317811E}"/>
              </a:ext>
            </a:extLst>
          </p:cNvPr>
          <p:cNvSpPr/>
          <p:nvPr/>
        </p:nvSpPr>
        <p:spPr>
          <a:xfrm>
            <a:off x="10802122" y="6420385"/>
            <a:ext cx="908134" cy="215444"/>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2" name="Rectangle 121">
            <a:extLst>
              <a:ext uri="{FF2B5EF4-FFF2-40B4-BE49-F238E27FC236}">
                <a16:creationId xmlns:a16="http://schemas.microsoft.com/office/drawing/2014/main" id="{AAD4F581-94F2-553C-E52C-5892A3F2F83C}"/>
              </a:ext>
            </a:extLst>
          </p:cNvPr>
          <p:cNvSpPr/>
          <p:nvPr/>
        </p:nvSpPr>
        <p:spPr>
          <a:xfrm rot="10800000">
            <a:off x="10820558" y="1885826"/>
            <a:ext cx="908134" cy="215444"/>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3" name="Rectangle 122">
            <a:extLst>
              <a:ext uri="{FF2B5EF4-FFF2-40B4-BE49-F238E27FC236}">
                <a16:creationId xmlns:a16="http://schemas.microsoft.com/office/drawing/2014/main" id="{C7878557-DA46-A83E-6025-BA48274C9B61}"/>
              </a:ext>
            </a:extLst>
          </p:cNvPr>
          <p:cNvSpPr/>
          <p:nvPr/>
        </p:nvSpPr>
        <p:spPr>
          <a:xfrm rot="5400000">
            <a:off x="5819793" y="216258"/>
            <a:ext cx="1239500" cy="3109219"/>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4" name="TextBox 123">
            <a:extLst>
              <a:ext uri="{FF2B5EF4-FFF2-40B4-BE49-F238E27FC236}">
                <a16:creationId xmlns:a16="http://schemas.microsoft.com/office/drawing/2014/main" id="{898344FC-18EF-DEEA-1B1B-6F41D9797861}"/>
              </a:ext>
            </a:extLst>
          </p:cNvPr>
          <p:cNvSpPr txBox="1"/>
          <p:nvPr/>
        </p:nvSpPr>
        <p:spPr>
          <a:xfrm>
            <a:off x="7345238" y="3059155"/>
            <a:ext cx="1236729" cy="3064563"/>
          </a:xfrm>
          <a:prstGeom prst="rect">
            <a:avLst/>
          </a:prstGeom>
          <a:solidFill>
            <a:schemeClr val="accent6">
              <a:lumMod val="40000"/>
              <a:lumOff val="60000"/>
            </a:schemeClr>
          </a:solidFill>
          <a:ln>
            <a:solidFill>
              <a:schemeClr val="accent6">
                <a:lumMod val="75000"/>
              </a:schemeClr>
            </a:solidFill>
          </a:ln>
        </p:spPr>
        <p:txBody>
          <a:bodyPr wrap="square" rtlCol="0">
            <a:noAutofit/>
          </a:bodyPr>
          <a:lstStyle/>
          <a:p>
            <a:pPr algn="ctr"/>
            <a:r>
              <a:rPr lang="en-US"/>
              <a:t>EXTI</a:t>
            </a:r>
            <a:br>
              <a:rPr lang="en-US"/>
            </a:br>
            <a:endParaRPr lang="en-US" sz="1050"/>
          </a:p>
        </p:txBody>
      </p:sp>
      <p:sp>
        <p:nvSpPr>
          <p:cNvPr id="125" name="TextBox 124">
            <a:extLst>
              <a:ext uri="{FF2B5EF4-FFF2-40B4-BE49-F238E27FC236}">
                <a16:creationId xmlns:a16="http://schemas.microsoft.com/office/drawing/2014/main" id="{6D10E449-6EB6-9595-B3E1-980D8F5FA042}"/>
              </a:ext>
            </a:extLst>
          </p:cNvPr>
          <p:cNvSpPr txBox="1"/>
          <p:nvPr/>
        </p:nvSpPr>
        <p:spPr>
          <a:xfrm>
            <a:off x="7982968" y="3435239"/>
            <a:ext cx="593327" cy="2677656"/>
          </a:xfrm>
          <a:prstGeom prst="rect">
            <a:avLst/>
          </a:prstGeom>
          <a:noFill/>
        </p:spPr>
        <p:txBody>
          <a:bodyPr wrap="square">
            <a:spAutoFit/>
          </a:bodyPr>
          <a:lstStyle/>
          <a:p>
            <a:pPr algn="r"/>
            <a:r>
              <a:rPr lang="en-US" sz="1050"/>
              <a:t>EXTI0</a:t>
            </a:r>
            <a:br>
              <a:rPr lang="en-US" sz="1050"/>
            </a:br>
            <a:r>
              <a:rPr lang="en-US" sz="1050"/>
              <a:t>EXTI1</a:t>
            </a:r>
            <a:br>
              <a:rPr lang="en-US" sz="1050"/>
            </a:br>
            <a:r>
              <a:rPr lang="en-US" sz="1050"/>
              <a:t>EXTI2</a:t>
            </a:r>
            <a:br>
              <a:rPr lang="en-US" sz="1050"/>
            </a:br>
            <a:r>
              <a:rPr lang="en-US" sz="1050"/>
              <a:t>EXTI3</a:t>
            </a:r>
            <a:br>
              <a:rPr lang="en-US" sz="1050"/>
            </a:br>
            <a:r>
              <a:rPr lang="en-US" sz="1050"/>
              <a:t>EXTI4</a:t>
            </a:r>
          </a:p>
          <a:p>
            <a:pPr algn="r"/>
            <a:r>
              <a:rPr lang="en-US" sz="1050"/>
              <a:t>EXTI5</a:t>
            </a:r>
            <a:br>
              <a:rPr lang="en-US" sz="1050"/>
            </a:br>
            <a:r>
              <a:rPr lang="en-US" sz="1050"/>
              <a:t>EXTI6</a:t>
            </a:r>
            <a:br>
              <a:rPr lang="en-US" sz="1050"/>
            </a:br>
            <a:r>
              <a:rPr lang="en-US" sz="1050"/>
              <a:t>EXTI7</a:t>
            </a:r>
            <a:br>
              <a:rPr lang="en-US" sz="1050"/>
            </a:br>
            <a:r>
              <a:rPr lang="en-US" sz="1050"/>
              <a:t>EXTI8</a:t>
            </a:r>
            <a:br>
              <a:rPr lang="en-US" sz="1050"/>
            </a:br>
            <a:r>
              <a:rPr lang="en-US" sz="1050"/>
              <a:t>EXTI9</a:t>
            </a:r>
            <a:br>
              <a:rPr lang="en-US" sz="1050"/>
            </a:br>
            <a:r>
              <a:rPr lang="en-US" sz="1050"/>
              <a:t>EXTI10</a:t>
            </a:r>
            <a:br>
              <a:rPr lang="en-US" sz="1050"/>
            </a:br>
            <a:r>
              <a:rPr lang="en-US" sz="1050"/>
              <a:t>EXTI11</a:t>
            </a:r>
            <a:br>
              <a:rPr lang="en-US" sz="1050"/>
            </a:br>
            <a:r>
              <a:rPr lang="en-US" sz="1050"/>
              <a:t>EXTI12</a:t>
            </a:r>
            <a:br>
              <a:rPr lang="en-US" sz="1050"/>
            </a:br>
            <a:r>
              <a:rPr lang="en-US" sz="1050"/>
              <a:t>EXTI13</a:t>
            </a:r>
            <a:br>
              <a:rPr lang="en-US" sz="1050"/>
            </a:br>
            <a:r>
              <a:rPr lang="en-US" sz="1050"/>
              <a:t>EXTI14</a:t>
            </a:r>
            <a:br>
              <a:rPr lang="en-US" sz="1050"/>
            </a:br>
            <a:r>
              <a:rPr lang="en-US" sz="1050"/>
              <a:t>EXTI15</a:t>
            </a:r>
            <a:endParaRPr lang="LID4096" sz="3600" dirty="0"/>
          </a:p>
        </p:txBody>
      </p:sp>
      <p:sp>
        <p:nvSpPr>
          <p:cNvPr id="126" name="Freeform: Shape 125">
            <a:extLst>
              <a:ext uri="{FF2B5EF4-FFF2-40B4-BE49-F238E27FC236}">
                <a16:creationId xmlns:a16="http://schemas.microsoft.com/office/drawing/2014/main" id="{A3EDB008-AAEB-9BEE-2CB5-1D8DE3B3387E}"/>
              </a:ext>
            </a:extLst>
          </p:cNvPr>
          <p:cNvSpPr/>
          <p:nvPr/>
        </p:nvSpPr>
        <p:spPr>
          <a:xfrm>
            <a:off x="8591002" y="3615410"/>
            <a:ext cx="775982" cy="109057"/>
          </a:xfrm>
          <a:custGeom>
            <a:avLst/>
            <a:gdLst>
              <a:gd name="csX0" fmla="*/ 775982 w 775982"/>
              <a:gd name="csY0" fmla="*/ 0 h 109057"/>
              <a:gd name="csX1" fmla="*/ 515923 w 775982"/>
              <a:gd name="csY1" fmla="*/ 0 h 109057"/>
              <a:gd name="csX2" fmla="*/ 515923 w 775982"/>
              <a:gd name="csY2" fmla="*/ 109057 h 109057"/>
              <a:gd name="csX3" fmla="*/ 0 w 775982"/>
              <a:gd name="csY3" fmla="*/ 109057 h 109057"/>
            </a:gdLst>
            <a:ahLst/>
            <a:cxnLst>
              <a:cxn ang="0">
                <a:pos x="csX0" y="csY0"/>
              </a:cxn>
              <a:cxn ang="0">
                <a:pos x="csX1" y="csY1"/>
              </a:cxn>
              <a:cxn ang="0">
                <a:pos x="csX2" y="csY2"/>
              </a:cxn>
              <a:cxn ang="0">
                <a:pos x="csX3" y="csY3"/>
              </a:cxn>
            </a:cxnLst>
            <a:rect l="l" t="t" r="r" b="b"/>
            <a:pathLst>
              <a:path w="775982" h="109057">
                <a:moveTo>
                  <a:pt x="775982" y="0"/>
                </a:moveTo>
                <a:lnTo>
                  <a:pt x="515923" y="0"/>
                </a:lnTo>
                <a:lnTo>
                  <a:pt x="515923" y="109057"/>
                </a:lnTo>
                <a:lnTo>
                  <a:pt x="0" y="109057"/>
                </a:lnTo>
              </a:path>
            </a:pathLst>
          </a:custGeom>
          <a:noFill/>
          <a:ln w="50800">
            <a:solidFill>
              <a:schemeClr val="accent6">
                <a:lumMod val="75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127" name="Straight Arrow Connector 126">
            <a:extLst>
              <a:ext uri="{FF2B5EF4-FFF2-40B4-BE49-F238E27FC236}">
                <a16:creationId xmlns:a16="http://schemas.microsoft.com/office/drawing/2014/main" id="{E0A7FD6E-04D6-516B-8783-D26BE5229A62}"/>
              </a:ext>
            </a:extLst>
          </p:cNvPr>
          <p:cNvCxnSpPr/>
          <p:nvPr/>
        </p:nvCxnSpPr>
        <p:spPr>
          <a:xfrm flipH="1">
            <a:off x="8582613" y="3871274"/>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8" name="Straight Arrow Connector 127">
            <a:extLst>
              <a:ext uri="{FF2B5EF4-FFF2-40B4-BE49-F238E27FC236}">
                <a16:creationId xmlns:a16="http://schemas.microsoft.com/office/drawing/2014/main" id="{6BD5A3E9-F3BD-1FE1-0D2E-958443416922}"/>
              </a:ext>
            </a:extLst>
          </p:cNvPr>
          <p:cNvCxnSpPr/>
          <p:nvPr/>
        </p:nvCxnSpPr>
        <p:spPr>
          <a:xfrm flipH="1">
            <a:off x="8582613" y="4025771"/>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9" name="Straight Arrow Connector 128">
            <a:extLst>
              <a:ext uri="{FF2B5EF4-FFF2-40B4-BE49-F238E27FC236}">
                <a16:creationId xmlns:a16="http://schemas.microsoft.com/office/drawing/2014/main" id="{E27FDC56-E3F9-78FD-E35D-76B2CC823B48}"/>
              </a:ext>
            </a:extLst>
          </p:cNvPr>
          <p:cNvCxnSpPr/>
          <p:nvPr/>
        </p:nvCxnSpPr>
        <p:spPr>
          <a:xfrm flipH="1">
            <a:off x="8579442" y="4201242"/>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0" name="Straight Arrow Connector 129">
            <a:extLst>
              <a:ext uri="{FF2B5EF4-FFF2-40B4-BE49-F238E27FC236}">
                <a16:creationId xmlns:a16="http://schemas.microsoft.com/office/drawing/2014/main" id="{6009A771-5D13-4B20-E53B-AC3449B56934}"/>
              </a:ext>
            </a:extLst>
          </p:cNvPr>
          <p:cNvCxnSpPr/>
          <p:nvPr/>
        </p:nvCxnSpPr>
        <p:spPr>
          <a:xfrm flipH="1">
            <a:off x="8579442" y="4362729"/>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1" name="Straight Arrow Connector 130">
            <a:extLst>
              <a:ext uri="{FF2B5EF4-FFF2-40B4-BE49-F238E27FC236}">
                <a16:creationId xmlns:a16="http://schemas.microsoft.com/office/drawing/2014/main" id="{5CEC8DF9-9A10-9951-E53B-B5A52B26D1EF}"/>
              </a:ext>
            </a:extLst>
          </p:cNvPr>
          <p:cNvCxnSpPr/>
          <p:nvPr/>
        </p:nvCxnSpPr>
        <p:spPr>
          <a:xfrm flipH="1">
            <a:off x="8579442" y="4521023"/>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2" name="Straight Arrow Connector 131">
            <a:extLst>
              <a:ext uri="{FF2B5EF4-FFF2-40B4-BE49-F238E27FC236}">
                <a16:creationId xmlns:a16="http://schemas.microsoft.com/office/drawing/2014/main" id="{84982BFB-FBD7-52FB-B847-6221579D7CDD}"/>
              </a:ext>
            </a:extLst>
          </p:cNvPr>
          <p:cNvCxnSpPr/>
          <p:nvPr/>
        </p:nvCxnSpPr>
        <p:spPr>
          <a:xfrm flipH="1">
            <a:off x="8579442" y="4684587"/>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33" name="Rectangle 132">
            <a:extLst>
              <a:ext uri="{FF2B5EF4-FFF2-40B4-BE49-F238E27FC236}">
                <a16:creationId xmlns:a16="http://schemas.microsoft.com/office/drawing/2014/main" id="{92995CA7-4157-001A-2EBE-6BB7EC2D679F}"/>
              </a:ext>
            </a:extLst>
          </p:cNvPr>
          <p:cNvSpPr/>
          <p:nvPr/>
        </p:nvSpPr>
        <p:spPr>
          <a:xfrm>
            <a:off x="8591001" y="4150818"/>
            <a:ext cx="908134" cy="647781"/>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34" name="TextBox 133">
            <a:extLst>
              <a:ext uri="{FF2B5EF4-FFF2-40B4-BE49-F238E27FC236}">
                <a16:creationId xmlns:a16="http://schemas.microsoft.com/office/drawing/2014/main" id="{18B50F7B-98B4-62EF-EAD1-5EFF2CDC4FCC}"/>
              </a:ext>
            </a:extLst>
          </p:cNvPr>
          <p:cNvSpPr txBox="1"/>
          <p:nvPr/>
        </p:nvSpPr>
        <p:spPr>
          <a:xfrm>
            <a:off x="7336800" y="3435239"/>
            <a:ext cx="849594" cy="1223412"/>
          </a:xfrm>
          <a:prstGeom prst="rect">
            <a:avLst/>
          </a:prstGeom>
          <a:noFill/>
        </p:spPr>
        <p:txBody>
          <a:bodyPr wrap="square">
            <a:spAutoFit/>
          </a:bodyPr>
          <a:lstStyle/>
          <a:p>
            <a:r>
              <a:rPr lang="en-US" sz="1050"/>
              <a:t>EXTI0</a:t>
            </a:r>
            <a:br>
              <a:rPr lang="en-US" sz="1050"/>
            </a:br>
            <a:r>
              <a:rPr lang="en-US" sz="1050"/>
              <a:t>EXTI1</a:t>
            </a:r>
            <a:br>
              <a:rPr lang="en-US" sz="1050"/>
            </a:br>
            <a:r>
              <a:rPr lang="en-US" sz="1050"/>
              <a:t>EXTI2</a:t>
            </a:r>
            <a:br>
              <a:rPr lang="en-US" sz="1050"/>
            </a:br>
            <a:r>
              <a:rPr lang="en-US" sz="1050"/>
              <a:t>EXTI3</a:t>
            </a:r>
            <a:br>
              <a:rPr lang="en-US" sz="1050"/>
            </a:br>
            <a:r>
              <a:rPr lang="en-US" sz="1050"/>
              <a:t>EXTI4</a:t>
            </a:r>
          </a:p>
          <a:p>
            <a:r>
              <a:rPr lang="en-US" sz="1050"/>
              <a:t>EXTI5_9</a:t>
            </a:r>
            <a:br>
              <a:rPr lang="en-US" sz="1050"/>
            </a:br>
            <a:r>
              <a:rPr lang="en-US" sz="1050"/>
              <a:t>EXTI10_15</a:t>
            </a:r>
          </a:p>
        </p:txBody>
      </p:sp>
      <p:sp>
        <p:nvSpPr>
          <p:cNvPr id="135" name="TextBox 134">
            <a:extLst>
              <a:ext uri="{FF2B5EF4-FFF2-40B4-BE49-F238E27FC236}">
                <a16:creationId xmlns:a16="http://schemas.microsoft.com/office/drawing/2014/main" id="{C285A6B2-25F8-E2B6-0B42-DDAA83F758DB}"/>
              </a:ext>
            </a:extLst>
          </p:cNvPr>
          <p:cNvSpPr txBox="1"/>
          <p:nvPr/>
        </p:nvSpPr>
        <p:spPr>
          <a:xfrm>
            <a:off x="4025651" y="3050231"/>
            <a:ext cx="2535215" cy="1761580"/>
          </a:xfrm>
          <a:prstGeom prst="rect">
            <a:avLst/>
          </a:prstGeom>
          <a:solidFill>
            <a:schemeClr val="accent1">
              <a:lumMod val="60000"/>
              <a:lumOff val="40000"/>
            </a:schemeClr>
          </a:solidFill>
          <a:ln>
            <a:solidFill>
              <a:schemeClr val="tx2">
                <a:lumMod val="75000"/>
                <a:lumOff val="25000"/>
              </a:schemeClr>
            </a:solidFill>
          </a:ln>
        </p:spPr>
        <p:txBody>
          <a:bodyPr wrap="square" rtlCol="0">
            <a:noAutofit/>
          </a:bodyPr>
          <a:lstStyle/>
          <a:p>
            <a:pPr algn="ctr"/>
            <a:endParaRPr lang="en-US" sz="3600"/>
          </a:p>
          <a:p>
            <a:pPr algn="ctr"/>
            <a:r>
              <a:rPr lang="en-US" sz="3600"/>
              <a:t>PFIC</a:t>
            </a:r>
            <a:endParaRPr lang="LID4096" sz="6000" dirty="0"/>
          </a:p>
        </p:txBody>
      </p:sp>
      <p:cxnSp>
        <p:nvCxnSpPr>
          <p:cNvPr id="3" name="Straight Arrow Connector 2">
            <a:extLst>
              <a:ext uri="{FF2B5EF4-FFF2-40B4-BE49-F238E27FC236}">
                <a16:creationId xmlns:a16="http://schemas.microsoft.com/office/drawing/2014/main" id="{F1B71CE8-9110-E09F-D631-B19A784EE888}"/>
              </a:ext>
            </a:extLst>
          </p:cNvPr>
          <p:cNvCxnSpPr/>
          <p:nvPr/>
        </p:nvCxnSpPr>
        <p:spPr>
          <a:xfrm flipH="1">
            <a:off x="8582613" y="3532008"/>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38" name="Picture 137">
            <a:extLst>
              <a:ext uri="{FF2B5EF4-FFF2-40B4-BE49-F238E27FC236}">
                <a16:creationId xmlns:a16="http://schemas.microsoft.com/office/drawing/2014/main" id="{BC387764-A324-D4EE-A6C7-1A3300D23BA6}"/>
              </a:ext>
            </a:extLst>
          </p:cNvPr>
          <p:cNvPicPr>
            <a:picLocks noChangeAspect="1"/>
          </p:cNvPicPr>
          <p:nvPr/>
        </p:nvPicPr>
        <p:blipFill>
          <a:blip r:embed="rId3"/>
          <a:stretch>
            <a:fillRect/>
          </a:stretch>
        </p:blipFill>
        <p:spPr>
          <a:xfrm>
            <a:off x="278232" y="5024147"/>
            <a:ext cx="3376395" cy="1532569"/>
          </a:xfrm>
          <a:prstGeom prst="rect">
            <a:avLst/>
          </a:prstGeom>
          <a:ln>
            <a:solidFill>
              <a:schemeClr val="tx1"/>
            </a:solidFill>
          </a:ln>
          <a:effectLst>
            <a:outerShdw blurRad="50800" dist="38100" dir="2700000" algn="tl" rotWithShape="0">
              <a:prstClr val="black">
                <a:alpha val="40000"/>
              </a:prstClr>
            </a:outerShdw>
          </a:effectLst>
        </p:spPr>
      </p:pic>
      <p:sp>
        <p:nvSpPr>
          <p:cNvPr id="139" name="TextBox 138">
            <a:extLst>
              <a:ext uri="{FF2B5EF4-FFF2-40B4-BE49-F238E27FC236}">
                <a16:creationId xmlns:a16="http://schemas.microsoft.com/office/drawing/2014/main" id="{A0274D24-0CAD-C37E-714C-EF35E0A00BDA}"/>
              </a:ext>
            </a:extLst>
          </p:cNvPr>
          <p:cNvSpPr txBox="1"/>
          <p:nvPr/>
        </p:nvSpPr>
        <p:spPr>
          <a:xfrm>
            <a:off x="7620648" y="1990576"/>
            <a:ext cx="1650335" cy="830997"/>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txBody>
          <a:bodyPr wrap="square" rtlCol="0">
            <a:spAutoFit/>
          </a:bodyPr>
          <a:lstStyle/>
          <a:p>
            <a:r>
              <a:rPr lang="sv-SE" sz="1200" dirty="0"/>
              <a:t>Vi till fånga </a:t>
            </a:r>
            <a:r>
              <a:rPr lang="sv-SE" sz="1200" dirty="0" err="1"/>
              <a:t>interrupts</a:t>
            </a:r>
            <a:r>
              <a:rPr lang="sv-SE" sz="1200" dirty="0"/>
              <a:t> från pinne </a:t>
            </a:r>
            <a:r>
              <a:rPr lang="sv-SE" sz="1200" b="1" dirty="0">
                <a:solidFill>
                  <a:schemeClr val="accent5">
                    <a:lumMod val="60000"/>
                    <a:lumOff val="40000"/>
                  </a:schemeClr>
                </a:solidFill>
              </a:rPr>
              <a:t>1</a:t>
            </a:r>
            <a:r>
              <a:rPr lang="sv-SE" sz="1200" dirty="0"/>
              <a:t> på port </a:t>
            </a:r>
            <a:r>
              <a:rPr lang="sv-SE" sz="1200" b="1" dirty="0">
                <a:solidFill>
                  <a:srgbClr val="FFC000"/>
                </a:solidFill>
              </a:rPr>
              <a:t>E</a:t>
            </a:r>
            <a:r>
              <a:rPr lang="sv-SE" sz="1200" dirty="0"/>
              <a:t>, så vi stoppar (A=1, B=2, ...) </a:t>
            </a:r>
            <a:r>
              <a:rPr lang="sv-SE" sz="1200" b="1" dirty="0">
                <a:solidFill>
                  <a:srgbClr val="FFC000"/>
                </a:solidFill>
              </a:rPr>
              <a:t>4</a:t>
            </a:r>
            <a:r>
              <a:rPr lang="sv-SE" sz="1200" dirty="0"/>
              <a:t> i EXTI</a:t>
            </a:r>
            <a:r>
              <a:rPr lang="sv-SE" sz="1200" b="1" dirty="0">
                <a:solidFill>
                  <a:schemeClr val="accent5">
                    <a:lumMod val="60000"/>
                    <a:lumOff val="40000"/>
                  </a:schemeClr>
                </a:solidFill>
              </a:rPr>
              <a:t>1</a:t>
            </a:r>
            <a:r>
              <a:rPr lang="sv-SE" sz="1200" dirty="0"/>
              <a:t> </a:t>
            </a:r>
            <a:endParaRPr lang="LID4096" sz="1200" dirty="0"/>
          </a:p>
        </p:txBody>
      </p:sp>
      <p:pic>
        <p:nvPicPr>
          <p:cNvPr id="141" name="Picture 140">
            <a:extLst>
              <a:ext uri="{FF2B5EF4-FFF2-40B4-BE49-F238E27FC236}">
                <a16:creationId xmlns:a16="http://schemas.microsoft.com/office/drawing/2014/main" id="{11CFCCFC-C62A-4CF1-3BB0-863C229F40C6}"/>
              </a:ext>
            </a:extLst>
          </p:cNvPr>
          <p:cNvPicPr>
            <a:picLocks noChangeAspect="1"/>
          </p:cNvPicPr>
          <p:nvPr/>
        </p:nvPicPr>
        <p:blipFill>
          <a:blip r:embed="rId4"/>
          <a:stretch>
            <a:fillRect/>
          </a:stretch>
        </p:blipFill>
        <p:spPr>
          <a:xfrm>
            <a:off x="293204" y="2174387"/>
            <a:ext cx="4445423" cy="1538566"/>
          </a:xfrm>
          <a:prstGeom prst="rect">
            <a:avLst/>
          </a:prstGeom>
          <a:ln>
            <a:solidFill>
              <a:schemeClr val="tx1"/>
            </a:solidFill>
          </a:ln>
          <a:effectLst>
            <a:outerShdw blurRad="50800" dist="38100" dir="2700000" algn="tl" rotWithShape="0">
              <a:prstClr val="black">
                <a:alpha val="40000"/>
              </a:prstClr>
            </a:outerShdw>
          </a:effectLst>
        </p:spPr>
      </p:pic>
      <p:grpSp>
        <p:nvGrpSpPr>
          <p:cNvPr id="159" name="Group 158">
            <a:extLst>
              <a:ext uri="{FF2B5EF4-FFF2-40B4-BE49-F238E27FC236}">
                <a16:creationId xmlns:a16="http://schemas.microsoft.com/office/drawing/2014/main" id="{E5449936-92CC-B240-024C-3D8D3BE820D4}"/>
              </a:ext>
            </a:extLst>
          </p:cNvPr>
          <p:cNvGrpSpPr/>
          <p:nvPr/>
        </p:nvGrpSpPr>
        <p:grpSpPr>
          <a:xfrm>
            <a:off x="1945482" y="5919377"/>
            <a:ext cx="1356140" cy="512177"/>
            <a:chOff x="1945482" y="5919377"/>
            <a:chExt cx="1356140" cy="512177"/>
          </a:xfrm>
        </p:grpSpPr>
        <p:sp>
          <p:nvSpPr>
            <p:cNvPr id="142" name="TextBox 141">
              <a:extLst>
                <a:ext uri="{FF2B5EF4-FFF2-40B4-BE49-F238E27FC236}">
                  <a16:creationId xmlns:a16="http://schemas.microsoft.com/office/drawing/2014/main" id="{7281FC92-57D4-D3E0-1EA5-300192BCC185}"/>
                </a:ext>
              </a:extLst>
            </p:cNvPr>
            <p:cNvSpPr txBox="1"/>
            <p:nvPr/>
          </p:nvSpPr>
          <p:spPr>
            <a:xfrm>
              <a:off x="2888457" y="5919377"/>
              <a:ext cx="386644" cy="169277"/>
            </a:xfrm>
            <a:prstGeom prst="rect">
              <a:avLst/>
            </a:prstGeom>
            <a:noFill/>
          </p:spPr>
          <p:txBody>
            <a:bodyPr wrap="none" rtlCol="0">
              <a:spAutoFit/>
            </a:bodyPr>
            <a:lstStyle/>
            <a:p>
              <a:r>
                <a:rPr lang="sv-SE" sz="500" dirty="0"/>
                <a:t>pinne 0</a:t>
              </a:r>
              <a:endParaRPr lang="LID4096" sz="500" dirty="0"/>
            </a:p>
          </p:txBody>
        </p:sp>
        <p:sp>
          <p:nvSpPr>
            <p:cNvPr id="143" name="TextBox 142">
              <a:extLst>
                <a:ext uri="{FF2B5EF4-FFF2-40B4-BE49-F238E27FC236}">
                  <a16:creationId xmlns:a16="http://schemas.microsoft.com/office/drawing/2014/main" id="{73FE47ED-0BAF-D9A8-2BC1-FF569DD52028}"/>
                </a:ext>
              </a:extLst>
            </p:cNvPr>
            <p:cNvSpPr txBox="1"/>
            <p:nvPr/>
          </p:nvSpPr>
          <p:spPr>
            <a:xfrm>
              <a:off x="2576513" y="5919377"/>
              <a:ext cx="386644" cy="169277"/>
            </a:xfrm>
            <a:prstGeom prst="rect">
              <a:avLst/>
            </a:prstGeom>
            <a:noFill/>
          </p:spPr>
          <p:txBody>
            <a:bodyPr wrap="none" rtlCol="0">
              <a:spAutoFit/>
            </a:bodyPr>
            <a:lstStyle/>
            <a:p>
              <a:r>
                <a:rPr lang="sv-SE" sz="500" dirty="0"/>
                <a:t>pinne 1</a:t>
              </a:r>
              <a:endParaRPr lang="LID4096" sz="500" dirty="0"/>
            </a:p>
          </p:txBody>
        </p:sp>
        <p:sp>
          <p:nvSpPr>
            <p:cNvPr id="144" name="TextBox 143">
              <a:extLst>
                <a:ext uri="{FF2B5EF4-FFF2-40B4-BE49-F238E27FC236}">
                  <a16:creationId xmlns:a16="http://schemas.microsoft.com/office/drawing/2014/main" id="{1B00B96B-D5ED-9BE6-7963-98EEDC686897}"/>
                </a:ext>
              </a:extLst>
            </p:cNvPr>
            <p:cNvSpPr txBox="1"/>
            <p:nvPr/>
          </p:nvSpPr>
          <p:spPr>
            <a:xfrm>
              <a:off x="2264569" y="5919377"/>
              <a:ext cx="386644" cy="169277"/>
            </a:xfrm>
            <a:prstGeom prst="rect">
              <a:avLst/>
            </a:prstGeom>
            <a:noFill/>
          </p:spPr>
          <p:txBody>
            <a:bodyPr wrap="none" rtlCol="0">
              <a:spAutoFit/>
            </a:bodyPr>
            <a:lstStyle/>
            <a:p>
              <a:r>
                <a:rPr lang="sv-SE" sz="500" dirty="0"/>
                <a:t>pinne 2</a:t>
              </a:r>
              <a:endParaRPr lang="LID4096" sz="500" dirty="0"/>
            </a:p>
          </p:txBody>
        </p:sp>
        <p:sp>
          <p:nvSpPr>
            <p:cNvPr id="145" name="TextBox 144">
              <a:extLst>
                <a:ext uri="{FF2B5EF4-FFF2-40B4-BE49-F238E27FC236}">
                  <a16:creationId xmlns:a16="http://schemas.microsoft.com/office/drawing/2014/main" id="{7D14EF60-9BCE-172B-DFDC-B22F51575EFF}"/>
                </a:ext>
              </a:extLst>
            </p:cNvPr>
            <p:cNvSpPr txBox="1"/>
            <p:nvPr/>
          </p:nvSpPr>
          <p:spPr>
            <a:xfrm>
              <a:off x="1952625" y="5919377"/>
              <a:ext cx="386644" cy="169277"/>
            </a:xfrm>
            <a:prstGeom prst="rect">
              <a:avLst/>
            </a:prstGeom>
            <a:noFill/>
          </p:spPr>
          <p:txBody>
            <a:bodyPr wrap="none" rtlCol="0">
              <a:spAutoFit/>
            </a:bodyPr>
            <a:lstStyle/>
            <a:p>
              <a:r>
                <a:rPr lang="sv-SE" sz="500" dirty="0"/>
                <a:t>pinne 3</a:t>
              </a:r>
              <a:endParaRPr lang="LID4096" sz="500" dirty="0"/>
            </a:p>
          </p:txBody>
        </p:sp>
        <p:sp>
          <p:nvSpPr>
            <p:cNvPr id="147" name="TextBox 146">
              <a:extLst>
                <a:ext uri="{FF2B5EF4-FFF2-40B4-BE49-F238E27FC236}">
                  <a16:creationId xmlns:a16="http://schemas.microsoft.com/office/drawing/2014/main" id="{9D8281C5-B3D5-5FE4-E457-C340C6CA31CA}"/>
                </a:ext>
              </a:extLst>
            </p:cNvPr>
            <p:cNvSpPr txBox="1"/>
            <p:nvPr/>
          </p:nvSpPr>
          <p:spPr>
            <a:xfrm>
              <a:off x="2886076" y="6033677"/>
              <a:ext cx="386644" cy="169277"/>
            </a:xfrm>
            <a:prstGeom prst="rect">
              <a:avLst/>
            </a:prstGeom>
            <a:noFill/>
          </p:spPr>
          <p:txBody>
            <a:bodyPr wrap="none" rtlCol="0">
              <a:spAutoFit/>
            </a:bodyPr>
            <a:lstStyle/>
            <a:p>
              <a:r>
                <a:rPr lang="sv-SE" sz="500" dirty="0"/>
                <a:t>pinne 4</a:t>
              </a:r>
              <a:endParaRPr lang="LID4096" sz="500" dirty="0"/>
            </a:p>
          </p:txBody>
        </p:sp>
        <p:sp>
          <p:nvSpPr>
            <p:cNvPr id="148" name="TextBox 147">
              <a:extLst>
                <a:ext uri="{FF2B5EF4-FFF2-40B4-BE49-F238E27FC236}">
                  <a16:creationId xmlns:a16="http://schemas.microsoft.com/office/drawing/2014/main" id="{E1EB6862-B65B-F35C-3D63-F699516F7EBE}"/>
                </a:ext>
              </a:extLst>
            </p:cNvPr>
            <p:cNvSpPr txBox="1"/>
            <p:nvPr/>
          </p:nvSpPr>
          <p:spPr>
            <a:xfrm>
              <a:off x="2574132" y="6033677"/>
              <a:ext cx="386644" cy="169277"/>
            </a:xfrm>
            <a:prstGeom prst="rect">
              <a:avLst/>
            </a:prstGeom>
            <a:noFill/>
          </p:spPr>
          <p:txBody>
            <a:bodyPr wrap="none" rtlCol="0">
              <a:spAutoFit/>
            </a:bodyPr>
            <a:lstStyle/>
            <a:p>
              <a:r>
                <a:rPr lang="sv-SE" sz="500" dirty="0"/>
                <a:t>pinne 5</a:t>
              </a:r>
              <a:endParaRPr lang="LID4096" sz="500" dirty="0"/>
            </a:p>
          </p:txBody>
        </p:sp>
        <p:sp>
          <p:nvSpPr>
            <p:cNvPr id="149" name="TextBox 148">
              <a:extLst>
                <a:ext uri="{FF2B5EF4-FFF2-40B4-BE49-F238E27FC236}">
                  <a16:creationId xmlns:a16="http://schemas.microsoft.com/office/drawing/2014/main" id="{0BA3CAEF-E11A-E9FB-4F1E-AF9F8F88030E}"/>
                </a:ext>
              </a:extLst>
            </p:cNvPr>
            <p:cNvSpPr txBox="1"/>
            <p:nvPr/>
          </p:nvSpPr>
          <p:spPr>
            <a:xfrm>
              <a:off x="2262188" y="6033677"/>
              <a:ext cx="386644" cy="169277"/>
            </a:xfrm>
            <a:prstGeom prst="rect">
              <a:avLst/>
            </a:prstGeom>
            <a:noFill/>
          </p:spPr>
          <p:txBody>
            <a:bodyPr wrap="none" rtlCol="0">
              <a:spAutoFit/>
            </a:bodyPr>
            <a:lstStyle/>
            <a:p>
              <a:r>
                <a:rPr lang="sv-SE" sz="500" dirty="0"/>
                <a:t>pinne 6</a:t>
              </a:r>
              <a:endParaRPr lang="LID4096" sz="500" dirty="0"/>
            </a:p>
          </p:txBody>
        </p:sp>
        <p:sp>
          <p:nvSpPr>
            <p:cNvPr id="150" name="TextBox 149">
              <a:extLst>
                <a:ext uri="{FF2B5EF4-FFF2-40B4-BE49-F238E27FC236}">
                  <a16:creationId xmlns:a16="http://schemas.microsoft.com/office/drawing/2014/main" id="{20DAEEDA-2632-7CA5-1258-A0433D887AD5}"/>
                </a:ext>
              </a:extLst>
            </p:cNvPr>
            <p:cNvSpPr txBox="1"/>
            <p:nvPr/>
          </p:nvSpPr>
          <p:spPr>
            <a:xfrm>
              <a:off x="1950244" y="6033677"/>
              <a:ext cx="386644" cy="169277"/>
            </a:xfrm>
            <a:prstGeom prst="rect">
              <a:avLst/>
            </a:prstGeom>
            <a:noFill/>
          </p:spPr>
          <p:txBody>
            <a:bodyPr wrap="none" rtlCol="0">
              <a:spAutoFit/>
            </a:bodyPr>
            <a:lstStyle/>
            <a:p>
              <a:r>
                <a:rPr lang="sv-SE" sz="500" dirty="0"/>
                <a:t>pinne 7</a:t>
              </a:r>
              <a:endParaRPr lang="LID4096" sz="500" dirty="0"/>
            </a:p>
          </p:txBody>
        </p:sp>
        <p:sp>
          <p:nvSpPr>
            <p:cNvPr id="151" name="TextBox 150">
              <a:extLst>
                <a:ext uri="{FF2B5EF4-FFF2-40B4-BE49-F238E27FC236}">
                  <a16:creationId xmlns:a16="http://schemas.microsoft.com/office/drawing/2014/main" id="{B7BEE7F8-8E6B-28B5-2BCA-874D5769A5FB}"/>
                </a:ext>
              </a:extLst>
            </p:cNvPr>
            <p:cNvSpPr txBox="1"/>
            <p:nvPr/>
          </p:nvSpPr>
          <p:spPr>
            <a:xfrm>
              <a:off x="2883695" y="6147977"/>
              <a:ext cx="386644" cy="169277"/>
            </a:xfrm>
            <a:prstGeom prst="rect">
              <a:avLst/>
            </a:prstGeom>
            <a:noFill/>
          </p:spPr>
          <p:txBody>
            <a:bodyPr wrap="none" rtlCol="0">
              <a:spAutoFit/>
            </a:bodyPr>
            <a:lstStyle/>
            <a:p>
              <a:r>
                <a:rPr lang="sv-SE" sz="500" dirty="0"/>
                <a:t>pinne 8</a:t>
              </a:r>
              <a:endParaRPr lang="LID4096" sz="500" dirty="0"/>
            </a:p>
          </p:txBody>
        </p:sp>
        <p:sp>
          <p:nvSpPr>
            <p:cNvPr id="152" name="TextBox 151">
              <a:extLst>
                <a:ext uri="{FF2B5EF4-FFF2-40B4-BE49-F238E27FC236}">
                  <a16:creationId xmlns:a16="http://schemas.microsoft.com/office/drawing/2014/main" id="{25148B5E-B881-5300-D9AE-B28C5473F320}"/>
                </a:ext>
              </a:extLst>
            </p:cNvPr>
            <p:cNvSpPr txBox="1"/>
            <p:nvPr/>
          </p:nvSpPr>
          <p:spPr>
            <a:xfrm>
              <a:off x="2571751" y="6147977"/>
              <a:ext cx="386644" cy="169277"/>
            </a:xfrm>
            <a:prstGeom prst="rect">
              <a:avLst/>
            </a:prstGeom>
            <a:noFill/>
          </p:spPr>
          <p:txBody>
            <a:bodyPr wrap="none" rtlCol="0">
              <a:spAutoFit/>
            </a:bodyPr>
            <a:lstStyle/>
            <a:p>
              <a:r>
                <a:rPr lang="sv-SE" sz="500" dirty="0"/>
                <a:t>pinne 9</a:t>
              </a:r>
              <a:endParaRPr lang="LID4096" sz="500" dirty="0"/>
            </a:p>
          </p:txBody>
        </p:sp>
        <p:sp>
          <p:nvSpPr>
            <p:cNvPr id="153" name="TextBox 152">
              <a:extLst>
                <a:ext uri="{FF2B5EF4-FFF2-40B4-BE49-F238E27FC236}">
                  <a16:creationId xmlns:a16="http://schemas.microsoft.com/office/drawing/2014/main" id="{FA956C11-9060-D9BB-98D7-702D54C474E7}"/>
                </a:ext>
              </a:extLst>
            </p:cNvPr>
            <p:cNvSpPr txBox="1"/>
            <p:nvPr/>
          </p:nvSpPr>
          <p:spPr>
            <a:xfrm>
              <a:off x="2259807" y="6147977"/>
              <a:ext cx="420308" cy="169277"/>
            </a:xfrm>
            <a:prstGeom prst="rect">
              <a:avLst/>
            </a:prstGeom>
            <a:noFill/>
          </p:spPr>
          <p:txBody>
            <a:bodyPr wrap="none" rtlCol="0">
              <a:spAutoFit/>
            </a:bodyPr>
            <a:lstStyle/>
            <a:p>
              <a:r>
                <a:rPr lang="sv-SE" sz="500" dirty="0"/>
                <a:t>pinne 10</a:t>
              </a:r>
              <a:endParaRPr lang="LID4096" sz="500" dirty="0"/>
            </a:p>
          </p:txBody>
        </p:sp>
        <p:sp>
          <p:nvSpPr>
            <p:cNvPr id="154" name="TextBox 153">
              <a:extLst>
                <a:ext uri="{FF2B5EF4-FFF2-40B4-BE49-F238E27FC236}">
                  <a16:creationId xmlns:a16="http://schemas.microsoft.com/office/drawing/2014/main" id="{D2B1F60B-C683-68FD-BF52-8AD2DBADFA85}"/>
                </a:ext>
              </a:extLst>
            </p:cNvPr>
            <p:cNvSpPr txBox="1"/>
            <p:nvPr/>
          </p:nvSpPr>
          <p:spPr>
            <a:xfrm>
              <a:off x="1947863" y="6147977"/>
              <a:ext cx="420308" cy="169277"/>
            </a:xfrm>
            <a:prstGeom prst="rect">
              <a:avLst/>
            </a:prstGeom>
            <a:noFill/>
          </p:spPr>
          <p:txBody>
            <a:bodyPr wrap="none" rtlCol="0">
              <a:spAutoFit/>
            </a:bodyPr>
            <a:lstStyle/>
            <a:p>
              <a:r>
                <a:rPr lang="sv-SE" sz="500" dirty="0"/>
                <a:t>pinne 11</a:t>
              </a:r>
              <a:endParaRPr lang="LID4096" sz="500" dirty="0"/>
            </a:p>
          </p:txBody>
        </p:sp>
        <p:sp>
          <p:nvSpPr>
            <p:cNvPr id="155" name="TextBox 154">
              <a:extLst>
                <a:ext uri="{FF2B5EF4-FFF2-40B4-BE49-F238E27FC236}">
                  <a16:creationId xmlns:a16="http://schemas.microsoft.com/office/drawing/2014/main" id="{4256AA15-012C-3962-919A-10B46793590E}"/>
                </a:ext>
              </a:extLst>
            </p:cNvPr>
            <p:cNvSpPr txBox="1"/>
            <p:nvPr/>
          </p:nvSpPr>
          <p:spPr>
            <a:xfrm>
              <a:off x="2881314" y="6262277"/>
              <a:ext cx="420308" cy="169277"/>
            </a:xfrm>
            <a:prstGeom prst="rect">
              <a:avLst/>
            </a:prstGeom>
            <a:noFill/>
          </p:spPr>
          <p:txBody>
            <a:bodyPr wrap="none" rtlCol="0">
              <a:spAutoFit/>
            </a:bodyPr>
            <a:lstStyle/>
            <a:p>
              <a:r>
                <a:rPr lang="sv-SE" sz="500" dirty="0"/>
                <a:t>pinne 12</a:t>
              </a:r>
              <a:endParaRPr lang="LID4096" sz="500" dirty="0"/>
            </a:p>
          </p:txBody>
        </p:sp>
        <p:sp>
          <p:nvSpPr>
            <p:cNvPr id="156" name="TextBox 155">
              <a:extLst>
                <a:ext uri="{FF2B5EF4-FFF2-40B4-BE49-F238E27FC236}">
                  <a16:creationId xmlns:a16="http://schemas.microsoft.com/office/drawing/2014/main" id="{821465B6-89D1-1019-E0B5-8DEA553B2F71}"/>
                </a:ext>
              </a:extLst>
            </p:cNvPr>
            <p:cNvSpPr txBox="1"/>
            <p:nvPr/>
          </p:nvSpPr>
          <p:spPr>
            <a:xfrm>
              <a:off x="2569370" y="6262277"/>
              <a:ext cx="420308" cy="169277"/>
            </a:xfrm>
            <a:prstGeom prst="rect">
              <a:avLst/>
            </a:prstGeom>
            <a:noFill/>
          </p:spPr>
          <p:txBody>
            <a:bodyPr wrap="none" rtlCol="0">
              <a:spAutoFit/>
            </a:bodyPr>
            <a:lstStyle/>
            <a:p>
              <a:r>
                <a:rPr lang="sv-SE" sz="500" dirty="0"/>
                <a:t>pinne 13</a:t>
              </a:r>
              <a:endParaRPr lang="LID4096" sz="500" dirty="0"/>
            </a:p>
          </p:txBody>
        </p:sp>
        <p:sp>
          <p:nvSpPr>
            <p:cNvPr id="157" name="TextBox 156">
              <a:extLst>
                <a:ext uri="{FF2B5EF4-FFF2-40B4-BE49-F238E27FC236}">
                  <a16:creationId xmlns:a16="http://schemas.microsoft.com/office/drawing/2014/main" id="{2C22A56B-DD43-6B44-C14A-3EB0249EBB50}"/>
                </a:ext>
              </a:extLst>
            </p:cNvPr>
            <p:cNvSpPr txBox="1"/>
            <p:nvPr/>
          </p:nvSpPr>
          <p:spPr>
            <a:xfrm>
              <a:off x="2257426" y="6262277"/>
              <a:ext cx="420308" cy="169277"/>
            </a:xfrm>
            <a:prstGeom prst="rect">
              <a:avLst/>
            </a:prstGeom>
            <a:noFill/>
          </p:spPr>
          <p:txBody>
            <a:bodyPr wrap="none" rtlCol="0">
              <a:spAutoFit/>
            </a:bodyPr>
            <a:lstStyle/>
            <a:p>
              <a:r>
                <a:rPr lang="sv-SE" sz="500" dirty="0"/>
                <a:t>pinne 14</a:t>
              </a:r>
              <a:endParaRPr lang="LID4096" sz="500" dirty="0"/>
            </a:p>
          </p:txBody>
        </p:sp>
        <p:sp>
          <p:nvSpPr>
            <p:cNvPr id="158" name="TextBox 157">
              <a:extLst>
                <a:ext uri="{FF2B5EF4-FFF2-40B4-BE49-F238E27FC236}">
                  <a16:creationId xmlns:a16="http://schemas.microsoft.com/office/drawing/2014/main" id="{B0781BEA-73DA-1BDF-2E7C-53A3BAB52559}"/>
                </a:ext>
              </a:extLst>
            </p:cNvPr>
            <p:cNvSpPr txBox="1"/>
            <p:nvPr/>
          </p:nvSpPr>
          <p:spPr>
            <a:xfrm>
              <a:off x="1945482" y="6262277"/>
              <a:ext cx="420308" cy="169277"/>
            </a:xfrm>
            <a:prstGeom prst="rect">
              <a:avLst/>
            </a:prstGeom>
            <a:noFill/>
          </p:spPr>
          <p:txBody>
            <a:bodyPr wrap="none" rtlCol="0">
              <a:spAutoFit/>
            </a:bodyPr>
            <a:lstStyle/>
            <a:p>
              <a:r>
                <a:rPr lang="sv-SE" sz="500" dirty="0"/>
                <a:t>pinne 15</a:t>
              </a:r>
              <a:endParaRPr lang="LID4096" sz="500" dirty="0"/>
            </a:p>
          </p:txBody>
        </p:sp>
      </p:grpSp>
    </p:spTree>
    <p:extLst>
      <p:ext uri="{BB962C8B-B14F-4D97-AF65-F5344CB8AC3E}">
        <p14:creationId xmlns:p14="http://schemas.microsoft.com/office/powerpoint/2010/main" val="1921377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9"/>
                                        </p:tgtEl>
                                        <p:attrNameLst>
                                          <p:attrName>style.visibility</p:attrName>
                                        </p:attrNameLst>
                                      </p:cBhvr>
                                      <p:to>
                                        <p:strVal val="visible"/>
                                      </p:to>
                                    </p:set>
                                    <p:animEffect transition="in" filter="fade">
                                      <p:cBhvr>
                                        <p:cTn id="7" dur="500"/>
                                        <p:tgtEl>
                                          <p:spTgt spid="13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41"/>
                                        </p:tgtEl>
                                        <p:attrNameLst>
                                          <p:attrName>style.visibility</p:attrName>
                                        </p:attrNameLst>
                                      </p:cBhvr>
                                      <p:to>
                                        <p:strVal val="visible"/>
                                      </p:to>
                                    </p:set>
                                    <p:animEffect transition="in" filter="fade">
                                      <p:cBhvr>
                                        <p:cTn id="12" dur="500"/>
                                        <p:tgtEl>
                                          <p:spTgt spid="1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9"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3DBBA4-E9D1-713B-141F-19F780DCB4B4}"/>
            </a:ext>
          </a:extLst>
        </p:cNvPr>
        <p:cNvGrpSpPr/>
        <p:nvPr/>
      </p:nvGrpSpPr>
      <p:grpSpPr>
        <a:xfrm>
          <a:off x="0" y="0"/>
          <a:ext cx="0" cy="0"/>
          <a:chOff x="0" y="0"/>
          <a:chExt cx="0" cy="0"/>
        </a:xfrm>
      </p:grpSpPr>
      <p:sp>
        <p:nvSpPr>
          <p:cNvPr id="136" name="Rectangle 135">
            <a:extLst>
              <a:ext uri="{FF2B5EF4-FFF2-40B4-BE49-F238E27FC236}">
                <a16:creationId xmlns:a16="http://schemas.microsoft.com/office/drawing/2014/main" id="{13A53779-2525-CF9D-5FE9-E708C06ACE79}"/>
              </a:ext>
            </a:extLst>
          </p:cNvPr>
          <p:cNvSpPr/>
          <p:nvPr/>
        </p:nvSpPr>
        <p:spPr>
          <a:xfrm>
            <a:off x="4545237" y="0"/>
            <a:ext cx="7646763" cy="18243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AB02899C-B27D-67FB-0B71-08C43BDEF462}"/>
              </a:ext>
            </a:extLst>
          </p:cNvPr>
          <p:cNvSpPr>
            <a:spLocks noGrp="1"/>
          </p:cNvSpPr>
          <p:nvPr>
            <p:ph type="title"/>
          </p:nvPr>
        </p:nvSpPr>
        <p:spPr/>
        <p:txBody>
          <a:bodyPr/>
          <a:lstStyle/>
          <a:p>
            <a:r>
              <a:rPr lang="sv-SE" dirty="0"/>
              <a:t>AFIO_EXTICR</a:t>
            </a:r>
            <a:endParaRPr lang="LID4096" dirty="0"/>
          </a:p>
        </p:txBody>
      </p:sp>
      <p:cxnSp>
        <p:nvCxnSpPr>
          <p:cNvPr id="4" name="Straight Arrow Connector 3">
            <a:extLst>
              <a:ext uri="{FF2B5EF4-FFF2-40B4-BE49-F238E27FC236}">
                <a16:creationId xmlns:a16="http://schemas.microsoft.com/office/drawing/2014/main" id="{92C26AB2-5BD9-2EDF-8959-C858791C553B}"/>
              </a:ext>
            </a:extLst>
          </p:cNvPr>
          <p:cNvCxnSpPr/>
          <p:nvPr/>
        </p:nvCxnSpPr>
        <p:spPr>
          <a:xfrm flipH="1">
            <a:off x="6560866" y="3560881"/>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5" name="Straight Arrow Connector 4">
            <a:extLst>
              <a:ext uri="{FF2B5EF4-FFF2-40B4-BE49-F238E27FC236}">
                <a16:creationId xmlns:a16="http://schemas.microsoft.com/office/drawing/2014/main" id="{7DC7B5D1-424C-0B7D-5DDB-04B3094D78BC}"/>
              </a:ext>
            </a:extLst>
          </p:cNvPr>
          <p:cNvCxnSpPr/>
          <p:nvPr/>
        </p:nvCxnSpPr>
        <p:spPr>
          <a:xfrm flipH="1">
            <a:off x="6560866" y="3712953"/>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 name="Straight Arrow Connector 5">
            <a:extLst>
              <a:ext uri="{FF2B5EF4-FFF2-40B4-BE49-F238E27FC236}">
                <a16:creationId xmlns:a16="http://schemas.microsoft.com/office/drawing/2014/main" id="{3A1D30A3-B8AB-7667-EC72-C4AFD2427430}"/>
              </a:ext>
            </a:extLst>
          </p:cNvPr>
          <p:cNvCxnSpPr/>
          <p:nvPr/>
        </p:nvCxnSpPr>
        <p:spPr>
          <a:xfrm flipH="1">
            <a:off x="6560866" y="3865025"/>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0A8E9F4C-CB5E-B292-023B-4B8C2F6303BB}"/>
              </a:ext>
            </a:extLst>
          </p:cNvPr>
          <p:cNvCxnSpPr/>
          <p:nvPr/>
        </p:nvCxnSpPr>
        <p:spPr>
          <a:xfrm flipH="1">
            <a:off x="6560866" y="4029679"/>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7CA52A26-6BF5-92B9-8B84-EAC4B07692C0}"/>
              </a:ext>
            </a:extLst>
          </p:cNvPr>
          <p:cNvCxnSpPr/>
          <p:nvPr/>
        </p:nvCxnSpPr>
        <p:spPr>
          <a:xfrm flipH="1">
            <a:off x="6560866" y="4194333"/>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85E98994-17E5-08B5-3D24-181FE7C8B742}"/>
              </a:ext>
            </a:extLst>
          </p:cNvPr>
          <p:cNvCxnSpPr/>
          <p:nvPr/>
        </p:nvCxnSpPr>
        <p:spPr>
          <a:xfrm flipH="1">
            <a:off x="6560866" y="4358987"/>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294FA620-677B-F3A8-0D70-A2227589C072}"/>
              </a:ext>
            </a:extLst>
          </p:cNvPr>
          <p:cNvCxnSpPr/>
          <p:nvPr/>
        </p:nvCxnSpPr>
        <p:spPr>
          <a:xfrm flipH="1">
            <a:off x="6560866" y="4515253"/>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 name="Freeform: Shape 10">
            <a:extLst>
              <a:ext uri="{FF2B5EF4-FFF2-40B4-BE49-F238E27FC236}">
                <a16:creationId xmlns:a16="http://schemas.microsoft.com/office/drawing/2014/main" id="{279E12B1-AFC4-0200-ECB2-5F7740EEC4CA}"/>
              </a:ext>
            </a:extLst>
          </p:cNvPr>
          <p:cNvSpPr/>
          <p:nvPr/>
        </p:nvSpPr>
        <p:spPr>
          <a:xfrm>
            <a:off x="8582613" y="2747149"/>
            <a:ext cx="1405156" cy="813732"/>
          </a:xfrm>
          <a:custGeom>
            <a:avLst/>
            <a:gdLst>
              <a:gd name="csX0" fmla="*/ 1405156 w 1405156"/>
              <a:gd name="csY0" fmla="*/ 0 h 813732"/>
              <a:gd name="csX1" fmla="*/ 608202 w 1405156"/>
              <a:gd name="csY1" fmla="*/ 0 h 813732"/>
              <a:gd name="csX2" fmla="*/ 457200 w 1405156"/>
              <a:gd name="csY2" fmla="*/ 0 h 813732"/>
              <a:gd name="csX3" fmla="*/ 339754 w 1405156"/>
              <a:gd name="csY3" fmla="*/ 0 h 813732"/>
              <a:gd name="csX4" fmla="*/ 339754 w 1405156"/>
              <a:gd name="csY4" fmla="*/ 813732 h 813732"/>
              <a:gd name="csX5" fmla="*/ 0 w 1405156"/>
              <a:gd name="csY5" fmla="*/ 813732 h 813732"/>
            </a:gdLst>
            <a:ahLst/>
            <a:cxnLst>
              <a:cxn ang="0">
                <a:pos x="csX0" y="csY0"/>
              </a:cxn>
              <a:cxn ang="0">
                <a:pos x="csX1" y="csY1"/>
              </a:cxn>
              <a:cxn ang="0">
                <a:pos x="csX2" y="csY2"/>
              </a:cxn>
              <a:cxn ang="0">
                <a:pos x="csX3" y="csY3"/>
              </a:cxn>
              <a:cxn ang="0">
                <a:pos x="csX4" y="csY4"/>
              </a:cxn>
              <a:cxn ang="0">
                <a:pos x="csX5" y="csY5"/>
              </a:cxn>
            </a:cxnLst>
            <a:rect l="l" t="t" r="r" b="b"/>
            <a:pathLst>
              <a:path w="1405156" h="813732">
                <a:moveTo>
                  <a:pt x="1405156" y="0"/>
                </a:moveTo>
                <a:lnTo>
                  <a:pt x="608202" y="0"/>
                </a:lnTo>
                <a:lnTo>
                  <a:pt x="457200" y="0"/>
                </a:lnTo>
                <a:lnTo>
                  <a:pt x="339754" y="0"/>
                </a:lnTo>
                <a:lnTo>
                  <a:pt x="339754" y="813732"/>
                </a:lnTo>
                <a:lnTo>
                  <a:pt x="0" y="813732"/>
                </a:lnTo>
              </a:path>
            </a:pathLst>
          </a:custGeom>
          <a:noFill/>
          <a:ln w="50800">
            <a:solidFill>
              <a:schemeClr val="accent2">
                <a:lumMod val="75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 name="Arrow: Down 11">
            <a:extLst>
              <a:ext uri="{FF2B5EF4-FFF2-40B4-BE49-F238E27FC236}">
                <a16:creationId xmlns:a16="http://schemas.microsoft.com/office/drawing/2014/main" id="{AFF786B1-7642-E7AE-4E25-65CC19557CFD}"/>
              </a:ext>
            </a:extLst>
          </p:cNvPr>
          <p:cNvSpPr/>
          <p:nvPr/>
        </p:nvSpPr>
        <p:spPr>
          <a:xfrm>
            <a:off x="7396501" y="1652537"/>
            <a:ext cx="268777" cy="413962"/>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3" name="TextBox 12">
            <a:extLst>
              <a:ext uri="{FF2B5EF4-FFF2-40B4-BE49-F238E27FC236}">
                <a16:creationId xmlns:a16="http://schemas.microsoft.com/office/drawing/2014/main" id="{5FBCBDA4-2D48-4E14-A2F2-CD123324775B}"/>
              </a:ext>
            </a:extLst>
          </p:cNvPr>
          <p:cNvSpPr txBox="1"/>
          <p:nvPr/>
        </p:nvSpPr>
        <p:spPr>
          <a:xfrm rot="5400000">
            <a:off x="7390249" y="2065504"/>
            <a:ext cx="381836" cy="369332"/>
          </a:xfrm>
          <a:prstGeom prst="rect">
            <a:avLst/>
          </a:prstGeom>
          <a:noFill/>
        </p:spPr>
        <p:txBody>
          <a:bodyPr wrap="none" rtlCol="0">
            <a:spAutoFit/>
          </a:bodyPr>
          <a:lstStyle/>
          <a:p>
            <a:r>
              <a:rPr lang="en-GB"/>
              <a:t>...</a:t>
            </a:r>
            <a:endParaRPr lang="LID4096"/>
          </a:p>
        </p:txBody>
      </p:sp>
      <p:sp>
        <p:nvSpPr>
          <p:cNvPr id="14" name="Arrow: Down 13">
            <a:extLst>
              <a:ext uri="{FF2B5EF4-FFF2-40B4-BE49-F238E27FC236}">
                <a16:creationId xmlns:a16="http://schemas.microsoft.com/office/drawing/2014/main" id="{11B952EA-37C4-4185-D2E8-4BE82BD9843A}"/>
              </a:ext>
            </a:extLst>
          </p:cNvPr>
          <p:cNvSpPr/>
          <p:nvPr/>
        </p:nvSpPr>
        <p:spPr>
          <a:xfrm>
            <a:off x="6745844" y="1652537"/>
            <a:ext cx="268777" cy="413962"/>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5" name="TextBox 14">
            <a:extLst>
              <a:ext uri="{FF2B5EF4-FFF2-40B4-BE49-F238E27FC236}">
                <a16:creationId xmlns:a16="http://schemas.microsoft.com/office/drawing/2014/main" id="{3599040F-7548-372B-F3A0-3A4FAC7A5AE4}"/>
              </a:ext>
            </a:extLst>
          </p:cNvPr>
          <p:cNvSpPr txBox="1"/>
          <p:nvPr/>
        </p:nvSpPr>
        <p:spPr>
          <a:xfrm rot="5400000">
            <a:off x="6739592" y="2065504"/>
            <a:ext cx="381836" cy="369332"/>
          </a:xfrm>
          <a:prstGeom prst="rect">
            <a:avLst/>
          </a:prstGeom>
          <a:noFill/>
        </p:spPr>
        <p:txBody>
          <a:bodyPr wrap="none" rtlCol="0">
            <a:spAutoFit/>
          </a:bodyPr>
          <a:lstStyle/>
          <a:p>
            <a:r>
              <a:rPr lang="en-GB"/>
              <a:t>...</a:t>
            </a:r>
            <a:endParaRPr lang="LID4096"/>
          </a:p>
        </p:txBody>
      </p:sp>
      <p:sp>
        <p:nvSpPr>
          <p:cNvPr id="16" name="Arrow: Down 15">
            <a:extLst>
              <a:ext uri="{FF2B5EF4-FFF2-40B4-BE49-F238E27FC236}">
                <a16:creationId xmlns:a16="http://schemas.microsoft.com/office/drawing/2014/main" id="{6013BEB0-B39F-5210-748A-501D35DF9B6A}"/>
              </a:ext>
            </a:extLst>
          </p:cNvPr>
          <p:cNvSpPr/>
          <p:nvPr/>
        </p:nvSpPr>
        <p:spPr>
          <a:xfrm>
            <a:off x="6156844" y="1667148"/>
            <a:ext cx="268777" cy="413962"/>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7" name="TextBox 16">
            <a:extLst>
              <a:ext uri="{FF2B5EF4-FFF2-40B4-BE49-F238E27FC236}">
                <a16:creationId xmlns:a16="http://schemas.microsoft.com/office/drawing/2014/main" id="{85DBE1ED-9DA7-B7A5-BB72-1A895F9B6F61}"/>
              </a:ext>
            </a:extLst>
          </p:cNvPr>
          <p:cNvSpPr txBox="1"/>
          <p:nvPr/>
        </p:nvSpPr>
        <p:spPr>
          <a:xfrm rot="5400000">
            <a:off x="6150592" y="2080115"/>
            <a:ext cx="381836" cy="369332"/>
          </a:xfrm>
          <a:prstGeom prst="rect">
            <a:avLst/>
          </a:prstGeom>
          <a:noFill/>
        </p:spPr>
        <p:txBody>
          <a:bodyPr wrap="none" rtlCol="0">
            <a:spAutoFit/>
          </a:bodyPr>
          <a:lstStyle/>
          <a:p>
            <a:r>
              <a:rPr lang="en-GB"/>
              <a:t>...</a:t>
            </a:r>
            <a:endParaRPr lang="LID4096"/>
          </a:p>
        </p:txBody>
      </p:sp>
      <p:sp>
        <p:nvSpPr>
          <p:cNvPr id="18" name="Arrow: Down 17">
            <a:extLst>
              <a:ext uri="{FF2B5EF4-FFF2-40B4-BE49-F238E27FC236}">
                <a16:creationId xmlns:a16="http://schemas.microsoft.com/office/drawing/2014/main" id="{3E4C03F8-AEC1-6F70-C861-4CCF5A6FFA2B}"/>
              </a:ext>
            </a:extLst>
          </p:cNvPr>
          <p:cNvSpPr/>
          <p:nvPr/>
        </p:nvSpPr>
        <p:spPr>
          <a:xfrm>
            <a:off x="5567844" y="1681759"/>
            <a:ext cx="268777" cy="413962"/>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9" name="TextBox 18">
            <a:extLst>
              <a:ext uri="{FF2B5EF4-FFF2-40B4-BE49-F238E27FC236}">
                <a16:creationId xmlns:a16="http://schemas.microsoft.com/office/drawing/2014/main" id="{B7491416-9F23-8D0F-1700-F8DA96AC39DF}"/>
              </a:ext>
            </a:extLst>
          </p:cNvPr>
          <p:cNvSpPr txBox="1"/>
          <p:nvPr/>
        </p:nvSpPr>
        <p:spPr>
          <a:xfrm rot="5400000">
            <a:off x="5561592" y="2094726"/>
            <a:ext cx="381836" cy="369332"/>
          </a:xfrm>
          <a:prstGeom prst="rect">
            <a:avLst/>
          </a:prstGeom>
          <a:noFill/>
        </p:spPr>
        <p:txBody>
          <a:bodyPr wrap="none" rtlCol="0">
            <a:spAutoFit/>
          </a:bodyPr>
          <a:lstStyle/>
          <a:p>
            <a:r>
              <a:rPr lang="en-GB"/>
              <a:t>...</a:t>
            </a:r>
            <a:endParaRPr lang="LID4096"/>
          </a:p>
        </p:txBody>
      </p:sp>
      <p:sp>
        <p:nvSpPr>
          <p:cNvPr id="20" name="Arrow: Down 19">
            <a:extLst>
              <a:ext uri="{FF2B5EF4-FFF2-40B4-BE49-F238E27FC236}">
                <a16:creationId xmlns:a16="http://schemas.microsoft.com/office/drawing/2014/main" id="{0449FF34-10B6-813B-08B8-211F691F0D12}"/>
              </a:ext>
            </a:extLst>
          </p:cNvPr>
          <p:cNvSpPr/>
          <p:nvPr/>
        </p:nvSpPr>
        <p:spPr>
          <a:xfrm>
            <a:off x="8212267" y="1667148"/>
            <a:ext cx="268777" cy="413962"/>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1" name="Arrow: Down 20">
            <a:extLst>
              <a:ext uri="{FF2B5EF4-FFF2-40B4-BE49-F238E27FC236}">
                <a16:creationId xmlns:a16="http://schemas.microsoft.com/office/drawing/2014/main" id="{B7323CA2-ECE4-079F-92C9-15E45F141E20}"/>
              </a:ext>
            </a:extLst>
          </p:cNvPr>
          <p:cNvSpPr/>
          <p:nvPr/>
        </p:nvSpPr>
        <p:spPr>
          <a:xfrm>
            <a:off x="8845049" y="1645290"/>
            <a:ext cx="268777" cy="413962"/>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2" name="Rectangle 21">
            <a:extLst>
              <a:ext uri="{FF2B5EF4-FFF2-40B4-BE49-F238E27FC236}">
                <a16:creationId xmlns:a16="http://schemas.microsoft.com/office/drawing/2014/main" id="{626E417E-7839-6FD4-B3FE-944FD6EDC5A3}"/>
              </a:ext>
            </a:extLst>
          </p:cNvPr>
          <p:cNvSpPr/>
          <p:nvPr/>
        </p:nvSpPr>
        <p:spPr>
          <a:xfrm>
            <a:off x="10824545" y="5970889"/>
            <a:ext cx="863289" cy="639391"/>
          </a:xfrm>
          <a:prstGeom prst="rect">
            <a:avLst/>
          </a:prstGeom>
          <a:solidFill>
            <a:schemeClr val="bg1">
              <a:lumMod val="85000"/>
            </a:schemeClr>
          </a:solidFill>
          <a:ln w="127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3" name="Rectangle 22">
            <a:extLst>
              <a:ext uri="{FF2B5EF4-FFF2-40B4-BE49-F238E27FC236}">
                <a16:creationId xmlns:a16="http://schemas.microsoft.com/office/drawing/2014/main" id="{6645BBA4-54AC-E2E3-354F-31A9392187E2}"/>
              </a:ext>
            </a:extLst>
          </p:cNvPr>
          <p:cNvSpPr/>
          <p:nvPr/>
        </p:nvSpPr>
        <p:spPr>
          <a:xfrm>
            <a:off x="10830863" y="2326231"/>
            <a:ext cx="863289" cy="1731698"/>
          </a:xfrm>
          <a:prstGeom prst="rect">
            <a:avLst/>
          </a:prstGeom>
          <a:solidFill>
            <a:schemeClr val="bg1">
              <a:lumMod val="8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4" name="TextBox 23">
            <a:extLst>
              <a:ext uri="{FF2B5EF4-FFF2-40B4-BE49-F238E27FC236}">
                <a16:creationId xmlns:a16="http://schemas.microsoft.com/office/drawing/2014/main" id="{BF38399D-17B1-8D2B-1DCC-BDE810572D37}"/>
              </a:ext>
            </a:extLst>
          </p:cNvPr>
          <p:cNvSpPr txBox="1"/>
          <p:nvPr/>
        </p:nvSpPr>
        <p:spPr>
          <a:xfrm>
            <a:off x="11296286" y="2619342"/>
            <a:ext cx="397866" cy="215444"/>
          </a:xfrm>
          <a:prstGeom prst="rect">
            <a:avLst/>
          </a:prstGeom>
          <a:noFill/>
          <a:ln>
            <a:noFill/>
          </a:ln>
        </p:spPr>
        <p:txBody>
          <a:bodyPr wrap="none" rtlCol="0">
            <a:spAutoFit/>
          </a:bodyPr>
          <a:lstStyle/>
          <a:p>
            <a:r>
              <a:rPr lang="en-GB" sz="800">
                <a:solidFill>
                  <a:schemeClr val="accent2">
                    <a:lumMod val="75000"/>
                  </a:schemeClr>
                </a:solidFill>
              </a:rPr>
              <a:t>pin 0</a:t>
            </a:r>
          </a:p>
        </p:txBody>
      </p:sp>
      <p:cxnSp>
        <p:nvCxnSpPr>
          <p:cNvPr id="25" name="Straight Connector 24">
            <a:extLst>
              <a:ext uri="{FF2B5EF4-FFF2-40B4-BE49-F238E27FC236}">
                <a16:creationId xmlns:a16="http://schemas.microsoft.com/office/drawing/2014/main" id="{A70D740B-6445-605B-1126-3264759AAFD6}"/>
              </a:ext>
            </a:extLst>
          </p:cNvPr>
          <p:cNvCxnSpPr>
            <a:cxnSpLocks/>
          </p:cNvCxnSpPr>
          <p:nvPr/>
        </p:nvCxnSpPr>
        <p:spPr>
          <a:xfrm>
            <a:off x="10901174" y="2727066"/>
            <a:ext cx="355269" cy="3727"/>
          </a:xfrm>
          <a:prstGeom prst="line">
            <a:avLst/>
          </a:prstGeom>
          <a:ln>
            <a:solidFill>
              <a:schemeClr val="accent2">
                <a:lumMod val="75000"/>
              </a:schemeClr>
            </a:solidFill>
            <a:prstDash val="dash"/>
          </a:ln>
          <a:effectLst/>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282635E6-4434-8509-88C3-B070D04F0076}"/>
              </a:ext>
            </a:extLst>
          </p:cNvPr>
          <p:cNvSpPr/>
          <p:nvPr/>
        </p:nvSpPr>
        <p:spPr>
          <a:xfrm>
            <a:off x="11256443" y="2682348"/>
            <a:ext cx="79686" cy="89433"/>
          </a:xfrm>
          <a:prstGeom prst="ellipse">
            <a:avLst/>
          </a:prstGeom>
          <a:noFill/>
          <a:ln>
            <a:solidFill>
              <a:schemeClr val="accent2">
                <a:lumMod val="7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27" name="TextBox 26">
            <a:extLst>
              <a:ext uri="{FF2B5EF4-FFF2-40B4-BE49-F238E27FC236}">
                <a16:creationId xmlns:a16="http://schemas.microsoft.com/office/drawing/2014/main" id="{28294A8D-24BA-F078-E20D-4DE6794E0443}"/>
              </a:ext>
            </a:extLst>
          </p:cNvPr>
          <p:cNvSpPr txBox="1"/>
          <p:nvPr/>
        </p:nvSpPr>
        <p:spPr>
          <a:xfrm>
            <a:off x="11296286" y="2758567"/>
            <a:ext cx="397866" cy="215444"/>
          </a:xfrm>
          <a:prstGeom prst="rect">
            <a:avLst/>
          </a:prstGeom>
          <a:noFill/>
        </p:spPr>
        <p:txBody>
          <a:bodyPr wrap="none" rtlCol="0">
            <a:spAutoFit/>
          </a:bodyPr>
          <a:lstStyle/>
          <a:p>
            <a:r>
              <a:rPr lang="en-GB" sz="800">
                <a:solidFill>
                  <a:schemeClr val="accent6">
                    <a:lumMod val="75000"/>
                  </a:schemeClr>
                </a:solidFill>
              </a:rPr>
              <a:t>pin 1</a:t>
            </a:r>
          </a:p>
        </p:txBody>
      </p:sp>
      <p:cxnSp>
        <p:nvCxnSpPr>
          <p:cNvPr id="28" name="Straight Connector 27">
            <a:extLst>
              <a:ext uri="{FF2B5EF4-FFF2-40B4-BE49-F238E27FC236}">
                <a16:creationId xmlns:a16="http://schemas.microsoft.com/office/drawing/2014/main" id="{EFFAEB81-6DDF-CBFA-A7E3-57CCF95F386E}"/>
              </a:ext>
            </a:extLst>
          </p:cNvPr>
          <p:cNvCxnSpPr>
            <a:cxnSpLocks/>
          </p:cNvCxnSpPr>
          <p:nvPr/>
        </p:nvCxnSpPr>
        <p:spPr>
          <a:xfrm>
            <a:off x="10901174" y="2866291"/>
            <a:ext cx="355269" cy="3727"/>
          </a:xfrm>
          <a:prstGeom prst="line">
            <a:avLst/>
          </a:prstGeom>
          <a:ln>
            <a:solidFill>
              <a:schemeClr val="accent6">
                <a:lumMod val="75000"/>
              </a:schemeClr>
            </a:solidFill>
            <a:prstDash val="dash"/>
          </a:ln>
          <a:effectLst/>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CAA6BF5B-BC3F-1E73-18A1-9459C65C8940}"/>
              </a:ext>
            </a:extLst>
          </p:cNvPr>
          <p:cNvSpPr/>
          <p:nvPr/>
        </p:nvSpPr>
        <p:spPr>
          <a:xfrm>
            <a:off x="11256443" y="2821573"/>
            <a:ext cx="79686" cy="89433"/>
          </a:xfrm>
          <a:prstGeom prst="ellipse">
            <a:avLst/>
          </a:prstGeom>
          <a:noFill/>
          <a:ln>
            <a:solidFill>
              <a:schemeClr val="accent6">
                <a:lumMod val="7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30" name="TextBox 29">
            <a:extLst>
              <a:ext uri="{FF2B5EF4-FFF2-40B4-BE49-F238E27FC236}">
                <a16:creationId xmlns:a16="http://schemas.microsoft.com/office/drawing/2014/main" id="{1CCEE385-3729-310C-D0F9-C5393D0E2530}"/>
              </a:ext>
            </a:extLst>
          </p:cNvPr>
          <p:cNvSpPr txBox="1"/>
          <p:nvPr/>
        </p:nvSpPr>
        <p:spPr>
          <a:xfrm>
            <a:off x="11296286" y="2897792"/>
            <a:ext cx="397866" cy="215444"/>
          </a:xfrm>
          <a:prstGeom prst="rect">
            <a:avLst/>
          </a:prstGeom>
          <a:noFill/>
        </p:spPr>
        <p:txBody>
          <a:bodyPr wrap="none" rtlCol="0">
            <a:spAutoFit/>
          </a:bodyPr>
          <a:lstStyle/>
          <a:p>
            <a:r>
              <a:rPr lang="en-GB" sz="800"/>
              <a:t>pin 2</a:t>
            </a:r>
          </a:p>
        </p:txBody>
      </p:sp>
      <p:cxnSp>
        <p:nvCxnSpPr>
          <p:cNvPr id="31" name="Straight Connector 30">
            <a:extLst>
              <a:ext uri="{FF2B5EF4-FFF2-40B4-BE49-F238E27FC236}">
                <a16:creationId xmlns:a16="http://schemas.microsoft.com/office/drawing/2014/main" id="{44572E8A-CD43-89B2-C7C0-71C03CC12BCB}"/>
              </a:ext>
            </a:extLst>
          </p:cNvPr>
          <p:cNvCxnSpPr>
            <a:cxnSpLocks/>
          </p:cNvCxnSpPr>
          <p:nvPr/>
        </p:nvCxnSpPr>
        <p:spPr>
          <a:xfrm>
            <a:off x="10901174" y="3005516"/>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32" name="Oval 31">
            <a:extLst>
              <a:ext uri="{FF2B5EF4-FFF2-40B4-BE49-F238E27FC236}">
                <a16:creationId xmlns:a16="http://schemas.microsoft.com/office/drawing/2014/main" id="{A1F62475-9079-C3D4-D8C9-ED1AC22D9577}"/>
              </a:ext>
            </a:extLst>
          </p:cNvPr>
          <p:cNvSpPr/>
          <p:nvPr/>
        </p:nvSpPr>
        <p:spPr>
          <a:xfrm>
            <a:off x="11256443" y="2960798"/>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33" name="TextBox 32">
            <a:extLst>
              <a:ext uri="{FF2B5EF4-FFF2-40B4-BE49-F238E27FC236}">
                <a16:creationId xmlns:a16="http://schemas.microsoft.com/office/drawing/2014/main" id="{374034EF-07AB-4A61-7CFB-84EEB165663B}"/>
              </a:ext>
            </a:extLst>
          </p:cNvPr>
          <p:cNvSpPr txBox="1"/>
          <p:nvPr/>
        </p:nvSpPr>
        <p:spPr>
          <a:xfrm>
            <a:off x="11296286" y="3037017"/>
            <a:ext cx="397866" cy="215444"/>
          </a:xfrm>
          <a:prstGeom prst="rect">
            <a:avLst/>
          </a:prstGeom>
          <a:noFill/>
        </p:spPr>
        <p:txBody>
          <a:bodyPr wrap="none" rtlCol="0">
            <a:spAutoFit/>
          </a:bodyPr>
          <a:lstStyle/>
          <a:p>
            <a:r>
              <a:rPr lang="en-GB" sz="800"/>
              <a:t>pin 3</a:t>
            </a:r>
          </a:p>
        </p:txBody>
      </p:sp>
      <p:cxnSp>
        <p:nvCxnSpPr>
          <p:cNvPr id="34" name="Straight Connector 33">
            <a:extLst>
              <a:ext uri="{FF2B5EF4-FFF2-40B4-BE49-F238E27FC236}">
                <a16:creationId xmlns:a16="http://schemas.microsoft.com/office/drawing/2014/main" id="{1E7E5707-4F37-7961-FDE2-619BE6446144}"/>
              </a:ext>
            </a:extLst>
          </p:cNvPr>
          <p:cNvCxnSpPr>
            <a:cxnSpLocks/>
          </p:cNvCxnSpPr>
          <p:nvPr/>
        </p:nvCxnSpPr>
        <p:spPr>
          <a:xfrm>
            <a:off x="10901174" y="3144741"/>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DAAD71E4-CF8F-7F1D-882F-57099BE0BF8F}"/>
              </a:ext>
            </a:extLst>
          </p:cNvPr>
          <p:cNvSpPr/>
          <p:nvPr/>
        </p:nvSpPr>
        <p:spPr>
          <a:xfrm>
            <a:off x="11256443" y="3100023"/>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36" name="TextBox 35">
            <a:extLst>
              <a:ext uri="{FF2B5EF4-FFF2-40B4-BE49-F238E27FC236}">
                <a16:creationId xmlns:a16="http://schemas.microsoft.com/office/drawing/2014/main" id="{3264E7CC-6651-DD60-36A7-E9C3A375C959}"/>
              </a:ext>
            </a:extLst>
          </p:cNvPr>
          <p:cNvSpPr txBox="1"/>
          <p:nvPr/>
        </p:nvSpPr>
        <p:spPr>
          <a:xfrm>
            <a:off x="11296286" y="3176242"/>
            <a:ext cx="397866" cy="215444"/>
          </a:xfrm>
          <a:prstGeom prst="rect">
            <a:avLst/>
          </a:prstGeom>
          <a:noFill/>
        </p:spPr>
        <p:txBody>
          <a:bodyPr wrap="none" rtlCol="0">
            <a:spAutoFit/>
          </a:bodyPr>
          <a:lstStyle/>
          <a:p>
            <a:r>
              <a:rPr lang="en-GB" sz="800"/>
              <a:t>pin 4</a:t>
            </a:r>
          </a:p>
        </p:txBody>
      </p:sp>
      <p:cxnSp>
        <p:nvCxnSpPr>
          <p:cNvPr id="37" name="Straight Connector 36">
            <a:extLst>
              <a:ext uri="{FF2B5EF4-FFF2-40B4-BE49-F238E27FC236}">
                <a16:creationId xmlns:a16="http://schemas.microsoft.com/office/drawing/2014/main" id="{610C514C-996E-67EF-E221-27106131ECA5}"/>
              </a:ext>
            </a:extLst>
          </p:cNvPr>
          <p:cNvCxnSpPr>
            <a:cxnSpLocks/>
          </p:cNvCxnSpPr>
          <p:nvPr/>
        </p:nvCxnSpPr>
        <p:spPr>
          <a:xfrm>
            <a:off x="10901174" y="3283966"/>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38" name="Oval 37">
            <a:extLst>
              <a:ext uri="{FF2B5EF4-FFF2-40B4-BE49-F238E27FC236}">
                <a16:creationId xmlns:a16="http://schemas.microsoft.com/office/drawing/2014/main" id="{937EB7A6-39D0-D947-B6D2-167D9E8534B6}"/>
              </a:ext>
            </a:extLst>
          </p:cNvPr>
          <p:cNvSpPr/>
          <p:nvPr/>
        </p:nvSpPr>
        <p:spPr>
          <a:xfrm>
            <a:off x="11256443" y="3239248"/>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39" name="TextBox 38">
            <a:extLst>
              <a:ext uri="{FF2B5EF4-FFF2-40B4-BE49-F238E27FC236}">
                <a16:creationId xmlns:a16="http://schemas.microsoft.com/office/drawing/2014/main" id="{C90F7EF4-B0DE-EADA-2928-D43D6BB2254C}"/>
              </a:ext>
            </a:extLst>
          </p:cNvPr>
          <p:cNvSpPr txBox="1"/>
          <p:nvPr/>
        </p:nvSpPr>
        <p:spPr>
          <a:xfrm>
            <a:off x="11296286" y="3315467"/>
            <a:ext cx="397866" cy="215444"/>
          </a:xfrm>
          <a:prstGeom prst="rect">
            <a:avLst/>
          </a:prstGeom>
          <a:noFill/>
        </p:spPr>
        <p:txBody>
          <a:bodyPr wrap="none" rtlCol="0">
            <a:spAutoFit/>
          </a:bodyPr>
          <a:lstStyle/>
          <a:p>
            <a:r>
              <a:rPr lang="en-GB" sz="800"/>
              <a:t>pin 5</a:t>
            </a:r>
          </a:p>
        </p:txBody>
      </p:sp>
      <p:cxnSp>
        <p:nvCxnSpPr>
          <p:cNvPr id="40" name="Straight Connector 39">
            <a:extLst>
              <a:ext uri="{FF2B5EF4-FFF2-40B4-BE49-F238E27FC236}">
                <a16:creationId xmlns:a16="http://schemas.microsoft.com/office/drawing/2014/main" id="{392B294D-FF2D-6A74-E707-AA3164D58DD4}"/>
              </a:ext>
            </a:extLst>
          </p:cNvPr>
          <p:cNvCxnSpPr>
            <a:cxnSpLocks/>
          </p:cNvCxnSpPr>
          <p:nvPr/>
        </p:nvCxnSpPr>
        <p:spPr>
          <a:xfrm>
            <a:off x="10901174" y="3423191"/>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E48705FB-BD91-C7F5-00AA-67EDE9799C24}"/>
              </a:ext>
            </a:extLst>
          </p:cNvPr>
          <p:cNvSpPr/>
          <p:nvPr/>
        </p:nvSpPr>
        <p:spPr>
          <a:xfrm>
            <a:off x="11256443" y="3378473"/>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42" name="TextBox 41">
            <a:extLst>
              <a:ext uri="{FF2B5EF4-FFF2-40B4-BE49-F238E27FC236}">
                <a16:creationId xmlns:a16="http://schemas.microsoft.com/office/drawing/2014/main" id="{B602A260-D190-A113-D933-8BFB3E594BCB}"/>
              </a:ext>
            </a:extLst>
          </p:cNvPr>
          <p:cNvSpPr txBox="1"/>
          <p:nvPr/>
        </p:nvSpPr>
        <p:spPr>
          <a:xfrm>
            <a:off x="11296286" y="3454692"/>
            <a:ext cx="397866" cy="215444"/>
          </a:xfrm>
          <a:prstGeom prst="rect">
            <a:avLst/>
          </a:prstGeom>
          <a:noFill/>
        </p:spPr>
        <p:txBody>
          <a:bodyPr wrap="none" rtlCol="0">
            <a:spAutoFit/>
          </a:bodyPr>
          <a:lstStyle/>
          <a:p>
            <a:r>
              <a:rPr lang="en-GB" sz="800"/>
              <a:t>pin 6</a:t>
            </a:r>
          </a:p>
        </p:txBody>
      </p:sp>
      <p:cxnSp>
        <p:nvCxnSpPr>
          <p:cNvPr id="43" name="Straight Connector 42">
            <a:extLst>
              <a:ext uri="{FF2B5EF4-FFF2-40B4-BE49-F238E27FC236}">
                <a16:creationId xmlns:a16="http://schemas.microsoft.com/office/drawing/2014/main" id="{12D81B06-E592-EAB6-7614-9426C57D2E18}"/>
              </a:ext>
            </a:extLst>
          </p:cNvPr>
          <p:cNvCxnSpPr>
            <a:cxnSpLocks/>
          </p:cNvCxnSpPr>
          <p:nvPr/>
        </p:nvCxnSpPr>
        <p:spPr>
          <a:xfrm>
            <a:off x="10901174" y="3562416"/>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44" name="Oval 43">
            <a:extLst>
              <a:ext uri="{FF2B5EF4-FFF2-40B4-BE49-F238E27FC236}">
                <a16:creationId xmlns:a16="http://schemas.microsoft.com/office/drawing/2014/main" id="{992235A2-7E73-F993-04C0-295B2D57BD92}"/>
              </a:ext>
            </a:extLst>
          </p:cNvPr>
          <p:cNvSpPr/>
          <p:nvPr/>
        </p:nvSpPr>
        <p:spPr>
          <a:xfrm>
            <a:off x="11256443" y="3517698"/>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45" name="TextBox 44">
            <a:extLst>
              <a:ext uri="{FF2B5EF4-FFF2-40B4-BE49-F238E27FC236}">
                <a16:creationId xmlns:a16="http://schemas.microsoft.com/office/drawing/2014/main" id="{45A33E3E-FD65-4126-0DCC-A5879B5CA1E2}"/>
              </a:ext>
            </a:extLst>
          </p:cNvPr>
          <p:cNvSpPr txBox="1"/>
          <p:nvPr/>
        </p:nvSpPr>
        <p:spPr>
          <a:xfrm>
            <a:off x="11296286" y="3593917"/>
            <a:ext cx="397866" cy="215444"/>
          </a:xfrm>
          <a:prstGeom prst="rect">
            <a:avLst/>
          </a:prstGeom>
          <a:noFill/>
        </p:spPr>
        <p:txBody>
          <a:bodyPr wrap="none" rtlCol="0">
            <a:spAutoFit/>
          </a:bodyPr>
          <a:lstStyle/>
          <a:p>
            <a:r>
              <a:rPr lang="en-GB" sz="800"/>
              <a:t>pin 7</a:t>
            </a:r>
          </a:p>
        </p:txBody>
      </p:sp>
      <p:cxnSp>
        <p:nvCxnSpPr>
          <p:cNvPr id="46" name="Straight Connector 45">
            <a:extLst>
              <a:ext uri="{FF2B5EF4-FFF2-40B4-BE49-F238E27FC236}">
                <a16:creationId xmlns:a16="http://schemas.microsoft.com/office/drawing/2014/main" id="{939BC99A-8770-2A88-D04B-1A55F408DF58}"/>
              </a:ext>
            </a:extLst>
          </p:cNvPr>
          <p:cNvCxnSpPr>
            <a:cxnSpLocks/>
          </p:cNvCxnSpPr>
          <p:nvPr/>
        </p:nvCxnSpPr>
        <p:spPr>
          <a:xfrm>
            <a:off x="10901174" y="3701641"/>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47" name="Oval 46">
            <a:extLst>
              <a:ext uri="{FF2B5EF4-FFF2-40B4-BE49-F238E27FC236}">
                <a16:creationId xmlns:a16="http://schemas.microsoft.com/office/drawing/2014/main" id="{A380B273-EFD1-C894-8DC9-2DD21DA9E3A1}"/>
              </a:ext>
            </a:extLst>
          </p:cNvPr>
          <p:cNvSpPr/>
          <p:nvPr/>
        </p:nvSpPr>
        <p:spPr>
          <a:xfrm>
            <a:off x="11256443" y="3656923"/>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48" name="TextBox 47">
            <a:extLst>
              <a:ext uri="{FF2B5EF4-FFF2-40B4-BE49-F238E27FC236}">
                <a16:creationId xmlns:a16="http://schemas.microsoft.com/office/drawing/2014/main" id="{90D25026-00D4-963D-7485-5574842629B5}"/>
              </a:ext>
            </a:extLst>
          </p:cNvPr>
          <p:cNvSpPr txBox="1"/>
          <p:nvPr/>
        </p:nvSpPr>
        <p:spPr>
          <a:xfrm rot="5400000">
            <a:off x="11145211" y="3719205"/>
            <a:ext cx="381836" cy="369332"/>
          </a:xfrm>
          <a:prstGeom prst="rect">
            <a:avLst/>
          </a:prstGeom>
          <a:noFill/>
        </p:spPr>
        <p:txBody>
          <a:bodyPr wrap="none" rtlCol="0">
            <a:spAutoFit/>
          </a:bodyPr>
          <a:lstStyle/>
          <a:p>
            <a:r>
              <a:rPr lang="en-GB"/>
              <a:t>...</a:t>
            </a:r>
            <a:endParaRPr lang="LID4096"/>
          </a:p>
        </p:txBody>
      </p:sp>
      <p:sp>
        <p:nvSpPr>
          <p:cNvPr id="49" name="TextBox 48">
            <a:extLst>
              <a:ext uri="{FF2B5EF4-FFF2-40B4-BE49-F238E27FC236}">
                <a16:creationId xmlns:a16="http://schemas.microsoft.com/office/drawing/2014/main" id="{4A56FA7A-6803-86B8-3C56-B685FFB72677}"/>
              </a:ext>
            </a:extLst>
          </p:cNvPr>
          <p:cNvSpPr txBox="1"/>
          <p:nvPr/>
        </p:nvSpPr>
        <p:spPr>
          <a:xfrm>
            <a:off x="10878042" y="2326231"/>
            <a:ext cx="793166" cy="369332"/>
          </a:xfrm>
          <a:prstGeom prst="rect">
            <a:avLst/>
          </a:prstGeom>
          <a:noFill/>
        </p:spPr>
        <p:txBody>
          <a:bodyPr wrap="none" rtlCol="0">
            <a:spAutoFit/>
          </a:bodyPr>
          <a:lstStyle/>
          <a:p>
            <a:r>
              <a:rPr lang="en-GB"/>
              <a:t>Port D</a:t>
            </a:r>
            <a:endParaRPr lang="LID4096"/>
          </a:p>
        </p:txBody>
      </p:sp>
      <p:sp>
        <p:nvSpPr>
          <p:cNvPr id="50" name="Rectangle 49">
            <a:extLst>
              <a:ext uri="{FF2B5EF4-FFF2-40B4-BE49-F238E27FC236}">
                <a16:creationId xmlns:a16="http://schemas.microsoft.com/office/drawing/2014/main" id="{F373B90B-E6B0-1D8E-3005-A14E18730AF2}"/>
              </a:ext>
            </a:extLst>
          </p:cNvPr>
          <p:cNvSpPr/>
          <p:nvPr/>
        </p:nvSpPr>
        <p:spPr>
          <a:xfrm>
            <a:off x="10830863" y="4150819"/>
            <a:ext cx="863289" cy="1731698"/>
          </a:xfrm>
          <a:prstGeom prst="rect">
            <a:avLst/>
          </a:prstGeom>
          <a:solidFill>
            <a:schemeClr val="bg1">
              <a:lumMod val="8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51" name="TextBox 50">
            <a:extLst>
              <a:ext uri="{FF2B5EF4-FFF2-40B4-BE49-F238E27FC236}">
                <a16:creationId xmlns:a16="http://schemas.microsoft.com/office/drawing/2014/main" id="{C00050C5-B4CF-3071-ADF1-CBA42E471F9E}"/>
              </a:ext>
            </a:extLst>
          </p:cNvPr>
          <p:cNvSpPr txBox="1"/>
          <p:nvPr/>
        </p:nvSpPr>
        <p:spPr>
          <a:xfrm>
            <a:off x="11296286" y="4443930"/>
            <a:ext cx="397866" cy="215444"/>
          </a:xfrm>
          <a:prstGeom prst="rect">
            <a:avLst/>
          </a:prstGeom>
          <a:noFill/>
        </p:spPr>
        <p:txBody>
          <a:bodyPr wrap="none" rtlCol="0">
            <a:spAutoFit/>
          </a:bodyPr>
          <a:lstStyle/>
          <a:p>
            <a:r>
              <a:rPr lang="en-GB" sz="800">
                <a:solidFill>
                  <a:schemeClr val="accent2">
                    <a:lumMod val="75000"/>
                  </a:schemeClr>
                </a:solidFill>
              </a:rPr>
              <a:t>pin 0</a:t>
            </a:r>
          </a:p>
        </p:txBody>
      </p:sp>
      <p:cxnSp>
        <p:nvCxnSpPr>
          <p:cNvPr id="52" name="Straight Connector 51">
            <a:extLst>
              <a:ext uri="{FF2B5EF4-FFF2-40B4-BE49-F238E27FC236}">
                <a16:creationId xmlns:a16="http://schemas.microsoft.com/office/drawing/2014/main" id="{0EA4E22C-4C47-4A07-CD66-6EEADF59F2B8}"/>
              </a:ext>
            </a:extLst>
          </p:cNvPr>
          <p:cNvCxnSpPr>
            <a:cxnSpLocks/>
          </p:cNvCxnSpPr>
          <p:nvPr/>
        </p:nvCxnSpPr>
        <p:spPr>
          <a:xfrm>
            <a:off x="10901174" y="4551654"/>
            <a:ext cx="355269" cy="3727"/>
          </a:xfrm>
          <a:prstGeom prst="line">
            <a:avLst/>
          </a:prstGeom>
          <a:ln>
            <a:solidFill>
              <a:schemeClr val="accent2">
                <a:lumMod val="75000"/>
              </a:schemeClr>
            </a:solidFill>
            <a:prstDash val="dash"/>
          </a:ln>
          <a:effectLst/>
        </p:spPr>
        <p:style>
          <a:lnRef idx="1">
            <a:schemeClr val="accent1"/>
          </a:lnRef>
          <a:fillRef idx="0">
            <a:schemeClr val="accent1"/>
          </a:fillRef>
          <a:effectRef idx="0">
            <a:schemeClr val="accent1"/>
          </a:effectRef>
          <a:fontRef idx="minor">
            <a:schemeClr val="tx1"/>
          </a:fontRef>
        </p:style>
      </p:cxnSp>
      <p:sp>
        <p:nvSpPr>
          <p:cNvPr id="53" name="Oval 52">
            <a:extLst>
              <a:ext uri="{FF2B5EF4-FFF2-40B4-BE49-F238E27FC236}">
                <a16:creationId xmlns:a16="http://schemas.microsoft.com/office/drawing/2014/main" id="{635115BC-0024-B3F9-D7A0-94264613D6CB}"/>
              </a:ext>
            </a:extLst>
          </p:cNvPr>
          <p:cNvSpPr/>
          <p:nvPr/>
        </p:nvSpPr>
        <p:spPr>
          <a:xfrm>
            <a:off x="11256443" y="4506936"/>
            <a:ext cx="79686" cy="89433"/>
          </a:xfrm>
          <a:prstGeom prst="ellipse">
            <a:avLst/>
          </a:prstGeom>
          <a:noFill/>
          <a:ln>
            <a:solidFill>
              <a:schemeClr val="accent2">
                <a:lumMod val="7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54" name="TextBox 53">
            <a:extLst>
              <a:ext uri="{FF2B5EF4-FFF2-40B4-BE49-F238E27FC236}">
                <a16:creationId xmlns:a16="http://schemas.microsoft.com/office/drawing/2014/main" id="{26983FDB-3051-74DA-8730-79DBE41DD0EB}"/>
              </a:ext>
            </a:extLst>
          </p:cNvPr>
          <p:cNvSpPr txBox="1"/>
          <p:nvPr/>
        </p:nvSpPr>
        <p:spPr>
          <a:xfrm>
            <a:off x="11296286" y="4583155"/>
            <a:ext cx="397866" cy="215444"/>
          </a:xfrm>
          <a:prstGeom prst="rect">
            <a:avLst/>
          </a:prstGeom>
          <a:noFill/>
        </p:spPr>
        <p:txBody>
          <a:bodyPr wrap="none" rtlCol="0">
            <a:spAutoFit/>
          </a:bodyPr>
          <a:lstStyle/>
          <a:p>
            <a:r>
              <a:rPr lang="en-GB" sz="800">
                <a:solidFill>
                  <a:schemeClr val="accent6">
                    <a:lumMod val="75000"/>
                  </a:schemeClr>
                </a:solidFill>
              </a:rPr>
              <a:t>pin 1</a:t>
            </a:r>
          </a:p>
        </p:txBody>
      </p:sp>
      <p:cxnSp>
        <p:nvCxnSpPr>
          <p:cNvPr id="55" name="Straight Connector 54">
            <a:extLst>
              <a:ext uri="{FF2B5EF4-FFF2-40B4-BE49-F238E27FC236}">
                <a16:creationId xmlns:a16="http://schemas.microsoft.com/office/drawing/2014/main" id="{E09AD743-8630-1030-3836-0C31D862C97C}"/>
              </a:ext>
            </a:extLst>
          </p:cNvPr>
          <p:cNvCxnSpPr>
            <a:cxnSpLocks/>
          </p:cNvCxnSpPr>
          <p:nvPr/>
        </p:nvCxnSpPr>
        <p:spPr>
          <a:xfrm>
            <a:off x="10901174" y="4690879"/>
            <a:ext cx="355269" cy="3727"/>
          </a:xfrm>
          <a:prstGeom prst="line">
            <a:avLst/>
          </a:prstGeom>
          <a:ln>
            <a:solidFill>
              <a:schemeClr val="accent6">
                <a:lumMod val="75000"/>
              </a:schemeClr>
            </a:solidFill>
            <a:prstDash val="dash"/>
          </a:ln>
          <a:effectLst/>
        </p:spPr>
        <p:style>
          <a:lnRef idx="1">
            <a:schemeClr val="accent1"/>
          </a:lnRef>
          <a:fillRef idx="0">
            <a:schemeClr val="accent1"/>
          </a:fillRef>
          <a:effectRef idx="0">
            <a:schemeClr val="accent1"/>
          </a:effectRef>
          <a:fontRef idx="minor">
            <a:schemeClr val="tx1"/>
          </a:fontRef>
        </p:style>
      </p:cxnSp>
      <p:sp>
        <p:nvSpPr>
          <p:cNvPr id="56" name="Oval 55">
            <a:extLst>
              <a:ext uri="{FF2B5EF4-FFF2-40B4-BE49-F238E27FC236}">
                <a16:creationId xmlns:a16="http://schemas.microsoft.com/office/drawing/2014/main" id="{B953DF23-73FD-614F-E1AA-666DC94F1F6A}"/>
              </a:ext>
            </a:extLst>
          </p:cNvPr>
          <p:cNvSpPr/>
          <p:nvPr/>
        </p:nvSpPr>
        <p:spPr>
          <a:xfrm>
            <a:off x="11256443" y="4646161"/>
            <a:ext cx="79686" cy="89433"/>
          </a:xfrm>
          <a:prstGeom prst="ellipse">
            <a:avLst/>
          </a:prstGeom>
          <a:noFill/>
          <a:ln>
            <a:solidFill>
              <a:schemeClr val="accent6">
                <a:lumMod val="7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57" name="TextBox 56">
            <a:extLst>
              <a:ext uri="{FF2B5EF4-FFF2-40B4-BE49-F238E27FC236}">
                <a16:creationId xmlns:a16="http://schemas.microsoft.com/office/drawing/2014/main" id="{9181D36E-1EC8-03F0-E14C-04DC8BB551CC}"/>
              </a:ext>
            </a:extLst>
          </p:cNvPr>
          <p:cNvSpPr txBox="1"/>
          <p:nvPr/>
        </p:nvSpPr>
        <p:spPr>
          <a:xfrm>
            <a:off x="11296286" y="4722380"/>
            <a:ext cx="397866" cy="215444"/>
          </a:xfrm>
          <a:prstGeom prst="rect">
            <a:avLst/>
          </a:prstGeom>
          <a:noFill/>
        </p:spPr>
        <p:txBody>
          <a:bodyPr wrap="none" rtlCol="0">
            <a:spAutoFit/>
          </a:bodyPr>
          <a:lstStyle/>
          <a:p>
            <a:r>
              <a:rPr lang="en-GB" sz="800"/>
              <a:t>pin 2</a:t>
            </a:r>
          </a:p>
        </p:txBody>
      </p:sp>
      <p:cxnSp>
        <p:nvCxnSpPr>
          <p:cNvPr id="58" name="Straight Connector 57">
            <a:extLst>
              <a:ext uri="{FF2B5EF4-FFF2-40B4-BE49-F238E27FC236}">
                <a16:creationId xmlns:a16="http://schemas.microsoft.com/office/drawing/2014/main" id="{2BF76B35-0ACA-29CF-6B87-457ECA433095}"/>
              </a:ext>
            </a:extLst>
          </p:cNvPr>
          <p:cNvCxnSpPr>
            <a:cxnSpLocks/>
          </p:cNvCxnSpPr>
          <p:nvPr/>
        </p:nvCxnSpPr>
        <p:spPr>
          <a:xfrm>
            <a:off x="10901174" y="4830104"/>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59" name="Oval 58">
            <a:extLst>
              <a:ext uri="{FF2B5EF4-FFF2-40B4-BE49-F238E27FC236}">
                <a16:creationId xmlns:a16="http://schemas.microsoft.com/office/drawing/2014/main" id="{AE9B9DEC-5493-F807-29D3-A90C2B4329E1}"/>
              </a:ext>
            </a:extLst>
          </p:cNvPr>
          <p:cNvSpPr/>
          <p:nvPr/>
        </p:nvSpPr>
        <p:spPr>
          <a:xfrm>
            <a:off x="11256443" y="4785386"/>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60" name="TextBox 59">
            <a:extLst>
              <a:ext uri="{FF2B5EF4-FFF2-40B4-BE49-F238E27FC236}">
                <a16:creationId xmlns:a16="http://schemas.microsoft.com/office/drawing/2014/main" id="{E514E77E-5DEB-797A-D20D-C0B436EE0924}"/>
              </a:ext>
            </a:extLst>
          </p:cNvPr>
          <p:cNvSpPr txBox="1"/>
          <p:nvPr/>
        </p:nvSpPr>
        <p:spPr>
          <a:xfrm>
            <a:off x="11296286" y="4861605"/>
            <a:ext cx="397866" cy="215444"/>
          </a:xfrm>
          <a:prstGeom prst="rect">
            <a:avLst/>
          </a:prstGeom>
          <a:noFill/>
        </p:spPr>
        <p:txBody>
          <a:bodyPr wrap="none" rtlCol="0">
            <a:spAutoFit/>
          </a:bodyPr>
          <a:lstStyle/>
          <a:p>
            <a:r>
              <a:rPr lang="en-GB" sz="800"/>
              <a:t>pin 3</a:t>
            </a:r>
          </a:p>
        </p:txBody>
      </p:sp>
      <p:cxnSp>
        <p:nvCxnSpPr>
          <p:cNvPr id="61" name="Straight Connector 60">
            <a:extLst>
              <a:ext uri="{FF2B5EF4-FFF2-40B4-BE49-F238E27FC236}">
                <a16:creationId xmlns:a16="http://schemas.microsoft.com/office/drawing/2014/main" id="{787B2FC3-2BBE-F17C-4E5E-7AAC5BD692A1}"/>
              </a:ext>
            </a:extLst>
          </p:cNvPr>
          <p:cNvCxnSpPr>
            <a:cxnSpLocks/>
          </p:cNvCxnSpPr>
          <p:nvPr/>
        </p:nvCxnSpPr>
        <p:spPr>
          <a:xfrm>
            <a:off x="10901174" y="4969329"/>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62" name="Oval 61">
            <a:extLst>
              <a:ext uri="{FF2B5EF4-FFF2-40B4-BE49-F238E27FC236}">
                <a16:creationId xmlns:a16="http://schemas.microsoft.com/office/drawing/2014/main" id="{D65CFA66-D345-F9EF-FF37-FFA3B1CCF0D7}"/>
              </a:ext>
            </a:extLst>
          </p:cNvPr>
          <p:cNvSpPr/>
          <p:nvPr/>
        </p:nvSpPr>
        <p:spPr>
          <a:xfrm>
            <a:off x="11256443" y="4924611"/>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63" name="TextBox 62">
            <a:extLst>
              <a:ext uri="{FF2B5EF4-FFF2-40B4-BE49-F238E27FC236}">
                <a16:creationId xmlns:a16="http://schemas.microsoft.com/office/drawing/2014/main" id="{72DF16D0-0054-3431-E4F0-A73D6084E75E}"/>
              </a:ext>
            </a:extLst>
          </p:cNvPr>
          <p:cNvSpPr txBox="1"/>
          <p:nvPr/>
        </p:nvSpPr>
        <p:spPr>
          <a:xfrm>
            <a:off x="11296286" y="5000830"/>
            <a:ext cx="397866" cy="215444"/>
          </a:xfrm>
          <a:prstGeom prst="rect">
            <a:avLst/>
          </a:prstGeom>
          <a:noFill/>
        </p:spPr>
        <p:txBody>
          <a:bodyPr wrap="none" rtlCol="0">
            <a:spAutoFit/>
          </a:bodyPr>
          <a:lstStyle/>
          <a:p>
            <a:r>
              <a:rPr lang="en-GB" sz="800"/>
              <a:t>pin 4</a:t>
            </a:r>
          </a:p>
        </p:txBody>
      </p:sp>
      <p:cxnSp>
        <p:nvCxnSpPr>
          <p:cNvPr id="64" name="Straight Connector 63">
            <a:extLst>
              <a:ext uri="{FF2B5EF4-FFF2-40B4-BE49-F238E27FC236}">
                <a16:creationId xmlns:a16="http://schemas.microsoft.com/office/drawing/2014/main" id="{063E5CE0-C50B-9C44-FA1E-49888CA9232F}"/>
              </a:ext>
            </a:extLst>
          </p:cNvPr>
          <p:cNvCxnSpPr>
            <a:cxnSpLocks/>
          </p:cNvCxnSpPr>
          <p:nvPr/>
        </p:nvCxnSpPr>
        <p:spPr>
          <a:xfrm>
            <a:off x="10901174" y="5108554"/>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65" name="Oval 64">
            <a:extLst>
              <a:ext uri="{FF2B5EF4-FFF2-40B4-BE49-F238E27FC236}">
                <a16:creationId xmlns:a16="http://schemas.microsoft.com/office/drawing/2014/main" id="{192F4CFC-4E6F-3123-2190-FA407F7B4919}"/>
              </a:ext>
            </a:extLst>
          </p:cNvPr>
          <p:cNvSpPr/>
          <p:nvPr/>
        </p:nvSpPr>
        <p:spPr>
          <a:xfrm>
            <a:off x="11256443" y="5063836"/>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66" name="TextBox 65">
            <a:extLst>
              <a:ext uri="{FF2B5EF4-FFF2-40B4-BE49-F238E27FC236}">
                <a16:creationId xmlns:a16="http://schemas.microsoft.com/office/drawing/2014/main" id="{F4FF0BB5-17B1-B9D7-6DDC-7E1CDBDC1BFC}"/>
              </a:ext>
            </a:extLst>
          </p:cNvPr>
          <p:cNvSpPr txBox="1"/>
          <p:nvPr/>
        </p:nvSpPr>
        <p:spPr>
          <a:xfrm>
            <a:off x="11296286" y="5140055"/>
            <a:ext cx="397866" cy="215444"/>
          </a:xfrm>
          <a:prstGeom prst="rect">
            <a:avLst/>
          </a:prstGeom>
          <a:noFill/>
        </p:spPr>
        <p:txBody>
          <a:bodyPr wrap="none" rtlCol="0">
            <a:spAutoFit/>
          </a:bodyPr>
          <a:lstStyle/>
          <a:p>
            <a:r>
              <a:rPr lang="en-GB" sz="800"/>
              <a:t>pin 5</a:t>
            </a:r>
          </a:p>
        </p:txBody>
      </p:sp>
      <p:cxnSp>
        <p:nvCxnSpPr>
          <p:cNvPr id="67" name="Straight Connector 66">
            <a:extLst>
              <a:ext uri="{FF2B5EF4-FFF2-40B4-BE49-F238E27FC236}">
                <a16:creationId xmlns:a16="http://schemas.microsoft.com/office/drawing/2014/main" id="{10B8E8EF-84A1-FE48-C96F-DDE523D4D84E}"/>
              </a:ext>
            </a:extLst>
          </p:cNvPr>
          <p:cNvCxnSpPr>
            <a:cxnSpLocks/>
          </p:cNvCxnSpPr>
          <p:nvPr/>
        </p:nvCxnSpPr>
        <p:spPr>
          <a:xfrm>
            <a:off x="10901174" y="5247779"/>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68" name="Oval 67">
            <a:extLst>
              <a:ext uri="{FF2B5EF4-FFF2-40B4-BE49-F238E27FC236}">
                <a16:creationId xmlns:a16="http://schemas.microsoft.com/office/drawing/2014/main" id="{6D0932B3-8208-3A50-BAD2-82CF4C8FA35D}"/>
              </a:ext>
            </a:extLst>
          </p:cNvPr>
          <p:cNvSpPr/>
          <p:nvPr/>
        </p:nvSpPr>
        <p:spPr>
          <a:xfrm>
            <a:off x="11256443" y="5203061"/>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69" name="TextBox 68">
            <a:extLst>
              <a:ext uri="{FF2B5EF4-FFF2-40B4-BE49-F238E27FC236}">
                <a16:creationId xmlns:a16="http://schemas.microsoft.com/office/drawing/2014/main" id="{FD70441B-E282-AFC7-4671-5B44FBFD9898}"/>
              </a:ext>
            </a:extLst>
          </p:cNvPr>
          <p:cNvSpPr txBox="1"/>
          <p:nvPr/>
        </p:nvSpPr>
        <p:spPr>
          <a:xfrm>
            <a:off x="11296286" y="5279280"/>
            <a:ext cx="397866" cy="215444"/>
          </a:xfrm>
          <a:prstGeom prst="rect">
            <a:avLst/>
          </a:prstGeom>
          <a:noFill/>
        </p:spPr>
        <p:txBody>
          <a:bodyPr wrap="none" rtlCol="0">
            <a:spAutoFit/>
          </a:bodyPr>
          <a:lstStyle/>
          <a:p>
            <a:r>
              <a:rPr lang="en-GB" sz="800"/>
              <a:t>pin 6</a:t>
            </a:r>
          </a:p>
        </p:txBody>
      </p:sp>
      <p:cxnSp>
        <p:nvCxnSpPr>
          <p:cNvPr id="70" name="Straight Connector 69">
            <a:extLst>
              <a:ext uri="{FF2B5EF4-FFF2-40B4-BE49-F238E27FC236}">
                <a16:creationId xmlns:a16="http://schemas.microsoft.com/office/drawing/2014/main" id="{8FC931C4-E6AB-4ED9-21DB-4838554DFEA1}"/>
              </a:ext>
            </a:extLst>
          </p:cNvPr>
          <p:cNvCxnSpPr>
            <a:cxnSpLocks/>
          </p:cNvCxnSpPr>
          <p:nvPr/>
        </p:nvCxnSpPr>
        <p:spPr>
          <a:xfrm>
            <a:off x="10901174" y="5387004"/>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71" name="Oval 70">
            <a:extLst>
              <a:ext uri="{FF2B5EF4-FFF2-40B4-BE49-F238E27FC236}">
                <a16:creationId xmlns:a16="http://schemas.microsoft.com/office/drawing/2014/main" id="{39B5BDFA-F9AD-844F-E184-5D80CF81C545}"/>
              </a:ext>
            </a:extLst>
          </p:cNvPr>
          <p:cNvSpPr/>
          <p:nvPr/>
        </p:nvSpPr>
        <p:spPr>
          <a:xfrm>
            <a:off x="11256443" y="5342286"/>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72" name="TextBox 71">
            <a:extLst>
              <a:ext uri="{FF2B5EF4-FFF2-40B4-BE49-F238E27FC236}">
                <a16:creationId xmlns:a16="http://schemas.microsoft.com/office/drawing/2014/main" id="{1B861D5F-61E9-C44F-24E8-E10EBDFE4170}"/>
              </a:ext>
            </a:extLst>
          </p:cNvPr>
          <p:cNvSpPr txBox="1"/>
          <p:nvPr/>
        </p:nvSpPr>
        <p:spPr>
          <a:xfrm>
            <a:off x="11296286" y="5418505"/>
            <a:ext cx="397866" cy="215444"/>
          </a:xfrm>
          <a:prstGeom prst="rect">
            <a:avLst/>
          </a:prstGeom>
          <a:noFill/>
        </p:spPr>
        <p:txBody>
          <a:bodyPr wrap="none" rtlCol="0">
            <a:spAutoFit/>
          </a:bodyPr>
          <a:lstStyle/>
          <a:p>
            <a:r>
              <a:rPr lang="en-GB" sz="800"/>
              <a:t>pin 7</a:t>
            </a:r>
          </a:p>
        </p:txBody>
      </p:sp>
      <p:cxnSp>
        <p:nvCxnSpPr>
          <p:cNvPr id="73" name="Straight Connector 72">
            <a:extLst>
              <a:ext uri="{FF2B5EF4-FFF2-40B4-BE49-F238E27FC236}">
                <a16:creationId xmlns:a16="http://schemas.microsoft.com/office/drawing/2014/main" id="{9C0C23CD-4276-8185-4B48-FA794E8C7615}"/>
              </a:ext>
            </a:extLst>
          </p:cNvPr>
          <p:cNvCxnSpPr>
            <a:cxnSpLocks/>
          </p:cNvCxnSpPr>
          <p:nvPr/>
        </p:nvCxnSpPr>
        <p:spPr>
          <a:xfrm>
            <a:off x="10901174" y="5526229"/>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74" name="Oval 73">
            <a:extLst>
              <a:ext uri="{FF2B5EF4-FFF2-40B4-BE49-F238E27FC236}">
                <a16:creationId xmlns:a16="http://schemas.microsoft.com/office/drawing/2014/main" id="{29D98FA5-9AE4-003C-909B-6F97445FD185}"/>
              </a:ext>
            </a:extLst>
          </p:cNvPr>
          <p:cNvSpPr/>
          <p:nvPr/>
        </p:nvSpPr>
        <p:spPr>
          <a:xfrm>
            <a:off x="11256443" y="5481511"/>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75" name="TextBox 74">
            <a:extLst>
              <a:ext uri="{FF2B5EF4-FFF2-40B4-BE49-F238E27FC236}">
                <a16:creationId xmlns:a16="http://schemas.microsoft.com/office/drawing/2014/main" id="{EA4314C7-30E3-6681-E63B-BB063B0E4316}"/>
              </a:ext>
            </a:extLst>
          </p:cNvPr>
          <p:cNvSpPr txBox="1"/>
          <p:nvPr/>
        </p:nvSpPr>
        <p:spPr>
          <a:xfrm rot="5400000">
            <a:off x="11145211" y="5543793"/>
            <a:ext cx="381836" cy="369332"/>
          </a:xfrm>
          <a:prstGeom prst="rect">
            <a:avLst/>
          </a:prstGeom>
          <a:noFill/>
        </p:spPr>
        <p:txBody>
          <a:bodyPr wrap="none" rtlCol="0">
            <a:spAutoFit/>
          </a:bodyPr>
          <a:lstStyle/>
          <a:p>
            <a:r>
              <a:rPr lang="en-GB"/>
              <a:t>...</a:t>
            </a:r>
            <a:endParaRPr lang="LID4096"/>
          </a:p>
        </p:txBody>
      </p:sp>
      <p:sp>
        <p:nvSpPr>
          <p:cNvPr id="76" name="TextBox 75">
            <a:extLst>
              <a:ext uri="{FF2B5EF4-FFF2-40B4-BE49-F238E27FC236}">
                <a16:creationId xmlns:a16="http://schemas.microsoft.com/office/drawing/2014/main" id="{7304EDD1-27E0-434C-1411-4BDD5B37A5F0}"/>
              </a:ext>
            </a:extLst>
          </p:cNvPr>
          <p:cNvSpPr txBox="1"/>
          <p:nvPr/>
        </p:nvSpPr>
        <p:spPr>
          <a:xfrm>
            <a:off x="10878042" y="4150819"/>
            <a:ext cx="762709" cy="369332"/>
          </a:xfrm>
          <a:prstGeom prst="rect">
            <a:avLst/>
          </a:prstGeom>
          <a:noFill/>
        </p:spPr>
        <p:txBody>
          <a:bodyPr wrap="none" rtlCol="0">
            <a:spAutoFit/>
          </a:bodyPr>
          <a:lstStyle/>
          <a:p>
            <a:r>
              <a:rPr lang="en-GB"/>
              <a:t>Port E</a:t>
            </a:r>
            <a:endParaRPr lang="LID4096"/>
          </a:p>
        </p:txBody>
      </p:sp>
      <p:sp>
        <p:nvSpPr>
          <p:cNvPr id="77" name="Freeform: Shape 76">
            <a:extLst>
              <a:ext uri="{FF2B5EF4-FFF2-40B4-BE49-F238E27FC236}">
                <a16:creationId xmlns:a16="http://schemas.microsoft.com/office/drawing/2014/main" id="{B1FE59C2-091E-F136-4079-FB9E9AB6FB19}"/>
              </a:ext>
            </a:extLst>
          </p:cNvPr>
          <p:cNvSpPr/>
          <p:nvPr/>
        </p:nvSpPr>
        <p:spPr>
          <a:xfrm>
            <a:off x="10394635" y="2810067"/>
            <a:ext cx="465589" cy="1744910"/>
          </a:xfrm>
          <a:custGeom>
            <a:avLst/>
            <a:gdLst>
              <a:gd name="csX0" fmla="*/ 465589 w 465589"/>
              <a:gd name="csY0" fmla="*/ 1744910 h 1744910"/>
              <a:gd name="csX1" fmla="*/ 268448 w 465589"/>
              <a:gd name="csY1" fmla="*/ 1744910 h 1744910"/>
              <a:gd name="csX2" fmla="*/ 268448 w 465589"/>
              <a:gd name="csY2" fmla="*/ 0 h 1744910"/>
              <a:gd name="csX3" fmla="*/ 0 w 465589"/>
              <a:gd name="csY3" fmla="*/ 0 h 1744910"/>
            </a:gdLst>
            <a:ahLst/>
            <a:cxnLst>
              <a:cxn ang="0">
                <a:pos x="csX0" y="csY0"/>
              </a:cxn>
              <a:cxn ang="0">
                <a:pos x="csX1" y="csY1"/>
              </a:cxn>
              <a:cxn ang="0">
                <a:pos x="csX2" y="csY2"/>
              </a:cxn>
              <a:cxn ang="0">
                <a:pos x="csX3" y="csY3"/>
              </a:cxn>
            </a:cxnLst>
            <a:rect l="l" t="t" r="r" b="b"/>
            <a:pathLst>
              <a:path w="465589" h="1744910">
                <a:moveTo>
                  <a:pt x="465589" y="1744910"/>
                </a:moveTo>
                <a:lnTo>
                  <a:pt x="268448" y="1744910"/>
                </a:lnTo>
                <a:lnTo>
                  <a:pt x="268448" y="0"/>
                </a:lnTo>
                <a:lnTo>
                  <a:pt x="0" y="0"/>
                </a:lnTo>
              </a:path>
            </a:pathLst>
          </a:cu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78" name="Straight Connector 77">
            <a:extLst>
              <a:ext uri="{FF2B5EF4-FFF2-40B4-BE49-F238E27FC236}">
                <a16:creationId xmlns:a16="http://schemas.microsoft.com/office/drawing/2014/main" id="{71DE4AA1-DE6F-12DE-2576-B23482A0D84A}"/>
              </a:ext>
            </a:extLst>
          </p:cNvPr>
          <p:cNvCxnSpPr/>
          <p:nvPr/>
        </p:nvCxnSpPr>
        <p:spPr>
          <a:xfrm flipH="1">
            <a:off x="10394635" y="2727064"/>
            <a:ext cx="465589" cy="0"/>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sp>
        <p:nvSpPr>
          <p:cNvPr id="79" name="TextBox 78">
            <a:extLst>
              <a:ext uri="{FF2B5EF4-FFF2-40B4-BE49-F238E27FC236}">
                <a16:creationId xmlns:a16="http://schemas.microsoft.com/office/drawing/2014/main" id="{640F95BC-7A1B-F08A-EC4B-8AAF3BACFF50}"/>
              </a:ext>
            </a:extLst>
          </p:cNvPr>
          <p:cNvSpPr txBox="1"/>
          <p:nvPr/>
        </p:nvSpPr>
        <p:spPr>
          <a:xfrm>
            <a:off x="10878042" y="5990962"/>
            <a:ext cx="756297" cy="369332"/>
          </a:xfrm>
          <a:prstGeom prst="rect">
            <a:avLst/>
          </a:prstGeom>
          <a:noFill/>
        </p:spPr>
        <p:txBody>
          <a:bodyPr wrap="none" rtlCol="0">
            <a:spAutoFit/>
          </a:bodyPr>
          <a:lstStyle/>
          <a:p>
            <a:r>
              <a:rPr lang="en-GB"/>
              <a:t>Port F</a:t>
            </a:r>
            <a:endParaRPr lang="LID4096"/>
          </a:p>
        </p:txBody>
      </p:sp>
      <p:sp>
        <p:nvSpPr>
          <p:cNvPr id="80" name="Freeform: Shape 79">
            <a:extLst>
              <a:ext uri="{FF2B5EF4-FFF2-40B4-BE49-F238E27FC236}">
                <a16:creationId xmlns:a16="http://schemas.microsoft.com/office/drawing/2014/main" id="{0B309658-B841-9F33-5AD7-65E6196C9AE0}"/>
              </a:ext>
            </a:extLst>
          </p:cNvPr>
          <p:cNvSpPr/>
          <p:nvPr/>
        </p:nvSpPr>
        <p:spPr>
          <a:xfrm>
            <a:off x="10315269" y="2893958"/>
            <a:ext cx="544955" cy="3483610"/>
          </a:xfrm>
          <a:custGeom>
            <a:avLst/>
            <a:gdLst>
              <a:gd name="csX0" fmla="*/ 453006 w 453006"/>
              <a:gd name="csY0" fmla="*/ 3632433 h 3632433"/>
              <a:gd name="csX1" fmla="*/ 192947 w 453006"/>
              <a:gd name="csY1" fmla="*/ 3632433 h 3632433"/>
              <a:gd name="csX2" fmla="*/ 192947 w 453006"/>
              <a:gd name="csY2" fmla="*/ 0 h 3632433"/>
              <a:gd name="csX3" fmla="*/ 0 w 453006"/>
              <a:gd name="csY3" fmla="*/ 0 h 3632433"/>
            </a:gdLst>
            <a:ahLst/>
            <a:cxnLst>
              <a:cxn ang="0">
                <a:pos x="csX0" y="csY0"/>
              </a:cxn>
              <a:cxn ang="0">
                <a:pos x="csX1" y="csY1"/>
              </a:cxn>
              <a:cxn ang="0">
                <a:pos x="csX2" y="csY2"/>
              </a:cxn>
              <a:cxn ang="0">
                <a:pos x="csX3" y="csY3"/>
              </a:cxn>
            </a:cxnLst>
            <a:rect l="l" t="t" r="r" b="b"/>
            <a:pathLst>
              <a:path w="453006" h="3632433">
                <a:moveTo>
                  <a:pt x="453006" y="3632433"/>
                </a:moveTo>
                <a:lnTo>
                  <a:pt x="192947" y="3632433"/>
                </a:lnTo>
                <a:lnTo>
                  <a:pt x="192947" y="0"/>
                </a:lnTo>
                <a:lnTo>
                  <a:pt x="0" y="0"/>
                </a:lnTo>
              </a:path>
            </a:pathLst>
          </a:cu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81" name="Rectangle 80">
            <a:extLst>
              <a:ext uri="{FF2B5EF4-FFF2-40B4-BE49-F238E27FC236}">
                <a16:creationId xmlns:a16="http://schemas.microsoft.com/office/drawing/2014/main" id="{DCFD6DAD-042C-476B-AC98-259A74889FCE}"/>
              </a:ext>
            </a:extLst>
          </p:cNvPr>
          <p:cNvSpPr/>
          <p:nvPr/>
        </p:nvSpPr>
        <p:spPr>
          <a:xfrm>
            <a:off x="10830863" y="1921712"/>
            <a:ext cx="863289" cy="318796"/>
          </a:xfrm>
          <a:prstGeom prst="rect">
            <a:avLst/>
          </a:prstGeom>
          <a:solidFill>
            <a:schemeClr val="bg1">
              <a:lumMod val="85000"/>
            </a:schemeClr>
          </a:solidFill>
          <a:ln w="127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82" name="TextBox 81">
            <a:extLst>
              <a:ext uri="{FF2B5EF4-FFF2-40B4-BE49-F238E27FC236}">
                <a16:creationId xmlns:a16="http://schemas.microsoft.com/office/drawing/2014/main" id="{80D312C1-672E-3262-A50E-00E33864DD55}"/>
              </a:ext>
            </a:extLst>
          </p:cNvPr>
          <p:cNvSpPr txBox="1"/>
          <p:nvPr/>
        </p:nvSpPr>
        <p:spPr>
          <a:xfrm rot="5400000">
            <a:off x="11145211" y="1901784"/>
            <a:ext cx="381836" cy="369332"/>
          </a:xfrm>
          <a:prstGeom prst="rect">
            <a:avLst/>
          </a:prstGeom>
          <a:noFill/>
        </p:spPr>
        <p:txBody>
          <a:bodyPr wrap="none" rtlCol="0">
            <a:spAutoFit/>
          </a:bodyPr>
          <a:lstStyle/>
          <a:p>
            <a:r>
              <a:rPr lang="en-GB"/>
              <a:t>...</a:t>
            </a:r>
            <a:endParaRPr lang="LID4096"/>
          </a:p>
        </p:txBody>
      </p:sp>
      <p:sp>
        <p:nvSpPr>
          <p:cNvPr id="83" name="TextBox 82">
            <a:extLst>
              <a:ext uri="{FF2B5EF4-FFF2-40B4-BE49-F238E27FC236}">
                <a16:creationId xmlns:a16="http://schemas.microsoft.com/office/drawing/2014/main" id="{59A014C8-8FF6-FA83-AF1A-0CED8BE752C3}"/>
              </a:ext>
            </a:extLst>
          </p:cNvPr>
          <p:cNvSpPr txBox="1"/>
          <p:nvPr/>
        </p:nvSpPr>
        <p:spPr>
          <a:xfrm>
            <a:off x="11296286" y="6269843"/>
            <a:ext cx="397866" cy="215444"/>
          </a:xfrm>
          <a:prstGeom prst="rect">
            <a:avLst/>
          </a:prstGeom>
          <a:noFill/>
        </p:spPr>
        <p:txBody>
          <a:bodyPr wrap="none" rtlCol="0">
            <a:spAutoFit/>
          </a:bodyPr>
          <a:lstStyle/>
          <a:p>
            <a:r>
              <a:rPr lang="en-GB" sz="800">
                <a:solidFill>
                  <a:schemeClr val="accent2">
                    <a:lumMod val="75000"/>
                  </a:schemeClr>
                </a:solidFill>
              </a:rPr>
              <a:t>pin 0</a:t>
            </a:r>
          </a:p>
        </p:txBody>
      </p:sp>
      <p:cxnSp>
        <p:nvCxnSpPr>
          <p:cNvPr id="84" name="Straight Connector 83">
            <a:extLst>
              <a:ext uri="{FF2B5EF4-FFF2-40B4-BE49-F238E27FC236}">
                <a16:creationId xmlns:a16="http://schemas.microsoft.com/office/drawing/2014/main" id="{8CE68BEE-CAA5-8E54-A998-D57467962BC1}"/>
              </a:ext>
            </a:extLst>
          </p:cNvPr>
          <p:cNvCxnSpPr>
            <a:cxnSpLocks/>
          </p:cNvCxnSpPr>
          <p:nvPr/>
        </p:nvCxnSpPr>
        <p:spPr>
          <a:xfrm>
            <a:off x="10901174" y="6377567"/>
            <a:ext cx="355269" cy="3727"/>
          </a:xfrm>
          <a:prstGeom prst="line">
            <a:avLst/>
          </a:prstGeom>
          <a:ln>
            <a:solidFill>
              <a:schemeClr val="accent2">
                <a:lumMod val="75000"/>
              </a:schemeClr>
            </a:solidFill>
            <a:prstDash val="dash"/>
          </a:ln>
          <a:effectLst/>
        </p:spPr>
        <p:style>
          <a:lnRef idx="1">
            <a:schemeClr val="accent1"/>
          </a:lnRef>
          <a:fillRef idx="0">
            <a:schemeClr val="accent1"/>
          </a:fillRef>
          <a:effectRef idx="0">
            <a:schemeClr val="accent1"/>
          </a:effectRef>
          <a:fontRef idx="minor">
            <a:schemeClr val="tx1"/>
          </a:fontRef>
        </p:style>
      </p:cxnSp>
      <p:sp>
        <p:nvSpPr>
          <p:cNvPr id="85" name="Oval 84">
            <a:extLst>
              <a:ext uri="{FF2B5EF4-FFF2-40B4-BE49-F238E27FC236}">
                <a16:creationId xmlns:a16="http://schemas.microsoft.com/office/drawing/2014/main" id="{4337DE28-19FC-C2C6-88AC-49B9C93C0C45}"/>
              </a:ext>
            </a:extLst>
          </p:cNvPr>
          <p:cNvSpPr/>
          <p:nvPr/>
        </p:nvSpPr>
        <p:spPr>
          <a:xfrm>
            <a:off x="11256443" y="6332849"/>
            <a:ext cx="79686" cy="89433"/>
          </a:xfrm>
          <a:prstGeom prst="ellipse">
            <a:avLst/>
          </a:prstGeom>
          <a:noFill/>
          <a:ln>
            <a:solidFill>
              <a:schemeClr val="accent2">
                <a:lumMod val="7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cxnSp>
        <p:nvCxnSpPr>
          <p:cNvPr id="86" name="Straight Connector 85">
            <a:extLst>
              <a:ext uri="{FF2B5EF4-FFF2-40B4-BE49-F238E27FC236}">
                <a16:creationId xmlns:a16="http://schemas.microsoft.com/office/drawing/2014/main" id="{CEBCAEB7-BB43-49CD-1D99-CEB446812B1F}"/>
              </a:ext>
            </a:extLst>
          </p:cNvPr>
          <p:cNvCxnSpPr/>
          <p:nvPr/>
        </p:nvCxnSpPr>
        <p:spPr>
          <a:xfrm>
            <a:off x="10705028" y="1799193"/>
            <a:ext cx="0" cy="527038"/>
          </a:xfrm>
          <a:prstGeom prst="line">
            <a:avLst/>
          </a:prstGeom>
          <a:ln>
            <a:solidFill>
              <a:schemeClr val="accent2">
                <a:lumMod val="7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87" name="Freeform: Shape 86">
            <a:extLst>
              <a:ext uri="{FF2B5EF4-FFF2-40B4-BE49-F238E27FC236}">
                <a16:creationId xmlns:a16="http://schemas.microsoft.com/office/drawing/2014/main" id="{B9AB3A5F-514C-C79E-69EE-EBE8006CBBFF}"/>
              </a:ext>
            </a:extLst>
          </p:cNvPr>
          <p:cNvSpPr/>
          <p:nvPr/>
        </p:nvSpPr>
        <p:spPr>
          <a:xfrm>
            <a:off x="10403024" y="2310922"/>
            <a:ext cx="297809" cy="322976"/>
          </a:xfrm>
          <a:custGeom>
            <a:avLst/>
            <a:gdLst>
              <a:gd name="csX0" fmla="*/ 297809 w 297809"/>
              <a:gd name="csY0" fmla="*/ 0 h 322976"/>
              <a:gd name="csX1" fmla="*/ 297809 w 297809"/>
              <a:gd name="csY1" fmla="*/ 322976 h 322976"/>
              <a:gd name="csX2" fmla="*/ 0 w 297809"/>
              <a:gd name="csY2" fmla="*/ 322976 h 322976"/>
            </a:gdLst>
            <a:ahLst/>
            <a:cxnLst>
              <a:cxn ang="0">
                <a:pos x="csX0" y="csY0"/>
              </a:cxn>
              <a:cxn ang="0">
                <a:pos x="csX1" y="csY1"/>
              </a:cxn>
              <a:cxn ang="0">
                <a:pos x="csX2" y="csY2"/>
              </a:cxn>
            </a:cxnLst>
            <a:rect l="l" t="t" r="r" b="b"/>
            <a:pathLst>
              <a:path w="297809" h="322976">
                <a:moveTo>
                  <a:pt x="297809" y="0"/>
                </a:moveTo>
                <a:lnTo>
                  <a:pt x="297809" y="322976"/>
                </a:lnTo>
                <a:lnTo>
                  <a:pt x="0" y="322976"/>
                </a:lnTo>
              </a:path>
            </a:pathLst>
          </a:cu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88" name="Arrow: Down 87">
            <a:extLst>
              <a:ext uri="{FF2B5EF4-FFF2-40B4-BE49-F238E27FC236}">
                <a16:creationId xmlns:a16="http://schemas.microsoft.com/office/drawing/2014/main" id="{27DAC23A-F2F7-C0B1-6CB3-140A9FA2AE43}"/>
              </a:ext>
            </a:extLst>
          </p:cNvPr>
          <p:cNvSpPr/>
          <p:nvPr/>
        </p:nvSpPr>
        <p:spPr>
          <a:xfrm>
            <a:off x="10046492" y="1698526"/>
            <a:ext cx="268777" cy="692092"/>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89" name="Rectangle 88">
            <a:extLst>
              <a:ext uri="{FF2B5EF4-FFF2-40B4-BE49-F238E27FC236}">
                <a16:creationId xmlns:a16="http://schemas.microsoft.com/office/drawing/2014/main" id="{6FF7F03F-00D0-5AD0-E33B-21DC6C48061D}"/>
              </a:ext>
            </a:extLst>
          </p:cNvPr>
          <p:cNvSpPr/>
          <p:nvPr/>
        </p:nvSpPr>
        <p:spPr>
          <a:xfrm>
            <a:off x="9878713" y="1388132"/>
            <a:ext cx="616590" cy="322976"/>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90" name="TextBox 89">
            <a:extLst>
              <a:ext uri="{FF2B5EF4-FFF2-40B4-BE49-F238E27FC236}">
                <a16:creationId xmlns:a16="http://schemas.microsoft.com/office/drawing/2014/main" id="{1679CEDF-2B05-1AEF-14B4-BABD7D574A6C}"/>
              </a:ext>
            </a:extLst>
          </p:cNvPr>
          <p:cNvSpPr txBox="1"/>
          <p:nvPr/>
        </p:nvSpPr>
        <p:spPr>
          <a:xfrm>
            <a:off x="9905804" y="1421527"/>
            <a:ext cx="550151" cy="276999"/>
          </a:xfrm>
          <a:prstGeom prst="rect">
            <a:avLst/>
          </a:prstGeom>
          <a:noFill/>
        </p:spPr>
        <p:txBody>
          <a:bodyPr wrap="none" rtlCol="0">
            <a:spAutoFit/>
          </a:bodyPr>
          <a:lstStyle/>
          <a:p>
            <a:r>
              <a:rPr lang="en-GB" sz="1200"/>
              <a:t>EXTI0</a:t>
            </a:r>
            <a:endParaRPr lang="LID4096" sz="1200"/>
          </a:p>
        </p:txBody>
      </p:sp>
      <p:sp>
        <p:nvSpPr>
          <p:cNvPr id="91" name="Arrow: Down 90">
            <a:extLst>
              <a:ext uri="{FF2B5EF4-FFF2-40B4-BE49-F238E27FC236}">
                <a16:creationId xmlns:a16="http://schemas.microsoft.com/office/drawing/2014/main" id="{86E8D504-A14B-5F7C-E3F7-86AC7A88F2AF}"/>
              </a:ext>
            </a:extLst>
          </p:cNvPr>
          <p:cNvSpPr/>
          <p:nvPr/>
        </p:nvSpPr>
        <p:spPr>
          <a:xfrm>
            <a:off x="9434049" y="1698525"/>
            <a:ext cx="268777" cy="1553935"/>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nvGrpSpPr>
          <p:cNvPr id="92" name="Group 91">
            <a:extLst>
              <a:ext uri="{FF2B5EF4-FFF2-40B4-BE49-F238E27FC236}">
                <a16:creationId xmlns:a16="http://schemas.microsoft.com/office/drawing/2014/main" id="{58F2D80B-A899-D82D-EED6-7998917F0279}"/>
              </a:ext>
            </a:extLst>
          </p:cNvPr>
          <p:cNvGrpSpPr/>
          <p:nvPr/>
        </p:nvGrpSpPr>
        <p:grpSpPr>
          <a:xfrm>
            <a:off x="9266270" y="1388132"/>
            <a:ext cx="616590" cy="322976"/>
            <a:chOff x="7566824" y="759203"/>
            <a:chExt cx="616590" cy="322976"/>
          </a:xfrm>
        </p:grpSpPr>
        <p:sp>
          <p:nvSpPr>
            <p:cNvPr id="93" name="Rectangle 92">
              <a:extLst>
                <a:ext uri="{FF2B5EF4-FFF2-40B4-BE49-F238E27FC236}">
                  <a16:creationId xmlns:a16="http://schemas.microsoft.com/office/drawing/2014/main" id="{16EF6114-AB59-235F-335F-EDB5690F8D0A}"/>
                </a:ext>
              </a:extLst>
            </p:cNvPr>
            <p:cNvSpPr/>
            <p:nvPr/>
          </p:nvSpPr>
          <p:spPr>
            <a:xfrm>
              <a:off x="7566824" y="759203"/>
              <a:ext cx="616590" cy="322976"/>
            </a:xfrm>
            <a:prstGeom prst="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94" name="TextBox 93">
              <a:extLst>
                <a:ext uri="{FF2B5EF4-FFF2-40B4-BE49-F238E27FC236}">
                  <a16:creationId xmlns:a16="http://schemas.microsoft.com/office/drawing/2014/main" id="{6D7E3DD2-4562-7473-C48A-C8B0E2721BC1}"/>
                </a:ext>
              </a:extLst>
            </p:cNvPr>
            <p:cNvSpPr txBox="1"/>
            <p:nvPr/>
          </p:nvSpPr>
          <p:spPr>
            <a:xfrm>
              <a:off x="7593915" y="792598"/>
              <a:ext cx="550151" cy="276999"/>
            </a:xfrm>
            <a:prstGeom prst="rect">
              <a:avLst/>
            </a:prstGeom>
            <a:noFill/>
          </p:spPr>
          <p:txBody>
            <a:bodyPr wrap="none" rtlCol="0">
              <a:spAutoFit/>
            </a:bodyPr>
            <a:lstStyle/>
            <a:p>
              <a:r>
                <a:rPr lang="en-GB" sz="1200"/>
                <a:t>EXTI1</a:t>
              </a:r>
              <a:endParaRPr lang="LID4096" sz="1200"/>
            </a:p>
          </p:txBody>
        </p:sp>
      </p:grpSp>
      <p:sp>
        <p:nvSpPr>
          <p:cNvPr id="95" name="Freeform: Shape 94">
            <a:extLst>
              <a:ext uri="{FF2B5EF4-FFF2-40B4-BE49-F238E27FC236}">
                <a16:creationId xmlns:a16="http://schemas.microsoft.com/office/drawing/2014/main" id="{1FCD0829-4015-F8AB-56EF-D5BBDC7B54F7}"/>
              </a:ext>
            </a:extLst>
          </p:cNvPr>
          <p:cNvSpPr/>
          <p:nvPr/>
        </p:nvSpPr>
        <p:spPr>
          <a:xfrm>
            <a:off x="9363539" y="3126861"/>
            <a:ext cx="432137" cy="960539"/>
          </a:xfrm>
          <a:custGeom>
            <a:avLst/>
            <a:gdLst>
              <a:gd name="csX0" fmla="*/ 213919 w 213919"/>
              <a:gd name="csY0" fmla="*/ 0 h 960539"/>
              <a:gd name="csX1" fmla="*/ 0 w 213919"/>
              <a:gd name="csY1" fmla="*/ 213919 h 960539"/>
              <a:gd name="csX2" fmla="*/ 0 w 213919"/>
              <a:gd name="csY2" fmla="*/ 759203 h 960539"/>
              <a:gd name="csX3" fmla="*/ 201336 w 213919"/>
              <a:gd name="csY3" fmla="*/ 960539 h 960539"/>
              <a:gd name="csX4" fmla="*/ 213919 w 213919"/>
              <a:gd name="csY4" fmla="*/ 0 h 960539"/>
              <a:gd name="csX0" fmla="*/ 213919 w 215874"/>
              <a:gd name="csY0" fmla="*/ 0 h 960539"/>
              <a:gd name="csX1" fmla="*/ 0 w 215874"/>
              <a:gd name="csY1" fmla="*/ 213919 h 960539"/>
              <a:gd name="csX2" fmla="*/ 0 w 215874"/>
              <a:gd name="csY2" fmla="*/ 759203 h 960539"/>
              <a:gd name="csX3" fmla="*/ 215874 w 215874"/>
              <a:gd name="csY3" fmla="*/ 960539 h 960539"/>
              <a:gd name="csX4" fmla="*/ 213919 w 215874"/>
              <a:gd name="csY4" fmla="*/ 0 h 960539"/>
              <a:gd name="csX0" fmla="*/ 213919 w 213950"/>
              <a:gd name="csY0" fmla="*/ 0 h 960539"/>
              <a:gd name="csX1" fmla="*/ 0 w 213950"/>
              <a:gd name="csY1" fmla="*/ 213919 h 960539"/>
              <a:gd name="csX2" fmla="*/ 0 w 213950"/>
              <a:gd name="csY2" fmla="*/ 759203 h 960539"/>
              <a:gd name="csX3" fmla="*/ 205490 w 213950"/>
              <a:gd name="csY3" fmla="*/ 960539 h 960539"/>
              <a:gd name="csX4" fmla="*/ 213919 w 213950"/>
              <a:gd name="csY4" fmla="*/ 0 h 960539"/>
              <a:gd name="csX0" fmla="*/ 213919 w 213950"/>
              <a:gd name="csY0" fmla="*/ 0 h 960539"/>
              <a:gd name="csX1" fmla="*/ 0 w 213950"/>
              <a:gd name="csY1" fmla="*/ 213919 h 960539"/>
              <a:gd name="csX2" fmla="*/ 0 w 213950"/>
              <a:gd name="csY2" fmla="*/ 759203 h 960539"/>
              <a:gd name="csX3" fmla="*/ 205490 w 213950"/>
              <a:gd name="csY3" fmla="*/ 960539 h 960539"/>
              <a:gd name="csX4" fmla="*/ 213919 w 213950"/>
              <a:gd name="csY4" fmla="*/ 0 h 960539"/>
              <a:gd name="csX0" fmla="*/ 213919 w 213972"/>
              <a:gd name="csY0" fmla="*/ 0 h 960539"/>
              <a:gd name="csX1" fmla="*/ 0 w 213972"/>
              <a:gd name="csY1" fmla="*/ 213919 h 960539"/>
              <a:gd name="csX2" fmla="*/ 0 w 213972"/>
              <a:gd name="csY2" fmla="*/ 759203 h 960539"/>
              <a:gd name="csX3" fmla="*/ 209644 w 213972"/>
              <a:gd name="csY3" fmla="*/ 960539 h 960539"/>
              <a:gd name="csX4" fmla="*/ 213919 w 213972"/>
              <a:gd name="csY4" fmla="*/ 0 h 960539"/>
            </a:gdLst>
            <a:ahLst/>
            <a:cxnLst>
              <a:cxn ang="0">
                <a:pos x="csX0" y="csY0"/>
              </a:cxn>
              <a:cxn ang="0">
                <a:pos x="csX1" y="csY1"/>
              </a:cxn>
              <a:cxn ang="0">
                <a:pos x="csX2" y="csY2"/>
              </a:cxn>
              <a:cxn ang="0">
                <a:pos x="csX3" y="csY3"/>
              </a:cxn>
              <a:cxn ang="0">
                <a:pos x="csX4" y="csY4"/>
              </a:cxn>
            </a:cxnLst>
            <a:rect l="l" t="t" r="r" b="b"/>
            <a:pathLst>
              <a:path w="213972" h="960539">
                <a:moveTo>
                  <a:pt x="213919" y="0"/>
                </a:moveTo>
                <a:lnTo>
                  <a:pt x="0" y="213919"/>
                </a:lnTo>
                <a:lnTo>
                  <a:pt x="0" y="759203"/>
                </a:lnTo>
                <a:lnTo>
                  <a:pt x="209644" y="960539"/>
                </a:lnTo>
                <a:cubicBezTo>
                  <a:pt x="208992" y="640359"/>
                  <a:pt x="214571" y="320180"/>
                  <a:pt x="213919" y="0"/>
                </a:cubicBezTo>
                <a:close/>
              </a:path>
            </a:pathLst>
          </a:cu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96" name="Freeform: Shape 95">
            <a:extLst>
              <a:ext uri="{FF2B5EF4-FFF2-40B4-BE49-F238E27FC236}">
                <a16:creationId xmlns:a16="http://schemas.microsoft.com/office/drawing/2014/main" id="{82EE810C-D15E-167E-FDD8-77BCC3701ECB}"/>
              </a:ext>
            </a:extLst>
          </p:cNvPr>
          <p:cNvSpPr/>
          <p:nvPr/>
        </p:nvSpPr>
        <p:spPr>
          <a:xfrm>
            <a:off x="9967933" y="2277368"/>
            <a:ext cx="432137" cy="960539"/>
          </a:xfrm>
          <a:custGeom>
            <a:avLst/>
            <a:gdLst>
              <a:gd name="csX0" fmla="*/ 213919 w 213919"/>
              <a:gd name="csY0" fmla="*/ 0 h 960539"/>
              <a:gd name="csX1" fmla="*/ 0 w 213919"/>
              <a:gd name="csY1" fmla="*/ 213919 h 960539"/>
              <a:gd name="csX2" fmla="*/ 0 w 213919"/>
              <a:gd name="csY2" fmla="*/ 759203 h 960539"/>
              <a:gd name="csX3" fmla="*/ 201336 w 213919"/>
              <a:gd name="csY3" fmla="*/ 960539 h 960539"/>
              <a:gd name="csX4" fmla="*/ 213919 w 213919"/>
              <a:gd name="csY4" fmla="*/ 0 h 960539"/>
              <a:gd name="csX0" fmla="*/ 213919 w 215874"/>
              <a:gd name="csY0" fmla="*/ 0 h 960539"/>
              <a:gd name="csX1" fmla="*/ 0 w 215874"/>
              <a:gd name="csY1" fmla="*/ 213919 h 960539"/>
              <a:gd name="csX2" fmla="*/ 0 w 215874"/>
              <a:gd name="csY2" fmla="*/ 759203 h 960539"/>
              <a:gd name="csX3" fmla="*/ 215874 w 215874"/>
              <a:gd name="csY3" fmla="*/ 960539 h 960539"/>
              <a:gd name="csX4" fmla="*/ 213919 w 215874"/>
              <a:gd name="csY4" fmla="*/ 0 h 960539"/>
              <a:gd name="csX0" fmla="*/ 213919 w 213950"/>
              <a:gd name="csY0" fmla="*/ 0 h 960539"/>
              <a:gd name="csX1" fmla="*/ 0 w 213950"/>
              <a:gd name="csY1" fmla="*/ 213919 h 960539"/>
              <a:gd name="csX2" fmla="*/ 0 w 213950"/>
              <a:gd name="csY2" fmla="*/ 759203 h 960539"/>
              <a:gd name="csX3" fmla="*/ 205490 w 213950"/>
              <a:gd name="csY3" fmla="*/ 960539 h 960539"/>
              <a:gd name="csX4" fmla="*/ 213919 w 213950"/>
              <a:gd name="csY4" fmla="*/ 0 h 960539"/>
              <a:gd name="csX0" fmla="*/ 213919 w 213950"/>
              <a:gd name="csY0" fmla="*/ 0 h 960539"/>
              <a:gd name="csX1" fmla="*/ 0 w 213950"/>
              <a:gd name="csY1" fmla="*/ 213919 h 960539"/>
              <a:gd name="csX2" fmla="*/ 0 w 213950"/>
              <a:gd name="csY2" fmla="*/ 759203 h 960539"/>
              <a:gd name="csX3" fmla="*/ 205490 w 213950"/>
              <a:gd name="csY3" fmla="*/ 960539 h 960539"/>
              <a:gd name="csX4" fmla="*/ 213919 w 213950"/>
              <a:gd name="csY4" fmla="*/ 0 h 960539"/>
              <a:gd name="csX0" fmla="*/ 213919 w 213972"/>
              <a:gd name="csY0" fmla="*/ 0 h 960539"/>
              <a:gd name="csX1" fmla="*/ 0 w 213972"/>
              <a:gd name="csY1" fmla="*/ 213919 h 960539"/>
              <a:gd name="csX2" fmla="*/ 0 w 213972"/>
              <a:gd name="csY2" fmla="*/ 759203 h 960539"/>
              <a:gd name="csX3" fmla="*/ 209644 w 213972"/>
              <a:gd name="csY3" fmla="*/ 960539 h 960539"/>
              <a:gd name="csX4" fmla="*/ 213919 w 213972"/>
              <a:gd name="csY4" fmla="*/ 0 h 960539"/>
            </a:gdLst>
            <a:ahLst/>
            <a:cxnLst>
              <a:cxn ang="0">
                <a:pos x="csX0" y="csY0"/>
              </a:cxn>
              <a:cxn ang="0">
                <a:pos x="csX1" y="csY1"/>
              </a:cxn>
              <a:cxn ang="0">
                <a:pos x="csX2" y="csY2"/>
              </a:cxn>
              <a:cxn ang="0">
                <a:pos x="csX3" y="csY3"/>
              </a:cxn>
              <a:cxn ang="0">
                <a:pos x="csX4" y="csY4"/>
              </a:cxn>
            </a:cxnLst>
            <a:rect l="l" t="t" r="r" b="b"/>
            <a:pathLst>
              <a:path w="213972" h="960539">
                <a:moveTo>
                  <a:pt x="213919" y="0"/>
                </a:moveTo>
                <a:lnTo>
                  <a:pt x="0" y="213919"/>
                </a:lnTo>
                <a:lnTo>
                  <a:pt x="0" y="759203"/>
                </a:lnTo>
                <a:lnTo>
                  <a:pt x="209644" y="960539"/>
                </a:lnTo>
                <a:cubicBezTo>
                  <a:pt x="208992" y="640359"/>
                  <a:pt x="214571" y="320180"/>
                  <a:pt x="213919" y="0"/>
                </a:cubicBezTo>
                <a:close/>
              </a:path>
            </a:pathLst>
          </a:cu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97" name="Freeform: Shape 96">
            <a:extLst>
              <a:ext uri="{FF2B5EF4-FFF2-40B4-BE49-F238E27FC236}">
                <a16:creationId xmlns:a16="http://schemas.microsoft.com/office/drawing/2014/main" id="{2F47A31B-7081-4311-332D-03BD4788D508}"/>
              </a:ext>
            </a:extLst>
          </p:cNvPr>
          <p:cNvSpPr/>
          <p:nvPr/>
        </p:nvSpPr>
        <p:spPr>
          <a:xfrm>
            <a:off x="9803211" y="2860401"/>
            <a:ext cx="1052818" cy="595618"/>
          </a:xfrm>
          <a:custGeom>
            <a:avLst/>
            <a:gdLst>
              <a:gd name="csX0" fmla="*/ 1052818 w 1052818"/>
              <a:gd name="csY0" fmla="*/ 0 h 595618"/>
              <a:gd name="csX1" fmla="*/ 952151 w 1052818"/>
              <a:gd name="csY1" fmla="*/ 0 h 595618"/>
              <a:gd name="csX2" fmla="*/ 952151 w 1052818"/>
              <a:gd name="csY2" fmla="*/ 595618 h 595618"/>
              <a:gd name="csX3" fmla="*/ 0 w 1052818"/>
              <a:gd name="csY3" fmla="*/ 595618 h 595618"/>
            </a:gdLst>
            <a:ahLst/>
            <a:cxnLst>
              <a:cxn ang="0">
                <a:pos x="csX0" y="csY0"/>
              </a:cxn>
              <a:cxn ang="0">
                <a:pos x="csX1" y="csY1"/>
              </a:cxn>
              <a:cxn ang="0">
                <a:pos x="csX2" y="csY2"/>
              </a:cxn>
              <a:cxn ang="0">
                <a:pos x="csX3" y="csY3"/>
              </a:cxn>
            </a:cxnLst>
            <a:rect l="l" t="t" r="r" b="b"/>
            <a:pathLst>
              <a:path w="1052818" h="595618">
                <a:moveTo>
                  <a:pt x="1052818" y="0"/>
                </a:moveTo>
                <a:lnTo>
                  <a:pt x="952151" y="0"/>
                </a:lnTo>
                <a:lnTo>
                  <a:pt x="952151" y="595618"/>
                </a:lnTo>
                <a:lnTo>
                  <a:pt x="0" y="595618"/>
                </a:lnTo>
              </a:path>
            </a:pathLst>
          </a:custGeom>
          <a:no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98" name="Straight Connector 97">
            <a:extLst>
              <a:ext uri="{FF2B5EF4-FFF2-40B4-BE49-F238E27FC236}">
                <a16:creationId xmlns:a16="http://schemas.microsoft.com/office/drawing/2014/main" id="{DAE69432-A69C-2261-CC91-756280888DD4}"/>
              </a:ext>
            </a:extLst>
          </p:cNvPr>
          <p:cNvCxnSpPr/>
          <p:nvPr/>
        </p:nvCxnSpPr>
        <p:spPr>
          <a:xfrm>
            <a:off x="10612050" y="1810344"/>
            <a:ext cx="0" cy="527038"/>
          </a:xfrm>
          <a:prstGeom prst="line">
            <a:avLst/>
          </a:prstGeom>
          <a:ln>
            <a:solidFill>
              <a:schemeClr val="accent6">
                <a:lumMod val="7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99" name="Freeform: Shape 98">
            <a:extLst>
              <a:ext uri="{FF2B5EF4-FFF2-40B4-BE49-F238E27FC236}">
                <a16:creationId xmlns:a16="http://schemas.microsoft.com/office/drawing/2014/main" id="{6FC76760-3B23-AFC0-F277-E94329BADF6B}"/>
              </a:ext>
            </a:extLst>
          </p:cNvPr>
          <p:cNvSpPr/>
          <p:nvPr/>
        </p:nvSpPr>
        <p:spPr>
          <a:xfrm>
            <a:off x="9807406" y="2340283"/>
            <a:ext cx="805343" cy="1019263"/>
          </a:xfrm>
          <a:custGeom>
            <a:avLst/>
            <a:gdLst>
              <a:gd name="csX0" fmla="*/ 805343 w 805343"/>
              <a:gd name="csY0" fmla="*/ 0 h 1019263"/>
              <a:gd name="csX1" fmla="*/ 805343 w 805343"/>
              <a:gd name="csY1" fmla="*/ 1019263 h 1019263"/>
              <a:gd name="csX2" fmla="*/ 0 w 805343"/>
              <a:gd name="csY2" fmla="*/ 1019263 h 1019263"/>
              <a:gd name="csX3" fmla="*/ 0 w 805343"/>
              <a:gd name="csY3" fmla="*/ 1002485 h 1019263"/>
            </a:gdLst>
            <a:ahLst/>
            <a:cxnLst>
              <a:cxn ang="0">
                <a:pos x="csX0" y="csY0"/>
              </a:cxn>
              <a:cxn ang="0">
                <a:pos x="csX1" y="csY1"/>
              </a:cxn>
              <a:cxn ang="0">
                <a:pos x="csX2" y="csY2"/>
              </a:cxn>
              <a:cxn ang="0">
                <a:pos x="csX3" y="csY3"/>
              </a:cxn>
            </a:cxnLst>
            <a:rect l="l" t="t" r="r" b="b"/>
            <a:pathLst>
              <a:path w="805343" h="1019263">
                <a:moveTo>
                  <a:pt x="805343" y="0"/>
                </a:moveTo>
                <a:lnTo>
                  <a:pt x="805343" y="1019263"/>
                </a:lnTo>
                <a:lnTo>
                  <a:pt x="0" y="1019263"/>
                </a:lnTo>
                <a:lnTo>
                  <a:pt x="0" y="1002485"/>
                </a:lnTo>
              </a:path>
            </a:pathLst>
          </a:custGeom>
          <a:no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00" name="Freeform: Shape 99">
            <a:extLst>
              <a:ext uri="{FF2B5EF4-FFF2-40B4-BE49-F238E27FC236}">
                <a16:creationId xmlns:a16="http://schemas.microsoft.com/office/drawing/2014/main" id="{AB09DDA7-408D-8C8F-3436-7A72354F278C}"/>
              </a:ext>
            </a:extLst>
          </p:cNvPr>
          <p:cNvSpPr/>
          <p:nvPr/>
        </p:nvSpPr>
        <p:spPr>
          <a:xfrm>
            <a:off x="9794822" y="3565076"/>
            <a:ext cx="1065402" cy="1124125"/>
          </a:xfrm>
          <a:custGeom>
            <a:avLst/>
            <a:gdLst>
              <a:gd name="csX0" fmla="*/ 1052818 w 1052818"/>
              <a:gd name="csY0" fmla="*/ 1124125 h 1124125"/>
              <a:gd name="csX1" fmla="*/ 637563 w 1052818"/>
              <a:gd name="csY1" fmla="*/ 1124125 h 1124125"/>
              <a:gd name="csX2" fmla="*/ 637563 w 1052818"/>
              <a:gd name="csY2" fmla="*/ 0 h 1124125"/>
              <a:gd name="csX3" fmla="*/ 0 w 1052818"/>
              <a:gd name="csY3" fmla="*/ 0 h 1124125"/>
            </a:gdLst>
            <a:ahLst/>
            <a:cxnLst>
              <a:cxn ang="0">
                <a:pos x="csX0" y="csY0"/>
              </a:cxn>
              <a:cxn ang="0">
                <a:pos x="csX1" y="csY1"/>
              </a:cxn>
              <a:cxn ang="0">
                <a:pos x="csX2" y="csY2"/>
              </a:cxn>
              <a:cxn ang="0">
                <a:pos x="csX3" y="csY3"/>
              </a:cxn>
            </a:cxnLst>
            <a:rect l="l" t="t" r="r" b="b"/>
            <a:pathLst>
              <a:path w="1052818" h="1124125">
                <a:moveTo>
                  <a:pt x="1052818" y="1124125"/>
                </a:moveTo>
                <a:lnTo>
                  <a:pt x="637563" y="1124125"/>
                </a:lnTo>
                <a:lnTo>
                  <a:pt x="637563" y="0"/>
                </a:lnTo>
                <a:lnTo>
                  <a:pt x="0" y="0"/>
                </a:lnTo>
              </a:path>
            </a:pathLst>
          </a:custGeom>
          <a:no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101" name="Straight Connector 100">
            <a:extLst>
              <a:ext uri="{FF2B5EF4-FFF2-40B4-BE49-F238E27FC236}">
                <a16:creationId xmlns:a16="http://schemas.microsoft.com/office/drawing/2014/main" id="{54C3D7F1-06EB-F447-C7BA-8300E307F4CD}"/>
              </a:ext>
            </a:extLst>
          </p:cNvPr>
          <p:cNvCxnSpPr/>
          <p:nvPr/>
        </p:nvCxnSpPr>
        <p:spPr>
          <a:xfrm>
            <a:off x="10315269" y="5990962"/>
            <a:ext cx="0" cy="527038"/>
          </a:xfrm>
          <a:prstGeom prst="line">
            <a:avLst/>
          </a:prstGeom>
          <a:ln>
            <a:solidFill>
              <a:schemeClr val="accent6">
                <a:lumMod val="7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102" name="Freeform: Shape 101">
            <a:extLst>
              <a:ext uri="{FF2B5EF4-FFF2-40B4-BE49-F238E27FC236}">
                <a16:creationId xmlns:a16="http://schemas.microsoft.com/office/drawing/2014/main" id="{515B519A-24EB-9F69-6C5E-FCA1D62276E6}"/>
              </a:ext>
            </a:extLst>
          </p:cNvPr>
          <p:cNvSpPr/>
          <p:nvPr/>
        </p:nvSpPr>
        <p:spPr>
          <a:xfrm>
            <a:off x="9794822" y="3690911"/>
            <a:ext cx="524312" cy="2294389"/>
          </a:xfrm>
          <a:custGeom>
            <a:avLst/>
            <a:gdLst>
              <a:gd name="csX0" fmla="*/ 524312 w 524312"/>
              <a:gd name="csY0" fmla="*/ 2294389 h 2294389"/>
              <a:gd name="csX1" fmla="*/ 524312 w 524312"/>
              <a:gd name="csY1" fmla="*/ 4194 h 2294389"/>
              <a:gd name="csX2" fmla="*/ 0 w 524312"/>
              <a:gd name="csY2" fmla="*/ 4194 h 2294389"/>
              <a:gd name="csX3" fmla="*/ 0 w 524312"/>
              <a:gd name="csY3" fmla="*/ 0 h 2294389"/>
            </a:gdLst>
            <a:ahLst/>
            <a:cxnLst>
              <a:cxn ang="0">
                <a:pos x="csX0" y="csY0"/>
              </a:cxn>
              <a:cxn ang="0">
                <a:pos x="csX1" y="csY1"/>
              </a:cxn>
              <a:cxn ang="0">
                <a:pos x="csX2" y="csY2"/>
              </a:cxn>
              <a:cxn ang="0">
                <a:pos x="csX3" y="csY3"/>
              </a:cxn>
            </a:cxnLst>
            <a:rect l="l" t="t" r="r" b="b"/>
            <a:pathLst>
              <a:path w="524312" h="2294389">
                <a:moveTo>
                  <a:pt x="524312" y="2294389"/>
                </a:moveTo>
                <a:lnTo>
                  <a:pt x="524312" y="4194"/>
                </a:lnTo>
                <a:lnTo>
                  <a:pt x="0" y="4194"/>
                </a:lnTo>
                <a:lnTo>
                  <a:pt x="0" y="0"/>
                </a:lnTo>
              </a:path>
            </a:pathLst>
          </a:custGeom>
          <a:no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03" name="Rectangle 102">
            <a:extLst>
              <a:ext uri="{FF2B5EF4-FFF2-40B4-BE49-F238E27FC236}">
                <a16:creationId xmlns:a16="http://schemas.microsoft.com/office/drawing/2014/main" id="{554905A6-09B4-0974-CB4D-0F365F7B9645}"/>
              </a:ext>
            </a:extLst>
          </p:cNvPr>
          <p:cNvSpPr/>
          <p:nvPr/>
        </p:nvSpPr>
        <p:spPr>
          <a:xfrm>
            <a:off x="8655272" y="1388132"/>
            <a:ext cx="616590" cy="32297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04" name="TextBox 103">
            <a:extLst>
              <a:ext uri="{FF2B5EF4-FFF2-40B4-BE49-F238E27FC236}">
                <a16:creationId xmlns:a16="http://schemas.microsoft.com/office/drawing/2014/main" id="{832F15E7-0721-ACD4-40B9-ACB55759187E}"/>
              </a:ext>
            </a:extLst>
          </p:cNvPr>
          <p:cNvSpPr txBox="1"/>
          <p:nvPr/>
        </p:nvSpPr>
        <p:spPr>
          <a:xfrm>
            <a:off x="8682363" y="1421527"/>
            <a:ext cx="550151" cy="276999"/>
          </a:xfrm>
          <a:prstGeom prst="rect">
            <a:avLst/>
          </a:prstGeom>
          <a:noFill/>
        </p:spPr>
        <p:txBody>
          <a:bodyPr wrap="none" rtlCol="0">
            <a:spAutoFit/>
          </a:bodyPr>
          <a:lstStyle/>
          <a:p>
            <a:r>
              <a:rPr lang="en-GB" sz="1200"/>
              <a:t>EXTI2</a:t>
            </a:r>
            <a:endParaRPr lang="LID4096" sz="1200"/>
          </a:p>
        </p:txBody>
      </p:sp>
      <p:sp>
        <p:nvSpPr>
          <p:cNvPr id="105" name="Rectangle 104">
            <a:extLst>
              <a:ext uri="{FF2B5EF4-FFF2-40B4-BE49-F238E27FC236}">
                <a16:creationId xmlns:a16="http://schemas.microsoft.com/office/drawing/2014/main" id="{28686450-885C-2926-C49E-86D2287180C5}"/>
              </a:ext>
            </a:extLst>
          </p:cNvPr>
          <p:cNvSpPr/>
          <p:nvPr/>
        </p:nvSpPr>
        <p:spPr>
          <a:xfrm>
            <a:off x="8044274" y="1388132"/>
            <a:ext cx="616590" cy="32297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06" name="TextBox 105">
            <a:extLst>
              <a:ext uri="{FF2B5EF4-FFF2-40B4-BE49-F238E27FC236}">
                <a16:creationId xmlns:a16="http://schemas.microsoft.com/office/drawing/2014/main" id="{84D25B0C-68BD-5412-20E8-4FFFAFF1DC88}"/>
              </a:ext>
            </a:extLst>
          </p:cNvPr>
          <p:cNvSpPr txBox="1"/>
          <p:nvPr/>
        </p:nvSpPr>
        <p:spPr>
          <a:xfrm>
            <a:off x="8071365" y="1421527"/>
            <a:ext cx="550151" cy="276999"/>
          </a:xfrm>
          <a:prstGeom prst="rect">
            <a:avLst/>
          </a:prstGeom>
          <a:noFill/>
        </p:spPr>
        <p:txBody>
          <a:bodyPr wrap="none" rtlCol="0">
            <a:spAutoFit/>
          </a:bodyPr>
          <a:lstStyle/>
          <a:p>
            <a:r>
              <a:rPr lang="en-GB" sz="1200"/>
              <a:t>EXTI3</a:t>
            </a:r>
            <a:endParaRPr lang="LID4096" sz="1200"/>
          </a:p>
        </p:txBody>
      </p:sp>
      <p:sp>
        <p:nvSpPr>
          <p:cNvPr id="107" name="TextBox 106">
            <a:extLst>
              <a:ext uri="{FF2B5EF4-FFF2-40B4-BE49-F238E27FC236}">
                <a16:creationId xmlns:a16="http://schemas.microsoft.com/office/drawing/2014/main" id="{B9983F29-7711-0059-00E7-11C9428D80A2}"/>
              </a:ext>
            </a:extLst>
          </p:cNvPr>
          <p:cNvSpPr txBox="1"/>
          <p:nvPr/>
        </p:nvSpPr>
        <p:spPr>
          <a:xfrm rot="5400000">
            <a:off x="8845786" y="2055842"/>
            <a:ext cx="381836" cy="369332"/>
          </a:xfrm>
          <a:prstGeom prst="rect">
            <a:avLst/>
          </a:prstGeom>
          <a:noFill/>
        </p:spPr>
        <p:txBody>
          <a:bodyPr wrap="none" rtlCol="0">
            <a:spAutoFit/>
          </a:bodyPr>
          <a:lstStyle/>
          <a:p>
            <a:r>
              <a:rPr lang="en-GB"/>
              <a:t>...</a:t>
            </a:r>
            <a:endParaRPr lang="LID4096"/>
          </a:p>
        </p:txBody>
      </p:sp>
      <p:sp>
        <p:nvSpPr>
          <p:cNvPr id="108" name="TextBox 107">
            <a:extLst>
              <a:ext uri="{FF2B5EF4-FFF2-40B4-BE49-F238E27FC236}">
                <a16:creationId xmlns:a16="http://schemas.microsoft.com/office/drawing/2014/main" id="{E5F64495-96CC-1CB9-68B0-1070F3A812DB}"/>
              </a:ext>
            </a:extLst>
          </p:cNvPr>
          <p:cNvSpPr txBox="1"/>
          <p:nvPr/>
        </p:nvSpPr>
        <p:spPr>
          <a:xfrm rot="5400000">
            <a:off x="8206015" y="2080115"/>
            <a:ext cx="381836" cy="369332"/>
          </a:xfrm>
          <a:prstGeom prst="rect">
            <a:avLst/>
          </a:prstGeom>
          <a:noFill/>
        </p:spPr>
        <p:txBody>
          <a:bodyPr wrap="none" rtlCol="0">
            <a:spAutoFit/>
          </a:bodyPr>
          <a:lstStyle/>
          <a:p>
            <a:r>
              <a:rPr lang="en-GB"/>
              <a:t>...</a:t>
            </a:r>
            <a:endParaRPr lang="LID4096"/>
          </a:p>
        </p:txBody>
      </p:sp>
      <p:sp>
        <p:nvSpPr>
          <p:cNvPr id="109" name="Rectangle 108">
            <a:extLst>
              <a:ext uri="{FF2B5EF4-FFF2-40B4-BE49-F238E27FC236}">
                <a16:creationId xmlns:a16="http://schemas.microsoft.com/office/drawing/2014/main" id="{16C06142-796E-3ABA-4112-4DDA791D1CE8}"/>
              </a:ext>
            </a:extLst>
          </p:cNvPr>
          <p:cNvSpPr/>
          <p:nvPr/>
        </p:nvSpPr>
        <p:spPr>
          <a:xfrm>
            <a:off x="8045718" y="1228742"/>
            <a:ext cx="2449585" cy="183836"/>
          </a:xfrm>
          <a:prstGeom prst="rect">
            <a:avLst/>
          </a:prstGeom>
          <a:solidFill>
            <a:schemeClr val="bg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10" name="TextBox 109">
            <a:extLst>
              <a:ext uri="{FF2B5EF4-FFF2-40B4-BE49-F238E27FC236}">
                <a16:creationId xmlns:a16="http://schemas.microsoft.com/office/drawing/2014/main" id="{FA27DE51-D254-B737-42FB-978B5704D3D7}"/>
              </a:ext>
            </a:extLst>
          </p:cNvPr>
          <p:cNvSpPr txBox="1"/>
          <p:nvPr/>
        </p:nvSpPr>
        <p:spPr>
          <a:xfrm>
            <a:off x="8763771" y="1192273"/>
            <a:ext cx="1031051" cy="246221"/>
          </a:xfrm>
          <a:prstGeom prst="rect">
            <a:avLst/>
          </a:prstGeom>
          <a:noFill/>
        </p:spPr>
        <p:txBody>
          <a:bodyPr wrap="none" rtlCol="0">
            <a:spAutoFit/>
          </a:bodyPr>
          <a:lstStyle/>
          <a:p>
            <a:r>
              <a:rPr lang="en-GB" sz="1000">
                <a:solidFill>
                  <a:schemeClr val="bg2"/>
                </a:solidFill>
                <a:latin typeface="Consolas" panose="020B0609020204030204" pitchFamily="49" charset="0"/>
              </a:rPr>
              <a:t>AFIO_EXTICR1</a:t>
            </a:r>
            <a:endParaRPr lang="LID4096" sz="1000">
              <a:solidFill>
                <a:schemeClr val="bg2"/>
              </a:solidFill>
              <a:latin typeface="Consolas" panose="020B0609020204030204" pitchFamily="49" charset="0"/>
            </a:endParaRPr>
          </a:p>
        </p:txBody>
      </p:sp>
      <p:sp>
        <p:nvSpPr>
          <p:cNvPr id="111" name="Rectangle 110">
            <a:extLst>
              <a:ext uri="{FF2B5EF4-FFF2-40B4-BE49-F238E27FC236}">
                <a16:creationId xmlns:a16="http://schemas.microsoft.com/office/drawing/2014/main" id="{6588B588-FC15-EA0F-6C29-7EEDB59F18DB}"/>
              </a:ext>
            </a:extLst>
          </p:cNvPr>
          <p:cNvSpPr/>
          <p:nvPr/>
        </p:nvSpPr>
        <p:spPr>
          <a:xfrm>
            <a:off x="7231672" y="1388132"/>
            <a:ext cx="616590" cy="32297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12" name="TextBox 111">
            <a:extLst>
              <a:ext uri="{FF2B5EF4-FFF2-40B4-BE49-F238E27FC236}">
                <a16:creationId xmlns:a16="http://schemas.microsoft.com/office/drawing/2014/main" id="{5F084A16-A905-98A9-0604-CC8845487B40}"/>
              </a:ext>
            </a:extLst>
          </p:cNvPr>
          <p:cNvSpPr txBox="1"/>
          <p:nvPr/>
        </p:nvSpPr>
        <p:spPr>
          <a:xfrm>
            <a:off x="7258763" y="1421527"/>
            <a:ext cx="550151" cy="276999"/>
          </a:xfrm>
          <a:prstGeom prst="rect">
            <a:avLst/>
          </a:prstGeom>
          <a:noFill/>
        </p:spPr>
        <p:txBody>
          <a:bodyPr wrap="none" rtlCol="0">
            <a:spAutoFit/>
          </a:bodyPr>
          <a:lstStyle/>
          <a:p>
            <a:r>
              <a:rPr lang="en-GB" sz="1200"/>
              <a:t>EXTI4</a:t>
            </a:r>
            <a:endParaRPr lang="LID4096" sz="1200"/>
          </a:p>
        </p:txBody>
      </p:sp>
      <p:sp>
        <p:nvSpPr>
          <p:cNvPr id="113" name="Rectangle 112">
            <a:extLst>
              <a:ext uri="{FF2B5EF4-FFF2-40B4-BE49-F238E27FC236}">
                <a16:creationId xmlns:a16="http://schemas.microsoft.com/office/drawing/2014/main" id="{4C0214BF-5954-C957-5520-9C57B249B190}"/>
              </a:ext>
            </a:extLst>
          </p:cNvPr>
          <p:cNvSpPr/>
          <p:nvPr/>
        </p:nvSpPr>
        <p:spPr>
          <a:xfrm>
            <a:off x="6619229" y="1388132"/>
            <a:ext cx="616590" cy="32297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14" name="TextBox 113">
            <a:extLst>
              <a:ext uri="{FF2B5EF4-FFF2-40B4-BE49-F238E27FC236}">
                <a16:creationId xmlns:a16="http://schemas.microsoft.com/office/drawing/2014/main" id="{596A682C-8AB0-58D3-A48E-BAE16E889E62}"/>
              </a:ext>
            </a:extLst>
          </p:cNvPr>
          <p:cNvSpPr txBox="1"/>
          <p:nvPr/>
        </p:nvSpPr>
        <p:spPr>
          <a:xfrm>
            <a:off x="6646320" y="1421527"/>
            <a:ext cx="550151" cy="276999"/>
          </a:xfrm>
          <a:prstGeom prst="rect">
            <a:avLst/>
          </a:prstGeom>
          <a:noFill/>
        </p:spPr>
        <p:txBody>
          <a:bodyPr wrap="none" rtlCol="0">
            <a:spAutoFit/>
          </a:bodyPr>
          <a:lstStyle/>
          <a:p>
            <a:r>
              <a:rPr lang="en-GB" sz="1200"/>
              <a:t>EXTI5</a:t>
            </a:r>
            <a:endParaRPr lang="LID4096" sz="1200"/>
          </a:p>
        </p:txBody>
      </p:sp>
      <p:sp>
        <p:nvSpPr>
          <p:cNvPr id="115" name="Rectangle 114">
            <a:extLst>
              <a:ext uri="{FF2B5EF4-FFF2-40B4-BE49-F238E27FC236}">
                <a16:creationId xmlns:a16="http://schemas.microsoft.com/office/drawing/2014/main" id="{68845A80-057F-BCE5-5C73-0BEC1DA1B3D0}"/>
              </a:ext>
            </a:extLst>
          </p:cNvPr>
          <p:cNvSpPr/>
          <p:nvPr/>
        </p:nvSpPr>
        <p:spPr>
          <a:xfrm>
            <a:off x="6008231" y="1388132"/>
            <a:ext cx="616590" cy="32297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16" name="TextBox 115">
            <a:extLst>
              <a:ext uri="{FF2B5EF4-FFF2-40B4-BE49-F238E27FC236}">
                <a16:creationId xmlns:a16="http://schemas.microsoft.com/office/drawing/2014/main" id="{BC145043-CAE3-0AB1-611C-1943331551B2}"/>
              </a:ext>
            </a:extLst>
          </p:cNvPr>
          <p:cNvSpPr txBox="1"/>
          <p:nvPr/>
        </p:nvSpPr>
        <p:spPr>
          <a:xfrm>
            <a:off x="6035322" y="1421527"/>
            <a:ext cx="550151" cy="276999"/>
          </a:xfrm>
          <a:prstGeom prst="rect">
            <a:avLst/>
          </a:prstGeom>
          <a:noFill/>
        </p:spPr>
        <p:txBody>
          <a:bodyPr wrap="none" rtlCol="0">
            <a:spAutoFit/>
          </a:bodyPr>
          <a:lstStyle/>
          <a:p>
            <a:r>
              <a:rPr lang="en-GB" sz="1200"/>
              <a:t>EXTI6</a:t>
            </a:r>
            <a:endParaRPr lang="LID4096" sz="1200"/>
          </a:p>
        </p:txBody>
      </p:sp>
      <p:sp>
        <p:nvSpPr>
          <p:cNvPr id="117" name="Rectangle 116">
            <a:extLst>
              <a:ext uri="{FF2B5EF4-FFF2-40B4-BE49-F238E27FC236}">
                <a16:creationId xmlns:a16="http://schemas.microsoft.com/office/drawing/2014/main" id="{A3A12CDD-EAAC-DBC7-CD8C-C7A4CF6FA7FA}"/>
              </a:ext>
            </a:extLst>
          </p:cNvPr>
          <p:cNvSpPr/>
          <p:nvPr/>
        </p:nvSpPr>
        <p:spPr>
          <a:xfrm>
            <a:off x="5397233" y="1388132"/>
            <a:ext cx="616590" cy="32297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18" name="TextBox 117">
            <a:extLst>
              <a:ext uri="{FF2B5EF4-FFF2-40B4-BE49-F238E27FC236}">
                <a16:creationId xmlns:a16="http://schemas.microsoft.com/office/drawing/2014/main" id="{76C70C5D-BB39-DA6D-A56E-8734913D67B9}"/>
              </a:ext>
            </a:extLst>
          </p:cNvPr>
          <p:cNvSpPr txBox="1"/>
          <p:nvPr/>
        </p:nvSpPr>
        <p:spPr>
          <a:xfrm>
            <a:off x="5424324" y="1421527"/>
            <a:ext cx="550151" cy="276999"/>
          </a:xfrm>
          <a:prstGeom prst="rect">
            <a:avLst/>
          </a:prstGeom>
          <a:noFill/>
        </p:spPr>
        <p:txBody>
          <a:bodyPr wrap="none" rtlCol="0">
            <a:spAutoFit/>
          </a:bodyPr>
          <a:lstStyle/>
          <a:p>
            <a:r>
              <a:rPr lang="en-GB" sz="1200"/>
              <a:t>EXTI7</a:t>
            </a:r>
            <a:endParaRPr lang="LID4096" sz="1200"/>
          </a:p>
        </p:txBody>
      </p:sp>
      <p:sp>
        <p:nvSpPr>
          <p:cNvPr id="119" name="Rectangle 118">
            <a:extLst>
              <a:ext uri="{FF2B5EF4-FFF2-40B4-BE49-F238E27FC236}">
                <a16:creationId xmlns:a16="http://schemas.microsoft.com/office/drawing/2014/main" id="{FAE18D3B-28CB-B7DD-B4E3-97FF3C4AAF07}"/>
              </a:ext>
            </a:extLst>
          </p:cNvPr>
          <p:cNvSpPr/>
          <p:nvPr/>
        </p:nvSpPr>
        <p:spPr>
          <a:xfrm>
            <a:off x="5398677" y="1228742"/>
            <a:ext cx="2449585" cy="183836"/>
          </a:xfrm>
          <a:prstGeom prst="rect">
            <a:avLst/>
          </a:prstGeom>
          <a:solidFill>
            <a:schemeClr val="bg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0" name="TextBox 119">
            <a:extLst>
              <a:ext uri="{FF2B5EF4-FFF2-40B4-BE49-F238E27FC236}">
                <a16:creationId xmlns:a16="http://schemas.microsoft.com/office/drawing/2014/main" id="{7A48EE5A-3AD6-B082-3406-077F080A895A}"/>
              </a:ext>
            </a:extLst>
          </p:cNvPr>
          <p:cNvSpPr txBox="1"/>
          <p:nvPr/>
        </p:nvSpPr>
        <p:spPr>
          <a:xfrm>
            <a:off x="6116730" y="1192273"/>
            <a:ext cx="1031051" cy="246221"/>
          </a:xfrm>
          <a:prstGeom prst="rect">
            <a:avLst/>
          </a:prstGeom>
          <a:noFill/>
        </p:spPr>
        <p:txBody>
          <a:bodyPr wrap="none" rtlCol="0">
            <a:spAutoFit/>
          </a:bodyPr>
          <a:lstStyle/>
          <a:p>
            <a:r>
              <a:rPr lang="en-GB" sz="1000">
                <a:solidFill>
                  <a:schemeClr val="bg2"/>
                </a:solidFill>
                <a:latin typeface="Consolas" panose="020B0609020204030204" pitchFamily="49" charset="0"/>
              </a:rPr>
              <a:t>AFIO_EXTICR2</a:t>
            </a:r>
            <a:endParaRPr lang="LID4096" sz="1000">
              <a:solidFill>
                <a:schemeClr val="bg2"/>
              </a:solidFill>
              <a:latin typeface="Consolas" panose="020B0609020204030204" pitchFamily="49" charset="0"/>
            </a:endParaRPr>
          </a:p>
        </p:txBody>
      </p:sp>
      <p:sp>
        <p:nvSpPr>
          <p:cNvPr id="121" name="Rectangle 120">
            <a:extLst>
              <a:ext uri="{FF2B5EF4-FFF2-40B4-BE49-F238E27FC236}">
                <a16:creationId xmlns:a16="http://schemas.microsoft.com/office/drawing/2014/main" id="{A7FDAF22-6FD8-5C05-07B9-3EEE9632039C}"/>
              </a:ext>
            </a:extLst>
          </p:cNvPr>
          <p:cNvSpPr/>
          <p:nvPr/>
        </p:nvSpPr>
        <p:spPr>
          <a:xfrm>
            <a:off x="10802122" y="6420385"/>
            <a:ext cx="908134" cy="215444"/>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2" name="Rectangle 121">
            <a:extLst>
              <a:ext uri="{FF2B5EF4-FFF2-40B4-BE49-F238E27FC236}">
                <a16:creationId xmlns:a16="http://schemas.microsoft.com/office/drawing/2014/main" id="{6ECF6A32-CCA4-BF8A-1618-0DA816F3DFEA}"/>
              </a:ext>
            </a:extLst>
          </p:cNvPr>
          <p:cNvSpPr/>
          <p:nvPr/>
        </p:nvSpPr>
        <p:spPr>
          <a:xfrm rot="10800000">
            <a:off x="10820558" y="1885826"/>
            <a:ext cx="908134" cy="215444"/>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3" name="Rectangle 122">
            <a:extLst>
              <a:ext uri="{FF2B5EF4-FFF2-40B4-BE49-F238E27FC236}">
                <a16:creationId xmlns:a16="http://schemas.microsoft.com/office/drawing/2014/main" id="{750D1512-682D-D0F7-1123-86EDEFA2FBE8}"/>
              </a:ext>
            </a:extLst>
          </p:cNvPr>
          <p:cNvSpPr/>
          <p:nvPr/>
        </p:nvSpPr>
        <p:spPr>
          <a:xfrm rot="5400000">
            <a:off x="5819793" y="216258"/>
            <a:ext cx="1239500" cy="3109219"/>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4" name="TextBox 123">
            <a:extLst>
              <a:ext uri="{FF2B5EF4-FFF2-40B4-BE49-F238E27FC236}">
                <a16:creationId xmlns:a16="http://schemas.microsoft.com/office/drawing/2014/main" id="{466335D0-C4C3-0321-78C4-F0B9B70FEF6F}"/>
              </a:ext>
            </a:extLst>
          </p:cNvPr>
          <p:cNvSpPr txBox="1"/>
          <p:nvPr/>
        </p:nvSpPr>
        <p:spPr>
          <a:xfrm>
            <a:off x="7345238" y="3059155"/>
            <a:ext cx="1236729" cy="3064563"/>
          </a:xfrm>
          <a:prstGeom prst="rect">
            <a:avLst/>
          </a:prstGeom>
          <a:solidFill>
            <a:schemeClr val="accent6">
              <a:lumMod val="40000"/>
              <a:lumOff val="60000"/>
            </a:schemeClr>
          </a:solidFill>
          <a:ln>
            <a:solidFill>
              <a:schemeClr val="accent6">
                <a:lumMod val="75000"/>
              </a:schemeClr>
            </a:solidFill>
          </a:ln>
        </p:spPr>
        <p:txBody>
          <a:bodyPr wrap="square" rtlCol="0">
            <a:noAutofit/>
          </a:bodyPr>
          <a:lstStyle/>
          <a:p>
            <a:pPr algn="ctr"/>
            <a:r>
              <a:rPr lang="en-US"/>
              <a:t>EXTI</a:t>
            </a:r>
            <a:br>
              <a:rPr lang="en-US"/>
            </a:br>
            <a:endParaRPr lang="en-US" sz="1050"/>
          </a:p>
        </p:txBody>
      </p:sp>
      <p:sp>
        <p:nvSpPr>
          <p:cNvPr id="125" name="TextBox 124">
            <a:extLst>
              <a:ext uri="{FF2B5EF4-FFF2-40B4-BE49-F238E27FC236}">
                <a16:creationId xmlns:a16="http://schemas.microsoft.com/office/drawing/2014/main" id="{1A7E4A85-2B3E-749D-6411-C8A836009A13}"/>
              </a:ext>
            </a:extLst>
          </p:cNvPr>
          <p:cNvSpPr txBox="1"/>
          <p:nvPr/>
        </p:nvSpPr>
        <p:spPr>
          <a:xfrm>
            <a:off x="7982968" y="3435239"/>
            <a:ext cx="593327" cy="2677656"/>
          </a:xfrm>
          <a:prstGeom prst="rect">
            <a:avLst/>
          </a:prstGeom>
          <a:noFill/>
        </p:spPr>
        <p:txBody>
          <a:bodyPr wrap="square">
            <a:spAutoFit/>
          </a:bodyPr>
          <a:lstStyle/>
          <a:p>
            <a:pPr algn="r"/>
            <a:r>
              <a:rPr lang="en-US" sz="1050"/>
              <a:t>EXTI0</a:t>
            </a:r>
            <a:br>
              <a:rPr lang="en-US" sz="1050"/>
            </a:br>
            <a:r>
              <a:rPr lang="en-US" sz="1050"/>
              <a:t>EXTI1</a:t>
            </a:r>
            <a:br>
              <a:rPr lang="en-US" sz="1050"/>
            </a:br>
            <a:r>
              <a:rPr lang="en-US" sz="1050"/>
              <a:t>EXTI2</a:t>
            </a:r>
            <a:br>
              <a:rPr lang="en-US" sz="1050"/>
            </a:br>
            <a:r>
              <a:rPr lang="en-US" sz="1050"/>
              <a:t>EXTI3</a:t>
            </a:r>
            <a:br>
              <a:rPr lang="en-US" sz="1050"/>
            </a:br>
            <a:r>
              <a:rPr lang="en-US" sz="1050"/>
              <a:t>EXTI4</a:t>
            </a:r>
          </a:p>
          <a:p>
            <a:pPr algn="r"/>
            <a:r>
              <a:rPr lang="en-US" sz="1050"/>
              <a:t>EXTI5</a:t>
            </a:r>
            <a:br>
              <a:rPr lang="en-US" sz="1050"/>
            </a:br>
            <a:r>
              <a:rPr lang="en-US" sz="1050"/>
              <a:t>EXTI6</a:t>
            </a:r>
            <a:br>
              <a:rPr lang="en-US" sz="1050"/>
            </a:br>
            <a:r>
              <a:rPr lang="en-US" sz="1050"/>
              <a:t>EXTI7</a:t>
            </a:r>
            <a:br>
              <a:rPr lang="en-US" sz="1050"/>
            </a:br>
            <a:r>
              <a:rPr lang="en-US" sz="1050"/>
              <a:t>EXTI8</a:t>
            </a:r>
            <a:br>
              <a:rPr lang="en-US" sz="1050"/>
            </a:br>
            <a:r>
              <a:rPr lang="en-US" sz="1050"/>
              <a:t>EXTI9</a:t>
            </a:r>
            <a:br>
              <a:rPr lang="en-US" sz="1050"/>
            </a:br>
            <a:r>
              <a:rPr lang="en-US" sz="1050"/>
              <a:t>EXTI10</a:t>
            </a:r>
            <a:br>
              <a:rPr lang="en-US" sz="1050"/>
            </a:br>
            <a:r>
              <a:rPr lang="en-US" sz="1050"/>
              <a:t>EXTI11</a:t>
            </a:r>
            <a:br>
              <a:rPr lang="en-US" sz="1050"/>
            </a:br>
            <a:r>
              <a:rPr lang="en-US" sz="1050"/>
              <a:t>EXTI12</a:t>
            </a:r>
            <a:br>
              <a:rPr lang="en-US" sz="1050"/>
            </a:br>
            <a:r>
              <a:rPr lang="en-US" sz="1050"/>
              <a:t>EXTI13</a:t>
            </a:r>
            <a:br>
              <a:rPr lang="en-US" sz="1050"/>
            </a:br>
            <a:r>
              <a:rPr lang="en-US" sz="1050"/>
              <a:t>EXTI14</a:t>
            </a:r>
            <a:br>
              <a:rPr lang="en-US" sz="1050"/>
            </a:br>
            <a:r>
              <a:rPr lang="en-US" sz="1050"/>
              <a:t>EXTI15</a:t>
            </a:r>
            <a:endParaRPr lang="LID4096" sz="3600" dirty="0"/>
          </a:p>
        </p:txBody>
      </p:sp>
      <p:sp>
        <p:nvSpPr>
          <p:cNvPr id="126" name="Freeform: Shape 125">
            <a:extLst>
              <a:ext uri="{FF2B5EF4-FFF2-40B4-BE49-F238E27FC236}">
                <a16:creationId xmlns:a16="http://schemas.microsoft.com/office/drawing/2014/main" id="{545155FB-0244-E2D3-9BE0-11C93332C5DA}"/>
              </a:ext>
            </a:extLst>
          </p:cNvPr>
          <p:cNvSpPr/>
          <p:nvPr/>
        </p:nvSpPr>
        <p:spPr>
          <a:xfrm>
            <a:off x="8591002" y="3615410"/>
            <a:ext cx="775982" cy="109057"/>
          </a:xfrm>
          <a:custGeom>
            <a:avLst/>
            <a:gdLst>
              <a:gd name="csX0" fmla="*/ 775982 w 775982"/>
              <a:gd name="csY0" fmla="*/ 0 h 109057"/>
              <a:gd name="csX1" fmla="*/ 515923 w 775982"/>
              <a:gd name="csY1" fmla="*/ 0 h 109057"/>
              <a:gd name="csX2" fmla="*/ 515923 w 775982"/>
              <a:gd name="csY2" fmla="*/ 109057 h 109057"/>
              <a:gd name="csX3" fmla="*/ 0 w 775982"/>
              <a:gd name="csY3" fmla="*/ 109057 h 109057"/>
            </a:gdLst>
            <a:ahLst/>
            <a:cxnLst>
              <a:cxn ang="0">
                <a:pos x="csX0" y="csY0"/>
              </a:cxn>
              <a:cxn ang="0">
                <a:pos x="csX1" y="csY1"/>
              </a:cxn>
              <a:cxn ang="0">
                <a:pos x="csX2" y="csY2"/>
              </a:cxn>
              <a:cxn ang="0">
                <a:pos x="csX3" y="csY3"/>
              </a:cxn>
            </a:cxnLst>
            <a:rect l="l" t="t" r="r" b="b"/>
            <a:pathLst>
              <a:path w="775982" h="109057">
                <a:moveTo>
                  <a:pt x="775982" y="0"/>
                </a:moveTo>
                <a:lnTo>
                  <a:pt x="515923" y="0"/>
                </a:lnTo>
                <a:lnTo>
                  <a:pt x="515923" y="109057"/>
                </a:lnTo>
                <a:lnTo>
                  <a:pt x="0" y="109057"/>
                </a:lnTo>
              </a:path>
            </a:pathLst>
          </a:custGeom>
          <a:noFill/>
          <a:ln w="50800">
            <a:solidFill>
              <a:schemeClr val="accent6">
                <a:lumMod val="75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127" name="Straight Arrow Connector 126">
            <a:extLst>
              <a:ext uri="{FF2B5EF4-FFF2-40B4-BE49-F238E27FC236}">
                <a16:creationId xmlns:a16="http://schemas.microsoft.com/office/drawing/2014/main" id="{B6B73908-35E1-ADF2-E8E0-25822F680B47}"/>
              </a:ext>
            </a:extLst>
          </p:cNvPr>
          <p:cNvCxnSpPr/>
          <p:nvPr/>
        </p:nvCxnSpPr>
        <p:spPr>
          <a:xfrm flipH="1">
            <a:off x="8582613" y="3871274"/>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8" name="Straight Arrow Connector 127">
            <a:extLst>
              <a:ext uri="{FF2B5EF4-FFF2-40B4-BE49-F238E27FC236}">
                <a16:creationId xmlns:a16="http://schemas.microsoft.com/office/drawing/2014/main" id="{344D78B9-8A0D-5F93-B3FC-4989B6F51029}"/>
              </a:ext>
            </a:extLst>
          </p:cNvPr>
          <p:cNvCxnSpPr/>
          <p:nvPr/>
        </p:nvCxnSpPr>
        <p:spPr>
          <a:xfrm flipH="1">
            <a:off x="8582613" y="4025771"/>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9" name="Straight Arrow Connector 128">
            <a:extLst>
              <a:ext uri="{FF2B5EF4-FFF2-40B4-BE49-F238E27FC236}">
                <a16:creationId xmlns:a16="http://schemas.microsoft.com/office/drawing/2014/main" id="{E3411699-1CD6-D638-5056-F62C540249F8}"/>
              </a:ext>
            </a:extLst>
          </p:cNvPr>
          <p:cNvCxnSpPr/>
          <p:nvPr/>
        </p:nvCxnSpPr>
        <p:spPr>
          <a:xfrm flipH="1">
            <a:off x="8579442" y="4201242"/>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0" name="Straight Arrow Connector 129">
            <a:extLst>
              <a:ext uri="{FF2B5EF4-FFF2-40B4-BE49-F238E27FC236}">
                <a16:creationId xmlns:a16="http://schemas.microsoft.com/office/drawing/2014/main" id="{7C2FCB8B-842D-D023-B990-EE4C51780001}"/>
              </a:ext>
            </a:extLst>
          </p:cNvPr>
          <p:cNvCxnSpPr/>
          <p:nvPr/>
        </p:nvCxnSpPr>
        <p:spPr>
          <a:xfrm flipH="1">
            <a:off x="8579442" y="4362729"/>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1" name="Straight Arrow Connector 130">
            <a:extLst>
              <a:ext uri="{FF2B5EF4-FFF2-40B4-BE49-F238E27FC236}">
                <a16:creationId xmlns:a16="http://schemas.microsoft.com/office/drawing/2014/main" id="{F32FF355-BC03-73D3-0483-A4145091279C}"/>
              </a:ext>
            </a:extLst>
          </p:cNvPr>
          <p:cNvCxnSpPr/>
          <p:nvPr/>
        </p:nvCxnSpPr>
        <p:spPr>
          <a:xfrm flipH="1">
            <a:off x="8579442" y="4521023"/>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2" name="Straight Arrow Connector 131">
            <a:extLst>
              <a:ext uri="{FF2B5EF4-FFF2-40B4-BE49-F238E27FC236}">
                <a16:creationId xmlns:a16="http://schemas.microsoft.com/office/drawing/2014/main" id="{4637A418-36A8-9E31-BA71-43EF45D842BB}"/>
              </a:ext>
            </a:extLst>
          </p:cNvPr>
          <p:cNvCxnSpPr/>
          <p:nvPr/>
        </p:nvCxnSpPr>
        <p:spPr>
          <a:xfrm flipH="1">
            <a:off x="8579442" y="4684587"/>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33" name="Rectangle 132">
            <a:extLst>
              <a:ext uri="{FF2B5EF4-FFF2-40B4-BE49-F238E27FC236}">
                <a16:creationId xmlns:a16="http://schemas.microsoft.com/office/drawing/2014/main" id="{64BF7373-65AD-7D75-3AE0-6E2F61CD5F53}"/>
              </a:ext>
            </a:extLst>
          </p:cNvPr>
          <p:cNvSpPr/>
          <p:nvPr/>
        </p:nvSpPr>
        <p:spPr>
          <a:xfrm>
            <a:off x="8591001" y="4150818"/>
            <a:ext cx="908134" cy="647781"/>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34" name="TextBox 133">
            <a:extLst>
              <a:ext uri="{FF2B5EF4-FFF2-40B4-BE49-F238E27FC236}">
                <a16:creationId xmlns:a16="http://schemas.microsoft.com/office/drawing/2014/main" id="{BBF3D4C7-6B83-985D-320D-0A9C60894E94}"/>
              </a:ext>
            </a:extLst>
          </p:cNvPr>
          <p:cNvSpPr txBox="1"/>
          <p:nvPr/>
        </p:nvSpPr>
        <p:spPr>
          <a:xfrm>
            <a:off x="7336800" y="3435239"/>
            <a:ext cx="849594" cy="1223412"/>
          </a:xfrm>
          <a:prstGeom prst="rect">
            <a:avLst/>
          </a:prstGeom>
          <a:noFill/>
        </p:spPr>
        <p:txBody>
          <a:bodyPr wrap="square">
            <a:spAutoFit/>
          </a:bodyPr>
          <a:lstStyle/>
          <a:p>
            <a:r>
              <a:rPr lang="en-US" sz="1050"/>
              <a:t>EXTI0</a:t>
            </a:r>
            <a:br>
              <a:rPr lang="en-US" sz="1050"/>
            </a:br>
            <a:r>
              <a:rPr lang="en-US" sz="1050"/>
              <a:t>EXTI1</a:t>
            </a:r>
            <a:br>
              <a:rPr lang="en-US" sz="1050"/>
            </a:br>
            <a:r>
              <a:rPr lang="en-US" sz="1050"/>
              <a:t>EXTI2</a:t>
            </a:r>
            <a:br>
              <a:rPr lang="en-US" sz="1050"/>
            </a:br>
            <a:r>
              <a:rPr lang="en-US" sz="1050"/>
              <a:t>EXTI3</a:t>
            </a:r>
            <a:br>
              <a:rPr lang="en-US" sz="1050"/>
            </a:br>
            <a:r>
              <a:rPr lang="en-US" sz="1050"/>
              <a:t>EXTI4</a:t>
            </a:r>
          </a:p>
          <a:p>
            <a:r>
              <a:rPr lang="en-US" sz="1050"/>
              <a:t>EXTI5_9</a:t>
            </a:r>
            <a:br>
              <a:rPr lang="en-US" sz="1050"/>
            </a:br>
            <a:r>
              <a:rPr lang="en-US" sz="1050"/>
              <a:t>EXTI10_15</a:t>
            </a:r>
          </a:p>
        </p:txBody>
      </p:sp>
      <p:sp>
        <p:nvSpPr>
          <p:cNvPr id="135" name="TextBox 134">
            <a:extLst>
              <a:ext uri="{FF2B5EF4-FFF2-40B4-BE49-F238E27FC236}">
                <a16:creationId xmlns:a16="http://schemas.microsoft.com/office/drawing/2014/main" id="{D66EB868-075D-2ED9-8ED2-8A98C1130C02}"/>
              </a:ext>
            </a:extLst>
          </p:cNvPr>
          <p:cNvSpPr txBox="1"/>
          <p:nvPr/>
        </p:nvSpPr>
        <p:spPr>
          <a:xfrm>
            <a:off x="4025651" y="3050231"/>
            <a:ext cx="2535215" cy="1761580"/>
          </a:xfrm>
          <a:prstGeom prst="rect">
            <a:avLst/>
          </a:prstGeom>
          <a:solidFill>
            <a:schemeClr val="accent1">
              <a:lumMod val="60000"/>
              <a:lumOff val="40000"/>
            </a:schemeClr>
          </a:solidFill>
          <a:ln>
            <a:solidFill>
              <a:schemeClr val="tx2">
                <a:lumMod val="75000"/>
                <a:lumOff val="25000"/>
              </a:schemeClr>
            </a:solidFill>
          </a:ln>
        </p:spPr>
        <p:txBody>
          <a:bodyPr wrap="square" rtlCol="0">
            <a:noAutofit/>
          </a:bodyPr>
          <a:lstStyle/>
          <a:p>
            <a:pPr algn="ctr"/>
            <a:endParaRPr lang="en-US" sz="3600"/>
          </a:p>
          <a:p>
            <a:pPr algn="ctr"/>
            <a:r>
              <a:rPr lang="en-US" sz="3600"/>
              <a:t>PFIC</a:t>
            </a:r>
            <a:endParaRPr lang="LID4096" sz="6000" dirty="0"/>
          </a:p>
        </p:txBody>
      </p:sp>
      <p:pic>
        <p:nvPicPr>
          <p:cNvPr id="3" name="Picture 2">
            <a:extLst>
              <a:ext uri="{FF2B5EF4-FFF2-40B4-BE49-F238E27FC236}">
                <a16:creationId xmlns:a16="http://schemas.microsoft.com/office/drawing/2014/main" id="{8E35E196-9FEE-DEBE-35DA-347D25C0A4FA}"/>
              </a:ext>
            </a:extLst>
          </p:cNvPr>
          <p:cNvPicPr>
            <a:picLocks noChangeAspect="1"/>
          </p:cNvPicPr>
          <p:nvPr/>
        </p:nvPicPr>
        <p:blipFill>
          <a:blip r:embed="rId3"/>
          <a:stretch>
            <a:fillRect/>
          </a:stretch>
        </p:blipFill>
        <p:spPr>
          <a:xfrm>
            <a:off x="278232" y="5024147"/>
            <a:ext cx="3376395" cy="1532569"/>
          </a:xfrm>
          <a:prstGeom prst="rect">
            <a:avLst/>
          </a:prstGeom>
          <a:ln>
            <a:solidFill>
              <a:schemeClr val="tx1"/>
            </a:solidFill>
          </a:ln>
          <a:effectLst>
            <a:outerShdw blurRad="50800" dist="38100" dir="2700000" algn="tl" rotWithShape="0">
              <a:prstClr val="black">
                <a:alpha val="40000"/>
              </a:prstClr>
            </a:outerShdw>
          </a:effectLst>
        </p:spPr>
      </p:pic>
      <p:grpSp>
        <p:nvGrpSpPr>
          <p:cNvPr id="137" name="Group 136">
            <a:extLst>
              <a:ext uri="{FF2B5EF4-FFF2-40B4-BE49-F238E27FC236}">
                <a16:creationId xmlns:a16="http://schemas.microsoft.com/office/drawing/2014/main" id="{21B0C986-BA5C-C88E-A671-2C659D90A6E6}"/>
              </a:ext>
            </a:extLst>
          </p:cNvPr>
          <p:cNvGrpSpPr/>
          <p:nvPr/>
        </p:nvGrpSpPr>
        <p:grpSpPr>
          <a:xfrm>
            <a:off x="1945482" y="5919377"/>
            <a:ext cx="1356140" cy="512177"/>
            <a:chOff x="1945482" y="5919377"/>
            <a:chExt cx="1356140" cy="512177"/>
          </a:xfrm>
        </p:grpSpPr>
        <p:sp>
          <p:nvSpPr>
            <p:cNvPr id="138" name="TextBox 137">
              <a:extLst>
                <a:ext uri="{FF2B5EF4-FFF2-40B4-BE49-F238E27FC236}">
                  <a16:creationId xmlns:a16="http://schemas.microsoft.com/office/drawing/2014/main" id="{C2D8F40B-703F-2EE0-BE2D-9C4305AA9A1C}"/>
                </a:ext>
              </a:extLst>
            </p:cNvPr>
            <p:cNvSpPr txBox="1"/>
            <p:nvPr/>
          </p:nvSpPr>
          <p:spPr>
            <a:xfrm>
              <a:off x="2888457" y="5919377"/>
              <a:ext cx="386644" cy="169277"/>
            </a:xfrm>
            <a:prstGeom prst="rect">
              <a:avLst/>
            </a:prstGeom>
            <a:noFill/>
          </p:spPr>
          <p:txBody>
            <a:bodyPr wrap="none" rtlCol="0">
              <a:spAutoFit/>
            </a:bodyPr>
            <a:lstStyle/>
            <a:p>
              <a:r>
                <a:rPr lang="sv-SE" sz="500" dirty="0"/>
                <a:t>pinne 0</a:t>
              </a:r>
              <a:endParaRPr lang="LID4096" sz="500" dirty="0"/>
            </a:p>
          </p:txBody>
        </p:sp>
        <p:sp>
          <p:nvSpPr>
            <p:cNvPr id="139" name="TextBox 138">
              <a:extLst>
                <a:ext uri="{FF2B5EF4-FFF2-40B4-BE49-F238E27FC236}">
                  <a16:creationId xmlns:a16="http://schemas.microsoft.com/office/drawing/2014/main" id="{81F3E79F-8AA6-94E3-20A2-8D36BAAFD30B}"/>
                </a:ext>
              </a:extLst>
            </p:cNvPr>
            <p:cNvSpPr txBox="1"/>
            <p:nvPr/>
          </p:nvSpPr>
          <p:spPr>
            <a:xfrm>
              <a:off x="2576513" y="5919377"/>
              <a:ext cx="386644" cy="169277"/>
            </a:xfrm>
            <a:prstGeom prst="rect">
              <a:avLst/>
            </a:prstGeom>
            <a:noFill/>
          </p:spPr>
          <p:txBody>
            <a:bodyPr wrap="none" rtlCol="0">
              <a:spAutoFit/>
            </a:bodyPr>
            <a:lstStyle/>
            <a:p>
              <a:r>
                <a:rPr lang="sv-SE" sz="500" dirty="0"/>
                <a:t>pinne 1</a:t>
              </a:r>
              <a:endParaRPr lang="LID4096" sz="500" dirty="0"/>
            </a:p>
          </p:txBody>
        </p:sp>
        <p:sp>
          <p:nvSpPr>
            <p:cNvPr id="140" name="TextBox 139">
              <a:extLst>
                <a:ext uri="{FF2B5EF4-FFF2-40B4-BE49-F238E27FC236}">
                  <a16:creationId xmlns:a16="http://schemas.microsoft.com/office/drawing/2014/main" id="{3940DB9C-5F7C-ABA2-FF46-DF0A2897F20D}"/>
                </a:ext>
              </a:extLst>
            </p:cNvPr>
            <p:cNvSpPr txBox="1"/>
            <p:nvPr/>
          </p:nvSpPr>
          <p:spPr>
            <a:xfrm>
              <a:off x="2264569" y="5919377"/>
              <a:ext cx="386644" cy="169277"/>
            </a:xfrm>
            <a:prstGeom prst="rect">
              <a:avLst/>
            </a:prstGeom>
            <a:noFill/>
          </p:spPr>
          <p:txBody>
            <a:bodyPr wrap="none" rtlCol="0">
              <a:spAutoFit/>
            </a:bodyPr>
            <a:lstStyle/>
            <a:p>
              <a:r>
                <a:rPr lang="sv-SE" sz="500" dirty="0"/>
                <a:t>pinne 2</a:t>
              </a:r>
              <a:endParaRPr lang="LID4096" sz="500" dirty="0"/>
            </a:p>
          </p:txBody>
        </p:sp>
        <p:sp>
          <p:nvSpPr>
            <p:cNvPr id="141" name="TextBox 140">
              <a:extLst>
                <a:ext uri="{FF2B5EF4-FFF2-40B4-BE49-F238E27FC236}">
                  <a16:creationId xmlns:a16="http://schemas.microsoft.com/office/drawing/2014/main" id="{A19205BC-3BFE-A000-8803-82D6C69278C2}"/>
                </a:ext>
              </a:extLst>
            </p:cNvPr>
            <p:cNvSpPr txBox="1"/>
            <p:nvPr/>
          </p:nvSpPr>
          <p:spPr>
            <a:xfrm>
              <a:off x="1952625" y="5919377"/>
              <a:ext cx="386644" cy="169277"/>
            </a:xfrm>
            <a:prstGeom prst="rect">
              <a:avLst/>
            </a:prstGeom>
            <a:noFill/>
          </p:spPr>
          <p:txBody>
            <a:bodyPr wrap="none" rtlCol="0">
              <a:spAutoFit/>
            </a:bodyPr>
            <a:lstStyle/>
            <a:p>
              <a:r>
                <a:rPr lang="sv-SE" sz="500" dirty="0"/>
                <a:t>pinne 3</a:t>
              </a:r>
              <a:endParaRPr lang="LID4096" sz="500" dirty="0"/>
            </a:p>
          </p:txBody>
        </p:sp>
        <p:sp>
          <p:nvSpPr>
            <p:cNvPr id="142" name="TextBox 141">
              <a:extLst>
                <a:ext uri="{FF2B5EF4-FFF2-40B4-BE49-F238E27FC236}">
                  <a16:creationId xmlns:a16="http://schemas.microsoft.com/office/drawing/2014/main" id="{31BA5846-C8F9-89ED-1ECB-F77F225B1429}"/>
                </a:ext>
              </a:extLst>
            </p:cNvPr>
            <p:cNvSpPr txBox="1"/>
            <p:nvPr/>
          </p:nvSpPr>
          <p:spPr>
            <a:xfrm>
              <a:off x="2886076" y="6033677"/>
              <a:ext cx="386644" cy="169277"/>
            </a:xfrm>
            <a:prstGeom prst="rect">
              <a:avLst/>
            </a:prstGeom>
            <a:noFill/>
          </p:spPr>
          <p:txBody>
            <a:bodyPr wrap="none" rtlCol="0">
              <a:spAutoFit/>
            </a:bodyPr>
            <a:lstStyle/>
            <a:p>
              <a:r>
                <a:rPr lang="sv-SE" sz="500" dirty="0"/>
                <a:t>pinne 4</a:t>
              </a:r>
              <a:endParaRPr lang="LID4096" sz="500" dirty="0"/>
            </a:p>
          </p:txBody>
        </p:sp>
        <p:sp>
          <p:nvSpPr>
            <p:cNvPr id="143" name="TextBox 142">
              <a:extLst>
                <a:ext uri="{FF2B5EF4-FFF2-40B4-BE49-F238E27FC236}">
                  <a16:creationId xmlns:a16="http://schemas.microsoft.com/office/drawing/2014/main" id="{4150AE9C-F0EC-C460-A056-5406278FEDD3}"/>
                </a:ext>
              </a:extLst>
            </p:cNvPr>
            <p:cNvSpPr txBox="1"/>
            <p:nvPr/>
          </p:nvSpPr>
          <p:spPr>
            <a:xfrm>
              <a:off x="2574132" y="6033677"/>
              <a:ext cx="386644" cy="169277"/>
            </a:xfrm>
            <a:prstGeom prst="rect">
              <a:avLst/>
            </a:prstGeom>
            <a:noFill/>
          </p:spPr>
          <p:txBody>
            <a:bodyPr wrap="none" rtlCol="0">
              <a:spAutoFit/>
            </a:bodyPr>
            <a:lstStyle/>
            <a:p>
              <a:r>
                <a:rPr lang="sv-SE" sz="500" dirty="0"/>
                <a:t>pinne 5</a:t>
              </a:r>
              <a:endParaRPr lang="LID4096" sz="500" dirty="0"/>
            </a:p>
          </p:txBody>
        </p:sp>
        <p:sp>
          <p:nvSpPr>
            <p:cNvPr id="144" name="TextBox 143">
              <a:extLst>
                <a:ext uri="{FF2B5EF4-FFF2-40B4-BE49-F238E27FC236}">
                  <a16:creationId xmlns:a16="http://schemas.microsoft.com/office/drawing/2014/main" id="{ECCC96F7-6BF1-0DA8-1B38-1EEB1ADE4942}"/>
                </a:ext>
              </a:extLst>
            </p:cNvPr>
            <p:cNvSpPr txBox="1"/>
            <p:nvPr/>
          </p:nvSpPr>
          <p:spPr>
            <a:xfrm>
              <a:off x="2262188" y="6033677"/>
              <a:ext cx="386644" cy="169277"/>
            </a:xfrm>
            <a:prstGeom prst="rect">
              <a:avLst/>
            </a:prstGeom>
            <a:noFill/>
          </p:spPr>
          <p:txBody>
            <a:bodyPr wrap="none" rtlCol="0">
              <a:spAutoFit/>
            </a:bodyPr>
            <a:lstStyle/>
            <a:p>
              <a:r>
                <a:rPr lang="sv-SE" sz="500" dirty="0"/>
                <a:t>pinne 6</a:t>
              </a:r>
              <a:endParaRPr lang="LID4096" sz="500" dirty="0"/>
            </a:p>
          </p:txBody>
        </p:sp>
        <p:sp>
          <p:nvSpPr>
            <p:cNvPr id="145" name="TextBox 144">
              <a:extLst>
                <a:ext uri="{FF2B5EF4-FFF2-40B4-BE49-F238E27FC236}">
                  <a16:creationId xmlns:a16="http://schemas.microsoft.com/office/drawing/2014/main" id="{78A3954E-C69C-B08A-2401-14D99F543C76}"/>
                </a:ext>
              </a:extLst>
            </p:cNvPr>
            <p:cNvSpPr txBox="1"/>
            <p:nvPr/>
          </p:nvSpPr>
          <p:spPr>
            <a:xfrm>
              <a:off x="1950244" y="6033677"/>
              <a:ext cx="386644" cy="169277"/>
            </a:xfrm>
            <a:prstGeom prst="rect">
              <a:avLst/>
            </a:prstGeom>
            <a:noFill/>
          </p:spPr>
          <p:txBody>
            <a:bodyPr wrap="none" rtlCol="0">
              <a:spAutoFit/>
            </a:bodyPr>
            <a:lstStyle/>
            <a:p>
              <a:r>
                <a:rPr lang="sv-SE" sz="500" dirty="0"/>
                <a:t>pinne 7</a:t>
              </a:r>
              <a:endParaRPr lang="LID4096" sz="500" dirty="0"/>
            </a:p>
          </p:txBody>
        </p:sp>
        <p:sp>
          <p:nvSpPr>
            <p:cNvPr id="146" name="TextBox 145">
              <a:extLst>
                <a:ext uri="{FF2B5EF4-FFF2-40B4-BE49-F238E27FC236}">
                  <a16:creationId xmlns:a16="http://schemas.microsoft.com/office/drawing/2014/main" id="{96679DC2-DD3F-CDBA-E41B-5791BFF600ED}"/>
                </a:ext>
              </a:extLst>
            </p:cNvPr>
            <p:cNvSpPr txBox="1"/>
            <p:nvPr/>
          </p:nvSpPr>
          <p:spPr>
            <a:xfrm>
              <a:off x="2883695" y="6147977"/>
              <a:ext cx="386644" cy="169277"/>
            </a:xfrm>
            <a:prstGeom prst="rect">
              <a:avLst/>
            </a:prstGeom>
            <a:noFill/>
          </p:spPr>
          <p:txBody>
            <a:bodyPr wrap="none" rtlCol="0">
              <a:spAutoFit/>
            </a:bodyPr>
            <a:lstStyle/>
            <a:p>
              <a:r>
                <a:rPr lang="sv-SE" sz="500" dirty="0"/>
                <a:t>pinne 8</a:t>
              </a:r>
              <a:endParaRPr lang="LID4096" sz="500" dirty="0"/>
            </a:p>
          </p:txBody>
        </p:sp>
        <p:sp>
          <p:nvSpPr>
            <p:cNvPr id="147" name="TextBox 146">
              <a:extLst>
                <a:ext uri="{FF2B5EF4-FFF2-40B4-BE49-F238E27FC236}">
                  <a16:creationId xmlns:a16="http://schemas.microsoft.com/office/drawing/2014/main" id="{00EC6669-FB45-0EFC-276F-1CEDB957A4B5}"/>
                </a:ext>
              </a:extLst>
            </p:cNvPr>
            <p:cNvSpPr txBox="1"/>
            <p:nvPr/>
          </p:nvSpPr>
          <p:spPr>
            <a:xfrm>
              <a:off x="2571751" y="6147977"/>
              <a:ext cx="386644" cy="169277"/>
            </a:xfrm>
            <a:prstGeom prst="rect">
              <a:avLst/>
            </a:prstGeom>
            <a:noFill/>
          </p:spPr>
          <p:txBody>
            <a:bodyPr wrap="none" rtlCol="0">
              <a:spAutoFit/>
            </a:bodyPr>
            <a:lstStyle/>
            <a:p>
              <a:r>
                <a:rPr lang="sv-SE" sz="500" dirty="0"/>
                <a:t>pinne 9</a:t>
              </a:r>
              <a:endParaRPr lang="LID4096" sz="500" dirty="0"/>
            </a:p>
          </p:txBody>
        </p:sp>
        <p:sp>
          <p:nvSpPr>
            <p:cNvPr id="148" name="TextBox 147">
              <a:extLst>
                <a:ext uri="{FF2B5EF4-FFF2-40B4-BE49-F238E27FC236}">
                  <a16:creationId xmlns:a16="http://schemas.microsoft.com/office/drawing/2014/main" id="{4E92B73A-B16C-F4FC-FCE7-8C56B5331C95}"/>
                </a:ext>
              </a:extLst>
            </p:cNvPr>
            <p:cNvSpPr txBox="1"/>
            <p:nvPr/>
          </p:nvSpPr>
          <p:spPr>
            <a:xfrm>
              <a:off x="2259807" y="6147977"/>
              <a:ext cx="420308" cy="169277"/>
            </a:xfrm>
            <a:prstGeom prst="rect">
              <a:avLst/>
            </a:prstGeom>
            <a:noFill/>
          </p:spPr>
          <p:txBody>
            <a:bodyPr wrap="none" rtlCol="0">
              <a:spAutoFit/>
            </a:bodyPr>
            <a:lstStyle/>
            <a:p>
              <a:r>
                <a:rPr lang="sv-SE" sz="500" dirty="0"/>
                <a:t>pinne 10</a:t>
              </a:r>
              <a:endParaRPr lang="LID4096" sz="500" dirty="0"/>
            </a:p>
          </p:txBody>
        </p:sp>
        <p:sp>
          <p:nvSpPr>
            <p:cNvPr id="149" name="TextBox 148">
              <a:extLst>
                <a:ext uri="{FF2B5EF4-FFF2-40B4-BE49-F238E27FC236}">
                  <a16:creationId xmlns:a16="http://schemas.microsoft.com/office/drawing/2014/main" id="{4AF3A201-48C9-E71B-6EA1-C0BCB5189DD2}"/>
                </a:ext>
              </a:extLst>
            </p:cNvPr>
            <p:cNvSpPr txBox="1"/>
            <p:nvPr/>
          </p:nvSpPr>
          <p:spPr>
            <a:xfrm>
              <a:off x="1947863" y="6147977"/>
              <a:ext cx="420308" cy="169277"/>
            </a:xfrm>
            <a:prstGeom prst="rect">
              <a:avLst/>
            </a:prstGeom>
            <a:noFill/>
          </p:spPr>
          <p:txBody>
            <a:bodyPr wrap="none" rtlCol="0">
              <a:spAutoFit/>
            </a:bodyPr>
            <a:lstStyle/>
            <a:p>
              <a:r>
                <a:rPr lang="sv-SE" sz="500" dirty="0"/>
                <a:t>pinne 11</a:t>
              </a:r>
              <a:endParaRPr lang="LID4096" sz="500" dirty="0"/>
            </a:p>
          </p:txBody>
        </p:sp>
        <p:sp>
          <p:nvSpPr>
            <p:cNvPr id="150" name="TextBox 149">
              <a:extLst>
                <a:ext uri="{FF2B5EF4-FFF2-40B4-BE49-F238E27FC236}">
                  <a16:creationId xmlns:a16="http://schemas.microsoft.com/office/drawing/2014/main" id="{B6FEFA15-CD0C-E379-5E79-8B6AB24EA487}"/>
                </a:ext>
              </a:extLst>
            </p:cNvPr>
            <p:cNvSpPr txBox="1"/>
            <p:nvPr/>
          </p:nvSpPr>
          <p:spPr>
            <a:xfrm>
              <a:off x="2881314" y="6262277"/>
              <a:ext cx="420308" cy="169277"/>
            </a:xfrm>
            <a:prstGeom prst="rect">
              <a:avLst/>
            </a:prstGeom>
            <a:noFill/>
          </p:spPr>
          <p:txBody>
            <a:bodyPr wrap="none" rtlCol="0">
              <a:spAutoFit/>
            </a:bodyPr>
            <a:lstStyle/>
            <a:p>
              <a:r>
                <a:rPr lang="sv-SE" sz="500" dirty="0"/>
                <a:t>pinne 12</a:t>
              </a:r>
              <a:endParaRPr lang="LID4096" sz="500" dirty="0"/>
            </a:p>
          </p:txBody>
        </p:sp>
        <p:sp>
          <p:nvSpPr>
            <p:cNvPr id="151" name="TextBox 150">
              <a:extLst>
                <a:ext uri="{FF2B5EF4-FFF2-40B4-BE49-F238E27FC236}">
                  <a16:creationId xmlns:a16="http://schemas.microsoft.com/office/drawing/2014/main" id="{D116D44A-CD9B-252E-5F4B-D40E422576E2}"/>
                </a:ext>
              </a:extLst>
            </p:cNvPr>
            <p:cNvSpPr txBox="1"/>
            <p:nvPr/>
          </p:nvSpPr>
          <p:spPr>
            <a:xfrm>
              <a:off x="2569370" y="6262277"/>
              <a:ext cx="420308" cy="169277"/>
            </a:xfrm>
            <a:prstGeom prst="rect">
              <a:avLst/>
            </a:prstGeom>
            <a:noFill/>
          </p:spPr>
          <p:txBody>
            <a:bodyPr wrap="none" rtlCol="0">
              <a:spAutoFit/>
            </a:bodyPr>
            <a:lstStyle/>
            <a:p>
              <a:r>
                <a:rPr lang="sv-SE" sz="500" dirty="0"/>
                <a:t>pinne 13</a:t>
              </a:r>
              <a:endParaRPr lang="LID4096" sz="500" dirty="0"/>
            </a:p>
          </p:txBody>
        </p:sp>
        <p:sp>
          <p:nvSpPr>
            <p:cNvPr id="152" name="TextBox 151">
              <a:extLst>
                <a:ext uri="{FF2B5EF4-FFF2-40B4-BE49-F238E27FC236}">
                  <a16:creationId xmlns:a16="http://schemas.microsoft.com/office/drawing/2014/main" id="{3BD18406-1E7B-D2CA-A095-DC2202521758}"/>
                </a:ext>
              </a:extLst>
            </p:cNvPr>
            <p:cNvSpPr txBox="1"/>
            <p:nvPr/>
          </p:nvSpPr>
          <p:spPr>
            <a:xfrm>
              <a:off x="2257426" y="6262277"/>
              <a:ext cx="420308" cy="169277"/>
            </a:xfrm>
            <a:prstGeom prst="rect">
              <a:avLst/>
            </a:prstGeom>
            <a:noFill/>
          </p:spPr>
          <p:txBody>
            <a:bodyPr wrap="none" rtlCol="0">
              <a:spAutoFit/>
            </a:bodyPr>
            <a:lstStyle/>
            <a:p>
              <a:r>
                <a:rPr lang="sv-SE" sz="500" dirty="0"/>
                <a:t>pinne 14</a:t>
              </a:r>
              <a:endParaRPr lang="LID4096" sz="500" dirty="0"/>
            </a:p>
          </p:txBody>
        </p:sp>
        <p:sp>
          <p:nvSpPr>
            <p:cNvPr id="153" name="TextBox 152">
              <a:extLst>
                <a:ext uri="{FF2B5EF4-FFF2-40B4-BE49-F238E27FC236}">
                  <a16:creationId xmlns:a16="http://schemas.microsoft.com/office/drawing/2014/main" id="{D530201F-56AE-4DDB-B2EA-E8907E13719E}"/>
                </a:ext>
              </a:extLst>
            </p:cNvPr>
            <p:cNvSpPr txBox="1"/>
            <p:nvPr/>
          </p:nvSpPr>
          <p:spPr>
            <a:xfrm>
              <a:off x="1945482" y="6262277"/>
              <a:ext cx="420308" cy="169277"/>
            </a:xfrm>
            <a:prstGeom prst="rect">
              <a:avLst/>
            </a:prstGeom>
            <a:noFill/>
          </p:spPr>
          <p:txBody>
            <a:bodyPr wrap="none" rtlCol="0">
              <a:spAutoFit/>
            </a:bodyPr>
            <a:lstStyle/>
            <a:p>
              <a:r>
                <a:rPr lang="sv-SE" sz="500" dirty="0"/>
                <a:t>pinne 15</a:t>
              </a:r>
              <a:endParaRPr lang="LID4096" sz="500" dirty="0"/>
            </a:p>
          </p:txBody>
        </p:sp>
      </p:grpSp>
    </p:spTree>
    <p:extLst>
      <p:ext uri="{BB962C8B-B14F-4D97-AF65-F5344CB8AC3E}">
        <p14:creationId xmlns:p14="http://schemas.microsoft.com/office/powerpoint/2010/main" val="34416551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8885518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E10C52-4CE3-1E2D-31BF-988016D56906}"/>
              </a:ext>
            </a:extLst>
          </p:cNvPr>
          <p:cNvSpPr>
            <a:spLocks noGrp="1"/>
          </p:cNvSpPr>
          <p:nvPr>
            <p:ph type="title"/>
          </p:nvPr>
        </p:nvSpPr>
        <p:spPr/>
        <p:txBody>
          <a:bodyPr/>
          <a:lstStyle/>
          <a:p>
            <a:r>
              <a:rPr lang="en-US" dirty="0"/>
              <a:t>N</a:t>
            </a:r>
            <a:r>
              <a:rPr lang="sv-SE" dirty="0"/>
              <a:t>är skall vi fyra av ett </a:t>
            </a:r>
            <a:r>
              <a:rPr lang="sv-SE" dirty="0" err="1"/>
              <a:t>interrupt</a:t>
            </a:r>
            <a:r>
              <a:rPr lang="sv-SE" dirty="0"/>
              <a:t>? </a:t>
            </a:r>
            <a:br>
              <a:rPr lang="sv-SE" dirty="0"/>
            </a:br>
            <a:r>
              <a:rPr lang="sv-SE" sz="3200" dirty="0"/>
              <a:t>EXTI</a:t>
            </a:r>
            <a:endParaRPr lang="LID4096" dirty="0"/>
          </a:p>
        </p:txBody>
      </p:sp>
      <p:sp>
        <p:nvSpPr>
          <p:cNvPr id="4" name="TextBox 3">
            <a:extLst>
              <a:ext uri="{FF2B5EF4-FFF2-40B4-BE49-F238E27FC236}">
                <a16:creationId xmlns:a16="http://schemas.microsoft.com/office/drawing/2014/main" id="{C58A0204-461A-A655-1E0E-A9DBB81A890A}"/>
              </a:ext>
            </a:extLst>
          </p:cNvPr>
          <p:cNvSpPr txBox="1"/>
          <p:nvPr/>
        </p:nvSpPr>
        <p:spPr>
          <a:xfrm>
            <a:off x="2292728" y="1974294"/>
            <a:ext cx="8286434" cy="2584448"/>
          </a:xfrm>
          <a:prstGeom prst="rect">
            <a:avLst/>
          </a:prstGeom>
          <a:solidFill>
            <a:schemeClr val="accent6">
              <a:lumMod val="40000"/>
              <a:lumOff val="60000"/>
            </a:schemeClr>
          </a:solidFill>
          <a:ln>
            <a:solidFill>
              <a:schemeClr val="accent6">
                <a:lumMod val="75000"/>
              </a:schemeClr>
            </a:solidFill>
          </a:ln>
        </p:spPr>
        <p:txBody>
          <a:bodyPr wrap="square" rtlCol="0">
            <a:noAutofit/>
          </a:bodyPr>
          <a:lstStyle/>
          <a:p>
            <a:pPr algn="ctr"/>
            <a:r>
              <a:rPr lang="en-US"/>
              <a:t>EXTI</a:t>
            </a:r>
            <a:br>
              <a:rPr lang="en-US"/>
            </a:br>
            <a:endParaRPr lang="en-US" sz="1050"/>
          </a:p>
        </p:txBody>
      </p:sp>
      <p:sp>
        <p:nvSpPr>
          <p:cNvPr id="5" name="TextBox 4">
            <a:extLst>
              <a:ext uri="{FF2B5EF4-FFF2-40B4-BE49-F238E27FC236}">
                <a16:creationId xmlns:a16="http://schemas.microsoft.com/office/drawing/2014/main" id="{020B0A5D-1919-D9B7-5ECC-0B62331FA4A3}"/>
              </a:ext>
            </a:extLst>
          </p:cNvPr>
          <p:cNvSpPr txBox="1"/>
          <p:nvPr/>
        </p:nvSpPr>
        <p:spPr>
          <a:xfrm>
            <a:off x="9985835" y="3280885"/>
            <a:ext cx="593327" cy="1223412"/>
          </a:xfrm>
          <a:prstGeom prst="rect">
            <a:avLst/>
          </a:prstGeom>
          <a:noFill/>
        </p:spPr>
        <p:txBody>
          <a:bodyPr wrap="square">
            <a:spAutoFit/>
          </a:bodyPr>
          <a:lstStyle/>
          <a:p>
            <a:pPr algn="r"/>
            <a:r>
              <a:rPr lang="en-US" sz="1050"/>
              <a:t>EXTI0</a:t>
            </a:r>
            <a:br>
              <a:rPr lang="en-US" sz="1050"/>
            </a:br>
            <a:r>
              <a:rPr lang="en-US" sz="1050" b="1"/>
              <a:t>EXTI1</a:t>
            </a:r>
            <a:br>
              <a:rPr lang="en-US" sz="1050" b="1"/>
            </a:br>
            <a:r>
              <a:rPr lang="en-US" sz="1050"/>
              <a:t>EXTI2</a:t>
            </a:r>
            <a:br>
              <a:rPr lang="en-US" sz="1050"/>
            </a:br>
            <a:r>
              <a:rPr lang="en-US" sz="1050"/>
              <a:t>EXTI3</a:t>
            </a:r>
            <a:br>
              <a:rPr lang="en-US" sz="1050"/>
            </a:br>
            <a:r>
              <a:rPr lang="en-US" sz="1050"/>
              <a:t>EXTI4</a:t>
            </a:r>
          </a:p>
          <a:p>
            <a:pPr algn="r"/>
            <a:r>
              <a:rPr lang="en-US" sz="1050"/>
              <a:t>EXTI5</a:t>
            </a:r>
          </a:p>
          <a:p>
            <a:pPr algn="ctr"/>
            <a:r>
              <a:rPr lang="en-US" sz="1050"/>
              <a:t>...</a:t>
            </a:r>
            <a:endParaRPr lang="LID4096" sz="3600" dirty="0"/>
          </a:p>
        </p:txBody>
      </p:sp>
      <p:cxnSp>
        <p:nvCxnSpPr>
          <p:cNvPr id="6" name="Straight Arrow Connector 5">
            <a:extLst>
              <a:ext uri="{FF2B5EF4-FFF2-40B4-BE49-F238E27FC236}">
                <a16:creationId xmlns:a16="http://schemas.microsoft.com/office/drawing/2014/main" id="{C09A549B-1EC9-ABA2-CF5F-C6192D8CCD5B}"/>
              </a:ext>
            </a:extLst>
          </p:cNvPr>
          <p:cNvCxnSpPr/>
          <p:nvPr/>
        </p:nvCxnSpPr>
        <p:spPr>
          <a:xfrm flipH="1">
            <a:off x="10679040" y="3415557"/>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64F3DA8D-C072-E50D-0EBC-1088778AAA47}"/>
              </a:ext>
            </a:extLst>
          </p:cNvPr>
          <p:cNvCxnSpPr/>
          <p:nvPr/>
        </p:nvCxnSpPr>
        <p:spPr>
          <a:xfrm flipH="1">
            <a:off x="10679040" y="3570054"/>
            <a:ext cx="531213" cy="0"/>
          </a:xfrm>
          <a:prstGeom prst="straightConnector1">
            <a:avLst/>
          </a:prstGeom>
          <a:ln w="508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DFA58A58-882E-2E04-8C17-FFBC71911ABF}"/>
              </a:ext>
            </a:extLst>
          </p:cNvPr>
          <p:cNvCxnSpPr/>
          <p:nvPr/>
        </p:nvCxnSpPr>
        <p:spPr>
          <a:xfrm flipH="1">
            <a:off x="10675869" y="3745525"/>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295B38B6-309F-E0F1-FDF7-9C7CB750CB33}"/>
              </a:ext>
            </a:extLst>
          </p:cNvPr>
          <p:cNvCxnSpPr/>
          <p:nvPr/>
        </p:nvCxnSpPr>
        <p:spPr>
          <a:xfrm flipH="1">
            <a:off x="10675869" y="3907012"/>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FE488E5D-17A3-B66D-CCF2-B4CA619082E9}"/>
              </a:ext>
            </a:extLst>
          </p:cNvPr>
          <p:cNvCxnSpPr/>
          <p:nvPr/>
        </p:nvCxnSpPr>
        <p:spPr>
          <a:xfrm flipH="1">
            <a:off x="10675869" y="4065306"/>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75A9DAC9-9658-FEBC-73FF-D45F63132E73}"/>
              </a:ext>
            </a:extLst>
          </p:cNvPr>
          <p:cNvCxnSpPr/>
          <p:nvPr/>
        </p:nvCxnSpPr>
        <p:spPr>
          <a:xfrm flipH="1">
            <a:off x="10675869" y="4228870"/>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a:extLst>
              <a:ext uri="{FF2B5EF4-FFF2-40B4-BE49-F238E27FC236}">
                <a16:creationId xmlns:a16="http://schemas.microsoft.com/office/drawing/2014/main" id="{005B0882-62B8-32D2-B25A-3FA43A138223}"/>
              </a:ext>
            </a:extLst>
          </p:cNvPr>
          <p:cNvSpPr/>
          <p:nvPr/>
        </p:nvSpPr>
        <p:spPr>
          <a:xfrm>
            <a:off x="10687428" y="3695101"/>
            <a:ext cx="908134" cy="647781"/>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3" name="TextBox 12">
            <a:extLst>
              <a:ext uri="{FF2B5EF4-FFF2-40B4-BE49-F238E27FC236}">
                <a16:creationId xmlns:a16="http://schemas.microsoft.com/office/drawing/2014/main" id="{4155BD40-C628-1068-48C8-0179BCA152D9}"/>
              </a:ext>
            </a:extLst>
          </p:cNvPr>
          <p:cNvSpPr txBox="1"/>
          <p:nvPr/>
        </p:nvSpPr>
        <p:spPr>
          <a:xfrm>
            <a:off x="2281169" y="3114769"/>
            <a:ext cx="849594" cy="1223412"/>
          </a:xfrm>
          <a:prstGeom prst="rect">
            <a:avLst/>
          </a:prstGeom>
          <a:noFill/>
        </p:spPr>
        <p:txBody>
          <a:bodyPr wrap="square">
            <a:spAutoFit/>
          </a:bodyPr>
          <a:lstStyle/>
          <a:p>
            <a:r>
              <a:rPr lang="en-US" sz="1050"/>
              <a:t>EXTI0</a:t>
            </a:r>
            <a:br>
              <a:rPr lang="en-US" sz="1050"/>
            </a:br>
            <a:r>
              <a:rPr lang="en-US" sz="1050" b="1"/>
              <a:t>EXTI1</a:t>
            </a:r>
            <a:br>
              <a:rPr lang="en-US" sz="1050"/>
            </a:br>
            <a:r>
              <a:rPr lang="en-US" sz="1050"/>
              <a:t>EXTI2</a:t>
            </a:r>
            <a:br>
              <a:rPr lang="en-US" sz="1050"/>
            </a:br>
            <a:r>
              <a:rPr lang="en-US" sz="1050"/>
              <a:t>EXTI3</a:t>
            </a:r>
            <a:br>
              <a:rPr lang="en-US" sz="1050"/>
            </a:br>
            <a:r>
              <a:rPr lang="en-US" sz="1050"/>
              <a:t>EXTI4</a:t>
            </a:r>
          </a:p>
          <a:p>
            <a:r>
              <a:rPr lang="en-US" sz="1050"/>
              <a:t>EXTI5_9</a:t>
            </a:r>
            <a:br>
              <a:rPr lang="en-US" sz="1050"/>
            </a:br>
            <a:r>
              <a:rPr lang="en-US" sz="1050"/>
              <a:t>EXTI10_15</a:t>
            </a:r>
          </a:p>
        </p:txBody>
      </p:sp>
      <p:sp>
        <p:nvSpPr>
          <p:cNvPr id="14" name="TextBox 13">
            <a:extLst>
              <a:ext uri="{FF2B5EF4-FFF2-40B4-BE49-F238E27FC236}">
                <a16:creationId xmlns:a16="http://schemas.microsoft.com/office/drawing/2014/main" id="{72679A2A-BE2F-366C-7072-39D7A7FED962}"/>
              </a:ext>
            </a:extLst>
          </p:cNvPr>
          <p:cNvSpPr txBox="1"/>
          <p:nvPr/>
        </p:nvSpPr>
        <p:spPr>
          <a:xfrm rot="16200000">
            <a:off x="188771" y="2956314"/>
            <a:ext cx="2584447" cy="620410"/>
          </a:xfrm>
          <a:prstGeom prst="rect">
            <a:avLst/>
          </a:prstGeom>
          <a:solidFill>
            <a:schemeClr val="accent1">
              <a:lumMod val="60000"/>
              <a:lumOff val="40000"/>
            </a:schemeClr>
          </a:solidFill>
          <a:ln>
            <a:solidFill>
              <a:schemeClr val="tx2">
                <a:lumMod val="75000"/>
                <a:lumOff val="25000"/>
              </a:schemeClr>
            </a:solidFill>
          </a:ln>
        </p:spPr>
        <p:txBody>
          <a:bodyPr wrap="square" rtlCol="0">
            <a:noAutofit/>
          </a:bodyPr>
          <a:lstStyle/>
          <a:p>
            <a:pPr algn="ctr"/>
            <a:r>
              <a:rPr lang="en-US" sz="3600"/>
              <a:t>PFIC</a:t>
            </a:r>
            <a:endParaRPr lang="LID4096" sz="6000" dirty="0"/>
          </a:p>
        </p:txBody>
      </p:sp>
      <p:sp>
        <p:nvSpPr>
          <p:cNvPr id="15" name="TextBox 14">
            <a:extLst>
              <a:ext uri="{FF2B5EF4-FFF2-40B4-BE49-F238E27FC236}">
                <a16:creationId xmlns:a16="http://schemas.microsoft.com/office/drawing/2014/main" id="{D0C53D76-DCC4-F0C7-2475-6C115B8211D0}"/>
              </a:ext>
            </a:extLst>
          </p:cNvPr>
          <p:cNvSpPr txBox="1"/>
          <p:nvPr/>
        </p:nvSpPr>
        <p:spPr>
          <a:xfrm>
            <a:off x="7828729" y="3412504"/>
            <a:ext cx="1676228" cy="276999"/>
          </a:xfrm>
          <a:prstGeom prst="rect">
            <a:avLst/>
          </a:prstGeom>
          <a:solidFill>
            <a:schemeClr val="bg1"/>
          </a:solidFill>
          <a:ln>
            <a:solidFill>
              <a:schemeClr val="tx1"/>
            </a:solidFill>
          </a:ln>
        </p:spPr>
        <p:txBody>
          <a:bodyPr wrap="none" rtlCol="0">
            <a:spAutoFit/>
          </a:bodyPr>
          <a:lstStyle/>
          <a:p>
            <a:r>
              <a:rPr lang="en-GB" sz="1200"/>
              <a:t>Edge Detection Circuit</a:t>
            </a:r>
            <a:endParaRPr lang="LID4096" sz="1200"/>
          </a:p>
        </p:txBody>
      </p:sp>
      <p:sp>
        <p:nvSpPr>
          <p:cNvPr id="16" name="TextBox 15">
            <a:extLst>
              <a:ext uri="{FF2B5EF4-FFF2-40B4-BE49-F238E27FC236}">
                <a16:creationId xmlns:a16="http://schemas.microsoft.com/office/drawing/2014/main" id="{F394F068-9FC5-C999-2789-5213ED7FAAAB}"/>
              </a:ext>
            </a:extLst>
          </p:cNvPr>
          <p:cNvSpPr txBox="1"/>
          <p:nvPr/>
        </p:nvSpPr>
        <p:spPr>
          <a:xfrm>
            <a:off x="8714848" y="2433626"/>
            <a:ext cx="889987"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EXTI_FTENR</a:t>
            </a:r>
            <a:endParaRPr lang="LID4096" sz="1000">
              <a:solidFill>
                <a:schemeClr val="bg2"/>
              </a:solidFill>
              <a:latin typeface="Consolas" panose="020B0609020204030204" pitchFamily="49" charset="0"/>
            </a:endParaRPr>
          </a:p>
        </p:txBody>
      </p:sp>
      <p:sp>
        <p:nvSpPr>
          <p:cNvPr id="17" name="TextBox 16">
            <a:extLst>
              <a:ext uri="{FF2B5EF4-FFF2-40B4-BE49-F238E27FC236}">
                <a16:creationId xmlns:a16="http://schemas.microsoft.com/office/drawing/2014/main" id="{5B1E722D-F550-0ABF-B4C0-F4E3CE5EAA22}"/>
              </a:ext>
            </a:extLst>
          </p:cNvPr>
          <p:cNvSpPr txBox="1"/>
          <p:nvPr/>
        </p:nvSpPr>
        <p:spPr>
          <a:xfrm>
            <a:off x="8714848" y="2679847"/>
            <a:ext cx="889987" cy="338554"/>
          </a:xfrm>
          <a:prstGeom prst="rect">
            <a:avLst/>
          </a:prstGeom>
          <a:solidFill>
            <a:schemeClr val="bg1"/>
          </a:solidFill>
          <a:ln>
            <a:solidFill>
              <a:schemeClr val="tx1"/>
            </a:solidFill>
          </a:ln>
        </p:spPr>
        <p:txBody>
          <a:bodyPr wrap="square" rtlCol="0">
            <a:spAutoFit/>
          </a:bodyPr>
          <a:lstStyle/>
          <a:p>
            <a:pPr algn="ctr"/>
            <a:r>
              <a:rPr lang="en-GB" sz="800" i="1"/>
              <a:t>Falling trigger enable register</a:t>
            </a:r>
            <a:endParaRPr lang="LID4096" sz="800" i="1"/>
          </a:p>
        </p:txBody>
      </p:sp>
      <p:sp>
        <p:nvSpPr>
          <p:cNvPr id="18" name="TextBox 17">
            <a:extLst>
              <a:ext uri="{FF2B5EF4-FFF2-40B4-BE49-F238E27FC236}">
                <a16:creationId xmlns:a16="http://schemas.microsoft.com/office/drawing/2014/main" id="{C0B27AC2-BB55-91CD-55A5-67CC3E939DB4}"/>
              </a:ext>
            </a:extLst>
          </p:cNvPr>
          <p:cNvSpPr txBox="1"/>
          <p:nvPr/>
        </p:nvSpPr>
        <p:spPr>
          <a:xfrm>
            <a:off x="7694768" y="2430145"/>
            <a:ext cx="889987"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EXTI_RTENR</a:t>
            </a:r>
            <a:endParaRPr lang="LID4096" sz="1000">
              <a:solidFill>
                <a:schemeClr val="bg2"/>
              </a:solidFill>
              <a:latin typeface="Consolas" panose="020B0609020204030204" pitchFamily="49" charset="0"/>
            </a:endParaRPr>
          </a:p>
        </p:txBody>
      </p:sp>
      <p:sp>
        <p:nvSpPr>
          <p:cNvPr id="19" name="TextBox 18">
            <a:extLst>
              <a:ext uri="{FF2B5EF4-FFF2-40B4-BE49-F238E27FC236}">
                <a16:creationId xmlns:a16="http://schemas.microsoft.com/office/drawing/2014/main" id="{2E419F12-6290-D0A7-5DC3-48A68277CCB7}"/>
              </a:ext>
            </a:extLst>
          </p:cNvPr>
          <p:cNvSpPr txBox="1"/>
          <p:nvPr/>
        </p:nvSpPr>
        <p:spPr>
          <a:xfrm>
            <a:off x="7694768" y="2676366"/>
            <a:ext cx="889987" cy="338554"/>
          </a:xfrm>
          <a:prstGeom prst="rect">
            <a:avLst/>
          </a:prstGeom>
          <a:solidFill>
            <a:schemeClr val="bg1"/>
          </a:solidFill>
          <a:ln>
            <a:solidFill>
              <a:schemeClr val="tx1"/>
            </a:solidFill>
          </a:ln>
        </p:spPr>
        <p:txBody>
          <a:bodyPr wrap="square" rtlCol="0">
            <a:spAutoFit/>
          </a:bodyPr>
          <a:lstStyle/>
          <a:p>
            <a:pPr algn="ctr"/>
            <a:r>
              <a:rPr lang="en-GB" sz="800" i="1"/>
              <a:t>Rising trigger enable register</a:t>
            </a:r>
            <a:endParaRPr lang="LID4096" sz="800" i="1"/>
          </a:p>
        </p:txBody>
      </p:sp>
      <p:sp>
        <p:nvSpPr>
          <p:cNvPr id="20" name="TextBox 19">
            <a:extLst>
              <a:ext uri="{FF2B5EF4-FFF2-40B4-BE49-F238E27FC236}">
                <a16:creationId xmlns:a16="http://schemas.microsoft.com/office/drawing/2014/main" id="{99DD3557-B4D6-CFFC-34DC-BCF61031EE28}"/>
              </a:ext>
            </a:extLst>
          </p:cNvPr>
          <p:cNvSpPr txBox="1"/>
          <p:nvPr/>
        </p:nvSpPr>
        <p:spPr>
          <a:xfrm>
            <a:off x="6513668" y="2428521"/>
            <a:ext cx="960519"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EXTI_SWIEVR</a:t>
            </a:r>
            <a:endParaRPr lang="LID4096" sz="1000">
              <a:solidFill>
                <a:schemeClr val="bg2"/>
              </a:solidFill>
              <a:latin typeface="Consolas" panose="020B0609020204030204" pitchFamily="49" charset="0"/>
            </a:endParaRPr>
          </a:p>
        </p:txBody>
      </p:sp>
      <p:sp>
        <p:nvSpPr>
          <p:cNvPr id="21" name="TextBox 20">
            <a:extLst>
              <a:ext uri="{FF2B5EF4-FFF2-40B4-BE49-F238E27FC236}">
                <a16:creationId xmlns:a16="http://schemas.microsoft.com/office/drawing/2014/main" id="{2DF87D7D-BF13-0D4B-E0B9-D2DC10BD21DD}"/>
              </a:ext>
            </a:extLst>
          </p:cNvPr>
          <p:cNvSpPr txBox="1"/>
          <p:nvPr/>
        </p:nvSpPr>
        <p:spPr>
          <a:xfrm>
            <a:off x="6513668" y="2674742"/>
            <a:ext cx="960519" cy="461665"/>
          </a:xfrm>
          <a:prstGeom prst="rect">
            <a:avLst/>
          </a:prstGeom>
          <a:solidFill>
            <a:schemeClr val="bg1"/>
          </a:solidFill>
          <a:ln>
            <a:solidFill>
              <a:schemeClr val="tx1"/>
            </a:solidFill>
          </a:ln>
        </p:spPr>
        <p:txBody>
          <a:bodyPr wrap="square" rtlCol="0">
            <a:spAutoFit/>
          </a:bodyPr>
          <a:lstStyle/>
          <a:p>
            <a:pPr algn="ctr"/>
            <a:r>
              <a:rPr lang="en-GB" sz="800" i="1" dirty="0"/>
              <a:t>Software Interrupt Event Register</a:t>
            </a:r>
            <a:endParaRPr lang="LID4096" sz="800" i="1" dirty="0"/>
          </a:p>
        </p:txBody>
      </p:sp>
      <p:sp>
        <p:nvSpPr>
          <p:cNvPr id="22" name="TextBox 21">
            <a:extLst>
              <a:ext uri="{FF2B5EF4-FFF2-40B4-BE49-F238E27FC236}">
                <a16:creationId xmlns:a16="http://schemas.microsoft.com/office/drawing/2014/main" id="{E91BD466-F811-7FA4-F339-FF299D9FB685}"/>
              </a:ext>
            </a:extLst>
          </p:cNvPr>
          <p:cNvSpPr txBox="1"/>
          <p:nvPr/>
        </p:nvSpPr>
        <p:spPr>
          <a:xfrm>
            <a:off x="5087107" y="2427014"/>
            <a:ext cx="960519"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EXTI_INTENR</a:t>
            </a:r>
            <a:endParaRPr lang="LID4096" sz="1000">
              <a:solidFill>
                <a:schemeClr val="bg2"/>
              </a:solidFill>
              <a:latin typeface="Consolas" panose="020B0609020204030204" pitchFamily="49" charset="0"/>
            </a:endParaRPr>
          </a:p>
        </p:txBody>
      </p:sp>
      <p:sp>
        <p:nvSpPr>
          <p:cNvPr id="23" name="TextBox 22">
            <a:extLst>
              <a:ext uri="{FF2B5EF4-FFF2-40B4-BE49-F238E27FC236}">
                <a16:creationId xmlns:a16="http://schemas.microsoft.com/office/drawing/2014/main" id="{123061B0-2E42-AB86-8316-E912CC417DE9}"/>
              </a:ext>
            </a:extLst>
          </p:cNvPr>
          <p:cNvSpPr txBox="1"/>
          <p:nvPr/>
        </p:nvSpPr>
        <p:spPr>
          <a:xfrm>
            <a:off x="5087107" y="2673235"/>
            <a:ext cx="960519" cy="338554"/>
          </a:xfrm>
          <a:prstGeom prst="rect">
            <a:avLst/>
          </a:prstGeom>
          <a:solidFill>
            <a:schemeClr val="bg1"/>
          </a:solidFill>
          <a:ln>
            <a:solidFill>
              <a:schemeClr val="tx1"/>
            </a:solidFill>
          </a:ln>
        </p:spPr>
        <p:txBody>
          <a:bodyPr wrap="square" rtlCol="0">
            <a:spAutoFit/>
          </a:bodyPr>
          <a:lstStyle/>
          <a:p>
            <a:pPr algn="ctr"/>
            <a:r>
              <a:rPr lang="en-GB" sz="800" i="1"/>
              <a:t>Interrupt Enable Register</a:t>
            </a:r>
            <a:endParaRPr lang="LID4096" sz="800" i="1"/>
          </a:p>
        </p:txBody>
      </p:sp>
      <p:sp>
        <p:nvSpPr>
          <p:cNvPr id="24" name="TextBox 23">
            <a:extLst>
              <a:ext uri="{FF2B5EF4-FFF2-40B4-BE49-F238E27FC236}">
                <a16:creationId xmlns:a16="http://schemas.microsoft.com/office/drawing/2014/main" id="{6959A318-6E61-29BE-EB07-B66A0BCE986E}"/>
              </a:ext>
            </a:extLst>
          </p:cNvPr>
          <p:cNvSpPr txBox="1"/>
          <p:nvPr/>
        </p:nvSpPr>
        <p:spPr>
          <a:xfrm>
            <a:off x="3345376" y="3110922"/>
            <a:ext cx="889987"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EXTI_INTFR</a:t>
            </a:r>
            <a:endParaRPr lang="LID4096" sz="1000">
              <a:solidFill>
                <a:schemeClr val="bg2"/>
              </a:solidFill>
              <a:latin typeface="Consolas" panose="020B0609020204030204" pitchFamily="49" charset="0"/>
            </a:endParaRPr>
          </a:p>
        </p:txBody>
      </p:sp>
      <p:cxnSp>
        <p:nvCxnSpPr>
          <p:cNvPr id="25" name="Straight Connector 24">
            <a:extLst>
              <a:ext uri="{FF2B5EF4-FFF2-40B4-BE49-F238E27FC236}">
                <a16:creationId xmlns:a16="http://schemas.microsoft.com/office/drawing/2014/main" id="{230EE3A7-4C6F-5838-CDD5-B3646B653407}"/>
              </a:ext>
            </a:extLst>
          </p:cNvPr>
          <p:cNvCxnSpPr>
            <a:cxnSpLocks/>
          </p:cNvCxnSpPr>
          <p:nvPr/>
        </p:nvCxnSpPr>
        <p:spPr>
          <a:xfrm flipH="1">
            <a:off x="9504957" y="3553247"/>
            <a:ext cx="547155"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9EE986D7-2734-D264-BE9B-3192C7648639}"/>
              </a:ext>
            </a:extLst>
          </p:cNvPr>
          <p:cNvCxnSpPr>
            <a:cxnSpLocks/>
          </p:cNvCxnSpPr>
          <p:nvPr/>
        </p:nvCxnSpPr>
        <p:spPr>
          <a:xfrm flipV="1">
            <a:off x="9131362" y="3018401"/>
            <a:ext cx="0" cy="39410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72D5FB52-2072-C59B-BA5A-A803948EFD58}"/>
              </a:ext>
            </a:extLst>
          </p:cNvPr>
          <p:cNvCxnSpPr>
            <a:cxnSpLocks/>
          </p:cNvCxnSpPr>
          <p:nvPr/>
        </p:nvCxnSpPr>
        <p:spPr>
          <a:xfrm flipV="1">
            <a:off x="8160867" y="3009166"/>
            <a:ext cx="0" cy="39410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3944351C-C74B-AD49-A8DF-758C01ECF805}"/>
              </a:ext>
            </a:extLst>
          </p:cNvPr>
          <p:cNvCxnSpPr>
            <a:cxnSpLocks/>
          </p:cNvCxnSpPr>
          <p:nvPr/>
        </p:nvCxnSpPr>
        <p:spPr>
          <a:xfrm flipH="1">
            <a:off x="6583563" y="3593873"/>
            <a:ext cx="1245166"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Connector: Elbow 28">
            <a:extLst>
              <a:ext uri="{FF2B5EF4-FFF2-40B4-BE49-F238E27FC236}">
                <a16:creationId xmlns:a16="http://schemas.microsoft.com/office/drawing/2014/main" id="{08BF4A76-B9EC-3EA4-A8B2-FFE4F9B7D0C5}"/>
              </a:ext>
            </a:extLst>
          </p:cNvPr>
          <p:cNvCxnSpPr>
            <a:stCxn id="21" idx="2"/>
          </p:cNvCxnSpPr>
          <p:nvPr/>
        </p:nvCxnSpPr>
        <p:spPr>
          <a:xfrm rot="5400000">
            <a:off x="6614154" y="3105817"/>
            <a:ext cx="349185" cy="410365"/>
          </a:xfrm>
          <a:prstGeom prst="bentConnector2">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Connector: Elbow 29">
            <a:extLst>
              <a:ext uri="{FF2B5EF4-FFF2-40B4-BE49-F238E27FC236}">
                <a16:creationId xmlns:a16="http://schemas.microsoft.com/office/drawing/2014/main" id="{C50BF422-6275-8700-1FA2-59BD28CFD82D}"/>
              </a:ext>
            </a:extLst>
          </p:cNvPr>
          <p:cNvCxnSpPr>
            <a:stCxn id="23" idx="2"/>
            <a:endCxn id="32" idx="3"/>
          </p:cNvCxnSpPr>
          <p:nvPr/>
        </p:nvCxnSpPr>
        <p:spPr>
          <a:xfrm rot="5400000">
            <a:off x="5327338" y="3139340"/>
            <a:ext cx="367580" cy="112479"/>
          </a:xfrm>
          <a:prstGeom prst="bentConnector2">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5C75663D-2B9C-0469-E831-027176595422}"/>
              </a:ext>
            </a:extLst>
          </p:cNvPr>
          <p:cNvCxnSpPr>
            <a:cxnSpLocks/>
          </p:cNvCxnSpPr>
          <p:nvPr/>
        </p:nvCxnSpPr>
        <p:spPr>
          <a:xfrm flipH="1">
            <a:off x="5181663" y="3492273"/>
            <a:ext cx="100828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DD2C1174-C0BD-C308-E678-F327585D39BA}"/>
              </a:ext>
            </a:extLst>
          </p:cNvPr>
          <p:cNvSpPr txBox="1"/>
          <p:nvPr/>
        </p:nvSpPr>
        <p:spPr>
          <a:xfrm>
            <a:off x="5114730" y="3194703"/>
            <a:ext cx="340158" cy="369332"/>
          </a:xfrm>
          <a:prstGeom prst="rect">
            <a:avLst/>
          </a:prstGeom>
          <a:solidFill>
            <a:schemeClr val="bg1"/>
          </a:solidFill>
          <a:ln>
            <a:solidFill>
              <a:schemeClr val="tx1"/>
            </a:solidFill>
          </a:ln>
        </p:spPr>
        <p:txBody>
          <a:bodyPr wrap="none" rtlCol="0">
            <a:spAutoFit/>
          </a:bodyPr>
          <a:lstStyle/>
          <a:p>
            <a:r>
              <a:rPr lang="en-GB" b="1"/>
              <a:t>&amp;</a:t>
            </a:r>
            <a:endParaRPr lang="LID4096"/>
          </a:p>
        </p:txBody>
      </p:sp>
      <p:sp>
        <p:nvSpPr>
          <p:cNvPr id="33" name="TextBox 32">
            <a:extLst>
              <a:ext uri="{FF2B5EF4-FFF2-40B4-BE49-F238E27FC236}">
                <a16:creationId xmlns:a16="http://schemas.microsoft.com/office/drawing/2014/main" id="{E857FDBB-AABE-1308-EA49-4E98FA7421C0}"/>
              </a:ext>
            </a:extLst>
          </p:cNvPr>
          <p:cNvSpPr txBox="1"/>
          <p:nvPr/>
        </p:nvSpPr>
        <p:spPr>
          <a:xfrm>
            <a:off x="6152035" y="3357143"/>
            <a:ext cx="431528" cy="369332"/>
          </a:xfrm>
          <a:prstGeom prst="rect">
            <a:avLst/>
          </a:prstGeom>
          <a:solidFill>
            <a:schemeClr val="bg1"/>
          </a:solidFill>
          <a:ln>
            <a:solidFill>
              <a:schemeClr val="tx1"/>
            </a:solidFill>
          </a:ln>
        </p:spPr>
        <p:txBody>
          <a:bodyPr wrap="none" rtlCol="0">
            <a:spAutoFit/>
          </a:bodyPr>
          <a:lstStyle/>
          <a:p>
            <a:r>
              <a:rPr lang="en-SE" b="1"/>
              <a:t>≥</a:t>
            </a:r>
            <a:r>
              <a:rPr lang="en-GB"/>
              <a:t>1</a:t>
            </a:r>
            <a:endParaRPr lang="LID4096"/>
          </a:p>
        </p:txBody>
      </p:sp>
      <p:cxnSp>
        <p:nvCxnSpPr>
          <p:cNvPr id="34" name="Straight Arrow Connector 33">
            <a:extLst>
              <a:ext uri="{FF2B5EF4-FFF2-40B4-BE49-F238E27FC236}">
                <a16:creationId xmlns:a16="http://schemas.microsoft.com/office/drawing/2014/main" id="{882126B4-0A69-1415-28D5-382490FA9E3E}"/>
              </a:ext>
            </a:extLst>
          </p:cNvPr>
          <p:cNvCxnSpPr/>
          <p:nvPr/>
        </p:nvCxnSpPr>
        <p:spPr>
          <a:xfrm flipH="1">
            <a:off x="1761515" y="3396507"/>
            <a:ext cx="531213" cy="0"/>
          </a:xfrm>
          <a:prstGeom prst="straightConnector1">
            <a:avLst/>
          </a:prstGeom>
          <a:ln w="508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8EFBEDB8-9631-E6A7-86AA-985B522D374C}"/>
              </a:ext>
            </a:extLst>
          </p:cNvPr>
          <p:cNvCxnSpPr>
            <a:cxnSpLocks/>
          </p:cNvCxnSpPr>
          <p:nvPr/>
        </p:nvCxnSpPr>
        <p:spPr>
          <a:xfrm flipH="1">
            <a:off x="4859675" y="3299474"/>
            <a:ext cx="255055"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E1D978BE-4B97-F074-2F63-48A76B649A03}"/>
              </a:ext>
            </a:extLst>
          </p:cNvPr>
          <p:cNvSpPr txBox="1"/>
          <p:nvPr/>
        </p:nvSpPr>
        <p:spPr>
          <a:xfrm>
            <a:off x="4470283" y="3194703"/>
            <a:ext cx="431528" cy="369332"/>
          </a:xfrm>
          <a:prstGeom prst="rect">
            <a:avLst/>
          </a:prstGeom>
          <a:solidFill>
            <a:schemeClr val="bg1"/>
          </a:solidFill>
          <a:ln>
            <a:solidFill>
              <a:schemeClr val="tx1"/>
            </a:solidFill>
          </a:ln>
        </p:spPr>
        <p:txBody>
          <a:bodyPr wrap="none" rtlCol="0">
            <a:spAutoFit/>
          </a:bodyPr>
          <a:lstStyle/>
          <a:p>
            <a:r>
              <a:rPr lang="en-SE" b="1"/>
              <a:t>≥</a:t>
            </a:r>
            <a:r>
              <a:rPr lang="en-GB"/>
              <a:t>1</a:t>
            </a:r>
            <a:endParaRPr lang="LID4096"/>
          </a:p>
        </p:txBody>
      </p:sp>
      <p:sp>
        <p:nvSpPr>
          <p:cNvPr id="37" name="Freeform: Shape 36">
            <a:extLst>
              <a:ext uri="{FF2B5EF4-FFF2-40B4-BE49-F238E27FC236}">
                <a16:creationId xmlns:a16="http://schemas.microsoft.com/office/drawing/2014/main" id="{0398090F-6397-5EB4-6B7F-62D96A30ED5E}"/>
              </a:ext>
            </a:extLst>
          </p:cNvPr>
          <p:cNvSpPr/>
          <p:nvPr/>
        </p:nvSpPr>
        <p:spPr>
          <a:xfrm>
            <a:off x="2762312" y="3396692"/>
            <a:ext cx="577850" cy="0"/>
          </a:xfrm>
          <a:custGeom>
            <a:avLst/>
            <a:gdLst>
              <a:gd name="csX0" fmla="*/ 577850 w 577850"/>
              <a:gd name="csY0" fmla="*/ 0 h 0"/>
              <a:gd name="csX1" fmla="*/ 0 w 577850"/>
              <a:gd name="csY1" fmla="*/ 0 h 0"/>
            </a:gdLst>
            <a:ahLst/>
            <a:cxnLst>
              <a:cxn ang="0">
                <a:pos x="csX0" y="csY0"/>
              </a:cxn>
              <a:cxn ang="0">
                <a:pos x="csX1" y="csY1"/>
              </a:cxn>
            </a:cxnLst>
            <a:rect l="l" t="t" r="r" b="b"/>
            <a:pathLst>
              <a:path w="577850">
                <a:moveTo>
                  <a:pt x="577850" y="0"/>
                </a:moveTo>
                <a:lnTo>
                  <a:pt x="0" y="0"/>
                </a:lnTo>
              </a:path>
            </a:pathLst>
          </a:custGeom>
          <a:noFill/>
          <a:ln>
            <a:solidFill>
              <a:schemeClr val="tx1"/>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38" name="Freeform: Shape 37">
            <a:extLst>
              <a:ext uri="{FF2B5EF4-FFF2-40B4-BE49-F238E27FC236}">
                <a16:creationId xmlns:a16="http://schemas.microsoft.com/office/drawing/2014/main" id="{F741F997-3D6C-4E54-C5AB-DD1BE880819D}"/>
              </a:ext>
            </a:extLst>
          </p:cNvPr>
          <p:cNvSpPr/>
          <p:nvPr/>
        </p:nvSpPr>
        <p:spPr>
          <a:xfrm>
            <a:off x="3200462" y="3403042"/>
            <a:ext cx="1835150" cy="488950"/>
          </a:xfrm>
          <a:custGeom>
            <a:avLst/>
            <a:gdLst>
              <a:gd name="csX0" fmla="*/ 0 w 1835150"/>
              <a:gd name="csY0" fmla="*/ 0 h 488950"/>
              <a:gd name="csX1" fmla="*/ 0 w 1835150"/>
              <a:gd name="csY1" fmla="*/ 488950 h 488950"/>
              <a:gd name="csX2" fmla="*/ 1835150 w 1835150"/>
              <a:gd name="csY2" fmla="*/ 488950 h 488950"/>
              <a:gd name="csX3" fmla="*/ 1835150 w 1835150"/>
              <a:gd name="csY3" fmla="*/ 82550 h 488950"/>
              <a:gd name="csX4" fmla="*/ 1708150 w 1835150"/>
              <a:gd name="csY4" fmla="*/ 82550 h 488950"/>
            </a:gdLst>
            <a:ahLst/>
            <a:cxnLst>
              <a:cxn ang="0">
                <a:pos x="csX0" y="csY0"/>
              </a:cxn>
              <a:cxn ang="0">
                <a:pos x="csX1" y="csY1"/>
              </a:cxn>
              <a:cxn ang="0">
                <a:pos x="csX2" y="csY2"/>
              </a:cxn>
              <a:cxn ang="0">
                <a:pos x="csX3" y="csY3"/>
              </a:cxn>
              <a:cxn ang="0">
                <a:pos x="csX4" y="csY4"/>
              </a:cxn>
            </a:cxnLst>
            <a:rect l="l" t="t" r="r" b="b"/>
            <a:pathLst>
              <a:path w="1835150" h="488950">
                <a:moveTo>
                  <a:pt x="0" y="0"/>
                </a:moveTo>
                <a:lnTo>
                  <a:pt x="0" y="488950"/>
                </a:lnTo>
                <a:lnTo>
                  <a:pt x="1835150" y="488950"/>
                </a:lnTo>
                <a:lnTo>
                  <a:pt x="1835150" y="82550"/>
                </a:lnTo>
                <a:lnTo>
                  <a:pt x="1708150" y="82550"/>
                </a:lnTo>
              </a:path>
            </a:pathLst>
          </a:custGeom>
          <a:noFill/>
          <a:ln>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39" name="Straight Arrow Connector 38">
            <a:extLst>
              <a:ext uri="{FF2B5EF4-FFF2-40B4-BE49-F238E27FC236}">
                <a16:creationId xmlns:a16="http://schemas.microsoft.com/office/drawing/2014/main" id="{9E690E20-E287-EF14-4F57-8EE785E57F69}"/>
              </a:ext>
            </a:extLst>
          </p:cNvPr>
          <p:cNvCxnSpPr>
            <a:cxnSpLocks/>
            <a:stCxn id="36" idx="1"/>
          </p:cNvCxnSpPr>
          <p:nvPr/>
        </p:nvCxnSpPr>
        <p:spPr>
          <a:xfrm flipH="1">
            <a:off x="4235363" y="3379369"/>
            <a:ext cx="234920"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0" name="TextBox 39">
            <a:extLst>
              <a:ext uri="{FF2B5EF4-FFF2-40B4-BE49-F238E27FC236}">
                <a16:creationId xmlns:a16="http://schemas.microsoft.com/office/drawing/2014/main" id="{6FEC0FCB-F1EF-F38B-3E84-04896681CB56}"/>
              </a:ext>
            </a:extLst>
          </p:cNvPr>
          <p:cNvSpPr txBox="1"/>
          <p:nvPr/>
        </p:nvSpPr>
        <p:spPr>
          <a:xfrm>
            <a:off x="3345376" y="3357143"/>
            <a:ext cx="889987" cy="338554"/>
          </a:xfrm>
          <a:prstGeom prst="rect">
            <a:avLst/>
          </a:prstGeom>
          <a:solidFill>
            <a:schemeClr val="bg1"/>
          </a:solidFill>
          <a:ln>
            <a:solidFill>
              <a:schemeClr val="tx1"/>
            </a:solidFill>
          </a:ln>
        </p:spPr>
        <p:txBody>
          <a:bodyPr wrap="square" rtlCol="0">
            <a:spAutoFit/>
          </a:bodyPr>
          <a:lstStyle/>
          <a:p>
            <a:pPr algn="ctr"/>
            <a:r>
              <a:rPr lang="en-GB" sz="800" i="1"/>
              <a:t>Interrupt Flag Register</a:t>
            </a:r>
            <a:endParaRPr lang="LID4096" sz="800" i="1"/>
          </a:p>
        </p:txBody>
      </p:sp>
      <p:sp>
        <p:nvSpPr>
          <p:cNvPr id="41" name="TextBox 40">
            <a:extLst>
              <a:ext uri="{FF2B5EF4-FFF2-40B4-BE49-F238E27FC236}">
                <a16:creationId xmlns:a16="http://schemas.microsoft.com/office/drawing/2014/main" id="{44BFD08A-6A80-7BD5-9D63-7E9DF7010063}"/>
              </a:ext>
            </a:extLst>
          </p:cNvPr>
          <p:cNvSpPr txBox="1"/>
          <p:nvPr/>
        </p:nvSpPr>
        <p:spPr>
          <a:xfrm>
            <a:off x="3345376" y="2649258"/>
            <a:ext cx="889987" cy="338554"/>
          </a:xfrm>
          <a:prstGeom prst="rect">
            <a:avLst/>
          </a:prstGeom>
          <a:noFill/>
          <a:ln>
            <a:noFill/>
          </a:ln>
        </p:spPr>
        <p:txBody>
          <a:bodyPr wrap="square" rtlCol="0">
            <a:spAutoFit/>
          </a:bodyPr>
          <a:lstStyle/>
          <a:p>
            <a:pPr algn="ctr"/>
            <a:r>
              <a:rPr lang="en-GB" sz="800" i="1" dirty="0"/>
              <a:t>Only reset from software</a:t>
            </a:r>
            <a:endParaRPr lang="LID4096" sz="800" i="1" dirty="0"/>
          </a:p>
        </p:txBody>
      </p:sp>
      <p:cxnSp>
        <p:nvCxnSpPr>
          <p:cNvPr id="42" name="Straight Arrow Connector 41">
            <a:extLst>
              <a:ext uri="{FF2B5EF4-FFF2-40B4-BE49-F238E27FC236}">
                <a16:creationId xmlns:a16="http://schemas.microsoft.com/office/drawing/2014/main" id="{ACB660B3-5B91-4085-44F1-73D2D637813E}"/>
              </a:ext>
            </a:extLst>
          </p:cNvPr>
          <p:cNvCxnSpPr>
            <a:cxnSpLocks/>
          </p:cNvCxnSpPr>
          <p:nvPr/>
        </p:nvCxnSpPr>
        <p:spPr>
          <a:xfrm>
            <a:off x="3792649" y="2953919"/>
            <a:ext cx="0" cy="1524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nvGrpSpPr>
          <p:cNvPr id="51" name="Group 50">
            <a:extLst>
              <a:ext uri="{FF2B5EF4-FFF2-40B4-BE49-F238E27FC236}">
                <a16:creationId xmlns:a16="http://schemas.microsoft.com/office/drawing/2014/main" id="{E7B6E226-2060-0BF4-69EE-FEB1E91A8E1C}"/>
              </a:ext>
            </a:extLst>
          </p:cNvPr>
          <p:cNvGrpSpPr/>
          <p:nvPr/>
        </p:nvGrpSpPr>
        <p:grpSpPr>
          <a:xfrm>
            <a:off x="7142444" y="3717874"/>
            <a:ext cx="889987" cy="473454"/>
            <a:chOff x="7142444" y="3717874"/>
            <a:chExt cx="889987" cy="473454"/>
          </a:xfrm>
        </p:grpSpPr>
        <p:sp>
          <p:nvSpPr>
            <p:cNvPr id="43" name="Freeform: Shape 42">
              <a:extLst>
                <a:ext uri="{FF2B5EF4-FFF2-40B4-BE49-F238E27FC236}">
                  <a16:creationId xmlns:a16="http://schemas.microsoft.com/office/drawing/2014/main" id="{36048FA8-A646-B79D-2D7A-B19AF0CF0EAA}"/>
                </a:ext>
              </a:extLst>
            </p:cNvPr>
            <p:cNvSpPr/>
            <p:nvPr/>
          </p:nvSpPr>
          <p:spPr>
            <a:xfrm>
              <a:off x="7474187" y="3717874"/>
              <a:ext cx="226503" cy="247475"/>
            </a:xfrm>
            <a:custGeom>
              <a:avLst/>
              <a:gdLst>
                <a:gd name="csX0" fmla="*/ 0 w 226503"/>
                <a:gd name="csY0" fmla="*/ 247475 h 247475"/>
                <a:gd name="csX1" fmla="*/ 83890 w 226503"/>
                <a:gd name="csY1" fmla="*/ 247475 h 247475"/>
                <a:gd name="csX2" fmla="*/ 83890 w 226503"/>
                <a:gd name="csY2" fmla="*/ 0 h 247475"/>
                <a:gd name="csX3" fmla="*/ 146808 w 226503"/>
                <a:gd name="csY3" fmla="*/ 0 h 247475"/>
                <a:gd name="csX4" fmla="*/ 146808 w 226503"/>
                <a:gd name="csY4" fmla="*/ 247475 h 247475"/>
                <a:gd name="csX5" fmla="*/ 226503 w 226503"/>
                <a:gd name="csY5" fmla="*/ 247475 h 247475"/>
              </a:gdLst>
              <a:ahLst/>
              <a:cxnLst>
                <a:cxn ang="0">
                  <a:pos x="csX0" y="csY0"/>
                </a:cxn>
                <a:cxn ang="0">
                  <a:pos x="csX1" y="csY1"/>
                </a:cxn>
                <a:cxn ang="0">
                  <a:pos x="csX2" y="csY2"/>
                </a:cxn>
                <a:cxn ang="0">
                  <a:pos x="csX3" y="csY3"/>
                </a:cxn>
                <a:cxn ang="0">
                  <a:pos x="csX4" y="csY4"/>
                </a:cxn>
                <a:cxn ang="0">
                  <a:pos x="csX5" y="csY5"/>
                </a:cxn>
              </a:cxnLst>
              <a:rect l="l" t="t" r="r" b="b"/>
              <a:pathLst>
                <a:path w="226503" h="247475">
                  <a:moveTo>
                    <a:pt x="0" y="247475"/>
                  </a:moveTo>
                  <a:lnTo>
                    <a:pt x="83890" y="247475"/>
                  </a:lnTo>
                  <a:lnTo>
                    <a:pt x="83890" y="0"/>
                  </a:lnTo>
                  <a:lnTo>
                    <a:pt x="146808" y="0"/>
                  </a:lnTo>
                  <a:lnTo>
                    <a:pt x="146808" y="247475"/>
                  </a:lnTo>
                  <a:lnTo>
                    <a:pt x="226503" y="247475"/>
                  </a:lnTo>
                </a:path>
              </a:pathLst>
            </a:cu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44" name="Straight Connector 43">
              <a:extLst>
                <a:ext uri="{FF2B5EF4-FFF2-40B4-BE49-F238E27FC236}">
                  <a16:creationId xmlns:a16="http://schemas.microsoft.com/office/drawing/2014/main" id="{F750A217-4CA9-BB25-57B7-B95F3D5AED7B}"/>
                </a:ext>
              </a:extLst>
            </p:cNvPr>
            <p:cNvCxnSpPr>
              <a:cxnSpLocks/>
            </p:cNvCxnSpPr>
            <p:nvPr/>
          </p:nvCxnSpPr>
          <p:spPr>
            <a:xfrm flipH="1" flipV="1">
              <a:off x="7313757"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D78CB11D-3DB5-CE7B-106A-1A47811E06DB}"/>
                </a:ext>
              </a:extLst>
            </p:cNvPr>
            <p:cNvCxnSpPr>
              <a:cxnSpLocks/>
            </p:cNvCxnSpPr>
            <p:nvPr/>
          </p:nvCxnSpPr>
          <p:spPr>
            <a:xfrm flipH="1" flipV="1">
              <a:off x="7718923"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106E7DB-57FF-0354-EA49-14711E32A3F2}"/>
                </a:ext>
              </a:extLst>
            </p:cNvPr>
            <p:cNvSpPr txBox="1"/>
            <p:nvPr/>
          </p:nvSpPr>
          <p:spPr>
            <a:xfrm>
              <a:off x="7142444" y="3975884"/>
              <a:ext cx="889987" cy="215444"/>
            </a:xfrm>
            <a:prstGeom prst="rect">
              <a:avLst/>
            </a:prstGeom>
            <a:noFill/>
            <a:ln>
              <a:noFill/>
            </a:ln>
          </p:spPr>
          <p:txBody>
            <a:bodyPr wrap="square" rtlCol="0">
              <a:spAutoFit/>
            </a:bodyPr>
            <a:lstStyle/>
            <a:p>
              <a:pPr algn="ctr"/>
              <a:r>
                <a:rPr lang="en-GB" sz="800" i="1"/>
                <a:t>pulse</a:t>
              </a:r>
              <a:endParaRPr lang="LID4096" sz="800" i="1"/>
            </a:p>
          </p:txBody>
        </p:sp>
      </p:grpSp>
      <p:pic>
        <p:nvPicPr>
          <p:cNvPr id="50" name="Picture 49">
            <a:extLst>
              <a:ext uri="{FF2B5EF4-FFF2-40B4-BE49-F238E27FC236}">
                <a16:creationId xmlns:a16="http://schemas.microsoft.com/office/drawing/2014/main" id="{9C172361-886F-EEF7-56AE-E77EBD6AEE3A}"/>
              </a:ext>
            </a:extLst>
          </p:cNvPr>
          <p:cNvPicPr>
            <a:picLocks noChangeAspect="1"/>
          </p:cNvPicPr>
          <p:nvPr/>
        </p:nvPicPr>
        <p:blipFill>
          <a:blip r:embed="rId3"/>
          <a:stretch>
            <a:fillRect/>
          </a:stretch>
        </p:blipFill>
        <p:spPr>
          <a:xfrm>
            <a:off x="3128429" y="4785891"/>
            <a:ext cx="6031412" cy="1890758"/>
          </a:xfrm>
          <a:prstGeom prst="rect">
            <a:avLst/>
          </a:prstGeom>
        </p:spPr>
      </p:pic>
      <p:grpSp>
        <p:nvGrpSpPr>
          <p:cNvPr id="52" name="Group 51">
            <a:extLst>
              <a:ext uri="{FF2B5EF4-FFF2-40B4-BE49-F238E27FC236}">
                <a16:creationId xmlns:a16="http://schemas.microsoft.com/office/drawing/2014/main" id="{97E09799-949A-790A-386C-0237FDEDD1B8}"/>
              </a:ext>
            </a:extLst>
          </p:cNvPr>
          <p:cNvGrpSpPr/>
          <p:nvPr/>
        </p:nvGrpSpPr>
        <p:grpSpPr>
          <a:xfrm>
            <a:off x="6674413" y="3196268"/>
            <a:ext cx="293603" cy="133412"/>
            <a:chOff x="7313757" y="3717874"/>
            <a:chExt cx="544623" cy="247475"/>
          </a:xfrm>
        </p:grpSpPr>
        <p:sp>
          <p:nvSpPr>
            <p:cNvPr id="53" name="Freeform: Shape 52">
              <a:extLst>
                <a:ext uri="{FF2B5EF4-FFF2-40B4-BE49-F238E27FC236}">
                  <a16:creationId xmlns:a16="http://schemas.microsoft.com/office/drawing/2014/main" id="{8A524F31-203B-CE5E-9686-83A54874D714}"/>
                </a:ext>
              </a:extLst>
            </p:cNvPr>
            <p:cNvSpPr/>
            <p:nvPr/>
          </p:nvSpPr>
          <p:spPr>
            <a:xfrm>
              <a:off x="7474187" y="3717874"/>
              <a:ext cx="226503" cy="247475"/>
            </a:xfrm>
            <a:custGeom>
              <a:avLst/>
              <a:gdLst>
                <a:gd name="csX0" fmla="*/ 0 w 226503"/>
                <a:gd name="csY0" fmla="*/ 247475 h 247475"/>
                <a:gd name="csX1" fmla="*/ 83890 w 226503"/>
                <a:gd name="csY1" fmla="*/ 247475 h 247475"/>
                <a:gd name="csX2" fmla="*/ 83890 w 226503"/>
                <a:gd name="csY2" fmla="*/ 0 h 247475"/>
                <a:gd name="csX3" fmla="*/ 146808 w 226503"/>
                <a:gd name="csY3" fmla="*/ 0 h 247475"/>
                <a:gd name="csX4" fmla="*/ 146808 w 226503"/>
                <a:gd name="csY4" fmla="*/ 247475 h 247475"/>
                <a:gd name="csX5" fmla="*/ 226503 w 226503"/>
                <a:gd name="csY5" fmla="*/ 247475 h 247475"/>
              </a:gdLst>
              <a:ahLst/>
              <a:cxnLst>
                <a:cxn ang="0">
                  <a:pos x="csX0" y="csY0"/>
                </a:cxn>
                <a:cxn ang="0">
                  <a:pos x="csX1" y="csY1"/>
                </a:cxn>
                <a:cxn ang="0">
                  <a:pos x="csX2" y="csY2"/>
                </a:cxn>
                <a:cxn ang="0">
                  <a:pos x="csX3" y="csY3"/>
                </a:cxn>
                <a:cxn ang="0">
                  <a:pos x="csX4" y="csY4"/>
                </a:cxn>
                <a:cxn ang="0">
                  <a:pos x="csX5" y="csY5"/>
                </a:cxn>
              </a:cxnLst>
              <a:rect l="l" t="t" r="r" b="b"/>
              <a:pathLst>
                <a:path w="226503" h="247475">
                  <a:moveTo>
                    <a:pt x="0" y="247475"/>
                  </a:moveTo>
                  <a:lnTo>
                    <a:pt x="83890" y="247475"/>
                  </a:lnTo>
                  <a:lnTo>
                    <a:pt x="83890" y="0"/>
                  </a:lnTo>
                  <a:lnTo>
                    <a:pt x="146808" y="0"/>
                  </a:lnTo>
                  <a:lnTo>
                    <a:pt x="146808" y="247475"/>
                  </a:lnTo>
                  <a:lnTo>
                    <a:pt x="226503" y="247475"/>
                  </a:lnTo>
                </a:path>
              </a:pathLst>
            </a:cu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54" name="Straight Connector 53">
              <a:extLst>
                <a:ext uri="{FF2B5EF4-FFF2-40B4-BE49-F238E27FC236}">
                  <a16:creationId xmlns:a16="http://schemas.microsoft.com/office/drawing/2014/main" id="{64EC5D26-9F42-EF36-6159-162F49D4B393}"/>
                </a:ext>
              </a:extLst>
            </p:cNvPr>
            <p:cNvCxnSpPr>
              <a:cxnSpLocks/>
            </p:cNvCxnSpPr>
            <p:nvPr/>
          </p:nvCxnSpPr>
          <p:spPr>
            <a:xfrm flipH="1" flipV="1">
              <a:off x="7313757"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B78B091D-D4DE-1BFE-2555-DCA6FD59DAA6}"/>
                </a:ext>
              </a:extLst>
            </p:cNvPr>
            <p:cNvCxnSpPr>
              <a:cxnSpLocks/>
            </p:cNvCxnSpPr>
            <p:nvPr/>
          </p:nvCxnSpPr>
          <p:spPr>
            <a:xfrm flipH="1" flipV="1">
              <a:off x="7718923"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0410656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3BA0D-50F2-C996-86C7-51AEA5D95E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3DEFDD-1724-3CDF-8658-D75DA6E436CD}"/>
              </a:ext>
            </a:extLst>
          </p:cNvPr>
          <p:cNvSpPr>
            <a:spLocks noGrp="1"/>
          </p:cNvSpPr>
          <p:nvPr>
            <p:ph type="title"/>
          </p:nvPr>
        </p:nvSpPr>
        <p:spPr/>
        <p:txBody>
          <a:bodyPr/>
          <a:lstStyle/>
          <a:p>
            <a:r>
              <a:rPr lang="en-US" dirty="0"/>
              <a:t>N</a:t>
            </a:r>
            <a:r>
              <a:rPr lang="sv-SE" dirty="0"/>
              <a:t>är skall vi fyra av ett </a:t>
            </a:r>
            <a:r>
              <a:rPr lang="sv-SE" dirty="0" err="1"/>
              <a:t>interrupt</a:t>
            </a:r>
            <a:r>
              <a:rPr lang="sv-SE" dirty="0"/>
              <a:t>? </a:t>
            </a:r>
            <a:br>
              <a:rPr lang="sv-SE" dirty="0"/>
            </a:br>
            <a:r>
              <a:rPr lang="sv-SE" sz="3200" dirty="0"/>
              <a:t>EXTI</a:t>
            </a:r>
            <a:endParaRPr lang="LID4096" dirty="0"/>
          </a:p>
        </p:txBody>
      </p:sp>
      <p:sp>
        <p:nvSpPr>
          <p:cNvPr id="4" name="TextBox 3">
            <a:extLst>
              <a:ext uri="{FF2B5EF4-FFF2-40B4-BE49-F238E27FC236}">
                <a16:creationId xmlns:a16="http://schemas.microsoft.com/office/drawing/2014/main" id="{A93D0E21-D901-7F2B-C2DA-506E885CBA51}"/>
              </a:ext>
            </a:extLst>
          </p:cNvPr>
          <p:cNvSpPr txBox="1"/>
          <p:nvPr/>
        </p:nvSpPr>
        <p:spPr>
          <a:xfrm>
            <a:off x="2292728" y="1974294"/>
            <a:ext cx="8286434" cy="2584448"/>
          </a:xfrm>
          <a:prstGeom prst="rect">
            <a:avLst/>
          </a:prstGeom>
          <a:solidFill>
            <a:schemeClr val="accent6">
              <a:lumMod val="40000"/>
              <a:lumOff val="60000"/>
            </a:schemeClr>
          </a:solidFill>
          <a:ln>
            <a:solidFill>
              <a:schemeClr val="accent6">
                <a:lumMod val="75000"/>
              </a:schemeClr>
            </a:solidFill>
          </a:ln>
        </p:spPr>
        <p:txBody>
          <a:bodyPr wrap="square" rtlCol="0">
            <a:noAutofit/>
          </a:bodyPr>
          <a:lstStyle/>
          <a:p>
            <a:pPr algn="ctr"/>
            <a:r>
              <a:rPr lang="en-US"/>
              <a:t>EXTI</a:t>
            </a:r>
            <a:br>
              <a:rPr lang="en-US"/>
            </a:br>
            <a:endParaRPr lang="en-US" sz="1050"/>
          </a:p>
        </p:txBody>
      </p:sp>
      <p:sp>
        <p:nvSpPr>
          <p:cNvPr id="5" name="TextBox 4">
            <a:extLst>
              <a:ext uri="{FF2B5EF4-FFF2-40B4-BE49-F238E27FC236}">
                <a16:creationId xmlns:a16="http://schemas.microsoft.com/office/drawing/2014/main" id="{F54FF6FC-87A3-1FC8-4D04-E946D5E293BD}"/>
              </a:ext>
            </a:extLst>
          </p:cNvPr>
          <p:cNvSpPr txBox="1"/>
          <p:nvPr/>
        </p:nvSpPr>
        <p:spPr>
          <a:xfrm>
            <a:off x="9985835" y="3280885"/>
            <a:ext cx="593327" cy="1223412"/>
          </a:xfrm>
          <a:prstGeom prst="rect">
            <a:avLst/>
          </a:prstGeom>
          <a:noFill/>
        </p:spPr>
        <p:txBody>
          <a:bodyPr wrap="square">
            <a:spAutoFit/>
          </a:bodyPr>
          <a:lstStyle/>
          <a:p>
            <a:pPr algn="r"/>
            <a:r>
              <a:rPr lang="en-US" sz="1050"/>
              <a:t>EXTI0</a:t>
            </a:r>
            <a:br>
              <a:rPr lang="en-US" sz="1050"/>
            </a:br>
            <a:r>
              <a:rPr lang="en-US" sz="1050" b="1"/>
              <a:t>EXTI1</a:t>
            </a:r>
            <a:br>
              <a:rPr lang="en-US" sz="1050" b="1"/>
            </a:br>
            <a:r>
              <a:rPr lang="en-US" sz="1050"/>
              <a:t>EXTI2</a:t>
            </a:r>
            <a:br>
              <a:rPr lang="en-US" sz="1050"/>
            </a:br>
            <a:r>
              <a:rPr lang="en-US" sz="1050"/>
              <a:t>EXTI3</a:t>
            </a:r>
            <a:br>
              <a:rPr lang="en-US" sz="1050"/>
            </a:br>
            <a:r>
              <a:rPr lang="en-US" sz="1050"/>
              <a:t>EXTI4</a:t>
            </a:r>
          </a:p>
          <a:p>
            <a:pPr algn="r"/>
            <a:r>
              <a:rPr lang="en-US" sz="1050"/>
              <a:t>EXTI5</a:t>
            </a:r>
          </a:p>
          <a:p>
            <a:pPr algn="ctr"/>
            <a:r>
              <a:rPr lang="en-US" sz="1050"/>
              <a:t>...</a:t>
            </a:r>
            <a:endParaRPr lang="LID4096" sz="3600" dirty="0"/>
          </a:p>
        </p:txBody>
      </p:sp>
      <p:cxnSp>
        <p:nvCxnSpPr>
          <p:cNvPr id="6" name="Straight Arrow Connector 5">
            <a:extLst>
              <a:ext uri="{FF2B5EF4-FFF2-40B4-BE49-F238E27FC236}">
                <a16:creationId xmlns:a16="http://schemas.microsoft.com/office/drawing/2014/main" id="{F83912AC-780F-9E64-7C8A-D1275BA451B0}"/>
              </a:ext>
            </a:extLst>
          </p:cNvPr>
          <p:cNvCxnSpPr/>
          <p:nvPr/>
        </p:nvCxnSpPr>
        <p:spPr>
          <a:xfrm flipH="1">
            <a:off x="10679040" y="3415557"/>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0C5753E0-96E1-C0F7-4EE1-65D2F27EFFD9}"/>
              </a:ext>
            </a:extLst>
          </p:cNvPr>
          <p:cNvCxnSpPr/>
          <p:nvPr/>
        </p:nvCxnSpPr>
        <p:spPr>
          <a:xfrm flipH="1">
            <a:off x="10679040" y="3570054"/>
            <a:ext cx="531213" cy="0"/>
          </a:xfrm>
          <a:prstGeom prst="straightConnector1">
            <a:avLst/>
          </a:prstGeom>
          <a:ln w="508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0A6777F8-7F42-829F-DE08-222ABB1A7703}"/>
              </a:ext>
            </a:extLst>
          </p:cNvPr>
          <p:cNvCxnSpPr/>
          <p:nvPr/>
        </p:nvCxnSpPr>
        <p:spPr>
          <a:xfrm flipH="1">
            <a:off x="10675869" y="3745525"/>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8FD45F46-127B-E571-DC5C-A8B503271B1B}"/>
              </a:ext>
            </a:extLst>
          </p:cNvPr>
          <p:cNvCxnSpPr/>
          <p:nvPr/>
        </p:nvCxnSpPr>
        <p:spPr>
          <a:xfrm flipH="1">
            <a:off x="10675869" y="3907012"/>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1D125B1F-309D-6BA2-3369-78123856F5E8}"/>
              </a:ext>
            </a:extLst>
          </p:cNvPr>
          <p:cNvCxnSpPr/>
          <p:nvPr/>
        </p:nvCxnSpPr>
        <p:spPr>
          <a:xfrm flipH="1">
            <a:off x="10675869" y="4065306"/>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F68FD25F-2338-07A0-F592-9E59A91311A6}"/>
              </a:ext>
            </a:extLst>
          </p:cNvPr>
          <p:cNvCxnSpPr/>
          <p:nvPr/>
        </p:nvCxnSpPr>
        <p:spPr>
          <a:xfrm flipH="1">
            <a:off x="10675869" y="4228870"/>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a:extLst>
              <a:ext uri="{FF2B5EF4-FFF2-40B4-BE49-F238E27FC236}">
                <a16:creationId xmlns:a16="http://schemas.microsoft.com/office/drawing/2014/main" id="{6D742BC9-F24B-A77B-D567-575606F77967}"/>
              </a:ext>
            </a:extLst>
          </p:cNvPr>
          <p:cNvSpPr/>
          <p:nvPr/>
        </p:nvSpPr>
        <p:spPr>
          <a:xfrm>
            <a:off x="10687428" y="3695101"/>
            <a:ext cx="908134" cy="647781"/>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3" name="TextBox 12">
            <a:extLst>
              <a:ext uri="{FF2B5EF4-FFF2-40B4-BE49-F238E27FC236}">
                <a16:creationId xmlns:a16="http://schemas.microsoft.com/office/drawing/2014/main" id="{44F3DC98-D504-A30A-4047-544C88F0FC72}"/>
              </a:ext>
            </a:extLst>
          </p:cNvPr>
          <p:cNvSpPr txBox="1"/>
          <p:nvPr/>
        </p:nvSpPr>
        <p:spPr>
          <a:xfrm>
            <a:off x="2281169" y="3114769"/>
            <a:ext cx="849594" cy="1223412"/>
          </a:xfrm>
          <a:prstGeom prst="rect">
            <a:avLst/>
          </a:prstGeom>
          <a:noFill/>
        </p:spPr>
        <p:txBody>
          <a:bodyPr wrap="square">
            <a:spAutoFit/>
          </a:bodyPr>
          <a:lstStyle/>
          <a:p>
            <a:r>
              <a:rPr lang="en-US" sz="1050"/>
              <a:t>EXTI0</a:t>
            </a:r>
            <a:br>
              <a:rPr lang="en-US" sz="1050"/>
            </a:br>
            <a:r>
              <a:rPr lang="en-US" sz="1050" b="1"/>
              <a:t>EXTI1</a:t>
            </a:r>
            <a:br>
              <a:rPr lang="en-US" sz="1050"/>
            </a:br>
            <a:r>
              <a:rPr lang="en-US" sz="1050"/>
              <a:t>EXTI2</a:t>
            </a:r>
            <a:br>
              <a:rPr lang="en-US" sz="1050"/>
            </a:br>
            <a:r>
              <a:rPr lang="en-US" sz="1050"/>
              <a:t>EXTI3</a:t>
            </a:r>
            <a:br>
              <a:rPr lang="en-US" sz="1050"/>
            </a:br>
            <a:r>
              <a:rPr lang="en-US" sz="1050"/>
              <a:t>EXTI4</a:t>
            </a:r>
          </a:p>
          <a:p>
            <a:r>
              <a:rPr lang="en-US" sz="1050"/>
              <a:t>EXTI5_9</a:t>
            </a:r>
            <a:br>
              <a:rPr lang="en-US" sz="1050"/>
            </a:br>
            <a:r>
              <a:rPr lang="en-US" sz="1050"/>
              <a:t>EXTI10_15</a:t>
            </a:r>
          </a:p>
        </p:txBody>
      </p:sp>
      <p:sp>
        <p:nvSpPr>
          <p:cNvPr id="14" name="TextBox 13">
            <a:extLst>
              <a:ext uri="{FF2B5EF4-FFF2-40B4-BE49-F238E27FC236}">
                <a16:creationId xmlns:a16="http://schemas.microsoft.com/office/drawing/2014/main" id="{D59E3D4D-862E-BC8A-CC93-5F37E0E140B1}"/>
              </a:ext>
            </a:extLst>
          </p:cNvPr>
          <p:cNvSpPr txBox="1"/>
          <p:nvPr/>
        </p:nvSpPr>
        <p:spPr>
          <a:xfrm rot="16200000">
            <a:off x="188771" y="2956314"/>
            <a:ext cx="2584447" cy="620410"/>
          </a:xfrm>
          <a:prstGeom prst="rect">
            <a:avLst/>
          </a:prstGeom>
          <a:solidFill>
            <a:schemeClr val="accent1">
              <a:lumMod val="60000"/>
              <a:lumOff val="40000"/>
            </a:schemeClr>
          </a:solidFill>
          <a:ln>
            <a:solidFill>
              <a:schemeClr val="tx2">
                <a:lumMod val="75000"/>
                <a:lumOff val="25000"/>
              </a:schemeClr>
            </a:solidFill>
          </a:ln>
        </p:spPr>
        <p:txBody>
          <a:bodyPr wrap="square" rtlCol="0">
            <a:noAutofit/>
          </a:bodyPr>
          <a:lstStyle/>
          <a:p>
            <a:pPr algn="ctr"/>
            <a:r>
              <a:rPr lang="en-US" sz="3600"/>
              <a:t>PFIC</a:t>
            </a:r>
            <a:endParaRPr lang="LID4096" sz="6000" dirty="0"/>
          </a:p>
        </p:txBody>
      </p:sp>
      <p:sp>
        <p:nvSpPr>
          <p:cNvPr id="15" name="TextBox 14">
            <a:extLst>
              <a:ext uri="{FF2B5EF4-FFF2-40B4-BE49-F238E27FC236}">
                <a16:creationId xmlns:a16="http://schemas.microsoft.com/office/drawing/2014/main" id="{06BCB1D3-0B93-667B-6353-40967ECCE47D}"/>
              </a:ext>
            </a:extLst>
          </p:cNvPr>
          <p:cNvSpPr txBox="1"/>
          <p:nvPr/>
        </p:nvSpPr>
        <p:spPr>
          <a:xfrm>
            <a:off x="7828729" y="3412504"/>
            <a:ext cx="1676228" cy="276999"/>
          </a:xfrm>
          <a:prstGeom prst="rect">
            <a:avLst/>
          </a:prstGeom>
          <a:solidFill>
            <a:schemeClr val="bg1"/>
          </a:solidFill>
          <a:ln>
            <a:solidFill>
              <a:schemeClr val="tx1"/>
            </a:solidFill>
          </a:ln>
        </p:spPr>
        <p:txBody>
          <a:bodyPr wrap="none" rtlCol="0">
            <a:spAutoFit/>
          </a:bodyPr>
          <a:lstStyle/>
          <a:p>
            <a:r>
              <a:rPr lang="en-GB" sz="1200"/>
              <a:t>Edge Detection Circuit</a:t>
            </a:r>
            <a:endParaRPr lang="LID4096" sz="1200"/>
          </a:p>
        </p:txBody>
      </p:sp>
      <p:sp>
        <p:nvSpPr>
          <p:cNvPr id="16" name="TextBox 15">
            <a:extLst>
              <a:ext uri="{FF2B5EF4-FFF2-40B4-BE49-F238E27FC236}">
                <a16:creationId xmlns:a16="http://schemas.microsoft.com/office/drawing/2014/main" id="{49ED6FDD-1B7E-EDF8-A0FE-9235E30B741E}"/>
              </a:ext>
            </a:extLst>
          </p:cNvPr>
          <p:cNvSpPr txBox="1"/>
          <p:nvPr/>
        </p:nvSpPr>
        <p:spPr>
          <a:xfrm>
            <a:off x="8714848" y="2433626"/>
            <a:ext cx="889987"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EXTI_FTENR</a:t>
            </a:r>
            <a:endParaRPr lang="LID4096" sz="1000">
              <a:solidFill>
                <a:schemeClr val="bg2"/>
              </a:solidFill>
              <a:latin typeface="Consolas" panose="020B0609020204030204" pitchFamily="49" charset="0"/>
            </a:endParaRPr>
          </a:p>
        </p:txBody>
      </p:sp>
      <p:sp>
        <p:nvSpPr>
          <p:cNvPr id="17" name="TextBox 16">
            <a:extLst>
              <a:ext uri="{FF2B5EF4-FFF2-40B4-BE49-F238E27FC236}">
                <a16:creationId xmlns:a16="http://schemas.microsoft.com/office/drawing/2014/main" id="{D67A7826-A41B-8630-8B3A-B9A86EA21518}"/>
              </a:ext>
            </a:extLst>
          </p:cNvPr>
          <p:cNvSpPr txBox="1"/>
          <p:nvPr/>
        </p:nvSpPr>
        <p:spPr>
          <a:xfrm>
            <a:off x="8714848" y="2679847"/>
            <a:ext cx="889987" cy="338554"/>
          </a:xfrm>
          <a:prstGeom prst="rect">
            <a:avLst/>
          </a:prstGeom>
          <a:solidFill>
            <a:schemeClr val="bg1"/>
          </a:solidFill>
          <a:ln>
            <a:solidFill>
              <a:schemeClr val="tx1"/>
            </a:solidFill>
          </a:ln>
        </p:spPr>
        <p:txBody>
          <a:bodyPr wrap="square" rtlCol="0">
            <a:spAutoFit/>
          </a:bodyPr>
          <a:lstStyle/>
          <a:p>
            <a:pPr algn="ctr"/>
            <a:r>
              <a:rPr lang="en-GB" sz="800" i="1"/>
              <a:t>Falling trigger enable register</a:t>
            </a:r>
            <a:endParaRPr lang="LID4096" sz="800" i="1"/>
          </a:p>
        </p:txBody>
      </p:sp>
      <p:sp>
        <p:nvSpPr>
          <p:cNvPr id="18" name="TextBox 17">
            <a:extLst>
              <a:ext uri="{FF2B5EF4-FFF2-40B4-BE49-F238E27FC236}">
                <a16:creationId xmlns:a16="http://schemas.microsoft.com/office/drawing/2014/main" id="{13795F93-E844-8AA8-7693-53BDC44B36F3}"/>
              </a:ext>
            </a:extLst>
          </p:cNvPr>
          <p:cNvSpPr txBox="1"/>
          <p:nvPr/>
        </p:nvSpPr>
        <p:spPr>
          <a:xfrm>
            <a:off x="7694768" y="2430145"/>
            <a:ext cx="889987"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EXTI_RTENR</a:t>
            </a:r>
            <a:endParaRPr lang="LID4096" sz="1000">
              <a:solidFill>
                <a:schemeClr val="bg2"/>
              </a:solidFill>
              <a:latin typeface="Consolas" panose="020B0609020204030204" pitchFamily="49" charset="0"/>
            </a:endParaRPr>
          </a:p>
        </p:txBody>
      </p:sp>
      <p:sp>
        <p:nvSpPr>
          <p:cNvPr id="19" name="TextBox 18">
            <a:extLst>
              <a:ext uri="{FF2B5EF4-FFF2-40B4-BE49-F238E27FC236}">
                <a16:creationId xmlns:a16="http://schemas.microsoft.com/office/drawing/2014/main" id="{C24E963C-46E7-F3BC-14BC-21FD90D0FF06}"/>
              </a:ext>
            </a:extLst>
          </p:cNvPr>
          <p:cNvSpPr txBox="1"/>
          <p:nvPr/>
        </p:nvSpPr>
        <p:spPr>
          <a:xfrm>
            <a:off x="7694768" y="2676366"/>
            <a:ext cx="889987" cy="338554"/>
          </a:xfrm>
          <a:prstGeom prst="rect">
            <a:avLst/>
          </a:prstGeom>
          <a:solidFill>
            <a:schemeClr val="bg1"/>
          </a:solidFill>
          <a:ln>
            <a:solidFill>
              <a:schemeClr val="tx1"/>
            </a:solidFill>
          </a:ln>
        </p:spPr>
        <p:txBody>
          <a:bodyPr wrap="square" rtlCol="0">
            <a:spAutoFit/>
          </a:bodyPr>
          <a:lstStyle/>
          <a:p>
            <a:pPr algn="ctr"/>
            <a:r>
              <a:rPr lang="en-GB" sz="800" i="1"/>
              <a:t>Rising trigger enable register</a:t>
            </a:r>
            <a:endParaRPr lang="LID4096" sz="800" i="1"/>
          </a:p>
        </p:txBody>
      </p:sp>
      <p:cxnSp>
        <p:nvCxnSpPr>
          <p:cNvPr id="25" name="Straight Connector 24">
            <a:extLst>
              <a:ext uri="{FF2B5EF4-FFF2-40B4-BE49-F238E27FC236}">
                <a16:creationId xmlns:a16="http://schemas.microsoft.com/office/drawing/2014/main" id="{9A9DCDCB-C5E4-24F3-9DE7-02C0DB7B7CB0}"/>
              </a:ext>
            </a:extLst>
          </p:cNvPr>
          <p:cNvCxnSpPr>
            <a:cxnSpLocks/>
          </p:cNvCxnSpPr>
          <p:nvPr/>
        </p:nvCxnSpPr>
        <p:spPr>
          <a:xfrm flipH="1">
            <a:off x="9504957" y="3553247"/>
            <a:ext cx="547155"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148655C3-AD3C-0816-A947-0FC0BB5DA492}"/>
              </a:ext>
            </a:extLst>
          </p:cNvPr>
          <p:cNvCxnSpPr>
            <a:cxnSpLocks/>
          </p:cNvCxnSpPr>
          <p:nvPr/>
        </p:nvCxnSpPr>
        <p:spPr>
          <a:xfrm flipV="1">
            <a:off x="9131362" y="3018401"/>
            <a:ext cx="0" cy="39410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8F9E9F0C-05E7-3F7A-3EF3-68CB87B72538}"/>
              </a:ext>
            </a:extLst>
          </p:cNvPr>
          <p:cNvCxnSpPr>
            <a:cxnSpLocks/>
          </p:cNvCxnSpPr>
          <p:nvPr/>
        </p:nvCxnSpPr>
        <p:spPr>
          <a:xfrm flipV="1">
            <a:off x="8160867" y="3009166"/>
            <a:ext cx="0" cy="39410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17FD3467-3A2C-17A0-5AB9-4D84EBACA372}"/>
              </a:ext>
            </a:extLst>
          </p:cNvPr>
          <p:cNvCxnSpPr>
            <a:cxnSpLocks/>
          </p:cNvCxnSpPr>
          <p:nvPr/>
        </p:nvCxnSpPr>
        <p:spPr>
          <a:xfrm flipH="1">
            <a:off x="6583563" y="3593873"/>
            <a:ext cx="1245166"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4" name="Straight Arrow Connector 33">
            <a:extLst>
              <a:ext uri="{FF2B5EF4-FFF2-40B4-BE49-F238E27FC236}">
                <a16:creationId xmlns:a16="http://schemas.microsoft.com/office/drawing/2014/main" id="{825C60F9-7364-A80D-7E8A-C8BF6EFC4A0D}"/>
              </a:ext>
            </a:extLst>
          </p:cNvPr>
          <p:cNvCxnSpPr/>
          <p:nvPr/>
        </p:nvCxnSpPr>
        <p:spPr>
          <a:xfrm flipH="1">
            <a:off x="1761515" y="3396507"/>
            <a:ext cx="531213" cy="0"/>
          </a:xfrm>
          <a:prstGeom prst="straightConnector1">
            <a:avLst/>
          </a:prstGeom>
          <a:ln w="508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7" name="Freeform: Shape 36">
            <a:extLst>
              <a:ext uri="{FF2B5EF4-FFF2-40B4-BE49-F238E27FC236}">
                <a16:creationId xmlns:a16="http://schemas.microsoft.com/office/drawing/2014/main" id="{D3C328FE-7FB8-1055-6B88-8D5A6AAF7F49}"/>
              </a:ext>
            </a:extLst>
          </p:cNvPr>
          <p:cNvSpPr/>
          <p:nvPr/>
        </p:nvSpPr>
        <p:spPr>
          <a:xfrm>
            <a:off x="2762312" y="3396692"/>
            <a:ext cx="577850" cy="0"/>
          </a:xfrm>
          <a:custGeom>
            <a:avLst/>
            <a:gdLst>
              <a:gd name="csX0" fmla="*/ 577850 w 577850"/>
              <a:gd name="csY0" fmla="*/ 0 h 0"/>
              <a:gd name="csX1" fmla="*/ 0 w 577850"/>
              <a:gd name="csY1" fmla="*/ 0 h 0"/>
            </a:gdLst>
            <a:ahLst/>
            <a:cxnLst>
              <a:cxn ang="0">
                <a:pos x="csX0" y="csY0"/>
              </a:cxn>
              <a:cxn ang="0">
                <a:pos x="csX1" y="csY1"/>
              </a:cxn>
            </a:cxnLst>
            <a:rect l="l" t="t" r="r" b="b"/>
            <a:pathLst>
              <a:path w="577850">
                <a:moveTo>
                  <a:pt x="577850" y="0"/>
                </a:moveTo>
                <a:lnTo>
                  <a:pt x="0" y="0"/>
                </a:lnTo>
              </a:path>
            </a:pathLst>
          </a:custGeom>
          <a:noFill/>
          <a:ln>
            <a:solidFill>
              <a:schemeClr val="tx1"/>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43" name="Freeform: Shape 42">
            <a:extLst>
              <a:ext uri="{FF2B5EF4-FFF2-40B4-BE49-F238E27FC236}">
                <a16:creationId xmlns:a16="http://schemas.microsoft.com/office/drawing/2014/main" id="{33BAE5E0-649B-033E-AFBF-F40FCE238178}"/>
              </a:ext>
            </a:extLst>
          </p:cNvPr>
          <p:cNvSpPr/>
          <p:nvPr/>
        </p:nvSpPr>
        <p:spPr>
          <a:xfrm>
            <a:off x="7474187" y="3717874"/>
            <a:ext cx="226503" cy="247475"/>
          </a:xfrm>
          <a:custGeom>
            <a:avLst/>
            <a:gdLst>
              <a:gd name="csX0" fmla="*/ 0 w 226503"/>
              <a:gd name="csY0" fmla="*/ 247475 h 247475"/>
              <a:gd name="csX1" fmla="*/ 83890 w 226503"/>
              <a:gd name="csY1" fmla="*/ 247475 h 247475"/>
              <a:gd name="csX2" fmla="*/ 83890 w 226503"/>
              <a:gd name="csY2" fmla="*/ 0 h 247475"/>
              <a:gd name="csX3" fmla="*/ 146808 w 226503"/>
              <a:gd name="csY3" fmla="*/ 0 h 247475"/>
              <a:gd name="csX4" fmla="*/ 146808 w 226503"/>
              <a:gd name="csY4" fmla="*/ 247475 h 247475"/>
              <a:gd name="csX5" fmla="*/ 226503 w 226503"/>
              <a:gd name="csY5" fmla="*/ 247475 h 247475"/>
            </a:gdLst>
            <a:ahLst/>
            <a:cxnLst>
              <a:cxn ang="0">
                <a:pos x="csX0" y="csY0"/>
              </a:cxn>
              <a:cxn ang="0">
                <a:pos x="csX1" y="csY1"/>
              </a:cxn>
              <a:cxn ang="0">
                <a:pos x="csX2" y="csY2"/>
              </a:cxn>
              <a:cxn ang="0">
                <a:pos x="csX3" y="csY3"/>
              </a:cxn>
              <a:cxn ang="0">
                <a:pos x="csX4" y="csY4"/>
              </a:cxn>
              <a:cxn ang="0">
                <a:pos x="csX5" y="csY5"/>
              </a:cxn>
            </a:cxnLst>
            <a:rect l="l" t="t" r="r" b="b"/>
            <a:pathLst>
              <a:path w="226503" h="247475">
                <a:moveTo>
                  <a:pt x="0" y="247475"/>
                </a:moveTo>
                <a:lnTo>
                  <a:pt x="83890" y="247475"/>
                </a:lnTo>
                <a:lnTo>
                  <a:pt x="83890" y="0"/>
                </a:lnTo>
                <a:lnTo>
                  <a:pt x="146808" y="0"/>
                </a:lnTo>
                <a:lnTo>
                  <a:pt x="146808" y="247475"/>
                </a:lnTo>
                <a:lnTo>
                  <a:pt x="226503" y="247475"/>
                </a:lnTo>
              </a:path>
            </a:pathLst>
          </a:cu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44" name="Straight Connector 43">
            <a:extLst>
              <a:ext uri="{FF2B5EF4-FFF2-40B4-BE49-F238E27FC236}">
                <a16:creationId xmlns:a16="http://schemas.microsoft.com/office/drawing/2014/main" id="{B56698FB-F209-C1F4-839E-85CC0DBD9F7F}"/>
              </a:ext>
            </a:extLst>
          </p:cNvPr>
          <p:cNvCxnSpPr>
            <a:cxnSpLocks/>
          </p:cNvCxnSpPr>
          <p:nvPr/>
        </p:nvCxnSpPr>
        <p:spPr>
          <a:xfrm flipH="1" flipV="1">
            <a:off x="7313757"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984BF040-C2EB-2542-A57B-CC177907E9DB}"/>
              </a:ext>
            </a:extLst>
          </p:cNvPr>
          <p:cNvCxnSpPr>
            <a:cxnSpLocks/>
          </p:cNvCxnSpPr>
          <p:nvPr/>
        </p:nvCxnSpPr>
        <p:spPr>
          <a:xfrm flipH="1" flipV="1">
            <a:off x="7718923"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730035DC-2BCB-EF04-E538-A64BE80BCA89}"/>
              </a:ext>
            </a:extLst>
          </p:cNvPr>
          <p:cNvSpPr txBox="1"/>
          <p:nvPr/>
        </p:nvSpPr>
        <p:spPr>
          <a:xfrm>
            <a:off x="7142444" y="3975884"/>
            <a:ext cx="889987" cy="215444"/>
          </a:xfrm>
          <a:prstGeom prst="rect">
            <a:avLst/>
          </a:prstGeom>
          <a:noFill/>
          <a:ln>
            <a:noFill/>
          </a:ln>
        </p:spPr>
        <p:txBody>
          <a:bodyPr wrap="square" rtlCol="0">
            <a:spAutoFit/>
          </a:bodyPr>
          <a:lstStyle/>
          <a:p>
            <a:pPr algn="ctr"/>
            <a:r>
              <a:rPr lang="en-GB" sz="800" i="1"/>
              <a:t>pulse</a:t>
            </a:r>
            <a:endParaRPr lang="LID4096" sz="800" i="1"/>
          </a:p>
        </p:txBody>
      </p:sp>
      <p:pic>
        <p:nvPicPr>
          <p:cNvPr id="50" name="Picture 49">
            <a:extLst>
              <a:ext uri="{FF2B5EF4-FFF2-40B4-BE49-F238E27FC236}">
                <a16:creationId xmlns:a16="http://schemas.microsoft.com/office/drawing/2014/main" id="{AD90B2B8-9000-1D9E-B915-80C44633B1A3}"/>
              </a:ext>
            </a:extLst>
          </p:cNvPr>
          <p:cNvPicPr>
            <a:picLocks noChangeAspect="1"/>
          </p:cNvPicPr>
          <p:nvPr/>
        </p:nvPicPr>
        <p:blipFill>
          <a:blip r:embed="rId3"/>
          <a:stretch>
            <a:fillRect/>
          </a:stretch>
        </p:blipFill>
        <p:spPr>
          <a:xfrm>
            <a:off x="3128429" y="4785891"/>
            <a:ext cx="6031412" cy="1890758"/>
          </a:xfrm>
          <a:prstGeom prst="rect">
            <a:avLst/>
          </a:prstGeom>
        </p:spPr>
      </p:pic>
      <p:sp>
        <p:nvSpPr>
          <p:cNvPr id="3" name="Rectangle 2">
            <a:extLst>
              <a:ext uri="{FF2B5EF4-FFF2-40B4-BE49-F238E27FC236}">
                <a16:creationId xmlns:a16="http://schemas.microsoft.com/office/drawing/2014/main" id="{7A8B7877-9B7A-967A-5CB0-A31522A665AF}"/>
              </a:ext>
            </a:extLst>
          </p:cNvPr>
          <p:cNvSpPr/>
          <p:nvPr/>
        </p:nvSpPr>
        <p:spPr>
          <a:xfrm>
            <a:off x="5571149" y="5789713"/>
            <a:ext cx="2827950" cy="207239"/>
          </a:xfrm>
          <a:prstGeom prst="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47" name="Rectangle 46">
            <a:extLst>
              <a:ext uri="{FF2B5EF4-FFF2-40B4-BE49-F238E27FC236}">
                <a16:creationId xmlns:a16="http://schemas.microsoft.com/office/drawing/2014/main" id="{436D8A86-4C99-F2CD-9FA8-BF2F35442F68}"/>
              </a:ext>
            </a:extLst>
          </p:cNvPr>
          <p:cNvSpPr/>
          <p:nvPr/>
        </p:nvSpPr>
        <p:spPr>
          <a:xfrm>
            <a:off x="5571149" y="5996952"/>
            <a:ext cx="2827950" cy="207239"/>
          </a:xfrm>
          <a:prstGeom prst="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49" name="TextBox 48">
            <a:extLst>
              <a:ext uri="{FF2B5EF4-FFF2-40B4-BE49-F238E27FC236}">
                <a16:creationId xmlns:a16="http://schemas.microsoft.com/office/drawing/2014/main" id="{3E4CFB71-E1F8-3EBB-EE87-39AED81DBA8D}"/>
              </a:ext>
            </a:extLst>
          </p:cNvPr>
          <p:cNvSpPr txBox="1"/>
          <p:nvPr/>
        </p:nvSpPr>
        <p:spPr>
          <a:xfrm>
            <a:off x="2597546" y="4541076"/>
            <a:ext cx="7269480" cy="441146"/>
          </a:xfrm>
          <a:prstGeom prst="rect">
            <a:avLst/>
          </a:prstGeom>
          <a:solidFill>
            <a:schemeClr val="tx1">
              <a:lumMod val="85000"/>
              <a:lumOff val="15000"/>
            </a:schemeClr>
          </a:solidFill>
        </p:spPr>
        <p:txBody>
          <a:bodyPr wrap="square">
            <a:spAutoFit/>
          </a:bodyPr>
          <a:lstStyle/>
          <a:p>
            <a:pPr>
              <a:lnSpc>
                <a:spcPts val="1425"/>
              </a:lnSpc>
              <a:buNone/>
            </a:pPr>
            <a:r>
              <a:rPr lang="en-US" sz="1050" b="0" dirty="0">
                <a:solidFill>
                  <a:srgbClr val="CCCCCC"/>
                </a:solidFill>
                <a:effectLst/>
                <a:latin typeface="Consolas" panose="020B0609020204030204" pitchFamily="49" charset="0"/>
              </a:rPr>
              <a:t>    </a:t>
            </a:r>
            <a:r>
              <a:rPr lang="en-US" sz="1050" b="0" dirty="0">
                <a:solidFill>
                  <a:srgbClr val="D4D4D4"/>
                </a:solidFill>
                <a:effectLst/>
                <a:latin typeface="Consolas" panose="020B0609020204030204" pitchFamily="49" charset="0"/>
              </a:rPr>
              <a:t>*</a:t>
            </a:r>
            <a:r>
              <a:rPr lang="en-US" sz="1050" b="0" dirty="0">
                <a:solidFill>
                  <a:srgbClr val="569CD6"/>
                </a:solidFill>
                <a:effectLst/>
                <a:latin typeface="Consolas" panose="020B0609020204030204" pitchFamily="49" charset="0"/>
              </a:rPr>
              <a:t>EXTI_RTENR</a:t>
            </a:r>
            <a:r>
              <a:rPr lang="en-US" sz="1050" b="0" dirty="0">
                <a:solidFill>
                  <a:srgbClr val="CCCCCC"/>
                </a:solidFill>
                <a:effectLst/>
                <a:latin typeface="Consolas" panose="020B0609020204030204" pitchFamily="49" charset="0"/>
              </a:rPr>
              <a:t> </a:t>
            </a:r>
            <a:r>
              <a:rPr lang="en-US" sz="1050" b="0" dirty="0">
                <a:solidFill>
                  <a:srgbClr val="D4D4D4"/>
                </a:solidFill>
                <a:effectLst/>
                <a:latin typeface="Consolas" panose="020B0609020204030204" pitchFamily="49" charset="0"/>
              </a:rPr>
              <a:t>|=</a:t>
            </a:r>
            <a:r>
              <a:rPr lang="en-US" sz="1050" b="0" dirty="0">
                <a:solidFill>
                  <a:srgbClr val="CCCCCC"/>
                </a:solidFill>
                <a:effectLst/>
                <a:latin typeface="Consolas" panose="020B0609020204030204" pitchFamily="49" charset="0"/>
              </a:rPr>
              <a:t> </a:t>
            </a:r>
            <a:r>
              <a:rPr lang="en-US" sz="1050" b="0" dirty="0">
                <a:solidFill>
                  <a:srgbClr val="B5CEA8"/>
                </a:solidFill>
                <a:effectLst/>
                <a:latin typeface="Consolas" panose="020B0609020204030204" pitchFamily="49" charset="0"/>
              </a:rPr>
              <a:t>0b0000000000000010</a:t>
            </a:r>
            <a:r>
              <a:rPr lang="en-US" sz="1050" b="0" dirty="0">
                <a:solidFill>
                  <a:srgbClr val="CCCCCC"/>
                </a:solidFill>
                <a:effectLst/>
                <a:latin typeface="Consolas" panose="020B0609020204030204" pitchFamily="49" charset="0"/>
              </a:rPr>
              <a:t>;</a:t>
            </a:r>
            <a:r>
              <a:rPr lang="en-US" sz="1050" b="0" dirty="0">
                <a:solidFill>
                  <a:srgbClr val="6A9955"/>
                </a:solidFill>
                <a:effectLst/>
                <a:latin typeface="Consolas" panose="020B0609020204030204" pitchFamily="49" charset="0"/>
              </a:rPr>
              <a:t> // Generate a pulse when pin1 goes from 0 to 1</a:t>
            </a:r>
            <a:endParaRPr lang="en-US" sz="1050" b="0" dirty="0">
              <a:solidFill>
                <a:srgbClr val="CCCCCC"/>
              </a:solidFill>
              <a:effectLst/>
              <a:latin typeface="Consolas" panose="020B0609020204030204" pitchFamily="49" charset="0"/>
            </a:endParaRPr>
          </a:p>
          <a:p>
            <a:pPr>
              <a:lnSpc>
                <a:spcPts val="1425"/>
              </a:lnSpc>
              <a:buNone/>
            </a:pPr>
            <a:r>
              <a:rPr lang="en-US" sz="1050" b="0" dirty="0">
                <a:solidFill>
                  <a:srgbClr val="CCCCCC"/>
                </a:solidFill>
                <a:effectLst/>
                <a:latin typeface="Consolas" panose="020B0609020204030204" pitchFamily="49" charset="0"/>
              </a:rPr>
              <a:t>    </a:t>
            </a:r>
            <a:r>
              <a:rPr lang="en-US" sz="1050" b="0" dirty="0">
                <a:solidFill>
                  <a:srgbClr val="D4D4D4"/>
                </a:solidFill>
                <a:effectLst/>
                <a:latin typeface="Consolas" panose="020B0609020204030204" pitchFamily="49" charset="0"/>
              </a:rPr>
              <a:t>*</a:t>
            </a:r>
            <a:r>
              <a:rPr lang="en-US" sz="1050" b="0" dirty="0">
                <a:solidFill>
                  <a:srgbClr val="569CD6"/>
                </a:solidFill>
                <a:effectLst/>
                <a:latin typeface="Consolas" panose="020B0609020204030204" pitchFamily="49" charset="0"/>
              </a:rPr>
              <a:t>EXTI_FTENR</a:t>
            </a:r>
            <a:r>
              <a:rPr lang="en-US" sz="1050" b="0" dirty="0">
                <a:solidFill>
                  <a:srgbClr val="CCCCCC"/>
                </a:solidFill>
                <a:effectLst/>
                <a:latin typeface="Consolas" panose="020B0609020204030204" pitchFamily="49" charset="0"/>
              </a:rPr>
              <a:t>  </a:t>
            </a:r>
            <a:r>
              <a:rPr lang="en-US" sz="1050" b="0" dirty="0">
                <a:solidFill>
                  <a:srgbClr val="D4D4D4"/>
                </a:solidFill>
                <a:effectLst/>
                <a:latin typeface="Consolas" panose="020B0609020204030204" pitchFamily="49" charset="0"/>
              </a:rPr>
              <a:t>|=</a:t>
            </a:r>
            <a:r>
              <a:rPr lang="en-US" sz="1050" b="0" dirty="0">
                <a:solidFill>
                  <a:srgbClr val="CCCCCC"/>
                </a:solidFill>
                <a:effectLst/>
                <a:latin typeface="Consolas" panose="020B0609020204030204" pitchFamily="49" charset="0"/>
              </a:rPr>
              <a:t> </a:t>
            </a:r>
            <a:r>
              <a:rPr lang="en-US" sz="1050" b="0" dirty="0">
                <a:solidFill>
                  <a:srgbClr val="B5CEA8"/>
                </a:solidFill>
                <a:effectLst/>
                <a:latin typeface="Consolas" panose="020B0609020204030204" pitchFamily="49" charset="0"/>
              </a:rPr>
              <a:t>0x0</a:t>
            </a:r>
            <a:r>
              <a:rPr lang="en-US" sz="1050" b="0" dirty="0">
                <a:solidFill>
                  <a:srgbClr val="CCCCCC"/>
                </a:solidFill>
                <a:effectLst/>
                <a:latin typeface="Consolas" panose="020B0609020204030204" pitchFamily="49" charset="0"/>
              </a:rPr>
              <a:t>;</a:t>
            </a:r>
            <a:r>
              <a:rPr lang="en-US" sz="1050" b="0" dirty="0">
                <a:solidFill>
                  <a:srgbClr val="6A9955"/>
                </a:solidFill>
                <a:effectLst/>
                <a:latin typeface="Consolas" panose="020B0609020204030204" pitchFamily="49" charset="0"/>
              </a:rPr>
              <a:t> // Do NOT generate a pulse when pin1 goes from 1 to 0</a:t>
            </a:r>
            <a:endParaRPr lang="en-US" sz="1050" b="0" dirty="0">
              <a:solidFill>
                <a:srgbClr val="CCCCCC"/>
              </a:solidFill>
              <a:effectLst/>
              <a:latin typeface="Consolas" panose="020B0609020204030204" pitchFamily="49" charset="0"/>
            </a:endParaRPr>
          </a:p>
        </p:txBody>
      </p:sp>
    </p:spTree>
    <p:extLst>
      <p:ext uri="{BB962C8B-B14F-4D97-AF65-F5344CB8AC3E}">
        <p14:creationId xmlns:p14="http://schemas.microsoft.com/office/powerpoint/2010/main" val="35470365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9"/>
                                        </p:tgtEl>
                                        <p:attrNameLst>
                                          <p:attrName>style.visibility</p:attrName>
                                        </p:attrNameLst>
                                      </p:cBhvr>
                                      <p:to>
                                        <p:strVal val="visible"/>
                                      </p:to>
                                    </p:set>
                                    <p:animEffect transition="in" filter="fade">
                                      <p:cBhvr>
                                        <p:cTn id="7" dur="5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70B1D7-E1AB-B38A-8C0E-38B4FE2331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C62F70-30B3-B99F-DF54-89E9A15C9778}"/>
              </a:ext>
            </a:extLst>
          </p:cNvPr>
          <p:cNvSpPr>
            <a:spLocks noGrp="1"/>
          </p:cNvSpPr>
          <p:nvPr>
            <p:ph type="title"/>
          </p:nvPr>
        </p:nvSpPr>
        <p:spPr/>
        <p:txBody>
          <a:bodyPr/>
          <a:lstStyle/>
          <a:p>
            <a:r>
              <a:rPr lang="en-US" dirty="0"/>
              <a:t>N</a:t>
            </a:r>
            <a:r>
              <a:rPr lang="sv-SE" dirty="0"/>
              <a:t>är skall vi fyra av ett </a:t>
            </a:r>
            <a:r>
              <a:rPr lang="sv-SE" dirty="0" err="1"/>
              <a:t>interrupt</a:t>
            </a:r>
            <a:r>
              <a:rPr lang="sv-SE" dirty="0"/>
              <a:t>? </a:t>
            </a:r>
            <a:br>
              <a:rPr lang="sv-SE" dirty="0"/>
            </a:br>
            <a:r>
              <a:rPr lang="sv-SE" sz="3200" dirty="0"/>
              <a:t>EXTI</a:t>
            </a:r>
            <a:endParaRPr lang="LID4096" dirty="0"/>
          </a:p>
        </p:txBody>
      </p:sp>
      <p:sp>
        <p:nvSpPr>
          <p:cNvPr id="4" name="TextBox 3">
            <a:extLst>
              <a:ext uri="{FF2B5EF4-FFF2-40B4-BE49-F238E27FC236}">
                <a16:creationId xmlns:a16="http://schemas.microsoft.com/office/drawing/2014/main" id="{C7B15C5A-F07B-4BA2-DBC0-1CEA2C660AA1}"/>
              </a:ext>
            </a:extLst>
          </p:cNvPr>
          <p:cNvSpPr txBox="1"/>
          <p:nvPr/>
        </p:nvSpPr>
        <p:spPr>
          <a:xfrm>
            <a:off x="2292728" y="1974294"/>
            <a:ext cx="8286434" cy="2584448"/>
          </a:xfrm>
          <a:prstGeom prst="rect">
            <a:avLst/>
          </a:prstGeom>
          <a:solidFill>
            <a:schemeClr val="accent6">
              <a:lumMod val="40000"/>
              <a:lumOff val="60000"/>
            </a:schemeClr>
          </a:solidFill>
          <a:ln>
            <a:solidFill>
              <a:schemeClr val="accent6">
                <a:lumMod val="75000"/>
              </a:schemeClr>
            </a:solidFill>
          </a:ln>
        </p:spPr>
        <p:txBody>
          <a:bodyPr wrap="square" rtlCol="0">
            <a:noAutofit/>
          </a:bodyPr>
          <a:lstStyle/>
          <a:p>
            <a:pPr algn="ctr"/>
            <a:r>
              <a:rPr lang="en-US"/>
              <a:t>EXTI</a:t>
            </a:r>
            <a:br>
              <a:rPr lang="en-US"/>
            </a:br>
            <a:endParaRPr lang="en-US" sz="1050"/>
          </a:p>
        </p:txBody>
      </p:sp>
      <p:sp>
        <p:nvSpPr>
          <p:cNvPr id="5" name="TextBox 4">
            <a:extLst>
              <a:ext uri="{FF2B5EF4-FFF2-40B4-BE49-F238E27FC236}">
                <a16:creationId xmlns:a16="http://schemas.microsoft.com/office/drawing/2014/main" id="{23774D7F-3B63-979C-3CCE-D4285FC0331E}"/>
              </a:ext>
            </a:extLst>
          </p:cNvPr>
          <p:cNvSpPr txBox="1"/>
          <p:nvPr/>
        </p:nvSpPr>
        <p:spPr>
          <a:xfrm>
            <a:off x="9985835" y="3280885"/>
            <a:ext cx="593327" cy="1223412"/>
          </a:xfrm>
          <a:prstGeom prst="rect">
            <a:avLst/>
          </a:prstGeom>
          <a:noFill/>
        </p:spPr>
        <p:txBody>
          <a:bodyPr wrap="square">
            <a:spAutoFit/>
          </a:bodyPr>
          <a:lstStyle/>
          <a:p>
            <a:pPr algn="r"/>
            <a:r>
              <a:rPr lang="en-US" sz="1050"/>
              <a:t>EXTI0</a:t>
            </a:r>
            <a:br>
              <a:rPr lang="en-US" sz="1050"/>
            </a:br>
            <a:r>
              <a:rPr lang="en-US" sz="1050" b="1"/>
              <a:t>EXTI1</a:t>
            </a:r>
            <a:br>
              <a:rPr lang="en-US" sz="1050" b="1"/>
            </a:br>
            <a:r>
              <a:rPr lang="en-US" sz="1050"/>
              <a:t>EXTI2</a:t>
            </a:r>
            <a:br>
              <a:rPr lang="en-US" sz="1050"/>
            </a:br>
            <a:r>
              <a:rPr lang="en-US" sz="1050"/>
              <a:t>EXTI3</a:t>
            </a:r>
            <a:br>
              <a:rPr lang="en-US" sz="1050"/>
            </a:br>
            <a:r>
              <a:rPr lang="en-US" sz="1050"/>
              <a:t>EXTI4</a:t>
            </a:r>
          </a:p>
          <a:p>
            <a:pPr algn="r"/>
            <a:r>
              <a:rPr lang="en-US" sz="1050"/>
              <a:t>EXTI5</a:t>
            </a:r>
          </a:p>
          <a:p>
            <a:pPr algn="ctr"/>
            <a:r>
              <a:rPr lang="en-US" sz="1050"/>
              <a:t>...</a:t>
            </a:r>
            <a:endParaRPr lang="LID4096" sz="3600" dirty="0"/>
          </a:p>
        </p:txBody>
      </p:sp>
      <p:cxnSp>
        <p:nvCxnSpPr>
          <p:cNvPr id="6" name="Straight Arrow Connector 5">
            <a:extLst>
              <a:ext uri="{FF2B5EF4-FFF2-40B4-BE49-F238E27FC236}">
                <a16:creationId xmlns:a16="http://schemas.microsoft.com/office/drawing/2014/main" id="{6D9D9336-E2BF-647A-42BE-0F7052BC56CA}"/>
              </a:ext>
            </a:extLst>
          </p:cNvPr>
          <p:cNvCxnSpPr/>
          <p:nvPr/>
        </p:nvCxnSpPr>
        <p:spPr>
          <a:xfrm flipH="1">
            <a:off x="10679040" y="3415557"/>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E86E3816-086A-7152-F646-AB4A0A1284B9}"/>
              </a:ext>
            </a:extLst>
          </p:cNvPr>
          <p:cNvCxnSpPr/>
          <p:nvPr/>
        </p:nvCxnSpPr>
        <p:spPr>
          <a:xfrm flipH="1">
            <a:off x="10679040" y="3570054"/>
            <a:ext cx="531213" cy="0"/>
          </a:xfrm>
          <a:prstGeom prst="straightConnector1">
            <a:avLst/>
          </a:prstGeom>
          <a:ln w="508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D237F0CE-6706-9E2C-20A1-6035F72CFE0E}"/>
              </a:ext>
            </a:extLst>
          </p:cNvPr>
          <p:cNvCxnSpPr/>
          <p:nvPr/>
        </p:nvCxnSpPr>
        <p:spPr>
          <a:xfrm flipH="1">
            <a:off x="10675869" y="3745525"/>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EB3928FC-311B-622D-DEC8-825742484F15}"/>
              </a:ext>
            </a:extLst>
          </p:cNvPr>
          <p:cNvCxnSpPr/>
          <p:nvPr/>
        </p:nvCxnSpPr>
        <p:spPr>
          <a:xfrm flipH="1">
            <a:off x="10675869" y="3907012"/>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58DE3411-A579-8A56-5FF7-B791E179A8F6}"/>
              </a:ext>
            </a:extLst>
          </p:cNvPr>
          <p:cNvCxnSpPr/>
          <p:nvPr/>
        </p:nvCxnSpPr>
        <p:spPr>
          <a:xfrm flipH="1">
            <a:off x="10675869" y="4065306"/>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A952783D-AFB1-F504-3E14-695476E75FA8}"/>
              </a:ext>
            </a:extLst>
          </p:cNvPr>
          <p:cNvCxnSpPr/>
          <p:nvPr/>
        </p:nvCxnSpPr>
        <p:spPr>
          <a:xfrm flipH="1">
            <a:off x="10675869" y="4228870"/>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a:extLst>
              <a:ext uri="{FF2B5EF4-FFF2-40B4-BE49-F238E27FC236}">
                <a16:creationId xmlns:a16="http://schemas.microsoft.com/office/drawing/2014/main" id="{3258E676-45A9-EBB8-6BFC-AE4FC85A5241}"/>
              </a:ext>
            </a:extLst>
          </p:cNvPr>
          <p:cNvSpPr/>
          <p:nvPr/>
        </p:nvSpPr>
        <p:spPr>
          <a:xfrm>
            <a:off x="10687428" y="3695101"/>
            <a:ext cx="908134" cy="647781"/>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3" name="TextBox 12">
            <a:extLst>
              <a:ext uri="{FF2B5EF4-FFF2-40B4-BE49-F238E27FC236}">
                <a16:creationId xmlns:a16="http://schemas.microsoft.com/office/drawing/2014/main" id="{FFDD82A1-408C-235D-D4D2-EAD24731DB09}"/>
              </a:ext>
            </a:extLst>
          </p:cNvPr>
          <p:cNvSpPr txBox="1"/>
          <p:nvPr/>
        </p:nvSpPr>
        <p:spPr>
          <a:xfrm>
            <a:off x="2281169" y="3114769"/>
            <a:ext cx="849594" cy="1223412"/>
          </a:xfrm>
          <a:prstGeom prst="rect">
            <a:avLst/>
          </a:prstGeom>
          <a:noFill/>
        </p:spPr>
        <p:txBody>
          <a:bodyPr wrap="square">
            <a:spAutoFit/>
          </a:bodyPr>
          <a:lstStyle/>
          <a:p>
            <a:r>
              <a:rPr lang="en-US" sz="1050"/>
              <a:t>EXTI0</a:t>
            </a:r>
            <a:br>
              <a:rPr lang="en-US" sz="1050"/>
            </a:br>
            <a:r>
              <a:rPr lang="en-US" sz="1050" b="1"/>
              <a:t>EXTI1</a:t>
            </a:r>
            <a:br>
              <a:rPr lang="en-US" sz="1050"/>
            </a:br>
            <a:r>
              <a:rPr lang="en-US" sz="1050"/>
              <a:t>EXTI2</a:t>
            </a:r>
            <a:br>
              <a:rPr lang="en-US" sz="1050"/>
            </a:br>
            <a:r>
              <a:rPr lang="en-US" sz="1050"/>
              <a:t>EXTI3</a:t>
            </a:r>
            <a:br>
              <a:rPr lang="en-US" sz="1050"/>
            </a:br>
            <a:r>
              <a:rPr lang="en-US" sz="1050"/>
              <a:t>EXTI4</a:t>
            </a:r>
          </a:p>
          <a:p>
            <a:r>
              <a:rPr lang="en-US" sz="1050"/>
              <a:t>EXTI5_9</a:t>
            </a:r>
            <a:br>
              <a:rPr lang="en-US" sz="1050"/>
            </a:br>
            <a:r>
              <a:rPr lang="en-US" sz="1050"/>
              <a:t>EXTI10_15</a:t>
            </a:r>
          </a:p>
        </p:txBody>
      </p:sp>
      <p:sp>
        <p:nvSpPr>
          <p:cNvPr id="14" name="TextBox 13">
            <a:extLst>
              <a:ext uri="{FF2B5EF4-FFF2-40B4-BE49-F238E27FC236}">
                <a16:creationId xmlns:a16="http://schemas.microsoft.com/office/drawing/2014/main" id="{4E2DCA1F-B4D8-FD01-C615-113791099C33}"/>
              </a:ext>
            </a:extLst>
          </p:cNvPr>
          <p:cNvSpPr txBox="1"/>
          <p:nvPr/>
        </p:nvSpPr>
        <p:spPr>
          <a:xfrm rot="16200000">
            <a:off x="188771" y="2956314"/>
            <a:ext cx="2584447" cy="620410"/>
          </a:xfrm>
          <a:prstGeom prst="rect">
            <a:avLst/>
          </a:prstGeom>
          <a:solidFill>
            <a:schemeClr val="accent1">
              <a:lumMod val="60000"/>
              <a:lumOff val="40000"/>
            </a:schemeClr>
          </a:solidFill>
          <a:ln>
            <a:solidFill>
              <a:schemeClr val="tx2">
                <a:lumMod val="75000"/>
                <a:lumOff val="25000"/>
              </a:schemeClr>
            </a:solidFill>
          </a:ln>
        </p:spPr>
        <p:txBody>
          <a:bodyPr wrap="square" rtlCol="0">
            <a:noAutofit/>
          </a:bodyPr>
          <a:lstStyle/>
          <a:p>
            <a:pPr algn="ctr"/>
            <a:r>
              <a:rPr lang="en-US" sz="3600"/>
              <a:t>PFIC</a:t>
            </a:r>
            <a:endParaRPr lang="LID4096" sz="6000" dirty="0"/>
          </a:p>
        </p:txBody>
      </p:sp>
      <p:sp>
        <p:nvSpPr>
          <p:cNvPr id="15" name="TextBox 14">
            <a:extLst>
              <a:ext uri="{FF2B5EF4-FFF2-40B4-BE49-F238E27FC236}">
                <a16:creationId xmlns:a16="http://schemas.microsoft.com/office/drawing/2014/main" id="{30F58443-DAB1-917A-F304-C364E298EAA2}"/>
              </a:ext>
            </a:extLst>
          </p:cNvPr>
          <p:cNvSpPr txBox="1"/>
          <p:nvPr/>
        </p:nvSpPr>
        <p:spPr>
          <a:xfrm>
            <a:off x="7828729" y="3412504"/>
            <a:ext cx="1676228" cy="276999"/>
          </a:xfrm>
          <a:prstGeom prst="rect">
            <a:avLst/>
          </a:prstGeom>
          <a:solidFill>
            <a:schemeClr val="bg1"/>
          </a:solidFill>
          <a:ln>
            <a:solidFill>
              <a:schemeClr val="tx1"/>
            </a:solidFill>
          </a:ln>
        </p:spPr>
        <p:txBody>
          <a:bodyPr wrap="none" rtlCol="0">
            <a:spAutoFit/>
          </a:bodyPr>
          <a:lstStyle/>
          <a:p>
            <a:r>
              <a:rPr lang="en-GB" sz="1200"/>
              <a:t>Edge Detection Circuit</a:t>
            </a:r>
            <a:endParaRPr lang="LID4096" sz="1200"/>
          </a:p>
        </p:txBody>
      </p:sp>
      <p:sp>
        <p:nvSpPr>
          <p:cNvPr id="16" name="TextBox 15">
            <a:extLst>
              <a:ext uri="{FF2B5EF4-FFF2-40B4-BE49-F238E27FC236}">
                <a16:creationId xmlns:a16="http://schemas.microsoft.com/office/drawing/2014/main" id="{199C793F-00AB-05B0-84C9-F91D9AB311F9}"/>
              </a:ext>
            </a:extLst>
          </p:cNvPr>
          <p:cNvSpPr txBox="1"/>
          <p:nvPr/>
        </p:nvSpPr>
        <p:spPr>
          <a:xfrm>
            <a:off x="8714848" y="2433626"/>
            <a:ext cx="889987"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EXTI_FTENR</a:t>
            </a:r>
            <a:endParaRPr lang="LID4096" sz="1000">
              <a:solidFill>
                <a:schemeClr val="bg2"/>
              </a:solidFill>
              <a:latin typeface="Consolas" panose="020B0609020204030204" pitchFamily="49" charset="0"/>
            </a:endParaRPr>
          </a:p>
        </p:txBody>
      </p:sp>
      <p:sp>
        <p:nvSpPr>
          <p:cNvPr id="17" name="TextBox 16">
            <a:extLst>
              <a:ext uri="{FF2B5EF4-FFF2-40B4-BE49-F238E27FC236}">
                <a16:creationId xmlns:a16="http://schemas.microsoft.com/office/drawing/2014/main" id="{F221B2C4-7A0A-8CD1-D445-85C9FDF9E936}"/>
              </a:ext>
            </a:extLst>
          </p:cNvPr>
          <p:cNvSpPr txBox="1"/>
          <p:nvPr/>
        </p:nvSpPr>
        <p:spPr>
          <a:xfrm>
            <a:off x="8714848" y="2679847"/>
            <a:ext cx="889987" cy="338554"/>
          </a:xfrm>
          <a:prstGeom prst="rect">
            <a:avLst/>
          </a:prstGeom>
          <a:solidFill>
            <a:schemeClr val="bg1"/>
          </a:solidFill>
          <a:ln>
            <a:solidFill>
              <a:schemeClr val="tx1"/>
            </a:solidFill>
          </a:ln>
        </p:spPr>
        <p:txBody>
          <a:bodyPr wrap="square" rtlCol="0">
            <a:spAutoFit/>
          </a:bodyPr>
          <a:lstStyle/>
          <a:p>
            <a:pPr algn="ctr"/>
            <a:r>
              <a:rPr lang="en-GB" sz="800" i="1"/>
              <a:t>Falling trigger enable register</a:t>
            </a:r>
            <a:endParaRPr lang="LID4096" sz="800" i="1"/>
          </a:p>
        </p:txBody>
      </p:sp>
      <p:sp>
        <p:nvSpPr>
          <p:cNvPr id="18" name="TextBox 17">
            <a:extLst>
              <a:ext uri="{FF2B5EF4-FFF2-40B4-BE49-F238E27FC236}">
                <a16:creationId xmlns:a16="http://schemas.microsoft.com/office/drawing/2014/main" id="{E2F0DC7C-86BB-1F1D-4B75-ECB549DF991F}"/>
              </a:ext>
            </a:extLst>
          </p:cNvPr>
          <p:cNvSpPr txBox="1"/>
          <p:nvPr/>
        </p:nvSpPr>
        <p:spPr>
          <a:xfrm>
            <a:off x="7694768" y="2430145"/>
            <a:ext cx="889987"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EXTI_RTENR</a:t>
            </a:r>
            <a:endParaRPr lang="LID4096" sz="1000">
              <a:solidFill>
                <a:schemeClr val="bg2"/>
              </a:solidFill>
              <a:latin typeface="Consolas" panose="020B0609020204030204" pitchFamily="49" charset="0"/>
            </a:endParaRPr>
          </a:p>
        </p:txBody>
      </p:sp>
      <p:sp>
        <p:nvSpPr>
          <p:cNvPr id="19" name="TextBox 18">
            <a:extLst>
              <a:ext uri="{FF2B5EF4-FFF2-40B4-BE49-F238E27FC236}">
                <a16:creationId xmlns:a16="http://schemas.microsoft.com/office/drawing/2014/main" id="{B0298531-B664-C512-46D0-ADFD8C1FD617}"/>
              </a:ext>
            </a:extLst>
          </p:cNvPr>
          <p:cNvSpPr txBox="1"/>
          <p:nvPr/>
        </p:nvSpPr>
        <p:spPr>
          <a:xfrm>
            <a:off x="7694768" y="2676366"/>
            <a:ext cx="889987" cy="338554"/>
          </a:xfrm>
          <a:prstGeom prst="rect">
            <a:avLst/>
          </a:prstGeom>
          <a:solidFill>
            <a:schemeClr val="bg1"/>
          </a:solidFill>
          <a:ln>
            <a:solidFill>
              <a:schemeClr val="tx1"/>
            </a:solidFill>
          </a:ln>
        </p:spPr>
        <p:txBody>
          <a:bodyPr wrap="square" rtlCol="0">
            <a:spAutoFit/>
          </a:bodyPr>
          <a:lstStyle/>
          <a:p>
            <a:pPr algn="ctr"/>
            <a:r>
              <a:rPr lang="en-GB" sz="800" i="1"/>
              <a:t>Rising trigger enable register</a:t>
            </a:r>
            <a:endParaRPr lang="LID4096" sz="800" i="1"/>
          </a:p>
        </p:txBody>
      </p:sp>
      <p:cxnSp>
        <p:nvCxnSpPr>
          <p:cNvPr id="25" name="Straight Connector 24">
            <a:extLst>
              <a:ext uri="{FF2B5EF4-FFF2-40B4-BE49-F238E27FC236}">
                <a16:creationId xmlns:a16="http://schemas.microsoft.com/office/drawing/2014/main" id="{985BD037-35F5-1B21-0D71-FC767DE25E35}"/>
              </a:ext>
            </a:extLst>
          </p:cNvPr>
          <p:cNvCxnSpPr>
            <a:cxnSpLocks/>
          </p:cNvCxnSpPr>
          <p:nvPr/>
        </p:nvCxnSpPr>
        <p:spPr>
          <a:xfrm flipH="1">
            <a:off x="9504957" y="3553247"/>
            <a:ext cx="547155"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65F5DB9C-4569-6E8A-C13F-E40AB1D23EDC}"/>
              </a:ext>
            </a:extLst>
          </p:cNvPr>
          <p:cNvCxnSpPr>
            <a:cxnSpLocks/>
          </p:cNvCxnSpPr>
          <p:nvPr/>
        </p:nvCxnSpPr>
        <p:spPr>
          <a:xfrm flipV="1">
            <a:off x="9131362" y="3018401"/>
            <a:ext cx="0" cy="39410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6E26DCC9-80EC-61CB-554F-94FCC6509836}"/>
              </a:ext>
            </a:extLst>
          </p:cNvPr>
          <p:cNvCxnSpPr>
            <a:cxnSpLocks/>
          </p:cNvCxnSpPr>
          <p:nvPr/>
        </p:nvCxnSpPr>
        <p:spPr>
          <a:xfrm flipV="1">
            <a:off x="8160867" y="3009166"/>
            <a:ext cx="0" cy="39410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7C6E0D81-1B98-F972-5AA1-75FD7D76E270}"/>
              </a:ext>
            </a:extLst>
          </p:cNvPr>
          <p:cNvCxnSpPr>
            <a:cxnSpLocks/>
          </p:cNvCxnSpPr>
          <p:nvPr/>
        </p:nvCxnSpPr>
        <p:spPr>
          <a:xfrm flipH="1">
            <a:off x="6583563" y="3593873"/>
            <a:ext cx="1245166"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4" name="Straight Arrow Connector 33">
            <a:extLst>
              <a:ext uri="{FF2B5EF4-FFF2-40B4-BE49-F238E27FC236}">
                <a16:creationId xmlns:a16="http://schemas.microsoft.com/office/drawing/2014/main" id="{3519AC83-1C61-A2C2-BCDE-A449C9111997}"/>
              </a:ext>
            </a:extLst>
          </p:cNvPr>
          <p:cNvCxnSpPr/>
          <p:nvPr/>
        </p:nvCxnSpPr>
        <p:spPr>
          <a:xfrm flipH="1">
            <a:off x="1761515" y="3396507"/>
            <a:ext cx="531213" cy="0"/>
          </a:xfrm>
          <a:prstGeom prst="straightConnector1">
            <a:avLst/>
          </a:prstGeom>
          <a:ln w="508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7" name="Freeform: Shape 36">
            <a:extLst>
              <a:ext uri="{FF2B5EF4-FFF2-40B4-BE49-F238E27FC236}">
                <a16:creationId xmlns:a16="http://schemas.microsoft.com/office/drawing/2014/main" id="{C379CEC1-0CBA-12A9-8E0E-B948FE1AB2AA}"/>
              </a:ext>
            </a:extLst>
          </p:cNvPr>
          <p:cNvSpPr/>
          <p:nvPr/>
        </p:nvSpPr>
        <p:spPr>
          <a:xfrm>
            <a:off x="2762312" y="3396692"/>
            <a:ext cx="577850" cy="0"/>
          </a:xfrm>
          <a:custGeom>
            <a:avLst/>
            <a:gdLst>
              <a:gd name="csX0" fmla="*/ 577850 w 577850"/>
              <a:gd name="csY0" fmla="*/ 0 h 0"/>
              <a:gd name="csX1" fmla="*/ 0 w 577850"/>
              <a:gd name="csY1" fmla="*/ 0 h 0"/>
            </a:gdLst>
            <a:ahLst/>
            <a:cxnLst>
              <a:cxn ang="0">
                <a:pos x="csX0" y="csY0"/>
              </a:cxn>
              <a:cxn ang="0">
                <a:pos x="csX1" y="csY1"/>
              </a:cxn>
            </a:cxnLst>
            <a:rect l="l" t="t" r="r" b="b"/>
            <a:pathLst>
              <a:path w="577850">
                <a:moveTo>
                  <a:pt x="577850" y="0"/>
                </a:moveTo>
                <a:lnTo>
                  <a:pt x="0" y="0"/>
                </a:lnTo>
              </a:path>
            </a:pathLst>
          </a:custGeom>
          <a:noFill/>
          <a:ln>
            <a:solidFill>
              <a:schemeClr val="tx1"/>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43" name="Freeform: Shape 42">
            <a:extLst>
              <a:ext uri="{FF2B5EF4-FFF2-40B4-BE49-F238E27FC236}">
                <a16:creationId xmlns:a16="http://schemas.microsoft.com/office/drawing/2014/main" id="{1DF25EED-3CA9-CF85-4ACE-F0437FEB8CBF}"/>
              </a:ext>
            </a:extLst>
          </p:cNvPr>
          <p:cNvSpPr/>
          <p:nvPr/>
        </p:nvSpPr>
        <p:spPr>
          <a:xfrm>
            <a:off x="7474187" y="3717874"/>
            <a:ext cx="226503" cy="247475"/>
          </a:xfrm>
          <a:custGeom>
            <a:avLst/>
            <a:gdLst>
              <a:gd name="csX0" fmla="*/ 0 w 226503"/>
              <a:gd name="csY0" fmla="*/ 247475 h 247475"/>
              <a:gd name="csX1" fmla="*/ 83890 w 226503"/>
              <a:gd name="csY1" fmla="*/ 247475 h 247475"/>
              <a:gd name="csX2" fmla="*/ 83890 w 226503"/>
              <a:gd name="csY2" fmla="*/ 0 h 247475"/>
              <a:gd name="csX3" fmla="*/ 146808 w 226503"/>
              <a:gd name="csY3" fmla="*/ 0 h 247475"/>
              <a:gd name="csX4" fmla="*/ 146808 w 226503"/>
              <a:gd name="csY4" fmla="*/ 247475 h 247475"/>
              <a:gd name="csX5" fmla="*/ 226503 w 226503"/>
              <a:gd name="csY5" fmla="*/ 247475 h 247475"/>
            </a:gdLst>
            <a:ahLst/>
            <a:cxnLst>
              <a:cxn ang="0">
                <a:pos x="csX0" y="csY0"/>
              </a:cxn>
              <a:cxn ang="0">
                <a:pos x="csX1" y="csY1"/>
              </a:cxn>
              <a:cxn ang="0">
                <a:pos x="csX2" y="csY2"/>
              </a:cxn>
              <a:cxn ang="0">
                <a:pos x="csX3" y="csY3"/>
              </a:cxn>
              <a:cxn ang="0">
                <a:pos x="csX4" y="csY4"/>
              </a:cxn>
              <a:cxn ang="0">
                <a:pos x="csX5" y="csY5"/>
              </a:cxn>
            </a:cxnLst>
            <a:rect l="l" t="t" r="r" b="b"/>
            <a:pathLst>
              <a:path w="226503" h="247475">
                <a:moveTo>
                  <a:pt x="0" y="247475"/>
                </a:moveTo>
                <a:lnTo>
                  <a:pt x="83890" y="247475"/>
                </a:lnTo>
                <a:lnTo>
                  <a:pt x="83890" y="0"/>
                </a:lnTo>
                <a:lnTo>
                  <a:pt x="146808" y="0"/>
                </a:lnTo>
                <a:lnTo>
                  <a:pt x="146808" y="247475"/>
                </a:lnTo>
                <a:lnTo>
                  <a:pt x="226503" y="247475"/>
                </a:lnTo>
              </a:path>
            </a:pathLst>
          </a:cu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44" name="Straight Connector 43">
            <a:extLst>
              <a:ext uri="{FF2B5EF4-FFF2-40B4-BE49-F238E27FC236}">
                <a16:creationId xmlns:a16="http://schemas.microsoft.com/office/drawing/2014/main" id="{247DCA4E-F442-C39B-994D-47CBF1BB1687}"/>
              </a:ext>
            </a:extLst>
          </p:cNvPr>
          <p:cNvCxnSpPr>
            <a:cxnSpLocks/>
          </p:cNvCxnSpPr>
          <p:nvPr/>
        </p:nvCxnSpPr>
        <p:spPr>
          <a:xfrm flipH="1" flipV="1">
            <a:off x="7313757"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6CCFC1E9-3CDB-F0CA-0D55-66C8C0F9D5AD}"/>
              </a:ext>
            </a:extLst>
          </p:cNvPr>
          <p:cNvCxnSpPr>
            <a:cxnSpLocks/>
          </p:cNvCxnSpPr>
          <p:nvPr/>
        </p:nvCxnSpPr>
        <p:spPr>
          <a:xfrm flipH="1" flipV="1">
            <a:off x="7718923"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AE24CB81-D267-D3FF-52C0-F98E9EAB5345}"/>
              </a:ext>
            </a:extLst>
          </p:cNvPr>
          <p:cNvSpPr txBox="1"/>
          <p:nvPr/>
        </p:nvSpPr>
        <p:spPr>
          <a:xfrm>
            <a:off x="7142444" y="3975884"/>
            <a:ext cx="889987" cy="215444"/>
          </a:xfrm>
          <a:prstGeom prst="rect">
            <a:avLst/>
          </a:prstGeom>
          <a:noFill/>
          <a:ln>
            <a:noFill/>
          </a:ln>
        </p:spPr>
        <p:txBody>
          <a:bodyPr wrap="square" rtlCol="0">
            <a:spAutoFit/>
          </a:bodyPr>
          <a:lstStyle/>
          <a:p>
            <a:pPr algn="ctr"/>
            <a:r>
              <a:rPr lang="en-GB" sz="800" i="1"/>
              <a:t>pulse</a:t>
            </a:r>
            <a:endParaRPr lang="LID4096" sz="800" i="1"/>
          </a:p>
        </p:txBody>
      </p:sp>
      <p:pic>
        <p:nvPicPr>
          <p:cNvPr id="50" name="Picture 49">
            <a:extLst>
              <a:ext uri="{FF2B5EF4-FFF2-40B4-BE49-F238E27FC236}">
                <a16:creationId xmlns:a16="http://schemas.microsoft.com/office/drawing/2014/main" id="{59990759-8D89-CCEC-80C4-4757421DA57C}"/>
              </a:ext>
            </a:extLst>
          </p:cNvPr>
          <p:cNvPicPr>
            <a:picLocks noChangeAspect="1"/>
          </p:cNvPicPr>
          <p:nvPr/>
        </p:nvPicPr>
        <p:blipFill>
          <a:blip r:embed="rId3"/>
          <a:stretch>
            <a:fillRect/>
          </a:stretch>
        </p:blipFill>
        <p:spPr>
          <a:xfrm>
            <a:off x="3128429" y="4785891"/>
            <a:ext cx="6031412" cy="1890758"/>
          </a:xfrm>
          <a:prstGeom prst="rect">
            <a:avLst/>
          </a:prstGeom>
        </p:spPr>
      </p:pic>
      <p:sp>
        <p:nvSpPr>
          <p:cNvPr id="3" name="TextBox 2">
            <a:extLst>
              <a:ext uri="{FF2B5EF4-FFF2-40B4-BE49-F238E27FC236}">
                <a16:creationId xmlns:a16="http://schemas.microsoft.com/office/drawing/2014/main" id="{4E192F03-38C4-57FE-92C7-D85FC36DC35D}"/>
              </a:ext>
            </a:extLst>
          </p:cNvPr>
          <p:cNvSpPr txBox="1"/>
          <p:nvPr/>
        </p:nvSpPr>
        <p:spPr>
          <a:xfrm>
            <a:off x="6513668" y="2428521"/>
            <a:ext cx="960519"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EXTI_SWIEVR</a:t>
            </a:r>
            <a:endParaRPr lang="LID4096" sz="1000">
              <a:solidFill>
                <a:schemeClr val="bg2"/>
              </a:solidFill>
              <a:latin typeface="Consolas" panose="020B0609020204030204" pitchFamily="49" charset="0"/>
            </a:endParaRPr>
          </a:p>
        </p:txBody>
      </p:sp>
      <p:sp>
        <p:nvSpPr>
          <p:cNvPr id="20" name="TextBox 19">
            <a:extLst>
              <a:ext uri="{FF2B5EF4-FFF2-40B4-BE49-F238E27FC236}">
                <a16:creationId xmlns:a16="http://schemas.microsoft.com/office/drawing/2014/main" id="{35869696-3FA7-F2FA-5FBC-47EC6369C455}"/>
              </a:ext>
            </a:extLst>
          </p:cNvPr>
          <p:cNvSpPr txBox="1"/>
          <p:nvPr/>
        </p:nvSpPr>
        <p:spPr>
          <a:xfrm>
            <a:off x="6513668" y="2674742"/>
            <a:ext cx="960519" cy="461665"/>
          </a:xfrm>
          <a:prstGeom prst="rect">
            <a:avLst/>
          </a:prstGeom>
          <a:solidFill>
            <a:schemeClr val="bg1"/>
          </a:solidFill>
          <a:ln>
            <a:solidFill>
              <a:schemeClr val="tx1"/>
            </a:solidFill>
          </a:ln>
        </p:spPr>
        <p:txBody>
          <a:bodyPr wrap="square" rtlCol="0">
            <a:spAutoFit/>
          </a:bodyPr>
          <a:lstStyle/>
          <a:p>
            <a:pPr algn="ctr"/>
            <a:r>
              <a:rPr lang="en-GB" sz="800" i="1" dirty="0"/>
              <a:t>Software Interrupt Event Register</a:t>
            </a:r>
            <a:endParaRPr lang="LID4096" sz="800" i="1" dirty="0"/>
          </a:p>
        </p:txBody>
      </p:sp>
      <p:cxnSp>
        <p:nvCxnSpPr>
          <p:cNvPr id="21" name="Connector: Elbow 20">
            <a:extLst>
              <a:ext uri="{FF2B5EF4-FFF2-40B4-BE49-F238E27FC236}">
                <a16:creationId xmlns:a16="http://schemas.microsoft.com/office/drawing/2014/main" id="{4F5D3954-3110-843C-E164-958E8F8A773E}"/>
              </a:ext>
            </a:extLst>
          </p:cNvPr>
          <p:cNvCxnSpPr>
            <a:stCxn id="20" idx="2"/>
          </p:cNvCxnSpPr>
          <p:nvPr/>
        </p:nvCxnSpPr>
        <p:spPr>
          <a:xfrm rot="5400000">
            <a:off x="6614154" y="3105817"/>
            <a:ext cx="349185" cy="410365"/>
          </a:xfrm>
          <a:prstGeom prst="bentConnector2">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nvGrpSpPr>
          <p:cNvPr id="23" name="Group 22">
            <a:extLst>
              <a:ext uri="{FF2B5EF4-FFF2-40B4-BE49-F238E27FC236}">
                <a16:creationId xmlns:a16="http://schemas.microsoft.com/office/drawing/2014/main" id="{1C7FA326-3D66-5259-AD45-D1F7BA55E92C}"/>
              </a:ext>
            </a:extLst>
          </p:cNvPr>
          <p:cNvGrpSpPr/>
          <p:nvPr/>
        </p:nvGrpSpPr>
        <p:grpSpPr>
          <a:xfrm>
            <a:off x="6674413" y="3196268"/>
            <a:ext cx="293603" cy="133412"/>
            <a:chOff x="7313757" y="3717874"/>
            <a:chExt cx="544623" cy="247475"/>
          </a:xfrm>
        </p:grpSpPr>
        <p:sp>
          <p:nvSpPr>
            <p:cNvPr id="24" name="Freeform: Shape 23">
              <a:extLst>
                <a:ext uri="{FF2B5EF4-FFF2-40B4-BE49-F238E27FC236}">
                  <a16:creationId xmlns:a16="http://schemas.microsoft.com/office/drawing/2014/main" id="{F880B54F-8682-A5E1-DA63-EBE3B36BE752}"/>
                </a:ext>
              </a:extLst>
            </p:cNvPr>
            <p:cNvSpPr/>
            <p:nvPr/>
          </p:nvSpPr>
          <p:spPr>
            <a:xfrm>
              <a:off x="7474187" y="3717874"/>
              <a:ext cx="226503" cy="247475"/>
            </a:xfrm>
            <a:custGeom>
              <a:avLst/>
              <a:gdLst>
                <a:gd name="csX0" fmla="*/ 0 w 226503"/>
                <a:gd name="csY0" fmla="*/ 247475 h 247475"/>
                <a:gd name="csX1" fmla="*/ 83890 w 226503"/>
                <a:gd name="csY1" fmla="*/ 247475 h 247475"/>
                <a:gd name="csX2" fmla="*/ 83890 w 226503"/>
                <a:gd name="csY2" fmla="*/ 0 h 247475"/>
                <a:gd name="csX3" fmla="*/ 146808 w 226503"/>
                <a:gd name="csY3" fmla="*/ 0 h 247475"/>
                <a:gd name="csX4" fmla="*/ 146808 w 226503"/>
                <a:gd name="csY4" fmla="*/ 247475 h 247475"/>
                <a:gd name="csX5" fmla="*/ 226503 w 226503"/>
                <a:gd name="csY5" fmla="*/ 247475 h 247475"/>
              </a:gdLst>
              <a:ahLst/>
              <a:cxnLst>
                <a:cxn ang="0">
                  <a:pos x="csX0" y="csY0"/>
                </a:cxn>
                <a:cxn ang="0">
                  <a:pos x="csX1" y="csY1"/>
                </a:cxn>
                <a:cxn ang="0">
                  <a:pos x="csX2" y="csY2"/>
                </a:cxn>
                <a:cxn ang="0">
                  <a:pos x="csX3" y="csY3"/>
                </a:cxn>
                <a:cxn ang="0">
                  <a:pos x="csX4" y="csY4"/>
                </a:cxn>
                <a:cxn ang="0">
                  <a:pos x="csX5" y="csY5"/>
                </a:cxn>
              </a:cxnLst>
              <a:rect l="l" t="t" r="r" b="b"/>
              <a:pathLst>
                <a:path w="226503" h="247475">
                  <a:moveTo>
                    <a:pt x="0" y="247475"/>
                  </a:moveTo>
                  <a:lnTo>
                    <a:pt x="83890" y="247475"/>
                  </a:lnTo>
                  <a:lnTo>
                    <a:pt x="83890" y="0"/>
                  </a:lnTo>
                  <a:lnTo>
                    <a:pt x="146808" y="0"/>
                  </a:lnTo>
                  <a:lnTo>
                    <a:pt x="146808" y="247475"/>
                  </a:lnTo>
                  <a:lnTo>
                    <a:pt x="226503" y="247475"/>
                  </a:lnTo>
                </a:path>
              </a:pathLst>
            </a:cu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29" name="Straight Connector 28">
              <a:extLst>
                <a:ext uri="{FF2B5EF4-FFF2-40B4-BE49-F238E27FC236}">
                  <a16:creationId xmlns:a16="http://schemas.microsoft.com/office/drawing/2014/main" id="{A8150EE1-FB0E-2048-DE31-E06986CAC667}"/>
                </a:ext>
              </a:extLst>
            </p:cNvPr>
            <p:cNvCxnSpPr>
              <a:cxnSpLocks/>
            </p:cNvCxnSpPr>
            <p:nvPr/>
          </p:nvCxnSpPr>
          <p:spPr>
            <a:xfrm flipH="1" flipV="1">
              <a:off x="7313757"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DFA778F1-97A4-D037-D335-FE417FD7A6B9}"/>
                </a:ext>
              </a:extLst>
            </p:cNvPr>
            <p:cNvCxnSpPr>
              <a:cxnSpLocks/>
            </p:cNvCxnSpPr>
            <p:nvPr/>
          </p:nvCxnSpPr>
          <p:spPr>
            <a:xfrm flipH="1" flipV="1">
              <a:off x="7718923"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grpSp>
      <p:cxnSp>
        <p:nvCxnSpPr>
          <p:cNvPr id="31" name="Straight Connector 30">
            <a:extLst>
              <a:ext uri="{FF2B5EF4-FFF2-40B4-BE49-F238E27FC236}">
                <a16:creationId xmlns:a16="http://schemas.microsoft.com/office/drawing/2014/main" id="{34743E17-E31A-906C-47C8-447A1860B249}"/>
              </a:ext>
            </a:extLst>
          </p:cNvPr>
          <p:cNvCxnSpPr>
            <a:cxnSpLocks/>
          </p:cNvCxnSpPr>
          <p:nvPr/>
        </p:nvCxnSpPr>
        <p:spPr>
          <a:xfrm flipH="1">
            <a:off x="5181663" y="3492273"/>
            <a:ext cx="100828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89E6F97-9CA6-167A-8BFF-AB0D73B630B1}"/>
              </a:ext>
            </a:extLst>
          </p:cNvPr>
          <p:cNvSpPr txBox="1"/>
          <p:nvPr/>
        </p:nvSpPr>
        <p:spPr>
          <a:xfrm>
            <a:off x="6152035" y="3357143"/>
            <a:ext cx="431528" cy="369332"/>
          </a:xfrm>
          <a:prstGeom prst="rect">
            <a:avLst/>
          </a:prstGeom>
          <a:solidFill>
            <a:schemeClr val="bg1"/>
          </a:solidFill>
          <a:ln>
            <a:solidFill>
              <a:schemeClr val="tx1"/>
            </a:solidFill>
          </a:ln>
        </p:spPr>
        <p:txBody>
          <a:bodyPr wrap="none" rtlCol="0">
            <a:spAutoFit/>
          </a:bodyPr>
          <a:lstStyle/>
          <a:p>
            <a:r>
              <a:rPr lang="en-SE" b="1"/>
              <a:t>≥</a:t>
            </a:r>
            <a:r>
              <a:rPr lang="en-GB"/>
              <a:t>1</a:t>
            </a:r>
            <a:endParaRPr lang="LID4096"/>
          </a:p>
        </p:txBody>
      </p:sp>
      <p:sp>
        <p:nvSpPr>
          <p:cNvPr id="32" name="Rectangle 31">
            <a:extLst>
              <a:ext uri="{FF2B5EF4-FFF2-40B4-BE49-F238E27FC236}">
                <a16:creationId xmlns:a16="http://schemas.microsoft.com/office/drawing/2014/main" id="{C7077793-9497-D490-1D28-D2352411A2B3}"/>
              </a:ext>
            </a:extLst>
          </p:cNvPr>
          <p:cNvSpPr/>
          <p:nvPr/>
        </p:nvSpPr>
        <p:spPr>
          <a:xfrm>
            <a:off x="5579952" y="6215516"/>
            <a:ext cx="2827950" cy="207239"/>
          </a:xfrm>
          <a:prstGeom prst="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367524951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3F575-82D2-0AF1-DFF2-2EDFBAE975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9DFF02-175E-A81B-15B9-579ED8751E19}"/>
              </a:ext>
            </a:extLst>
          </p:cNvPr>
          <p:cNvSpPr>
            <a:spLocks noGrp="1"/>
          </p:cNvSpPr>
          <p:nvPr>
            <p:ph type="title"/>
          </p:nvPr>
        </p:nvSpPr>
        <p:spPr/>
        <p:txBody>
          <a:bodyPr/>
          <a:lstStyle/>
          <a:p>
            <a:r>
              <a:rPr lang="en-US" dirty="0"/>
              <a:t>N</a:t>
            </a:r>
            <a:r>
              <a:rPr lang="sv-SE" dirty="0"/>
              <a:t>är skall vi fyra av ett </a:t>
            </a:r>
            <a:r>
              <a:rPr lang="sv-SE" dirty="0" err="1"/>
              <a:t>interrupt</a:t>
            </a:r>
            <a:r>
              <a:rPr lang="sv-SE" dirty="0"/>
              <a:t>? </a:t>
            </a:r>
            <a:br>
              <a:rPr lang="sv-SE" dirty="0"/>
            </a:br>
            <a:r>
              <a:rPr lang="sv-SE" sz="3200" dirty="0"/>
              <a:t>EXTI</a:t>
            </a:r>
            <a:endParaRPr lang="LID4096" dirty="0"/>
          </a:p>
        </p:txBody>
      </p:sp>
      <p:sp>
        <p:nvSpPr>
          <p:cNvPr id="4" name="TextBox 3">
            <a:extLst>
              <a:ext uri="{FF2B5EF4-FFF2-40B4-BE49-F238E27FC236}">
                <a16:creationId xmlns:a16="http://schemas.microsoft.com/office/drawing/2014/main" id="{C8D2E6E0-8CC0-AEB3-4A59-662125965A14}"/>
              </a:ext>
            </a:extLst>
          </p:cNvPr>
          <p:cNvSpPr txBox="1"/>
          <p:nvPr/>
        </p:nvSpPr>
        <p:spPr>
          <a:xfrm>
            <a:off x="2292728" y="1974294"/>
            <a:ext cx="8286434" cy="2584448"/>
          </a:xfrm>
          <a:prstGeom prst="rect">
            <a:avLst/>
          </a:prstGeom>
          <a:solidFill>
            <a:schemeClr val="accent6">
              <a:lumMod val="40000"/>
              <a:lumOff val="60000"/>
            </a:schemeClr>
          </a:solidFill>
          <a:ln>
            <a:solidFill>
              <a:schemeClr val="accent6">
                <a:lumMod val="75000"/>
              </a:schemeClr>
            </a:solidFill>
          </a:ln>
        </p:spPr>
        <p:txBody>
          <a:bodyPr wrap="square" rtlCol="0">
            <a:noAutofit/>
          </a:bodyPr>
          <a:lstStyle/>
          <a:p>
            <a:pPr algn="ctr"/>
            <a:r>
              <a:rPr lang="en-US"/>
              <a:t>EXTI</a:t>
            </a:r>
            <a:br>
              <a:rPr lang="en-US"/>
            </a:br>
            <a:endParaRPr lang="en-US" sz="1050"/>
          </a:p>
        </p:txBody>
      </p:sp>
      <p:sp>
        <p:nvSpPr>
          <p:cNvPr id="5" name="TextBox 4">
            <a:extLst>
              <a:ext uri="{FF2B5EF4-FFF2-40B4-BE49-F238E27FC236}">
                <a16:creationId xmlns:a16="http://schemas.microsoft.com/office/drawing/2014/main" id="{78B60214-B5F7-1EDE-6C2A-9DA5CC761EC6}"/>
              </a:ext>
            </a:extLst>
          </p:cNvPr>
          <p:cNvSpPr txBox="1"/>
          <p:nvPr/>
        </p:nvSpPr>
        <p:spPr>
          <a:xfrm>
            <a:off x="9985835" y="3280885"/>
            <a:ext cx="593327" cy="1223412"/>
          </a:xfrm>
          <a:prstGeom prst="rect">
            <a:avLst/>
          </a:prstGeom>
          <a:noFill/>
        </p:spPr>
        <p:txBody>
          <a:bodyPr wrap="square">
            <a:spAutoFit/>
          </a:bodyPr>
          <a:lstStyle/>
          <a:p>
            <a:pPr algn="r"/>
            <a:r>
              <a:rPr lang="en-US" sz="1050"/>
              <a:t>EXTI0</a:t>
            </a:r>
            <a:br>
              <a:rPr lang="en-US" sz="1050"/>
            </a:br>
            <a:r>
              <a:rPr lang="en-US" sz="1050" b="1"/>
              <a:t>EXTI1</a:t>
            </a:r>
            <a:br>
              <a:rPr lang="en-US" sz="1050" b="1"/>
            </a:br>
            <a:r>
              <a:rPr lang="en-US" sz="1050"/>
              <a:t>EXTI2</a:t>
            </a:r>
            <a:br>
              <a:rPr lang="en-US" sz="1050"/>
            </a:br>
            <a:r>
              <a:rPr lang="en-US" sz="1050"/>
              <a:t>EXTI3</a:t>
            </a:r>
            <a:br>
              <a:rPr lang="en-US" sz="1050"/>
            </a:br>
            <a:r>
              <a:rPr lang="en-US" sz="1050"/>
              <a:t>EXTI4</a:t>
            </a:r>
          </a:p>
          <a:p>
            <a:pPr algn="r"/>
            <a:r>
              <a:rPr lang="en-US" sz="1050"/>
              <a:t>EXTI5</a:t>
            </a:r>
          </a:p>
          <a:p>
            <a:pPr algn="ctr"/>
            <a:r>
              <a:rPr lang="en-US" sz="1050"/>
              <a:t>...</a:t>
            </a:r>
            <a:endParaRPr lang="LID4096" sz="3600" dirty="0"/>
          </a:p>
        </p:txBody>
      </p:sp>
      <p:cxnSp>
        <p:nvCxnSpPr>
          <p:cNvPr id="6" name="Straight Arrow Connector 5">
            <a:extLst>
              <a:ext uri="{FF2B5EF4-FFF2-40B4-BE49-F238E27FC236}">
                <a16:creationId xmlns:a16="http://schemas.microsoft.com/office/drawing/2014/main" id="{AE9BFABB-1EE8-5C68-7B98-3D3BEC476F93}"/>
              </a:ext>
            </a:extLst>
          </p:cNvPr>
          <p:cNvCxnSpPr/>
          <p:nvPr/>
        </p:nvCxnSpPr>
        <p:spPr>
          <a:xfrm flipH="1">
            <a:off x="10679040" y="3415557"/>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9ED606E8-6B7B-7A9C-5B8A-768225ADD55F}"/>
              </a:ext>
            </a:extLst>
          </p:cNvPr>
          <p:cNvCxnSpPr/>
          <p:nvPr/>
        </p:nvCxnSpPr>
        <p:spPr>
          <a:xfrm flipH="1">
            <a:off x="10679040" y="3570054"/>
            <a:ext cx="531213" cy="0"/>
          </a:xfrm>
          <a:prstGeom prst="straightConnector1">
            <a:avLst/>
          </a:prstGeom>
          <a:ln w="508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495CA885-1782-5C92-A762-EC184DE4851C}"/>
              </a:ext>
            </a:extLst>
          </p:cNvPr>
          <p:cNvCxnSpPr/>
          <p:nvPr/>
        </p:nvCxnSpPr>
        <p:spPr>
          <a:xfrm flipH="1">
            <a:off x="10675869" y="3745525"/>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BE2B0A53-4BD8-9127-A262-CE804C6BF9F3}"/>
              </a:ext>
            </a:extLst>
          </p:cNvPr>
          <p:cNvCxnSpPr/>
          <p:nvPr/>
        </p:nvCxnSpPr>
        <p:spPr>
          <a:xfrm flipH="1">
            <a:off x="10675869" y="3907012"/>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9A941870-E248-7983-6C26-6D53FAD06BF6}"/>
              </a:ext>
            </a:extLst>
          </p:cNvPr>
          <p:cNvCxnSpPr/>
          <p:nvPr/>
        </p:nvCxnSpPr>
        <p:spPr>
          <a:xfrm flipH="1">
            <a:off x="10675869" y="4065306"/>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C351907A-9E32-06C6-BA59-AE95A9C43D3B}"/>
              </a:ext>
            </a:extLst>
          </p:cNvPr>
          <p:cNvCxnSpPr/>
          <p:nvPr/>
        </p:nvCxnSpPr>
        <p:spPr>
          <a:xfrm flipH="1">
            <a:off x="10675869" y="4228870"/>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a:extLst>
              <a:ext uri="{FF2B5EF4-FFF2-40B4-BE49-F238E27FC236}">
                <a16:creationId xmlns:a16="http://schemas.microsoft.com/office/drawing/2014/main" id="{B4B6AC8E-5A46-91CF-4178-FB4552EAC53F}"/>
              </a:ext>
            </a:extLst>
          </p:cNvPr>
          <p:cNvSpPr/>
          <p:nvPr/>
        </p:nvSpPr>
        <p:spPr>
          <a:xfrm>
            <a:off x="10687428" y="3695101"/>
            <a:ext cx="908134" cy="647781"/>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3" name="TextBox 12">
            <a:extLst>
              <a:ext uri="{FF2B5EF4-FFF2-40B4-BE49-F238E27FC236}">
                <a16:creationId xmlns:a16="http://schemas.microsoft.com/office/drawing/2014/main" id="{4500F0FD-003B-2569-9163-01628DC97E76}"/>
              </a:ext>
            </a:extLst>
          </p:cNvPr>
          <p:cNvSpPr txBox="1"/>
          <p:nvPr/>
        </p:nvSpPr>
        <p:spPr>
          <a:xfrm>
            <a:off x="2281169" y="3114769"/>
            <a:ext cx="849594" cy="1223412"/>
          </a:xfrm>
          <a:prstGeom prst="rect">
            <a:avLst/>
          </a:prstGeom>
          <a:noFill/>
        </p:spPr>
        <p:txBody>
          <a:bodyPr wrap="square">
            <a:spAutoFit/>
          </a:bodyPr>
          <a:lstStyle/>
          <a:p>
            <a:r>
              <a:rPr lang="en-US" sz="1050"/>
              <a:t>EXTI0</a:t>
            </a:r>
            <a:br>
              <a:rPr lang="en-US" sz="1050"/>
            </a:br>
            <a:r>
              <a:rPr lang="en-US" sz="1050" b="1"/>
              <a:t>EXTI1</a:t>
            </a:r>
            <a:br>
              <a:rPr lang="en-US" sz="1050"/>
            </a:br>
            <a:r>
              <a:rPr lang="en-US" sz="1050"/>
              <a:t>EXTI2</a:t>
            </a:r>
            <a:br>
              <a:rPr lang="en-US" sz="1050"/>
            </a:br>
            <a:r>
              <a:rPr lang="en-US" sz="1050"/>
              <a:t>EXTI3</a:t>
            </a:r>
            <a:br>
              <a:rPr lang="en-US" sz="1050"/>
            </a:br>
            <a:r>
              <a:rPr lang="en-US" sz="1050"/>
              <a:t>EXTI4</a:t>
            </a:r>
          </a:p>
          <a:p>
            <a:r>
              <a:rPr lang="en-US" sz="1050"/>
              <a:t>EXTI5_9</a:t>
            </a:r>
            <a:br>
              <a:rPr lang="en-US" sz="1050"/>
            </a:br>
            <a:r>
              <a:rPr lang="en-US" sz="1050"/>
              <a:t>EXTI10_15</a:t>
            </a:r>
          </a:p>
        </p:txBody>
      </p:sp>
      <p:sp>
        <p:nvSpPr>
          <p:cNvPr id="14" name="TextBox 13">
            <a:extLst>
              <a:ext uri="{FF2B5EF4-FFF2-40B4-BE49-F238E27FC236}">
                <a16:creationId xmlns:a16="http://schemas.microsoft.com/office/drawing/2014/main" id="{0E2F0422-A32A-FA21-3863-FEAE64FA4A5E}"/>
              </a:ext>
            </a:extLst>
          </p:cNvPr>
          <p:cNvSpPr txBox="1"/>
          <p:nvPr/>
        </p:nvSpPr>
        <p:spPr>
          <a:xfrm rot="16200000">
            <a:off x="188771" y="2956314"/>
            <a:ext cx="2584447" cy="620410"/>
          </a:xfrm>
          <a:prstGeom prst="rect">
            <a:avLst/>
          </a:prstGeom>
          <a:solidFill>
            <a:schemeClr val="accent1">
              <a:lumMod val="60000"/>
              <a:lumOff val="40000"/>
            </a:schemeClr>
          </a:solidFill>
          <a:ln>
            <a:solidFill>
              <a:schemeClr val="tx2">
                <a:lumMod val="75000"/>
                <a:lumOff val="25000"/>
              </a:schemeClr>
            </a:solidFill>
          </a:ln>
        </p:spPr>
        <p:txBody>
          <a:bodyPr wrap="square" rtlCol="0">
            <a:noAutofit/>
          </a:bodyPr>
          <a:lstStyle/>
          <a:p>
            <a:pPr algn="ctr"/>
            <a:r>
              <a:rPr lang="en-US" sz="3600"/>
              <a:t>PFIC</a:t>
            </a:r>
            <a:endParaRPr lang="LID4096" sz="6000" dirty="0"/>
          </a:p>
        </p:txBody>
      </p:sp>
      <p:sp>
        <p:nvSpPr>
          <p:cNvPr id="15" name="TextBox 14">
            <a:extLst>
              <a:ext uri="{FF2B5EF4-FFF2-40B4-BE49-F238E27FC236}">
                <a16:creationId xmlns:a16="http://schemas.microsoft.com/office/drawing/2014/main" id="{EFBE0DF9-BF58-1D24-A1C1-8A633FE447E8}"/>
              </a:ext>
            </a:extLst>
          </p:cNvPr>
          <p:cNvSpPr txBox="1"/>
          <p:nvPr/>
        </p:nvSpPr>
        <p:spPr>
          <a:xfrm>
            <a:off x="7828729" y="3412504"/>
            <a:ext cx="1676228" cy="276999"/>
          </a:xfrm>
          <a:prstGeom prst="rect">
            <a:avLst/>
          </a:prstGeom>
          <a:solidFill>
            <a:schemeClr val="bg1"/>
          </a:solidFill>
          <a:ln>
            <a:solidFill>
              <a:schemeClr val="tx1"/>
            </a:solidFill>
          </a:ln>
        </p:spPr>
        <p:txBody>
          <a:bodyPr wrap="none" rtlCol="0">
            <a:spAutoFit/>
          </a:bodyPr>
          <a:lstStyle/>
          <a:p>
            <a:r>
              <a:rPr lang="en-GB" sz="1200"/>
              <a:t>Edge Detection Circuit</a:t>
            </a:r>
            <a:endParaRPr lang="LID4096" sz="1200"/>
          </a:p>
        </p:txBody>
      </p:sp>
      <p:sp>
        <p:nvSpPr>
          <p:cNvPr id="16" name="TextBox 15">
            <a:extLst>
              <a:ext uri="{FF2B5EF4-FFF2-40B4-BE49-F238E27FC236}">
                <a16:creationId xmlns:a16="http://schemas.microsoft.com/office/drawing/2014/main" id="{42A93B46-A0CA-56E2-0BBD-0317BE36B4B0}"/>
              </a:ext>
            </a:extLst>
          </p:cNvPr>
          <p:cNvSpPr txBox="1"/>
          <p:nvPr/>
        </p:nvSpPr>
        <p:spPr>
          <a:xfrm>
            <a:off x="8714848" y="2433626"/>
            <a:ext cx="889987"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EXTI_FTENR</a:t>
            </a:r>
            <a:endParaRPr lang="LID4096" sz="1000">
              <a:solidFill>
                <a:schemeClr val="bg2"/>
              </a:solidFill>
              <a:latin typeface="Consolas" panose="020B0609020204030204" pitchFamily="49" charset="0"/>
            </a:endParaRPr>
          </a:p>
        </p:txBody>
      </p:sp>
      <p:sp>
        <p:nvSpPr>
          <p:cNvPr id="17" name="TextBox 16">
            <a:extLst>
              <a:ext uri="{FF2B5EF4-FFF2-40B4-BE49-F238E27FC236}">
                <a16:creationId xmlns:a16="http://schemas.microsoft.com/office/drawing/2014/main" id="{3760BBBD-C716-8099-3165-C6462A34B0D2}"/>
              </a:ext>
            </a:extLst>
          </p:cNvPr>
          <p:cNvSpPr txBox="1"/>
          <p:nvPr/>
        </p:nvSpPr>
        <p:spPr>
          <a:xfrm>
            <a:off x="8714848" y="2679847"/>
            <a:ext cx="889987" cy="338554"/>
          </a:xfrm>
          <a:prstGeom prst="rect">
            <a:avLst/>
          </a:prstGeom>
          <a:solidFill>
            <a:schemeClr val="bg1"/>
          </a:solidFill>
          <a:ln>
            <a:solidFill>
              <a:schemeClr val="tx1"/>
            </a:solidFill>
          </a:ln>
        </p:spPr>
        <p:txBody>
          <a:bodyPr wrap="square" rtlCol="0">
            <a:spAutoFit/>
          </a:bodyPr>
          <a:lstStyle/>
          <a:p>
            <a:pPr algn="ctr"/>
            <a:r>
              <a:rPr lang="en-GB" sz="800" i="1"/>
              <a:t>Falling trigger enable register</a:t>
            </a:r>
            <a:endParaRPr lang="LID4096" sz="800" i="1"/>
          </a:p>
        </p:txBody>
      </p:sp>
      <p:sp>
        <p:nvSpPr>
          <p:cNvPr id="18" name="TextBox 17">
            <a:extLst>
              <a:ext uri="{FF2B5EF4-FFF2-40B4-BE49-F238E27FC236}">
                <a16:creationId xmlns:a16="http://schemas.microsoft.com/office/drawing/2014/main" id="{5E981519-12AE-B342-AA98-15CD61408F0B}"/>
              </a:ext>
            </a:extLst>
          </p:cNvPr>
          <p:cNvSpPr txBox="1"/>
          <p:nvPr/>
        </p:nvSpPr>
        <p:spPr>
          <a:xfrm>
            <a:off x="7694768" y="2430145"/>
            <a:ext cx="889987"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EXTI_RTENR</a:t>
            </a:r>
            <a:endParaRPr lang="LID4096" sz="1000">
              <a:solidFill>
                <a:schemeClr val="bg2"/>
              </a:solidFill>
              <a:latin typeface="Consolas" panose="020B0609020204030204" pitchFamily="49" charset="0"/>
            </a:endParaRPr>
          </a:p>
        </p:txBody>
      </p:sp>
      <p:sp>
        <p:nvSpPr>
          <p:cNvPr id="19" name="TextBox 18">
            <a:extLst>
              <a:ext uri="{FF2B5EF4-FFF2-40B4-BE49-F238E27FC236}">
                <a16:creationId xmlns:a16="http://schemas.microsoft.com/office/drawing/2014/main" id="{CD995DFD-58D0-A451-F121-4554793F8CE7}"/>
              </a:ext>
            </a:extLst>
          </p:cNvPr>
          <p:cNvSpPr txBox="1"/>
          <p:nvPr/>
        </p:nvSpPr>
        <p:spPr>
          <a:xfrm>
            <a:off x="7694768" y="2676366"/>
            <a:ext cx="889987" cy="338554"/>
          </a:xfrm>
          <a:prstGeom prst="rect">
            <a:avLst/>
          </a:prstGeom>
          <a:solidFill>
            <a:schemeClr val="bg1"/>
          </a:solidFill>
          <a:ln>
            <a:solidFill>
              <a:schemeClr val="tx1"/>
            </a:solidFill>
          </a:ln>
        </p:spPr>
        <p:txBody>
          <a:bodyPr wrap="square" rtlCol="0">
            <a:spAutoFit/>
          </a:bodyPr>
          <a:lstStyle/>
          <a:p>
            <a:pPr algn="ctr"/>
            <a:r>
              <a:rPr lang="en-GB" sz="800" i="1"/>
              <a:t>Rising trigger enable register</a:t>
            </a:r>
            <a:endParaRPr lang="LID4096" sz="800" i="1"/>
          </a:p>
        </p:txBody>
      </p:sp>
      <p:cxnSp>
        <p:nvCxnSpPr>
          <p:cNvPr id="25" name="Straight Connector 24">
            <a:extLst>
              <a:ext uri="{FF2B5EF4-FFF2-40B4-BE49-F238E27FC236}">
                <a16:creationId xmlns:a16="http://schemas.microsoft.com/office/drawing/2014/main" id="{4441E9D7-70AF-3540-8EAF-F6E03BE66281}"/>
              </a:ext>
            </a:extLst>
          </p:cNvPr>
          <p:cNvCxnSpPr>
            <a:cxnSpLocks/>
          </p:cNvCxnSpPr>
          <p:nvPr/>
        </p:nvCxnSpPr>
        <p:spPr>
          <a:xfrm flipH="1">
            <a:off x="9504957" y="3553247"/>
            <a:ext cx="547155"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DE3BF2C8-166F-4004-28F3-001D9464CEB1}"/>
              </a:ext>
            </a:extLst>
          </p:cNvPr>
          <p:cNvCxnSpPr>
            <a:cxnSpLocks/>
          </p:cNvCxnSpPr>
          <p:nvPr/>
        </p:nvCxnSpPr>
        <p:spPr>
          <a:xfrm flipV="1">
            <a:off x="9131362" y="3018401"/>
            <a:ext cx="0" cy="39410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3CCD7B6-326A-E63B-30E3-DBE0352E5FED}"/>
              </a:ext>
            </a:extLst>
          </p:cNvPr>
          <p:cNvCxnSpPr>
            <a:cxnSpLocks/>
          </p:cNvCxnSpPr>
          <p:nvPr/>
        </p:nvCxnSpPr>
        <p:spPr>
          <a:xfrm flipV="1">
            <a:off x="8160867" y="3009166"/>
            <a:ext cx="0" cy="39410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BADD5E6B-6C1F-0B80-6CE7-8B7A437AD986}"/>
              </a:ext>
            </a:extLst>
          </p:cNvPr>
          <p:cNvCxnSpPr>
            <a:cxnSpLocks/>
          </p:cNvCxnSpPr>
          <p:nvPr/>
        </p:nvCxnSpPr>
        <p:spPr>
          <a:xfrm flipH="1">
            <a:off x="6583563" y="3593873"/>
            <a:ext cx="1245166"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4" name="Straight Arrow Connector 33">
            <a:extLst>
              <a:ext uri="{FF2B5EF4-FFF2-40B4-BE49-F238E27FC236}">
                <a16:creationId xmlns:a16="http://schemas.microsoft.com/office/drawing/2014/main" id="{4486F036-701E-D02D-AE6C-89A67EFC3659}"/>
              </a:ext>
            </a:extLst>
          </p:cNvPr>
          <p:cNvCxnSpPr/>
          <p:nvPr/>
        </p:nvCxnSpPr>
        <p:spPr>
          <a:xfrm flipH="1">
            <a:off x="1761515" y="3396507"/>
            <a:ext cx="531213" cy="0"/>
          </a:xfrm>
          <a:prstGeom prst="straightConnector1">
            <a:avLst/>
          </a:prstGeom>
          <a:ln w="508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7" name="Freeform: Shape 36">
            <a:extLst>
              <a:ext uri="{FF2B5EF4-FFF2-40B4-BE49-F238E27FC236}">
                <a16:creationId xmlns:a16="http://schemas.microsoft.com/office/drawing/2014/main" id="{CCB7F445-FBE2-387C-F1A8-DA8C1CE56E5F}"/>
              </a:ext>
            </a:extLst>
          </p:cNvPr>
          <p:cNvSpPr/>
          <p:nvPr/>
        </p:nvSpPr>
        <p:spPr>
          <a:xfrm>
            <a:off x="2762312" y="3396692"/>
            <a:ext cx="577850" cy="0"/>
          </a:xfrm>
          <a:custGeom>
            <a:avLst/>
            <a:gdLst>
              <a:gd name="csX0" fmla="*/ 577850 w 577850"/>
              <a:gd name="csY0" fmla="*/ 0 h 0"/>
              <a:gd name="csX1" fmla="*/ 0 w 577850"/>
              <a:gd name="csY1" fmla="*/ 0 h 0"/>
            </a:gdLst>
            <a:ahLst/>
            <a:cxnLst>
              <a:cxn ang="0">
                <a:pos x="csX0" y="csY0"/>
              </a:cxn>
              <a:cxn ang="0">
                <a:pos x="csX1" y="csY1"/>
              </a:cxn>
            </a:cxnLst>
            <a:rect l="l" t="t" r="r" b="b"/>
            <a:pathLst>
              <a:path w="577850">
                <a:moveTo>
                  <a:pt x="577850" y="0"/>
                </a:moveTo>
                <a:lnTo>
                  <a:pt x="0" y="0"/>
                </a:lnTo>
              </a:path>
            </a:pathLst>
          </a:custGeom>
          <a:noFill/>
          <a:ln>
            <a:solidFill>
              <a:schemeClr val="tx1"/>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43" name="Freeform: Shape 42">
            <a:extLst>
              <a:ext uri="{FF2B5EF4-FFF2-40B4-BE49-F238E27FC236}">
                <a16:creationId xmlns:a16="http://schemas.microsoft.com/office/drawing/2014/main" id="{6B1E7FA6-0FAB-42A4-A75D-77A2DB1F59C9}"/>
              </a:ext>
            </a:extLst>
          </p:cNvPr>
          <p:cNvSpPr/>
          <p:nvPr/>
        </p:nvSpPr>
        <p:spPr>
          <a:xfrm>
            <a:off x="7474187" y="3717874"/>
            <a:ext cx="226503" cy="247475"/>
          </a:xfrm>
          <a:custGeom>
            <a:avLst/>
            <a:gdLst>
              <a:gd name="csX0" fmla="*/ 0 w 226503"/>
              <a:gd name="csY0" fmla="*/ 247475 h 247475"/>
              <a:gd name="csX1" fmla="*/ 83890 w 226503"/>
              <a:gd name="csY1" fmla="*/ 247475 h 247475"/>
              <a:gd name="csX2" fmla="*/ 83890 w 226503"/>
              <a:gd name="csY2" fmla="*/ 0 h 247475"/>
              <a:gd name="csX3" fmla="*/ 146808 w 226503"/>
              <a:gd name="csY3" fmla="*/ 0 h 247475"/>
              <a:gd name="csX4" fmla="*/ 146808 w 226503"/>
              <a:gd name="csY4" fmla="*/ 247475 h 247475"/>
              <a:gd name="csX5" fmla="*/ 226503 w 226503"/>
              <a:gd name="csY5" fmla="*/ 247475 h 247475"/>
            </a:gdLst>
            <a:ahLst/>
            <a:cxnLst>
              <a:cxn ang="0">
                <a:pos x="csX0" y="csY0"/>
              </a:cxn>
              <a:cxn ang="0">
                <a:pos x="csX1" y="csY1"/>
              </a:cxn>
              <a:cxn ang="0">
                <a:pos x="csX2" y="csY2"/>
              </a:cxn>
              <a:cxn ang="0">
                <a:pos x="csX3" y="csY3"/>
              </a:cxn>
              <a:cxn ang="0">
                <a:pos x="csX4" y="csY4"/>
              </a:cxn>
              <a:cxn ang="0">
                <a:pos x="csX5" y="csY5"/>
              </a:cxn>
            </a:cxnLst>
            <a:rect l="l" t="t" r="r" b="b"/>
            <a:pathLst>
              <a:path w="226503" h="247475">
                <a:moveTo>
                  <a:pt x="0" y="247475"/>
                </a:moveTo>
                <a:lnTo>
                  <a:pt x="83890" y="247475"/>
                </a:lnTo>
                <a:lnTo>
                  <a:pt x="83890" y="0"/>
                </a:lnTo>
                <a:lnTo>
                  <a:pt x="146808" y="0"/>
                </a:lnTo>
                <a:lnTo>
                  <a:pt x="146808" y="247475"/>
                </a:lnTo>
                <a:lnTo>
                  <a:pt x="226503" y="247475"/>
                </a:lnTo>
              </a:path>
            </a:pathLst>
          </a:cu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44" name="Straight Connector 43">
            <a:extLst>
              <a:ext uri="{FF2B5EF4-FFF2-40B4-BE49-F238E27FC236}">
                <a16:creationId xmlns:a16="http://schemas.microsoft.com/office/drawing/2014/main" id="{00F6EE7E-3448-C8B1-EB09-8739A5E12473}"/>
              </a:ext>
            </a:extLst>
          </p:cNvPr>
          <p:cNvCxnSpPr>
            <a:cxnSpLocks/>
          </p:cNvCxnSpPr>
          <p:nvPr/>
        </p:nvCxnSpPr>
        <p:spPr>
          <a:xfrm flipH="1" flipV="1">
            <a:off x="7313757"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4822A1AF-D206-630B-BD2B-AE8BD78C88C6}"/>
              </a:ext>
            </a:extLst>
          </p:cNvPr>
          <p:cNvCxnSpPr>
            <a:cxnSpLocks/>
          </p:cNvCxnSpPr>
          <p:nvPr/>
        </p:nvCxnSpPr>
        <p:spPr>
          <a:xfrm flipH="1" flipV="1">
            <a:off x="7718923"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85BEB560-BEB2-8495-21B1-860253A1B76B}"/>
              </a:ext>
            </a:extLst>
          </p:cNvPr>
          <p:cNvSpPr txBox="1"/>
          <p:nvPr/>
        </p:nvSpPr>
        <p:spPr>
          <a:xfrm>
            <a:off x="7142444" y="3975884"/>
            <a:ext cx="889987" cy="215444"/>
          </a:xfrm>
          <a:prstGeom prst="rect">
            <a:avLst/>
          </a:prstGeom>
          <a:noFill/>
          <a:ln>
            <a:noFill/>
          </a:ln>
        </p:spPr>
        <p:txBody>
          <a:bodyPr wrap="square" rtlCol="0">
            <a:spAutoFit/>
          </a:bodyPr>
          <a:lstStyle/>
          <a:p>
            <a:pPr algn="ctr"/>
            <a:r>
              <a:rPr lang="en-GB" sz="800" i="1"/>
              <a:t>pulse</a:t>
            </a:r>
            <a:endParaRPr lang="LID4096" sz="800" i="1"/>
          </a:p>
        </p:txBody>
      </p:sp>
      <p:pic>
        <p:nvPicPr>
          <p:cNvPr id="50" name="Picture 49">
            <a:extLst>
              <a:ext uri="{FF2B5EF4-FFF2-40B4-BE49-F238E27FC236}">
                <a16:creationId xmlns:a16="http://schemas.microsoft.com/office/drawing/2014/main" id="{C901E0EF-77EF-F6B1-76AC-684110759D4A}"/>
              </a:ext>
            </a:extLst>
          </p:cNvPr>
          <p:cNvPicPr>
            <a:picLocks noChangeAspect="1"/>
          </p:cNvPicPr>
          <p:nvPr/>
        </p:nvPicPr>
        <p:blipFill>
          <a:blip r:embed="rId3"/>
          <a:stretch>
            <a:fillRect/>
          </a:stretch>
        </p:blipFill>
        <p:spPr>
          <a:xfrm>
            <a:off x="3128429" y="4785891"/>
            <a:ext cx="6031412" cy="1890758"/>
          </a:xfrm>
          <a:prstGeom prst="rect">
            <a:avLst/>
          </a:prstGeom>
        </p:spPr>
      </p:pic>
      <p:sp>
        <p:nvSpPr>
          <p:cNvPr id="3" name="TextBox 2">
            <a:extLst>
              <a:ext uri="{FF2B5EF4-FFF2-40B4-BE49-F238E27FC236}">
                <a16:creationId xmlns:a16="http://schemas.microsoft.com/office/drawing/2014/main" id="{FA34A993-CFF9-FA35-3896-54DAC29C80B6}"/>
              </a:ext>
            </a:extLst>
          </p:cNvPr>
          <p:cNvSpPr txBox="1"/>
          <p:nvPr/>
        </p:nvSpPr>
        <p:spPr>
          <a:xfrm>
            <a:off x="6513668" y="2428521"/>
            <a:ext cx="960519"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EXTI_SWIEVR</a:t>
            </a:r>
            <a:endParaRPr lang="LID4096" sz="1000">
              <a:solidFill>
                <a:schemeClr val="bg2"/>
              </a:solidFill>
              <a:latin typeface="Consolas" panose="020B0609020204030204" pitchFamily="49" charset="0"/>
            </a:endParaRPr>
          </a:p>
        </p:txBody>
      </p:sp>
      <p:sp>
        <p:nvSpPr>
          <p:cNvPr id="20" name="TextBox 19">
            <a:extLst>
              <a:ext uri="{FF2B5EF4-FFF2-40B4-BE49-F238E27FC236}">
                <a16:creationId xmlns:a16="http://schemas.microsoft.com/office/drawing/2014/main" id="{F12CBB43-9163-F46F-4E38-62F65088723A}"/>
              </a:ext>
            </a:extLst>
          </p:cNvPr>
          <p:cNvSpPr txBox="1"/>
          <p:nvPr/>
        </p:nvSpPr>
        <p:spPr>
          <a:xfrm>
            <a:off x="6513668" y="2674742"/>
            <a:ext cx="960519" cy="461665"/>
          </a:xfrm>
          <a:prstGeom prst="rect">
            <a:avLst/>
          </a:prstGeom>
          <a:solidFill>
            <a:schemeClr val="bg1"/>
          </a:solidFill>
          <a:ln>
            <a:solidFill>
              <a:schemeClr val="tx1"/>
            </a:solidFill>
          </a:ln>
        </p:spPr>
        <p:txBody>
          <a:bodyPr wrap="square" rtlCol="0">
            <a:spAutoFit/>
          </a:bodyPr>
          <a:lstStyle/>
          <a:p>
            <a:pPr algn="ctr"/>
            <a:r>
              <a:rPr lang="en-GB" sz="800" i="1" dirty="0"/>
              <a:t>Software Interrupt Event Register</a:t>
            </a:r>
            <a:endParaRPr lang="LID4096" sz="800" i="1" dirty="0"/>
          </a:p>
        </p:txBody>
      </p:sp>
      <p:cxnSp>
        <p:nvCxnSpPr>
          <p:cNvPr id="21" name="Connector: Elbow 20">
            <a:extLst>
              <a:ext uri="{FF2B5EF4-FFF2-40B4-BE49-F238E27FC236}">
                <a16:creationId xmlns:a16="http://schemas.microsoft.com/office/drawing/2014/main" id="{05A697E0-150B-46A7-0141-2131E1F54538}"/>
              </a:ext>
            </a:extLst>
          </p:cNvPr>
          <p:cNvCxnSpPr>
            <a:stCxn id="20" idx="2"/>
          </p:cNvCxnSpPr>
          <p:nvPr/>
        </p:nvCxnSpPr>
        <p:spPr>
          <a:xfrm rot="5400000">
            <a:off x="6614154" y="3105817"/>
            <a:ext cx="349185" cy="410365"/>
          </a:xfrm>
          <a:prstGeom prst="bentConnector2">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nvGrpSpPr>
          <p:cNvPr id="23" name="Group 22">
            <a:extLst>
              <a:ext uri="{FF2B5EF4-FFF2-40B4-BE49-F238E27FC236}">
                <a16:creationId xmlns:a16="http://schemas.microsoft.com/office/drawing/2014/main" id="{93557CDC-9EA3-6D41-F74B-41815C1E10DA}"/>
              </a:ext>
            </a:extLst>
          </p:cNvPr>
          <p:cNvGrpSpPr/>
          <p:nvPr/>
        </p:nvGrpSpPr>
        <p:grpSpPr>
          <a:xfrm>
            <a:off x="6674413" y="3196268"/>
            <a:ext cx="293603" cy="133412"/>
            <a:chOff x="7313757" y="3717874"/>
            <a:chExt cx="544623" cy="247475"/>
          </a:xfrm>
        </p:grpSpPr>
        <p:sp>
          <p:nvSpPr>
            <p:cNvPr id="24" name="Freeform: Shape 23">
              <a:extLst>
                <a:ext uri="{FF2B5EF4-FFF2-40B4-BE49-F238E27FC236}">
                  <a16:creationId xmlns:a16="http://schemas.microsoft.com/office/drawing/2014/main" id="{04324151-2C60-0A8C-CB6B-515605FBDC4A}"/>
                </a:ext>
              </a:extLst>
            </p:cNvPr>
            <p:cNvSpPr/>
            <p:nvPr/>
          </p:nvSpPr>
          <p:spPr>
            <a:xfrm>
              <a:off x="7474187" y="3717874"/>
              <a:ext cx="226503" cy="247475"/>
            </a:xfrm>
            <a:custGeom>
              <a:avLst/>
              <a:gdLst>
                <a:gd name="csX0" fmla="*/ 0 w 226503"/>
                <a:gd name="csY0" fmla="*/ 247475 h 247475"/>
                <a:gd name="csX1" fmla="*/ 83890 w 226503"/>
                <a:gd name="csY1" fmla="*/ 247475 h 247475"/>
                <a:gd name="csX2" fmla="*/ 83890 w 226503"/>
                <a:gd name="csY2" fmla="*/ 0 h 247475"/>
                <a:gd name="csX3" fmla="*/ 146808 w 226503"/>
                <a:gd name="csY3" fmla="*/ 0 h 247475"/>
                <a:gd name="csX4" fmla="*/ 146808 w 226503"/>
                <a:gd name="csY4" fmla="*/ 247475 h 247475"/>
                <a:gd name="csX5" fmla="*/ 226503 w 226503"/>
                <a:gd name="csY5" fmla="*/ 247475 h 247475"/>
              </a:gdLst>
              <a:ahLst/>
              <a:cxnLst>
                <a:cxn ang="0">
                  <a:pos x="csX0" y="csY0"/>
                </a:cxn>
                <a:cxn ang="0">
                  <a:pos x="csX1" y="csY1"/>
                </a:cxn>
                <a:cxn ang="0">
                  <a:pos x="csX2" y="csY2"/>
                </a:cxn>
                <a:cxn ang="0">
                  <a:pos x="csX3" y="csY3"/>
                </a:cxn>
                <a:cxn ang="0">
                  <a:pos x="csX4" y="csY4"/>
                </a:cxn>
                <a:cxn ang="0">
                  <a:pos x="csX5" y="csY5"/>
                </a:cxn>
              </a:cxnLst>
              <a:rect l="l" t="t" r="r" b="b"/>
              <a:pathLst>
                <a:path w="226503" h="247475">
                  <a:moveTo>
                    <a:pt x="0" y="247475"/>
                  </a:moveTo>
                  <a:lnTo>
                    <a:pt x="83890" y="247475"/>
                  </a:lnTo>
                  <a:lnTo>
                    <a:pt x="83890" y="0"/>
                  </a:lnTo>
                  <a:lnTo>
                    <a:pt x="146808" y="0"/>
                  </a:lnTo>
                  <a:lnTo>
                    <a:pt x="146808" y="247475"/>
                  </a:lnTo>
                  <a:lnTo>
                    <a:pt x="226503" y="247475"/>
                  </a:lnTo>
                </a:path>
              </a:pathLst>
            </a:cu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29" name="Straight Connector 28">
              <a:extLst>
                <a:ext uri="{FF2B5EF4-FFF2-40B4-BE49-F238E27FC236}">
                  <a16:creationId xmlns:a16="http://schemas.microsoft.com/office/drawing/2014/main" id="{E1ABF96C-C50B-48C9-347E-6E979AA2E7B5}"/>
                </a:ext>
              </a:extLst>
            </p:cNvPr>
            <p:cNvCxnSpPr>
              <a:cxnSpLocks/>
            </p:cNvCxnSpPr>
            <p:nvPr/>
          </p:nvCxnSpPr>
          <p:spPr>
            <a:xfrm flipH="1" flipV="1">
              <a:off x="7313757"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57E722C1-7934-4918-A8C6-60E58EE8D2ED}"/>
                </a:ext>
              </a:extLst>
            </p:cNvPr>
            <p:cNvCxnSpPr>
              <a:cxnSpLocks/>
            </p:cNvCxnSpPr>
            <p:nvPr/>
          </p:nvCxnSpPr>
          <p:spPr>
            <a:xfrm flipH="1" flipV="1">
              <a:off x="7718923"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grpSp>
      <p:cxnSp>
        <p:nvCxnSpPr>
          <p:cNvPr id="31" name="Straight Connector 30">
            <a:extLst>
              <a:ext uri="{FF2B5EF4-FFF2-40B4-BE49-F238E27FC236}">
                <a16:creationId xmlns:a16="http://schemas.microsoft.com/office/drawing/2014/main" id="{2B115C38-4195-3924-36F4-95AEE9C7BCA4}"/>
              </a:ext>
            </a:extLst>
          </p:cNvPr>
          <p:cNvCxnSpPr>
            <a:cxnSpLocks/>
          </p:cNvCxnSpPr>
          <p:nvPr/>
        </p:nvCxnSpPr>
        <p:spPr>
          <a:xfrm flipH="1">
            <a:off x="5181663" y="3492273"/>
            <a:ext cx="100828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8A4CBC2-D0FD-826E-8602-471C0304F281}"/>
              </a:ext>
            </a:extLst>
          </p:cNvPr>
          <p:cNvSpPr txBox="1"/>
          <p:nvPr/>
        </p:nvSpPr>
        <p:spPr>
          <a:xfrm>
            <a:off x="6152035" y="3357143"/>
            <a:ext cx="431528" cy="369332"/>
          </a:xfrm>
          <a:prstGeom prst="rect">
            <a:avLst/>
          </a:prstGeom>
          <a:solidFill>
            <a:schemeClr val="bg1"/>
          </a:solidFill>
          <a:ln>
            <a:solidFill>
              <a:schemeClr val="tx1"/>
            </a:solidFill>
          </a:ln>
        </p:spPr>
        <p:txBody>
          <a:bodyPr wrap="none" rtlCol="0">
            <a:spAutoFit/>
          </a:bodyPr>
          <a:lstStyle/>
          <a:p>
            <a:r>
              <a:rPr lang="en-SE" b="1"/>
              <a:t>≥</a:t>
            </a:r>
            <a:r>
              <a:rPr lang="en-GB"/>
              <a:t>1</a:t>
            </a:r>
            <a:endParaRPr lang="LID4096"/>
          </a:p>
        </p:txBody>
      </p:sp>
      <p:sp>
        <p:nvSpPr>
          <p:cNvPr id="32" name="Rectangle 31">
            <a:extLst>
              <a:ext uri="{FF2B5EF4-FFF2-40B4-BE49-F238E27FC236}">
                <a16:creationId xmlns:a16="http://schemas.microsoft.com/office/drawing/2014/main" id="{9DED8EEB-55A8-1A2D-D015-B5BDE8D13D33}"/>
              </a:ext>
            </a:extLst>
          </p:cNvPr>
          <p:cNvSpPr/>
          <p:nvPr/>
        </p:nvSpPr>
        <p:spPr>
          <a:xfrm>
            <a:off x="5579952" y="5372629"/>
            <a:ext cx="2827950" cy="207239"/>
          </a:xfrm>
          <a:prstGeom prst="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33" name="TextBox 32">
            <a:extLst>
              <a:ext uri="{FF2B5EF4-FFF2-40B4-BE49-F238E27FC236}">
                <a16:creationId xmlns:a16="http://schemas.microsoft.com/office/drawing/2014/main" id="{AEBB5B7C-5BFA-16F6-7136-70EB5039B3F3}"/>
              </a:ext>
            </a:extLst>
          </p:cNvPr>
          <p:cNvSpPr txBox="1"/>
          <p:nvPr/>
        </p:nvSpPr>
        <p:spPr>
          <a:xfrm>
            <a:off x="5087107" y="2427014"/>
            <a:ext cx="960519"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EXTI_INTENR</a:t>
            </a:r>
            <a:endParaRPr lang="LID4096" sz="1000">
              <a:solidFill>
                <a:schemeClr val="bg2"/>
              </a:solidFill>
              <a:latin typeface="Consolas" panose="020B0609020204030204" pitchFamily="49" charset="0"/>
            </a:endParaRPr>
          </a:p>
        </p:txBody>
      </p:sp>
      <p:sp>
        <p:nvSpPr>
          <p:cNvPr id="35" name="TextBox 34">
            <a:extLst>
              <a:ext uri="{FF2B5EF4-FFF2-40B4-BE49-F238E27FC236}">
                <a16:creationId xmlns:a16="http://schemas.microsoft.com/office/drawing/2014/main" id="{DE0C7E2B-0F1D-7F64-4164-9103B5D627CA}"/>
              </a:ext>
            </a:extLst>
          </p:cNvPr>
          <p:cNvSpPr txBox="1"/>
          <p:nvPr/>
        </p:nvSpPr>
        <p:spPr>
          <a:xfrm>
            <a:off x="5087107" y="2673235"/>
            <a:ext cx="960519" cy="338554"/>
          </a:xfrm>
          <a:prstGeom prst="rect">
            <a:avLst/>
          </a:prstGeom>
          <a:solidFill>
            <a:schemeClr val="bg1"/>
          </a:solidFill>
          <a:ln>
            <a:solidFill>
              <a:schemeClr val="tx1"/>
            </a:solidFill>
          </a:ln>
        </p:spPr>
        <p:txBody>
          <a:bodyPr wrap="square" rtlCol="0">
            <a:spAutoFit/>
          </a:bodyPr>
          <a:lstStyle/>
          <a:p>
            <a:pPr algn="ctr"/>
            <a:r>
              <a:rPr lang="en-GB" sz="800" i="1"/>
              <a:t>Interrupt Enable Register</a:t>
            </a:r>
            <a:endParaRPr lang="LID4096" sz="800" i="1"/>
          </a:p>
        </p:txBody>
      </p:sp>
      <p:cxnSp>
        <p:nvCxnSpPr>
          <p:cNvPr id="36" name="Connector: Elbow 35">
            <a:extLst>
              <a:ext uri="{FF2B5EF4-FFF2-40B4-BE49-F238E27FC236}">
                <a16:creationId xmlns:a16="http://schemas.microsoft.com/office/drawing/2014/main" id="{C8ABEB95-BFF0-C613-F228-7C33D9396FD0}"/>
              </a:ext>
            </a:extLst>
          </p:cNvPr>
          <p:cNvCxnSpPr>
            <a:stCxn id="35" idx="2"/>
            <a:endCxn id="38" idx="3"/>
          </p:cNvCxnSpPr>
          <p:nvPr/>
        </p:nvCxnSpPr>
        <p:spPr>
          <a:xfrm rot="5400000">
            <a:off x="5327338" y="3139340"/>
            <a:ext cx="367580" cy="112479"/>
          </a:xfrm>
          <a:prstGeom prst="bentConnector2">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B6FDA1D0-715B-E794-C943-76787EB9EE58}"/>
              </a:ext>
            </a:extLst>
          </p:cNvPr>
          <p:cNvSpPr txBox="1"/>
          <p:nvPr/>
        </p:nvSpPr>
        <p:spPr>
          <a:xfrm>
            <a:off x="5114730" y="3194703"/>
            <a:ext cx="340158" cy="369332"/>
          </a:xfrm>
          <a:prstGeom prst="rect">
            <a:avLst/>
          </a:prstGeom>
          <a:solidFill>
            <a:schemeClr val="bg1"/>
          </a:solidFill>
          <a:ln>
            <a:solidFill>
              <a:schemeClr val="tx1"/>
            </a:solidFill>
          </a:ln>
        </p:spPr>
        <p:txBody>
          <a:bodyPr wrap="none" rtlCol="0">
            <a:spAutoFit/>
          </a:bodyPr>
          <a:lstStyle/>
          <a:p>
            <a:r>
              <a:rPr lang="en-GB" b="1"/>
              <a:t>&amp;</a:t>
            </a:r>
            <a:endParaRPr lang="LID4096"/>
          </a:p>
        </p:txBody>
      </p:sp>
      <p:cxnSp>
        <p:nvCxnSpPr>
          <p:cNvPr id="39" name="Straight Connector 38">
            <a:extLst>
              <a:ext uri="{FF2B5EF4-FFF2-40B4-BE49-F238E27FC236}">
                <a16:creationId xmlns:a16="http://schemas.microsoft.com/office/drawing/2014/main" id="{855F7221-8786-1217-6296-AA33C48FF594}"/>
              </a:ext>
            </a:extLst>
          </p:cNvPr>
          <p:cNvCxnSpPr>
            <a:cxnSpLocks/>
          </p:cNvCxnSpPr>
          <p:nvPr/>
        </p:nvCxnSpPr>
        <p:spPr>
          <a:xfrm flipH="1">
            <a:off x="4859675" y="3299474"/>
            <a:ext cx="255055"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407331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4B455-B9AF-4FA6-7DB5-95C7E0FBE0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74B5D1-CE7D-42DB-BA42-796BF1F71E84}"/>
              </a:ext>
            </a:extLst>
          </p:cNvPr>
          <p:cNvSpPr>
            <a:spLocks noGrp="1"/>
          </p:cNvSpPr>
          <p:nvPr>
            <p:ph type="title"/>
          </p:nvPr>
        </p:nvSpPr>
        <p:spPr/>
        <p:txBody>
          <a:bodyPr/>
          <a:lstStyle/>
          <a:p>
            <a:r>
              <a:rPr lang="en-US" dirty="0"/>
              <a:t>N</a:t>
            </a:r>
            <a:r>
              <a:rPr lang="sv-SE" dirty="0"/>
              <a:t>är skall vi fyra av ett </a:t>
            </a:r>
            <a:r>
              <a:rPr lang="sv-SE" dirty="0" err="1"/>
              <a:t>interrupt</a:t>
            </a:r>
            <a:r>
              <a:rPr lang="sv-SE" dirty="0"/>
              <a:t>? </a:t>
            </a:r>
            <a:br>
              <a:rPr lang="sv-SE" dirty="0"/>
            </a:br>
            <a:r>
              <a:rPr lang="sv-SE" sz="3200" dirty="0"/>
              <a:t>EXTI</a:t>
            </a:r>
            <a:endParaRPr lang="LID4096" dirty="0"/>
          </a:p>
        </p:txBody>
      </p:sp>
      <p:sp>
        <p:nvSpPr>
          <p:cNvPr id="4" name="TextBox 3">
            <a:extLst>
              <a:ext uri="{FF2B5EF4-FFF2-40B4-BE49-F238E27FC236}">
                <a16:creationId xmlns:a16="http://schemas.microsoft.com/office/drawing/2014/main" id="{60829B6F-C660-C2C9-6CDE-584AC1492178}"/>
              </a:ext>
            </a:extLst>
          </p:cNvPr>
          <p:cNvSpPr txBox="1"/>
          <p:nvPr/>
        </p:nvSpPr>
        <p:spPr>
          <a:xfrm>
            <a:off x="2292728" y="1974294"/>
            <a:ext cx="8286434" cy="2584448"/>
          </a:xfrm>
          <a:prstGeom prst="rect">
            <a:avLst/>
          </a:prstGeom>
          <a:solidFill>
            <a:schemeClr val="accent6">
              <a:lumMod val="40000"/>
              <a:lumOff val="60000"/>
            </a:schemeClr>
          </a:solidFill>
          <a:ln>
            <a:solidFill>
              <a:schemeClr val="accent6">
                <a:lumMod val="75000"/>
              </a:schemeClr>
            </a:solidFill>
          </a:ln>
        </p:spPr>
        <p:txBody>
          <a:bodyPr wrap="square" rtlCol="0">
            <a:noAutofit/>
          </a:bodyPr>
          <a:lstStyle/>
          <a:p>
            <a:pPr algn="ctr"/>
            <a:r>
              <a:rPr lang="en-US"/>
              <a:t>EXTI</a:t>
            </a:r>
            <a:br>
              <a:rPr lang="en-US"/>
            </a:br>
            <a:endParaRPr lang="en-US" sz="1050"/>
          </a:p>
        </p:txBody>
      </p:sp>
      <p:sp>
        <p:nvSpPr>
          <p:cNvPr id="5" name="TextBox 4">
            <a:extLst>
              <a:ext uri="{FF2B5EF4-FFF2-40B4-BE49-F238E27FC236}">
                <a16:creationId xmlns:a16="http://schemas.microsoft.com/office/drawing/2014/main" id="{FD254C3F-7ABE-5299-FD6F-7EB59E2076A7}"/>
              </a:ext>
            </a:extLst>
          </p:cNvPr>
          <p:cNvSpPr txBox="1"/>
          <p:nvPr/>
        </p:nvSpPr>
        <p:spPr>
          <a:xfrm>
            <a:off x="9985835" y="3280885"/>
            <a:ext cx="593327" cy="1223412"/>
          </a:xfrm>
          <a:prstGeom prst="rect">
            <a:avLst/>
          </a:prstGeom>
          <a:noFill/>
        </p:spPr>
        <p:txBody>
          <a:bodyPr wrap="square">
            <a:spAutoFit/>
          </a:bodyPr>
          <a:lstStyle/>
          <a:p>
            <a:pPr algn="r"/>
            <a:r>
              <a:rPr lang="en-US" sz="1050"/>
              <a:t>EXTI0</a:t>
            </a:r>
            <a:br>
              <a:rPr lang="en-US" sz="1050"/>
            </a:br>
            <a:r>
              <a:rPr lang="en-US" sz="1050" b="1"/>
              <a:t>EXTI1</a:t>
            </a:r>
            <a:br>
              <a:rPr lang="en-US" sz="1050" b="1"/>
            </a:br>
            <a:r>
              <a:rPr lang="en-US" sz="1050"/>
              <a:t>EXTI2</a:t>
            </a:r>
            <a:br>
              <a:rPr lang="en-US" sz="1050"/>
            </a:br>
            <a:r>
              <a:rPr lang="en-US" sz="1050"/>
              <a:t>EXTI3</a:t>
            </a:r>
            <a:br>
              <a:rPr lang="en-US" sz="1050"/>
            </a:br>
            <a:r>
              <a:rPr lang="en-US" sz="1050"/>
              <a:t>EXTI4</a:t>
            </a:r>
          </a:p>
          <a:p>
            <a:pPr algn="r"/>
            <a:r>
              <a:rPr lang="en-US" sz="1050"/>
              <a:t>EXTI5</a:t>
            </a:r>
          </a:p>
          <a:p>
            <a:pPr algn="ctr"/>
            <a:r>
              <a:rPr lang="en-US" sz="1050"/>
              <a:t>...</a:t>
            </a:r>
            <a:endParaRPr lang="LID4096" sz="3600" dirty="0"/>
          </a:p>
        </p:txBody>
      </p:sp>
      <p:cxnSp>
        <p:nvCxnSpPr>
          <p:cNvPr id="6" name="Straight Arrow Connector 5">
            <a:extLst>
              <a:ext uri="{FF2B5EF4-FFF2-40B4-BE49-F238E27FC236}">
                <a16:creationId xmlns:a16="http://schemas.microsoft.com/office/drawing/2014/main" id="{54EBE4B1-B466-6C1B-784C-A568C463E948}"/>
              </a:ext>
            </a:extLst>
          </p:cNvPr>
          <p:cNvCxnSpPr/>
          <p:nvPr/>
        </p:nvCxnSpPr>
        <p:spPr>
          <a:xfrm flipH="1">
            <a:off x="10679040" y="3415557"/>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DEDB3FD1-47A9-A191-3E0F-482F93EDA7C4}"/>
              </a:ext>
            </a:extLst>
          </p:cNvPr>
          <p:cNvCxnSpPr/>
          <p:nvPr/>
        </p:nvCxnSpPr>
        <p:spPr>
          <a:xfrm flipH="1">
            <a:off x="10679040" y="3570054"/>
            <a:ext cx="531213" cy="0"/>
          </a:xfrm>
          <a:prstGeom prst="straightConnector1">
            <a:avLst/>
          </a:prstGeom>
          <a:ln w="508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003860A4-12B9-BA64-15D7-1BB85D7EB7E5}"/>
              </a:ext>
            </a:extLst>
          </p:cNvPr>
          <p:cNvCxnSpPr/>
          <p:nvPr/>
        </p:nvCxnSpPr>
        <p:spPr>
          <a:xfrm flipH="1">
            <a:off x="10675869" y="3745525"/>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5A097333-A761-ABA8-FF92-E7F8F78643F4}"/>
              </a:ext>
            </a:extLst>
          </p:cNvPr>
          <p:cNvCxnSpPr/>
          <p:nvPr/>
        </p:nvCxnSpPr>
        <p:spPr>
          <a:xfrm flipH="1">
            <a:off x="10675869" y="3907012"/>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69577A25-C100-69EE-700C-87EAF997D08A}"/>
              </a:ext>
            </a:extLst>
          </p:cNvPr>
          <p:cNvCxnSpPr/>
          <p:nvPr/>
        </p:nvCxnSpPr>
        <p:spPr>
          <a:xfrm flipH="1">
            <a:off x="10675869" y="4065306"/>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B7FBBDBA-E38D-169C-B1F0-5AB2826B1289}"/>
              </a:ext>
            </a:extLst>
          </p:cNvPr>
          <p:cNvCxnSpPr/>
          <p:nvPr/>
        </p:nvCxnSpPr>
        <p:spPr>
          <a:xfrm flipH="1">
            <a:off x="10675869" y="4228870"/>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a:extLst>
              <a:ext uri="{FF2B5EF4-FFF2-40B4-BE49-F238E27FC236}">
                <a16:creationId xmlns:a16="http://schemas.microsoft.com/office/drawing/2014/main" id="{1D30C284-1C1F-17AE-BBAF-5F735AC6296C}"/>
              </a:ext>
            </a:extLst>
          </p:cNvPr>
          <p:cNvSpPr/>
          <p:nvPr/>
        </p:nvSpPr>
        <p:spPr>
          <a:xfrm>
            <a:off x="10687428" y="3695101"/>
            <a:ext cx="908134" cy="647781"/>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3" name="TextBox 12">
            <a:extLst>
              <a:ext uri="{FF2B5EF4-FFF2-40B4-BE49-F238E27FC236}">
                <a16:creationId xmlns:a16="http://schemas.microsoft.com/office/drawing/2014/main" id="{5FCBF8EB-F381-70CE-B63A-8625844CF22E}"/>
              </a:ext>
            </a:extLst>
          </p:cNvPr>
          <p:cNvSpPr txBox="1"/>
          <p:nvPr/>
        </p:nvSpPr>
        <p:spPr>
          <a:xfrm>
            <a:off x="2281169" y="3114769"/>
            <a:ext cx="849594" cy="1223412"/>
          </a:xfrm>
          <a:prstGeom prst="rect">
            <a:avLst/>
          </a:prstGeom>
          <a:noFill/>
        </p:spPr>
        <p:txBody>
          <a:bodyPr wrap="square">
            <a:spAutoFit/>
          </a:bodyPr>
          <a:lstStyle/>
          <a:p>
            <a:r>
              <a:rPr lang="en-US" sz="1050"/>
              <a:t>EXTI0</a:t>
            </a:r>
            <a:br>
              <a:rPr lang="en-US" sz="1050"/>
            </a:br>
            <a:r>
              <a:rPr lang="en-US" sz="1050" b="1"/>
              <a:t>EXTI1</a:t>
            </a:r>
            <a:br>
              <a:rPr lang="en-US" sz="1050"/>
            </a:br>
            <a:r>
              <a:rPr lang="en-US" sz="1050"/>
              <a:t>EXTI2</a:t>
            </a:r>
            <a:br>
              <a:rPr lang="en-US" sz="1050"/>
            </a:br>
            <a:r>
              <a:rPr lang="en-US" sz="1050"/>
              <a:t>EXTI3</a:t>
            </a:r>
            <a:br>
              <a:rPr lang="en-US" sz="1050"/>
            </a:br>
            <a:r>
              <a:rPr lang="en-US" sz="1050"/>
              <a:t>EXTI4</a:t>
            </a:r>
          </a:p>
          <a:p>
            <a:r>
              <a:rPr lang="en-US" sz="1050"/>
              <a:t>EXTI5_9</a:t>
            </a:r>
            <a:br>
              <a:rPr lang="en-US" sz="1050"/>
            </a:br>
            <a:r>
              <a:rPr lang="en-US" sz="1050"/>
              <a:t>EXTI10_15</a:t>
            </a:r>
          </a:p>
        </p:txBody>
      </p:sp>
      <p:sp>
        <p:nvSpPr>
          <p:cNvPr id="14" name="TextBox 13">
            <a:extLst>
              <a:ext uri="{FF2B5EF4-FFF2-40B4-BE49-F238E27FC236}">
                <a16:creationId xmlns:a16="http://schemas.microsoft.com/office/drawing/2014/main" id="{6F10E8BE-A56A-D81D-22D1-DC5510FCB4C5}"/>
              </a:ext>
            </a:extLst>
          </p:cNvPr>
          <p:cNvSpPr txBox="1"/>
          <p:nvPr/>
        </p:nvSpPr>
        <p:spPr>
          <a:xfrm rot="16200000">
            <a:off x="188771" y="2956314"/>
            <a:ext cx="2584447" cy="620410"/>
          </a:xfrm>
          <a:prstGeom prst="rect">
            <a:avLst/>
          </a:prstGeom>
          <a:solidFill>
            <a:schemeClr val="accent1">
              <a:lumMod val="60000"/>
              <a:lumOff val="40000"/>
            </a:schemeClr>
          </a:solidFill>
          <a:ln>
            <a:solidFill>
              <a:schemeClr val="tx2">
                <a:lumMod val="75000"/>
                <a:lumOff val="25000"/>
              </a:schemeClr>
            </a:solidFill>
          </a:ln>
        </p:spPr>
        <p:txBody>
          <a:bodyPr wrap="square" rtlCol="0">
            <a:noAutofit/>
          </a:bodyPr>
          <a:lstStyle/>
          <a:p>
            <a:pPr algn="ctr"/>
            <a:r>
              <a:rPr lang="en-US" sz="3600"/>
              <a:t>PFIC</a:t>
            </a:r>
            <a:endParaRPr lang="LID4096" sz="6000" dirty="0"/>
          </a:p>
        </p:txBody>
      </p:sp>
      <p:sp>
        <p:nvSpPr>
          <p:cNvPr id="15" name="TextBox 14">
            <a:extLst>
              <a:ext uri="{FF2B5EF4-FFF2-40B4-BE49-F238E27FC236}">
                <a16:creationId xmlns:a16="http://schemas.microsoft.com/office/drawing/2014/main" id="{3FE91EF4-0346-59D2-9D6F-84F6764A54A5}"/>
              </a:ext>
            </a:extLst>
          </p:cNvPr>
          <p:cNvSpPr txBox="1"/>
          <p:nvPr/>
        </p:nvSpPr>
        <p:spPr>
          <a:xfrm>
            <a:off x="7828729" y="3412504"/>
            <a:ext cx="1676228" cy="276999"/>
          </a:xfrm>
          <a:prstGeom prst="rect">
            <a:avLst/>
          </a:prstGeom>
          <a:solidFill>
            <a:schemeClr val="bg1"/>
          </a:solidFill>
          <a:ln>
            <a:solidFill>
              <a:schemeClr val="tx1"/>
            </a:solidFill>
          </a:ln>
        </p:spPr>
        <p:txBody>
          <a:bodyPr wrap="none" rtlCol="0">
            <a:spAutoFit/>
          </a:bodyPr>
          <a:lstStyle/>
          <a:p>
            <a:r>
              <a:rPr lang="en-GB" sz="1200"/>
              <a:t>Edge Detection Circuit</a:t>
            </a:r>
            <a:endParaRPr lang="LID4096" sz="1200"/>
          </a:p>
        </p:txBody>
      </p:sp>
      <p:sp>
        <p:nvSpPr>
          <p:cNvPr id="16" name="TextBox 15">
            <a:extLst>
              <a:ext uri="{FF2B5EF4-FFF2-40B4-BE49-F238E27FC236}">
                <a16:creationId xmlns:a16="http://schemas.microsoft.com/office/drawing/2014/main" id="{ABA2B2B1-C55F-78E2-000E-C5F282C150E2}"/>
              </a:ext>
            </a:extLst>
          </p:cNvPr>
          <p:cNvSpPr txBox="1"/>
          <p:nvPr/>
        </p:nvSpPr>
        <p:spPr>
          <a:xfrm>
            <a:off x="8714848" y="2433626"/>
            <a:ext cx="889987"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EXTI_FTENR</a:t>
            </a:r>
            <a:endParaRPr lang="LID4096" sz="1000">
              <a:solidFill>
                <a:schemeClr val="bg2"/>
              </a:solidFill>
              <a:latin typeface="Consolas" panose="020B0609020204030204" pitchFamily="49" charset="0"/>
            </a:endParaRPr>
          </a:p>
        </p:txBody>
      </p:sp>
      <p:sp>
        <p:nvSpPr>
          <p:cNvPr id="17" name="TextBox 16">
            <a:extLst>
              <a:ext uri="{FF2B5EF4-FFF2-40B4-BE49-F238E27FC236}">
                <a16:creationId xmlns:a16="http://schemas.microsoft.com/office/drawing/2014/main" id="{DBC22534-B3C8-E2F4-1731-4A2A98EEC990}"/>
              </a:ext>
            </a:extLst>
          </p:cNvPr>
          <p:cNvSpPr txBox="1"/>
          <p:nvPr/>
        </p:nvSpPr>
        <p:spPr>
          <a:xfrm>
            <a:off x="8714848" y="2679847"/>
            <a:ext cx="889987" cy="338554"/>
          </a:xfrm>
          <a:prstGeom prst="rect">
            <a:avLst/>
          </a:prstGeom>
          <a:solidFill>
            <a:schemeClr val="bg1"/>
          </a:solidFill>
          <a:ln>
            <a:solidFill>
              <a:schemeClr val="tx1"/>
            </a:solidFill>
          </a:ln>
        </p:spPr>
        <p:txBody>
          <a:bodyPr wrap="square" rtlCol="0">
            <a:spAutoFit/>
          </a:bodyPr>
          <a:lstStyle/>
          <a:p>
            <a:pPr algn="ctr"/>
            <a:r>
              <a:rPr lang="en-GB" sz="800" i="1"/>
              <a:t>Falling trigger enable register</a:t>
            </a:r>
            <a:endParaRPr lang="LID4096" sz="800" i="1"/>
          </a:p>
        </p:txBody>
      </p:sp>
      <p:sp>
        <p:nvSpPr>
          <p:cNvPr id="18" name="TextBox 17">
            <a:extLst>
              <a:ext uri="{FF2B5EF4-FFF2-40B4-BE49-F238E27FC236}">
                <a16:creationId xmlns:a16="http://schemas.microsoft.com/office/drawing/2014/main" id="{109F96E3-8B46-64B5-553D-6DC16A2D0606}"/>
              </a:ext>
            </a:extLst>
          </p:cNvPr>
          <p:cNvSpPr txBox="1"/>
          <p:nvPr/>
        </p:nvSpPr>
        <p:spPr>
          <a:xfrm>
            <a:off x="7694768" y="2430145"/>
            <a:ext cx="889987"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EXTI_RTENR</a:t>
            </a:r>
            <a:endParaRPr lang="LID4096" sz="1000">
              <a:solidFill>
                <a:schemeClr val="bg2"/>
              </a:solidFill>
              <a:latin typeface="Consolas" panose="020B0609020204030204" pitchFamily="49" charset="0"/>
            </a:endParaRPr>
          </a:p>
        </p:txBody>
      </p:sp>
      <p:sp>
        <p:nvSpPr>
          <p:cNvPr id="19" name="TextBox 18">
            <a:extLst>
              <a:ext uri="{FF2B5EF4-FFF2-40B4-BE49-F238E27FC236}">
                <a16:creationId xmlns:a16="http://schemas.microsoft.com/office/drawing/2014/main" id="{AE037C2B-E8F3-0A36-37D1-2BCF4706F5AA}"/>
              </a:ext>
            </a:extLst>
          </p:cNvPr>
          <p:cNvSpPr txBox="1"/>
          <p:nvPr/>
        </p:nvSpPr>
        <p:spPr>
          <a:xfrm>
            <a:off x="7694768" y="2676366"/>
            <a:ext cx="889987" cy="338554"/>
          </a:xfrm>
          <a:prstGeom prst="rect">
            <a:avLst/>
          </a:prstGeom>
          <a:solidFill>
            <a:schemeClr val="bg1"/>
          </a:solidFill>
          <a:ln>
            <a:solidFill>
              <a:schemeClr val="tx1"/>
            </a:solidFill>
          </a:ln>
        </p:spPr>
        <p:txBody>
          <a:bodyPr wrap="square" rtlCol="0">
            <a:spAutoFit/>
          </a:bodyPr>
          <a:lstStyle/>
          <a:p>
            <a:pPr algn="ctr"/>
            <a:r>
              <a:rPr lang="en-GB" sz="800" i="1"/>
              <a:t>Rising trigger enable register</a:t>
            </a:r>
            <a:endParaRPr lang="LID4096" sz="800" i="1"/>
          </a:p>
        </p:txBody>
      </p:sp>
      <p:cxnSp>
        <p:nvCxnSpPr>
          <p:cNvPr id="25" name="Straight Connector 24">
            <a:extLst>
              <a:ext uri="{FF2B5EF4-FFF2-40B4-BE49-F238E27FC236}">
                <a16:creationId xmlns:a16="http://schemas.microsoft.com/office/drawing/2014/main" id="{D5CC591F-A3CD-3539-D42E-CF5861AF7CC0}"/>
              </a:ext>
            </a:extLst>
          </p:cNvPr>
          <p:cNvCxnSpPr>
            <a:cxnSpLocks/>
          </p:cNvCxnSpPr>
          <p:nvPr/>
        </p:nvCxnSpPr>
        <p:spPr>
          <a:xfrm flipH="1">
            <a:off x="9504957" y="3553247"/>
            <a:ext cx="547155"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16CA1425-AFB8-F52F-37C3-AA2BC05382F8}"/>
              </a:ext>
            </a:extLst>
          </p:cNvPr>
          <p:cNvCxnSpPr>
            <a:cxnSpLocks/>
          </p:cNvCxnSpPr>
          <p:nvPr/>
        </p:nvCxnSpPr>
        <p:spPr>
          <a:xfrm flipV="1">
            <a:off x="9131362" y="3018401"/>
            <a:ext cx="0" cy="39410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765E0A22-BF2E-7730-058F-369AE521F4F9}"/>
              </a:ext>
            </a:extLst>
          </p:cNvPr>
          <p:cNvCxnSpPr>
            <a:cxnSpLocks/>
          </p:cNvCxnSpPr>
          <p:nvPr/>
        </p:nvCxnSpPr>
        <p:spPr>
          <a:xfrm flipV="1">
            <a:off x="8160867" y="3009166"/>
            <a:ext cx="0" cy="39410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625EEF90-4A9E-75D8-5241-A101DF5CB1B4}"/>
              </a:ext>
            </a:extLst>
          </p:cNvPr>
          <p:cNvCxnSpPr>
            <a:cxnSpLocks/>
          </p:cNvCxnSpPr>
          <p:nvPr/>
        </p:nvCxnSpPr>
        <p:spPr>
          <a:xfrm flipH="1">
            <a:off x="6583563" y="3593873"/>
            <a:ext cx="1245166"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4" name="Straight Arrow Connector 33">
            <a:extLst>
              <a:ext uri="{FF2B5EF4-FFF2-40B4-BE49-F238E27FC236}">
                <a16:creationId xmlns:a16="http://schemas.microsoft.com/office/drawing/2014/main" id="{0BAF0B4F-A28F-AFB5-C677-78667773E79D}"/>
              </a:ext>
            </a:extLst>
          </p:cNvPr>
          <p:cNvCxnSpPr/>
          <p:nvPr/>
        </p:nvCxnSpPr>
        <p:spPr>
          <a:xfrm flipH="1">
            <a:off x="1761515" y="3396507"/>
            <a:ext cx="531213" cy="0"/>
          </a:xfrm>
          <a:prstGeom prst="straightConnector1">
            <a:avLst/>
          </a:prstGeom>
          <a:ln w="508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7" name="Freeform: Shape 36">
            <a:extLst>
              <a:ext uri="{FF2B5EF4-FFF2-40B4-BE49-F238E27FC236}">
                <a16:creationId xmlns:a16="http://schemas.microsoft.com/office/drawing/2014/main" id="{043B744F-9EE1-D96F-5610-EB5995D89B38}"/>
              </a:ext>
            </a:extLst>
          </p:cNvPr>
          <p:cNvSpPr/>
          <p:nvPr/>
        </p:nvSpPr>
        <p:spPr>
          <a:xfrm>
            <a:off x="2762312" y="3396692"/>
            <a:ext cx="577850" cy="0"/>
          </a:xfrm>
          <a:custGeom>
            <a:avLst/>
            <a:gdLst>
              <a:gd name="csX0" fmla="*/ 577850 w 577850"/>
              <a:gd name="csY0" fmla="*/ 0 h 0"/>
              <a:gd name="csX1" fmla="*/ 0 w 577850"/>
              <a:gd name="csY1" fmla="*/ 0 h 0"/>
            </a:gdLst>
            <a:ahLst/>
            <a:cxnLst>
              <a:cxn ang="0">
                <a:pos x="csX0" y="csY0"/>
              </a:cxn>
              <a:cxn ang="0">
                <a:pos x="csX1" y="csY1"/>
              </a:cxn>
            </a:cxnLst>
            <a:rect l="l" t="t" r="r" b="b"/>
            <a:pathLst>
              <a:path w="577850">
                <a:moveTo>
                  <a:pt x="577850" y="0"/>
                </a:moveTo>
                <a:lnTo>
                  <a:pt x="0" y="0"/>
                </a:lnTo>
              </a:path>
            </a:pathLst>
          </a:custGeom>
          <a:noFill/>
          <a:ln>
            <a:solidFill>
              <a:schemeClr val="tx1"/>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43" name="Freeform: Shape 42">
            <a:extLst>
              <a:ext uri="{FF2B5EF4-FFF2-40B4-BE49-F238E27FC236}">
                <a16:creationId xmlns:a16="http://schemas.microsoft.com/office/drawing/2014/main" id="{010653CA-2BC9-50D9-E5C7-E52B1F104141}"/>
              </a:ext>
            </a:extLst>
          </p:cNvPr>
          <p:cNvSpPr/>
          <p:nvPr/>
        </p:nvSpPr>
        <p:spPr>
          <a:xfrm>
            <a:off x="7474187" y="3717874"/>
            <a:ext cx="226503" cy="247475"/>
          </a:xfrm>
          <a:custGeom>
            <a:avLst/>
            <a:gdLst>
              <a:gd name="csX0" fmla="*/ 0 w 226503"/>
              <a:gd name="csY0" fmla="*/ 247475 h 247475"/>
              <a:gd name="csX1" fmla="*/ 83890 w 226503"/>
              <a:gd name="csY1" fmla="*/ 247475 h 247475"/>
              <a:gd name="csX2" fmla="*/ 83890 w 226503"/>
              <a:gd name="csY2" fmla="*/ 0 h 247475"/>
              <a:gd name="csX3" fmla="*/ 146808 w 226503"/>
              <a:gd name="csY3" fmla="*/ 0 h 247475"/>
              <a:gd name="csX4" fmla="*/ 146808 w 226503"/>
              <a:gd name="csY4" fmla="*/ 247475 h 247475"/>
              <a:gd name="csX5" fmla="*/ 226503 w 226503"/>
              <a:gd name="csY5" fmla="*/ 247475 h 247475"/>
            </a:gdLst>
            <a:ahLst/>
            <a:cxnLst>
              <a:cxn ang="0">
                <a:pos x="csX0" y="csY0"/>
              </a:cxn>
              <a:cxn ang="0">
                <a:pos x="csX1" y="csY1"/>
              </a:cxn>
              <a:cxn ang="0">
                <a:pos x="csX2" y="csY2"/>
              </a:cxn>
              <a:cxn ang="0">
                <a:pos x="csX3" y="csY3"/>
              </a:cxn>
              <a:cxn ang="0">
                <a:pos x="csX4" y="csY4"/>
              </a:cxn>
              <a:cxn ang="0">
                <a:pos x="csX5" y="csY5"/>
              </a:cxn>
            </a:cxnLst>
            <a:rect l="l" t="t" r="r" b="b"/>
            <a:pathLst>
              <a:path w="226503" h="247475">
                <a:moveTo>
                  <a:pt x="0" y="247475"/>
                </a:moveTo>
                <a:lnTo>
                  <a:pt x="83890" y="247475"/>
                </a:lnTo>
                <a:lnTo>
                  <a:pt x="83890" y="0"/>
                </a:lnTo>
                <a:lnTo>
                  <a:pt x="146808" y="0"/>
                </a:lnTo>
                <a:lnTo>
                  <a:pt x="146808" y="247475"/>
                </a:lnTo>
                <a:lnTo>
                  <a:pt x="226503" y="247475"/>
                </a:lnTo>
              </a:path>
            </a:pathLst>
          </a:cu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44" name="Straight Connector 43">
            <a:extLst>
              <a:ext uri="{FF2B5EF4-FFF2-40B4-BE49-F238E27FC236}">
                <a16:creationId xmlns:a16="http://schemas.microsoft.com/office/drawing/2014/main" id="{E7A0CDEC-382C-61C9-C47A-8E498420177B}"/>
              </a:ext>
            </a:extLst>
          </p:cNvPr>
          <p:cNvCxnSpPr>
            <a:cxnSpLocks/>
          </p:cNvCxnSpPr>
          <p:nvPr/>
        </p:nvCxnSpPr>
        <p:spPr>
          <a:xfrm flipH="1" flipV="1">
            <a:off x="7313757"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7560D44A-ADB6-C156-2CD6-F75FD00B3EBE}"/>
              </a:ext>
            </a:extLst>
          </p:cNvPr>
          <p:cNvCxnSpPr>
            <a:cxnSpLocks/>
          </p:cNvCxnSpPr>
          <p:nvPr/>
        </p:nvCxnSpPr>
        <p:spPr>
          <a:xfrm flipH="1" flipV="1">
            <a:off x="7718923"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E758B82D-26EE-69C6-D429-42DB8EF74838}"/>
              </a:ext>
            </a:extLst>
          </p:cNvPr>
          <p:cNvSpPr txBox="1"/>
          <p:nvPr/>
        </p:nvSpPr>
        <p:spPr>
          <a:xfrm>
            <a:off x="7142444" y="3975884"/>
            <a:ext cx="889987" cy="215444"/>
          </a:xfrm>
          <a:prstGeom prst="rect">
            <a:avLst/>
          </a:prstGeom>
          <a:noFill/>
          <a:ln>
            <a:noFill/>
          </a:ln>
        </p:spPr>
        <p:txBody>
          <a:bodyPr wrap="square" rtlCol="0">
            <a:spAutoFit/>
          </a:bodyPr>
          <a:lstStyle/>
          <a:p>
            <a:pPr algn="ctr"/>
            <a:r>
              <a:rPr lang="en-GB" sz="800" i="1"/>
              <a:t>pulse</a:t>
            </a:r>
            <a:endParaRPr lang="LID4096" sz="800" i="1"/>
          </a:p>
        </p:txBody>
      </p:sp>
      <p:pic>
        <p:nvPicPr>
          <p:cNvPr id="50" name="Picture 49">
            <a:extLst>
              <a:ext uri="{FF2B5EF4-FFF2-40B4-BE49-F238E27FC236}">
                <a16:creationId xmlns:a16="http://schemas.microsoft.com/office/drawing/2014/main" id="{1267BE76-F947-C138-2204-7365A2DE0A15}"/>
              </a:ext>
            </a:extLst>
          </p:cNvPr>
          <p:cNvPicPr>
            <a:picLocks noChangeAspect="1"/>
          </p:cNvPicPr>
          <p:nvPr/>
        </p:nvPicPr>
        <p:blipFill>
          <a:blip r:embed="rId3"/>
          <a:stretch>
            <a:fillRect/>
          </a:stretch>
        </p:blipFill>
        <p:spPr>
          <a:xfrm>
            <a:off x="3128429" y="4785891"/>
            <a:ext cx="6031412" cy="1890758"/>
          </a:xfrm>
          <a:prstGeom prst="rect">
            <a:avLst/>
          </a:prstGeom>
        </p:spPr>
      </p:pic>
      <p:sp>
        <p:nvSpPr>
          <p:cNvPr id="3" name="TextBox 2">
            <a:extLst>
              <a:ext uri="{FF2B5EF4-FFF2-40B4-BE49-F238E27FC236}">
                <a16:creationId xmlns:a16="http://schemas.microsoft.com/office/drawing/2014/main" id="{2C454E88-0C59-B2A9-9960-DDD97157A4E3}"/>
              </a:ext>
            </a:extLst>
          </p:cNvPr>
          <p:cNvSpPr txBox="1"/>
          <p:nvPr/>
        </p:nvSpPr>
        <p:spPr>
          <a:xfrm>
            <a:off x="6513668" y="2428521"/>
            <a:ext cx="960519"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EXTI_SWIEVR</a:t>
            </a:r>
            <a:endParaRPr lang="LID4096" sz="1000">
              <a:solidFill>
                <a:schemeClr val="bg2"/>
              </a:solidFill>
              <a:latin typeface="Consolas" panose="020B0609020204030204" pitchFamily="49" charset="0"/>
            </a:endParaRPr>
          </a:p>
        </p:txBody>
      </p:sp>
      <p:sp>
        <p:nvSpPr>
          <p:cNvPr id="20" name="TextBox 19">
            <a:extLst>
              <a:ext uri="{FF2B5EF4-FFF2-40B4-BE49-F238E27FC236}">
                <a16:creationId xmlns:a16="http://schemas.microsoft.com/office/drawing/2014/main" id="{9C7A2C71-DE84-5C7A-B61A-B17C5676B1AE}"/>
              </a:ext>
            </a:extLst>
          </p:cNvPr>
          <p:cNvSpPr txBox="1"/>
          <p:nvPr/>
        </p:nvSpPr>
        <p:spPr>
          <a:xfrm>
            <a:off x="6513668" y="2674742"/>
            <a:ext cx="960519" cy="461665"/>
          </a:xfrm>
          <a:prstGeom prst="rect">
            <a:avLst/>
          </a:prstGeom>
          <a:solidFill>
            <a:schemeClr val="bg1"/>
          </a:solidFill>
          <a:ln>
            <a:solidFill>
              <a:schemeClr val="tx1"/>
            </a:solidFill>
          </a:ln>
        </p:spPr>
        <p:txBody>
          <a:bodyPr wrap="square" rtlCol="0">
            <a:spAutoFit/>
          </a:bodyPr>
          <a:lstStyle/>
          <a:p>
            <a:pPr algn="ctr"/>
            <a:r>
              <a:rPr lang="en-GB" sz="800" i="1" dirty="0"/>
              <a:t>Software Interrupt Event Register</a:t>
            </a:r>
            <a:endParaRPr lang="LID4096" sz="800" i="1" dirty="0"/>
          </a:p>
        </p:txBody>
      </p:sp>
      <p:cxnSp>
        <p:nvCxnSpPr>
          <p:cNvPr id="21" name="Connector: Elbow 20">
            <a:extLst>
              <a:ext uri="{FF2B5EF4-FFF2-40B4-BE49-F238E27FC236}">
                <a16:creationId xmlns:a16="http://schemas.microsoft.com/office/drawing/2014/main" id="{B88DA934-C35B-BF9A-7B58-22037D3DED5A}"/>
              </a:ext>
            </a:extLst>
          </p:cNvPr>
          <p:cNvCxnSpPr>
            <a:stCxn id="20" idx="2"/>
          </p:cNvCxnSpPr>
          <p:nvPr/>
        </p:nvCxnSpPr>
        <p:spPr>
          <a:xfrm rot="5400000">
            <a:off x="6614154" y="3105817"/>
            <a:ext cx="349185" cy="410365"/>
          </a:xfrm>
          <a:prstGeom prst="bentConnector2">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nvGrpSpPr>
          <p:cNvPr id="23" name="Group 22">
            <a:extLst>
              <a:ext uri="{FF2B5EF4-FFF2-40B4-BE49-F238E27FC236}">
                <a16:creationId xmlns:a16="http://schemas.microsoft.com/office/drawing/2014/main" id="{26D9B449-DA6B-63C4-66F6-3B3A64B7FE9A}"/>
              </a:ext>
            </a:extLst>
          </p:cNvPr>
          <p:cNvGrpSpPr/>
          <p:nvPr/>
        </p:nvGrpSpPr>
        <p:grpSpPr>
          <a:xfrm>
            <a:off x="6674413" y="3196268"/>
            <a:ext cx="293603" cy="133412"/>
            <a:chOff x="7313757" y="3717874"/>
            <a:chExt cx="544623" cy="247475"/>
          </a:xfrm>
        </p:grpSpPr>
        <p:sp>
          <p:nvSpPr>
            <p:cNvPr id="24" name="Freeform: Shape 23">
              <a:extLst>
                <a:ext uri="{FF2B5EF4-FFF2-40B4-BE49-F238E27FC236}">
                  <a16:creationId xmlns:a16="http://schemas.microsoft.com/office/drawing/2014/main" id="{926ED2E0-8861-4DE6-D886-A3D3B4CE8703}"/>
                </a:ext>
              </a:extLst>
            </p:cNvPr>
            <p:cNvSpPr/>
            <p:nvPr/>
          </p:nvSpPr>
          <p:spPr>
            <a:xfrm>
              <a:off x="7474187" y="3717874"/>
              <a:ext cx="226503" cy="247475"/>
            </a:xfrm>
            <a:custGeom>
              <a:avLst/>
              <a:gdLst>
                <a:gd name="csX0" fmla="*/ 0 w 226503"/>
                <a:gd name="csY0" fmla="*/ 247475 h 247475"/>
                <a:gd name="csX1" fmla="*/ 83890 w 226503"/>
                <a:gd name="csY1" fmla="*/ 247475 h 247475"/>
                <a:gd name="csX2" fmla="*/ 83890 w 226503"/>
                <a:gd name="csY2" fmla="*/ 0 h 247475"/>
                <a:gd name="csX3" fmla="*/ 146808 w 226503"/>
                <a:gd name="csY3" fmla="*/ 0 h 247475"/>
                <a:gd name="csX4" fmla="*/ 146808 w 226503"/>
                <a:gd name="csY4" fmla="*/ 247475 h 247475"/>
                <a:gd name="csX5" fmla="*/ 226503 w 226503"/>
                <a:gd name="csY5" fmla="*/ 247475 h 247475"/>
              </a:gdLst>
              <a:ahLst/>
              <a:cxnLst>
                <a:cxn ang="0">
                  <a:pos x="csX0" y="csY0"/>
                </a:cxn>
                <a:cxn ang="0">
                  <a:pos x="csX1" y="csY1"/>
                </a:cxn>
                <a:cxn ang="0">
                  <a:pos x="csX2" y="csY2"/>
                </a:cxn>
                <a:cxn ang="0">
                  <a:pos x="csX3" y="csY3"/>
                </a:cxn>
                <a:cxn ang="0">
                  <a:pos x="csX4" y="csY4"/>
                </a:cxn>
                <a:cxn ang="0">
                  <a:pos x="csX5" y="csY5"/>
                </a:cxn>
              </a:cxnLst>
              <a:rect l="l" t="t" r="r" b="b"/>
              <a:pathLst>
                <a:path w="226503" h="247475">
                  <a:moveTo>
                    <a:pt x="0" y="247475"/>
                  </a:moveTo>
                  <a:lnTo>
                    <a:pt x="83890" y="247475"/>
                  </a:lnTo>
                  <a:lnTo>
                    <a:pt x="83890" y="0"/>
                  </a:lnTo>
                  <a:lnTo>
                    <a:pt x="146808" y="0"/>
                  </a:lnTo>
                  <a:lnTo>
                    <a:pt x="146808" y="247475"/>
                  </a:lnTo>
                  <a:lnTo>
                    <a:pt x="226503" y="247475"/>
                  </a:lnTo>
                </a:path>
              </a:pathLst>
            </a:cu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29" name="Straight Connector 28">
              <a:extLst>
                <a:ext uri="{FF2B5EF4-FFF2-40B4-BE49-F238E27FC236}">
                  <a16:creationId xmlns:a16="http://schemas.microsoft.com/office/drawing/2014/main" id="{2127D739-1C4D-03EC-F722-A778070FFAAF}"/>
                </a:ext>
              </a:extLst>
            </p:cNvPr>
            <p:cNvCxnSpPr>
              <a:cxnSpLocks/>
            </p:cNvCxnSpPr>
            <p:nvPr/>
          </p:nvCxnSpPr>
          <p:spPr>
            <a:xfrm flipH="1" flipV="1">
              <a:off x="7313757"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B0D12A77-B982-2D2A-B7E7-1162C3F07173}"/>
                </a:ext>
              </a:extLst>
            </p:cNvPr>
            <p:cNvCxnSpPr>
              <a:cxnSpLocks/>
            </p:cNvCxnSpPr>
            <p:nvPr/>
          </p:nvCxnSpPr>
          <p:spPr>
            <a:xfrm flipH="1" flipV="1">
              <a:off x="7718923"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grpSp>
      <p:cxnSp>
        <p:nvCxnSpPr>
          <p:cNvPr id="31" name="Straight Connector 30">
            <a:extLst>
              <a:ext uri="{FF2B5EF4-FFF2-40B4-BE49-F238E27FC236}">
                <a16:creationId xmlns:a16="http://schemas.microsoft.com/office/drawing/2014/main" id="{020B0636-595E-5D50-50ED-3C0D7878B590}"/>
              </a:ext>
            </a:extLst>
          </p:cNvPr>
          <p:cNvCxnSpPr>
            <a:cxnSpLocks/>
          </p:cNvCxnSpPr>
          <p:nvPr/>
        </p:nvCxnSpPr>
        <p:spPr>
          <a:xfrm flipH="1">
            <a:off x="5181663" y="3492273"/>
            <a:ext cx="100828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AADF65B-169C-2BAE-DDEA-DBE3CD78FBF8}"/>
              </a:ext>
            </a:extLst>
          </p:cNvPr>
          <p:cNvSpPr txBox="1"/>
          <p:nvPr/>
        </p:nvSpPr>
        <p:spPr>
          <a:xfrm>
            <a:off x="6152035" y="3357143"/>
            <a:ext cx="431528" cy="369332"/>
          </a:xfrm>
          <a:prstGeom prst="rect">
            <a:avLst/>
          </a:prstGeom>
          <a:solidFill>
            <a:schemeClr val="bg1"/>
          </a:solidFill>
          <a:ln>
            <a:solidFill>
              <a:schemeClr val="tx1"/>
            </a:solidFill>
          </a:ln>
        </p:spPr>
        <p:txBody>
          <a:bodyPr wrap="none" rtlCol="0">
            <a:spAutoFit/>
          </a:bodyPr>
          <a:lstStyle/>
          <a:p>
            <a:r>
              <a:rPr lang="en-SE" b="1"/>
              <a:t>≥</a:t>
            </a:r>
            <a:r>
              <a:rPr lang="en-GB"/>
              <a:t>1</a:t>
            </a:r>
            <a:endParaRPr lang="LID4096"/>
          </a:p>
        </p:txBody>
      </p:sp>
      <p:sp>
        <p:nvSpPr>
          <p:cNvPr id="32" name="Rectangle 31">
            <a:extLst>
              <a:ext uri="{FF2B5EF4-FFF2-40B4-BE49-F238E27FC236}">
                <a16:creationId xmlns:a16="http://schemas.microsoft.com/office/drawing/2014/main" id="{23444F17-38CF-891C-C890-F152A2E7C1D1}"/>
              </a:ext>
            </a:extLst>
          </p:cNvPr>
          <p:cNvSpPr/>
          <p:nvPr/>
        </p:nvSpPr>
        <p:spPr>
          <a:xfrm>
            <a:off x="5575492" y="6411923"/>
            <a:ext cx="2827950" cy="207239"/>
          </a:xfrm>
          <a:prstGeom prst="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33" name="TextBox 32">
            <a:extLst>
              <a:ext uri="{FF2B5EF4-FFF2-40B4-BE49-F238E27FC236}">
                <a16:creationId xmlns:a16="http://schemas.microsoft.com/office/drawing/2014/main" id="{E5D34152-14F9-3A24-0A03-04E3CC12884B}"/>
              </a:ext>
            </a:extLst>
          </p:cNvPr>
          <p:cNvSpPr txBox="1"/>
          <p:nvPr/>
        </p:nvSpPr>
        <p:spPr>
          <a:xfrm>
            <a:off x="5087107" y="2427014"/>
            <a:ext cx="960519"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EXTI_INTENR</a:t>
            </a:r>
            <a:endParaRPr lang="LID4096" sz="1000">
              <a:solidFill>
                <a:schemeClr val="bg2"/>
              </a:solidFill>
              <a:latin typeface="Consolas" panose="020B0609020204030204" pitchFamily="49" charset="0"/>
            </a:endParaRPr>
          </a:p>
        </p:txBody>
      </p:sp>
      <p:sp>
        <p:nvSpPr>
          <p:cNvPr id="35" name="TextBox 34">
            <a:extLst>
              <a:ext uri="{FF2B5EF4-FFF2-40B4-BE49-F238E27FC236}">
                <a16:creationId xmlns:a16="http://schemas.microsoft.com/office/drawing/2014/main" id="{60DF5801-13AE-ED7F-A96C-6FD569AAF8AE}"/>
              </a:ext>
            </a:extLst>
          </p:cNvPr>
          <p:cNvSpPr txBox="1"/>
          <p:nvPr/>
        </p:nvSpPr>
        <p:spPr>
          <a:xfrm>
            <a:off x="5087107" y="2673235"/>
            <a:ext cx="960519" cy="338554"/>
          </a:xfrm>
          <a:prstGeom prst="rect">
            <a:avLst/>
          </a:prstGeom>
          <a:solidFill>
            <a:schemeClr val="bg1"/>
          </a:solidFill>
          <a:ln>
            <a:solidFill>
              <a:schemeClr val="tx1"/>
            </a:solidFill>
          </a:ln>
        </p:spPr>
        <p:txBody>
          <a:bodyPr wrap="square" rtlCol="0">
            <a:spAutoFit/>
          </a:bodyPr>
          <a:lstStyle/>
          <a:p>
            <a:pPr algn="ctr"/>
            <a:r>
              <a:rPr lang="en-GB" sz="800" i="1"/>
              <a:t>Interrupt Enable Register</a:t>
            </a:r>
            <a:endParaRPr lang="LID4096" sz="800" i="1"/>
          </a:p>
        </p:txBody>
      </p:sp>
      <p:cxnSp>
        <p:nvCxnSpPr>
          <p:cNvPr id="36" name="Connector: Elbow 35">
            <a:extLst>
              <a:ext uri="{FF2B5EF4-FFF2-40B4-BE49-F238E27FC236}">
                <a16:creationId xmlns:a16="http://schemas.microsoft.com/office/drawing/2014/main" id="{CE927C4C-01ED-03E7-918A-9767E30A6E6C}"/>
              </a:ext>
            </a:extLst>
          </p:cNvPr>
          <p:cNvCxnSpPr>
            <a:stCxn id="35" idx="2"/>
            <a:endCxn id="38" idx="3"/>
          </p:cNvCxnSpPr>
          <p:nvPr/>
        </p:nvCxnSpPr>
        <p:spPr>
          <a:xfrm rot="5400000">
            <a:off x="5327338" y="3139340"/>
            <a:ext cx="367580" cy="112479"/>
          </a:xfrm>
          <a:prstGeom prst="bentConnector2">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624DAC01-E8CB-61B4-CF94-23866555819D}"/>
              </a:ext>
            </a:extLst>
          </p:cNvPr>
          <p:cNvSpPr txBox="1"/>
          <p:nvPr/>
        </p:nvSpPr>
        <p:spPr>
          <a:xfrm>
            <a:off x="5114730" y="3194703"/>
            <a:ext cx="340158" cy="369332"/>
          </a:xfrm>
          <a:prstGeom prst="rect">
            <a:avLst/>
          </a:prstGeom>
          <a:solidFill>
            <a:schemeClr val="bg1"/>
          </a:solidFill>
          <a:ln>
            <a:solidFill>
              <a:schemeClr val="tx1"/>
            </a:solidFill>
          </a:ln>
        </p:spPr>
        <p:txBody>
          <a:bodyPr wrap="none" rtlCol="0">
            <a:spAutoFit/>
          </a:bodyPr>
          <a:lstStyle/>
          <a:p>
            <a:r>
              <a:rPr lang="en-GB" b="1"/>
              <a:t>&amp;</a:t>
            </a:r>
            <a:endParaRPr lang="LID4096"/>
          </a:p>
        </p:txBody>
      </p:sp>
      <p:cxnSp>
        <p:nvCxnSpPr>
          <p:cNvPr id="39" name="Straight Connector 38">
            <a:extLst>
              <a:ext uri="{FF2B5EF4-FFF2-40B4-BE49-F238E27FC236}">
                <a16:creationId xmlns:a16="http://schemas.microsoft.com/office/drawing/2014/main" id="{813CE645-4700-7E96-485E-921DA2FF4CD9}"/>
              </a:ext>
            </a:extLst>
          </p:cNvPr>
          <p:cNvCxnSpPr>
            <a:cxnSpLocks/>
          </p:cNvCxnSpPr>
          <p:nvPr/>
        </p:nvCxnSpPr>
        <p:spPr>
          <a:xfrm flipH="1">
            <a:off x="4859675" y="3299474"/>
            <a:ext cx="255055"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0" name="TextBox 39">
            <a:extLst>
              <a:ext uri="{FF2B5EF4-FFF2-40B4-BE49-F238E27FC236}">
                <a16:creationId xmlns:a16="http://schemas.microsoft.com/office/drawing/2014/main" id="{E6A215C4-3411-C05E-5C60-FA2837ABDABF}"/>
              </a:ext>
            </a:extLst>
          </p:cNvPr>
          <p:cNvSpPr txBox="1"/>
          <p:nvPr/>
        </p:nvSpPr>
        <p:spPr>
          <a:xfrm>
            <a:off x="3345376" y="3110922"/>
            <a:ext cx="889987"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EXTI_INTFR</a:t>
            </a:r>
            <a:endParaRPr lang="LID4096" sz="1000">
              <a:solidFill>
                <a:schemeClr val="bg2"/>
              </a:solidFill>
              <a:latin typeface="Consolas" panose="020B0609020204030204" pitchFamily="49" charset="0"/>
            </a:endParaRPr>
          </a:p>
        </p:txBody>
      </p:sp>
      <p:sp>
        <p:nvSpPr>
          <p:cNvPr id="41" name="TextBox 40">
            <a:extLst>
              <a:ext uri="{FF2B5EF4-FFF2-40B4-BE49-F238E27FC236}">
                <a16:creationId xmlns:a16="http://schemas.microsoft.com/office/drawing/2014/main" id="{EDDA426A-9385-C310-CEF9-4902DB45215D}"/>
              </a:ext>
            </a:extLst>
          </p:cNvPr>
          <p:cNvSpPr txBox="1"/>
          <p:nvPr/>
        </p:nvSpPr>
        <p:spPr>
          <a:xfrm>
            <a:off x="4470283" y="3194703"/>
            <a:ext cx="431528" cy="369332"/>
          </a:xfrm>
          <a:prstGeom prst="rect">
            <a:avLst/>
          </a:prstGeom>
          <a:solidFill>
            <a:schemeClr val="bg1"/>
          </a:solidFill>
          <a:ln>
            <a:solidFill>
              <a:schemeClr val="tx1"/>
            </a:solidFill>
          </a:ln>
        </p:spPr>
        <p:txBody>
          <a:bodyPr wrap="none" rtlCol="0">
            <a:spAutoFit/>
          </a:bodyPr>
          <a:lstStyle/>
          <a:p>
            <a:r>
              <a:rPr lang="en-SE" b="1"/>
              <a:t>≥</a:t>
            </a:r>
            <a:r>
              <a:rPr lang="en-GB"/>
              <a:t>1</a:t>
            </a:r>
            <a:endParaRPr lang="LID4096"/>
          </a:p>
        </p:txBody>
      </p:sp>
      <p:sp>
        <p:nvSpPr>
          <p:cNvPr id="42" name="Freeform: Shape 41">
            <a:extLst>
              <a:ext uri="{FF2B5EF4-FFF2-40B4-BE49-F238E27FC236}">
                <a16:creationId xmlns:a16="http://schemas.microsoft.com/office/drawing/2014/main" id="{21D7CA8C-09F1-3FF3-08C9-ED7049869C50}"/>
              </a:ext>
            </a:extLst>
          </p:cNvPr>
          <p:cNvSpPr/>
          <p:nvPr/>
        </p:nvSpPr>
        <p:spPr>
          <a:xfrm>
            <a:off x="3200462" y="3403042"/>
            <a:ext cx="1835150" cy="488950"/>
          </a:xfrm>
          <a:custGeom>
            <a:avLst/>
            <a:gdLst>
              <a:gd name="csX0" fmla="*/ 0 w 1835150"/>
              <a:gd name="csY0" fmla="*/ 0 h 488950"/>
              <a:gd name="csX1" fmla="*/ 0 w 1835150"/>
              <a:gd name="csY1" fmla="*/ 488950 h 488950"/>
              <a:gd name="csX2" fmla="*/ 1835150 w 1835150"/>
              <a:gd name="csY2" fmla="*/ 488950 h 488950"/>
              <a:gd name="csX3" fmla="*/ 1835150 w 1835150"/>
              <a:gd name="csY3" fmla="*/ 82550 h 488950"/>
              <a:gd name="csX4" fmla="*/ 1708150 w 1835150"/>
              <a:gd name="csY4" fmla="*/ 82550 h 488950"/>
            </a:gdLst>
            <a:ahLst/>
            <a:cxnLst>
              <a:cxn ang="0">
                <a:pos x="csX0" y="csY0"/>
              </a:cxn>
              <a:cxn ang="0">
                <a:pos x="csX1" y="csY1"/>
              </a:cxn>
              <a:cxn ang="0">
                <a:pos x="csX2" y="csY2"/>
              </a:cxn>
              <a:cxn ang="0">
                <a:pos x="csX3" y="csY3"/>
              </a:cxn>
              <a:cxn ang="0">
                <a:pos x="csX4" y="csY4"/>
              </a:cxn>
            </a:cxnLst>
            <a:rect l="l" t="t" r="r" b="b"/>
            <a:pathLst>
              <a:path w="1835150" h="488950">
                <a:moveTo>
                  <a:pt x="0" y="0"/>
                </a:moveTo>
                <a:lnTo>
                  <a:pt x="0" y="488950"/>
                </a:lnTo>
                <a:lnTo>
                  <a:pt x="1835150" y="488950"/>
                </a:lnTo>
                <a:lnTo>
                  <a:pt x="1835150" y="82550"/>
                </a:lnTo>
                <a:lnTo>
                  <a:pt x="1708150" y="82550"/>
                </a:lnTo>
              </a:path>
            </a:pathLst>
          </a:custGeom>
          <a:noFill/>
          <a:ln>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47" name="Straight Arrow Connector 46">
            <a:extLst>
              <a:ext uri="{FF2B5EF4-FFF2-40B4-BE49-F238E27FC236}">
                <a16:creationId xmlns:a16="http://schemas.microsoft.com/office/drawing/2014/main" id="{BDC41793-FAF4-532F-D682-AFD410B70C3D}"/>
              </a:ext>
            </a:extLst>
          </p:cNvPr>
          <p:cNvCxnSpPr>
            <a:cxnSpLocks/>
            <a:stCxn id="41" idx="1"/>
          </p:cNvCxnSpPr>
          <p:nvPr/>
        </p:nvCxnSpPr>
        <p:spPr>
          <a:xfrm flipH="1">
            <a:off x="4235363" y="3379369"/>
            <a:ext cx="234920"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F75914BA-0E6D-2450-4952-AF205DFDA8C1}"/>
              </a:ext>
            </a:extLst>
          </p:cNvPr>
          <p:cNvSpPr txBox="1"/>
          <p:nvPr/>
        </p:nvSpPr>
        <p:spPr>
          <a:xfrm>
            <a:off x="3345376" y="3357143"/>
            <a:ext cx="889987" cy="338554"/>
          </a:xfrm>
          <a:prstGeom prst="rect">
            <a:avLst/>
          </a:prstGeom>
          <a:solidFill>
            <a:schemeClr val="bg1"/>
          </a:solidFill>
          <a:ln>
            <a:solidFill>
              <a:schemeClr val="tx1"/>
            </a:solidFill>
          </a:ln>
        </p:spPr>
        <p:txBody>
          <a:bodyPr wrap="square" rtlCol="0">
            <a:spAutoFit/>
          </a:bodyPr>
          <a:lstStyle/>
          <a:p>
            <a:pPr algn="ctr"/>
            <a:r>
              <a:rPr lang="en-GB" sz="800" i="1"/>
              <a:t>Interrupt Flag Register</a:t>
            </a:r>
            <a:endParaRPr lang="LID4096" sz="800" i="1"/>
          </a:p>
        </p:txBody>
      </p:sp>
      <p:sp>
        <p:nvSpPr>
          <p:cNvPr id="49" name="TextBox 48">
            <a:extLst>
              <a:ext uri="{FF2B5EF4-FFF2-40B4-BE49-F238E27FC236}">
                <a16:creationId xmlns:a16="http://schemas.microsoft.com/office/drawing/2014/main" id="{4FFDA9EC-9C99-519E-7075-F28472745452}"/>
              </a:ext>
            </a:extLst>
          </p:cNvPr>
          <p:cNvSpPr txBox="1"/>
          <p:nvPr/>
        </p:nvSpPr>
        <p:spPr>
          <a:xfrm>
            <a:off x="3345376" y="2649258"/>
            <a:ext cx="889987" cy="338554"/>
          </a:xfrm>
          <a:prstGeom prst="rect">
            <a:avLst/>
          </a:prstGeom>
          <a:noFill/>
          <a:ln>
            <a:noFill/>
          </a:ln>
        </p:spPr>
        <p:txBody>
          <a:bodyPr wrap="square" rtlCol="0">
            <a:spAutoFit/>
          </a:bodyPr>
          <a:lstStyle/>
          <a:p>
            <a:pPr algn="ctr"/>
            <a:r>
              <a:rPr lang="en-GB" sz="800" i="1" dirty="0"/>
              <a:t>Only reset from software</a:t>
            </a:r>
            <a:endParaRPr lang="LID4096" sz="800" i="1" dirty="0"/>
          </a:p>
        </p:txBody>
      </p:sp>
      <p:cxnSp>
        <p:nvCxnSpPr>
          <p:cNvPr id="51" name="Straight Arrow Connector 50">
            <a:extLst>
              <a:ext uri="{FF2B5EF4-FFF2-40B4-BE49-F238E27FC236}">
                <a16:creationId xmlns:a16="http://schemas.microsoft.com/office/drawing/2014/main" id="{FEAA15B2-E3BE-9A87-0AA7-F73A5E72E567}"/>
              </a:ext>
            </a:extLst>
          </p:cNvPr>
          <p:cNvCxnSpPr>
            <a:cxnSpLocks/>
          </p:cNvCxnSpPr>
          <p:nvPr/>
        </p:nvCxnSpPr>
        <p:spPr>
          <a:xfrm>
            <a:off x="3792649" y="2953919"/>
            <a:ext cx="0" cy="1524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5125889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06314-F5D5-2B0E-4891-E22759A2D3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DAB19D-8FA2-AAE1-0353-B14E0322439B}"/>
              </a:ext>
            </a:extLst>
          </p:cNvPr>
          <p:cNvSpPr>
            <a:spLocks noGrp="1"/>
          </p:cNvSpPr>
          <p:nvPr>
            <p:ph type="title"/>
          </p:nvPr>
        </p:nvSpPr>
        <p:spPr/>
        <p:txBody>
          <a:bodyPr/>
          <a:lstStyle/>
          <a:p>
            <a:r>
              <a:rPr lang="en-US" dirty="0"/>
              <a:t>N</a:t>
            </a:r>
            <a:r>
              <a:rPr lang="sv-SE" dirty="0"/>
              <a:t>är skall vi fyra av ett </a:t>
            </a:r>
            <a:r>
              <a:rPr lang="sv-SE" dirty="0" err="1"/>
              <a:t>interrupt</a:t>
            </a:r>
            <a:r>
              <a:rPr lang="sv-SE" dirty="0"/>
              <a:t>? </a:t>
            </a:r>
            <a:br>
              <a:rPr lang="sv-SE" dirty="0"/>
            </a:br>
            <a:r>
              <a:rPr lang="sv-SE" sz="3200" dirty="0"/>
              <a:t>EXTI</a:t>
            </a:r>
            <a:endParaRPr lang="LID4096" dirty="0"/>
          </a:p>
        </p:txBody>
      </p:sp>
      <p:sp>
        <p:nvSpPr>
          <p:cNvPr id="4" name="TextBox 3">
            <a:extLst>
              <a:ext uri="{FF2B5EF4-FFF2-40B4-BE49-F238E27FC236}">
                <a16:creationId xmlns:a16="http://schemas.microsoft.com/office/drawing/2014/main" id="{64067581-AE08-F9FB-8C84-68AE572A584D}"/>
              </a:ext>
            </a:extLst>
          </p:cNvPr>
          <p:cNvSpPr txBox="1"/>
          <p:nvPr/>
        </p:nvSpPr>
        <p:spPr>
          <a:xfrm>
            <a:off x="2292728" y="1974294"/>
            <a:ext cx="8286434" cy="2584448"/>
          </a:xfrm>
          <a:prstGeom prst="rect">
            <a:avLst/>
          </a:prstGeom>
          <a:solidFill>
            <a:schemeClr val="accent6">
              <a:lumMod val="40000"/>
              <a:lumOff val="60000"/>
            </a:schemeClr>
          </a:solidFill>
          <a:ln>
            <a:solidFill>
              <a:schemeClr val="accent6">
                <a:lumMod val="75000"/>
              </a:schemeClr>
            </a:solidFill>
          </a:ln>
        </p:spPr>
        <p:txBody>
          <a:bodyPr wrap="square" rtlCol="0">
            <a:noAutofit/>
          </a:bodyPr>
          <a:lstStyle/>
          <a:p>
            <a:pPr algn="ctr"/>
            <a:r>
              <a:rPr lang="en-US"/>
              <a:t>EXTI</a:t>
            </a:r>
            <a:br>
              <a:rPr lang="en-US"/>
            </a:br>
            <a:endParaRPr lang="en-US" sz="1050"/>
          </a:p>
        </p:txBody>
      </p:sp>
      <p:sp>
        <p:nvSpPr>
          <p:cNvPr id="5" name="TextBox 4">
            <a:extLst>
              <a:ext uri="{FF2B5EF4-FFF2-40B4-BE49-F238E27FC236}">
                <a16:creationId xmlns:a16="http://schemas.microsoft.com/office/drawing/2014/main" id="{D6029636-D8E3-673A-482F-BC6079444667}"/>
              </a:ext>
            </a:extLst>
          </p:cNvPr>
          <p:cNvSpPr txBox="1"/>
          <p:nvPr/>
        </p:nvSpPr>
        <p:spPr>
          <a:xfrm>
            <a:off x="9985835" y="3280885"/>
            <a:ext cx="593327" cy="1223412"/>
          </a:xfrm>
          <a:prstGeom prst="rect">
            <a:avLst/>
          </a:prstGeom>
          <a:noFill/>
        </p:spPr>
        <p:txBody>
          <a:bodyPr wrap="square">
            <a:spAutoFit/>
          </a:bodyPr>
          <a:lstStyle/>
          <a:p>
            <a:pPr algn="r"/>
            <a:r>
              <a:rPr lang="en-US" sz="1050"/>
              <a:t>EXTI0</a:t>
            </a:r>
            <a:br>
              <a:rPr lang="en-US" sz="1050"/>
            </a:br>
            <a:r>
              <a:rPr lang="en-US" sz="1050" b="1"/>
              <a:t>EXTI1</a:t>
            </a:r>
            <a:br>
              <a:rPr lang="en-US" sz="1050" b="1"/>
            </a:br>
            <a:r>
              <a:rPr lang="en-US" sz="1050"/>
              <a:t>EXTI2</a:t>
            </a:r>
            <a:br>
              <a:rPr lang="en-US" sz="1050"/>
            </a:br>
            <a:r>
              <a:rPr lang="en-US" sz="1050"/>
              <a:t>EXTI3</a:t>
            </a:r>
            <a:br>
              <a:rPr lang="en-US" sz="1050"/>
            </a:br>
            <a:r>
              <a:rPr lang="en-US" sz="1050"/>
              <a:t>EXTI4</a:t>
            </a:r>
          </a:p>
          <a:p>
            <a:pPr algn="r"/>
            <a:r>
              <a:rPr lang="en-US" sz="1050"/>
              <a:t>EXTI5</a:t>
            </a:r>
          </a:p>
          <a:p>
            <a:pPr algn="ctr"/>
            <a:r>
              <a:rPr lang="en-US" sz="1050"/>
              <a:t>...</a:t>
            </a:r>
            <a:endParaRPr lang="LID4096" sz="3600" dirty="0"/>
          </a:p>
        </p:txBody>
      </p:sp>
      <p:cxnSp>
        <p:nvCxnSpPr>
          <p:cNvPr id="6" name="Straight Arrow Connector 5">
            <a:extLst>
              <a:ext uri="{FF2B5EF4-FFF2-40B4-BE49-F238E27FC236}">
                <a16:creationId xmlns:a16="http://schemas.microsoft.com/office/drawing/2014/main" id="{456EAAED-E432-68F8-5D19-59A2123A069D}"/>
              </a:ext>
            </a:extLst>
          </p:cNvPr>
          <p:cNvCxnSpPr/>
          <p:nvPr/>
        </p:nvCxnSpPr>
        <p:spPr>
          <a:xfrm flipH="1">
            <a:off x="10679040" y="3415557"/>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407B8C5B-81F6-8CEC-A495-F1EFE38AA69C}"/>
              </a:ext>
            </a:extLst>
          </p:cNvPr>
          <p:cNvCxnSpPr/>
          <p:nvPr/>
        </p:nvCxnSpPr>
        <p:spPr>
          <a:xfrm flipH="1">
            <a:off x="10679040" y="3570054"/>
            <a:ext cx="531213" cy="0"/>
          </a:xfrm>
          <a:prstGeom prst="straightConnector1">
            <a:avLst/>
          </a:prstGeom>
          <a:ln w="508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222E893F-881A-6C28-6781-3A99A639D83D}"/>
              </a:ext>
            </a:extLst>
          </p:cNvPr>
          <p:cNvCxnSpPr/>
          <p:nvPr/>
        </p:nvCxnSpPr>
        <p:spPr>
          <a:xfrm flipH="1">
            <a:off x="10675869" y="3745525"/>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910E44CC-7758-8352-66F9-2EAA7231A460}"/>
              </a:ext>
            </a:extLst>
          </p:cNvPr>
          <p:cNvCxnSpPr/>
          <p:nvPr/>
        </p:nvCxnSpPr>
        <p:spPr>
          <a:xfrm flipH="1">
            <a:off x="10675869" y="3907012"/>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C0EB40F9-F7B5-6FEF-9EED-EED77A2910CE}"/>
              </a:ext>
            </a:extLst>
          </p:cNvPr>
          <p:cNvCxnSpPr/>
          <p:nvPr/>
        </p:nvCxnSpPr>
        <p:spPr>
          <a:xfrm flipH="1">
            <a:off x="10675869" y="4065306"/>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7221498F-EBCF-F1B2-FAB7-6E9FCD734E1E}"/>
              </a:ext>
            </a:extLst>
          </p:cNvPr>
          <p:cNvCxnSpPr/>
          <p:nvPr/>
        </p:nvCxnSpPr>
        <p:spPr>
          <a:xfrm flipH="1">
            <a:off x="10675869" y="4228870"/>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a:extLst>
              <a:ext uri="{FF2B5EF4-FFF2-40B4-BE49-F238E27FC236}">
                <a16:creationId xmlns:a16="http://schemas.microsoft.com/office/drawing/2014/main" id="{608C14C0-2934-3379-D00A-CA62132BE4EA}"/>
              </a:ext>
            </a:extLst>
          </p:cNvPr>
          <p:cNvSpPr/>
          <p:nvPr/>
        </p:nvSpPr>
        <p:spPr>
          <a:xfrm>
            <a:off x="10687428" y="3695101"/>
            <a:ext cx="908134" cy="647781"/>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3" name="TextBox 12">
            <a:extLst>
              <a:ext uri="{FF2B5EF4-FFF2-40B4-BE49-F238E27FC236}">
                <a16:creationId xmlns:a16="http://schemas.microsoft.com/office/drawing/2014/main" id="{86CF551D-91CD-CC07-AEAC-AF3875A64E90}"/>
              </a:ext>
            </a:extLst>
          </p:cNvPr>
          <p:cNvSpPr txBox="1"/>
          <p:nvPr/>
        </p:nvSpPr>
        <p:spPr>
          <a:xfrm>
            <a:off x="2281169" y="3114769"/>
            <a:ext cx="849594" cy="1223412"/>
          </a:xfrm>
          <a:prstGeom prst="rect">
            <a:avLst/>
          </a:prstGeom>
          <a:noFill/>
        </p:spPr>
        <p:txBody>
          <a:bodyPr wrap="square">
            <a:spAutoFit/>
          </a:bodyPr>
          <a:lstStyle/>
          <a:p>
            <a:r>
              <a:rPr lang="en-US" sz="1050" dirty="0"/>
              <a:t>EXTI0</a:t>
            </a:r>
            <a:br>
              <a:rPr lang="en-US" sz="1050" dirty="0"/>
            </a:br>
            <a:r>
              <a:rPr lang="en-US" sz="1050" b="1" dirty="0"/>
              <a:t>EXTI1</a:t>
            </a:r>
            <a:br>
              <a:rPr lang="en-US" sz="1050" dirty="0"/>
            </a:br>
            <a:r>
              <a:rPr lang="en-US" sz="1050" dirty="0"/>
              <a:t>EXTI2</a:t>
            </a:r>
            <a:br>
              <a:rPr lang="en-US" sz="1050" dirty="0"/>
            </a:br>
            <a:r>
              <a:rPr lang="en-US" sz="1050" dirty="0"/>
              <a:t>EXTI3</a:t>
            </a:r>
            <a:br>
              <a:rPr lang="en-US" sz="1050" dirty="0"/>
            </a:br>
            <a:r>
              <a:rPr lang="en-US" sz="1050" dirty="0"/>
              <a:t>EXTI4</a:t>
            </a:r>
          </a:p>
          <a:p>
            <a:r>
              <a:rPr lang="en-US" sz="1050" dirty="0"/>
              <a:t>EXTI5_9</a:t>
            </a:r>
            <a:br>
              <a:rPr lang="en-US" sz="1050" dirty="0"/>
            </a:br>
            <a:r>
              <a:rPr lang="en-US" sz="1050" dirty="0"/>
              <a:t>EXTI10_15</a:t>
            </a:r>
          </a:p>
        </p:txBody>
      </p:sp>
      <p:sp>
        <p:nvSpPr>
          <p:cNvPr id="14" name="TextBox 13">
            <a:extLst>
              <a:ext uri="{FF2B5EF4-FFF2-40B4-BE49-F238E27FC236}">
                <a16:creationId xmlns:a16="http://schemas.microsoft.com/office/drawing/2014/main" id="{9E2DD7C7-C6E0-E9EE-F084-61411BEBC6A7}"/>
              </a:ext>
            </a:extLst>
          </p:cNvPr>
          <p:cNvSpPr txBox="1"/>
          <p:nvPr/>
        </p:nvSpPr>
        <p:spPr>
          <a:xfrm rot="16200000">
            <a:off x="188771" y="2956314"/>
            <a:ext cx="2584447" cy="620410"/>
          </a:xfrm>
          <a:prstGeom prst="rect">
            <a:avLst/>
          </a:prstGeom>
          <a:solidFill>
            <a:schemeClr val="accent1">
              <a:lumMod val="60000"/>
              <a:lumOff val="40000"/>
            </a:schemeClr>
          </a:solidFill>
          <a:ln>
            <a:solidFill>
              <a:schemeClr val="tx2">
                <a:lumMod val="75000"/>
                <a:lumOff val="25000"/>
              </a:schemeClr>
            </a:solidFill>
          </a:ln>
        </p:spPr>
        <p:txBody>
          <a:bodyPr wrap="square" rtlCol="0">
            <a:noAutofit/>
          </a:bodyPr>
          <a:lstStyle/>
          <a:p>
            <a:pPr algn="ctr"/>
            <a:r>
              <a:rPr lang="en-US" sz="3600"/>
              <a:t>PFIC</a:t>
            </a:r>
            <a:endParaRPr lang="LID4096" sz="6000" dirty="0"/>
          </a:p>
        </p:txBody>
      </p:sp>
      <p:sp>
        <p:nvSpPr>
          <p:cNvPr id="15" name="TextBox 14">
            <a:extLst>
              <a:ext uri="{FF2B5EF4-FFF2-40B4-BE49-F238E27FC236}">
                <a16:creationId xmlns:a16="http://schemas.microsoft.com/office/drawing/2014/main" id="{205A3409-03A5-FE27-B770-E09540B50A7F}"/>
              </a:ext>
            </a:extLst>
          </p:cNvPr>
          <p:cNvSpPr txBox="1"/>
          <p:nvPr/>
        </p:nvSpPr>
        <p:spPr>
          <a:xfrm>
            <a:off x="7828729" y="3412504"/>
            <a:ext cx="1676228" cy="276999"/>
          </a:xfrm>
          <a:prstGeom prst="rect">
            <a:avLst/>
          </a:prstGeom>
          <a:solidFill>
            <a:schemeClr val="bg1"/>
          </a:solidFill>
          <a:ln>
            <a:solidFill>
              <a:schemeClr val="tx1"/>
            </a:solidFill>
          </a:ln>
        </p:spPr>
        <p:txBody>
          <a:bodyPr wrap="none" rtlCol="0">
            <a:spAutoFit/>
          </a:bodyPr>
          <a:lstStyle/>
          <a:p>
            <a:r>
              <a:rPr lang="en-GB" sz="1200"/>
              <a:t>Edge Detection Circuit</a:t>
            </a:r>
            <a:endParaRPr lang="LID4096" sz="1200"/>
          </a:p>
        </p:txBody>
      </p:sp>
      <p:sp>
        <p:nvSpPr>
          <p:cNvPr id="16" name="TextBox 15">
            <a:extLst>
              <a:ext uri="{FF2B5EF4-FFF2-40B4-BE49-F238E27FC236}">
                <a16:creationId xmlns:a16="http://schemas.microsoft.com/office/drawing/2014/main" id="{EB671521-D0AB-81A1-0FB3-8F8E8A6D5245}"/>
              </a:ext>
            </a:extLst>
          </p:cNvPr>
          <p:cNvSpPr txBox="1"/>
          <p:nvPr/>
        </p:nvSpPr>
        <p:spPr>
          <a:xfrm>
            <a:off x="8714848" y="2433626"/>
            <a:ext cx="889987"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EXTI_FTENR</a:t>
            </a:r>
            <a:endParaRPr lang="LID4096" sz="1000">
              <a:solidFill>
                <a:schemeClr val="bg2"/>
              </a:solidFill>
              <a:latin typeface="Consolas" panose="020B0609020204030204" pitchFamily="49" charset="0"/>
            </a:endParaRPr>
          </a:p>
        </p:txBody>
      </p:sp>
      <p:sp>
        <p:nvSpPr>
          <p:cNvPr id="17" name="TextBox 16">
            <a:extLst>
              <a:ext uri="{FF2B5EF4-FFF2-40B4-BE49-F238E27FC236}">
                <a16:creationId xmlns:a16="http://schemas.microsoft.com/office/drawing/2014/main" id="{A528FF88-7DA3-1355-6A10-08E0B239670A}"/>
              </a:ext>
            </a:extLst>
          </p:cNvPr>
          <p:cNvSpPr txBox="1"/>
          <p:nvPr/>
        </p:nvSpPr>
        <p:spPr>
          <a:xfrm>
            <a:off x="8714848" y="2679847"/>
            <a:ext cx="889987" cy="338554"/>
          </a:xfrm>
          <a:prstGeom prst="rect">
            <a:avLst/>
          </a:prstGeom>
          <a:solidFill>
            <a:schemeClr val="bg1"/>
          </a:solidFill>
          <a:ln>
            <a:solidFill>
              <a:schemeClr val="tx1"/>
            </a:solidFill>
          </a:ln>
        </p:spPr>
        <p:txBody>
          <a:bodyPr wrap="square" rtlCol="0">
            <a:spAutoFit/>
          </a:bodyPr>
          <a:lstStyle/>
          <a:p>
            <a:pPr algn="ctr"/>
            <a:r>
              <a:rPr lang="en-GB" sz="800" i="1"/>
              <a:t>Falling trigger enable register</a:t>
            </a:r>
            <a:endParaRPr lang="LID4096" sz="800" i="1"/>
          </a:p>
        </p:txBody>
      </p:sp>
      <p:sp>
        <p:nvSpPr>
          <p:cNvPr id="18" name="TextBox 17">
            <a:extLst>
              <a:ext uri="{FF2B5EF4-FFF2-40B4-BE49-F238E27FC236}">
                <a16:creationId xmlns:a16="http://schemas.microsoft.com/office/drawing/2014/main" id="{7FEC959A-48EA-13E1-B3F7-B2FCAE00F114}"/>
              </a:ext>
            </a:extLst>
          </p:cNvPr>
          <p:cNvSpPr txBox="1"/>
          <p:nvPr/>
        </p:nvSpPr>
        <p:spPr>
          <a:xfrm>
            <a:off x="7694768" y="2430145"/>
            <a:ext cx="889987"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EXTI_RTENR</a:t>
            </a:r>
            <a:endParaRPr lang="LID4096" sz="1000">
              <a:solidFill>
                <a:schemeClr val="bg2"/>
              </a:solidFill>
              <a:latin typeface="Consolas" panose="020B0609020204030204" pitchFamily="49" charset="0"/>
            </a:endParaRPr>
          </a:p>
        </p:txBody>
      </p:sp>
      <p:sp>
        <p:nvSpPr>
          <p:cNvPr id="19" name="TextBox 18">
            <a:extLst>
              <a:ext uri="{FF2B5EF4-FFF2-40B4-BE49-F238E27FC236}">
                <a16:creationId xmlns:a16="http://schemas.microsoft.com/office/drawing/2014/main" id="{0F712E3C-E27D-3140-E231-DEB413292BD3}"/>
              </a:ext>
            </a:extLst>
          </p:cNvPr>
          <p:cNvSpPr txBox="1"/>
          <p:nvPr/>
        </p:nvSpPr>
        <p:spPr>
          <a:xfrm>
            <a:off x="7694768" y="2676366"/>
            <a:ext cx="889987" cy="338554"/>
          </a:xfrm>
          <a:prstGeom prst="rect">
            <a:avLst/>
          </a:prstGeom>
          <a:solidFill>
            <a:schemeClr val="bg1"/>
          </a:solidFill>
          <a:ln>
            <a:solidFill>
              <a:schemeClr val="tx1"/>
            </a:solidFill>
          </a:ln>
        </p:spPr>
        <p:txBody>
          <a:bodyPr wrap="square" rtlCol="0">
            <a:spAutoFit/>
          </a:bodyPr>
          <a:lstStyle/>
          <a:p>
            <a:pPr algn="ctr"/>
            <a:r>
              <a:rPr lang="en-GB" sz="800" i="1"/>
              <a:t>Rising trigger enable register</a:t>
            </a:r>
            <a:endParaRPr lang="LID4096" sz="800" i="1"/>
          </a:p>
        </p:txBody>
      </p:sp>
      <p:cxnSp>
        <p:nvCxnSpPr>
          <p:cNvPr id="25" name="Straight Connector 24">
            <a:extLst>
              <a:ext uri="{FF2B5EF4-FFF2-40B4-BE49-F238E27FC236}">
                <a16:creationId xmlns:a16="http://schemas.microsoft.com/office/drawing/2014/main" id="{2155E2A1-FFE4-1495-2419-CBD366FAA6C4}"/>
              </a:ext>
            </a:extLst>
          </p:cNvPr>
          <p:cNvCxnSpPr>
            <a:cxnSpLocks/>
          </p:cNvCxnSpPr>
          <p:nvPr/>
        </p:nvCxnSpPr>
        <p:spPr>
          <a:xfrm flipH="1">
            <a:off x="9504957" y="3553247"/>
            <a:ext cx="547155"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5F16B4C3-099D-B7CD-A877-1A5181CC9A13}"/>
              </a:ext>
            </a:extLst>
          </p:cNvPr>
          <p:cNvCxnSpPr>
            <a:cxnSpLocks/>
          </p:cNvCxnSpPr>
          <p:nvPr/>
        </p:nvCxnSpPr>
        <p:spPr>
          <a:xfrm flipV="1">
            <a:off x="9131362" y="3018401"/>
            <a:ext cx="0" cy="39410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33518C0D-6402-1E6A-829F-3FE248C05524}"/>
              </a:ext>
            </a:extLst>
          </p:cNvPr>
          <p:cNvCxnSpPr>
            <a:cxnSpLocks/>
          </p:cNvCxnSpPr>
          <p:nvPr/>
        </p:nvCxnSpPr>
        <p:spPr>
          <a:xfrm flipV="1">
            <a:off x="8160867" y="3009166"/>
            <a:ext cx="0" cy="39410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D210FB6-E2CD-67D0-7F32-31C8FA6783B7}"/>
              </a:ext>
            </a:extLst>
          </p:cNvPr>
          <p:cNvCxnSpPr>
            <a:cxnSpLocks/>
          </p:cNvCxnSpPr>
          <p:nvPr/>
        </p:nvCxnSpPr>
        <p:spPr>
          <a:xfrm flipH="1">
            <a:off x="6583563" y="3593873"/>
            <a:ext cx="1245166"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4" name="Straight Arrow Connector 33">
            <a:extLst>
              <a:ext uri="{FF2B5EF4-FFF2-40B4-BE49-F238E27FC236}">
                <a16:creationId xmlns:a16="http://schemas.microsoft.com/office/drawing/2014/main" id="{8F00F561-F864-324D-9487-9C8CB1519C74}"/>
              </a:ext>
            </a:extLst>
          </p:cNvPr>
          <p:cNvCxnSpPr/>
          <p:nvPr/>
        </p:nvCxnSpPr>
        <p:spPr>
          <a:xfrm flipH="1">
            <a:off x="1761515" y="3396507"/>
            <a:ext cx="531213" cy="0"/>
          </a:xfrm>
          <a:prstGeom prst="straightConnector1">
            <a:avLst/>
          </a:prstGeom>
          <a:ln w="508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7" name="Freeform: Shape 36">
            <a:extLst>
              <a:ext uri="{FF2B5EF4-FFF2-40B4-BE49-F238E27FC236}">
                <a16:creationId xmlns:a16="http://schemas.microsoft.com/office/drawing/2014/main" id="{908D70FC-50BB-72CD-FF25-98733A66FFBC}"/>
              </a:ext>
            </a:extLst>
          </p:cNvPr>
          <p:cNvSpPr/>
          <p:nvPr/>
        </p:nvSpPr>
        <p:spPr>
          <a:xfrm>
            <a:off x="2762312" y="3396692"/>
            <a:ext cx="577850" cy="0"/>
          </a:xfrm>
          <a:custGeom>
            <a:avLst/>
            <a:gdLst>
              <a:gd name="csX0" fmla="*/ 577850 w 577850"/>
              <a:gd name="csY0" fmla="*/ 0 h 0"/>
              <a:gd name="csX1" fmla="*/ 0 w 577850"/>
              <a:gd name="csY1" fmla="*/ 0 h 0"/>
            </a:gdLst>
            <a:ahLst/>
            <a:cxnLst>
              <a:cxn ang="0">
                <a:pos x="csX0" y="csY0"/>
              </a:cxn>
              <a:cxn ang="0">
                <a:pos x="csX1" y="csY1"/>
              </a:cxn>
            </a:cxnLst>
            <a:rect l="l" t="t" r="r" b="b"/>
            <a:pathLst>
              <a:path w="577850">
                <a:moveTo>
                  <a:pt x="577850" y="0"/>
                </a:moveTo>
                <a:lnTo>
                  <a:pt x="0" y="0"/>
                </a:lnTo>
              </a:path>
            </a:pathLst>
          </a:custGeom>
          <a:noFill/>
          <a:ln>
            <a:solidFill>
              <a:schemeClr val="tx1"/>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43" name="Freeform: Shape 42">
            <a:extLst>
              <a:ext uri="{FF2B5EF4-FFF2-40B4-BE49-F238E27FC236}">
                <a16:creationId xmlns:a16="http://schemas.microsoft.com/office/drawing/2014/main" id="{510F0614-240F-62F8-CF3C-70CF30A27A3C}"/>
              </a:ext>
            </a:extLst>
          </p:cNvPr>
          <p:cNvSpPr/>
          <p:nvPr/>
        </p:nvSpPr>
        <p:spPr>
          <a:xfrm>
            <a:off x="7474187" y="3717874"/>
            <a:ext cx="226503" cy="247475"/>
          </a:xfrm>
          <a:custGeom>
            <a:avLst/>
            <a:gdLst>
              <a:gd name="csX0" fmla="*/ 0 w 226503"/>
              <a:gd name="csY0" fmla="*/ 247475 h 247475"/>
              <a:gd name="csX1" fmla="*/ 83890 w 226503"/>
              <a:gd name="csY1" fmla="*/ 247475 h 247475"/>
              <a:gd name="csX2" fmla="*/ 83890 w 226503"/>
              <a:gd name="csY2" fmla="*/ 0 h 247475"/>
              <a:gd name="csX3" fmla="*/ 146808 w 226503"/>
              <a:gd name="csY3" fmla="*/ 0 h 247475"/>
              <a:gd name="csX4" fmla="*/ 146808 w 226503"/>
              <a:gd name="csY4" fmla="*/ 247475 h 247475"/>
              <a:gd name="csX5" fmla="*/ 226503 w 226503"/>
              <a:gd name="csY5" fmla="*/ 247475 h 247475"/>
            </a:gdLst>
            <a:ahLst/>
            <a:cxnLst>
              <a:cxn ang="0">
                <a:pos x="csX0" y="csY0"/>
              </a:cxn>
              <a:cxn ang="0">
                <a:pos x="csX1" y="csY1"/>
              </a:cxn>
              <a:cxn ang="0">
                <a:pos x="csX2" y="csY2"/>
              </a:cxn>
              <a:cxn ang="0">
                <a:pos x="csX3" y="csY3"/>
              </a:cxn>
              <a:cxn ang="0">
                <a:pos x="csX4" y="csY4"/>
              </a:cxn>
              <a:cxn ang="0">
                <a:pos x="csX5" y="csY5"/>
              </a:cxn>
            </a:cxnLst>
            <a:rect l="l" t="t" r="r" b="b"/>
            <a:pathLst>
              <a:path w="226503" h="247475">
                <a:moveTo>
                  <a:pt x="0" y="247475"/>
                </a:moveTo>
                <a:lnTo>
                  <a:pt x="83890" y="247475"/>
                </a:lnTo>
                <a:lnTo>
                  <a:pt x="83890" y="0"/>
                </a:lnTo>
                <a:lnTo>
                  <a:pt x="146808" y="0"/>
                </a:lnTo>
                <a:lnTo>
                  <a:pt x="146808" y="247475"/>
                </a:lnTo>
                <a:lnTo>
                  <a:pt x="226503" y="247475"/>
                </a:lnTo>
              </a:path>
            </a:pathLst>
          </a:cu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44" name="Straight Connector 43">
            <a:extLst>
              <a:ext uri="{FF2B5EF4-FFF2-40B4-BE49-F238E27FC236}">
                <a16:creationId xmlns:a16="http://schemas.microsoft.com/office/drawing/2014/main" id="{D0542209-3F8D-3995-0FFC-6A158B53949C}"/>
              </a:ext>
            </a:extLst>
          </p:cNvPr>
          <p:cNvCxnSpPr>
            <a:cxnSpLocks/>
          </p:cNvCxnSpPr>
          <p:nvPr/>
        </p:nvCxnSpPr>
        <p:spPr>
          <a:xfrm flipH="1" flipV="1">
            <a:off x="7313757"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D0EC22BF-BDB1-9FBF-7557-B6B93B80BF72}"/>
              </a:ext>
            </a:extLst>
          </p:cNvPr>
          <p:cNvCxnSpPr>
            <a:cxnSpLocks/>
          </p:cNvCxnSpPr>
          <p:nvPr/>
        </p:nvCxnSpPr>
        <p:spPr>
          <a:xfrm flipH="1" flipV="1">
            <a:off x="7718923"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9C49CF0A-32F3-2D11-26A3-3E6241830C1B}"/>
              </a:ext>
            </a:extLst>
          </p:cNvPr>
          <p:cNvSpPr txBox="1"/>
          <p:nvPr/>
        </p:nvSpPr>
        <p:spPr>
          <a:xfrm>
            <a:off x="7142444" y="3975884"/>
            <a:ext cx="889987" cy="215444"/>
          </a:xfrm>
          <a:prstGeom prst="rect">
            <a:avLst/>
          </a:prstGeom>
          <a:noFill/>
          <a:ln>
            <a:noFill/>
          </a:ln>
        </p:spPr>
        <p:txBody>
          <a:bodyPr wrap="square" rtlCol="0">
            <a:spAutoFit/>
          </a:bodyPr>
          <a:lstStyle/>
          <a:p>
            <a:pPr algn="ctr"/>
            <a:r>
              <a:rPr lang="en-GB" sz="800" i="1"/>
              <a:t>pulse</a:t>
            </a:r>
            <a:endParaRPr lang="LID4096" sz="800" i="1"/>
          </a:p>
        </p:txBody>
      </p:sp>
      <p:sp>
        <p:nvSpPr>
          <p:cNvPr id="3" name="TextBox 2">
            <a:extLst>
              <a:ext uri="{FF2B5EF4-FFF2-40B4-BE49-F238E27FC236}">
                <a16:creationId xmlns:a16="http://schemas.microsoft.com/office/drawing/2014/main" id="{D5EFB842-EBE2-B2F6-AB60-7ACE04487CC3}"/>
              </a:ext>
            </a:extLst>
          </p:cNvPr>
          <p:cNvSpPr txBox="1"/>
          <p:nvPr/>
        </p:nvSpPr>
        <p:spPr>
          <a:xfrm>
            <a:off x="6513668" y="2428521"/>
            <a:ext cx="960519"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EXTI_SWIEVR</a:t>
            </a:r>
            <a:endParaRPr lang="LID4096" sz="1000">
              <a:solidFill>
                <a:schemeClr val="bg2"/>
              </a:solidFill>
              <a:latin typeface="Consolas" panose="020B0609020204030204" pitchFamily="49" charset="0"/>
            </a:endParaRPr>
          </a:p>
        </p:txBody>
      </p:sp>
      <p:sp>
        <p:nvSpPr>
          <p:cNvPr id="20" name="TextBox 19">
            <a:extLst>
              <a:ext uri="{FF2B5EF4-FFF2-40B4-BE49-F238E27FC236}">
                <a16:creationId xmlns:a16="http://schemas.microsoft.com/office/drawing/2014/main" id="{6DE8A4C3-D04D-5354-1A9A-C5F5E30CDEA5}"/>
              </a:ext>
            </a:extLst>
          </p:cNvPr>
          <p:cNvSpPr txBox="1"/>
          <p:nvPr/>
        </p:nvSpPr>
        <p:spPr>
          <a:xfrm>
            <a:off x="6513668" y="2674742"/>
            <a:ext cx="960519" cy="461665"/>
          </a:xfrm>
          <a:prstGeom prst="rect">
            <a:avLst/>
          </a:prstGeom>
          <a:solidFill>
            <a:schemeClr val="bg1"/>
          </a:solidFill>
          <a:ln>
            <a:solidFill>
              <a:schemeClr val="tx1"/>
            </a:solidFill>
          </a:ln>
        </p:spPr>
        <p:txBody>
          <a:bodyPr wrap="square" rtlCol="0">
            <a:spAutoFit/>
          </a:bodyPr>
          <a:lstStyle/>
          <a:p>
            <a:pPr algn="ctr"/>
            <a:r>
              <a:rPr lang="en-GB" sz="800" i="1" dirty="0"/>
              <a:t>Software Interrupt Event Register</a:t>
            </a:r>
            <a:endParaRPr lang="LID4096" sz="800" i="1" dirty="0"/>
          </a:p>
        </p:txBody>
      </p:sp>
      <p:cxnSp>
        <p:nvCxnSpPr>
          <p:cNvPr id="21" name="Connector: Elbow 20">
            <a:extLst>
              <a:ext uri="{FF2B5EF4-FFF2-40B4-BE49-F238E27FC236}">
                <a16:creationId xmlns:a16="http://schemas.microsoft.com/office/drawing/2014/main" id="{DFD18D89-76D4-9511-9B33-5530ABBB9D59}"/>
              </a:ext>
            </a:extLst>
          </p:cNvPr>
          <p:cNvCxnSpPr>
            <a:stCxn id="20" idx="2"/>
          </p:cNvCxnSpPr>
          <p:nvPr/>
        </p:nvCxnSpPr>
        <p:spPr>
          <a:xfrm rot="5400000">
            <a:off x="6614154" y="3105817"/>
            <a:ext cx="349185" cy="410365"/>
          </a:xfrm>
          <a:prstGeom prst="bentConnector2">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nvGrpSpPr>
          <p:cNvPr id="23" name="Group 22">
            <a:extLst>
              <a:ext uri="{FF2B5EF4-FFF2-40B4-BE49-F238E27FC236}">
                <a16:creationId xmlns:a16="http://schemas.microsoft.com/office/drawing/2014/main" id="{E2263E81-FECD-E98C-3CAB-B04F9A112D9B}"/>
              </a:ext>
            </a:extLst>
          </p:cNvPr>
          <p:cNvGrpSpPr/>
          <p:nvPr/>
        </p:nvGrpSpPr>
        <p:grpSpPr>
          <a:xfrm>
            <a:off x="6674413" y="3196268"/>
            <a:ext cx="293603" cy="133412"/>
            <a:chOff x="7313757" y="3717874"/>
            <a:chExt cx="544623" cy="247475"/>
          </a:xfrm>
        </p:grpSpPr>
        <p:sp>
          <p:nvSpPr>
            <p:cNvPr id="24" name="Freeform: Shape 23">
              <a:extLst>
                <a:ext uri="{FF2B5EF4-FFF2-40B4-BE49-F238E27FC236}">
                  <a16:creationId xmlns:a16="http://schemas.microsoft.com/office/drawing/2014/main" id="{7D69C442-7BB1-2F43-946A-4BD321234F65}"/>
                </a:ext>
              </a:extLst>
            </p:cNvPr>
            <p:cNvSpPr/>
            <p:nvPr/>
          </p:nvSpPr>
          <p:spPr>
            <a:xfrm>
              <a:off x="7474187" y="3717874"/>
              <a:ext cx="226503" cy="247475"/>
            </a:xfrm>
            <a:custGeom>
              <a:avLst/>
              <a:gdLst>
                <a:gd name="csX0" fmla="*/ 0 w 226503"/>
                <a:gd name="csY0" fmla="*/ 247475 h 247475"/>
                <a:gd name="csX1" fmla="*/ 83890 w 226503"/>
                <a:gd name="csY1" fmla="*/ 247475 h 247475"/>
                <a:gd name="csX2" fmla="*/ 83890 w 226503"/>
                <a:gd name="csY2" fmla="*/ 0 h 247475"/>
                <a:gd name="csX3" fmla="*/ 146808 w 226503"/>
                <a:gd name="csY3" fmla="*/ 0 h 247475"/>
                <a:gd name="csX4" fmla="*/ 146808 w 226503"/>
                <a:gd name="csY4" fmla="*/ 247475 h 247475"/>
                <a:gd name="csX5" fmla="*/ 226503 w 226503"/>
                <a:gd name="csY5" fmla="*/ 247475 h 247475"/>
              </a:gdLst>
              <a:ahLst/>
              <a:cxnLst>
                <a:cxn ang="0">
                  <a:pos x="csX0" y="csY0"/>
                </a:cxn>
                <a:cxn ang="0">
                  <a:pos x="csX1" y="csY1"/>
                </a:cxn>
                <a:cxn ang="0">
                  <a:pos x="csX2" y="csY2"/>
                </a:cxn>
                <a:cxn ang="0">
                  <a:pos x="csX3" y="csY3"/>
                </a:cxn>
                <a:cxn ang="0">
                  <a:pos x="csX4" y="csY4"/>
                </a:cxn>
                <a:cxn ang="0">
                  <a:pos x="csX5" y="csY5"/>
                </a:cxn>
              </a:cxnLst>
              <a:rect l="l" t="t" r="r" b="b"/>
              <a:pathLst>
                <a:path w="226503" h="247475">
                  <a:moveTo>
                    <a:pt x="0" y="247475"/>
                  </a:moveTo>
                  <a:lnTo>
                    <a:pt x="83890" y="247475"/>
                  </a:lnTo>
                  <a:lnTo>
                    <a:pt x="83890" y="0"/>
                  </a:lnTo>
                  <a:lnTo>
                    <a:pt x="146808" y="0"/>
                  </a:lnTo>
                  <a:lnTo>
                    <a:pt x="146808" y="247475"/>
                  </a:lnTo>
                  <a:lnTo>
                    <a:pt x="226503" y="247475"/>
                  </a:lnTo>
                </a:path>
              </a:pathLst>
            </a:cu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29" name="Straight Connector 28">
              <a:extLst>
                <a:ext uri="{FF2B5EF4-FFF2-40B4-BE49-F238E27FC236}">
                  <a16:creationId xmlns:a16="http://schemas.microsoft.com/office/drawing/2014/main" id="{DA1A5857-5A27-52D7-5F5C-E45B31139624}"/>
                </a:ext>
              </a:extLst>
            </p:cNvPr>
            <p:cNvCxnSpPr>
              <a:cxnSpLocks/>
            </p:cNvCxnSpPr>
            <p:nvPr/>
          </p:nvCxnSpPr>
          <p:spPr>
            <a:xfrm flipH="1" flipV="1">
              <a:off x="7313757"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03DC6B73-3A1D-7A1B-E5D1-B91119524488}"/>
                </a:ext>
              </a:extLst>
            </p:cNvPr>
            <p:cNvCxnSpPr>
              <a:cxnSpLocks/>
            </p:cNvCxnSpPr>
            <p:nvPr/>
          </p:nvCxnSpPr>
          <p:spPr>
            <a:xfrm flipH="1" flipV="1">
              <a:off x="7718923"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grpSp>
      <p:cxnSp>
        <p:nvCxnSpPr>
          <p:cNvPr id="31" name="Straight Connector 30">
            <a:extLst>
              <a:ext uri="{FF2B5EF4-FFF2-40B4-BE49-F238E27FC236}">
                <a16:creationId xmlns:a16="http://schemas.microsoft.com/office/drawing/2014/main" id="{37C94A90-88D7-C290-6E36-F7B016DC3C05}"/>
              </a:ext>
            </a:extLst>
          </p:cNvPr>
          <p:cNvCxnSpPr>
            <a:cxnSpLocks/>
          </p:cNvCxnSpPr>
          <p:nvPr/>
        </p:nvCxnSpPr>
        <p:spPr>
          <a:xfrm flipH="1">
            <a:off x="5181663" y="3492273"/>
            <a:ext cx="100828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ED24EA6-F48C-5633-98A1-D7769B93ED2F}"/>
              </a:ext>
            </a:extLst>
          </p:cNvPr>
          <p:cNvSpPr txBox="1"/>
          <p:nvPr/>
        </p:nvSpPr>
        <p:spPr>
          <a:xfrm>
            <a:off x="6152035" y="3357143"/>
            <a:ext cx="431528" cy="369332"/>
          </a:xfrm>
          <a:prstGeom prst="rect">
            <a:avLst/>
          </a:prstGeom>
          <a:solidFill>
            <a:schemeClr val="bg1"/>
          </a:solidFill>
          <a:ln>
            <a:solidFill>
              <a:schemeClr val="tx1"/>
            </a:solidFill>
          </a:ln>
        </p:spPr>
        <p:txBody>
          <a:bodyPr wrap="none" rtlCol="0">
            <a:spAutoFit/>
          </a:bodyPr>
          <a:lstStyle/>
          <a:p>
            <a:r>
              <a:rPr lang="en-SE" b="1"/>
              <a:t>≥</a:t>
            </a:r>
            <a:r>
              <a:rPr lang="en-GB"/>
              <a:t>1</a:t>
            </a:r>
            <a:endParaRPr lang="LID4096"/>
          </a:p>
        </p:txBody>
      </p:sp>
      <p:sp>
        <p:nvSpPr>
          <p:cNvPr id="33" name="TextBox 32">
            <a:extLst>
              <a:ext uri="{FF2B5EF4-FFF2-40B4-BE49-F238E27FC236}">
                <a16:creationId xmlns:a16="http://schemas.microsoft.com/office/drawing/2014/main" id="{7B351AA8-A809-D833-E70B-0F148EFEDD0A}"/>
              </a:ext>
            </a:extLst>
          </p:cNvPr>
          <p:cNvSpPr txBox="1"/>
          <p:nvPr/>
        </p:nvSpPr>
        <p:spPr>
          <a:xfrm>
            <a:off x="5087107" y="2427014"/>
            <a:ext cx="960519"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EXTI_INTENR</a:t>
            </a:r>
            <a:endParaRPr lang="LID4096" sz="1000">
              <a:solidFill>
                <a:schemeClr val="bg2"/>
              </a:solidFill>
              <a:latin typeface="Consolas" panose="020B0609020204030204" pitchFamily="49" charset="0"/>
            </a:endParaRPr>
          </a:p>
        </p:txBody>
      </p:sp>
      <p:sp>
        <p:nvSpPr>
          <p:cNvPr id="35" name="TextBox 34">
            <a:extLst>
              <a:ext uri="{FF2B5EF4-FFF2-40B4-BE49-F238E27FC236}">
                <a16:creationId xmlns:a16="http://schemas.microsoft.com/office/drawing/2014/main" id="{A7DFDD63-FCD7-73BC-0388-D08767B919EE}"/>
              </a:ext>
            </a:extLst>
          </p:cNvPr>
          <p:cNvSpPr txBox="1"/>
          <p:nvPr/>
        </p:nvSpPr>
        <p:spPr>
          <a:xfrm>
            <a:off x="5087107" y="2673235"/>
            <a:ext cx="960519" cy="338554"/>
          </a:xfrm>
          <a:prstGeom prst="rect">
            <a:avLst/>
          </a:prstGeom>
          <a:solidFill>
            <a:schemeClr val="bg1"/>
          </a:solidFill>
          <a:ln>
            <a:solidFill>
              <a:schemeClr val="tx1"/>
            </a:solidFill>
          </a:ln>
        </p:spPr>
        <p:txBody>
          <a:bodyPr wrap="square" rtlCol="0">
            <a:spAutoFit/>
          </a:bodyPr>
          <a:lstStyle/>
          <a:p>
            <a:pPr algn="ctr"/>
            <a:r>
              <a:rPr lang="en-GB" sz="800" i="1"/>
              <a:t>Interrupt Enable Register</a:t>
            </a:r>
            <a:endParaRPr lang="LID4096" sz="800" i="1"/>
          </a:p>
        </p:txBody>
      </p:sp>
      <p:cxnSp>
        <p:nvCxnSpPr>
          <p:cNvPr id="36" name="Connector: Elbow 35">
            <a:extLst>
              <a:ext uri="{FF2B5EF4-FFF2-40B4-BE49-F238E27FC236}">
                <a16:creationId xmlns:a16="http://schemas.microsoft.com/office/drawing/2014/main" id="{07622C8F-FA2E-DC5D-643A-0054541EF7EE}"/>
              </a:ext>
            </a:extLst>
          </p:cNvPr>
          <p:cNvCxnSpPr>
            <a:stCxn id="35" idx="2"/>
            <a:endCxn id="38" idx="3"/>
          </p:cNvCxnSpPr>
          <p:nvPr/>
        </p:nvCxnSpPr>
        <p:spPr>
          <a:xfrm rot="5400000">
            <a:off x="5327338" y="3139340"/>
            <a:ext cx="367580" cy="112479"/>
          </a:xfrm>
          <a:prstGeom prst="bentConnector2">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86444E74-CAEE-040B-E2D1-B8DDD326D8B9}"/>
              </a:ext>
            </a:extLst>
          </p:cNvPr>
          <p:cNvSpPr txBox="1"/>
          <p:nvPr/>
        </p:nvSpPr>
        <p:spPr>
          <a:xfrm>
            <a:off x="5114730" y="3194703"/>
            <a:ext cx="340158" cy="369332"/>
          </a:xfrm>
          <a:prstGeom prst="rect">
            <a:avLst/>
          </a:prstGeom>
          <a:solidFill>
            <a:schemeClr val="bg1"/>
          </a:solidFill>
          <a:ln>
            <a:solidFill>
              <a:schemeClr val="tx1"/>
            </a:solidFill>
          </a:ln>
        </p:spPr>
        <p:txBody>
          <a:bodyPr wrap="none" rtlCol="0">
            <a:spAutoFit/>
          </a:bodyPr>
          <a:lstStyle/>
          <a:p>
            <a:r>
              <a:rPr lang="en-GB" b="1"/>
              <a:t>&amp;</a:t>
            </a:r>
            <a:endParaRPr lang="LID4096"/>
          </a:p>
        </p:txBody>
      </p:sp>
      <p:cxnSp>
        <p:nvCxnSpPr>
          <p:cNvPr id="39" name="Straight Connector 38">
            <a:extLst>
              <a:ext uri="{FF2B5EF4-FFF2-40B4-BE49-F238E27FC236}">
                <a16:creationId xmlns:a16="http://schemas.microsoft.com/office/drawing/2014/main" id="{9DB3AB11-030A-C18B-ADE3-5175883531B2}"/>
              </a:ext>
            </a:extLst>
          </p:cNvPr>
          <p:cNvCxnSpPr>
            <a:cxnSpLocks/>
          </p:cNvCxnSpPr>
          <p:nvPr/>
        </p:nvCxnSpPr>
        <p:spPr>
          <a:xfrm flipH="1">
            <a:off x="4859675" y="3299474"/>
            <a:ext cx="255055"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0" name="TextBox 39">
            <a:extLst>
              <a:ext uri="{FF2B5EF4-FFF2-40B4-BE49-F238E27FC236}">
                <a16:creationId xmlns:a16="http://schemas.microsoft.com/office/drawing/2014/main" id="{97F37D85-16F1-D095-A623-9F97F9BD0229}"/>
              </a:ext>
            </a:extLst>
          </p:cNvPr>
          <p:cNvSpPr txBox="1"/>
          <p:nvPr/>
        </p:nvSpPr>
        <p:spPr>
          <a:xfrm>
            <a:off x="3345376" y="3110922"/>
            <a:ext cx="889987"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EXTI_INTFR</a:t>
            </a:r>
            <a:endParaRPr lang="LID4096" sz="1000">
              <a:solidFill>
                <a:schemeClr val="bg2"/>
              </a:solidFill>
              <a:latin typeface="Consolas" panose="020B0609020204030204" pitchFamily="49" charset="0"/>
            </a:endParaRPr>
          </a:p>
        </p:txBody>
      </p:sp>
      <p:sp>
        <p:nvSpPr>
          <p:cNvPr id="41" name="TextBox 40">
            <a:extLst>
              <a:ext uri="{FF2B5EF4-FFF2-40B4-BE49-F238E27FC236}">
                <a16:creationId xmlns:a16="http://schemas.microsoft.com/office/drawing/2014/main" id="{B846FC2F-08CD-A9A5-A544-3A4EEDC11BDF}"/>
              </a:ext>
            </a:extLst>
          </p:cNvPr>
          <p:cNvSpPr txBox="1"/>
          <p:nvPr/>
        </p:nvSpPr>
        <p:spPr>
          <a:xfrm>
            <a:off x="4470283" y="3194703"/>
            <a:ext cx="431528" cy="369332"/>
          </a:xfrm>
          <a:prstGeom prst="rect">
            <a:avLst/>
          </a:prstGeom>
          <a:solidFill>
            <a:schemeClr val="bg1"/>
          </a:solidFill>
          <a:ln>
            <a:solidFill>
              <a:schemeClr val="tx1"/>
            </a:solidFill>
          </a:ln>
        </p:spPr>
        <p:txBody>
          <a:bodyPr wrap="none" rtlCol="0">
            <a:spAutoFit/>
          </a:bodyPr>
          <a:lstStyle/>
          <a:p>
            <a:r>
              <a:rPr lang="en-SE" b="1"/>
              <a:t>≥</a:t>
            </a:r>
            <a:r>
              <a:rPr lang="en-GB"/>
              <a:t>1</a:t>
            </a:r>
            <a:endParaRPr lang="LID4096"/>
          </a:p>
        </p:txBody>
      </p:sp>
      <p:sp>
        <p:nvSpPr>
          <p:cNvPr id="42" name="Freeform: Shape 41">
            <a:extLst>
              <a:ext uri="{FF2B5EF4-FFF2-40B4-BE49-F238E27FC236}">
                <a16:creationId xmlns:a16="http://schemas.microsoft.com/office/drawing/2014/main" id="{6AE5925E-30D0-854D-DBFF-3DDF152F0DF8}"/>
              </a:ext>
            </a:extLst>
          </p:cNvPr>
          <p:cNvSpPr/>
          <p:nvPr/>
        </p:nvSpPr>
        <p:spPr>
          <a:xfrm>
            <a:off x="3200462" y="3403042"/>
            <a:ext cx="1835150" cy="488950"/>
          </a:xfrm>
          <a:custGeom>
            <a:avLst/>
            <a:gdLst>
              <a:gd name="csX0" fmla="*/ 0 w 1835150"/>
              <a:gd name="csY0" fmla="*/ 0 h 488950"/>
              <a:gd name="csX1" fmla="*/ 0 w 1835150"/>
              <a:gd name="csY1" fmla="*/ 488950 h 488950"/>
              <a:gd name="csX2" fmla="*/ 1835150 w 1835150"/>
              <a:gd name="csY2" fmla="*/ 488950 h 488950"/>
              <a:gd name="csX3" fmla="*/ 1835150 w 1835150"/>
              <a:gd name="csY3" fmla="*/ 82550 h 488950"/>
              <a:gd name="csX4" fmla="*/ 1708150 w 1835150"/>
              <a:gd name="csY4" fmla="*/ 82550 h 488950"/>
            </a:gdLst>
            <a:ahLst/>
            <a:cxnLst>
              <a:cxn ang="0">
                <a:pos x="csX0" y="csY0"/>
              </a:cxn>
              <a:cxn ang="0">
                <a:pos x="csX1" y="csY1"/>
              </a:cxn>
              <a:cxn ang="0">
                <a:pos x="csX2" y="csY2"/>
              </a:cxn>
              <a:cxn ang="0">
                <a:pos x="csX3" y="csY3"/>
              </a:cxn>
              <a:cxn ang="0">
                <a:pos x="csX4" y="csY4"/>
              </a:cxn>
            </a:cxnLst>
            <a:rect l="l" t="t" r="r" b="b"/>
            <a:pathLst>
              <a:path w="1835150" h="488950">
                <a:moveTo>
                  <a:pt x="0" y="0"/>
                </a:moveTo>
                <a:lnTo>
                  <a:pt x="0" y="488950"/>
                </a:lnTo>
                <a:lnTo>
                  <a:pt x="1835150" y="488950"/>
                </a:lnTo>
                <a:lnTo>
                  <a:pt x="1835150" y="82550"/>
                </a:lnTo>
                <a:lnTo>
                  <a:pt x="1708150" y="82550"/>
                </a:lnTo>
              </a:path>
            </a:pathLst>
          </a:custGeom>
          <a:noFill/>
          <a:ln>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47" name="Straight Arrow Connector 46">
            <a:extLst>
              <a:ext uri="{FF2B5EF4-FFF2-40B4-BE49-F238E27FC236}">
                <a16:creationId xmlns:a16="http://schemas.microsoft.com/office/drawing/2014/main" id="{6D5CD96F-9771-9962-83BC-D9DDD0EFE94B}"/>
              </a:ext>
            </a:extLst>
          </p:cNvPr>
          <p:cNvCxnSpPr>
            <a:cxnSpLocks/>
            <a:stCxn id="41" idx="1"/>
          </p:cNvCxnSpPr>
          <p:nvPr/>
        </p:nvCxnSpPr>
        <p:spPr>
          <a:xfrm flipH="1">
            <a:off x="4235363" y="3379369"/>
            <a:ext cx="234920"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8743E79D-0AF4-F136-25D7-C23811C29C99}"/>
              </a:ext>
            </a:extLst>
          </p:cNvPr>
          <p:cNvSpPr txBox="1"/>
          <p:nvPr/>
        </p:nvSpPr>
        <p:spPr>
          <a:xfrm>
            <a:off x="3345376" y="3357143"/>
            <a:ext cx="889987" cy="338554"/>
          </a:xfrm>
          <a:prstGeom prst="rect">
            <a:avLst/>
          </a:prstGeom>
          <a:solidFill>
            <a:schemeClr val="bg1"/>
          </a:solidFill>
          <a:ln>
            <a:solidFill>
              <a:schemeClr val="tx1"/>
            </a:solidFill>
          </a:ln>
        </p:spPr>
        <p:txBody>
          <a:bodyPr wrap="square" rtlCol="0">
            <a:spAutoFit/>
          </a:bodyPr>
          <a:lstStyle/>
          <a:p>
            <a:pPr algn="ctr"/>
            <a:r>
              <a:rPr lang="en-GB" sz="800" i="1"/>
              <a:t>Interrupt Flag Register</a:t>
            </a:r>
            <a:endParaRPr lang="LID4096" sz="800" i="1"/>
          </a:p>
        </p:txBody>
      </p:sp>
      <p:sp>
        <p:nvSpPr>
          <p:cNvPr id="49" name="TextBox 48">
            <a:extLst>
              <a:ext uri="{FF2B5EF4-FFF2-40B4-BE49-F238E27FC236}">
                <a16:creationId xmlns:a16="http://schemas.microsoft.com/office/drawing/2014/main" id="{0EA91F70-55A2-A462-C5DE-D6FE47D2CE21}"/>
              </a:ext>
            </a:extLst>
          </p:cNvPr>
          <p:cNvSpPr txBox="1"/>
          <p:nvPr/>
        </p:nvSpPr>
        <p:spPr>
          <a:xfrm>
            <a:off x="3345376" y="2649258"/>
            <a:ext cx="889987" cy="338554"/>
          </a:xfrm>
          <a:prstGeom prst="rect">
            <a:avLst/>
          </a:prstGeom>
          <a:noFill/>
          <a:ln>
            <a:noFill/>
          </a:ln>
        </p:spPr>
        <p:txBody>
          <a:bodyPr wrap="square" rtlCol="0">
            <a:spAutoFit/>
          </a:bodyPr>
          <a:lstStyle/>
          <a:p>
            <a:pPr algn="ctr"/>
            <a:r>
              <a:rPr lang="en-GB" sz="800" i="1" dirty="0"/>
              <a:t>Only reset from software</a:t>
            </a:r>
            <a:endParaRPr lang="LID4096" sz="800" i="1" dirty="0"/>
          </a:p>
        </p:txBody>
      </p:sp>
      <p:cxnSp>
        <p:nvCxnSpPr>
          <p:cNvPr id="51" name="Straight Arrow Connector 50">
            <a:extLst>
              <a:ext uri="{FF2B5EF4-FFF2-40B4-BE49-F238E27FC236}">
                <a16:creationId xmlns:a16="http://schemas.microsoft.com/office/drawing/2014/main" id="{7B589F39-BC16-17AC-37C8-F3B839C50299}"/>
              </a:ext>
            </a:extLst>
          </p:cNvPr>
          <p:cNvCxnSpPr>
            <a:cxnSpLocks/>
          </p:cNvCxnSpPr>
          <p:nvPr/>
        </p:nvCxnSpPr>
        <p:spPr>
          <a:xfrm>
            <a:off x="3792649" y="2953919"/>
            <a:ext cx="0" cy="1524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52" name="Rectangle 51">
            <a:extLst>
              <a:ext uri="{FF2B5EF4-FFF2-40B4-BE49-F238E27FC236}">
                <a16:creationId xmlns:a16="http://schemas.microsoft.com/office/drawing/2014/main" id="{2CC0F7DA-BE28-3DF6-5894-CBE7056D4564}"/>
              </a:ext>
            </a:extLst>
          </p:cNvPr>
          <p:cNvSpPr/>
          <p:nvPr/>
        </p:nvSpPr>
        <p:spPr>
          <a:xfrm>
            <a:off x="2332835" y="3964129"/>
            <a:ext cx="762744" cy="37222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53" name="TextBox 52">
            <a:extLst>
              <a:ext uri="{FF2B5EF4-FFF2-40B4-BE49-F238E27FC236}">
                <a16:creationId xmlns:a16="http://schemas.microsoft.com/office/drawing/2014/main" id="{F1A30312-8FB3-6ADE-5B21-A43DA6560B08}"/>
              </a:ext>
            </a:extLst>
          </p:cNvPr>
          <p:cNvSpPr txBox="1"/>
          <p:nvPr/>
        </p:nvSpPr>
        <p:spPr>
          <a:xfrm>
            <a:off x="3040716" y="4253524"/>
            <a:ext cx="4654052" cy="461665"/>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txBody>
          <a:bodyPr wrap="square" rtlCol="0">
            <a:spAutoFit/>
          </a:bodyPr>
          <a:lstStyle/>
          <a:p>
            <a:r>
              <a:rPr lang="sv-SE" sz="1200" dirty="0"/>
              <a:t>För pinnar som har en delad avbrottslina får vi läsa EXTI_INTFR för att ta reda på vilka som genererat avbrott.</a:t>
            </a:r>
            <a:endParaRPr lang="LID4096" sz="1200" dirty="0"/>
          </a:p>
        </p:txBody>
      </p:sp>
    </p:spTree>
    <p:extLst>
      <p:ext uri="{BB962C8B-B14F-4D97-AF65-F5344CB8AC3E}">
        <p14:creationId xmlns:p14="http://schemas.microsoft.com/office/powerpoint/2010/main" val="25371679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3"/>
                                        </p:tgtEl>
                                        <p:attrNameLst>
                                          <p:attrName>style.visibility</p:attrName>
                                        </p:attrNameLst>
                                      </p:cBhvr>
                                      <p:to>
                                        <p:strVal val="visible"/>
                                      </p:to>
                                    </p:set>
                                    <p:animEffect transition="in" filter="fade">
                                      <p:cBhvr>
                                        <p:cTn id="7" dur="5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solidFill>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4984</TotalTime>
  <Words>2646</Words>
  <Application>Microsoft Office PowerPoint</Application>
  <PresentationFormat>Widescreen</PresentationFormat>
  <Paragraphs>504</Paragraphs>
  <Slides>30</Slides>
  <Notes>22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30</vt:i4>
      </vt:variant>
    </vt:vector>
  </HeadingPairs>
  <TitlesOfParts>
    <vt:vector size="36" baseType="lpstr">
      <vt:lpstr>Aptos</vt:lpstr>
      <vt:lpstr>Aptos Display</vt:lpstr>
      <vt:lpstr>Arial</vt:lpstr>
      <vt:lpstr>Calibri</vt:lpstr>
      <vt:lpstr>Consolas</vt:lpstr>
      <vt:lpstr>Office Theme</vt:lpstr>
      <vt:lpstr>Lektion 9</vt:lpstr>
      <vt:lpstr>Recap: PFIC</vt:lpstr>
      <vt:lpstr>Challenge! </vt:lpstr>
      <vt:lpstr>Basic Timers</vt:lpstr>
      <vt:lpstr>Basic Timers</vt:lpstr>
      <vt:lpstr>Konfigurera timers</vt:lpstr>
      <vt:lpstr>Enabla interrupts i PFIC</vt:lpstr>
      <vt:lpstr>Skriv en interrupt hanterare</vt:lpstr>
      <vt:lpstr>Skriv en interrupt hanterare</vt:lpstr>
      <vt:lpstr>PowerPoint Presentation</vt:lpstr>
      <vt:lpstr>Vectored Interrupt Handling</vt:lpstr>
      <vt:lpstr>Vectored Interrupt Handling</vt:lpstr>
      <vt:lpstr>Vector Table</vt:lpstr>
      <vt:lpstr>Exempel? </vt:lpstr>
      <vt:lpstr>PowerPoint Presentation</vt:lpstr>
      <vt:lpstr>Avbryta interrupthanteraren (nästlade avbrott)? </vt:lpstr>
      <vt:lpstr>Avbryta interrupthanteraren (nästlade avbrott)? </vt:lpstr>
      <vt:lpstr>Avbryta interrupthanteraren (nästlade avbrott)? </vt:lpstr>
      <vt:lpstr>PowerPoint Presentation</vt:lpstr>
      <vt:lpstr>Avbrott från GPIO</vt:lpstr>
      <vt:lpstr>AFIO_EXTICR</vt:lpstr>
      <vt:lpstr>Routing AFIO_EXTICR</vt:lpstr>
      <vt:lpstr>AFIO_EXTICR</vt:lpstr>
      <vt:lpstr>PowerPoint Presentation</vt:lpstr>
      <vt:lpstr>När skall vi fyra av ett interrupt?  EXTI</vt:lpstr>
      <vt:lpstr>När skall vi fyra av ett interrupt?  EXTI</vt:lpstr>
      <vt:lpstr>När skall vi fyra av ett interrupt?  EXTI</vt:lpstr>
      <vt:lpstr>När skall vi fyra av ett interrupt?  EXTI</vt:lpstr>
      <vt:lpstr>När skall vi fyra av ett interrupt?  EXTI</vt:lpstr>
      <vt:lpstr>När skall vi fyra av ett interrupt?  EXTI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Erik Sintorn</dc:creator>
  <cp:lastModifiedBy>Erik Sintorn</cp:lastModifiedBy>
  <cp:revision>91</cp:revision>
  <cp:lastPrinted>2026-02-17T11:02:10Z</cp:lastPrinted>
  <dcterms:created xsi:type="dcterms:W3CDTF">2026-01-14T14:09:03Z</dcterms:created>
  <dcterms:modified xsi:type="dcterms:W3CDTF">2026-02-24T13:57:23Z</dcterms:modified>
</cp:coreProperties>
</file>