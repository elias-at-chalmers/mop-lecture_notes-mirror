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6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416" autoAdjust="0"/>
  </p:normalViewPr>
  <p:slideViewPr>
    <p:cSldViewPr snapToGrid="0">
      <p:cViewPr varScale="1">
        <p:scale>
          <a:sx n="145" d="100"/>
          <a:sy n="145" d="100"/>
        </p:scale>
        <p:origin x="13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3000/html/lectures/lecture01_introduction.html?serverWindowId=31253021-29e0-4518-8ecd-c6eb68d79c64#fn1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3000/html/lectures/lecture01_introduction.html?serverWindowId=31253021-29e0-4518-8ecd-c6eb68d79c64#fn1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3000/html/lectures/lecture01_introduction.html?serverWindowId=31253021-29e0-4518-8ecd-c6eb68d79c64#fn1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this course in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 Oriented Programming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In a previous course, you have seen how simple logic gates can be combined to create an ALU, a data path, and finally a complete working tiny processor. In this course you will build on this knowledge and learn how to program a 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modern, off-the-shelf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microcontroller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will develop programs for this device using assembly and C and you will learn how to communicate with peripheral devices (lights, buttons, displays and a tiny speaker). 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8809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this course in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 Oriented Programming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endParaRPr lang="LID4096"/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53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a previous course, you have seen how simple logic gates can be combined to create an ALU, a data path, and finally a complete working tiny processor. In this course you will build on this knowledge and learn how to program a 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modern, off-the-shelf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microcontroller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will develop programs for this device using assembly and C and you will learn how to communicate with peripheral devices (lights, buttons, displays and a tiny speaker). 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illustrated in the image below, the course is also a prerequisite for several upcoming courses.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0148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8A94-7D14-214E-B9D6-8F4EABEF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AD009E-3A7E-A67F-123E-F9DCF3A64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5CCD0A-2D7E-C18E-CBE3-8594948C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to this course in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 Oriented Programming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In a previous course, you have seen how simple logic gates can be combined to create an ALU, a data path, and finally a complete working tiny processor. In this course you will build on this knowledge and learn how to program a 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modern, off-the-shelf </a:t>
            </a:r>
            <a:r>
              <a:rPr lang="en-US" sz="1200" b="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microcontroller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u="none" strike="noStrike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You will develop programs for this device using assembly and C and you will learn how to communicate with peripheral devices (lights, buttons, displays and a tiny speaker). 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JOBS!</a:t>
            </a:r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525D7-EB52-DB7B-1087-3966CB397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5882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01/15/2026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hyperlink" Target="https://www.allaboutcircuits.com/projects/category/embedded/microcontroller/" TargetMode="External"/><Relationship Id="rId11" Type="http://schemas.openxmlformats.org/officeDocument/2006/relationships/image" Target="../media/image7.png"/><Relationship Id="rId5" Type="http://schemas.openxmlformats.org/officeDocument/2006/relationships/hyperlink" Target="https://projecthub.arduino.cc/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www.seeedstudio.com/blog/2021/03/26/10-raspberry-pi-pico-projects/" TargetMode="Externa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4D81DEA-581A-EB2C-8A0A-69B5EB5AEA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5DBD27-1B21-BEF6-809C-454216D0054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tx1">
              <a:alpha val="51000"/>
            </a:schemeClr>
          </a:solidFill>
        </p:spPr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Hur m</a:t>
            </a:r>
            <a:r>
              <a:rPr lang="sv-SE">
                <a:solidFill>
                  <a:schemeClr val="bg1"/>
                </a:solidFill>
              </a:rPr>
              <a:t>ånga mikroprocessorer ser vi på bilden? 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75F9AAE-5AD8-C9E8-DA4F-584730737B24}"/>
              </a:ext>
            </a:extLst>
          </p:cNvPr>
          <p:cNvSpPr txBox="1">
            <a:spLocks/>
          </p:cNvSpPr>
          <p:nvPr/>
        </p:nvSpPr>
        <p:spPr>
          <a:xfrm>
            <a:off x="1045207" y="4882127"/>
            <a:ext cx="3163866" cy="1407526"/>
          </a:xfrm>
          <a:prstGeom prst="rect">
            <a:avLst/>
          </a:prstGeom>
          <a:solidFill>
            <a:schemeClr val="tx1">
              <a:alpha val="51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sz="1400" b="1">
                <a:solidFill>
                  <a:schemeClr val="bg1"/>
                </a:solidFill>
              </a:rPr>
              <a:t>mikroprocessor</a:t>
            </a:r>
            <a:r>
              <a:rPr lang="sv-SE" sz="1400">
                <a:solidFill>
                  <a:schemeClr val="bg1"/>
                </a:solidFill>
              </a:rPr>
              <a:t>, definition: </a:t>
            </a:r>
          </a:p>
          <a:p>
            <a:r>
              <a:rPr lang="en-US" sz="1400" i="1">
                <a:solidFill>
                  <a:schemeClr val="bg1"/>
                </a:solidFill>
              </a:rPr>
              <a:t>A microprocessor is an integrated circuit that contains a central processing unit, executing instructions to perform arithmetic, logic, control, and input–output operations.</a:t>
            </a:r>
            <a:endParaRPr lang="LID4096" sz="1400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883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2D2D8-D710-F1C3-C379-A28F3B6562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Maskinorienterad Programmering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F60A15-B740-5AC2-26C2-3C8FFF0596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Lektion 1 - Introduktion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92707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5F902-D3A7-46DA-72EF-93BA0C6BB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Maskinorienterad Programmering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6E4AC9-101E-3D86-EEC4-6CD3F0C4E9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66015"/>
            <a:ext cx="12192000" cy="394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937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80883-F4C1-7F2F-9FFF-ACFF158CB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192F57-0B40-72A9-316E-22B86A6940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2DE8E6AC-059C-5E85-D40D-94BB117CED90}"/>
              </a:ext>
            </a:extLst>
          </p:cNvPr>
          <p:cNvGrpSpPr/>
          <p:nvPr/>
        </p:nvGrpSpPr>
        <p:grpSpPr>
          <a:xfrm>
            <a:off x="3963836" y="4868449"/>
            <a:ext cx="2516296" cy="1881927"/>
            <a:chOff x="3963836" y="4868449"/>
            <a:chExt cx="2516296" cy="1881927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0705C09-BC48-12A2-B70D-E6E11B9124D3}"/>
                </a:ext>
              </a:extLst>
            </p:cNvPr>
            <p:cNvSpPr/>
            <p:nvPr/>
          </p:nvSpPr>
          <p:spPr>
            <a:xfrm>
              <a:off x="4392460" y="4868449"/>
              <a:ext cx="2087672" cy="1106466"/>
            </a:xfrm>
            <a:custGeom>
              <a:avLst/>
              <a:gdLst>
                <a:gd name="csX0" fmla="*/ 1093940 w 2087672"/>
                <a:gd name="csY0" fmla="*/ 58455 h 1106466"/>
                <a:gd name="csX1" fmla="*/ 0 w 2087672"/>
                <a:gd name="csY1" fmla="*/ 572022 h 1106466"/>
                <a:gd name="csX2" fmla="*/ 4176 w 2087672"/>
                <a:gd name="csY2" fmla="*/ 643003 h 1106466"/>
                <a:gd name="csX3" fmla="*/ 643003 w 2087672"/>
                <a:gd name="csY3" fmla="*/ 1106466 h 1106466"/>
                <a:gd name="csX4" fmla="*/ 2087672 w 2087672"/>
                <a:gd name="csY4" fmla="*/ 329852 h 1106466"/>
                <a:gd name="csX5" fmla="*/ 2050093 w 2087672"/>
                <a:gd name="csY5" fmla="*/ 263047 h 1106466"/>
                <a:gd name="csX6" fmla="*/ 1490598 w 2087672"/>
                <a:gd name="csY6" fmla="*/ 0 h 1106466"/>
                <a:gd name="csX7" fmla="*/ 1453019 w 2087672"/>
                <a:gd name="csY7" fmla="*/ 75156 h 1106466"/>
                <a:gd name="csX8" fmla="*/ 1369513 w 2087672"/>
                <a:gd name="csY8" fmla="*/ 112735 h 1106466"/>
                <a:gd name="csX9" fmla="*/ 1311058 w 2087672"/>
                <a:gd name="csY9" fmla="*/ 112735 h 1106466"/>
                <a:gd name="csX10" fmla="*/ 1198324 w 2087672"/>
                <a:gd name="csY10" fmla="*/ 83507 h 1106466"/>
                <a:gd name="csX11" fmla="*/ 1093940 w 2087672"/>
                <a:gd name="csY11" fmla="*/ 58455 h 1106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087672" h="1106466">
                  <a:moveTo>
                    <a:pt x="1093940" y="58455"/>
                  </a:moveTo>
                  <a:lnTo>
                    <a:pt x="0" y="572022"/>
                  </a:lnTo>
                  <a:lnTo>
                    <a:pt x="4176" y="643003"/>
                  </a:lnTo>
                  <a:lnTo>
                    <a:pt x="643003" y="1106466"/>
                  </a:lnTo>
                  <a:lnTo>
                    <a:pt x="2087672" y="329852"/>
                  </a:lnTo>
                  <a:lnTo>
                    <a:pt x="2050093" y="263047"/>
                  </a:lnTo>
                  <a:lnTo>
                    <a:pt x="1490598" y="0"/>
                  </a:lnTo>
                  <a:lnTo>
                    <a:pt x="1453019" y="75156"/>
                  </a:lnTo>
                  <a:lnTo>
                    <a:pt x="1369513" y="112735"/>
                  </a:lnTo>
                  <a:lnTo>
                    <a:pt x="1311058" y="112735"/>
                  </a:lnTo>
                  <a:lnTo>
                    <a:pt x="1198324" y="83507"/>
                  </a:lnTo>
                  <a:lnTo>
                    <a:pt x="1093940" y="58455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C2EAD6FE-B2CA-80B7-63AA-42E5EDC163DD}"/>
                </a:ext>
              </a:extLst>
            </p:cNvPr>
            <p:cNvSpPr txBox="1">
              <a:spLocks/>
            </p:cNvSpPr>
            <p:nvPr/>
          </p:nvSpPr>
          <p:spPr>
            <a:xfrm>
              <a:off x="3963836" y="5873337"/>
              <a:ext cx="2324621" cy="877039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Laptop ~50 mikroprocessorer</a:t>
              </a:r>
            </a:p>
            <a:p>
              <a:r>
                <a:rPr lang="en-US" sz="700">
                  <a:solidFill>
                    <a:srgbClr val="92D050"/>
                  </a:solidFill>
                </a:rPr>
                <a:t>A </a:t>
              </a:r>
              <a:r>
                <a:rPr lang="en-US" sz="700" b="1">
                  <a:solidFill>
                    <a:srgbClr val="92D050"/>
                  </a:solidFill>
                </a:rPr>
                <a:t>modern laptop</a:t>
              </a:r>
              <a:r>
                <a:rPr lang="en-US" sz="700">
                  <a:solidFill>
                    <a:srgbClr val="92D050"/>
                  </a:solidFill>
                </a:rPr>
                <a:t> typically contains </a:t>
              </a:r>
              <a:r>
                <a:rPr lang="en-US" sz="700" b="1">
                  <a:solidFill>
                    <a:srgbClr val="92D050"/>
                  </a:solidFill>
                </a:rPr>
                <a:t>dozens of microprocessors</a:t>
              </a:r>
              <a:r>
                <a:rPr lang="en-US" sz="700">
                  <a:solidFill>
                    <a:srgbClr val="92D050"/>
                  </a:solidFill>
                </a:rPr>
                <a:t> (often between </a:t>
              </a:r>
              <a:r>
                <a:rPr lang="en-US" sz="700" b="1">
                  <a:solidFill>
                    <a:srgbClr val="92D050"/>
                  </a:solidFill>
                </a:rPr>
                <a:t>30 and 100</a:t>
              </a:r>
              <a:r>
                <a:rPr lang="en-US" sz="700">
                  <a:solidFill>
                    <a:srgbClr val="92D050"/>
                  </a:solidFill>
                </a:rPr>
                <a:t>), most of which are </a:t>
              </a:r>
              <a:r>
                <a:rPr lang="en-US" sz="700" b="1">
                  <a:solidFill>
                    <a:srgbClr val="92D050"/>
                  </a:solidFill>
                </a:rPr>
                <a:t>microcontrollers (MCUs)</a:t>
              </a:r>
              <a:r>
                <a:rPr lang="en-US" sz="700">
                  <a:solidFill>
                    <a:srgbClr val="92D050"/>
                  </a:solidFill>
                </a:rPr>
                <a:t> embedded in subsystems such as power management, battery control, keyboard and touchpad controllers, storage devices, display interfaces, networking hardware, cameras, and security modules.</a:t>
              </a:r>
              <a:endParaRPr lang="LID4096" sz="700" i="1">
                <a:solidFill>
                  <a:srgbClr val="92D05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957E667-9A04-1475-11E1-E2066765B514}"/>
              </a:ext>
            </a:extLst>
          </p:cNvPr>
          <p:cNvGrpSpPr/>
          <p:nvPr/>
        </p:nvGrpSpPr>
        <p:grpSpPr>
          <a:xfrm>
            <a:off x="6721258" y="5123145"/>
            <a:ext cx="1850721" cy="1057406"/>
            <a:chOff x="6721258" y="5123145"/>
            <a:chExt cx="1850721" cy="105740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4FF0ACA-F8F8-0747-901C-01E63A276D2E}"/>
                </a:ext>
              </a:extLst>
            </p:cNvPr>
            <p:cNvSpPr/>
            <p:nvPr/>
          </p:nvSpPr>
          <p:spPr>
            <a:xfrm>
              <a:off x="6972822" y="5123145"/>
              <a:ext cx="530268" cy="488515"/>
            </a:xfrm>
            <a:custGeom>
              <a:avLst/>
              <a:gdLst>
                <a:gd name="csX0" fmla="*/ 471814 w 530268"/>
                <a:gd name="csY0" fmla="*/ 4176 h 488515"/>
                <a:gd name="csX1" fmla="*/ 125260 w 530268"/>
                <a:gd name="csY1" fmla="*/ 0 h 488515"/>
                <a:gd name="csX2" fmla="*/ 75156 w 530268"/>
                <a:gd name="csY2" fmla="*/ 37578 h 488515"/>
                <a:gd name="csX3" fmla="*/ 0 w 530268"/>
                <a:gd name="csY3" fmla="*/ 434236 h 488515"/>
                <a:gd name="csX4" fmla="*/ 37578 w 530268"/>
                <a:gd name="csY4" fmla="*/ 475989 h 488515"/>
                <a:gd name="csX5" fmla="*/ 471814 w 530268"/>
                <a:gd name="csY5" fmla="*/ 488515 h 488515"/>
                <a:gd name="csX6" fmla="*/ 517742 w 530268"/>
                <a:gd name="csY6" fmla="*/ 450937 h 488515"/>
                <a:gd name="csX7" fmla="*/ 530268 w 530268"/>
                <a:gd name="csY7" fmla="*/ 33403 h 488515"/>
                <a:gd name="csX8" fmla="*/ 471814 w 530268"/>
                <a:gd name="csY8" fmla="*/ 4176 h 488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30268" h="488515">
                  <a:moveTo>
                    <a:pt x="471814" y="4176"/>
                  </a:moveTo>
                  <a:lnTo>
                    <a:pt x="125260" y="0"/>
                  </a:lnTo>
                  <a:lnTo>
                    <a:pt x="75156" y="37578"/>
                  </a:lnTo>
                  <a:lnTo>
                    <a:pt x="0" y="434236"/>
                  </a:lnTo>
                  <a:lnTo>
                    <a:pt x="37578" y="475989"/>
                  </a:lnTo>
                  <a:lnTo>
                    <a:pt x="471814" y="488515"/>
                  </a:lnTo>
                  <a:lnTo>
                    <a:pt x="517742" y="450937"/>
                  </a:lnTo>
                  <a:lnTo>
                    <a:pt x="530268" y="33403"/>
                  </a:lnTo>
                  <a:lnTo>
                    <a:pt x="471814" y="4176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4890F5E8-2EC0-1C2D-F1A1-0B553A531513}"/>
                </a:ext>
              </a:extLst>
            </p:cNvPr>
            <p:cNvSpPr txBox="1">
              <a:spLocks/>
            </p:cNvSpPr>
            <p:nvPr/>
          </p:nvSpPr>
          <p:spPr>
            <a:xfrm>
              <a:off x="6721258" y="5769279"/>
              <a:ext cx="1850721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Telefon ~30 mikroprocessorer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power management, battery charging, touch sensing, cameras, audio, wifi,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99DB77-1721-E3FB-F01B-67F5F372C03E}"/>
              </a:ext>
            </a:extLst>
          </p:cNvPr>
          <p:cNvGrpSpPr/>
          <p:nvPr/>
        </p:nvGrpSpPr>
        <p:grpSpPr>
          <a:xfrm>
            <a:off x="5373666" y="4050082"/>
            <a:ext cx="2192055" cy="964504"/>
            <a:chOff x="5373666" y="4050082"/>
            <a:chExt cx="2192055" cy="96450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F17F45E-6684-31E5-5B76-3D6C77338880}"/>
                </a:ext>
              </a:extLst>
            </p:cNvPr>
            <p:cNvSpPr/>
            <p:nvPr/>
          </p:nvSpPr>
          <p:spPr>
            <a:xfrm>
              <a:off x="5373666" y="4521896"/>
              <a:ext cx="1035485" cy="492690"/>
            </a:xfrm>
            <a:custGeom>
              <a:avLst/>
              <a:gdLst>
                <a:gd name="csX0" fmla="*/ 835068 w 1035485"/>
                <a:gd name="csY0" fmla="*/ 492690 h 492690"/>
                <a:gd name="csX1" fmla="*/ 935276 w 1035485"/>
                <a:gd name="csY1" fmla="*/ 475989 h 492690"/>
                <a:gd name="csX2" fmla="*/ 989556 w 1035485"/>
                <a:gd name="csY2" fmla="*/ 430060 h 492690"/>
                <a:gd name="csX3" fmla="*/ 1035485 w 1035485"/>
                <a:gd name="csY3" fmla="*/ 292274 h 492690"/>
                <a:gd name="csX4" fmla="*/ 1006257 w 1035485"/>
                <a:gd name="csY4" fmla="*/ 146137 h 492690"/>
                <a:gd name="csX5" fmla="*/ 910224 w 1035485"/>
                <a:gd name="csY5" fmla="*/ 66805 h 492690"/>
                <a:gd name="csX6" fmla="*/ 810016 w 1035485"/>
                <a:gd name="csY6" fmla="*/ 45929 h 492690"/>
                <a:gd name="csX7" fmla="*/ 739035 w 1035485"/>
                <a:gd name="csY7" fmla="*/ 91857 h 492690"/>
                <a:gd name="csX8" fmla="*/ 676405 w 1035485"/>
                <a:gd name="csY8" fmla="*/ 217118 h 492690"/>
                <a:gd name="csX9" fmla="*/ 534444 w 1035485"/>
                <a:gd name="csY9" fmla="*/ 179540 h 492690"/>
                <a:gd name="csX10" fmla="*/ 526093 w 1035485"/>
                <a:gd name="csY10" fmla="*/ 79331 h 492690"/>
                <a:gd name="csX11" fmla="*/ 409183 w 1035485"/>
                <a:gd name="csY11" fmla="*/ 4175 h 492690"/>
                <a:gd name="csX12" fmla="*/ 229644 w 1035485"/>
                <a:gd name="csY12" fmla="*/ 0 h 492690"/>
                <a:gd name="csX13" fmla="*/ 121085 w 1035485"/>
                <a:gd name="csY13" fmla="*/ 70981 h 492690"/>
                <a:gd name="csX14" fmla="*/ 37578 w 1035485"/>
                <a:gd name="csY14" fmla="*/ 70981 h 492690"/>
                <a:gd name="csX15" fmla="*/ 0 w 1035485"/>
                <a:gd name="csY15" fmla="*/ 229644 h 492690"/>
                <a:gd name="csX16" fmla="*/ 70981 w 1035485"/>
                <a:gd name="csY16" fmla="*/ 275572 h 492690"/>
                <a:gd name="csX17" fmla="*/ 137786 w 1035485"/>
                <a:gd name="csY17" fmla="*/ 409183 h 492690"/>
                <a:gd name="csX18" fmla="*/ 379956 w 1035485"/>
                <a:gd name="csY18" fmla="*/ 475989 h 492690"/>
                <a:gd name="csX19" fmla="*/ 450937 w 1035485"/>
                <a:gd name="csY19" fmla="*/ 438411 h 492690"/>
                <a:gd name="csX20" fmla="*/ 492690 w 1035485"/>
                <a:gd name="csY20" fmla="*/ 409183 h 492690"/>
                <a:gd name="csX21" fmla="*/ 526093 w 1035485"/>
                <a:gd name="csY21" fmla="*/ 321501 h 492690"/>
                <a:gd name="csX22" fmla="*/ 835068 w 1035485"/>
                <a:gd name="csY22" fmla="*/ 492690 h 492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035485" h="492690">
                  <a:moveTo>
                    <a:pt x="835068" y="492690"/>
                  </a:moveTo>
                  <a:lnTo>
                    <a:pt x="935276" y="475989"/>
                  </a:lnTo>
                  <a:lnTo>
                    <a:pt x="989556" y="430060"/>
                  </a:lnTo>
                  <a:lnTo>
                    <a:pt x="1035485" y="292274"/>
                  </a:lnTo>
                  <a:lnTo>
                    <a:pt x="1006257" y="146137"/>
                  </a:lnTo>
                  <a:lnTo>
                    <a:pt x="910224" y="66805"/>
                  </a:lnTo>
                  <a:lnTo>
                    <a:pt x="810016" y="45929"/>
                  </a:lnTo>
                  <a:lnTo>
                    <a:pt x="739035" y="91857"/>
                  </a:lnTo>
                  <a:lnTo>
                    <a:pt x="676405" y="217118"/>
                  </a:lnTo>
                  <a:lnTo>
                    <a:pt x="534444" y="179540"/>
                  </a:lnTo>
                  <a:lnTo>
                    <a:pt x="526093" y="79331"/>
                  </a:lnTo>
                  <a:lnTo>
                    <a:pt x="409183" y="4175"/>
                  </a:lnTo>
                  <a:lnTo>
                    <a:pt x="229644" y="0"/>
                  </a:lnTo>
                  <a:lnTo>
                    <a:pt x="121085" y="70981"/>
                  </a:lnTo>
                  <a:lnTo>
                    <a:pt x="37578" y="70981"/>
                  </a:lnTo>
                  <a:lnTo>
                    <a:pt x="0" y="229644"/>
                  </a:lnTo>
                  <a:lnTo>
                    <a:pt x="70981" y="275572"/>
                  </a:lnTo>
                  <a:lnTo>
                    <a:pt x="137786" y="409183"/>
                  </a:lnTo>
                  <a:lnTo>
                    <a:pt x="379956" y="475989"/>
                  </a:lnTo>
                  <a:lnTo>
                    <a:pt x="450937" y="438411"/>
                  </a:lnTo>
                  <a:lnTo>
                    <a:pt x="492690" y="409183"/>
                  </a:lnTo>
                  <a:lnTo>
                    <a:pt x="526093" y="321501"/>
                  </a:lnTo>
                  <a:lnTo>
                    <a:pt x="835068" y="492690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itle 1">
              <a:extLst>
                <a:ext uri="{FF2B5EF4-FFF2-40B4-BE49-F238E27FC236}">
                  <a16:creationId xmlns:a16="http://schemas.microsoft.com/office/drawing/2014/main" id="{9C14883C-8211-F231-F79E-DA401827E9C1}"/>
                </a:ext>
              </a:extLst>
            </p:cNvPr>
            <p:cNvSpPr txBox="1">
              <a:spLocks/>
            </p:cNvSpPr>
            <p:nvPr/>
          </p:nvSpPr>
          <p:spPr>
            <a:xfrm>
              <a:off x="5891408" y="4050082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Bluetoothlurar ~10? 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power management, battery charging, audio, Bluetooth,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0C8427C-B9BC-E600-381A-4D5E1E33D545}"/>
              </a:ext>
            </a:extLst>
          </p:cNvPr>
          <p:cNvGrpSpPr/>
          <p:nvPr/>
        </p:nvGrpSpPr>
        <p:grpSpPr>
          <a:xfrm>
            <a:off x="0" y="9525"/>
            <a:ext cx="3829050" cy="6848475"/>
            <a:chOff x="0" y="9525"/>
            <a:chExt cx="3829050" cy="6848475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721334D-6498-F606-E8CC-B85E8BBE0282}"/>
                </a:ext>
              </a:extLst>
            </p:cNvPr>
            <p:cNvSpPr/>
            <p:nvPr/>
          </p:nvSpPr>
          <p:spPr>
            <a:xfrm>
              <a:off x="0" y="9525"/>
              <a:ext cx="3829050" cy="6848475"/>
            </a:xfrm>
            <a:custGeom>
              <a:avLst/>
              <a:gdLst>
                <a:gd name="csX0" fmla="*/ 3805238 w 3829050"/>
                <a:gd name="csY0" fmla="*/ 6786563 h 6848475"/>
                <a:gd name="csX1" fmla="*/ 3381375 w 3829050"/>
                <a:gd name="csY1" fmla="*/ 4405313 h 6848475"/>
                <a:gd name="csX2" fmla="*/ 3167063 w 3829050"/>
                <a:gd name="csY2" fmla="*/ 3038475 h 6848475"/>
                <a:gd name="csX3" fmla="*/ 2838450 w 3829050"/>
                <a:gd name="csY3" fmla="*/ 700088 h 6848475"/>
                <a:gd name="csX4" fmla="*/ 2743200 w 3829050"/>
                <a:gd name="csY4" fmla="*/ 4763 h 6848475"/>
                <a:gd name="csX5" fmla="*/ 0 w 3829050"/>
                <a:gd name="csY5" fmla="*/ 0 h 6848475"/>
                <a:gd name="csX6" fmla="*/ 19050 w 3829050"/>
                <a:gd name="csY6" fmla="*/ 6843713 h 6848475"/>
                <a:gd name="csX7" fmla="*/ 3829050 w 3829050"/>
                <a:gd name="csY7" fmla="*/ 6848475 h 6848475"/>
                <a:gd name="csX8" fmla="*/ 3805238 w 3829050"/>
                <a:gd name="csY8" fmla="*/ 6786563 h 6848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29050" h="6848475">
                  <a:moveTo>
                    <a:pt x="3805238" y="6786563"/>
                  </a:moveTo>
                  <a:lnTo>
                    <a:pt x="3381375" y="4405313"/>
                  </a:lnTo>
                  <a:lnTo>
                    <a:pt x="3167063" y="3038475"/>
                  </a:lnTo>
                  <a:lnTo>
                    <a:pt x="2838450" y="700088"/>
                  </a:lnTo>
                  <a:lnTo>
                    <a:pt x="2743200" y="4763"/>
                  </a:lnTo>
                  <a:lnTo>
                    <a:pt x="0" y="0"/>
                  </a:lnTo>
                  <a:lnTo>
                    <a:pt x="19050" y="6843713"/>
                  </a:lnTo>
                  <a:lnTo>
                    <a:pt x="3829050" y="6848475"/>
                  </a:lnTo>
                  <a:lnTo>
                    <a:pt x="3805238" y="6786563"/>
                  </a:lnTo>
                  <a:close/>
                </a:path>
              </a:pathLst>
            </a:custGeom>
            <a:noFill/>
            <a:ln w="38100"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Title 1">
              <a:extLst>
                <a:ext uri="{FF2B5EF4-FFF2-40B4-BE49-F238E27FC236}">
                  <a16:creationId xmlns:a16="http://schemas.microsoft.com/office/drawing/2014/main" id="{FEDB4403-08E9-1DEA-8A5B-ECBCBD704AF3}"/>
                </a:ext>
              </a:extLst>
            </p:cNvPr>
            <p:cNvSpPr txBox="1">
              <a:spLocks/>
            </p:cNvSpPr>
            <p:nvPr/>
          </p:nvSpPr>
          <p:spPr>
            <a:xfrm>
              <a:off x="614558" y="3297607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Frys/Kyl, 20?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700" b="1">
                  <a:solidFill>
                    <a:srgbClr val="92D050"/>
                  </a:solidFill>
                </a:rPr>
                <a:t>temperature control, inverter drive, frost cycles, valve actuation, ...</a:t>
              </a:r>
              <a:endParaRPr lang="en-US" sz="1000" b="1">
                <a:solidFill>
                  <a:srgbClr val="92D050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730397-7717-A3C4-3862-A53B564A83A7}"/>
              </a:ext>
            </a:extLst>
          </p:cNvPr>
          <p:cNvGrpSpPr/>
          <p:nvPr/>
        </p:nvGrpSpPr>
        <p:grpSpPr>
          <a:xfrm>
            <a:off x="9129713" y="4267200"/>
            <a:ext cx="2093608" cy="2391623"/>
            <a:chOff x="9129713" y="4267200"/>
            <a:chExt cx="2093608" cy="2391623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908F4C6-76B9-ACC8-39EB-0EECFF9A7D62}"/>
                </a:ext>
              </a:extLst>
            </p:cNvPr>
            <p:cNvSpPr/>
            <p:nvPr/>
          </p:nvSpPr>
          <p:spPr>
            <a:xfrm>
              <a:off x="9129713" y="4267200"/>
              <a:ext cx="2014537" cy="1809750"/>
            </a:xfrm>
            <a:custGeom>
              <a:avLst/>
              <a:gdLst>
                <a:gd name="csX0" fmla="*/ 4762 w 2014537"/>
                <a:gd name="csY0" fmla="*/ 1104900 h 1809750"/>
                <a:gd name="csX1" fmla="*/ 114300 w 2014537"/>
                <a:gd name="csY1" fmla="*/ 1252538 h 1809750"/>
                <a:gd name="csX2" fmla="*/ 442912 w 2014537"/>
                <a:gd name="csY2" fmla="*/ 1495425 h 1809750"/>
                <a:gd name="csX3" fmla="*/ 838200 w 2014537"/>
                <a:gd name="csY3" fmla="*/ 1666875 h 1809750"/>
                <a:gd name="csX4" fmla="*/ 1004887 w 2014537"/>
                <a:gd name="csY4" fmla="*/ 1747838 h 1809750"/>
                <a:gd name="csX5" fmla="*/ 1033462 w 2014537"/>
                <a:gd name="csY5" fmla="*/ 1785938 h 1809750"/>
                <a:gd name="csX6" fmla="*/ 1081087 w 2014537"/>
                <a:gd name="csY6" fmla="*/ 1809750 h 1809750"/>
                <a:gd name="csX7" fmla="*/ 1138237 w 2014537"/>
                <a:gd name="csY7" fmla="*/ 1757363 h 1809750"/>
                <a:gd name="csX8" fmla="*/ 1319212 w 2014537"/>
                <a:gd name="csY8" fmla="*/ 1776413 h 1809750"/>
                <a:gd name="csX9" fmla="*/ 1600200 w 2014537"/>
                <a:gd name="csY9" fmla="*/ 1709738 h 1809750"/>
                <a:gd name="csX10" fmla="*/ 1800225 w 2014537"/>
                <a:gd name="csY10" fmla="*/ 1604963 h 1809750"/>
                <a:gd name="csX11" fmla="*/ 1876425 w 2014537"/>
                <a:gd name="csY11" fmla="*/ 1495425 h 1809750"/>
                <a:gd name="csX12" fmla="*/ 1833562 w 2014537"/>
                <a:gd name="csY12" fmla="*/ 1457325 h 1809750"/>
                <a:gd name="csX13" fmla="*/ 1833562 w 2014537"/>
                <a:gd name="csY13" fmla="*/ 1414463 h 1809750"/>
                <a:gd name="csX14" fmla="*/ 1900237 w 2014537"/>
                <a:gd name="csY14" fmla="*/ 1376363 h 1809750"/>
                <a:gd name="csX15" fmla="*/ 1890712 w 2014537"/>
                <a:gd name="csY15" fmla="*/ 1300163 h 1809750"/>
                <a:gd name="csX16" fmla="*/ 1857375 w 2014537"/>
                <a:gd name="csY16" fmla="*/ 1276350 h 1809750"/>
                <a:gd name="csX17" fmla="*/ 1881187 w 2014537"/>
                <a:gd name="csY17" fmla="*/ 795338 h 1809750"/>
                <a:gd name="csX18" fmla="*/ 1919287 w 2014537"/>
                <a:gd name="csY18" fmla="*/ 823913 h 1809750"/>
                <a:gd name="csX19" fmla="*/ 1995487 w 2014537"/>
                <a:gd name="csY19" fmla="*/ 823913 h 1809750"/>
                <a:gd name="csX20" fmla="*/ 2014537 w 2014537"/>
                <a:gd name="csY20" fmla="*/ 766763 h 1809750"/>
                <a:gd name="csX21" fmla="*/ 1966912 w 2014537"/>
                <a:gd name="csY21" fmla="*/ 714375 h 1809750"/>
                <a:gd name="csX22" fmla="*/ 1924050 w 2014537"/>
                <a:gd name="csY22" fmla="*/ 714375 h 1809750"/>
                <a:gd name="csX23" fmla="*/ 1876425 w 2014537"/>
                <a:gd name="csY23" fmla="*/ 690563 h 1809750"/>
                <a:gd name="csX24" fmla="*/ 1862137 w 2014537"/>
                <a:gd name="csY24" fmla="*/ 523875 h 1809750"/>
                <a:gd name="csX25" fmla="*/ 1747837 w 2014537"/>
                <a:gd name="csY25" fmla="*/ 376238 h 1809750"/>
                <a:gd name="csX26" fmla="*/ 1609725 w 2014537"/>
                <a:gd name="csY26" fmla="*/ 290513 h 1809750"/>
                <a:gd name="csX27" fmla="*/ 804862 w 2014537"/>
                <a:gd name="csY27" fmla="*/ 4763 h 1809750"/>
                <a:gd name="csX28" fmla="*/ 661987 w 2014537"/>
                <a:gd name="csY28" fmla="*/ 0 h 1809750"/>
                <a:gd name="csX29" fmla="*/ 466725 w 2014537"/>
                <a:gd name="csY29" fmla="*/ 28575 h 1809750"/>
                <a:gd name="csX30" fmla="*/ 290512 w 2014537"/>
                <a:gd name="csY30" fmla="*/ 66675 h 1809750"/>
                <a:gd name="csX31" fmla="*/ 185737 w 2014537"/>
                <a:gd name="csY31" fmla="*/ 157163 h 1809750"/>
                <a:gd name="csX32" fmla="*/ 100012 w 2014537"/>
                <a:gd name="csY32" fmla="*/ 276225 h 1809750"/>
                <a:gd name="csX33" fmla="*/ 52387 w 2014537"/>
                <a:gd name="csY33" fmla="*/ 533400 h 1809750"/>
                <a:gd name="csX34" fmla="*/ 14287 w 2014537"/>
                <a:gd name="csY34" fmla="*/ 857250 h 1809750"/>
                <a:gd name="csX35" fmla="*/ 0 w 2014537"/>
                <a:gd name="csY35" fmla="*/ 909638 h 1809750"/>
                <a:gd name="csX36" fmla="*/ 4762 w 2014537"/>
                <a:gd name="csY36" fmla="*/ 1104900 h 1809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2014537" h="1809750">
                  <a:moveTo>
                    <a:pt x="4762" y="1104900"/>
                  </a:moveTo>
                  <a:lnTo>
                    <a:pt x="114300" y="1252538"/>
                  </a:lnTo>
                  <a:lnTo>
                    <a:pt x="442912" y="1495425"/>
                  </a:lnTo>
                  <a:lnTo>
                    <a:pt x="838200" y="1666875"/>
                  </a:lnTo>
                  <a:lnTo>
                    <a:pt x="1004887" y="1747838"/>
                  </a:lnTo>
                  <a:lnTo>
                    <a:pt x="1033462" y="1785938"/>
                  </a:lnTo>
                  <a:lnTo>
                    <a:pt x="1081087" y="1809750"/>
                  </a:lnTo>
                  <a:lnTo>
                    <a:pt x="1138237" y="1757363"/>
                  </a:lnTo>
                  <a:lnTo>
                    <a:pt x="1319212" y="1776413"/>
                  </a:lnTo>
                  <a:lnTo>
                    <a:pt x="1600200" y="1709738"/>
                  </a:lnTo>
                  <a:lnTo>
                    <a:pt x="1800225" y="1604963"/>
                  </a:lnTo>
                  <a:lnTo>
                    <a:pt x="1876425" y="1495425"/>
                  </a:lnTo>
                  <a:lnTo>
                    <a:pt x="1833562" y="1457325"/>
                  </a:lnTo>
                  <a:lnTo>
                    <a:pt x="1833562" y="1414463"/>
                  </a:lnTo>
                  <a:lnTo>
                    <a:pt x="1900237" y="1376363"/>
                  </a:lnTo>
                  <a:lnTo>
                    <a:pt x="1890712" y="1300163"/>
                  </a:lnTo>
                  <a:lnTo>
                    <a:pt x="1857375" y="1276350"/>
                  </a:lnTo>
                  <a:lnTo>
                    <a:pt x="1881187" y="795338"/>
                  </a:lnTo>
                  <a:lnTo>
                    <a:pt x="1919287" y="823913"/>
                  </a:lnTo>
                  <a:lnTo>
                    <a:pt x="1995487" y="823913"/>
                  </a:lnTo>
                  <a:lnTo>
                    <a:pt x="2014537" y="766763"/>
                  </a:lnTo>
                  <a:lnTo>
                    <a:pt x="1966912" y="714375"/>
                  </a:lnTo>
                  <a:lnTo>
                    <a:pt x="1924050" y="714375"/>
                  </a:lnTo>
                  <a:lnTo>
                    <a:pt x="1876425" y="690563"/>
                  </a:lnTo>
                  <a:lnTo>
                    <a:pt x="1862137" y="523875"/>
                  </a:lnTo>
                  <a:lnTo>
                    <a:pt x="1747837" y="376238"/>
                  </a:lnTo>
                  <a:lnTo>
                    <a:pt x="1609725" y="290513"/>
                  </a:lnTo>
                  <a:lnTo>
                    <a:pt x="804862" y="4763"/>
                  </a:lnTo>
                  <a:lnTo>
                    <a:pt x="661987" y="0"/>
                  </a:lnTo>
                  <a:lnTo>
                    <a:pt x="466725" y="28575"/>
                  </a:lnTo>
                  <a:lnTo>
                    <a:pt x="290512" y="66675"/>
                  </a:lnTo>
                  <a:lnTo>
                    <a:pt x="185737" y="157163"/>
                  </a:lnTo>
                  <a:lnTo>
                    <a:pt x="100012" y="276225"/>
                  </a:lnTo>
                  <a:lnTo>
                    <a:pt x="52387" y="533400"/>
                  </a:lnTo>
                  <a:lnTo>
                    <a:pt x="14287" y="857250"/>
                  </a:lnTo>
                  <a:lnTo>
                    <a:pt x="0" y="909638"/>
                  </a:lnTo>
                  <a:lnTo>
                    <a:pt x="4762" y="1104900"/>
                  </a:lnTo>
                  <a:close/>
                </a:path>
              </a:pathLst>
            </a:custGeom>
            <a:noFill/>
            <a:ln>
              <a:solidFill>
                <a:schemeClr val="accent3">
                  <a:lumMod val="60000"/>
                  <a:lumOff val="40000"/>
                </a:schemeClr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itle 1">
              <a:extLst>
                <a:ext uri="{FF2B5EF4-FFF2-40B4-BE49-F238E27FC236}">
                  <a16:creationId xmlns:a16="http://schemas.microsoft.com/office/drawing/2014/main" id="{745A5137-C0E2-5CE2-9FB4-D90E1A38F737}"/>
                </a:ext>
              </a:extLst>
            </p:cNvPr>
            <p:cNvSpPr txBox="1">
              <a:spLocks/>
            </p:cNvSpPr>
            <p:nvPr/>
          </p:nvSpPr>
          <p:spPr>
            <a:xfrm>
              <a:off x="9549008" y="6247551"/>
              <a:ext cx="1674313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Brödrost!? Åtminstone en (timing)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EF81A7-7FCA-347D-B9D5-573BD945BF77}"/>
              </a:ext>
            </a:extLst>
          </p:cNvPr>
          <p:cNvGrpSpPr/>
          <p:nvPr/>
        </p:nvGrpSpPr>
        <p:grpSpPr>
          <a:xfrm>
            <a:off x="10438030" y="1837476"/>
            <a:ext cx="1570582" cy="910487"/>
            <a:chOff x="10438030" y="1837476"/>
            <a:chExt cx="1570582" cy="910487"/>
          </a:xfrm>
        </p:grpSpPr>
        <p:sp>
          <p:nvSpPr>
            <p:cNvPr id="21" name="Title 1">
              <a:extLst>
                <a:ext uri="{FF2B5EF4-FFF2-40B4-BE49-F238E27FC236}">
                  <a16:creationId xmlns:a16="http://schemas.microsoft.com/office/drawing/2014/main" id="{31B08F91-9009-1600-9662-E0F9D0BE2B0F}"/>
                </a:ext>
              </a:extLst>
            </p:cNvPr>
            <p:cNvSpPr txBox="1">
              <a:spLocks/>
            </p:cNvSpPr>
            <p:nvPr/>
          </p:nvSpPr>
          <p:spPr>
            <a:xfrm>
              <a:off x="10438030" y="1837476"/>
              <a:ext cx="1570582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rgbClr val="92D050"/>
              </a:solidFill>
            </a:ln>
          </p:spPr>
          <p:txBody>
            <a:bodyPr vert="horz" lIns="91440" tIns="45720" rIns="91440" bIns="45720" rtlCol="0" anchor="ctr">
              <a:normAutofit fontScale="925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USB Laddare: 1-3?</a:t>
              </a:r>
              <a:br>
                <a:rPr lang="en-US" sz="1000" b="1">
                  <a:solidFill>
                    <a:srgbClr val="92D050"/>
                  </a:solidFill>
                </a:rPr>
              </a:br>
              <a:r>
                <a:rPr lang="en-US" sz="600" b="1">
                  <a:solidFill>
                    <a:srgbClr val="92D050"/>
                  </a:solidFill>
                </a:rPr>
                <a:t>manage voltage regulation, current limiting, thermal protection, and fault handling.</a:t>
              </a: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B1E2942-F40E-B860-AB4C-F7CF784F1996}"/>
                </a:ext>
              </a:extLst>
            </p:cNvPr>
            <p:cNvSpPr/>
            <p:nvPr/>
          </p:nvSpPr>
          <p:spPr>
            <a:xfrm>
              <a:off x="11277600" y="2447925"/>
              <a:ext cx="495300" cy="300038"/>
            </a:xfrm>
            <a:custGeom>
              <a:avLst/>
              <a:gdLst>
                <a:gd name="csX0" fmla="*/ 385763 w 495300"/>
                <a:gd name="csY0" fmla="*/ 0 h 300038"/>
                <a:gd name="csX1" fmla="*/ 38100 w 495300"/>
                <a:gd name="csY1" fmla="*/ 28575 h 300038"/>
                <a:gd name="csX2" fmla="*/ 0 w 495300"/>
                <a:gd name="csY2" fmla="*/ 257175 h 300038"/>
                <a:gd name="csX3" fmla="*/ 47625 w 495300"/>
                <a:gd name="csY3" fmla="*/ 300038 h 300038"/>
                <a:gd name="csX4" fmla="*/ 495300 w 495300"/>
                <a:gd name="csY4" fmla="*/ 290513 h 300038"/>
                <a:gd name="csX5" fmla="*/ 490538 w 495300"/>
                <a:gd name="csY5" fmla="*/ 95250 h 300038"/>
                <a:gd name="csX6" fmla="*/ 385763 w 495300"/>
                <a:gd name="csY6" fmla="*/ 0 h 300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5300" h="300038">
                  <a:moveTo>
                    <a:pt x="385763" y="0"/>
                  </a:moveTo>
                  <a:lnTo>
                    <a:pt x="38100" y="28575"/>
                  </a:lnTo>
                  <a:lnTo>
                    <a:pt x="0" y="257175"/>
                  </a:lnTo>
                  <a:lnTo>
                    <a:pt x="47625" y="300038"/>
                  </a:lnTo>
                  <a:lnTo>
                    <a:pt x="495300" y="290513"/>
                  </a:lnTo>
                  <a:lnTo>
                    <a:pt x="490538" y="95250"/>
                  </a:lnTo>
                  <a:lnTo>
                    <a:pt x="385763" y="0"/>
                  </a:lnTo>
                  <a:close/>
                </a:path>
              </a:pathLst>
            </a:custGeom>
            <a:noFill/>
            <a:ln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167F1E-AFA1-8DB4-2AF4-FB6B166C5372}"/>
              </a:ext>
            </a:extLst>
          </p:cNvPr>
          <p:cNvGrpSpPr/>
          <p:nvPr/>
        </p:nvGrpSpPr>
        <p:grpSpPr>
          <a:xfrm>
            <a:off x="6858522" y="1319213"/>
            <a:ext cx="3523728" cy="2133600"/>
            <a:chOff x="6858522" y="1319213"/>
            <a:chExt cx="3523728" cy="2133600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646F7A6-1FE0-EEDF-136B-6015F4BF3872}"/>
                </a:ext>
              </a:extLst>
            </p:cNvPr>
            <p:cNvSpPr/>
            <p:nvPr/>
          </p:nvSpPr>
          <p:spPr>
            <a:xfrm>
              <a:off x="8539163" y="1319213"/>
              <a:ext cx="1843087" cy="2133600"/>
            </a:xfrm>
            <a:custGeom>
              <a:avLst/>
              <a:gdLst>
                <a:gd name="csX0" fmla="*/ 1843087 w 1843087"/>
                <a:gd name="csY0" fmla="*/ 0 h 2133600"/>
                <a:gd name="csX1" fmla="*/ 623887 w 1843087"/>
                <a:gd name="csY1" fmla="*/ 71437 h 2133600"/>
                <a:gd name="csX2" fmla="*/ 328612 w 1843087"/>
                <a:gd name="csY2" fmla="*/ 190500 h 2133600"/>
                <a:gd name="csX3" fmla="*/ 66675 w 1843087"/>
                <a:gd name="csY3" fmla="*/ 685800 h 2133600"/>
                <a:gd name="csX4" fmla="*/ 0 w 1843087"/>
                <a:gd name="csY4" fmla="*/ 1047750 h 2133600"/>
                <a:gd name="csX5" fmla="*/ 233362 w 1843087"/>
                <a:gd name="csY5" fmla="*/ 1452562 h 2133600"/>
                <a:gd name="csX6" fmla="*/ 219075 w 1843087"/>
                <a:gd name="csY6" fmla="*/ 1538287 h 2133600"/>
                <a:gd name="csX7" fmla="*/ 295275 w 1843087"/>
                <a:gd name="csY7" fmla="*/ 1571625 h 2133600"/>
                <a:gd name="csX8" fmla="*/ 285750 w 1843087"/>
                <a:gd name="csY8" fmla="*/ 1743075 h 2133600"/>
                <a:gd name="csX9" fmla="*/ 347662 w 1843087"/>
                <a:gd name="csY9" fmla="*/ 1947862 h 2133600"/>
                <a:gd name="csX10" fmla="*/ 561975 w 1843087"/>
                <a:gd name="csY10" fmla="*/ 2128837 h 2133600"/>
                <a:gd name="csX11" fmla="*/ 819150 w 1843087"/>
                <a:gd name="csY11" fmla="*/ 2133600 h 2133600"/>
                <a:gd name="csX12" fmla="*/ 1052512 w 1843087"/>
                <a:gd name="csY12" fmla="*/ 2052637 h 2133600"/>
                <a:gd name="csX13" fmla="*/ 1162050 w 1843087"/>
                <a:gd name="csY13" fmla="*/ 1962150 h 2133600"/>
                <a:gd name="csX14" fmla="*/ 1243012 w 1843087"/>
                <a:gd name="csY14" fmla="*/ 1838325 h 2133600"/>
                <a:gd name="csX15" fmla="*/ 1728787 w 1843087"/>
                <a:gd name="csY15" fmla="*/ 1819275 h 2133600"/>
                <a:gd name="csX16" fmla="*/ 1843087 w 1843087"/>
                <a:gd name="csY16" fmla="*/ 0 h 2133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843087" h="2133600">
                  <a:moveTo>
                    <a:pt x="1843087" y="0"/>
                  </a:moveTo>
                  <a:lnTo>
                    <a:pt x="623887" y="71437"/>
                  </a:lnTo>
                  <a:lnTo>
                    <a:pt x="328612" y="190500"/>
                  </a:lnTo>
                  <a:lnTo>
                    <a:pt x="66675" y="685800"/>
                  </a:lnTo>
                  <a:lnTo>
                    <a:pt x="0" y="1047750"/>
                  </a:lnTo>
                  <a:lnTo>
                    <a:pt x="233362" y="1452562"/>
                  </a:lnTo>
                  <a:lnTo>
                    <a:pt x="219075" y="1538287"/>
                  </a:lnTo>
                  <a:lnTo>
                    <a:pt x="295275" y="1571625"/>
                  </a:lnTo>
                  <a:lnTo>
                    <a:pt x="285750" y="1743075"/>
                  </a:lnTo>
                  <a:lnTo>
                    <a:pt x="347662" y="1947862"/>
                  </a:lnTo>
                  <a:lnTo>
                    <a:pt x="561975" y="2128837"/>
                  </a:lnTo>
                  <a:lnTo>
                    <a:pt x="819150" y="2133600"/>
                  </a:lnTo>
                  <a:lnTo>
                    <a:pt x="1052512" y="2052637"/>
                  </a:lnTo>
                  <a:lnTo>
                    <a:pt x="1162050" y="1962150"/>
                  </a:lnTo>
                  <a:lnTo>
                    <a:pt x="1243012" y="1838325"/>
                  </a:lnTo>
                  <a:lnTo>
                    <a:pt x="1728787" y="1819275"/>
                  </a:lnTo>
                  <a:lnTo>
                    <a:pt x="1843087" y="0"/>
                  </a:lnTo>
                  <a:close/>
                </a:path>
              </a:pathLst>
            </a:custGeom>
            <a:noFill/>
            <a:ln w="38100">
              <a:solidFill>
                <a:srgbClr val="92D050"/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itle 1">
              <a:extLst>
                <a:ext uri="{FF2B5EF4-FFF2-40B4-BE49-F238E27FC236}">
                  <a16:creationId xmlns:a16="http://schemas.microsoft.com/office/drawing/2014/main" id="{E0170A62-5CBA-4782-8B5D-CCB8BC3A4E9F}"/>
                </a:ext>
              </a:extLst>
            </p:cNvPr>
            <p:cNvSpPr txBox="1">
              <a:spLocks/>
            </p:cNvSpPr>
            <p:nvPr/>
          </p:nvSpPr>
          <p:spPr>
            <a:xfrm>
              <a:off x="6858522" y="1732701"/>
              <a:ext cx="1570582" cy="411272"/>
            </a:xfrm>
            <a:prstGeom prst="rect">
              <a:avLst/>
            </a:prstGeom>
            <a:solidFill>
              <a:schemeClr val="tx1">
                <a:alpha val="51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glow rad="63500">
                <a:schemeClr val="accent6">
                  <a:satMod val="175000"/>
                  <a:alpha val="40000"/>
                </a:schemeClr>
              </a:glo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sz="1000" b="1">
                  <a:solidFill>
                    <a:srgbClr val="92D050"/>
                  </a:solidFill>
                </a:rPr>
                <a:t>Min bil? ~100?</a:t>
              </a:r>
            </a:p>
            <a:p>
              <a:r>
                <a:rPr lang="en-US" sz="600" b="1">
                  <a:solidFill>
                    <a:srgbClr val="92D050"/>
                  </a:solidFill>
                </a:rPr>
                <a:t>allt möjligt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550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014F5-E647-DDA3-01A5-8ABA5796E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”The Maker Community”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29D0-9BBE-5CA3-77EB-76E6D999B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/>
              <a:t>Efter den här kursen kommer ni kunna programmera en mikrokontroller</a:t>
            </a:r>
          </a:p>
          <a:p>
            <a:r>
              <a:rPr lang="sv-SE"/>
              <a:t>Internet är proppfullt av roliga projekt som folk gör med sina mikrokontrollers: </a:t>
            </a:r>
          </a:p>
          <a:p>
            <a:pPr lvl="1"/>
            <a:r>
              <a:rPr lang="en-GB" sz="2000" u="sng">
                <a:hlinkClick r:id="rId4"/>
              </a:rPr>
              <a:t>https://www.seeedstudio.com/blog/2021/03/26/10-raspberry-pi-pico-projects/</a:t>
            </a:r>
            <a:endParaRPr lang="en-GB" sz="2000"/>
          </a:p>
          <a:p>
            <a:pPr lvl="1"/>
            <a:r>
              <a:rPr lang="en-GB" sz="2000" u="sng">
                <a:hlinkClick r:id="rId5"/>
              </a:rPr>
              <a:t>https://projecthub.arduino.cc/</a:t>
            </a:r>
            <a:endParaRPr lang="en-GB" sz="2000"/>
          </a:p>
          <a:p>
            <a:pPr lvl="1"/>
            <a:r>
              <a:rPr lang="en-GB" sz="2000">
                <a:hlinkClick r:id="rId6"/>
              </a:rPr>
              <a:t>https://www.allaboutcircuits.com/projects/category/embedded/microcontroller/</a:t>
            </a:r>
            <a:endParaRPr lang="en-GB" sz="2000"/>
          </a:p>
          <a:p>
            <a:pPr lvl="1"/>
            <a:r>
              <a:rPr lang="en-GB" sz="2000"/>
              <a:t>...</a:t>
            </a:r>
            <a:endParaRPr lang="LID4096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5A08CB-E7DE-9254-E14A-968D1FEEBE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260" y="4601845"/>
            <a:ext cx="3426589" cy="201961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7328BE-32DB-086B-E5C7-700C76D4EB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4676" y="4601844"/>
            <a:ext cx="2378193" cy="201961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9F5125-7131-25DE-B2DE-8B1ED4C93F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6159" y="753606"/>
            <a:ext cx="3431707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E12F10-55C9-7154-75D3-FA9121A391D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54695" y="4601844"/>
            <a:ext cx="3573171" cy="201961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BAB61A-48FF-48FF-9674-CD57B2603C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0283" y="753606"/>
            <a:ext cx="4049155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20231231_163051">
            <a:hlinkClick r:id="" action="ppaction://media"/>
            <a:extLst>
              <a:ext uri="{FF2B5EF4-FFF2-40B4-BE49-F238E27FC236}">
                <a16:creationId xmlns:a16="http://schemas.microsoft.com/office/drawing/2014/main" id="{384A33C5-2CD2-A6A8-B9FB-B148A379BF7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066260" y="753606"/>
            <a:ext cx="6227913" cy="35032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9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36" dur="1901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9013"/>
                            </p:stCondLst>
                            <p:childTnLst>
                              <p:par>
                                <p:cTn id="38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40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B8F9C-8D9F-E247-380B-FA062B500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Vad är en mikrokontroller? 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9AB74-74B3-D465-C702-519C13ED7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66585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50420-2B11-45C9-5967-106491B37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good</a:t>
            </a:r>
            <a:r>
              <a:rPr lang="en-US" dirty="0"/>
              <a:t>, the bad, and the ugly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98BED-5B35-E62E-4159-D60AFC968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1276" y="1690688"/>
            <a:ext cx="4050723" cy="5167312"/>
          </a:xfrm>
        </p:spPr>
        <p:txBody>
          <a:bodyPr/>
          <a:lstStyle/>
          <a:p>
            <a:r>
              <a:rPr lang="en-US" dirty="0"/>
              <a:t>Asking questions from an AI can be very useful.</a:t>
            </a:r>
          </a:p>
          <a:p>
            <a:r>
              <a:rPr lang="en-US" dirty="0"/>
              <a:t>If you don't quite understand the answer, you can ask again, until you do. </a:t>
            </a:r>
          </a:p>
          <a:p>
            <a:r>
              <a:rPr lang="en-US" dirty="0"/>
              <a:t>Being able to use AI to help your own learning is becoming a "required skill"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D4E4B-06D4-BE4C-4545-4679FFA98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8141277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531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CF730-75F7-DB46-5234-D016ACD11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E7448-6E06-2E3A-FBC1-20A0F5E96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good, the </a:t>
            </a:r>
            <a:r>
              <a:rPr lang="en-US" b="1" dirty="0">
                <a:solidFill>
                  <a:srgbClr val="C00000"/>
                </a:solidFill>
              </a:rPr>
              <a:t>bad</a:t>
            </a:r>
            <a:r>
              <a:rPr lang="en-US" dirty="0"/>
              <a:t>, and the ugly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F586E-4BE0-1D3E-4A57-B853039BF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5468" y="1690688"/>
            <a:ext cx="3416531" cy="5167312"/>
          </a:xfrm>
        </p:spPr>
        <p:txBody>
          <a:bodyPr>
            <a:normAutofit/>
          </a:bodyPr>
          <a:lstStyle/>
          <a:p>
            <a:r>
              <a:rPr lang="en-US" dirty="0"/>
              <a:t>It is fully possible to let the AI solve most of the assignments.</a:t>
            </a:r>
          </a:p>
          <a:p>
            <a:r>
              <a:rPr lang="en-US" dirty="0"/>
              <a:t>You learn by writing code and solving problems. </a:t>
            </a:r>
          </a:p>
          <a:p>
            <a:r>
              <a:rPr lang="en-US" dirty="0"/>
              <a:t>The AI might learn from this, but </a:t>
            </a:r>
            <a:r>
              <a:rPr lang="en-US" dirty="0">
                <a:solidFill>
                  <a:srgbClr val="C00000"/>
                </a:solidFill>
              </a:rPr>
              <a:t>you learn nothing!</a:t>
            </a:r>
            <a:endParaRPr lang="LID4096" dirty="0">
              <a:solidFill>
                <a:srgbClr val="C0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794ED0-FBEC-F781-1697-D10AC43BD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8775468" cy="5162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EEF638-1776-3D86-ED53-71478B316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690688"/>
            <a:ext cx="8775468" cy="51622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257964-566B-E5F5-9173-1E632F383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694816"/>
            <a:ext cx="878408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76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EFD14-A4FD-BC16-D367-7613959F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5151B-1A0F-E840-4DD2-F9EC4CC03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AI: The good, the bad, and the </a:t>
            </a:r>
            <a:r>
              <a:rPr lang="en-US" sz="6600" b="1" dirty="0">
                <a:solidFill>
                  <a:srgbClr val="C00000"/>
                </a:solidFill>
                <a:latin typeface="Chiller" panose="04020404031007020602" pitchFamily="82" charset="0"/>
              </a:rPr>
              <a:t>ugly</a:t>
            </a:r>
            <a:endParaRPr lang="LID4096" b="1" dirty="0">
              <a:solidFill>
                <a:srgbClr val="C00000"/>
              </a:solidFill>
              <a:latin typeface="Chiller" panose="040204040310070206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D2612-E51B-C1C6-17A2-CDA6CF248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5760" y="1690688"/>
            <a:ext cx="6746239" cy="5167312"/>
          </a:xfrm>
        </p:spPr>
        <p:txBody>
          <a:bodyPr/>
          <a:lstStyle/>
          <a:p>
            <a:r>
              <a:rPr lang="en-US" dirty="0"/>
              <a:t>Beware that none of the current AIs are especially good at the CH32V307.</a:t>
            </a:r>
          </a:p>
          <a:p>
            <a:r>
              <a:rPr lang="en-US" dirty="0"/>
              <a:t>But they are </a:t>
            </a:r>
            <a:r>
              <a:rPr lang="en-US" b="1" dirty="0"/>
              <a:t>very</a:t>
            </a:r>
            <a:r>
              <a:rPr lang="en-US" dirty="0"/>
              <a:t> convincing. </a:t>
            </a:r>
          </a:p>
          <a:p>
            <a:r>
              <a:rPr lang="en-US" dirty="0"/>
              <a:t>Don't trust them blindly.</a:t>
            </a:r>
            <a:endParaRPr lang="LID4096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1A08AD-8AD1-E2B9-267C-03B7AC42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5445760" cy="5175808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F6365D-09CF-9D71-B0DE-9E6270B8BCCC}"/>
              </a:ext>
            </a:extLst>
          </p:cNvPr>
          <p:cNvSpPr/>
          <p:nvPr/>
        </p:nvSpPr>
        <p:spPr>
          <a:xfrm>
            <a:off x="677333" y="2193494"/>
            <a:ext cx="1259840" cy="1199946"/>
          </a:xfrm>
          <a:custGeom>
            <a:avLst/>
            <a:gdLst>
              <a:gd name="csX0" fmla="*/ 1259840 w 1259840"/>
              <a:gd name="csY0" fmla="*/ 14613 h 1199946"/>
              <a:gd name="csX1" fmla="*/ 1219200 w 1259840"/>
              <a:gd name="csY1" fmla="*/ 1066 h 1199946"/>
              <a:gd name="csX2" fmla="*/ 1151467 w 1259840"/>
              <a:gd name="csY2" fmla="*/ 55253 h 1199946"/>
              <a:gd name="csX3" fmla="*/ 927947 w 1259840"/>
              <a:gd name="csY3" fmla="*/ 211039 h 1199946"/>
              <a:gd name="csX4" fmla="*/ 365760 w 1259840"/>
              <a:gd name="csY4" fmla="*/ 719039 h 1199946"/>
              <a:gd name="csX5" fmla="*/ 189654 w 1259840"/>
              <a:gd name="csY5" fmla="*/ 874826 h 1199946"/>
              <a:gd name="csX6" fmla="*/ 27094 w 1259840"/>
              <a:gd name="csY6" fmla="*/ 1132213 h 1199946"/>
              <a:gd name="csX7" fmla="*/ 0 w 1259840"/>
              <a:gd name="csY7" fmla="*/ 1199946 h 1199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59840" h="1199946" extrusionOk="0">
                <a:moveTo>
                  <a:pt x="1259840" y="14613"/>
                </a:moveTo>
                <a:cubicBezTo>
                  <a:pt x="1244260" y="8843"/>
                  <a:pt x="1229748" y="-2889"/>
                  <a:pt x="1219200" y="1066"/>
                </a:cubicBezTo>
                <a:cubicBezTo>
                  <a:pt x="1193546" y="11517"/>
                  <a:pt x="1171127" y="38465"/>
                  <a:pt x="1151467" y="55253"/>
                </a:cubicBezTo>
                <a:cubicBezTo>
                  <a:pt x="1075228" y="110873"/>
                  <a:pt x="996717" y="177152"/>
                  <a:pt x="927947" y="211039"/>
                </a:cubicBezTo>
                <a:cubicBezTo>
                  <a:pt x="464806" y="497931"/>
                  <a:pt x="881974" y="322000"/>
                  <a:pt x="365760" y="719039"/>
                </a:cubicBezTo>
                <a:cubicBezTo>
                  <a:pt x="324481" y="773035"/>
                  <a:pt x="244681" y="814053"/>
                  <a:pt x="189654" y="874826"/>
                </a:cubicBezTo>
                <a:cubicBezTo>
                  <a:pt x="122995" y="927040"/>
                  <a:pt x="45157" y="1078263"/>
                  <a:pt x="27094" y="1132213"/>
                </a:cubicBezTo>
                <a:cubicBezTo>
                  <a:pt x="16219" y="1153962"/>
                  <a:pt x="0" y="1199946"/>
                  <a:pt x="0" y="1199946"/>
                </a:cubicBezTo>
              </a:path>
            </a:pathLst>
          </a:custGeom>
          <a:noFill/>
          <a:ln w="127000" cap="rnd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1259840 w 1259840"/>
                      <a:gd name="csY0" fmla="*/ 14613 h 1199946"/>
                      <a:gd name="csX1" fmla="*/ 1219200 w 1259840"/>
                      <a:gd name="csY1" fmla="*/ 1066 h 1199946"/>
                      <a:gd name="csX2" fmla="*/ 1151467 w 1259840"/>
                      <a:gd name="csY2" fmla="*/ 55253 h 1199946"/>
                      <a:gd name="csX3" fmla="*/ 927947 w 1259840"/>
                      <a:gd name="csY3" fmla="*/ 211039 h 1199946"/>
                      <a:gd name="csX4" fmla="*/ 365760 w 1259840"/>
                      <a:gd name="csY4" fmla="*/ 719039 h 1199946"/>
                      <a:gd name="csX5" fmla="*/ 189654 w 1259840"/>
                      <a:gd name="csY5" fmla="*/ 874826 h 1199946"/>
                      <a:gd name="csX6" fmla="*/ 27094 w 1259840"/>
                      <a:gd name="csY6" fmla="*/ 1132213 h 1199946"/>
                      <a:gd name="csX7" fmla="*/ 0 w 1259840"/>
                      <a:gd name="csY7" fmla="*/ 1199946 h 11999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1259840" h="1199946">
                        <a:moveTo>
                          <a:pt x="1259840" y="14613"/>
                        </a:moveTo>
                        <a:cubicBezTo>
                          <a:pt x="1246293" y="10097"/>
                          <a:pt x="1232570" y="-3948"/>
                          <a:pt x="1219200" y="1066"/>
                        </a:cubicBezTo>
                        <a:cubicBezTo>
                          <a:pt x="1192127" y="11218"/>
                          <a:pt x="1174921" y="38344"/>
                          <a:pt x="1151467" y="55253"/>
                        </a:cubicBezTo>
                        <a:cubicBezTo>
                          <a:pt x="1077798" y="108363"/>
                          <a:pt x="1000475" y="156380"/>
                          <a:pt x="927947" y="211039"/>
                        </a:cubicBezTo>
                        <a:cubicBezTo>
                          <a:pt x="512580" y="524069"/>
                          <a:pt x="838218" y="301093"/>
                          <a:pt x="365760" y="719039"/>
                        </a:cubicBezTo>
                        <a:cubicBezTo>
                          <a:pt x="307058" y="770968"/>
                          <a:pt x="243035" y="817441"/>
                          <a:pt x="189654" y="874826"/>
                        </a:cubicBezTo>
                        <a:cubicBezTo>
                          <a:pt x="138827" y="929465"/>
                          <a:pt x="61997" y="1062408"/>
                          <a:pt x="27094" y="1132213"/>
                        </a:cubicBezTo>
                        <a:cubicBezTo>
                          <a:pt x="16219" y="1153963"/>
                          <a:pt x="0" y="1199946"/>
                          <a:pt x="0" y="1199946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634609B-EDB2-7411-8B8E-C171106DDEB2}"/>
              </a:ext>
            </a:extLst>
          </p:cNvPr>
          <p:cNvSpPr/>
          <p:nvPr/>
        </p:nvSpPr>
        <p:spPr>
          <a:xfrm>
            <a:off x="1295288" y="2690573"/>
            <a:ext cx="744021" cy="1341997"/>
          </a:xfrm>
          <a:custGeom>
            <a:avLst/>
            <a:gdLst>
              <a:gd name="csX0" fmla="*/ 660 w 744021"/>
              <a:gd name="csY0" fmla="*/ 427597 h 1341997"/>
              <a:gd name="csX1" fmla="*/ 33552 w 744021"/>
              <a:gd name="csY1" fmla="*/ 552587 h 1341997"/>
              <a:gd name="csX2" fmla="*/ 119072 w 744021"/>
              <a:gd name="csY2" fmla="*/ 822302 h 1341997"/>
              <a:gd name="csX3" fmla="*/ 244062 w 744021"/>
              <a:gd name="csY3" fmla="*/ 1322262 h 1341997"/>
              <a:gd name="csX4" fmla="*/ 270375 w 744021"/>
              <a:gd name="csY4" fmla="*/ 1341997 h 1341997"/>
              <a:gd name="csX5" fmla="*/ 316424 w 744021"/>
              <a:gd name="csY5" fmla="*/ 1111752 h 1341997"/>
              <a:gd name="csX6" fmla="*/ 336159 w 744021"/>
              <a:gd name="csY6" fmla="*/ 980184 h 1341997"/>
              <a:gd name="csX7" fmla="*/ 415100 w 744021"/>
              <a:gd name="csY7" fmla="*/ 894664 h 1341997"/>
              <a:gd name="csX8" fmla="*/ 572983 w 744021"/>
              <a:gd name="csY8" fmla="*/ 1045968 h 1341997"/>
              <a:gd name="csX9" fmla="*/ 744021 w 744021"/>
              <a:gd name="csY9" fmla="*/ 1184115 h 1341997"/>
              <a:gd name="csX10" fmla="*/ 697972 w 744021"/>
              <a:gd name="csY10" fmla="*/ 1006498 h 1341997"/>
              <a:gd name="csX11" fmla="*/ 605875 w 744021"/>
              <a:gd name="csY11" fmla="*/ 703890 h 1341997"/>
              <a:gd name="csX12" fmla="*/ 513777 w 744021"/>
              <a:gd name="csY12" fmla="*/ 124990 h 1341997"/>
              <a:gd name="csX13" fmla="*/ 513777 w 744021"/>
              <a:gd name="csY13" fmla="*/ 0 h 13419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44021" h="1341997">
                <a:moveTo>
                  <a:pt x="660" y="427597"/>
                </a:moveTo>
                <a:cubicBezTo>
                  <a:pt x="50751" y="577867"/>
                  <a:pt x="-47699" y="278365"/>
                  <a:pt x="33552" y="552587"/>
                </a:cubicBezTo>
                <a:cubicBezTo>
                  <a:pt x="60346" y="643017"/>
                  <a:pt x="96909" y="730627"/>
                  <a:pt x="119072" y="822302"/>
                </a:cubicBezTo>
                <a:cubicBezTo>
                  <a:pt x="187851" y="1106797"/>
                  <a:pt x="138969" y="1104571"/>
                  <a:pt x="244062" y="1322262"/>
                </a:cubicBezTo>
                <a:cubicBezTo>
                  <a:pt x="248829" y="1332135"/>
                  <a:pt x="261604" y="1335419"/>
                  <a:pt x="270375" y="1341997"/>
                </a:cubicBezTo>
                <a:cubicBezTo>
                  <a:pt x="285725" y="1265249"/>
                  <a:pt x="302423" y="1188758"/>
                  <a:pt x="316424" y="1111752"/>
                </a:cubicBezTo>
                <a:cubicBezTo>
                  <a:pt x="324357" y="1068121"/>
                  <a:pt x="317808" y="1020556"/>
                  <a:pt x="336159" y="980184"/>
                </a:cubicBezTo>
                <a:cubicBezTo>
                  <a:pt x="352212" y="944866"/>
                  <a:pt x="388786" y="923171"/>
                  <a:pt x="415100" y="894664"/>
                </a:cubicBezTo>
                <a:cubicBezTo>
                  <a:pt x="467728" y="945099"/>
                  <a:pt x="518262" y="997813"/>
                  <a:pt x="572983" y="1045968"/>
                </a:cubicBezTo>
                <a:cubicBezTo>
                  <a:pt x="628000" y="1094383"/>
                  <a:pt x="744021" y="1184115"/>
                  <a:pt x="744021" y="1184115"/>
                </a:cubicBezTo>
                <a:cubicBezTo>
                  <a:pt x="728671" y="1124909"/>
                  <a:pt x="714881" y="1065277"/>
                  <a:pt x="697972" y="1006498"/>
                </a:cubicBezTo>
                <a:cubicBezTo>
                  <a:pt x="668823" y="905170"/>
                  <a:pt x="630481" y="806416"/>
                  <a:pt x="605875" y="703890"/>
                </a:cubicBezTo>
                <a:cubicBezTo>
                  <a:pt x="571084" y="558928"/>
                  <a:pt x="526318" y="291164"/>
                  <a:pt x="513777" y="124990"/>
                </a:cubicBezTo>
                <a:cubicBezTo>
                  <a:pt x="510642" y="83445"/>
                  <a:pt x="513777" y="41663"/>
                  <a:pt x="513777" y="0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13D6535-79FF-7E04-289B-AEC149C3E011}"/>
              </a:ext>
            </a:extLst>
          </p:cNvPr>
          <p:cNvSpPr/>
          <p:nvPr/>
        </p:nvSpPr>
        <p:spPr>
          <a:xfrm>
            <a:off x="2091937" y="3111591"/>
            <a:ext cx="677577" cy="698634"/>
          </a:xfrm>
          <a:custGeom>
            <a:avLst/>
            <a:gdLst>
              <a:gd name="csX0" fmla="*/ 0 w 677577"/>
              <a:gd name="csY0" fmla="*/ 52628 h 698634"/>
              <a:gd name="csX1" fmla="*/ 6578 w 677577"/>
              <a:gd name="csY1" fmla="*/ 157882 h 698634"/>
              <a:gd name="csX2" fmla="*/ 78941 w 677577"/>
              <a:gd name="csY2" fmla="*/ 585480 h 698634"/>
              <a:gd name="csX3" fmla="*/ 85519 w 677577"/>
              <a:gd name="csY3" fmla="*/ 664421 h 698634"/>
              <a:gd name="csX4" fmla="*/ 92098 w 677577"/>
              <a:gd name="csY4" fmla="*/ 697313 h 698634"/>
              <a:gd name="csX5" fmla="*/ 78941 w 677577"/>
              <a:gd name="csY5" fmla="*/ 657842 h 698634"/>
              <a:gd name="csX6" fmla="*/ 26313 w 677577"/>
              <a:gd name="csY6" fmla="*/ 401284 h 698634"/>
              <a:gd name="csX7" fmla="*/ 32892 w 677577"/>
              <a:gd name="csY7" fmla="*/ 59206 h 698634"/>
              <a:gd name="csX8" fmla="*/ 72362 w 677577"/>
              <a:gd name="csY8" fmla="*/ 13157 h 698634"/>
              <a:gd name="csX9" fmla="*/ 151303 w 677577"/>
              <a:gd name="csY9" fmla="*/ 0 h 698634"/>
              <a:gd name="csX10" fmla="*/ 572322 w 677577"/>
              <a:gd name="csY10" fmla="*/ 92098 h 698634"/>
              <a:gd name="csX11" fmla="*/ 611792 w 677577"/>
              <a:gd name="csY11" fmla="*/ 138147 h 698634"/>
              <a:gd name="csX12" fmla="*/ 322342 w 677577"/>
              <a:gd name="csY12" fmla="*/ 355235 h 698634"/>
              <a:gd name="csX13" fmla="*/ 276293 w 677577"/>
              <a:gd name="csY13" fmla="*/ 342078 h 698634"/>
              <a:gd name="csX14" fmla="*/ 203931 w 677577"/>
              <a:gd name="csY14" fmla="*/ 328921 h 698634"/>
              <a:gd name="csX15" fmla="*/ 164460 w 677577"/>
              <a:gd name="csY15" fmla="*/ 315764 h 698634"/>
              <a:gd name="csX16" fmla="*/ 453910 w 677577"/>
              <a:gd name="csY16" fmla="*/ 440754 h 698634"/>
              <a:gd name="csX17" fmla="*/ 526273 w 677577"/>
              <a:gd name="csY17" fmla="*/ 467068 h 698634"/>
              <a:gd name="csX18" fmla="*/ 624949 w 677577"/>
              <a:gd name="csY18" fmla="*/ 486803 h 698634"/>
              <a:gd name="csX19" fmla="*/ 677577 w 677577"/>
              <a:gd name="csY19" fmla="*/ 506538 h 698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677577" h="698634">
                <a:moveTo>
                  <a:pt x="0" y="52628"/>
                </a:moveTo>
                <a:cubicBezTo>
                  <a:pt x="2193" y="87713"/>
                  <a:pt x="1966" y="123033"/>
                  <a:pt x="6578" y="157882"/>
                </a:cubicBezTo>
                <a:cubicBezTo>
                  <a:pt x="44957" y="447860"/>
                  <a:pt x="38004" y="408092"/>
                  <a:pt x="78941" y="585480"/>
                </a:cubicBezTo>
                <a:cubicBezTo>
                  <a:pt x="81134" y="611794"/>
                  <a:pt x="82434" y="638197"/>
                  <a:pt x="85519" y="664421"/>
                </a:cubicBezTo>
                <a:cubicBezTo>
                  <a:pt x="86825" y="675526"/>
                  <a:pt x="100004" y="705220"/>
                  <a:pt x="92098" y="697313"/>
                </a:cubicBezTo>
                <a:cubicBezTo>
                  <a:pt x="82292" y="687506"/>
                  <a:pt x="82442" y="671262"/>
                  <a:pt x="78941" y="657842"/>
                </a:cubicBezTo>
                <a:cubicBezTo>
                  <a:pt x="50782" y="549902"/>
                  <a:pt x="47460" y="517592"/>
                  <a:pt x="26313" y="401284"/>
                </a:cubicBezTo>
                <a:cubicBezTo>
                  <a:pt x="23543" y="320943"/>
                  <a:pt x="9805" y="145782"/>
                  <a:pt x="32892" y="59206"/>
                </a:cubicBezTo>
                <a:cubicBezTo>
                  <a:pt x="38101" y="39672"/>
                  <a:pt x="54280" y="22198"/>
                  <a:pt x="72362" y="13157"/>
                </a:cubicBezTo>
                <a:cubicBezTo>
                  <a:pt x="96222" y="1227"/>
                  <a:pt x="124989" y="4386"/>
                  <a:pt x="151303" y="0"/>
                </a:cubicBezTo>
                <a:cubicBezTo>
                  <a:pt x="353253" y="13928"/>
                  <a:pt x="370581" y="-1392"/>
                  <a:pt x="572322" y="92098"/>
                </a:cubicBezTo>
                <a:cubicBezTo>
                  <a:pt x="590665" y="100598"/>
                  <a:pt x="598635" y="122797"/>
                  <a:pt x="611792" y="138147"/>
                </a:cubicBezTo>
                <a:cubicBezTo>
                  <a:pt x="501116" y="312068"/>
                  <a:pt x="550053" y="299846"/>
                  <a:pt x="322342" y="355235"/>
                </a:cubicBezTo>
                <a:cubicBezTo>
                  <a:pt x="306830" y="359008"/>
                  <a:pt x="291877" y="345541"/>
                  <a:pt x="276293" y="342078"/>
                </a:cubicBezTo>
                <a:cubicBezTo>
                  <a:pt x="252361" y="336760"/>
                  <a:pt x="227795" y="334536"/>
                  <a:pt x="203931" y="328921"/>
                </a:cubicBezTo>
                <a:cubicBezTo>
                  <a:pt x="190431" y="325744"/>
                  <a:pt x="151800" y="310100"/>
                  <a:pt x="164460" y="315764"/>
                </a:cubicBezTo>
                <a:cubicBezTo>
                  <a:pt x="260392" y="358681"/>
                  <a:pt x="355143" y="404838"/>
                  <a:pt x="453910" y="440754"/>
                </a:cubicBezTo>
                <a:cubicBezTo>
                  <a:pt x="478031" y="449525"/>
                  <a:pt x="501489" y="460395"/>
                  <a:pt x="526273" y="467068"/>
                </a:cubicBezTo>
                <a:cubicBezTo>
                  <a:pt x="558663" y="475788"/>
                  <a:pt x="592318" y="479034"/>
                  <a:pt x="624949" y="486803"/>
                </a:cubicBezTo>
                <a:cubicBezTo>
                  <a:pt x="653025" y="493488"/>
                  <a:pt x="657689" y="496595"/>
                  <a:pt x="677577" y="506538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2837494-F77B-1ACF-4654-D72CBBD69B42}"/>
              </a:ext>
            </a:extLst>
          </p:cNvPr>
          <p:cNvSpPr/>
          <p:nvPr/>
        </p:nvSpPr>
        <p:spPr>
          <a:xfrm>
            <a:off x="2644524" y="2913672"/>
            <a:ext cx="665983" cy="546575"/>
          </a:xfrm>
          <a:custGeom>
            <a:avLst/>
            <a:gdLst>
              <a:gd name="csX0" fmla="*/ 302607 w 665983"/>
              <a:gd name="csY0" fmla="*/ 20302 h 546575"/>
              <a:gd name="csX1" fmla="*/ 263136 w 665983"/>
              <a:gd name="csY1" fmla="*/ 66351 h 546575"/>
              <a:gd name="csX2" fmla="*/ 230244 w 665983"/>
              <a:gd name="csY2" fmla="*/ 434742 h 546575"/>
              <a:gd name="csX3" fmla="*/ 256558 w 665983"/>
              <a:gd name="csY3" fmla="*/ 493948 h 546575"/>
              <a:gd name="csX4" fmla="*/ 269715 w 665983"/>
              <a:gd name="csY4" fmla="*/ 520262 h 546575"/>
              <a:gd name="csX5" fmla="*/ 368391 w 665983"/>
              <a:gd name="csY5" fmla="*/ 546575 h 546575"/>
              <a:gd name="csX6" fmla="*/ 552587 w 665983"/>
              <a:gd name="csY6" fmla="*/ 513683 h 546575"/>
              <a:gd name="csX7" fmla="*/ 644685 w 665983"/>
              <a:gd name="csY7" fmla="*/ 388693 h 546575"/>
              <a:gd name="csX8" fmla="*/ 559165 w 665983"/>
              <a:gd name="csY8" fmla="*/ 171606 h 546575"/>
              <a:gd name="csX9" fmla="*/ 414440 w 665983"/>
              <a:gd name="csY9" fmla="*/ 105822 h 546575"/>
              <a:gd name="csX10" fmla="*/ 315764 w 665983"/>
              <a:gd name="csY10" fmla="*/ 72929 h 546575"/>
              <a:gd name="csX11" fmla="*/ 256558 w 665983"/>
              <a:gd name="csY11" fmla="*/ 46616 h 546575"/>
              <a:gd name="csX12" fmla="*/ 151303 w 665983"/>
              <a:gd name="csY12" fmla="*/ 7145 h 546575"/>
              <a:gd name="csX13" fmla="*/ 0 w 665983"/>
              <a:gd name="csY13" fmla="*/ 20302 h 546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665983" h="546575">
                <a:moveTo>
                  <a:pt x="302607" y="20302"/>
                </a:moveTo>
                <a:cubicBezTo>
                  <a:pt x="289450" y="35652"/>
                  <a:pt x="274154" y="49400"/>
                  <a:pt x="263136" y="66351"/>
                </a:cubicBezTo>
                <a:cubicBezTo>
                  <a:pt x="175825" y="200676"/>
                  <a:pt x="205414" y="219544"/>
                  <a:pt x="230244" y="434742"/>
                </a:cubicBezTo>
                <a:cubicBezTo>
                  <a:pt x="232719" y="456196"/>
                  <a:pt x="247508" y="474339"/>
                  <a:pt x="256558" y="493948"/>
                </a:cubicBezTo>
                <a:cubicBezTo>
                  <a:pt x="260668" y="502852"/>
                  <a:pt x="261870" y="514378"/>
                  <a:pt x="269715" y="520262"/>
                </a:cubicBezTo>
                <a:cubicBezTo>
                  <a:pt x="282064" y="529524"/>
                  <a:pt x="363141" y="545408"/>
                  <a:pt x="368391" y="546575"/>
                </a:cubicBezTo>
                <a:cubicBezTo>
                  <a:pt x="433684" y="541912"/>
                  <a:pt x="491740" y="544107"/>
                  <a:pt x="552587" y="513683"/>
                </a:cubicBezTo>
                <a:cubicBezTo>
                  <a:pt x="587664" y="496145"/>
                  <a:pt x="632787" y="408027"/>
                  <a:pt x="644685" y="388693"/>
                </a:cubicBezTo>
                <a:cubicBezTo>
                  <a:pt x="674173" y="280571"/>
                  <a:pt x="693303" y="284564"/>
                  <a:pt x="559165" y="171606"/>
                </a:cubicBezTo>
                <a:cubicBezTo>
                  <a:pt x="518631" y="137472"/>
                  <a:pt x="463549" y="125731"/>
                  <a:pt x="414440" y="105822"/>
                </a:cubicBezTo>
                <a:cubicBezTo>
                  <a:pt x="382309" y="92796"/>
                  <a:pt x="348228" y="85103"/>
                  <a:pt x="315764" y="72929"/>
                </a:cubicBezTo>
                <a:cubicBezTo>
                  <a:pt x="295542" y="65346"/>
                  <a:pt x="276610" y="54637"/>
                  <a:pt x="256558" y="46616"/>
                </a:cubicBezTo>
                <a:cubicBezTo>
                  <a:pt x="221767" y="32700"/>
                  <a:pt x="186388" y="20302"/>
                  <a:pt x="151303" y="7145"/>
                </a:cubicBezTo>
                <a:cubicBezTo>
                  <a:pt x="3480" y="13865"/>
                  <a:pt x="40725" y="-20423"/>
                  <a:pt x="0" y="20302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5A43EDA-F8E4-5223-61A5-A6BDC671CAF0}"/>
              </a:ext>
            </a:extLst>
          </p:cNvPr>
          <p:cNvSpPr/>
          <p:nvPr/>
        </p:nvSpPr>
        <p:spPr>
          <a:xfrm>
            <a:off x="3099881" y="2321938"/>
            <a:ext cx="781385" cy="1033055"/>
          </a:xfrm>
          <a:custGeom>
            <a:avLst/>
            <a:gdLst>
              <a:gd name="csX0" fmla="*/ 340631 w 781385"/>
              <a:gd name="csY0" fmla="*/ 1013320 h 1033055"/>
              <a:gd name="csX1" fmla="*/ 301161 w 781385"/>
              <a:gd name="csY1" fmla="*/ 914643 h 1033055"/>
              <a:gd name="csX2" fmla="*/ 5132 w 781385"/>
              <a:gd name="csY2" fmla="*/ 6822 h 1033055"/>
              <a:gd name="csX3" fmla="*/ 18289 w 781385"/>
              <a:gd name="csY3" fmla="*/ 118655 h 1033055"/>
              <a:gd name="csX4" fmla="*/ 110387 w 781385"/>
              <a:gd name="csY4" fmla="*/ 296272 h 1033055"/>
              <a:gd name="csX5" fmla="*/ 353788 w 781385"/>
              <a:gd name="csY5" fmla="*/ 598879 h 1033055"/>
              <a:gd name="csX6" fmla="*/ 781385 w 781385"/>
              <a:gd name="csY6" fmla="*/ 1033055 h 1033055"/>
              <a:gd name="csX7" fmla="*/ 761650 w 781385"/>
              <a:gd name="csY7" fmla="*/ 506781 h 1033055"/>
              <a:gd name="csX8" fmla="*/ 669552 w 781385"/>
              <a:gd name="csY8" fmla="*/ 171282 h 1033055"/>
              <a:gd name="csX9" fmla="*/ 603768 w 781385"/>
              <a:gd name="csY9" fmla="*/ 243 h 1033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781385" h="1033055">
                <a:moveTo>
                  <a:pt x="340631" y="1013320"/>
                </a:moveTo>
                <a:cubicBezTo>
                  <a:pt x="327474" y="980428"/>
                  <a:pt x="312364" y="948251"/>
                  <a:pt x="301161" y="914643"/>
                </a:cubicBezTo>
                <a:cubicBezTo>
                  <a:pt x="200509" y="612687"/>
                  <a:pt x="111713" y="306736"/>
                  <a:pt x="5132" y="6822"/>
                </a:cubicBezTo>
                <a:cubicBezTo>
                  <a:pt x="-7437" y="-28546"/>
                  <a:pt x="5462" y="83380"/>
                  <a:pt x="18289" y="118655"/>
                </a:cubicBezTo>
                <a:cubicBezTo>
                  <a:pt x="41080" y="181331"/>
                  <a:pt x="68588" y="244305"/>
                  <a:pt x="110387" y="296272"/>
                </a:cubicBezTo>
                <a:cubicBezTo>
                  <a:pt x="191521" y="397141"/>
                  <a:pt x="267191" y="502660"/>
                  <a:pt x="353788" y="598879"/>
                </a:cubicBezTo>
                <a:cubicBezTo>
                  <a:pt x="693810" y="976681"/>
                  <a:pt x="602041" y="913490"/>
                  <a:pt x="781385" y="1033055"/>
                </a:cubicBezTo>
                <a:cubicBezTo>
                  <a:pt x="774807" y="857630"/>
                  <a:pt x="784242" y="680869"/>
                  <a:pt x="761650" y="506781"/>
                </a:cubicBezTo>
                <a:cubicBezTo>
                  <a:pt x="746726" y="391775"/>
                  <a:pt x="704061" y="281999"/>
                  <a:pt x="669552" y="171282"/>
                </a:cubicBezTo>
                <a:cubicBezTo>
                  <a:pt x="651375" y="112965"/>
                  <a:pt x="603768" y="243"/>
                  <a:pt x="603768" y="243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3B3A1A-1A6E-E0F9-A16D-CB42D323A3C1}"/>
              </a:ext>
            </a:extLst>
          </p:cNvPr>
          <p:cNvSpPr/>
          <p:nvPr/>
        </p:nvSpPr>
        <p:spPr>
          <a:xfrm>
            <a:off x="3961519" y="2401122"/>
            <a:ext cx="702579" cy="776254"/>
          </a:xfrm>
          <a:custGeom>
            <a:avLst/>
            <a:gdLst>
              <a:gd name="csX0" fmla="*/ 439442 w 702579"/>
              <a:gd name="csY0" fmla="*/ 0 h 776254"/>
              <a:gd name="csX1" fmla="*/ 189462 w 702579"/>
              <a:gd name="csY1" fmla="*/ 131569 h 776254"/>
              <a:gd name="csX2" fmla="*/ 57894 w 702579"/>
              <a:gd name="csY2" fmla="*/ 203931 h 776254"/>
              <a:gd name="csX3" fmla="*/ 25002 w 702579"/>
              <a:gd name="csY3" fmla="*/ 282872 h 776254"/>
              <a:gd name="csX4" fmla="*/ 51316 w 702579"/>
              <a:gd name="csY4" fmla="*/ 657842 h 776254"/>
              <a:gd name="csX5" fmla="*/ 84208 w 702579"/>
              <a:gd name="csY5" fmla="*/ 697313 h 776254"/>
              <a:gd name="csX6" fmla="*/ 202619 w 702579"/>
              <a:gd name="csY6" fmla="*/ 756518 h 776254"/>
              <a:gd name="csX7" fmla="*/ 255246 w 702579"/>
              <a:gd name="csY7" fmla="*/ 776254 h 776254"/>
              <a:gd name="csX8" fmla="*/ 393393 w 702579"/>
              <a:gd name="csY8" fmla="*/ 763097 h 776254"/>
              <a:gd name="csX9" fmla="*/ 531540 w 702579"/>
              <a:gd name="csY9" fmla="*/ 717048 h 776254"/>
              <a:gd name="csX10" fmla="*/ 623638 w 702579"/>
              <a:gd name="csY10" fmla="*/ 710469 h 776254"/>
              <a:gd name="csX11" fmla="*/ 669687 w 702579"/>
              <a:gd name="csY11" fmla="*/ 684156 h 776254"/>
              <a:gd name="csX12" fmla="*/ 702579 w 702579"/>
              <a:gd name="csY12" fmla="*/ 670999 h 7762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02579" h="776254">
                <a:moveTo>
                  <a:pt x="439442" y="0"/>
                </a:moveTo>
                <a:cubicBezTo>
                  <a:pt x="356115" y="43856"/>
                  <a:pt x="276382" y="95352"/>
                  <a:pt x="189462" y="131569"/>
                </a:cubicBezTo>
                <a:cubicBezTo>
                  <a:pt x="90280" y="172895"/>
                  <a:pt x="133326" y="147357"/>
                  <a:pt x="57894" y="203931"/>
                </a:cubicBezTo>
                <a:cubicBezTo>
                  <a:pt x="46930" y="230245"/>
                  <a:pt x="24474" y="254370"/>
                  <a:pt x="25002" y="282872"/>
                </a:cubicBezTo>
                <a:cubicBezTo>
                  <a:pt x="34867" y="815633"/>
                  <a:pt x="-52411" y="541150"/>
                  <a:pt x="51316" y="657842"/>
                </a:cubicBezTo>
                <a:cubicBezTo>
                  <a:pt x="62694" y="670642"/>
                  <a:pt x="69863" y="687957"/>
                  <a:pt x="84208" y="697313"/>
                </a:cubicBezTo>
                <a:cubicBezTo>
                  <a:pt x="121171" y="721419"/>
                  <a:pt x="162552" y="738025"/>
                  <a:pt x="202619" y="756518"/>
                </a:cubicBezTo>
                <a:cubicBezTo>
                  <a:pt x="219630" y="764369"/>
                  <a:pt x="237704" y="769675"/>
                  <a:pt x="255246" y="776254"/>
                </a:cubicBezTo>
                <a:cubicBezTo>
                  <a:pt x="301295" y="771868"/>
                  <a:pt x="347928" y="771622"/>
                  <a:pt x="393393" y="763097"/>
                </a:cubicBezTo>
                <a:cubicBezTo>
                  <a:pt x="632595" y="718246"/>
                  <a:pt x="311548" y="753714"/>
                  <a:pt x="531540" y="717048"/>
                </a:cubicBezTo>
                <a:cubicBezTo>
                  <a:pt x="561899" y="711988"/>
                  <a:pt x="592939" y="712662"/>
                  <a:pt x="623638" y="710469"/>
                </a:cubicBezTo>
                <a:cubicBezTo>
                  <a:pt x="660796" y="682601"/>
                  <a:pt x="636201" y="696713"/>
                  <a:pt x="669687" y="684156"/>
                </a:cubicBezTo>
                <a:cubicBezTo>
                  <a:pt x="680744" y="680010"/>
                  <a:pt x="702579" y="670999"/>
                  <a:pt x="702579" y="670999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F58D7A9-7591-AEF3-9005-70571EDC76B6}"/>
              </a:ext>
            </a:extLst>
          </p:cNvPr>
          <p:cNvSpPr/>
          <p:nvPr/>
        </p:nvSpPr>
        <p:spPr>
          <a:xfrm>
            <a:off x="4249658" y="2664034"/>
            <a:ext cx="454036" cy="730429"/>
          </a:xfrm>
          <a:custGeom>
            <a:avLst/>
            <a:gdLst>
              <a:gd name="csX0" fmla="*/ 0 w 454036"/>
              <a:gd name="csY0" fmla="*/ 131793 h 730429"/>
              <a:gd name="csX1" fmla="*/ 144725 w 454036"/>
              <a:gd name="csY1" fmla="*/ 46274 h 730429"/>
              <a:gd name="csX2" fmla="*/ 315764 w 454036"/>
              <a:gd name="csY2" fmla="*/ 13382 h 730429"/>
              <a:gd name="csX3" fmla="*/ 348656 w 454036"/>
              <a:gd name="csY3" fmla="*/ 19960 h 730429"/>
              <a:gd name="csX4" fmla="*/ 401283 w 454036"/>
              <a:gd name="csY4" fmla="*/ 348881 h 730429"/>
              <a:gd name="csX5" fmla="*/ 427597 w 454036"/>
              <a:gd name="csY5" fmla="*/ 493606 h 730429"/>
              <a:gd name="csX6" fmla="*/ 434175 w 454036"/>
              <a:gd name="csY6" fmla="*/ 612018 h 730429"/>
              <a:gd name="csX7" fmla="*/ 453910 w 454036"/>
              <a:gd name="csY7" fmla="*/ 697537 h 730429"/>
              <a:gd name="csX8" fmla="*/ 447332 w 454036"/>
              <a:gd name="csY8" fmla="*/ 723851 h 730429"/>
              <a:gd name="csX9" fmla="*/ 447332 w 454036"/>
              <a:gd name="csY9" fmla="*/ 730429 h 730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454036" h="730429">
                <a:moveTo>
                  <a:pt x="0" y="131793"/>
                </a:moveTo>
                <a:cubicBezTo>
                  <a:pt x="97113" y="99424"/>
                  <a:pt x="-24921" y="144147"/>
                  <a:pt x="144725" y="46274"/>
                </a:cubicBezTo>
                <a:cubicBezTo>
                  <a:pt x="209299" y="9020"/>
                  <a:pt x="237321" y="18284"/>
                  <a:pt x="315764" y="13382"/>
                </a:cubicBezTo>
                <a:cubicBezTo>
                  <a:pt x="330905" y="3288"/>
                  <a:pt x="342286" y="-13802"/>
                  <a:pt x="348656" y="19960"/>
                </a:cubicBezTo>
                <a:cubicBezTo>
                  <a:pt x="369243" y="129070"/>
                  <a:pt x="381420" y="239637"/>
                  <a:pt x="401283" y="348881"/>
                </a:cubicBezTo>
                <a:lnTo>
                  <a:pt x="427597" y="493606"/>
                </a:lnTo>
                <a:cubicBezTo>
                  <a:pt x="429790" y="533077"/>
                  <a:pt x="429116" y="572811"/>
                  <a:pt x="434175" y="612018"/>
                </a:cubicBezTo>
                <a:cubicBezTo>
                  <a:pt x="437919" y="641033"/>
                  <a:pt x="450492" y="668482"/>
                  <a:pt x="453910" y="697537"/>
                </a:cubicBezTo>
                <a:cubicBezTo>
                  <a:pt x="454966" y="706516"/>
                  <a:pt x="449105" y="714985"/>
                  <a:pt x="447332" y="723851"/>
                </a:cubicBezTo>
                <a:cubicBezTo>
                  <a:pt x="446902" y="726001"/>
                  <a:pt x="447332" y="728236"/>
                  <a:pt x="447332" y="730429"/>
                </a:cubicBezTo>
              </a:path>
            </a:pathLst>
          </a:cu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949439C-4452-F0E5-C33A-634A9C80702E}"/>
              </a:ext>
            </a:extLst>
          </p:cNvPr>
          <p:cNvSpPr/>
          <p:nvPr/>
        </p:nvSpPr>
        <p:spPr>
          <a:xfrm>
            <a:off x="2111481" y="4624627"/>
            <a:ext cx="1303332" cy="1434095"/>
          </a:xfrm>
          <a:custGeom>
            <a:avLst/>
            <a:gdLst>
              <a:gd name="csX0" fmla="*/ 625141 w 1303332"/>
              <a:gd name="csY0" fmla="*/ 0 h 1434095"/>
              <a:gd name="csX1" fmla="*/ 26505 w 1303332"/>
              <a:gd name="csY1" fmla="*/ 526274 h 1434095"/>
              <a:gd name="csX2" fmla="*/ 52818 w 1303332"/>
              <a:gd name="csY2" fmla="*/ 973606 h 1434095"/>
              <a:gd name="csX3" fmla="*/ 190965 w 1303332"/>
              <a:gd name="csY3" fmla="*/ 1184115 h 1434095"/>
              <a:gd name="csX4" fmla="*/ 579092 w 1303332"/>
              <a:gd name="csY4" fmla="*/ 1374890 h 1434095"/>
              <a:gd name="csX5" fmla="*/ 888277 w 1303332"/>
              <a:gd name="csY5" fmla="*/ 1434095 h 1434095"/>
              <a:gd name="csX6" fmla="*/ 1197463 w 1303332"/>
              <a:gd name="csY6" fmla="*/ 1230164 h 1434095"/>
              <a:gd name="csX7" fmla="*/ 1289561 w 1303332"/>
              <a:gd name="csY7" fmla="*/ 1059126 h 1434095"/>
              <a:gd name="csX8" fmla="*/ 1236933 w 1303332"/>
              <a:gd name="csY8" fmla="*/ 776254 h 1434095"/>
              <a:gd name="csX9" fmla="*/ 960640 w 1303332"/>
              <a:gd name="csY9" fmla="*/ 427597 h 1434095"/>
              <a:gd name="csX10" fmla="*/ 842228 w 1303332"/>
              <a:gd name="csY10" fmla="*/ 302608 h 1434095"/>
              <a:gd name="csX11" fmla="*/ 638297 w 1303332"/>
              <a:gd name="csY11" fmla="*/ 171039 h 1434095"/>
              <a:gd name="csX12" fmla="*/ 362004 w 1303332"/>
              <a:gd name="csY12" fmla="*/ 46049 h 1434095"/>
              <a:gd name="csX13" fmla="*/ 243592 w 1303332"/>
              <a:gd name="csY13" fmla="*/ 26314 h 1434095"/>
              <a:gd name="csX14" fmla="*/ 118602 w 1303332"/>
              <a:gd name="csY14" fmla="*/ 6579 h 14340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3332" h="1434095">
                <a:moveTo>
                  <a:pt x="625141" y="0"/>
                </a:moveTo>
                <a:cubicBezTo>
                  <a:pt x="375528" y="124807"/>
                  <a:pt x="182895" y="204159"/>
                  <a:pt x="26505" y="526274"/>
                </a:cubicBezTo>
                <a:cubicBezTo>
                  <a:pt x="-38732" y="660643"/>
                  <a:pt x="34736" y="825336"/>
                  <a:pt x="52818" y="973606"/>
                </a:cubicBezTo>
                <a:cubicBezTo>
                  <a:pt x="61165" y="1042051"/>
                  <a:pt x="149919" y="1149075"/>
                  <a:pt x="190965" y="1184115"/>
                </a:cubicBezTo>
                <a:cubicBezTo>
                  <a:pt x="304311" y="1280874"/>
                  <a:pt x="436047" y="1337341"/>
                  <a:pt x="579092" y="1374890"/>
                </a:cubicBezTo>
                <a:cubicBezTo>
                  <a:pt x="680588" y="1401532"/>
                  <a:pt x="785215" y="1414360"/>
                  <a:pt x="888277" y="1434095"/>
                </a:cubicBezTo>
                <a:cubicBezTo>
                  <a:pt x="1039613" y="1365995"/>
                  <a:pt x="1061771" y="1369626"/>
                  <a:pt x="1197463" y="1230164"/>
                </a:cubicBezTo>
                <a:cubicBezTo>
                  <a:pt x="1230603" y="1196103"/>
                  <a:pt x="1268217" y="1106082"/>
                  <a:pt x="1289561" y="1059126"/>
                </a:cubicBezTo>
                <a:cubicBezTo>
                  <a:pt x="1305963" y="936109"/>
                  <a:pt x="1324432" y="912551"/>
                  <a:pt x="1236933" y="776254"/>
                </a:cubicBezTo>
                <a:cubicBezTo>
                  <a:pt x="1156824" y="651469"/>
                  <a:pt x="1062624" y="535245"/>
                  <a:pt x="960640" y="427597"/>
                </a:cubicBezTo>
                <a:cubicBezTo>
                  <a:pt x="921169" y="385934"/>
                  <a:pt x="887132" y="338348"/>
                  <a:pt x="842228" y="302608"/>
                </a:cubicBezTo>
                <a:cubicBezTo>
                  <a:pt x="778933" y="252230"/>
                  <a:pt x="709649" y="209159"/>
                  <a:pt x="638297" y="171039"/>
                </a:cubicBezTo>
                <a:cubicBezTo>
                  <a:pt x="549140" y="123407"/>
                  <a:pt x="456909" y="80847"/>
                  <a:pt x="362004" y="46049"/>
                </a:cubicBezTo>
                <a:cubicBezTo>
                  <a:pt x="324435" y="32274"/>
                  <a:pt x="282962" y="33472"/>
                  <a:pt x="243592" y="26314"/>
                </a:cubicBezTo>
                <a:cubicBezTo>
                  <a:pt x="125587" y="4859"/>
                  <a:pt x="181265" y="6579"/>
                  <a:pt x="118602" y="6579"/>
                </a:cubicBezTo>
              </a:path>
            </a:pathLst>
          </a:custGeom>
          <a:noFill/>
          <a:ln w="1270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3012780-C90A-2676-A61F-C7C67FFC4AB3}"/>
              </a:ext>
            </a:extLst>
          </p:cNvPr>
          <p:cNvSpPr/>
          <p:nvPr/>
        </p:nvSpPr>
        <p:spPr>
          <a:xfrm>
            <a:off x="3572081" y="5065381"/>
            <a:ext cx="859997" cy="1654310"/>
          </a:xfrm>
          <a:custGeom>
            <a:avLst/>
            <a:gdLst>
              <a:gd name="csX0" fmla="*/ 0 w 859997"/>
              <a:gd name="csY0" fmla="*/ 0 h 1654310"/>
              <a:gd name="csX1" fmla="*/ 144725 w 859997"/>
              <a:gd name="csY1" fmla="*/ 546009 h 1654310"/>
              <a:gd name="csX2" fmla="*/ 296028 w 859997"/>
              <a:gd name="csY2" fmla="*/ 1151223 h 1654310"/>
              <a:gd name="csX3" fmla="*/ 539430 w 859997"/>
              <a:gd name="csY3" fmla="*/ 1539350 h 1654310"/>
              <a:gd name="csX4" fmla="*/ 565743 w 859997"/>
              <a:gd name="csY4" fmla="*/ 1559085 h 1654310"/>
              <a:gd name="csX5" fmla="*/ 598636 w 859997"/>
              <a:gd name="csY5" fmla="*/ 1651183 h 1654310"/>
              <a:gd name="csX6" fmla="*/ 506538 w 859997"/>
              <a:gd name="csY6" fmla="*/ 1513036 h 1654310"/>
              <a:gd name="csX7" fmla="*/ 440754 w 859997"/>
              <a:gd name="csY7" fmla="*/ 1401203 h 1654310"/>
              <a:gd name="csX8" fmla="*/ 407861 w 859997"/>
              <a:gd name="csY8" fmla="*/ 1302527 h 1654310"/>
              <a:gd name="csX9" fmla="*/ 374969 w 859997"/>
              <a:gd name="csY9" fmla="*/ 1105174 h 1654310"/>
              <a:gd name="csX10" fmla="*/ 374969 w 859997"/>
              <a:gd name="csY10" fmla="*/ 769675 h 1654310"/>
              <a:gd name="csX11" fmla="*/ 401283 w 859997"/>
              <a:gd name="csY11" fmla="*/ 684156 h 1654310"/>
              <a:gd name="csX12" fmla="*/ 421018 w 859997"/>
              <a:gd name="csY12" fmla="*/ 611793 h 1654310"/>
              <a:gd name="csX13" fmla="*/ 434175 w 859997"/>
              <a:gd name="csY13" fmla="*/ 499960 h 1654310"/>
              <a:gd name="csX14" fmla="*/ 440754 w 859997"/>
              <a:gd name="csY14" fmla="*/ 276294 h 1654310"/>
              <a:gd name="csX15" fmla="*/ 486802 w 859997"/>
              <a:gd name="csY15" fmla="*/ 203931 h 1654310"/>
              <a:gd name="csX16" fmla="*/ 611792 w 859997"/>
              <a:gd name="csY16" fmla="*/ 32892 h 1654310"/>
              <a:gd name="csX17" fmla="*/ 638106 w 859997"/>
              <a:gd name="csY17" fmla="*/ 26314 h 1654310"/>
              <a:gd name="csX18" fmla="*/ 802566 w 859997"/>
              <a:gd name="csY18" fmla="*/ 197353 h 1654310"/>
              <a:gd name="csX19" fmla="*/ 855194 w 859997"/>
              <a:gd name="csY19" fmla="*/ 282872 h 1654310"/>
              <a:gd name="csX20" fmla="*/ 769674 w 859997"/>
              <a:gd name="csY20" fmla="*/ 546009 h 1654310"/>
              <a:gd name="csX21" fmla="*/ 703890 w 859997"/>
              <a:gd name="csY21" fmla="*/ 592058 h 1654310"/>
              <a:gd name="csX22" fmla="*/ 618371 w 859997"/>
              <a:gd name="csY22" fmla="*/ 611793 h 1654310"/>
              <a:gd name="csX23" fmla="*/ 493381 w 859997"/>
              <a:gd name="csY23" fmla="*/ 592058 h 1654310"/>
              <a:gd name="csX24" fmla="*/ 427597 w 859997"/>
              <a:gd name="csY24" fmla="*/ 559166 h 16543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859997" h="1654310">
                <a:moveTo>
                  <a:pt x="0" y="0"/>
                </a:moveTo>
                <a:cubicBezTo>
                  <a:pt x="64035" y="192121"/>
                  <a:pt x="63536" y="187661"/>
                  <a:pt x="144725" y="546009"/>
                </a:cubicBezTo>
                <a:cubicBezTo>
                  <a:pt x="214683" y="854786"/>
                  <a:pt x="172052" y="874660"/>
                  <a:pt x="296028" y="1151223"/>
                </a:cubicBezTo>
                <a:cubicBezTo>
                  <a:pt x="389498" y="1359733"/>
                  <a:pt x="412869" y="1412789"/>
                  <a:pt x="539430" y="1539350"/>
                </a:cubicBezTo>
                <a:cubicBezTo>
                  <a:pt x="547183" y="1547103"/>
                  <a:pt x="556972" y="1552507"/>
                  <a:pt x="565743" y="1559085"/>
                </a:cubicBezTo>
                <a:cubicBezTo>
                  <a:pt x="576707" y="1589784"/>
                  <a:pt x="624368" y="1671197"/>
                  <a:pt x="598636" y="1651183"/>
                </a:cubicBezTo>
                <a:cubicBezTo>
                  <a:pt x="554950" y="1617205"/>
                  <a:pt x="536091" y="1559829"/>
                  <a:pt x="506538" y="1513036"/>
                </a:cubicBezTo>
                <a:cubicBezTo>
                  <a:pt x="483443" y="1476470"/>
                  <a:pt x="459110" y="1440363"/>
                  <a:pt x="440754" y="1401203"/>
                </a:cubicBezTo>
                <a:cubicBezTo>
                  <a:pt x="426038" y="1369810"/>
                  <a:pt x="416795" y="1336028"/>
                  <a:pt x="407861" y="1302527"/>
                </a:cubicBezTo>
                <a:cubicBezTo>
                  <a:pt x="390367" y="1236924"/>
                  <a:pt x="383905" y="1172192"/>
                  <a:pt x="374969" y="1105174"/>
                </a:cubicBezTo>
                <a:cubicBezTo>
                  <a:pt x="368549" y="983182"/>
                  <a:pt x="360614" y="898871"/>
                  <a:pt x="374969" y="769675"/>
                </a:cubicBezTo>
                <a:cubicBezTo>
                  <a:pt x="378263" y="740032"/>
                  <a:pt x="392932" y="712788"/>
                  <a:pt x="401283" y="684156"/>
                </a:cubicBezTo>
                <a:cubicBezTo>
                  <a:pt x="408284" y="660154"/>
                  <a:pt x="414440" y="635914"/>
                  <a:pt x="421018" y="611793"/>
                </a:cubicBezTo>
                <a:cubicBezTo>
                  <a:pt x="425404" y="574515"/>
                  <a:pt x="431971" y="537430"/>
                  <a:pt x="434175" y="499960"/>
                </a:cubicBezTo>
                <a:cubicBezTo>
                  <a:pt x="438555" y="425501"/>
                  <a:pt x="427699" y="349730"/>
                  <a:pt x="440754" y="276294"/>
                </a:cubicBezTo>
                <a:cubicBezTo>
                  <a:pt x="445758" y="248145"/>
                  <a:pt x="472343" y="228596"/>
                  <a:pt x="486802" y="203931"/>
                </a:cubicBezTo>
                <a:cubicBezTo>
                  <a:pt x="541877" y="109980"/>
                  <a:pt x="532602" y="87716"/>
                  <a:pt x="611792" y="32892"/>
                </a:cubicBezTo>
                <a:cubicBezTo>
                  <a:pt x="619226" y="27746"/>
                  <a:pt x="629335" y="28507"/>
                  <a:pt x="638106" y="26314"/>
                </a:cubicBezTo>
                <a:cubicBezTo>
                  <a:pt x="692926" y="83327"/>
                  <a:pt x="751476" y="136974"/>
                  <a:pt x="802566" y="197353"/>
                </a:cubicBezTo>
                <a:cubicBezTo>
                  <a:pt x="824187" y="222905"/>
                  <a:pt x="849691" y="249856"/>
                  <a:pt x="855194" y="282872"/>
                </a:cubicBezTo>
                <a:cubicBezTo>
                  <a:pt x="873431" y="392294"/>
                  <a:pt x="838631" y="467201"/>
                  <a:pt x="769674" y="546009"/>
                </a:cubicBezTo>
                <a:cubicBezTo>
                  <a:pt x="752048" y="566153"/>
                  <a:pt x="728437" y="581385"/>
                  <a:pt x="703890" y="592058"/>
                </a:cubicBezTo>
                <a:cubicBezTo>
                  <a:pt x="677061" y="603723"/>
                  <a:pt x="646877" y="605215"/>
                  <a:pt x="618371" y="611793"/>
                </a:cubicBezTo>
                <a:cubicBezTo>
                  <a:pt x="576708" y="605215"/>
                  <a:pt x="534042" y="603275"/>
                  <a:pt x="493381" y="592058"/>
                </a:cubicBezTo>
                <a:cubicBezTo>
                  <a:pt x="469748" y="585538"/>
                  <a:pt x="427597" y="559166"/>
                  <a:pt x="427597" y="559166"/>
                </a:cubicBezTo>
              </a:path>
            </a:pathLst>
          </a:custGeom>
          <a:noFill/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945425D-C965-2276-5CD8-73619A86E8A4}"/>
              </a:ext>
            </a:extLst>
          </p:cNvPr>
          <p:cNvSpPr/>
          <p:nvPr/>
        </p:nvSpPr>
        <p:spPr>
          <a:xfrm>
            <a:off x="3631286" y="4979862"/>
            <a:ext cx="723626" cy="1700362"/>
          </a:xfrm>
          <a:custGeom>
            <a:avLst/>
            <a:gdLst>
              <a:gd name="csX0" fmla="*/ 0 w 723626"/>
              <a:gd name="csY0" fmla="*/ 0 h 1700362"/>
              <a:gd name="csX1" fmla="*/ 6579 w 723626"/>
              <a:gd name="csY1" fmla="*/ 39470 h 1700362"/>
              <a:gd name="csX2" fmla="*/ 184196 w 723626"/>
              <a:gd name="csY2" fmla="*/ 749939 h 1700362"/>
              <a:gd name="csX3" fmla="*/ 236823 w 723626"/>
              <a:gd name="csY3" fmla="*/ 1006498 h 1700362"/>
              <a:gd name="csX4" fmla="*/ 256559 w 723626"/>
              <a:gd name="csY4" fmla="*/ 1138066 h 1700362"/>
              <a:gd name="csX5" fmla="*/ 289451 w 723626"/>
              <a:gd name="csY5" fmla="*/ 1269634 h 1700362"/>
              <a:gd name="csX6" fmla="*/ 315764 w 723626"/>
              <a:gd name="csY6" fmla="*/ 1434095 h 1700362"/>
              <a:gd name="csX7" fmla="*/ 361813 w 723626"/>
              <a:gd name="csY7" fmla="*/ 1631447 h 1700362"/>
              <a:gd name="csX8" fmla="*/ 282872 w 723626"/>
              <a:gd name="csY8" fmla="*/ 1545928 h 1700362"/>
              <a:gd name="csX9" fmla="*/ 171039 w 723626"/>
              <a:gd name="csY9" fmla="*/ 1249899 h 1700362"/>
              <a:gd name="csX10" fmla="*/ 105255 w 723626"/>
              <a:gd name="csY10" fmla="*/ 1006498 h 1700362"/>
              <a:gd name="csX11" fmla="*/ 65785 w 723626"/>
              <a:gd name="csY11" fmla="*/ 776253 h 1700362"/>
              <a:gd name="csX12" fmla="*/ 59206 w 723626"/>
              <a:gd name="csY12" fmla="*/ 657842 h 1700362"/>
              <a:gd name="csX13" fmla="*/ 46049 w 723626"/>
              <a:gd name="csY13" fmla="*/ 585479 h 1700362"/>
              <a:gd name="csX14" fmla="*/ 59206 w 723626"/>
              <a:gd name="csY14" fmla="*/ 177617 h 1700362"/>
              <a:gd name="csX15" fmla="*/ 98677 w 723626"/>
              <a:gd name="csY15" fmla="*/ 105255 h 1700362"/>
              <a:gd name="csX16" fmla="*/ 243402 w 723626"/>
              <a:gd name="csY16" fmla="*/ 92098 h 1700362"/>
              <a:gd name="csX17" fmla="*/ 342078 w 723626"/>
              <a:gd name="csY17" fmla="*/ 65784 h 1700362"/>
              <a:gd name="csX18" fmla="*/ 552587 w 723626"/>
              <a:gd name="csY18" fmla="*/ 6578 h 1700362"/>
              <a:gd name="csX19" fmla="*/ 618372 w 723626"/>
              <a:gd name="csY19" fmla="*/ 52627 h 1700362"/>
              <a:gd name="csX20" fmla="*/ 684156 w 723626"/>
              <a:gd name="csY20" fmla="*/ 131568 h 1700362"/>
              <a:gd name="csX21" fmla="*/ 703891 w 723626"/>
              <a:gd name="csY21" fmla="*/ 177617 h 1700362"/>
              <a:gd name="csX22" fmla="*/ 723626 w 723626"/>
              <a:gd name="csY22" fmla="*/ 282872 h 1700362"/>
              <a:gd name="csX23" fmla="*/ 703891 w 723626"/>
              <a:gd name="csY23" fmla="*/ 315764 h 1700362"/>
              <a:gd name="csX24" fmla="*/ 684156 w 723626"/>
              <a:gd name="csY24" fmla="*/ 381548 h 1700362"/>
              <a:gd name="csX25" fmla="*/ 670999 w 723626"/>
              <a:gd name="csY25" fmla="*/ 414440 h 1700362"/>
              <a:gd name="csX26" fmla="*/ 657842 w 723626"/>
              <a:gd name="csY26" fmla="*/ 453911 h 1700362"/>
              <a:gd name="csX27" fmla="*/ 532852 w 723626"/>
              <a:gd name="csY27" fmla="*/ 578901 h 1700362"/>
              <a:gd name="csX28" fmla="*/ 388127 w 723626"/>
              <a:gd name="csY28" fmla="*/ 677577 h 1700362"/>
              <a:gd name="csX29" fmla="*/ 348656 w 723626"/>
              <a:gd name="csY29" fmla="*/ 697312 h 1700362"/>
              <a:gd name="csX30" fmla="*/ 276294 w 723626"/>
              <a:gd name="csY30" fmla="*/ 710469 h 1700362"/>
              <a:gd name="csX31" fmla="*/ 118412 w 723626"/>
              <a:gd name="csY31" fmla="*/ 651263 h 1700362"/>
              <a:gd name="csX32" fmla="*/ 59206 w 723626"/>
              <a:gd name="csY32" fmla="*/ 631528 h 1700362"/>
              <a:gd name="csX33" fmla="*/ 59206 w 723626"/>
              <a:gd name="csY33" fmla="*/ 624950 h 1700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723626" h="1700362">
                <a:moveTo>
                  <a:pt x="0" y="0"/>
                </a:moveTo>
                <a:cubicBezTo>
                  <a:pt x="2193" y="13157"/>
                  <a:pt x="3398" y="26517"/>
                  <a:pt x="6579" y="39470"/>
                </a:cubicBezTo>
                <a:cubicBezTo>
                  <a:pt x="64806" y="276536"/>
                  <a:pt x="135144" y="510807"/>
                  <a:pt x="184196" y="749939"/>
                </a:cubicBezTo>
                <a:cubicBezTo>
                  <a:pt x="201738" y="835459"/>
                  <a:pt x="220822" y="920677"/>
                  <a:pt x="236823" y="1006498"/>
                </a:cubicBezTo>
                <a:cubicBezTo>
                  <a:pt x="244951" y="1050093"/>
                  <a:pt x="247862" y="1094581"/>
                  <a:pt x="256559" y="1138066"/>
                </a:cubicBezTo>
                <a:cubicBezTo>
                  <a:pt x="265425" y="1182394"/>
                  <a:pt x="280586" y="1225306"/>
                  <a:pt x="289451" y="1269634"/>
                </a:cubicBezTo>
                <a:cubicBezTo>
                  <a:pt x="300339" y="1324073"/>
                  <a:pt x="304391" y="1379755"/>
                  <a:pt x="315764" y="1434095"/>
                </a:cubicBezTo>
                <a:cubicBezTo>
                  <a:pt x="394379" y="1809703"/>
                  <a:pt x="316796" y="1361348"/>
                  <a:pt x="361813" y="1631447"/>
                </a:cubicBezTo>
                <a:cubicBezTo>
                  <a:pt x="350311" y="1734976"/>
                  <a:pt x="361314" y="1733628"/>
                  <a:pt x="282872" y="1545928"/>
                </a:cubicBezTo>
                <a:cubicBezTo>
                  <a:pt x="242198" y="1448602"/>
                  <a:pt x="200574" y="1351163"/>
                  <a:pt x="171039" y="1249899"/>
                </a:cubicBezTo>
                <a:cubicBezTo>
                  <a:pt x="148340" y="1172072"/>
                  <a:pt x="120484" y="1087723"/>
                  <a:pt x="105255" y="1006498"/>
                </a:cubicBezTo>
                <a:cubicBezTo>
                  <a:pt x="90905" y="929964"/>
                  <a:pt x="65785" y="776253"/>
                  <a:pt x="65785" y="776253"/>
                </a:cubicBezTo>
                <a:cubicBezTo>
                  <a:pt x="63592" y="736783"/>
                  <a:pt x="63274" y="697163"/>
                  <a:pt x="59206" y="657842"/>
                </a:cubicBezTo>
                <a:cubicBezTo>
                  <a:pt x="56683" y="633456"/>
                  <a:pt x="46049" y="609995"/>
                  <a:pt x="46049" y="585479"/>
                </a:cubicBezTo>
                <a:cubicBezTo>
                  <a:pt x="46049" y="449454"/>
                  <a:pt x="51099" y="313400"/>
                  <a:pt x="59206" y="177617"/>
                </a:cubicBezTo>
                <a:cubicBezTo>
                  <a:pt x="59964" y="164927"/>
                  <a:pt x="90280" y="107839"/>
                  <a:pt x="98677" y="105255"/>
                </a:cubicBezTo>
                <a:cubicBezTo>
                  <a:pt x="144976" y="91009"/>
                  <a:pt x="195160" y="96484"/>
                  <a:pt x="243402" y="92098"/>
                </a:cubicBezTo>
                <a:cubicBezTo>
                  <a:pt x="276294" y="83327"/>
                  <a:pt x="309697" y="76286"/>
                  <a:pt x="342078" y="65784"/>
                </a:cubicBezTo>
                <a:cubicBezTo>
                  <a:pt x="536505" y="2727"/>
                  <a:pt x="423279" y="19510"/>
                  <a:pt x="552587" y="6578"/>
                </a:cubicBezTo>
                <a:cubicBezTo>
                  <a:pt x="574515" y="21928"/>
                  <a:pt x="598966" y="34191"/>
                  <a:pt x="618372" y="52627"/>
                </a:cubicBezTo>
                <a:cubicBezTo>
                  <a:pt x="643205" y="76218"/>
                  <a:pt x="664814" y="103299"/>
                  <a:pt x="684156" y="131568"/>
                </a:cubicBezTo>
                <a:cubicBezTo>
                  <a:pt x="693586" y="145351"/>
                  <a:pt x="698910" y="161677"/>
                  <a:pt x="703891" y="177617"/>
                </a:cubicBezTo>
                <a:cubicBezTo>
                  <a:pt x="714761" y="212400"/>
                  <a:pt x="718523" y="247150"/>
                  <a:pt x="723626" y="282872"/>
                </a:cubicBezTo>
                <a:cubicBezTo>
                  <a:pt x="717048" y="293836"/>
                  <a:pt x="708640" y="303892"/>
                  <a:pt x="703891" y="315764"/>
                </a:cubicBezTo>
                <a:cubicBezTo>
                  <a:pt x="695389" y="337020"/>
                  <a:pt x="691396" y="359829"/>
                  <a:pt x="684156" y="381548"/>
                </a:cubicBezTo>
                <a:cubicBezTo>
                  <a:pt x="680422" y="392751"/>
                  <a:pt x="675035" y="403342"/>
                  <a:pt x="670999" y="414440"/>
                </a:cubicBezTo>
                <a:cubicBezTo>
                  <a:pt x="666259" y="427474"/>
                  <a:pt x="664368" y="441674"/>
                  <a:pt x="657842" y="453911"/>
                </a:cubicBezTo>
                <a:cubicBezTo>
                  <a:pt x="620877" y="523222"/>
                  <a:pt x="603124" y="528707"/>
                  <a:pt x="532852" y="578901"/>
                </a:cubicBezTo>
                <a:cubicBezTo>
                  <a:pt x="485340" y="612838"/>
                  <a:pt x="437242" y="646003"/>
                  <a:pt x="388127" y="677577"/>
                </a:cubicBezTo>
                <a:cubicBezTo>
                  <a:pt x="375753" y="685531"/>
                  <a:pt x="362768" y="693161"/>
                  <a:pt x="348656" y="697312"/>
                </a:cubicBezTo>
                <a:cubicBezTo>
                  <a:pt x="325136" y="704230"/>
                  <a:pt x="300415" y="706083"/>
                  <a:pt x="276294" y="710469"/>
                </a:cubicBezTo>
                <a:cubicBezTo>
                  <a:pt x="122771" y="679765"/>
                  <a:pt x="227864" y="713808"/>
                  <a:pt x="118412" y="651263"/>
                </a:cubicBezTo>
                <a:cubicBezTo>
                  <a:pt x="3614" y="585663"/>
                  <a:pt x="153260" y="678551"/>
                  <a:pt x="59206" y="631528"/>
                </a:cubicBezTo>
                <a:cubicBezTo>
                  <a:pt x="57245" y="630547"/>
                  <a:pt x="59206" y="627143"/>
                  <a:pt x="59206" y="624950"/>
                </a:cubicBezTo>
              </a:path>
            </a:pathLst>
          </a:custGeom>
          <a:noFill/>
          <a:ln w="1270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1145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719</Words>
  <Application>Microsoft Office PowerPoint</Application>
  <PresentationFormat>Widescreen</PresentationFormat>
  <Paragraphs>47</Paragraphs>
  <Slides>9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Chiller</vt:lpstr>
      <vt:lpstr>Office Theme</vt:lpstr>
      <vt:lpstr>Hur många mikroprocessorer ser vi på bilden? </vt:lpstr>
      <vt:lpstr>Maskinorienterad Programmering</vt:lpstr>
      <vt:lpstr>Maskinorienterad Programmering</vt:lpstr>
      <vt:lpstr>PowerPoint Presentation</vt:lpstr>
      <vt:lpstr>”The Maker Community”</vt:lpstr>
      <vt:lpstr>Vad är en mikrokontroller? </vt:lpstr>
      <vt:lpstr>AI: The good, the bad, and the ugly</vt:lpstr>
      <vt:lpstr>AI: The good, the bad, and the ugly</vt:lpstr>
      <vt:lpstr>AI: The good, the bad, and the ugly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</cp:revision>
  <dcterms:created xsi:type="dcterms:W3CDTF">2026-01-14T14:09:03Z</dcterms:created>
  <dcterms:modified xsi:type="dcterms:W3CDTF">2026-01-15T13:51:17Z</dcterms:modified>
</cp:coreProperties>
</file>