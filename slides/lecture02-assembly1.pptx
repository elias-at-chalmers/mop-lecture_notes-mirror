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16" autoAdjust="0"/>
  </p:normalViewPr>
  <p:slideViewPr>
    <p:cSldViewPr snapToGrid="0">
      <p:cViewPr varScale="1">
        <p:scale>
          <a:sx n="221" d="100"/>
          <a:sy n="221" d="100"/>
        </p:scale>
        <p:origin x="186" y="19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01/21/2026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Förklara vad en ISA är. Gå igenom de som finns. </a:t>
            </a:r>
          </a:p>
          <a:p>
            <a:r>
              <a:rPr lang="sv-SE"/>
              <a:t>RISC-V är intressant för:</a:t>
            </a:r>
            <a:br>
              <a:rPr lang="sv-SE"/>
            </a:br>
            <a:r>
              <a:rPr lang="sv-SE"/>
              <a:t>* modernt (lärt sig av misstag)</a:t>
            </a:r>
          </a:p>
          <a:p>
            <a:r>
              <a:rPr lang="sv-SE"/>
              <a:t>* öppet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495650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2888-A922-E761-9C22-6D3593973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819AEC-BE8B-DCBF-064B-E53B13EE9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F8B55C-2FA3-1BB7-3563-9A169629BB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Ställ frågan</a:t>
            </a:r>
          </a:p>
          <a:p>
            <a:r>
              <a:rPr lang="sv-SE"/>
              <a:t>Gå igenom</a:t>
            </a:r>
          </a:p>
          <a:p>
            <a:r>
              <a:rPr lang="sv-SE"/>
              <a:t>Att utveckla allt detta blir dyrare än att designa själva processorn.</a:t>
            </a:r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163E60-F8DD-30F1-5F31-FAAEDD7A2E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133405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Få med immediate, riktning</a:t>
            </a:r>
          </a:p>
          <a:p>
            <a:endParaRPr lang="sv-SE"/>
          </a:p>
          <a:p>
            <a:r>
              <a:rPr lang="sv-SE"/>
              <a:t>Förmodligen visa i VSCode.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75025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Använd samma exempel som i texten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44691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Visa quickguide, register och instruktioner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194197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lb, lh, lw</a:t>
            </a:r>
          </a:p>
          <a:p>
            <a:endParaRPr lang="en-GB"/>
          </a:p>
          <a:p>
            <a:r>
              <a:rPr lang="en-GB"/>
              <a:t>sign extension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11978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.byte .hword, .word, .space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59165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Load and store global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995344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a+b + c+d, signedness, wordsize, align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78999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01/21/2026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01/21/2026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01/21/2026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01/21/2026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2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Assembler på RISC-V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EF2E1-3C49-2806-295F-F733D095A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Instruction Set Architecture (ISA)</a:t>
            </a:r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5DD4650-1CD9-455B-A5C1-70A1AA633BF7}"/>
              </a:ext>
            </a:extLst>
          </p:cNvPr>
          <p:cNvGrpSpPr/>
          <p:nvPr/>
        </p:nvGrpSpPr>
        <p:grpSpPr>
          <a:xfrm>
            <a:off x="4074016" y="1931831"/>
            <a:ext cx="3627549" cy="2494207"/>
            <a:chOff x="4031087" y="3176789"/>
            <a:chExt cx="3627549" cy="2494207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865AC28E-C1D1-B03B-F3AB-B01EC89F4652}"/>
                </a:ext>
              </a:extLst>
            </p:cNvPr>
            <p:cNvSpPr/>
            <p:nvPr/>
          </p:nvSpPr>
          <p:spPr>
            <a:xfrm>
              <a:off x="4031087" y="3176789"/>
              <a:ext cx="3576034" cy="2494207"/>
            </a:xfrm>
            <a:prstGeom prst="roundRect">
              <a:avLst>
                <a:gd name="adj" fmla="val 9284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41CEE5F-074B-0C86-E13C-09231EE9D588}"/>
                </a:ext>
              </a:extLst>
            </p:cNvPr>
            <p:cNvSpPr txBox="1"/>
            <p:nvPr/>
          </p:nvSpPr>
          <p:spPr>
            <a:xfrm>
              <a:off x="4142703" y="3230278"/>
              <a:ext cx="3515933" cy="24006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sv-SE" sz="1600" b="1"/>
                <a:t>ISA (Instruction Set Architecture)</a:t>
              </a:r>
            </a:p>
            <a:p>
              <a:br>
                <a:rPr lang="sv-SE" sz="1600"/>
              </a:br>
              <a:r>
                <a:rPr lang="sv-SE" sz="1400"/>
                <a:t>Specificerar en processors beteende i termer av </a:t>
              </a:r>
              <a:r>
                <a:rPr lang="sv-SE" sz="1400" b="1"/>
                <a:t>instruktionsuppsättning</a:t>
              </a:r>
              <a:r>
                <a:rPr lang="sv-SE" sz="1400"/>
                <a:t>, </a:t>
              </a:r>
              <a:r>
                <a:rPr lang="sv-SE" sz="1400" b="1"/>
                <a:t>register</a:t>
              </a:r>
              <a:r>
                <a:rPr lang="sv-SE" sz="1400"/>
                <a:t> och </a:t>
              </a:r>
              <a:r>
                <a:rPr lang="sv-SE" sz="1400" b="1"/>
                <a:t>minnesmodell</a:t>
              </a:r>
              <a:r>
                <a:rPr lang="sv-SE" sz="1400"/>
                <a:t>, samt hur dessa komponenter samverkar.</a:t>
              </a:r>
            </a:p>
            <a:p>
              <a:endParaRPr lang="sv-SE" sz="1400"/>
            </a:p>
            <a:p>
              <a:r>
                <a:rPr lang="sv-SE" sz="1200" i="1"/>
                <a:t>Om en processor korrekt implementerar en ISA, kommer varje korrekt kompilerat program som är riktat mot denna ISA att exekveras korrekt på processorn.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A2675E2-1E15-D9E1-2FA9-19F2AE8F837F}"/>
              </a:ext>
            </a:extLst>
          </p:cNvPr>
          <p:cNvGrpSpPr/>
          <p:nvPr/>
        </p:nvGrpSpPr>
        <p:grpSpPr>
          <a:xfrm>
            <a:off x="970583" y="2994267"/>
            <a:ext cx="9920785" cy="3596957"/>
            <a:chOff x="970583" y="2994267"/>
            <a:chExt cx="9920785" cy="359695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790283-BE97-03E2-711A-4E3CF9ADEC66}"/>
                </a:ext>
              </a:extLst>
            </p:cNvPr>
            <p:cNvSpPr txBox="1"/>
            <p:nvPr/>
          </p:nvSpPr>
          <p:spPr>
            <a:xfrm>
              <a:off x="8462498" y="3117379"/>
              <a:ext cx="2428870" cy="461665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sv-SE" sz="800"/>
                <a:t>Others: </a:t>
              </a:r>
              <a:br>
                <a:rPr lang="sv-SE" sz="800"/>
              </a:br>
              <a:r>
                <a:rPr lang="sv-SE" sz="800"/>
                <a:t>MIPS, Nintendo, NVIDIA, etc</a:t>
              </a:r>
              <a:br>
                <a:rPr lang="sv-SE" sz="800"/>
              </a:br>
              <a:r>
                <a:rPr lang="sv-SE" sz="800"/>
                <a:t>Special purpose, historical, or very small user base</a:t>
              </a:r>
              <a:endParaRPr lang="LID4096" sz="80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FDE01B0-7D27-5537-8B71-65F31C6AB02B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 flipV="1">
              <a:off x="7650050" y="3309870"/>
              <a:ext cx="812448" cy="3834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D7169D0-90AA-C2DB-82B6-680EF63DCA5A}"/>
                </a:ext>
              </a:extLst>
            </p:cNvPr>
            <p:cNvSpPr txBox="1"/>
            <p:nvPr/>
          </p:nvSpPr>
          <p:spPr>
            <a:xfrm>
              <a:off x="970583" y="2994267"/>
              <a:ext cx="2058577" cy="830997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sv-SE"/>
                <a:t>(Intel/AMD) x86</a:t>
              </a:r>
            </a:p>
            <a:p>
              <a:pPr algn="ctr"/>
              <a:r>
                <a:rPr lang="sv-SE" sz="1400"/>
                <a:t>1978 -</a:t>
              </a:r>
            </a:p>
            <a:p>
              <a:pPr algn="ctr"/>
              <a:r>
                <a:rPr lang="sv-SE" sz="800">
                  <a:solidFill>
                    <a:srgbClr val="C00000"/>
                  </a:solidFill>
                </a:rPr>
                <a:t>only AMD and Intel are allowed to use</a:t>
              </a:r>
            </a:p>
            <a:p>
              <a:pPr algn="ctr"/>
              <a:r>
                <a:rPr lang="sv-SE" sz="800"/>
                <a:t>(persondatorer, servers, hpc workstations)</a:t>
              </a:r>
              <a:endParaRPr lang="LID4096" sz="80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C589799-4321-A29B-D906-5ACF6669C76B}"/>
                </a:ext>
              </a:extLst>
            </p:cNvPr>
            <p:cNvSpPr txBox="1"/>
            <p:nvPr/>
          </p:nvSpPr>
          <p:spPr>
            <a:xfrm>
              <a:off x="1402111" y="4717961"/>
              <a:ext cx="2270173" cy="954107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sv-SE"/>
                <a:t>ARM</a:t>
              </a:r>
            </a:p>
            <a:p>
              <a:pPr algn="ctr"/>
              <a:r>
                <a:rPr lang="sv-SE" sz="1400"/>
                <a:t>1985 -</a:t>
              </a:r>
            </a:p>
            <a:p>
              <a:pPr algn="ctr"/>
              <a:r>
                <a:rPr lang="sv-SE" sz="800">
                  <a:solidFill>
                    <a:srgbClr val="C00000"/>
                  </a:solidFill>
                </a:rPr>
                <a:t>pay licence to ARM if you want to use</a:t>
              </a:r>
              <a:br>
                <a:rPr lang="sv-SE" sz="800">
                  <a:solidFill>
                    <a:srgbClr val="C00000"/>
                  </a:solidFill>
                </a:rPr>
              </a:br>
              <a:r>
                <a:rPr lang="sv-SE" sz="800"/>
                <a:t>(phones, tablets, embedded, IoT, servers, mac)</a:t>
              </a:r>
              <a:endParaRPr lang="LID4096" sz="800"/>
            </a:p>
            <a:p>
              <a:pPr algn="ctr"/>
              <a:endParaRPr lang="LID4096" sz="80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3DB4DA0-1AF2-5976-8C13-9C07934F9A29}"/>
                </a:ext>
              </a:extLst>
            </p:cNvPr>
            <p:cNvSpPr txBox="1"/>
            <p:nvPr/>
          </p:nvSpPr>
          <p:spPr>
            <a:xfrm>
              <a:off x="4431192" y="4990786"/>
              <a:ext cx="2861681" cy="1600438"/>
            </a:xfrm>
            <a:prstGeom prst="rect">
              <a:avLst/>
            </a:prstGeom>
            <a:noFill/>
            <a:ln w="25400">
              <a:solidFill>
                <a:schemeClr val="accent1">
                  <a:shade val="1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sv-SE" sz="2800"/>
                <a:t>RISC-V</a:t>
              </a:r>
            </a:p>
            <a:p>
              <a:pPr algn="ctr"/>
              <a:r>
                <a:rPr lang="sv-SE" sz="2800"/>
                <a:t>2010 - </a:t>
              </a:r>
            </a:p>
            <a:p>
              <a:pPr algn="ctr"/>
              <a:r>
                <a:rPr lang="sv-SE" sz="1050" b="1">
                  <a:solidFill>
                    <a:schemeClr val="accent6">
                      <a:lumMod val="75000"/>
                    </a:schemeClr>
                  </a:solidFill>
                </a:rPr>
                <a:t>free to use for anyone</a:t>
              </a:r>
            </a:p>
            <a:p>
              <a:pPr algn="ctr"/>
              <a:r>
                <a:rPr lang="sv-SE" sz="1050"/>
                <a:t>(embedded systems, microcontrollers, </a:t>
              </a:r>
              <a:br>
                <a:rPr lang="sv-SE" sz="1050"/>
              </a:br>
              <a:r>
                <a:rPr lang="sv-SE" sz="1050"/>
                <a:t>domain-specific accelerators, men växer fort!)</a:t>
              </a:r>
              <a:br>
                <a:rPr lang="sv-SE" sz="1050">
                  <a:solidFill>
                    <a:schemeClr val="accent6">
                      <a:lumMod val="75000"/>
                    </a:schemeClr>
                  </a:solidFill>
                </a:rPr>
              </a:br>
              <a:endParaRPr lang="LID4096" sz="105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23E1548-472D-788A-9349-DDA2E9BBC1A9}"/>
                </a:ext>
              </a:extLst>
            </p:cNvPr>
            <p:cNvSpPr txBox="1"/>
            <p:nvPr/>
          </p:nvSpPr>
          <p:spPr>
            <a:xfrm>
              <a:off x="8122279" y="4717961"/>
              <a:ext cx="1387816" cy="892552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sv-SE"/>
                <a:t>IBM POWER</a:t>
              </a:r>
            </a:p>
            <a:p>
              <a:pPr algn="ctr"/>
              <a:r>
                <a:rPr lang="sv-SE"/>
                <a:t>1990 -</a:t>
              </a:r>
              <a:br>
                <a:rPr lang="sv-SE"/>
              </a:br>
              <a:r>
                <a:rPr lang="sv-SE" sz="800">
                  <a:solidFill>
                    <a:srgbClr val="C00000"/>
                  </a:solidFill>
                </a:rPr>
                <a:t>only IBM uses (these days)</a:t>
              </a:r>
            </a:p>
            <a:p>
              <a:pPr algn="ctr"/>
              <a:r>
                <a:rPr lang="sv-SE" sz="800"/>
                <a:t>(enterprise servers, hpc)</a:t>
              </a:r>
              <a:endParaRPr lang="LID4096" sz="80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772F008-52B7-5E20-87D3-B9E8898712DC}"/>
                </a:ext>
              </a:extLst>
            </p:cNvPr>
            <p:cNvCxnSpPr>
              <a:stCxn id="36" idx="3"/>
            </p:cNvCxnSpPr>
            <p:nvPr/>
          </p:nvCxnSpPr>
          <p:spPr>
            <a:xfrm flipV="1">
              <a:off x="3029160" y="3178935"/>
              <a:ext cx="1044856" cy="2308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C79BE79-F37B-B6E2-C449-952D2901F2D5}"/>
                </a:ext>
              </a:extLst>
            </p:cNvPr>
            <p:cNvCxnSpPr>
              <a:cxnSpLocks/>
              <a:stCxn id="37" idx="3"/>
            </p:cNvCxnSpPr>
            <p:nvPr/>
          </p:nvCxnSpPr>
          <p:spPr>
            <a:xfrm flipV="1">
              <a:off x="3672284" y="4426038"/>
              <a:ext cx="573451" cy="76897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67E0B3F-9D6F-450B-D23A-21473DA73D5D}"/>
                </a:ext>
              </a:extLst>
            </p:cNvPr>
            <p:cNvCxnSpPr>
              <a:cxnSpLocks/>
              <a:stCxn id="38" idx="0"/>
            </p:cNvCxnSpPr>
            <p:nvPr/>
          </p:nvCxnSpPr>
          <p:spPr>
            <a:xfrm flipV="1">
              <a:off x="5862033" y="4426038"/>
              <a:ext cx="0" cy="5647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7F631DAB-5C64-F566-BAED-C7DAF59318C2}"/>
                </a:ext>
              </a:extLst>
            </p:cNvPr>
            <p:cNvCxnSpPr>
              <a:cxnSpLocks/>
              <a:stCxn id="39" idx="0"/>
            </p:cNvCxnSpPr>
            <p:nvPr/>
          </p:nvCxnSpPr>
          <p:spPr>
            <a:xfrm flipH="1" flipV="1">
              <a:off x="7650050" y="4177048"/>
              <a:ext cx="1166137" cy="54091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499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797DD-7F2A-9FBA-E409-B79FD9C94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87A51E-BDD3-2A60-34B4-21D3438E4590}"/>
              </a:ext>
            </a:extLst>
          </p:cNvPr>
          <p:cNvSpPr txBox="1"/>
          <p:nvPr/>
        </p:nvSpPr>
        <p:spPr>
          <a:xfrm>
            <a:off x="8122279" y="1978605"/>
            <a:ext cx="3625736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/>
              <a:t>Gösta skall bygga en processor, </a:t>
            </a:r>
          </a:p>
          <a:p>
            <a:r>
              <a:rPr lang="sv-SE"/>
              <a:t>men gillar inte RISC-V. Han vill göra</a:t>
            </a:r>
            <a:br>
              <a:rPr lang="sv-SE"/>
            </a:br>
            <a:r>
              <a:rPr lang="sv-SE"/>
              <a:t>sin egen ISA till sin nya </a:t>
            </a:r>
            <a:br>
              <a:rPr lang="sv-SE"/>
            </a:br>
            <a:r>
              <a:rPr lang="sv-SE"/>
              <a:t>laptopprocessor. </a:t>
            </a:r>
          </a:p>
          <a:p>
            <a:endParaRPr lang="sv-SE"/>
          </a:p>
          <a:p>
            <a:r>
              <a:rPr lang="sv-SE"/>
              <a:t>Varför kommer det bli</a:t>
            </a:r>
          </a:p>
          <a:p>
            <a:r>
              <a:rPr lang="sv-SE"/>
              <a:t>dyrt för Gösta? </a:t>
            </a:r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F9F772-8840-9CAC-5967-ACD89D271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Instruction Set Architecture (ISA)</a:t>
            </a:r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9ECF206-DFA1-B830-1A8B-776CFD344365}"/>
              </a:ext>
            </a:extLst>
          </p:cNvPr>
          <p:cNvGrpSpPr/>
          <p:nvPr/>
        </p:nvGrpSpPr>
        <p:grpSpPr>
          <a:xfrm>
            <a:off x="4074016" y="1931831"/>
            <a:ext cx="3627549" cy="2494207"/>
            <a:chOff x="4031087" y="3176789"/>
            <a:chExt cx="3627549" cy="2494207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B7166E1C-5F66-E259-9677-4641DBE5B9DF}"/>
                </a:ext>
              </a:extLst>
            </p:cNvPr>
            <p:cNvSpPr/>
            <p:nvPr/>
          </p:nvSpPr>
          <p:spPr>
            <a:xfrm>
              <a:off x="4031087" y="3176789"/>
              <a:ext cx="3576034" cy="2494207"/>
            </a:xfrm>
            <a:prstGeom prst="roundRect">
              <a:avLst>
                <a:gd name="adj" fmla="val 9284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1FCFA64-B196-BF70-AF32-B752AEBBE375}"/>
                </a:ext>
              </a:extLst>
            </p:cNvPr>
            <p:cNvSpPr txBox="1"/>
            <p:nvPr/>
          </p:nvSpPr>
          <p:spPr>
            <a:xfrm>
              <a:off x="4142703" y="3230278"/>
              <a:ext cx="3515933" cy="24006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sv-SE" sz="1600" b="1"/>
                <a:t>ISA (Instruction Set Architecture)</a:t>
              </a:r>
            </a:p>
            <a:p>
              <a:br>
                <a:rPr lang="sv-SE" sz="1600"/>
              </a:br>
              <a:r>
                <a:rPr lang="sv-SE" sz="1400"/>
                <a:t>Specificerar en processors beteende i termer av </a:t>
              </a:r>
              <a:r>
                <a:rPr lang="sv-SE" sz="1400" b="1"/>
                <a:t>instruktionsuppsättning</a:t>
              </a:r>
              <a:r>
                <a:rPr lang="sv-SE" sz="1400"/>
                <a:t>, </a:t>
              </a:r>
              <a:r>
                <a:rPr lang="sv-SE" sz="1400" b="1"/>
                <a:t>register</a:t>
              </a:r>
              <a:r>
                <a:rPr lang="sv-SE" sz="1400"/>
                <a:t> och </a:t>
              </a:r>
              <a:r>
                <a:rPr lang="sv-SE" sz="1400" b="1"/>
                <a:t>minnesmodell</a:t>
              </a:r>
              <a:r>
                <a:rPr lang="sv-SE" sz="1400"/>
                <a:t>, samt hur dessa komponenter samverkar.</a:t>
              </a:r>
            </a:p>
            <a:p>
              <a:endParaRPr lang="sv-SE" sz="1400"/>
            </a:p>
            <a:p>
              <a:r>
                <a:rPr lang="sv-SE" sz="1200" i="1"/>
                <a:t>Om en processor korrekt implementerar en ISA, kommer varje korrekt kompilerat program som är riktat mot denna ISA att exekveras korrekt på processorn.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E58017A-5C0F-8658-0425-4E92B38FC87C}"/>
              </a:ext>
            </a:extLst>
          </p:cNvPr>
          <p:cNvSpPr txBox="1"/>
          <p:nvPr/>
        </p:nvSpPr>
        <p:spPr>
          <a:xfrm>
            <a:off x="970583" y="2994267"/>
            <a:ext cx="2058577" cy="830997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sv-SE"/>
              <a:t>(Intel/AMD) x86</a:t>
            </a:r>
          </a:p>
          <a:p>
            <a:pPr algn="ctr"/>
            <a:r>
              <a:rPr lang="sv-SE" sz="1400"/>
              <a:t>1978 -</a:t>
            </a:r>
          </a:p>
          <a:p>
            <a:pPr algn="ctr"/>
            <a:r>
              <a:rPr lang="sv-SE" sz="800">
                <a:solidFill>
                  <a:srgbClr val="C00000"/>
                </a:solidFill>
              </a:rPr>
              <a:t>only AMD and Intel are allowed to use</a:t>
            </a:r>
          </a:p>
          <a:p>
            <a:pPr algn="ctr"/>
            <a:r>
              <a:rPr lang="sv-SE" sz="800"/>
              <a:t>(persondatorer, servers, hpc workstations)</a:t>
            </a:r>
            <a:endParaRPr lang="LID4096" sz="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5C7C2D-D5E8-95AF-9999-94C8F7998130}"/>
              </a:ext>
            </a:extLst>
          </p:cNvPr>
          <p:cNvSpPr txBox="1"/>
          <p:nvPr/>
        </p:nvSpPr>
        <p:spPr>
          <a:xfrm>
            <a:off x="1402111" y="4717961"/>
            <a:ext cx="2270173" cy="954107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sv-SE"/>
              <a:t>ARM</a:t>
            </a:r>
          </a:p>
          <a:p>
            <a:pPr algn="ctr"/>
            <a:r>
              <a:rPr lang="sv-SE" sz="1400"/>
              <a:t>1985 -</a:t>
            </a:r>
          </a:p>
          <a:p>
            <a:pPr algn="ctr"/>
            <a:r>
              <a:rPr lang="sv-SE" sz="800">
                <a:solidFill>
                  <a:srgbClr val="C00000"/>
                </a:solidFill>
              </a:rPr>
              <a:t>pay licence to ARM if you want to use</a:t>
            </a:r>
            <a:br>
              <a:rPr lang="sv-SE" sz="800">
                <a:solidFill>
                  <a:srgbClr val="C00000"/>
                </a:solidFill>
              </a:rPr>
            </a:br>
            <a:r>
              <a:rPr lang="sv-SE" sz="800"/>
              <a:t>(phones, tablets, embedded, IoT, servers, mac)</a:t>
            </a:r>
            <a:endParaRPr lang="LID4096" sz="800"/>
          </a:p>
          <a:p>
            <a:pPr algn="ctr"/>
            <a:endParaRPr lang="LID4096" sz="8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C8DBD8-47FC-21BC-8F5A-589949D6585A}"/>
              </a:ext>
            </a:extLst>
          </p:cNvPr>
          <p:cNvSpPr txBox="1"/>
          <p:nvPr/>
        </p:nvSpPr>
        <p:spPr>
          <a:xfrm>
            <a:off x="4431192" y="4990786"/>
            <a:ext cx="2861681" cy="1600438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sv-SE" sz="2800"/>
              <a:t>RISC-V</a:t>
            </a:r>
          </a:p>
          <a:p>
            <a:pPr algn="ctr"/>
            <a:r>
              <a:rPr lang="sv-SE" sz="2800"/>
              <a:t>2010 - </a:t>
            </a:r>
          </a:p>
          <a:p>
            <a:pPr algn="ctr"/>
            <a:r>
              <a:rPr lang="sv-SE" sz="1050" b="1">
                <a:solidFill>
                  <a:schemeClr val="accent6">
                    <a:lumMod val="75000"/>
                  </a:schemeClr>
                </a:solidFill>
              </a:rPr>
              <a:t>free to use for anyone</a:t>
            </a:r>
          </a:p>
          <a:p>
            <a:pPr algn="ctr"/>
            <a:r>
              <a:rPr lang="sv-SE" sz="1050"/>
              <a:t>(embedded systems, microcontrollers, </a:t>
            </a:r>
            <a:br>
              <a:rPr lang="sv-SE" sz="1050"/>
            </a:br>
            <a:r>
              <a:rPr lang="sv-SE" sz="1050"/>
              <a:t>domain-specific accelerators, men växer fort!)</a:t>
            </a:r>
            <a:br>
              <a:rPr lang="sv-SE" sz="1050">
                <a:solidFill>
                  <a:schemeClr val="accent6">
                    <a:lumMod val="75000"/>
                  </a:schemeClr>
                </a:solidFill>
              </a:rPr>
            </a:br>
            <a:endParaRPr lang="LID4096" sz="10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649859-9520-FB0E-B5E0-BFA01DA052C9}"/>
              </a:ext>
            </a:extLst>
          </p:cNvPr>
          <p:cNvSpPr txBox="1"/>
          <p:nvPr/>
        </p:nvSpPr>
        <p:spPr>
          <a:xfrm>
            <a:off x="8122279" y="4717961"/>
            <a:ext cx="1387816" cy="892552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sv-SE"/>
              <a:t>IBM POWER</a:t>
            </a:r>
          </a:p>
          <a:p>
            <a:pPr algn="ctr"/>
            <a:r>
              <a:rPr lang="sv-SE"/>
              <a:t>1990 -</a:t>
            </a:r>
            <a:br>
              <a:rPr lang="sv-SE"/>
            </a:br>
            <a:r>
              <a:rPr lang="sv-SE" sz="800">
                <a:solidFill>
                  <a:srgbClr val="C00000"/>
                </a:solidFill>
              </a:rPr>
              <a:t>only IBM uses (these days)</a:t>
            </a:r>
          </a:p>
          <a:p>
            <a:pPr algn="ctr"/>
            <a:r>
              <a:rPr lang="sv-SE" sz="800"/>
              <a:t>(enterprise servers, hpc)</a:t>
            </a:r>
            <a:endParaRPr lang="LID4096" sz="8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E35DC7E-0D25-BA9E-5C00-1BE4C451C227}"/>
              </a:ext>
            </a:extLst>
          </p:cNvPr>
          <p:cNvCxnSpPr>
            <a:stCxn id="10" idx="3"/>
            <a:endCxn id="4" idx="1"/>
          </p:cNvCxnSpPr>
          <p:nvPr/>
        </p:nvCxnSpPr>
        <p:spPr>
          <a:xfrm flipV="1">
            <a:off x="3029160" y="3178935"/>
            <a:ext cx="1044856" cy="23083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08C926A-4ACA-8F21-17C3-A97AC7A7D009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3672284" y="4426038"/>
            <a:ext cx="573451" cy="7689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D22BD50-4A2E-8E1A-46A4-13DA4E575C36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V="1">
            <a:off x="5862033" y="4426038"/>
            <a:ext cx="0" cy="564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B9F1DA2-1C63-DDEF-7523-431D5F99F46B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650050" y="4177048"/>
            <a:ext cx="1166137" cy="5409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>
            <a:extLst>
              <a:ext uri="{FF2B5EF4-FFF2-40B4-BE49-F238E27FC236}">
                <a16:creationId xmlns:a16="http://schemas.microsoft.com/office/drawing/2014/main" id="{6BFCCE86-ABA5-2E90-CDAA-CFA104A9CB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3968" y="3579044"/>
            <a:ext cx="1742237" cy="3278956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C3F7B7F0-3E0D-7D25-B7E6-6048A1D080D4}"/>
              </a:ext>
            </a:extLst>
          </p:cNvPr>
          <p:cNvGrpSpPr/>
          <p:nvPr/>
        </p:nvGrpSpPr>
        <p:grpSpPr>
          <a:xfrm>
            <a:off x="7950775" y="4077166"/>
            <a:ext cx="2465652" cy="2814106"/>
            <a:chOff x="7950775" y="4077166"/>
            <a:chExt cx="2465652" cy="281410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816B1D0-AF29-489F-A882-8B9A9472FA45}"/>
                </a:ext>
              </a:extLst>
            </p:cNvPr>
            <p:cNvSpPr txBox="1"/>
            <p:nvPr/>
          </p:nvSpPr>
          <p:spPr>
            <a:xfrm rot="1348636">
              <a:off x="9323771" y="4077166"/>
              <a:ext cx="94609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200">
                  <a:latin typeface="Amasis MT Pro Medium" panose="02040604050005020304" pitchFamily="18" charset="0"/>
                  <a:cs typeface="Aldhabi" panose="020F0502020204030204" pitchFamily="2" charset="-78"/>
                </a:rPr>
                <a:t>kompilator</a:t>
              </a:r>
              <a:endParaRPr lang="LID4096" sz="1200">
                <a:latin typeface="Amasis MT Pro Medium" panose="02040604050005020304" pitchFamily="18" charset="0"/>
                <a:cs typeface="Aldhabi" panose="020F0502020204030204" pitchFamily="2" charset="-78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1E777C6-FD08-31F7-DE38-0FEAA117B269}"/>
                </a:ext>
              </a:extLst>
            </p:cNvPr>
            <p:cNvSpPr txBox="1"/>
            <p:nvPr/>
          </p:nvSpPr>
          <p:spPr>
            <a:xfrm rot="898342">
              <a:off x="9067505" y="4385977"/>
              <a:ext cx="88517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200">
                  <a:latin typeface="Amasis MT Pro Medium" panose="02040604050005020304" pitchFamily="18" charset="0"/>
                  <a:cs typeface="Aldhabi" panose="020F0502020204030204" pitchFamily="2" charset="-78"/>
                </a:rPr>
                <a:t>assembler</a:t>
              </a:r>
              <a:endParaRPr lang="LID4096" sz="1200">
                <a:latin typeface="Amasis MT Pro Medium" panose="02040604050005020304" pitchFamily="18" charset="0"/>
                <a:cs typeface="Aldhabi" panose="020F0502020204030204" pitchFamily="2" charset="-78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D2F8E5D-0737-CC5A-23F9-F5BC8FEAB65A}"/>
                </a:ext>
              </a:extLst>
            </p:cNvPr>
            <p:cNvSpPr txBox="1"/>
            <p:nvPr/>
          </p:nvSpPr>
          <p:spPr>
            <a:xfrm>
              <a:off x="9572124" y="4852287"/>
              <a:ext cx="7040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200">
                  <a:latin typeface="Amasis MT Pro Medium" panose="02040604050005020304" pitchFamily="18" charset="0"/>
                  <a:cs typeface="Aldhabi" panose="020F0502020204030204" pitchFamily="2" charset="-78"/>
                </a:rPr>
                <a:t>länkare</a:t>
              </a:r>
              <a:endParaRPr lang="LID4096" sz="1200">
                <a:latin typeface="Amasis MT Pro Medium" panose="02040604050005020304" pitchFamily="18" charset="0"/>
                <a:cs typeface="Aldhabi" panose="020F0502020204030204" pitchFamily="2" charset="-78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EEF7C7E-6F3F-6736-381C-254925A2ADE5}"/>
                </a:ext>
              </a:extLst>
            </p:cNvPr>
            <p:cNvSpPr txBox="1"/>
            <p:nvPr/>
          </p:nvSpPr>
          <p:spPr>
            <a:xfrm rot="20820615">
              <a:off x="9156132" y="5396413"/>
              <a:ext cx="94769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200">
                  <a:latin typeface="Amasis MT Pro Medium" panose="02040604050005020304" pitchFamily="18" charset="0"/>
                  <a:cs typeface="Aldhabi" panose="020F0502020204030204" pitchFamily="2" charset="-78"/>
                </a:rPr>
                <a:t>optimerare</a:t>
              </a:r>
              <a:endParaRPr lang="LID4096" sz="1200">
                <a:latin typeface="Amasis MT Pro Medium" panose="02040604050005020304" pitchFamily="18" charset="0"/>
                <a:cs typeface="Aldhabi" panose="020F0502020204030204" pitchFamily="2" charset="-78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C0259BB-87AF-CBA2-DC57-68766C804F85}"/>
                </a:ext>
              </a:extLst>
            </p:cNvPr>
            <p:cNvSpPr txBox="1"/>
            <p:nvPr/>
          </p:nvSpPr>
          <p:spPr>
            <a:xfrm rot="19570960">
              <a:off x="9431862" y="5853868"/>
              <a:ext cx="98456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200">
                  <a:latin typeface="Amasis MT Pro Medium" panose="02040604050005020304" pitchFamily="18" charset="0"/>
                  <a:cs typeface="Aldhabi" panose="020F0502020204030204" pitchFamily="2" charset="-78"/>
                </a:rPr>
                <a:t>debug tools</a:t>
              </a:r>
              <a:endParaRPr lang="LID4096" sz="1200">
                <a:latin typeface="Amasis MT Pro Medium" panose="02040604050005020304" pitchFamily="18" charset="0"/>
                <a:cs typeface="Aldhabi" panose="020F0502020204030204" pitchFamily="2" charset="-78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7EC8610-8433-6796-5D17-468199E06656}"/>
                </a:ext>
              </a:extLst>
            </p:cNvPr>
            <p:cNvSpPr txBox="1"/>
            <p:nvPr/>
          </p:nvSpPr>
          <p:spPr>
            <a:xfrm rot="20956128">
              <a:off x="7950775" y="5808202"/>
              <a:ext cx="17796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latin typeface="Amasis MT Pro Medium" panose="02040604050005020304" pitchFamily="18" charset="0"/>
                  <a:cs typeface="Aldhabi" panose="020F0502020204030204" pitchFamily="2" charset="-78"/>
                </a:rPr>
                <a:t>operativsystem</a:t>
              </a:r>
              <a:endParaRPr lang="LID4096">
                <a:latin typeface="Amasis MT Pro Medium" panose="02040604050005020304" pitchFamily="18" charset="0"/>
                <a:cs typeface="Aldhabi" panose="020F0502020204030204" pitchFamily="2" charset="-78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EB1DBE7-7A68-18F8-EF44-A27F3AF1F79E}"/>
                </a:ext>
              </a:extLst>
            </p:cNvPr>
            <p:cNvSpPr txBox="1"/>
            <p:nvPr/>
          </p:nvSpPr>
          <p:spPr>
            <a:xfrm rot="18531493">
              <a:off x="9506006" y="6254560"/>
              <a:ext cx="93487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600">
                  <a:latin typeface="Amasis MT Pro Medium" panose="02040604050005020304" pitchFamily="18" charset="0"/>
                  <a:cs typeface="Aldhabi" panose="020F0502020204030204" pitchFamily="2" charset="-78"/>
                </a:rPr>
                <a:t>libraries</a:t>
              </a:r>
              <a:endParaRPr lang="LID4096" sz="1600">
                <a:latin typeface="Amasis MT Pro Medium" panose="02040604050005020304" pitchFamily="18" charset="0"/>
                <a:cs typeface="Aldhabi" panose="020F0502020204030204" pitchFamily="2" charset="-78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9AB3843-85FC-7011-7F5A-1C2A2961543B}"/>
                </a:ext>
              </a:extLst>
            </p:cNvPr>
            <p:cNvSpPr txBox="1"/>
            <p:nvPr/>
          </p:nvSpPr>
          <p:spPr>
            <a:xfrm rot="20250798">
              <a:off x="9188034" y="6222204"/>
              <a:ext cx="31451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200">
                  <a:latin typeface="Amasis MT Pro Medium" panose="02040604050005020304" pitchFamily="18" charset="0"/>
                  <a:cs typeface="Aldhabi" panose="020F0502020204030204" pitchFamily="2" charset="-78"/>
                </a:rPr>
                <a:t>...</a:t>
              </a:r>
              <a:endParaRPr lang="LID4096" sz="1200">
                <a:latin typeface="Amasis MT Pro Medium" panose="02040604050005020304" pitchFamily="18" charset="0"/>
                <a:cs typeface="Aldhabi" panose="020F0502020204030204" pitchFamily="2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80542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F4CC2-268B-7D8B-DDAB-B7D0B335B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RISC-V - Varianter och extensions</a:t>
            </a:r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DC37481-E257-ACC9-DAF8-51AA117B85A7}"/>
              </a:ext>
            </a:extLst>
          </p:cNvPr>
          <p:cNvGrpSpPr/>
          <p:nvPr/>
        </p:nvGrpSpPr>
        <p:grpSpPr>
          <a:xfrm>
            <a:off x="940157" y="2194199"/>
            <a:ext cx="2745290" cy="3966539"/>
            <a:chOff x="995966" y="2370210"/>
            <a:chExt cx="2745290" cy="396653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1EA4480-7CAA-128F-BEA8-4BDFEC38C065}"/>
                </a:ext>
              </a:extLst>
            </p:cNvPr>
            <p:cNvSpPr txBox="1"/>
            <p:nvPr/>
          </p:nvSpPr>
          <p:spPr>
            <a:xfrm>
              <a:off x="1094704" y="2902039"/>
              <a:ext cx="2637966" cy="11079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sv-SE" b="1"/>
                <a:t>RV32I</a:t>
              </a:r>
              <a:br>
                <a:rPr lang="sv-SE"/>
              </a:br>
              <a:r>
                <a:rPr lang="sv-SE" sz="1200"/>
                <a:t>basinstruktionsuppsättning för heltal</a:t>
              </a:r>
              <a:br>
                <a:rPr lang="sv-SE" sz="1200"/>
              </a:br>
              <a:r>
                <a:rPr lang="sv-SE" sz="1200"/>
                <a:t>47 instruktioner</a:t>
              </a:r>
              <a:br>
                <a:rPr lang="sv-SE" sz="1200"/>
              </a:br>
              <a:r>
                <a:rPr lang="sv-SE" sz="1200"/>
                <a:t>32 st </a:t>
              </a:r>
              <a:r>
                <a:rPr lang="sv-SE" sz="1200" b="1"/>
                <a:t>32</a:t>
              </a:r>
              <a:r>
                <a:rPr lang="sv-SE" sz="1200"/>
                <a:t>-bitars register</a:t>
              </a:r>
            </a:p>
            <a:p>
              <a:r>
                <a:rPr lang="sv-SE" sz="1200" b="1"/>
                <a:t>32</a:t>
              </a:r>
              <a:r>
                <a:rPr lang="sv-SE" sz="1200"/>
                <a:t>-bitars addressrymd</a:t>
              </a:r>
              <a:endParaRPr lang="LID4096" sz="120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9D7982-D573-A2C4-078F-A0195402BCD0}"/>
                </a:ext>
              </a:extLst>
            </p:cNvPr>
            <p:cNvSpPr txBox="1"/>
            <p:nvPr/>
          </p:nvSpPr>
          <p:spPr>
            <a:xfrm>
              <a:off x="1103290" y="4157729"/>
              <a:ext cx="2637966" cy="11079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sv-SE" b="1"/>
                <a:t>RV64I</a:t>
              </a:r>
              <a:br>
                <a:rPr lang="sv-SE"/>
              </a:br>
              <a:r>
                <a:rPr lang="sv-SE" sz="1200"/>
                <a:t>basinstruktionsuppsättning för heltal</a:t>
              </a:r>
              <a:br>
                <a:rPr lang="sv-SE" sz="1200"/>
              </a:br>
              <a:r>
                <a:rPr lang="sv-SE" sz="1200"/>
                <a:t>47 instruktioner</a:t>
              </a:r>
              <a:br>
                <a:rPr lang="sv-SE" sz="1200"/>
              </a:br>
              <a:r>
                <a:rPr lang="sv-SE" sz="1200"/>
                <a:t>32 st </a:t>
              </a:r>
              <a:r>
                <a:rPr lang="sv-SE" sz="1200" b="1"/>
                <a:t>64</a:t>
              </a:r>
              <a:r>
                <a:rPr lang="sv-SE" sz="1200"/>
                <a:t>-bitars register</a:t>
              </a:r>
            </a:p>
            <a:p>
              <a:r>
                <a:rPr lang="sv-SE" sz="1200" b="1"/>
                <a:t>64</a:t>
              </a:r>
              <a:r>
                <a:rPr lang="sv-SE" sz="1200"/>
                <a:t>-bitars addressrymd</a:t>
              </a:r>
              <a:endParaRPr lang="LID4096" sz="120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6D3B81D-6BF1-2B41-337D-8809E81352DA}"/>
                </a:ext>
              </a:extLst>
            </p:cNvPr>
            <p:cNvSpPr txBox="1"/>
            <p:nvPr/>
          </p:nvSpPr>
          <p:spPr>
            <a:xfrm>
              <a:off x="1094704" y="5413419"/>
              <a:ext cx="257788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sv-SE" b="1"/>
                <a:t>RV128I</a:t>
              </a:r>
              <a:br>
                <a:rPr lang="sv-SE"/>
              </a:br>
              <a:r>
                <a:rPr lang="sv-SE" sz="1200"/>
                <a:t>(specifikationen finns, men används</a:t>
              </a:r>
              <a:br>
                <a:rPr lang="sv-SE" sz="1200"/>
              </a:br>
              <a:r>
                <a:rPr lang="sv-SE" sz="1200"/>
                <a:t> inte vad jag vet. Ingen efterfrågan </a:t>
              </a:r>
              <a:br>
                <a:rPr lang="sv-SE" sz="1200"/>
              </a:br>
              <a:r>
                <a:rPr lang="sv-SE" sz="1200"/>
                <a:t>och mycket svårare att bygga)</a:t>
              </a:r>
              <a:endParaRPr lang="LID4096" sz="120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29009CC-E6EC-8B43-889F-8A8DD4F2C128}"/>
                </a:ext>
              </a:extLst>
            </p:cNvPr>
            <p:cNvSpPr txBox="1"/>
            <p:nvPr/>
          </p:nvSpPr>
          <p:spPr>
            <a:xfrm>
              <a:off x="995966" y="2370210"/>
              <a:ext cx="12579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b="1"/>
                <a:t>Varianter: </a:t>
              </a:r>
              <a:endParaRPr lang="LID4096" b="1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02193A6-075C-CDEB-4620-E03200045CD7}"/>
              </a:ext>
            </a:extLst>
          </p:cNvPr>
          <p:cNvSpPr txBox="1"/>
          <p:nvPr/>
        </p:nvSpPr>
        <p:spPr>
          <a:xfrm>
            <a:off x="4067577" y="2194199"/>
            <a:ext cx="1454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/>
              <a:t>Extensions: </a:t>
            </a:r>
            <a:endParaRPr lang="LID4096" b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EBB046-2878-C5D5-8E0A-0097029766E8}"/>
              </a:ext>
            </a:extLst>
          </p:cNvPr>
          <p:cNvSpPr txBox="1"/>
          <p:nvPr/>
        </p:nvSpPr>
        <p:spPr>
          <a:xfrm>
            <a:off x="4149143" y="2616558"/>
            <a:ext cx="230357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F </a:t>
            </a:r>
            <a:r>
              <a:rPr lang="sv-SE" sz="1200"/>
              <a:t>single precision floating point</a:t>
            </a:r>
            <a:br>
              <a:rPr lang="sv-SE"/>
            </a:br>
            <a:r>
              <a:rPr lang="sv-SE" sz="1200"/>
              <a:t>26 instruktioner</a:t>
            </a:r>
          </a:p>
          <a:p>
            <a:r>
              <a:rPr lang="sv-SE" sz="1200"/>
              <a:t>32 st 32-bitars flyttalsregister</a:t>
            </a:r>
            <a:endParaRPr lang="LID4096" sz="12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A04108-47B1-952C-9332-748C54D37BEC}"/>
              </a:ext>
            </a:extLst>
          </p:cNvPr>
          <p:cNvSpPr txBox="1"/>
          <p:nvPr/>
        </p:nvSpPr>
        <p:spPr>
          <a:xfrm>
            <a:off x="4149142" y="3408249"/>
            <a:ext cx="2415790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D </a:t>
            </a:r>
            <a:r>
              <a:rPr lang="sv-SE" sz="1200"/>
              <a:t>double precision floating point</a:t>
            </a:r>
            <a:br>
              <a:rPr lang="sv-SE"/>
            </a:br>
            <a:r>
              <a:rPr lang="sv-SE" sz="1200"/>
              <a:t>26 instruktioner</a:t>
            </a:r>
          </a:p>
          <a:p>
            <a:r>
              <a:rPr lang="sv-SE" sz="1200"/>
              <a:t>32 st 64-bitars flyttalsregister</a:t>
            </a:r>
            <a:endParaRPr lang="LID4096" sz="12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FDE5F5-A1CD-CC06-4902-D2937CD9A3B6}"/>
              </a:ext>
            </a:extLst>
          </p:cNvPr>
          <p:cNvSpPr txBox="1"/>
          <p:nvPr/>
        </p:nvSpPr>
        <p:spPr>
          <a:xfrm>
            <a:off x="4149142" y="4199940"/>
            <a:ext cx="2115387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C </a:t>
            </a:r>
            <a:r>
              <a:rPr lang="sv-SE" sz="1200"/>
              <a:t>compressed instructions</a:t>
            </a:r>
          </a:p>
          <a:p>
            <a:r>
              <a:rPr lang="sv-SE" sz="1200"/>
              <a:t>34 st 16-bitars instruktioner</a:t>
            </a:r>
            <a:endParaRPr lang="LID4096" sz="1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75B604-891D-1429-ADB4-498EE3324632}"/>
              </a:ext>
            </a:extLst>
          </p:cNvPr>
          <p:cNvSpPr txBox="1"/>
          <p:nvPr/>
        </p:nvSpPr>
        <p:spPr>
          <a:xfrm>
            <a:off x="4149141" y="5413990"/>
            <a:ext cx="16862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Sv32 </a:t>
            </a:r>
            <a:r>
              <a:rPr lang="sv-SE" sz="1200"/>
              <a:t>virtuellt minne</a:t>
            </a:r>
            <a:endParaRPr lang="LID4096" sz="12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E457A7-B952-6D8E-7B0F-E8E8687E3850}"/>
              </a:ext>
            </a:extLst>
          </p:cNvPr>
          <p:cNvSpPr txBox="1"/>
          <p:nvPr/>
        </p:nvSpPr>
        <p:spPr>
          <a:xfrm>
            <a:off x="4149141" y="4868076"/>
            <a:ext cx="178914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A </a:t>
            </a:r>
            <a:r>
              <a:rPr lang="sv-SE" sz="1200"/>
              <a:t>atomiska operationer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5375BD-3991-5DD6-9A72-B1326722B92E}"/>
              </a:ext>
            </a:extLst>
          </p:cNvPr>
          <p:cNvSpPr txBox="1"/>
          <p:nvPr/>
        </p:nvSpPr>
        <p:spPr>
          <a:xfrm>
            <a:off x="4139981" y="5864474"/>
            <a:ext cx="39145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...</a:t>
            </a:r>
            <a:endParaRPr lang="LID4096" sz="1200"/>
          </a:p>
        </p:txBody>
      </p:sp>
    </p:spTree>
    <p:extLst>
      <p:ext uri="{BB962C8B-B14F-4D97-AF65-F5344CB8AC3E}">
        <p14:creationId xmlns:p14="http://schemas.microsoft.com/office/powerpoint/2010/main" val="3305752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DB824-B7D5-1420-2D5D-DC0D40BF6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FE794-0452-29A4-3CC1-A76A4FEE6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RISC-V - Varianter och extensions</a:t>
            </a:r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050D185-AF5E-3658-98BF-BD3C9AD2F113}"/>
              </a:ext>
            </a:extLst>
          </p:cNvPr>
          <p:cNvGrpSpPr/>
          <p:nvPr/>
        </p:nvGrpSpPr>
        <p:grpSpPr>
          <a:xfrm>
            <a:off x="940157" y="2194199"/>
            <a:ext cx="2745290" cy="3966539"/>
            <a:chOff x="995966" y="2370210"/>
            <a:chExt cx="2745290" cy="396653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D3C2649-0497-D07D-2D15-3FF0359A11E0}"/>
                </a:ext>
              </a:extLst>
            </p:cNvPr>
            <p:cNvSpPr txBox="1"/>
            <p:nvPr/>
          </p:nvSpPr>
          <p:spPr>
            <a:xfrm>
              <a:off x="1094704" y="2902039"/>
              <a:ext cx="2637966" cy="110799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sv-SE" b="1"/>
                <a:t>RV32I</a:t>
              </a:r>
              <a:br>
                <a:rPr lang="sv-SE"/>
              </a:br>
              <a:r>
                <a:rPr lang="sv-SE" sz="1200"/>
                <a:t>basinstruktionsuppsättning för heltal</a:t>
              </a:r>
              <a:br>
                <a:rPr lang="sv-SE" sz="1200"/>
              </a:br>
              <a:r>
                <a:rPr lang="sv-SE" sz="1200"/>
                <a:t>47 instruktioner</a:t>
              </a:r>
              <a:br>
                <a:rPr lang="sv-SE" sz="1200"/>
              </a:br>
              <a:r>
                <a:rPr lang="sv-SE" sz="1200"/>
                <a:t>32 st </a:t>
              </a:r>
              <a:r>
                <a:rPr lang="sv-SE" sz="1200" b="1"/>
                <a:t>32</a:t>
              </a:r>
              <a:r>
                <a:rPr lang="sv-SE" sz="1200"/>
                <a:t>-bitars register</a:t>
              </a:r>
            </a:p>
            <a:p>
              <a:r>
                <a:rPr lang="sv-SE" sz="1200" b="1"/>
                <a:t>32</a:t>
              </a:r>
              <a:r>
                <a:rPr lang="sv-SE" sz="1200"/>
                <a:t>-bitars addressrymd</a:t>
              </a:r>
              <a:endParaRPr lang="LID4096" sz="120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73C5FFF-9B58-5F8D-5F90-E2E2D4856236}"/>
                </a:ext>
              </a:extLst>
            </p:cNvPr>
            <p:cNvSpPr txBox="1"/>
            <p:nvPr/>
          </p:nvSpPr>
          <p:spPr>
            <a:xfrm>
              <a:off x="1103290" y="4157729"/>
              <a:ext cx="2637966" cy="11079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sv-SE" b="1"/>
                <a:t>RV64I</a:t>
              </a:r>
              <a:br>
                <a:rPr lang="sv-SE"/>
              </a:br>
              <a:r>
                <a:rPr lang="sv-SE" sz="1200"/>
                <a:t>basinstruktionsuppsättning för heltal</a:t>
              </a:r>
              <a:br>
                <a:rPr lang="sv-SE" sz="1200"/>
              </a:br>
              <a:r>
                <a:rPr lang="sv-SE" sz="1200"/>
                <a:t>47 instruktioner</a:t>
              </a:r>
              <a:br>
                <a:rPr lang="sv-SE" sz="1200"/>
              </a:br>
              <a:r>
                <a:rPr lang="sv-SE" sz="1200"/>
                <a:t>32 st </a:t>
              </a:r>
              <a:r>
                <a:rPr lang="sv-SE" sz="1200" b="1"/>
                <a:t>64</a:t>
              </a:r>
              <a:r>
                <a:rPr lang="sv-SE" sz="1200"/>
                <a:t>-bitars register</a:t>
              </a:r>
            </a:p>
            <a:p>
              <a:r>
                <a:rPr lang="sv-SE" sz="1200" b="1"/>
                <a:t>64</a:t>
              </a:r>
              <a:r>
                <a:rPr lang="sv-SE" sz="1200"/>
                <a:t>-bitars addressrymd</a:t>
              </a:r>
              <a:endParaRPr lang="LID4096" sz="120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A082149-EF03-EB06-7776-460C949E75C5}"/>
                </a:ext>
              </a:extLst>
            </p:cNvPr>
            <p:cNvSpPr txBox="1"/>
            <p:nvPr/>
          </p:nvSpPr>
          <p:spPr>
            <a:xfrm>
              <a:off x="1094704" y="5413419"/>
              <a:ext cx="257788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sv-SE" b="1"/>
                <a:t>RV128I</a:t>
              </a:r>
              <a:br>
                <a:rPr lang="sv-SE"/>
              </a:br>
              <a:r>
                <a:rPr lang="sv-SE" sz="1200"/>
                <a:t>(specifikationen finns, men används</a:t>
              </a:r>
              <a:br>
                <a:rPr lang="sv-SE" sz="1200"/>
              </a:br>
              <a:r>
                <a:rPr lang="sv-SE" sz="1200"/>
                <a:t> inte vad jag vet. Ingen efterfrågan </a:t>
              </a:r>
              <a:br>
                <a:rPr lang="sv-SE" sz="1200"/>
              </a:br>
              <a:r>
                <a:rPr lang="sv-SE" sz="1200"/>
                <a:t>och mycket svårare att bygga)</a:t>
              </a:r>
              <a:endParaRPr lang="LID4096" sz="120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751C767-1EF8-C3B5-B632-62DFAA4E0C7A}"/>
                </a:ext>
              </a:extLst>
            </p:cNvPr>
            <p:cNvSpPr txBox="1"/>
            <p:nvPr/>
          </p:nvSpPr>
          <p:spPr>
            <a:xfrm>
              <a:off x="995966" y="2370210"/>
              <a:ext cx="12579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b="1"/>
                <a:t>Varianter: </a:t>
              </a:r>
              <a:endParaRPr lang="LID4096" b="1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9F304CA-01A6-E331-6DA9-0D022A67678E}"/>
              </a:ext>
            </a:extLst>
          </p:cNvPr>
          <p:cNvSpPr txBox="1"/>
          <p:nvPr/>
        </p:nvSpPr>
        <p:spPr>
          <a:xfrm>
            <a:off x="4067577" y="2194199"/>
            <a:ext cx="1454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/>
              <a:t>Extensions: </a:t>
            </a:r>
            <a:endParaRPr lang="LID4096" b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760174-A6EA-A611-BB4C-6C111B5B5364}"/>
              </a:ext>
            </a:extLst>
          </p:cNvPr>
          <p:cNvSpPr txBox="1"/>
          <p:nvPr/>
        </p:nvSpPr>
        <p:spPr>
          <a:xfrm>
            <a:off x="4149143" y="2616558"/>
            <a:ext cx="230357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F </a:t>
            </a:r>
            <a:r>
              <a:rPr lang="sv-SE" sz="1200"/>
              <a:t>single precision floating point</a:t>
            </a:r>
            <a:br>
              <a:rPr lang="sv-SE"/>
            </a:br>
            <a:r>
              <a:rPr lang="sv-SE" sz="1200"/>
              <a:t>26 instruktioner</a:t>
            </a:r>
          </a:p>
          <a:p>
            <a:r>
              <a:rPr lang="sv-SE" sz="1200"/>
              <a:t>32 st 32-bitars flyttalsregister</a:t>
            </a:r>
            <a:endParaRPr lang="LID4096" sz="12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A192C1-5317-C232-04F7-D7C1B615467C}"/>
              </a:ext>
            </a:extLst>
          </p:cNvPr>
          <p:cNvSpPr txBox="1"/>
          <p:nvPr/>
        </p:nvSpPr>
        <p:spPr>
          <a:xfrm>
            <a:off x="4149142" y="3408249"/>
            <a:ext cx="2415790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D </a:t>
            </a:r>
            <a:r>
              <a:rPr lang="sv-SE" sz="1200"/>
              <a:t>double precision floating point</a:t>
            </a:r>
            <a:br>
              <a:rPr lang="sv-SE"/>
            </a:br>
            <a:r>
              <a:rPr lang="sv-SE" sz="1200"/>
              <a:t>26 instruktioner</a:t>
            </a:r>
          </a:p>
          <a:p>
            <a:r>
              <a:rPr lang="sv-SE" sz="1200"/>
              <a:t>32 st 64-bitars flyttalsregister</a:t>
            </a:r>
            <a:endParaRPr lang="LID4096" sz="12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F543E1-9E15-E153-8A1C-56981959A644}"/>
              </a:ext>
            </a:extLst>
          </p:cNvPr>
          <p:cNvSpPr txBox="1"/>
          <p:nvPr/>
        </p:nvSpPr>
        <p:spPr>
          <a:xfrm>
            <a:off x="4149142" y="4199940"/>
            <a:ext cx="2115387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C </a:t>
            </a:r>
            <a:r>
              <a:rPr lang="sv-SE" sz="1200"/>
              <a:t>compressed instructions</a:t>
            </a:r>
          </a:p>
          <a:p>
            <a:r>
              <a:rPr lang="sv-SE" sz="1200"/>
              <a:t>34 st 16-bitars instruktioner</a:t>
            </a:r>
            <a:endParaRPr lang="LID4096" sz="1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EBB976-DC7C-CE94-7662-38E2365F112C}"/>
              </a:ext>
            </a:extLst>
          </p:cNvPr>
          <p:cNvSpPr txBox="1"/>
          <p:nvPr/>
        </p:nvSpPr>
        <p:spPr>
          <a:xfrm>
            <a:off x="4149141" y="5413990"/>
            <a:ext cx="16862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Sv32 </a:t>
            </a:r>
            <a:r>
              <a:rPr lang="sv-SE" sz="1200"/>
              <a:t>virtuellt minne</a:t>
            </a:r>
            <a:endParaRPr lang="LID4096" sz="12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17B71F-5AA9-FFA8-FF32-AD2E42BCE6DE}"/>
              </a:ext>
            </a:extLst>
          </p:cNvPr>
          <p:cNvSpPr txBox="1"/>
          <p:nvPr/>
        </p:nvSpPr>
        <p:spPr>
          <a:xfrm>
            <a:off x="4149141" y="4868076"/>
            <a:ext cx="178914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A </a:t>
            </a:r>
            <a:r>
              <a:rPr lang="sv-SE" sz="1200"/>
              <a:t>atomiska operationer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283749-CB03-C7E5-B558-65ADA989BE74}"/>
              </a:ext>
            </a:extLst>
          </p:cNvPr>
          <p:cNvSpPr txBox="1"/>
          <p:nvPr/>
        </p:nvSpPr>
        <p:spPr>
          <a:xfrm>
            <a:off x="4139981" y="5864474"/>
            <a:ext cx="39145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...</a:t>
            </a:r>
            <a:endParaRPr lang="LID4096" sz="120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42F5784-52EF-2784-DAC6-938E797FA5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4157" y="2563531"/>
            <a:ext cx="2198772" cy="3437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4896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1716A-90F3-0E2E-BDB2-62B1D1940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F8630-3C2E-6423-7130-C03194FBC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RISC-V - Varianter och extensions</a:t>
            </a:r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EB737E-3995-6A9D-8F6A-80D0DEFF1B6C}"/>
              </a:ext>
            </a:extLst>
          </p:cNvPr>
          <p:cNvGrpSpPr/>
          <p:nvPr/>
        </p:nvGrpSpPr>
        <p:grpSpPr>
          <a:xfrm>
            <a:off x="940157" y="2194199"/>
            <a:ext cx="2745290" cy="3966539"/>
            <a:chOff x="995966" y="2370210"/>
            <a:chExt cx="2745290" cy="396653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ABC8C79-42E5-4E1F-F5CB-652ADE91CA8B}"/>
                </a:ext>
              </a:extLst>
            </p:cNvPr>
            <p:cNvSpPr txBox="1"/>
            <p:nvPr/>
          </p:nvSpPr>
          <p:spPr>
            <a:xfrm>
              <a:off x="1094704" y="2902039"/>
              <a:ext cx="2637966" cy="110799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sv-SE" b="1"/>
                <a:t>RV32I</a:t>
              </a:r>
              <a:br>
                <a:rPr lang="sv-SE"/>
              </a:br>
              <a:r>
                <a:rPr lang="sv-SE" sz="1200"/>
                <a:t>basinstruktionsuppsättning för heltal</a:t>
              </a:r>
              <a:br>
                <a:rPr lang="sv-SE" sz="1200"/>
              </a:br>
              <a:r>
                <a:rPr lang="sv-SE" sz="1200"/>
                <a:t>47 instruktioner</a:t>
              </a:r>
              <a:br>
                <a:rPr lang="sv-SE" sz="1200"/>
              </a:br>
              <a:r>
                <a:rPr lang="sv-SE" sz="1200"/>
                <a:t>32 st </a:t>
              </a:r>
              <a:r>
                <a:rPr lang="sv-SE" sz="1200" b="1"/>
                <a:t>32</a:t>
              </a:r>
              <a:r>
                <a:rPr lang="sv-SE" sz="1200"/>
                <a:t>-bitars register</a:t>
              </a:r>
            </a:p>
            <a:p>
              <a:r>
                <a:rPr lang="sv-SE" sz="1200" b="1"/>
                <a:t>32</a:t>
              </a:r>
              <a:r>
                <a:rPr lang="sv-SE" sz="1200"/>
                <a:t>-bitars addressrymd</a:t>
              </a:r>
              <a:endParaRPr lang="LID4096" sz="120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DA73CD3-48DF-B457-4E9D-CCF4911AA11B}"/>
                </a:ext>
              </a:extLst>
            </p:cNvPr>
            <p:cNvSpPr txBox="1"/>
            <p:nvPr/>
          </p:nvSpPr>
          <p:spPr>
            <a:xfrm>
              <a:off x="1103290" y="4157729"/>
              <a:ext cx="2637966" cy="1107996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sv-SE" b="1"/>
                <a:t>RV64I</a:t>
              </a:r>
              <a:br>
                <a:rPr lang="sv-SE"/>
              </a:br>
              <a:r>
                <a:rPr lang="sv-SE" sz="1200"/>
                <a:t>basinstruktionsuppsättning för heltal</a:t>
              </a:r>
              <a:br>
                <a:rPr lang="sv-SE" sz="1200"/>
              </a:br>
              <a:r>
                <a:rPr lang="sv-SE" sz="1200"/>
                <a:t>47 instruktioner</a:t>
              </a:r>
              <a:br>
                <a:rPr lang="sv-SE" sz="1200"/>
              </a:br>
              <a:r>
                <a:rPr lang="sv-SE" sz="1200"/>
                <a:t>32 st </a:t>
              </a:r>
              <a:r>
                <a:rPr lang="sv-SE" sz="1200" b="1"/>
                <a:t>64</a:t>
              </a:r>
              <a:r>
                <a:rPr lang="sv-SE" sz="1200"/>
                <a:t>-bitars register</a:t>
              </a:r>
            </a:p>
            <a:p>
              <a:r>
                <a:rPr lang="sv-SE" sz="1200" b="1"/>
                <a:t>64</a:t>
              </a:r>
              <a:r>
                <a:rPr lang="sv-SE" sz="1200"/>
                <a:t>-bitars addressrymd</a:t>
              </a:r>
              <a:endParaRPr lang="LID4096" sz="120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108D2AE-725A-EE92-F312-82B758260B15}"/>
                </a:ext>
              </a:extLst>
            </p:cNvPr>
            <p:cNvSpPr txBox="1"/>
            <p:nvPr/>
          </p:nvSpPr>
          <p:spPr>
            <a:xfrm>
              <a:off x="1094704" y="5413419"/>
              <a:ext cx="257788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sv-SE" b="1"/>
                <a:t>RV128I</a:t>
              </a:r>
              <a:br>
                <a:rPr lang="sv-SE"/>
              </a:br>
              <a:r>
                <a:rPr lang="sv-SE" sz="1200"/>
                <a:t>(specifikationen finns, men används</a:t>
              </a:r>
              <a:br>
                <a:rPr lang="sv-SE" sz="1200"/>
              </a:br>
              <a:r>
                <a:rPr lang="sv-SE" sz="1200"/>
                <a:t> inte vad jag vet. Ingen efterfrågan </a:t>
              </a:r>
              <a:br>
                <a:rPr lang="sv-SE" sz="1200"/>
              </a:br>
              <a:r>
                <a:rPr lang="sv-SE" sz="1200"/>
                <a:t>och mycket svårare att bygga)</a:t>
              </a:r>
              <a:endParaRPr lang="LID4096" sz="120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86352A-B928-D066-3596-F0A80AB90BD0}"/>
                </a:ext>
              </a:extLst>
            </p:cNvPr>
            <p:cNvSpPr txBox="1"/>
            <p:nvPr/>
          </p:nvSpPr>
          <p:spPr>
            <a:xfrm>
              <a:off x="995966" y="2370210"/>
              <a:ext cx="12579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b="1"/>
                <a:t>Varianter: </a:t>
              </a:r>
              <a:endParaRPr lang="LID4096" b="1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8136CDE-8603-49F2-A33E-3B6063EF9BC0}"/>
              </a:ext>
            </a:extLst>
          </p:cNvPr>
          <p:cNvSpPr txBox="1"/>
          <p:nvPr/>
        </p:nvSpPr>
        <p:spPr>
          <a:xfrm>
            <a:off x="4067577" y="2194199"/>
            <a:ext cx="1454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/>
              <a:t>Extensions: </a:t>
            </a:r>
            <a:endParaRPr lang="LID4096" b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ED03E-1E58-6137-0453-C6DA6FA777D7}"/>
              </a:ext>
            </a:extLst>
          </p:cNvPr>
          <p:cNvSpPr txBox="1"/>
          <p:nvPr/>
        </p:nvSpPr>
        <p:spPr>
          <a:xfrm>
            <a:off x="4149143" y="2616558"/>
            <a:ext cx="2303579" cy="73866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F </a:t>
            </a:r>
            <a:r>
              <a:rPr lang="sv-SE" sz="1200"/>
              <a:t>single precision floating point</a:t>
            </a:r>
            <a:br>
              <a:rPr lang="sv-SE"/>
            </a:br>
            <a:r>
              <a:rPr lang="sv-SE" sz="1200"/>
              <a:t>26 instruktioner</a:t>
            </a:r>
          </a:p>
          <a:p>
            <a:r>
              <a:rPr lang="sv-SE" sz="1200"/>
              <a:t>32 st 32-bitars flyttalsregister</a:t>
            </a:r>
            <a:endParaRPr lang="LID4096" sz="12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F95B7D-3EB7-C9B8-0207-9A5E3DD0D184}"/>
              </a:ext>
            </a:extLst>
          </p:cNvPr>
          <p:cNvSpPr txBox="1"/>
          <p:nvPr/>
        </p:nvSpPr>
        <p:spPr>
          <a:xfrm>
            <a:off x="4149142" y="3408249"/>
            <a:ext cx="2415790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D </a:t>
            </a:r>
            <a:r>
              <a:rPr lang="sv-SE" sz="1200"/>
              <a:t>double precision floating point</a:t>
            </a:r>
            <a:br>
              <a:rPr lang="sv-SE"/>
            </a:br>
            <a:r>
              <a:rPr lang="sv-SE" sz="1200"/>
              <a:t>26 instruktioner</a:t>
            </a:r>
          </a:p>
          <a:p>
            <a:r>
              <a:rPr lang="sv-SE" sz="1200"/>
              <a:t>32 st 64-bitars flyttalsregister</a:t>
            </a:r>
            <a:endParaRPr lang="LID4096" sz="12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AC637C-B39A-43A9-222B-1A4FE862D895}"/>
              </a:ext>
            </a:extLst>
          </p:cNvPr>
          <p:cNvSpPr txBox="1"/>
          <p:nvPr/>
        </p:nvSpPr>
        <p:spPr>
          <a:xfrm>
            <a:off x="4149142" y="4199940"/>
            <a:ext cx="2115387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C </a:t>
            </a:r>
            <a:r>
              <a:rPr lang="sv-SE" sz="1200"/>
              <a:t>compressed instructions</a:t>
            </a:r>
          </a:p>
          <a:p>
            <a:r>
              <a:rPr lang="sv-SE" sz="1200"/>
              <a:t>34 st 16-bitars instruktioner</a:t>
            </a:r>
            <a:endParaRPr lang="LID4096" sz="1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4FE69C-D2D2-C69F-9AF5-DC13C2FD640D}"/>
              </a:ext>
            </a:extLst>
          </p:cNvPr>
          <p:cNvSpPr txBox="1"/>
          <p:nvPr/>
        </p:nvSpPr>
        <p:spPr>
          <a:xfrm>
            <a:off x="4149141" y="5413990"/>
            <a:ext cx="16862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Sv32 </a:t>
            </a:r>
            <a:r>
              <a:rPr lang="sv-SE" sz="1200"/>
              <a:t>virtuellt minne</a:t>
            </a:r>
            <a:endParaRPr lang="LID4096" sz="12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B482A5-CD19-0674-4E70-1B4518795130}"/>
              </a:ext>
            </a:extLst>
          </p:cNvPr>
          <p:cNvSpPr txBox="1"/>
          <p:nvPr/>
        </p:nvSpPr>
        <p:spPr>
          <a:xfrm>
            <a:off x="4149141" y="4868076"/>
            <a:ext cx="178914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A </a:t>
            </a:r>
            <a:r>
              <a:rPr lang="sv-SE" sz="1200"/>
              <a:t>atomiska operationer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C294E2-09DE-FBCF-22C1-BA19415CE11B}"/>
              </a:ext>
            </a:extLst>
          </p:cNvPr>
          <p:cNvSpPr txBox="1"/>
          <p:nvPr/>
        </p:nvSpPr>
        <p:spPr>
          <a:xfrm>
            <a:off x="4139981" y="5864474"/>
            <a:ext cx="39145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...</a:t>
            </a:r>
            <a:endParaRPr lang="LID4096" sz="120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82B5EA-973B-D5FE-6706-3BDBBBC86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0567" y="2549757"/>
            <a:ext cx="3436141" cy="349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06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BA57C-48E8-EFA5-FF28-84CF466A8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ACA59-3775-C5D4-CD91-A685EAC26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RISC-V - Varianter och extensions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5FB873-2FE1-2093-7BF4-C7A924176614}"/>
              </a:ext>
            </a:extLst>
          </p:cNvPr>
          <p:cNvSpPr txBox="1"/>
          <p:nvPr/>
        </p:nvSpPr>
        <p:spPr>
          <a:xfrm>
            <a:off x="1038895" y="2726028"/>
            <a:ext cx="2637966" cy="110799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RV32I</a:t>
            </a:r>
            <a:br>
              <a:rPr lang="sv-SE"/>
            </a:br>
            <a:r>
              <a:rPr lang="sv-SE" sz="1200"/>
              <a:t>basinstruktionsuppsättning för heltal</a:t>
            </a:r>
            <a:br>
              <a:rPr lang="sv-SE" sz="1200"/>
            </a:br>
            <a:r>
              <a:rPr lang="sv-SE" sz="1200"/>
              <a:t>47 instruktioner</a:t>
            </a:r>
            <a:br>
              <a:rPr lang="sv-SE" sz="1200"/>
            </a:br>
            <a:r>
              <a:rPr lang="sv-SE" sz="1200"/>
              <a:t>32 st </a:t>
            </a:r>
            <a:r>
              <a:rPr lang="sv-SE" sz="1200" b="1"/>
              <a:t>32</a:t>
            </a:r>
            <a:r>
              <a:rPr lang="sv-SE" sz="1200"/>
              <a:t>-bitars register</a:t>
            </a:r>
          </a:p>
          <a:p>
            <a:r>
              <a:rPr lang="sv-SE" sz="1200" b="1"/>
              <a:t>32</a:t>
            </a:r>
            <a:r>
              <a:rPr lang="sv-SE" sz="1200"/>
              <a:t>-bitars addressrymd</a:t>
            </a:r>
            <a:endParaRPr lang="LID4096" sz="12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700BA5-CE8E-E990-328C-A656605116EB}"/>
              </a:ext>
            </a:extLst>
          </p:cNvPr>
          <p:cNvSpPr txBox="1"/>
          <p:nvPr/>
        </p:nvSpPr>
        <p:spPr>
          <a:xfrm>
            <a:off x="1047481" y="3981718"/>
            <a:ext cx="2637966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RV64I</a:t>
            </a:r>
            <a:br>
              <a:rPr lang="sv-SE"/>
            </a:br>
            <a:r>
              <a:rPr lang="sv-SE" sz="1200"/>
              <a:t>basinstruktionsuppsättning för heltal</a:t>
            </a:r>
            <a:br>
              <a:rPr lang="sv-SE" sz="1200"/>
            </a:br>
            <a:r>
              <a:rPr lang="sv-SE" sz="1200"/>
              <a:t>47 instruktioner</a:t>
            </a:r>
            <a:br>
              <a:rPr lang="sv-SE" sz="1200"/>
            </a:br>
            <a:r>
              <a:rPr lang="sv-SE" sz="1200"/>
              <a:t>32 st </a:t>
            </a:r>
            <a:r>
              <a:rPr lang="sv-SE" sz="1200" b="1"/>
              <a:t>64</a:t>
            </a:r>
            <a:r>
              <a:rPr lang="sv-SE" sz="1200"/>
              <a:t>-bitars register</a:t>
            </a:r>
          </a:p>
          <a:p>
            <a:r>
              <a:rPr lang="sv-SE" sz="1200" b="1"/>
              <a:t>64</a:t>
            </a:r>
            <a:r>
              <a:rPr lang="sv-SE" sz="1200"/>
              <a:t>-bitars addressrymd</a:t>
            </a:r>
            <a:endParaRPr lang="LID4096" sz="12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70607A-9E04-1AF7-16E9-F1B679A6B049}"/>
              </a:ext>
            </a:extLst>
          </p:cNvPr>
          <p:cNvSpPr txBox="1"/>
          <p:nvPr/>
        </p:nvSpPr>
        <p:spPr>
          <a:xfrm>
            <a:off x="1038895" y="5237408"/>
            <a:ext cx="2577885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RV128I</a:t>
            </a:r>
            <a:br>
              <a:rPr lang="sv-SE"/>
            </a:br>
            <a:r>
              <a:rPr lang="sv-SE" sz="1200"/>
              <a:t>(specifikationen finns, men används</a:t>
            </a:r>
            <a:br>
              <a:rPr lang="sv-SE" sz="1200"/>
            </a:br>
            <a:r>
              <a:rPr lang="sv-SE" sz="1200"/>
              <a:t> inte vad jag vet. Ingen efterfrågan </a:t>
            </a:r>
            <a:br>
              <a:rPr lang="sv-SE" sz="1200"/>
            </a:br>
            <a:r>
              <a:rPr lang="sv-SE" sz="1200"/>
              <a:t>och mycket svårare att bygga)</a:t>
            </a:r>
            <a:endParaRPr lang="LID4096" sz="12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A6EC28-845F-779E-CF5D-A7D29B01A5E4}"/>
              </a:ext>
            </a:extLst>
          </p:cNvPr>
          <p:cNvSpPr txBox="1"/>
          <p:nvPr/>
        </p:nvSpPr>
        <p:spPr>
          <a:xfrm>
            <a:off x="940157" y="2194199"/>
            <a:ext cx="1257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/>
              <a:t>Varianter: </a:t>
            </a:r>
            <a:endParaRPr lang="LID4096" b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DF3838-5520-DF98-6ED0-30DFAFE7A37C}"/>
              </a:ext>
            </a:extLst>
          </p:cNvPr>
          <p:cNvSpPr txBox="1"/>
          <p:nvPr/>
        </p:nvSpPr>
        <p:spPr>
          <a:xfrm>
            <a:off x="4067577" y="2194199"/>
            <a:ext cx="1454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/>
              <a:t>Extensions: </a:t>
            </a:r>
            <a:endParaRPr lang="LID4096" b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BDE782-B4E9-FB35-3B5E-F2EE00B1B2EE}"/>
              </a:ext>
            </a:extLst>
          </p:cNvPr>
          <p:cNvSpPr txBox="1"/>
          <p:nvPr/>
        </p:nvSpPr>
        <p:spPr>
          <a:xfrm>
            <a:off x="4149143" y="2616558"/>
            <a:ext cx="230357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F </a:t>
            </a:r>
            <a:r>
              <a:rPr lang="sv-SE" sz="1200"/>
              <a:t>single precision floating point</a:t>
            </a:r>
            <a:br>
              <a:rPr lang="sv-SE"/>
            </a:br>
            <a:r>
              <a:rPr lang="sv-SE" sz="1200"/>
              <a:t>26 instruktioner</a:t>
            </a:r>
          </a:p>
          <a:p>
            <a:r>
              <a:rPr lang="sv-SE" sz="1200"/>
              <a:t>32 st 32-bitars flyttalsregister</a:t>
            </a:r>
            <a:endParaRPr lang="LID4096" sz="12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1A9FDB-4D0A-9B1B-AA74-4FD368B2A2A0}"/>
              </a:ext>
            </a:extLst>
          </p:cNvPr>
          <p:cNvSpPr txBox="1"/>
          <p:nvPr/>
        </p:nvSpPr>
        <p:spPr>
          <a:xfrm>
            <a:off x="4149142" y="3408249"/>
            <a:ext cx="2415790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D </a:t>
            </a:r>
            <a:r>
              <a:rPr lang="sv-SE" sz="1200"/>
              <a:t>double precision floating point</a:t>
            </a:r>
            <a:br>
              <a:rPr lang="sv-SE"/>
            </a:br>
            <a:r>
              <a:rPr lang="sv-SE" sz="1200"/>
              <a:t>26 instruktioner</a:t>
            </a:r>
          </a:p>
          <a:p>
            <a:r>
              <a:rPr lang="sv-SE" sz="1200"/>
              <a:t>32 st 64-bitars flyttalsregister</a:t>
            </a:r>
            <a:endParaRPr lang="LID4096" sz="12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96C03A-8069-EC42-BCCC-4F4DB96A3F01}"/>
              </a:ext>
            </a:extLst>
          </p:cNvPr>
          <p:cNvSpPr txBox="1"/>
          <p:nvPr/>
        </p:nvSpPr>
        <p:spPr>
          <a:xfrm>
            <a:off x="4149142" y="4199940"/>
            <a:ext cx="2115387" cy="55399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C </a:t>
            </a:r>
            <a:r>
              <a:rPr lang="sv-SE" sz="1200"/>
              <a:t>compressed instructions</a:t>
            </a:r>
          </a:p>
          <a:p>
            <a:r>
              <a:rPr lang="sv-SE" sz="1200"/>
              <a:t>34 st 16-bitars instruktioner</a:t>
            </a:r>
            <a:endParaRPr lang="LID4096" sz="1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337E76-6358-918B-437E-52347B726D4D}"/>
              </a:ext>
            </a:extLst>
          </p:cNvPr>
          <p:cNvSpPr txBox="1"/>
          <p:nvPr/>
        </p:nvSpPr>
        <p:spPr>
          <a:xfrm>
            <a:off x="4149141" y="5413990"/>
            <a:ext cx="16862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Sv32 </a:t>
            </a:r>
            <a:r>
              <a:rPr lang="sv-SE" sz="1200"/>
              <a:t>virtuellt minne</a:t>
            </a:r>
            <a:endParaRPr lang="LID4096" sz="12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FE78F3-C704-627E-66A8-1F981E580A4D}"/>
              </a:ext>
            </a:extLst>
          </p:cNvPr>
          <p:cNvSpPr txBox="1"/>
          <p:nvPr/>
        </p:nvSpPr>
        <p:spPr>
          <a:xfrm>
            <a:off x="4149141" y="4868076"/>
            <a:ext cx="178914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A </a:t>
            </a:r>
            <a:r>
              <a:rPr lang="sv-SE" sz="1200"/>
              <a:t>atomiska operationer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04ED8A-D317-54D4-8497-CB72E3A1C45D}"/>
              </a:ext>
            </a:extLst>
          </p:cNvPr>
          <p:cNvSpPr txBox="1"/>
          <p:nvPr/>
        </p:nvSpPr>
        <p:spPr>
          <a:xfrm>
            <a:off x="4139981" y="5864474"/>
            <a:ext cx="39145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...</a:t>
            </a:r>
            <a:endParaRPr lang="LID4096" sz="120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FC8F4F6-E762-B746-00E6-0274B1C0A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916" y="2320344"/>
            <a:ext cx="2734691" cy="4051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519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7D9D8-04B3-516B-976C-9FE6F44A0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9437D-4523-3FD0-1D85-4FA40F6B5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RISC-V - Varianter och extensions</a:t>
            </a:r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6BBD32A-633F-3ABC-E161-1FF186BBD275}"/>
              </a:ext>
            </a:extLst>
          </p:cNvPr>
          <p:cNvGrpSpPr/>
          <p:nvPr/>
        </p:nvGrpSpPr>
        <p:grpSpPr>
          <a:xfrm>
            <a:off x="940157" y="2194199"/>
            <a:ext cx="2745290" cy="3966539"/>
            <a:chOff x="995966" y="2370210"/>
            <a:chExt cx="2745290" cy="396653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425BCF4-B9C0-4B84-3221-01E2146FFD50}"/>
                </a:ext>
              </a:extLst>
            </p:cNvPr>
            <p:cNvSpPr txBox="1"/>
            <p:nvPr/>
          </p:nvSpPr>
          <p:spPr>
            <a:xfrm>
              <a:off x="1094704" y="2902039"/>
              <a:ext cx="2637966" cy="11079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sv-SE" b="1"/>
                <a:t>RV32I</a:t>
              </a:r>
              <a:br>
                <a:rPr lang="sv-SE"/>
              </a:br>
              <a:r>
                <a:rPr lang="sv-SE" sz="1200"/>
                <a:t>basinstruktionsuppsättning för heltal</a:t>
              </a:r>
              <a:br>
                <a:rPr lang="sv-SE" sz="1200"/>
              </a:br>
              <a:r>
                <a:rPr lang="sv-SE" sz="1200"/>
                <a:t>47 instruktioner</a:t>
              </a:r>
              <a:br>
                <a:rPr lang="sv-SE" sz="1200"/>
              </a:br>
              <a:r>
                <a:rPr lang="sv-SE" sz="1200"/>
                <a:t>32 st </a:t>
              </a:r>
              <a:r>
                <a:rPr lang="sv-SE" sz="1200" b="1"/>
                <a:t>32</a:t>
              </a:r>
              <a:r>
                <a:rPr lang="sv-SE" sz="1200"/>
                <a:t>-bitars register</a:t>
              </a:r>
            </a:p>
            <a:p>
              <a:r>
                <a:rPr lang="sv-SE" sz="1200" b="1"/>
                <a:t>32</a:t>
              </a:r>
              <a:r>
                <a:rPr lang="sv-SE" sz="1200"/>
                <a:t>-bitars addressrymd</a:t>
              </a:r>
              <a:endParaRPr lang="LID4096" sz="120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DE9CF07-B484-48DD-27EC-A3AC371891E9}"/>
                </a:ext>
              </a:extLst>
            </p:cNvPr>
            <p:cNvSpPr txBox="1"/>
            <p:nvPr/>
          </p:nvSpPr>
          <p:spPr>
            <a:xfrm>
              <a:off x="1103290" y="4157729"/>
              <a:ext cx="2637966" cy="110799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sv-SE" b="1"/>
                <a:t>RV64I</a:t>
              </a:r>
              <a:br>
                <a:rPr lang="sv-SE"/>
              </a:br>
              <a:r>
                <a:rPr lang="sv-SE" sz="1200"/>
                <a:t>basinstruktionsuppsättning för heltal</a:t>
              </a:r>
              <a:br>
                <a:rPr lang="sv-SE" sz="1200"/>
              </a:br>
              <a:r>
                <a:rPr lang="sv-SE" sz="1200"/>
                <a:t>47 instruktioner</a:t>
              </a:r>
              <a:br>
                <a:rPr lang="sv-SE" sz="1200"/>
              </a:br>
              <a:r>
                <a:rPr lang="sv-SE" sz="1200"/>
                <a:t>32 st </a:t>
              </a:r>
              <a:r>
                <a:rPr lang="sv-SE" sz="1200" b="1"/>
                <a:t>64</a:t>
              </a:r>
              <a:r>
                <a:rPr lang="sv-SE" sz="1200"/>
                <a:t>-bitars register</a:t>
              </a:r>
            </a:p>
            <a:p>
              <a:r>
                <a:rPr lang="sv-SE" sz="1200" b="1"/>
                <a:t>64</a:t>
              </a:r>
              <a:r>
                <a:rPr lang="sv-SE" sz="1200"/>
                <a:t>-bitars addressrymd</a:t>
              </a:r>
              <a:endParaRPr lang="LID4096" sz="120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F630510-E3A8-D1CE-9676-4C62C2AA38CA}"/>
                </a:ext>
              </a:extLst>
            </p:cNvPr>
            <p:cNvSpPr txBox="1"/>
            <p:nvPr/>
          </p:nvSpPr>
          <p:spPr>
            <a:xfrm>
              <a:off x="1094704" y="5413419"/>
              <a:ext cx="257788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sv-SE" b="1"/>
                <a:t>RV128I</a:t>
              </a:r>
              <a:br>
                <a:rPr lang="sv-SE"/>
              </a:br>
              <a:r>
                <a:rPr lang="sv-SE" sz="1200"/>
                <a:t>(specifikationen finns, men används</a:t>
              </a:r>
              <a:br>
                <a:rPr lang="sv-SE" sz="1200"/>
              </a:br>
              <a:r>
                <a:rPr lang="sv-SE" sz="1200"/>
                <a:t> inte vad jag vet. Ingen efterfrågan </a:t>
              </a:r>
              <a:br>
                <a:rPr lang="sv-SE" sz="1200"/>
              </a:br>
              <a:r>
                <a:rPr lang="sv-SE" sz="1200"/>
                <a:t>och mycket svårare att bygga)</a:t>
              </a:r>
              <a:endParaRPr lang="LID4096" sz="120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E510D80-E265-0294-19B7-79D09E026A1A}"/>
                </a:ext>
              </a:extLst>
            </p:cNvPr>
            <p:cNvSpPr txBox="1"/>
            <p:nvPr/>
          </p:nvSpPr>
          <p:spPr>
            <a:xfrm>
              <a:off x="995966" y="2370210"/>
              <a:ext cx="12579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b="1"/>
                <a:t>Varianter: </a:t>
              </a:r>
              <a:endParaRPr lang="LID4096" b="1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04C527F1-6D12-6778-7403-B9B701231078}"/>
              </a:ext>
            </a:extLst>
          </p:cNvPr>
          <p:cNvSpPr txBox="1"/>
          <p:nvPr/>
        </p:nvSpPr>
        <p:spPr>
          <a:xfrm>
            <a:off x="4067577" y="2194199"/>
            <a:ext cx="1454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/>
              <a:t>Extensions: </a:t>
            </a:r>
            <a:endParaRPr lang="LID4096" b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BB911A-09F4-F5AB-1588-2C046D83859F}"/>
              </a:ext>
            </a:extLst>
          </p:cNvPr>
          <p:cNvSpPr txBox="1"/>
          <p:nvPr/>
        </p:nvSpPr>
        <p:spPr>
          <a:xfrm>
            <a:off x="4149143" y="2616558"/>
            <a:ext cx="2303579" cy="73866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F </a:t>
            </a:r>
            <a:r>
              <a:rPr lang="sv-SE" sz="1200"/>
              <a:t>single precision floating point</a:t>
            </a:r>
            <a:br>
              <a:rPr lang="sv-SE"/>
            </a:br>
            <a:r>
              <a:rPr lang="sv-SE" sz="1200"/>
              <a:t>26 instruktioner</a:t>
            </a:r>
          </a:p>
          <a:p>
            <a:r>
              <a:rPr lang="sv-SE" sz="1200"/>
              <a:t>32 st 32-bitars flyttalsregister</a:t>
            </a:r>
            <a:endParaRPr lang="LID4096" sz="12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4D4B3B-C690-47C9-2311-248C73483E8E}"/>
              </a:ext>
            </a:extLst>
          </p:cNvPr>
          <p:cNvSpPr txBox="1"/>
          <p:nvPr/>
        </p:nvSpPr>
        <p:spPr>
          <a:xfrm>
            <a:off x="4149142" y="3408249"/>
            <a:ext cx="2415790" cy="73866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D </a:t>
            </a:r>
            <a:r>
              <a:rPr lang="sv-SE" sz="1200"/>
              <a:t>double precision floating point</a:t>
            </a:r>
            <a:br>
              <a:rPr lang="sv-SE"/>
            </a:br>
            <a:r>
              <a:rPr lang="sv-SE" sz="1200"/>
              <a:t>26 instruktioner</a:t>
            </a:r>
          </a:p>
          <a:p>
            <a:r>
              <a:rPr lang="sv-SE" sz="1200"/>
              <a:t>32 st 64-bitars flyttalsregister</a:t>
            </a:r>
            <a:endParaRPr lang="LID4096" sz="12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FE855F-0B6A-0F44-DDAD-316182D07CA7}"/>
              </a:ext>
            </a:extLst>
          </p:cNvPr>
          <p:cNvSpPr txBox="1"/>
          <p:nvPr/>
        </p:nvSpPr>
        <p:spPr>
          <a:xfrm>
            <a:off x="4149142" y="4199940"/>
            <a:ext cx="2115387" cy="55399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C </a:t>
            </a:r>
            <a:r>
              <a:rPr lang="sv-SE" sz="1200"/>
              <a:t>compressed instructions</a:t>
            </a:r>
          </a:p>
          <a:p>
            <a:r>
              <a:rPr lang="sv-SE" sz="1200"/>
              <a:t>34 st 16-bitars instruktioner</a:t>
            </a:r>
            <a:endParaRPr lang="LID4096" sz="1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7E56FE-12FF-9F86-B2E6-F054757359E2}"/>
              </a:ext>
            </a:extLst>
          </p:cNvPr>
          <p:cNvSpPr txBox="1"/>
          <p:nvPr/>
        </p:nvSpPr>
        <p:spPr>
          <a:xfrm>
            <a:off x="4149141" y="5413990"/>
            <a:ext cx="1686231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Sv32 </a:t>
            </a:r>
            <a:r>
              <a:rPr lang="sv-SE" sz="1200"/>
              <a:t>virtuellt minne</a:t>
            </a:r>
            <a:endParaRPr lang="LID4096" sz="12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6DFF2F-8730-F7D7-1AD5-DC46A7AC3F60}"/>
              </a:ext>
            </a:extLst>
          </p:cNvPr>
          <p:cNvSpPr txBox="1"/>
          <p:nvPr/>
        </p:nvSpPr>
        <p:spPr>
          <a:xfrm>
            <a:off x="4149141" y="4868076"/>
            <a:ext cx="1789144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A </a:t>
            </a:r>
            <a:r>
              <a:rPr lang="sv-SE" sz="1200"/>
              <a:t>atomiska operationer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B04B6B-A4FF-3E86-C321-45E65B5265A7}"/>
              </a:ext>
            </a:extLst>
          </p:cNvPr>
          <p:cNvSpPr txBox="1"/>
          <p:nvPr/>
        </p:nvSpPr>
        <p:spPr>
          <a:xfrm>
            <a:off x="4139981" y="5864474"/>
            <a:ext cx="391454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...</a:t>
            </a:r>
            <a:endParaRPr lang="LID4096" sz="120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76E6634-328D-E3AC-8731-01B1F36D4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186" y="2736561"/>
            <a:ext cx="3900476" cy="331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643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8932D-CEE0-174C-7244-37E8407A1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E9910-EBC5-44BE-0430-816AEF3BF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RISC-V - Varianter och extensions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FBD34-F8D3-6EA4-C03D-EA411D2899C2}"/>
              </a:ext>
            </a:extLst>
          </p:cNvPr>
          <p:cNvSpPr txBox="1"/>
          <p:nvPr/>
        </p:nvSpPr>
        <p:spPr>
          <a:xfrm>
            <a:off x="1038895" y="2726028"/>
            <a:ext cx="2637966" cy="110799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RV32I</a:t>
            </a:r>
            <a:br>
              <a:rPr lang="sv-SE"/>
            </a:br>
            <a:r>
              <a:rPr lang="sv-SE" sz="1200"/>
              <a:t>basinstruktionsuppsättning för heltal</a:t>
            </a:r>
            <a:br>
              <a:rPr lang="sv-SE" sz="1200"/>
            </a:br>
            <a:r>
              <a:rPr lang="sv-SE" sz="1200"/>
              <a:t>47 instruktioner</a:t>
            </a:r>
            <a:br>
              <a:rPr lang="sv-SE" sz="1200"/>
            </a:br>
            <a:r>
              <a:rPr lang="sv-SE" sz="1200"/>
              <a:t>32 st </a:t>
            </a:r>
            <a:r>
              <a:rPr lang="sv-SE" sz="1200" b="1"/>
              <a:t>32</a:t>
            </a:r>
            <a:r>
              <a:rPr lang="sv-SE" sz="1200"/>
              <a:t>-bitars register</a:t>
            </a:r>
          </a:p>
          <a:p>
            <a:r>
              <a:rPr lang="sv-SE" sz="1200" b="1"/>
              <a:t>32</a:t>
            </a:r>
            <a:r>
              <a:rPr lang="sv-SE" sz="1200"/>
              <a:t>-bitars addressrymd</a:t>
            </a:r>
            <a:endParaRPr lang="LID4096" sz="12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DA932E-F65E-A433-E3AC-3E23F60FDCA5}"/>
              </a:ext>
            </a:extLst>
          </p:cNvPr>
          <p:cNvSpPr txBox="1"/>
          <p:nvPr/>
        </p:nvSpPr>
        <p:spPr>
          <a:xfrm>
            <a:off x="1047481" y="3981718"/>
            <a:ext cx="2637966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RV64I</a:t>
            </a:r>
            <a:br>
              <a:rPr lang="sv-SE"/>
            </a:br>
            <a:r>
              <a:rPr lang="sv-SE" sz="1200"/>
              <a:t>basinstruktionsuppsättning för heltal</a:t>
            </a:r>
            <a:br>
              <a:rPr lang="sv-SE" sz="1200"/>
            </a:br>
            <a:r>
              <a:rPr lang="sv-SE" sz="1200"/>
              <a:t>47 instruktioner</a:t>
            </a:r>
            <a:br>
              <a:rPr lang="sv-SE" sz="1200"/>
            </a:br>
            <a:r>
              <a:rPr lang="sv-SE" sz="1200"/>
              <a:t>32 st </a:t>
            </a:r>
            <a:r>
              <a:rPr lang="sv-SE" sz="1200" b="1"/>
              <a:t>64</a:t>
            </a:r>
            <a:r>
              <a:rPr lang="sv-SE" sz="1200"/>
              <a:t>-bitars register</a:t>
            </a:r>
          </a:p>
          <a:p>
            <a:r>
              <a:rPr lang="sv-SE" sz="1200" b="1"/>
              <a:t>64</a:t>
            </a:r>
            <a:r>
              <a:rPr lang="sv-SE" sz="1200"/>
              <a:t>-bitars addressrymd</a:t>
            </a:r>
            <a:endParaRPr lang="LID4096" sz="12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A0D389-DB9F-3094-6239-561E42144B49}"/>
              </a:ext>
            </a:extLst>
          </p:cNvPr>
          <p:cNvSpPr txBox="1"/>
          <p:nvPr/>
        </p:nvSpPr>
        <p:spPr>
          <a:xfrm>
            <a:off x="1038895" y="5237408"/>
            <a:ext cx="2577885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RV128I</a:t>
            </a:r>
            <a:br>
              <a:rPr lang="sv-SE"/>
            </a:br>
            <a:r>
              <a:rPr lang="sv-SE" sz="1200"/>
              <a:t>(specifikationen finns, men används</a:t>
            </a:r>
            <a:br>
              <a:rPr lang="sv-SE" sz="1200"/>
            </a:br>
            <a:r>
              <a:rPr lang="sv-SE" sz="1200"/>
              <a:t> inte vad jag vet. Ingen efterfrågan </a:t>
            </a:r>
            <a:br>
              <a:rPr lang="sv-SE" sz="1200"/>
            </a:br>
            <a:r>
              <a:rPr lang="sv-SE" sz="1200"/>
              <a:t>och mycket svårare att bygga)</a:t>
            </a:r>
            <a:endParaRPr lang="LID4096" sz="12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F9D9FD-E408-5741-CEA8-4CD964CC397A}"/>
              </a:ext>
            </a:extLst>
          </p:cNvPr>
          <p:cNvSpPr txBox="1"/>
          <p:nvPr/>
        </p:nvSpPr>
        <p:spPr>
          <a:xfrm>
            <a:off x="940157" y="2194199"/>
            <a:ext cx="1257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/>
              <a:t>Varianter: </a:t>
            </a:r>
            <a:endParaRPr lang="LID4096" b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A1DD06-AD6C-DAB1-B9D1-FBC83038200D}"/>
              </a:ext>
            </a:extLst>
          </p:cNvPr>
          <p:cNvSpPr txBox="1"/>
          <p:nvPr/>
        </p:nvSpPr>
        <p:spPr>
          <a:xfrm>
            <a:off x="4067577" y="2194199"/>
            <a:ext cx="1454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/>
              <a:t>Extensions: </a:t>
            </a:r>
            <a:endParaRPr lang="LID4096" b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E6E42B-D78A-5E43-787C-48C6BB813DEA}"/>
              </a:ext>
            </a:extLst>
          </p:cNvPr>
          <p:cNvSpPr txBox="1"/>
          <p:nvPr/>
        </p:nvSpPr>
        <p:spPr>
          <a:xfrm>
            <a:off x="4149143" y="2616558"/>
            <a:ext cx="2303579" cy="73866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F </a:t>
            </a:r>
            <a:r>
              <a:rPr lang="sv-SE" sz="1200"/>
              <a:t>single precision floating point</a:t>
            </a:r>
            <a:br>
              <a:rPr lang="sv-SE"/>
            </a:br>
            <a:r>
              <a:rPr lang="sv-SE" sz="1200"/>
              <a:t>26 instruktioner</a:t>
            </a:r>
          </a:p>
          <a:p>
            <a:r>
              <a:rPr lang="sv-SE" sz="1200"/>
              <a:t>32 st 32-bitars flyttalsregister</a:t>
            </a:r>
            <a:endParaRPr lang="LID4096" sz="12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D3C6AF-8ED8-EA7A-B593-546178DFA43B}"/>
              </a:ext>
            </a:extLst>
          </p:cNvPr>
          <p:cNvSpPr txBox="1"/>
          <p:nvPr/>
        </p:nvSpPr>
        <p:spPr>
          <a:xfrm>
            <a:off x="4149142" y="3408249"/>
            <a:ext cx="2415790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D </a:t>
            </a:r>
            <a:r>
              <a:rPr lang="sv-SE" sz="1200"/>
              <a:t>double precision floating point</a:t>
            </a:r>
            <a:br>
              <a:rPr lang="sv-SE"/>
            </a:br>
            <a:r>
              <a:rPr lang="sv-SE" sz="1200"/>
              <a:t>26 instruktioner</a:t>
            </a:r>
          </a:p>
          <a:p>
            <a:r>
              <a:rPr lang="sv-SE" sz="1200"/>
              <a:t>32 st 64-bitars flyttalsregister</a:t>
            </a:r>
            <a:endParaRPr lang="LID4096" sz="12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0380B0-4449-ADE9-79AF-F5DD24BA0FCC}"/>
              </a:ext>
            </a:extLst>
          </p:cNvPr>
          <p:cNvSpPr txBox="1"/>
          <p:nvPr/>
        </p:nvSpPr>
        <p:spPr>
          <a:xfrm>
            <a:off x="4149142" y="4199940"/>
            <a:ext cx="2115387" cy="55399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C </a:t>
            </a:r>
            <a:r>
              <a:rPr lang="sv-SE" sz="1200"/>
              <a:t>compressed instructions</a:t>
            </a:r>
          </a:p>
          <a:p>
            <a:r>
              <a:rPr lang="sv-SE" sz="1200"/>
              <a:t>34 st 16-bitars instruktioner</a:t>
            </a:r>
            <a:endParaRPr lang="LID4096" sz="1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65596B-B532-92CC-CD33-A4E6D07DE92D}"/>
              </a:ext>
            </a:extLst>
          </p:cNvPr>
          <p:cNvSpPr txBox="1"/>
          <p:nvPr/>
        </p:nvSpPr>
        <p:spPr>
          <a:xfrm>
            <a:off x="4149141" y="5413990"/>
            <a:ext cx="16862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Sv32 </a:t>
            </a:r>
            <a:r>
              <a:rPr lang="sv-SE" sz="1200"/>
              <a:t>virtuellt minne</a:t>
            </a:r>
            <a:endParaRPr lang="LID4096" sz="12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A174B0-9C09-8530-6241-37D8765C8D7F}"/>
              </a:ext>
            </a:extLst>
          </p:cNvPr>
          <p:cNvSpPr txBox="1"/>
          <p:nvPr/>
        </p:nvSpPr>
        <p:spPr>
          <a:xfrm>
            <a:off x="4149141" y="4868076"/>
            <a:ext cx="1789144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A </a:t>
            </a:r>
            <a:r>
              <a:rPr lang="sv-SE" sz="1200"/>
              <a:t>atomiska operationer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37D61D-05AA-27C9-F722-5259F920CF36}"/>
              </a:ext>
            </a:extLst>
          </p:cNvPr>
          <p:cNvSpPr txBox="1"/>
          <p:nvPr/>
        </p:nvSpPr>
        <p:spPr>
          <a:xfrm>
            <a:off x="4139981" y="5864474"/>
            <a:ext cx="39145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b="1"/>
              <a:t>...</a:t>
            </a:r>
            <a:endParaRPr lang="LID4096" sz="120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CA0869E-3676-70D8-5A2F-4A64B7D1FE8E}"/>
              </a:ext>
            </a:extLst>
          </p:cNvPr>
          <p:cNvGrpSpPr/>
          <p:nvPr/>
        </p:nvGrpSpPr>
        <p:grpSpPr>
          <a:xfrm>
            <a:off x="7706482" y="2726028"/>
            <a:ext cx="5244607" cy="2949294"/>
            <a:chOff x="1275631" y="2434252"/>
            <a:chExt cx="5244607" cy="2949294"/>
          </a:xfrm>
        </p:grpSpPr>
        <p:pic>
          <p:nvPicPr>
            <p:cNvPr id="16" name="Picture 15" descr="A close-up of a circuit board&#10;&#10;AI-generated content may be incorrect.">
              <a:extLst>
                <a:ext uri="{FF2B5EF4-FFF2-40B4-BE49-F238E27FC236}">
                  <a16:creationId xmlns:a16="http://schemas.microsoft.com/office/drawing/2014/main" id="{ACFF4857-2D64-28AD-C166-7451E17853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66000"/>
                      </a14:imgEffect>
                      <a14:imgEffect>
                        <a14:brightnessContrast bright="33000" contrast="-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959597">
              <a:off x="1275631" y="2756063"/>
              <a:ext cx="5244607" cy="2627483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BC1868E-2AAB-6DF0-258C-0F2CBFECA151}"/>
                </a:ext>
              </a:extLst>
            </p:cNvPr>
            <p:cNvSpPr txBox="1"/>
            <p:nvPr/>
          </p:nvSpPr>
          <p:spPr>
            <a:xfrm rot="20924799">
              <a:off x="2020268" y="2434252"/>
              <a:ext cx="3192875" cy="3684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MD307 – Development Board</a:t>
              </a:r>
              <a:endParaRPr lang="LID4096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351735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0D270-1B4A-C386-8252-F1491862E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Application Binary Interface (ABI)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19F68-8E69-B462-5B44-47E25D583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831945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51CDD-6C56-C6A5-0941-E1CC49710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RV32I - Register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823A0-3E46-BD2F-E389-5D777D23CF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2538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711A6-523B-3EC0-AA0C-778C9E7DE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Pseudo Instruktioner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6B023-0FFE-E9EC-4DD3-E102CF9978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FE2C67-B3D6-3099-8E8F-5745028C0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650" y="2979475"/>
            <a:ext cx="9043358" cy="2213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181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68AB2-B398-0889-A6EA-EE7C340B0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Load/Store arkitektur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6AB60-E2BA-5439-D16F-86301680F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208180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A684D-2FD2-1AA0-7028-96DD0B20A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Instruction cycle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4F0D5F-BF19-C26B-BF82-1DC1D1114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242406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F3391-374A-6F1C-B281-FFAE66F26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Ett första, enkelt, program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6958DF-6BC9-5C0B-EFA2-8E2FE9D6EC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290293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6E1FE-24F2-650A-737C-F63CD3C87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Pseudo vs machine code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88524-A973-E253-C4F1-3E48973CBE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61164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C42A8-51E4-4FA3-643F-85903467A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QuickGuide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C6745-AE55-F27F-35DC-1F6BBAE4A9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415646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6F09A-66A2-7D24-6293-BD89865CA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Minnesrymd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433505-E230-F420-078E-4693C1DECA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F3FD82-BB5D-3A6E-BF77-DA00A6D13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365" y="2738887"/>
            <a:ext cx="7876722" cy="3246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1902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11759-D40E-79F3-212F-E3A95B08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Loading data from memory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3D843-FBCF-4E2F-6DC2-6F84976B10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481669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EB910-1D52-0EFE-64A1-3601CDE25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Storing data to memory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AC899-5E13-6218-3C0F-2DA116D84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245059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E5390-2679-E209-41C8-0BDA775B6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Variables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E1FD2-D9FD-8AFD-2746-E14244C08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961008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6FB8F-8013-14D4-E05A-B65F9D0FC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Load and Store Global (pseudo instructions)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D3FB0-EA11-8584-EF7C-F0C5D44168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40897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9AE7D-9EC3-67AE-2ED8-36123A068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Memory Alignment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5EBF4-FEDD-0DEC-E7B4-75751ECE4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482654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DAA1A-481E-FFAD-C393-EC489616F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Closing example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190EE-BBCD-5274-7BE3-8C3F957DE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802862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885</TotalTime>
  <Words>1132</Words>
  <Application>Microsoft Office PowerPoint</Application>
  <PresentationFormat>Widescreen</PresentationFormat>
  <Paragraphs>198</Paragraphs>
  <Slides>24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Amasis MT Pro Medium</vt:lpstr>
      <vt:lpstr>Aptos</vt:lpstr>
      <vt:lpstr>Aptos Display</vt:lpstr>
      <vt:lpstr>Arial</vt:lpstr>
      <vt:lpstr>Office Theme</vt:lpstr>
      <vt:lpstr>Lektion 2</vt:lpstr>
      <vt:lpstr>Instruction Set Architecture (ISA)</vt:lpstr>
      <vt:lpstr>Instruction Set Architecture (ISA)</vt:lpstr>
      <vt:lpstr>RISC-V - Varianter och extensions</vt:lpstr>
      <vt:lpstr>RISC-V - Varianter och extensions</vt:lpstr>
      <vt:lpstr>RISC-V - Varianter och extensions</vt:lpstr>
      <vt:lpstr>RISC-V - Varianter och extensions</vt:lpstr>
      <vt:lpstr>RISC-V - Varianter och extensions</vt:lpstr>
      <vt:lpstr>RISC-V - Varianter och extensions</vt:lpstr>
      <vt:lpstr>Application Binary Interface (ABI)</vt:lpstr>
      <vt:lpstr>RV32I - Register</vt:lpstr>
      <vt:lpstr>Pseudo Instruktioner</vt:lpstr>
      <vt:lpstr>Load/Store arkitektur</vt:lpstr>
      <vt:lpstr>Instruction cycle</vt:lpstr>
      <vt:lpstr>Ett första, enkelt, program</vt:lpstr>
      <vt:lpstr>Pseudo vs machine code</vt:lpstr>
      <vt:lpstr>QuickGuide</vt:lpstr>
      <vt:lpstr>Minnesrymd</vt:lpstr>
      <vt:lpstr>Loading data from memory</vt:lpstr>
      <vt:lpstr>Storing data to memory</vt:lpstr>
      <vt:lpstr>Variables</vt:lpstr>
      <vt:lpstr>Load and Store Global (pseudo instructions)</vt:lpstr>
      <vt:lpstr>Memory Alignment</vt:lpstr>
      <vt:lpstr>Closing 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11</cp:revision>
  <dcterms:created xsi:type="dcterms:W3CDTF">2026-01-14T14:09:03Z</dcterms:created>
  <dcterms:modified xsi:type="dcterms:W3CDTF">2026-01-21T14:58:54Z</dcterms:modified>
</cp:coreProperties>
</file>