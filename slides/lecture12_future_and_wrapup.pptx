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794500" cy="9906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61B486-9643-4A02-8A51-D34E00CDE21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3" autoAdjust="0"/>
    <p:restoredTop sz="83595" autoAdjust="0"/>
  </p:normalViewPr>
  <p:slideViewPr>
    <p:cSldViewPr snapToGrid="0">
      <p:cViewPr varScale="1">
        <p:scale>
          <a:sx n="95" d="100"/>
          <a:sy n="95" d="100"/>
        </p:scale>
        <p:origin x="43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Nu när ni fått några dagar att smälta grundläggande interrupts (vi fick maskinen att avbryta vårat program när systick räknat ner till 0)</a:t>
            </a:r>
          </a:p>
          <a:p>
            <a:r>
              <a:rPr lang="sv-SE" i="0"/>
              <a:t>så skall vi gå vidare och lära oss hur man hanterar många interruptkällor på samma gång, och hur man kan hantera interrupts från GPIO pinnarna. </a:t>
            </a:r>
          </a:p>
          <a:p>
            <a:endParaRPr lang="sv-SE" i="0"/>
          </a:p>
          <a:p>
            <a:r>
              <a:rPr lang="sv-SE" i="0"/>
              <a:t>Vi har en del att gå igenom idag, men detta är sista lektionen med saker som dom skall förstå så väl att dom faktiskt kan programmera dem. </a:t>
            </a:r>
          </a:p>
          <a:p>
            <a:endParaRPr lang="sv-SE" i="0"/>
          </a:p>
          <a:p>
            <a:endParaRPr lang="sv-SE" i="0"/>
          </a:p>
          <a:p>
            <a:endParaRPr lang="LID4096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937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Ni har nu lärt en en hiskelig massa om hur en microkontroller, och därför en enkel dator fungerar. </a:t>
            </a:r>
          </a:p>
          <a:p>
            <a:endParaRPr lang="sv-SE"/>
          </a:p>
          <a:p>
            <a:r>
              <a:rPr lang="sv-SE"/>
              <a:t>Det finns en hel del kvar att lära sig om datorarkitektur dock, och jag tänkte introducera en del av det genom att titta på hur ”persondatorn” har utvecklats genom tiderna. </a:t>
            </a:r>
          </a:p>
          <a:p>
            <a:endParaRPr lang="sv-SE"/>
          </a:p>
          <a:p>
            <a:r>
              <a:rPr lang="sv-SE"/>
              <a:t>Elak spoiler alert: </a:t>
            </a:r>
            <a:r>
              <a:rPr lang="en-GB"/>
              <a:t>&lt;click&gt; Ni </a:t>
            </a:r>
            <a:r>
              <a:rPr lang="sv-SE"/>
              <a:t>är här </a:t>
            </a:r>
            <a:r>
              <a:rPr lang="sv-SE">
                <a:sym typeface="Wingdings" panose="05000000000000000000" pitchFamily="2" charset="2"/>
              </a:rPr>
              <a:t>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0472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F9420-CD21-417D-8F6B-2ED15573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406FB-5CE6-18B1-66C6-867C1A341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7F117-91C6-FFCF-1B15-F3F5F6AB5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DISCLAIMER: Mitt val av historiskt viktiga datorer är extremt biased och grundar sig på vad jag växte upp med. Jag kommer tillexempel fullständigt ignorera Apple. </a:t>
            </a:r>
          </a:p>
          <a:p>
            <a:endParaRPr lang="sv-SE"/>
          </a:p>
          <a:p>
            <a:r>
              <a:rPr lang="sv-SE"/>
              <a:t>För folk i min generation började datorhistorian (och därmed livet) runt 1982, när den här kom ut. </a:t>
            </a:r>
            <a:br>
              <a:rPr lang="sv-SE"/>
            </a:br>
            <a:r>
              <a:rPr lang="sv-SE"/>
              <a:t>Någon som kan säga vad det är? </a:t>
            </a:r>
          </a:p>
          <a:p>
            <a:r>
              <a:rPr lang="en-GB"/>
              <a:t>&lt;click&gt;</a:t>
            </a:r>
          </a:p>
          <a:p>
            <a:r>
              <a:rPr lang="sv-SE"/>
              <a:t>Läs igenom långsamt</a:t>
            </a:r>
          </a:p>
          <a:p>
            <a:r>
              <a:rPr lang="en-GB"/>
              <a:t>&lt;click&gt;</a:t>
            </a:r>
          </a:p>
          <a:p>
            <a:r>
              <a:rPr lang="en-GB"/>
              <a:t>F</a:t>
            </a:r>
            <a:r>
              <a:rPr lang="sv-SE"/>
              <a:t>örklara bonusfakta. Detta blir intressant om en stund. 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4B1BF-65BF-D3F5-3EEA-C72714FC3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1778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0889-857B-DEC5-7044-9501F727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D7534-5AFA-77E6-D60B-584C05BB5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65B8C-1F90-68B4-9CE1-353B54B30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DISCLAIMER: Mitt val av historiskt viktiga datorer är extremt biased och grundar sig på vad jag växte upp med. Jag kommer tillexempel fullständigt ignorera Apple. </a:t>
            </a:r>
          </a:p>
          <a:p>
            <a:endParaRPr lang="sv-SE"/>
          </a:p>
          <a:p>
            <a:r>
              <a:rPr lang="sv-SE"/>
              <a:t>För folk i min generation började datorhistorian (och därmed livet) runt 1982, när den här kom ut. </a:t>
            </a:r>
            <a:br>
              <a:rPr lang="sv-SE"/>
            </a:br>
            <a:r>
              <a:rPr lang="sv-SE"/>
              <a:t>Någon som kan säga vad det är? </a:t>
            </a:r>
          </a:p>
          <a:p>
            <a:r>
              <a:rPr lang="en-GB"/>
              <a:t>&lt;click&gt;</a:t>
            </a:r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C68A9-D7EB-A072-8AC1-B0A394B6D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6496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AB518-1D2D-5503-A7F1-2FF18AB61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56608-4B46-AF77-E85A-106B1DD01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ABA20-4802-0B07-E361-83A4CD10D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DISCLAIMER: Mitt val av historiskt viktiga datorer är extremt biased och grundar sig på vad jag växte upp med. Jag kommer tillexempel fullständigt ignorera Apple. </a:t>
            </a:r>
          </a:p>
          <a:p>
            <a:endParaRPr lang="sv-SE"/>
          </a:p>
          <a:p>
            <a:r>
              <a:rPr lang="sv-SE"/>
              <a:t>För folk i min generation började datorhistorian (och därmed livet) runt 1982, när den här kom ut. </a:t>
            </a:r>
            <a:br>
              <a:rPr lang="sv-SE"/>
            </a:br>
            <a:r>
              <a:rPr lang="sv-SE"/>
              <a:t>Någon som kan säga vad det är? </a:t>
            </a:r>
          </a:p>
          <a:p>
            <a:r>
              <a:rPr lang="en-GB"/>
              <a:t>&lt;click&gt;</a:t>
            </a:r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ADCFF-0AEA-9EC3-C1A4-2D195A996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0343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F900-0AF3-F9F3-1F85-89667ABC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93D93-B6FC-46BB-DD9A-14058F9D9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A65C8-C443-4401-1C4E-9C54F2E52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Vid ungefär samma tid kom IBM’s första 386 maskiner. </a:t>
            </a:r>
          </a:p>
          <a:p>
            <a:r>
              <a:rPr lang="sv-SE"/>
              <a:t>Ingen intelligent person i min ålder skulle ha föredragit en sådan, för den hade värdelösa grafikkort och sällan något ljudkort så spelen var bedrövliga. </a:t>
            </a:r>
          </a:p>
          <a:p>
            <a:r>
              <a:rPr lang="sv-SE" i="1"/>
              <a:t>Men </a:t>
            </a:r>
            <a:r>
              <a:rPr lang="sv-SE" i="0"/>
              <a:t>den hade lite andra finesser som gjorde att den överlevde, till skillnad från Amigan. </a:t>
            </a:r>
            <a:endParaRPr lang="LID4096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260DB-6D5A-52A5-E490-2C881E6C1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3995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04367-3BEC-CB78-2235-107B68A7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BA9A3-B250-2121-6F97-1B73190D2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BFF6A-6FEB-40BD-BDD7-7CA1A747D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I början av nittiotalet händer något lustigt. </a:t>
            </a:r>
          </a:p>
          <a:p>
            <a:r>
              <a:rPr lang="sv-SE" i="0"/>
              <a:t>Processorer blir exponentiellt snabbare för varje år, men inte minnen!</a:t>
            </a:r>
          </a:p>
          <a:p>
            <a:r>
              <a:rPr lang="sv-SE" i="0"/>
              <a:t>Plötsligt kan vi inte göra en minnesläsning eller skrivning varje klockcykel.</a:t>
            </a:r>
          </a:p>
          <a:p>
            <a:r>
              <a:rPr lang="sv-SE" i="0"/>
              <a:t>Idag handlar det om en per ~400 klockcykler!</a:t>
            </a:r>
          </a:p>
          <a:p>
            <a:endParaRPr lang="sv-SE" i="0"/>
          </a:p>
          <a:p>
            <a:r>
              <a:rPr lang="sv-SE" i="0"/>
              <a:t>Förutom att det blir jobbigt att hämta data... </a:t>
            </a:r>
          </a:p>
          <a:p>
            <a:r>
              <a:rPr lang="sv-SE" i="0"/>
              <a:t>Hur skall vi kunna köra en instruktion per klockcykel om det tar många klockcykler att hämta en instruktion!?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2B89A-A8B7-68D3-0079-DA12E06BE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5868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81443-F6D8-EA2C-B715-0E3AAB46B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56D8A-AB58-A96D-137F-480E4C21A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754E3-CF83-66FD-4EEA-B0FC2D652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EAD3E-3006-9333-63C1-1DB831097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4117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C4C16-36BD-ED0E-A684-2EDBF7435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627BB-C608-17C2-70C5-434ABDA4A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2D1EB-3967-6AC9-8631-17D4F3499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Sedan brakade det på i ungefär tio år. Datorernas hastighet växte exponentiellt. </a:t>
            </a:r>
          </a:p>
          <a:p>
            <a:r>
              <a:rPr lang="sv-SE" i="0"/>
              <a:t>Köpte man en dator 2000 så var den hopplöst uråldrig 2004. </a:t>
            </a:r>
          </a:p>
          <a:p>
            <a:r>
              <a:rPr lang="en-GB" i="0"/>
              <a:t>&lt;click&gt;</a:t>
            </a:r>
          </a:p>
          <a:p>
            <a:r>
              <a:rPr lang="en-GB" i="0"/>
              <a:t>Runt mitten av tv</a:t>
            </a:r>
            <a:r>
              <a:rPr lang="sv-SE" i="0"/>
              <a:t>å</a:t>
            </a:r>
            <a:r>
              <a:rPr lang="en-GB" i="0"/>
              <a:t>tusentalet kom Pentium 4 som gick i nästan 4Ghz. (jfr C64)</a:t>
            </a:r>
          </a:p>
          <a:p>
            <a:r>
              <a:rPr lang="en-GB" i="0"/>
              <a:t>Men vad hände häromkring? </a:t>
            </a:r>
          </a:p>
          <a:p>
            <a:r>
              <a:rPr lang="en-GB" i="0"/>
              <a:t>&lt;click&gt;</a:t>
            </a:r>
          </a:p>
          <a:p>
            <a:r>
              <a:rPr lang="en-GB" i="0"/>
              <a:t>Det blev om</a:t>
            </a:r>
            <a:r>
              <a:rPr lang="sv-SE" i="0"/>
              <a:t>ö</a:t>
            </a:r>
            <a:r>
              <a:rPr lang="en-GB" i="0"/>
              <a:t>jligt att höja klockfrekvensen mycket mer. </a:t>
            </a:r>
          </a:p>
          <a:p>
            <a:r>
              <a:rPr lang="en-GB" i="0"/>
              <a:t>Processorerna blev för varma och drog för mycket ström. </a:t>
            </a:r>
          </a:p>
          <a:p>
            <a:r>
              <a:rPr lang="en-GB" i="0"/>
              <a:t>Lösningen? </a:t>
            </a:r>
            <a:endParaRPr lang="sv-SE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0E447-6359-E7E4-70CE-D635CFC8E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5608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C1457-315C-7EFA-6E9F-F41F09FA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2E82F-FB6D-0091-FDC2-5E6133D3C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1DB0C-4AD1-F8EF-6471-381B0FE38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Men inte heller detta löser det underliggande problemet. </a:t>
            </a:r>
          </a:p>
          <a:p>
            <a:r>
              <a:rPr lang="sv-SE" i="0"/>
              <a:t>Redan långt innan man började slänga på flera cores så blev det klart att det inte var så mycket mening med att fortsätta göra processorer mindre och mindre. </a:t>
            </a:r>
          </a:p>
          <a:p>
            <a:r>
              <a:rPr lang="sv-SE" i="0"/>
              <a:t>Det behövs exponentiellt mer power för att köra dem, så antalet cores man kan klämma in på en processor för en rimlig penning är begränsat.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82890-A078-1F22-72A6-AE39F675E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2242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88543-58F2-FE54-FB6E-6FF4383DE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FD7C4-DF05-5417-F9ED-44F1FEA9B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D2B7A-FA61-D8C7-5CFD-940101AB2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Vid sidan av det här har vi förståss GPUer som är en helt annan slags best. </a:t>
            </a:r>
          </a:p>
          <a:p>
            <a:endParaRPr lang="sv-SE" i="0"/>
          </a:p>
          <a:p>
            <a:r>
              <a:rPr lang="sv-SE" i="0"/>
              <a:t>Och AI acceleratorer som skulle kunna bli en helt annan slags best. </a:t>
            </a:r>
          </a:p>
          <a:p>
            <a:endParaRPr lang="sv-SE" i="0"/>
          </a:p>
          <a:p>
            <a:r>
              <a:rPr lang="sv-SE" i="0"/>
              <a:t>Här hade jag kunnat predika vad jag tror om framtiden, men jag hade säkert haft fel. Vad tror ni?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89D17-BAEC-F7FC-2E05-DEE221243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272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224668-B732-F6E4-82FD-48279E8CE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750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A9653-920E-A3FB-A09E-24B10BF25882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C8CFAD-2C3B-E51D-4FD9-E852766792F8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351AC-8666-6A69-B402-81D189976CE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3BB9D5-722B-FDAA-6867-63BCE26A0024}"/>
              </a:ext>
            </a:extLst>
          </p:cNvPr>
          <p:cNvSpPr txBox="1"/>
          <p:nvPr userDrawn="1"/>
        </p:nvSpPr>
        <p:spPr>
          <a:xfrm>
            <a:off x="4705350" y="-139700"/>
            <a:ext cx="2508250" cy="448945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lIns="0" tIns="0" rIns="0" bIns="0" rtlCol="0">
            <a:noAutofit/>
          </a:bodyPr>
          <a:lstStyle/>
          <a:p>
            <a:r>
              <a:rPr lang="sv-SE" sz="38000" b="1"/>
              <a:t>?</a:t>
            </a:r>
            <a:endParaRPr lang="LID4096" sz="38000" b="1"/>
          </a:p>
        </p:txBody>
      </p:sp>
    </p:spTree>
    <p:extLst>
      <p:ext uri="{BB962C8B-B14F-4D97-AF65-F5344CB8AC3E}">
        <p14:creationId xmlns:p14="http://schemas.microsoft.com/office/powerpoint/2010/main" val="797509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D43F1B-5C31-8357-7C5B-028155F6D0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1688" y="1333500"/>
            <a:ext cx="10552112" cy="4702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783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452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52DF-D5C9-52BE-066B-17C7A4BF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Lektion 12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E2CB-296B-2D3A-2C5D-AF9D0169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Framtiden och Avslutningsceremoni</a:t>
            </a:r>
          </a:p>
        </p:txBody>
      </p:sp>
    </p:spTree>
    <p:extLst>
      <p:ext uri="{BB962C8B-B14F-4D97-AF65-F5344CB8AC3E}">
        <p14:creationId xmlns:p14="http://schemas.microsoft.com/office/powerpoint/2010/main" val="317436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3FFD-898D-B127-DC19-44300542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5DFB7-6161-15E4-0DE5-BCC3C8C9F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96" y="3818177"/>
            <a:ext cx="2209404" cy="12060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B88708-1690-EFF5-B8B0-8CBA8E7DBDC3}"/>
              </a:ext>
            </a:extLst>
          </p:cNvPr>
          <p:cNvSpPr txBox="1"/>
          <p:nvPr/>
        </p:nvSpPr>
        <p:spPr>
          <a:xfrm>
            <a:off x="294021" y="4687973"/>
            <a:ext cx="3549370" cy="2192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C64</a:t>
            </a:r>
          </a:p>
          <a:p>
            <a:r>
              <a:rPr lang="sv-SE" sz="1050"/>
              <a:t>MOS6510</a:t>
            </a:r>
          </a:p>
          <a:p>
            <a:r>
              <a:rPr lang="sv-SE" sz="1050"/>
              <a:t>1982 – 1MHz</a:t>
            </a:r>
          </a:p>
          <a:p>
            <a:r>
              <a:rPr lang="sv-SE" sz="1050"/>
              <a:t>(memory was 2Mhz, graphics card could use the off-cycle)</a:t>
            </a:r>
          </a:p>
          <a:p>
            <a:r>
              <a:rPr lang="sv-SE" sz="1050"/>
              <a:t>Register som FLISP (8 bitar, 16bitars addressrymd)</a:t>
            </a:r>
          </a:p>
          <a:p>
            <a:r>
              <a:rPr lang="sv-SE" sz="1050"/>
              <a:t>Interrupts (timers)</a:t>
            </a:r>
          </a:p>
          <a:p>
            <a:r>
              <a:rPr lang="sv-SE" sz="1050"/>
              <a:t>Joysticks (polla ”gpio” som för keypad)</a:t>
            </a:r>
          </a:p>
          <a:p>
            <a:r>
              <a:rPr lang="sv-SE" sz="1050"/>
              <a:t>Speciella Grafik och Ljud chip</a:t>
            </a:r>
            <a:br>
              <a:rPr lang="sv-SE" sz="1050"/>
            </a:br>
            <a:r>
              <a:rPr lang="sv-SE" sz="1050"/>
              <a:t>(peripherals) som man styrde via </a:t>
            </a:r>
            <a:br>
              <a:rPr lang="sv-SE" sz="1050"/>
            </a:br>
            <a:r>
              <a:rPr lang="sv-SE" sz="1050"/>
              <a:t>MMIO</a:t>
            </a:r>
          </a:p>
          <a:p>
            <a:r>
              <a:rPr lang="sv-SE" sz="1050"/>
              <a:t>Dom kan lätt programmera denna</a:t>
            </a:r>
          </a:p>
          <a:p>
            <a:endParaRPr lang="sv-SE" sz="1050"/>
          </a:p>
          <a:p>
            <a:endParaRPr lang="LID4096" sz="10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368B52-3F15-C5D6-87B7-5F2935E83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586" y="1879435"/>
            <a:ext cx="3189255" cy="23379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D4A899-276C-F8F9-EC0C-9F318DA416C8}"/>
              </a:ext>
            </a:extLst>
          </p:cNvPr>
          <p:cNvSpPr txBox="1"/>
          <p:nvPr/>
        </p:nvSpPr>
        <p:spPr>
          <a:xfrm>
            <a:off x="3831931" y="4217391"/>
            <a:ext cx="259558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Amiga 500</a:t>
            </a:r>
          </a:p>
          <a:p>
            <a:r>
              <a:rPr lang="sv-SE" sz="1050"/>
              <a:t>Motorola 68000 CPU</a:t>
            </a:r>
            <a:br>
              <a:rPr lang="sv-SE" sz="1050"/>
            </a:br>
            <a:r>
              <a:rPr lang="sv-SE" sz="1050"/>
              <a:t>1987 – 7 Mhz</a:t>
            </a:r>
          </a:p>
          <a:p>
            <a:endParaRPr lang="sv-SE" sz="1050"/>
          </a:p>
          <a:p>
            <a:r>
              <a:rPr lang="sv-SE" sz="1050"/>
              <a:t>24 bit addres space (16MB)</a:t>
            </a:r>
          </a:p>
          <a:p>
            <a:r>
              <a:rPr lang="sv-SE" sz="1050"/>
              <a:t>16x 32-bitars register</a:t>
            </a:r>
          </a:p>
          <a:p>
            <a:r>
              <a:rPr lang="sv-SE" sz="1050"/>
              <a:t>Privelege modes</a:t>
            </a:r>
          </a:p>
          <a:p>
            <a:endParaRPr lang="sv-SE" sz="1050"/>
          </a:p>
          <a:p>
            <a:r>
              <a:rPr lang="sv-SE" sz="1050"/>
              <a:t>Grafik och ljudchip via MMIO</a:t>
            </a:r>
          </a:p>
          <a:p>
            <a:r>
              <a:rPr lang="sv-SE" sz="1050" b="1"/>
              <a:t>DMA!</a:t>
            </a:r>
          </a:p>
          <a:p>
            <a:endParaRPr lang="sv-SE" sz="1050"/>
          </a:p>
          <a:p>
            <a:r>
              <a:rPr lang="sv-SE" sz="1050"/>
              <a:t>No mmu</a:t>
            </a:r>
          </a:p>
          <a:p>
            <a:r>
              <a:rPr lang="sv-SE" sz="1050"/>
              <a:t>Floating point optional </a:t>
            </a:r>
          </a:p>
          <a:p>
            <a:endParaRPr lang="sv-SE" sz="1050"/>
          </a:p>
          <a:p>
            <a:r>
              <a:rPr lang="sv-SE" sz="1050"/>
              <a:t>Multitasking! But the programs addresses</a:t>
            </a:r>
          </a:p>
          <a:p>
            <a:r>
              <a:rPr lang="sv-SE" sz="1050"/>
              <a:t>must be modified on load.</a:t>
            </a:r>
          </a:p>
        </p:txBody>
      </p:sp>
      <p:pic>
        <p:nvPicPr>
          <p:cNvPr id="1026" name="Picture 2" descr="IBM PC 5150">
            <a:extLst>
              <a:ext uri="{FF2B5EF4-FFF2-40B4-BE49-F238E27FC236}">
                <a16:creationId xmlns:a16="http://schemas.microsoft.com/office/drawing/2014/main" id="{2E595262-254F-255E-BB14-0CA8F3597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145" y="2640609"/>
            <a:ext cx="2595582" cy="191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C7FBBD-DF91-DEFB-4B31-2E9BEAB08DBF}"/>
              </a:ext>
            </a:extLst>
          </p:cNvPr>
          <p:cNvSpPr txBox="1"/>
          <p:nvPr/>
        </p:nvSpPr>
        <p:spPr>
          <a:xfrm>
            <a:off x="6486665" y="4550871"/>
            <a:ext cx="35621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IBM 386</a:t>
            </a:r>
          </a:p>
          <a:p>
            <a:r>
              <a:rPr lang="sv-SE" sz="1050"/>
              <a:t>~1987 -  16-33Mhz</a:t>
            </a:r>
          </a:p>
          <a:p>
            <a:r>
              <a:rPr lang="sv-SE" sz="1050"/>
              <a:t>32 bit address space (4GB!!)</a:t>
            </a:r>
          </a:p>
          <a:p>
            <a:r>
              <a:rPr lang="sv-SE" sz="1050" b="1"/>
              <a:t>Address translation (paging MMU)</a:t>
            </a:r>
          </a:p>
          <a:p>
            <a:r>
              <a:rPr lang="sv-SE" sz="1050"/>
              <a:t>FPU optional</a:t>
            </a:r>
          </a:p>
          <a:p>
            <a:r>
              <a:rPr lang="sv-SE" sz="1050"/>
              <a:t>ISA Bus, for graphics, sound, networking cards</a:t>
            </a:r>
          </a:p>
          <a:p>
            <a:r>
              <a:rPr lang="sv-SE" sz="1050"/>
              <a:t>(port mapped, essenitally MMIO but separate instructions)</a:t>
            </a:r>
          </a:p>
          <a:p>
            <a:endParaRPr lang="sv-SE" sz="10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71AF4E-37BB-E1CE-BCDE-7EAD5CC07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176" y="2015591"/>
            <a:ext cx="1713088" cy="18819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1026FD-A1A5-8704-3F5B-6FDCCC69E423}"/>
              </a:ext>
            </a:extLst>
          </p:cNvPr>
          <p:cNvSpPr txBox="1"/>
          <p:nvPr/>
        </p:nvSpPr>
        <p:spPr>
          <a:xfrm>
            <a:off x="9945819" y="4101222"/>
            <a:ext cx="20608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/>
              <a:t>486: </a:t>
            </a:r>
          </a:p>
          <a:p>
            <a:r>
              <a:rPr lang="sv-SE" sz="1050"/>
              <a:t>Early nineties – 25-66MHz</a:t>
            </a:r>
          </a:p>
          <a:p>
            <a:r>
              <a:rPr lang="sv-SE" sz="1050" b="1"/>
              <a:t>Memory cache</a:t>
            </a:r>
          </a:p>
          <a:p>
            <a:r>
              <a:rPr lang="sv-SE" sz="1050"/>
              <a:t>On-chip FPU</a:t>
            </a:r>
          </a:p>
          <a:p>
            <a:r>
              <a:rPr lang="sv-SE" sz="1050" b="1"/>
              <a:t>Pipelining </a:t>
            </a:r>
          </a:p>
          <a:p>
            <a:endParaRPr lang="sv-SE" sz="1050"/>
          </a:p>
          <a:p>
            <a:r>
              <a:rPr lang="sv-SE" sz="1050"/>
              <a:t>Pentium: </a:t>
            </a:r>
          </a:p>
          <a:p>
            <a:r>
              <a:rPr lang="sv-SE" sz="1050"/>
              <a:t>Mid nineties – 60 – 200MHz</a:t>
            </a:r>
          </a:p>
          <a:p>
            <a:r>
              <a:rPr lang="sv-SE" sz="1050"/>
              <a:t>Two pipelines!</a:t>
            </a:r>
          </a:p>
          <a:p>
            <a:endParaRPr lang="sv-SE" sz="1050"/>
          </a:p>
          <a:p>
            <a:r>
              <a:rPr lang="sv-SE" sz="1050" b="1"/>
              <a:t>Branch prediction</a:t>
            </a:r>
          </a:p>
          <a:p>
            <a:r>
              <a:rPr lang="sv-SE" sz="1050"/>
              <a:t>Support for SMP</a:t>
            </a:r>
          </a:p>
          <a:p>
            <a:r>
              <a:rPr lang="sv-SE" sz="1050"/>
              <a:t>PCI introduces dynamic port addresses</a:t>
            </a:r>
          </a:p>
          <a:p>
            <a:endParaRPr lang="sv-SE" sz="1050"/>
          </a:p>
          <a:p>
            <a:endParaRPr lang="sv-SE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077EDB-96DC-14B7-D778-9CA6672C872A}"/>
              </a:ext>
            </a:extLst>
          </p:cNvPr>
          <p:cNvSpPr txBox="1"/>
          <p:nvPr/>
        </p:nvSpPr>
        <p:spPr>
          <a:xfrm>
            <a:off x="6269446" y="5915794"/>
            <a:ext cx="2060885" cy="5770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v-SE" sz="1050"/>
              <a:t>Mid 2000 – Power and heat wall</a:t>
            </a:r>
          </a:p>
          <a:p>
            <a:r>
              <a:rPr lang="sv-SE" sz="1050"/>
              <a:t>No higher clock frequencies, many cores instead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44FEC-D15A-06B9-5AC5-0B1816C81E24}"/>
              </a:ext>
            </a:extLst>
          </p:cNvPr>
          <p:cNvSpPr txBox="1"/>
          <p:nvPr/>
        </p:nvSpPr>
        <p:spPr>
          <a:xfrm>
            <a:off x="8146245" y="6123543"/>
            <a:ext cx="2060885" cy="7386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v-SE" sz="1050"/>
              <a:t>Mid 2010 – Dennard scaling ended (power does not scale with transistor size</a:t>
            </a:r>
          </a:p>
          <a:p>
            <a:r>
              <a:rPr lang="sv-SE" sz="1050"/>
              <a:t>Can’t increase cores forever)</a:t>
            </a:r>
          </a:p>
        </p:txBody>
      </p:sp>
    </p:spTree>
    <p:extLst>
      <p:ext uri="{BB962C8B-B14F-4D97-AF65-F5344CB8AC3E}">
        <p14:creationId xmlns:p14="http://schemas.microsoft.com/office/powerpoint/2010/main" val="210846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035F-8E6A-76C7-5638-B4E5DD413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05981E-8AEE-C4CB-6F31-A771840D57C8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5B1EA0-6CD1-283B-C66C-E36C8F0FED4C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8A79C6-1D14-142D-F504-BB55CB793CF9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9A67436-CC8A-B158-AFCF-525BF52F5E2A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D951BB-A9BC-79B8-D05B-CC1FBCA0BD50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FE8AA8-F53D-2AD2-0E8C-0EFA5BBB1F3D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E589F2-EE5B-2CE0-22C6-A5A3445D2B74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885B14-3DEA-799E-BF1D-6649CF0B7856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1DA028E-5F43-845D-187F-6E3F2BDB7704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9DB5881-0C91-7950-A34F-E4885B25F01C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5CFAC6E-AE21-ACBD-B5A3-2D0F7C928646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0AAB8B-8E28-380F-66BE-B34BFEC52B88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B59184A-1580-9F22-7EEB-F4C0E531A5DD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000840-01C7-292A-3301-41767F866B8D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A0F8A16-A08F-41FD-318E-56EB8A71DEF2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3D57600-F596-6BF1-90A4-C4447129CCB3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B1BC4B-515B-03D8-918E-98D9990AEF40}"/>
              </a:ext>
            </a:extLst>
          </p:cNvPr>
          <p:cNvGrpSpPr/>
          <p:nvPr/>
        </p:nvGrpSpPr>
        <p:grpSpPr>
          <a:xfrm>
            <a:off x="2433914" y="3960914"/>
            <a:ext cx="2103001" cy="1268120"/>
            <a:chOff x="2433914" y="3960914"/>
            <a:chExt cx="2103001" cy="126812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56A2620-6AF7-1251-650D-2F3E1074B457}"/>
                </a:ext>
              </a:extLst>
            </p:cNvPr>
            <p:cNvSpPr/>
            <p:nvPr/>
          </p:nvSpPr>
          <p:spPr>
            <a:xfrm>
              <a:off x="2476474" y="3960914"/>
              <a:ext cx="316694" cy="316694"/>
            </a:xfrm>
            <a:prstGeom prst="ellipse">
              <a:avLst/>
            </a:prstGeom>
            <a:solidFill>
              <a:srgbClr val="FF0000"/>
            </a:solidFill>
            <a:ln w="508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Arrow: Curved Down 22">
              <a:extLst>
                <a:ext uri="{FF2B5EF4-FFF2-40B4-BE49-F238E27FC236}">
                  <a16:creationId xmlns:a16="http://schemas.microsoft.com/office/drawing/2014/main" id="{82877B9F-2576-F2C0-DAFD-4A05D677850D}"/>
                </a:ext>
              </a:extLst>
            </p:cNvPr>
            <p:cNvSpPr/>
            <p:nvPr/>
          </p:nvSpPr>
          <p:spPr>
            <a:xfrm rot="14367453">
              <a:off x="2068149" y="4430612"/>
              <a:ext cx="1164187" cy="432657"/>
            </a:xfrm>
            <a:prstGeom prst="curved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F57B94-B355-F778-3459-A6FEB5AE3E33}"/>
                </a:ext>
              </a:extLst>
            </p:cNvPr>
            <p:cNvSpPr txBox="1"/>
            <p:nvPr/>
          </p:nvSpPr>
          <p:spPr>
            <a:xfrm>
              <a:off x="3132363" y="4789675"/>
              <a:ext cx="1404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b="1">
                  <a:latin typeface="Bradley Hand ITC" panose="03070402050302030203" pitchFamily="66" charset="0"/>
                </a:rPr>
                <a:t>You are here!</a:t>
              </a:r>
              <a:endParaRPr lang="LID4096" b="1">
                <a:latin typeface="Bradley Hand ITC" panose="030704020503020302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630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541A-8DED-0FAF-649C-40175A7E6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D20C-CFF7-7C40-9385-83F960710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23F2CF-6061-78DF-1F54-6539CEB3FC24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B9FFF9B-FC64-48C7-AC1D-14D30F326009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FF9C06-2FA8-B9A8-E1F7-F7C01018B7FB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FB71CAC-15F2-6D7F-6210-E2637E7503F3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2E4EF4-A2EF-BD8E-0167-E50E1E021FC8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B20F04-2160-B4DB-FEC5-8A03CD55714A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FB35076-6BF2-8487-9E39-A5B58E1B43BC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FEC938-EE9A-8C1A-9B73-143A68AD9C97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6B5733-1D08-CB77-B19C-B1C3F83600AC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04AECA-1089-2852-D673-39ED27B2C037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5F42F-A8A5-17C7-7E68-208F9654CADD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F0A745-6166-63E1-CA17-DEB830EC3788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A4CEFB-29E6-1993-CF3F-41AE163CCF35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B93939-CBA5-4A5A-1199-86C61A9030C9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0826DB-D0C3-EAE6-BDF8-4B160D374681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70137FF-4059-9FAE-8B01-34FF19727D9B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6058D0B-90ED-7849-8867-BBD0D6137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13" y="4646940"/>
            <a:ext cx="3842524" cy="209749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E08C8A-79D6-A7E3-94A8-A46866327D57}"/>
              </a:ext>
            </a:extLst>
          </p:cNvPr>
          <p:cNvCxnSpPr>
            <a:cxnSpLocks/>
          </p:cNvCxnSpPr>
          <p:nvPr/>
        </p:nvCxnSpPr>
        <p:spPr>
          <a:xfrm flipV="1">
            <a:off x="1221727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C395805-B293-9F38-52E6-11B477F648F9}"/>
              </a:ext>
            </a:extLst>
          </p:cNvPr>
          <p:cNvGrpSpPr/>
          <p:nvPr/>
        </p:nvGrpSpPr>
        <p:grpSpPr>
          <a:xfrm>
            <a:off x="410365" y="1977765"/>
            <a:ext cx="3515483" cy="2174061"/>
            <a:chOff x="410365" y="1977765"/>
            <a:chExt cx="3515483" cy="217406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382042-E695-0996-6E97-45199A8943B0}"/>
                </a:ext>
              </a:extLst>
            </p:cNvPr>
            <p:cNvSpPr txBox="1"/>
            <p:nvPr/>
          </p:nvSpPr>
          <p:spPr>
            <a:xfrm>
              <a:off x="410365" y="1977765"/>
              <a:ext cx="3515483" cy="16619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1200" b="1" u="sng"/>
                <a:t>Commodore 64 (1982)</a:t>
              </a:r>
            </a:p>
            <a:p>
              <a:r>
                <a:rPr lang="sv-SE" sz="900"/>
                <a:t>CPU: MOS6510 – 1MHz</a:t>
              </a:r>
            </a:p>
            <a:p>
              <a:r>
                <a:rPr lang="sv-SE" sz="900"/>
                <a:t>Registers: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sv-SE" sz="900"/>
                <a:t>A, X, Y, SP (8 bits) PC(16 bits)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sv-SE" sz="900"/>
                <a:t>Mycket lik FLISP</a:t>
              </a:r>
            </a:p>
            <a:p>
              <a:r>
                <a:rPr lang="sv-SE" sz="900"/>
                <a:t>Interrupts och 4 timers</a:t>
              </a:r>
            </a:p>
            <a:p>
              <a:r>
                <a:rPr lang="sv-SE" sz="900"/>
                <a:t>Läsa av joysticken = Läs en GPIO port</a:t>
              </a:r>
            </a:p>
            <a:p>
              <a:r>
                <a:rPr lang="sv-SE" sz="900"/>
                <a:t>Rita upp en sprite på skärmen = Skriv till grafikkretsens register</a:t>
              </a:r>
            </a:p>
            <a:p>
              <a:r>
                <a:rPr lang="sv-SE" sz="900"/>
                <a:t>Spela ljud = Skriv till ljudkretsens register</a:t>
              </a:r>
            </a:p>
            <a:p>
              <a:r>
                <a:rPr lang="sv-SE" sz="900" b="1"/>
                <a:t>Ni kan allt som behövs för att programmera </a:t>
              </a:r>
            </a:p>
            <a:p>
              <a:r>
                <a:rPr lang="sv-SE" sz="900" b="1"/>
                <a:t>assembler på den här maskinen!</a:t>
              </a:r>
              <a:endParaRPr lang="LID4096" sz="105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EDD5DF8-8FEF-F6DA-C2F9-6B0486D16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84" y="3639758"/>
              <a:ext cx="0" cy="5120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E3CE87C-4312-3EDC-BEA9-666C9CF3126C}"/>
              </a:ext>
            </a:extLst>
          </p:cNvPr>
          <p:cNvSpPr txBox="1"/>
          <p:nvPr/>
        </p:nvSpPr>
        <p:spPr>
          <a:xfrm>
            <a:off x="1890827" y="3567050"/>
            <a:ext cx="2381156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sz="800" b="1" u="sng"/>
              <a:t>Bonusfakta: </a:t>
            </a:r>
          </a:p>
          <a:p>
            <a:r>
              <a:rPr lang="sv-SE" sz="800"/>
              <a:t>Minnet var dubbelt så snabbt som CPUn, så grafikkortet kunde läsa vad processorn skrivit</a:t>
            </a:r>
            <a:br>
              <a:rPr lang="sv-SE" sz="800"/>
            </a:br>
            <a:r>
              <a:rPr lang="sv-SE" sz="800" i="1"/>
              <a:t>mellan</a:t>
            </a:r>
            <a:r>
              <a:rPr lang="sv-SE" sz="800"/>
              <a:t> klockcykler</a:t>
            </a:r>
            <a:endParaRPr lang="LID4096" sz="600"/>
          </a:p>
        </p:txBody>
      </p:sp>
    </p:spTree>
    <p:extLst>
      <p:ext uri="{BB962C8B-B14F-4D97-AF65-F5344CB8AC3E}">
        <p14:creationId xmlns:p14="http://schemas.microsoft.com/office/powerpoint/2010/main" val="128413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6FA12-384F-040C-78AC-5C976AAA7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109D8-E59A-336D-5267-EEA7D9D4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C921DE4-D922-C02C-4553-6D6093114755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37B6C8-3569-8F84-9E67-DB7D52182A84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8BC2BC-5488-AE90-8F7C-412E13E65AFA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F87A646-CFF9-9F43-C332-18DA0BE0339E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4AFF1D-9066-7F72-43CE-5A52694A37DE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969940-AF3E-CA8E-CC93-021EB38E7C53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319C495-3B8F-34DF-4E47-EF0261BB645D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D49792-939C-3757-9E4D-19AF5CE48E95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49973C-0FC4-230F-30E9-69EC24B6BC7B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7808A33-9FE0-B422-D91D-7B1A8500EB9B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E1F71F-BC9F-01D5-5C98-87875322752B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B04DAC-9539-C619-3682-3E9B8CD1D262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40D0819-98BF-2D1C-B7BF-EBDB56E71C22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B89BCC1-F01E-35D1-4BD6-050967C7C2FD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76C4F1C-CD5D-43CE-0DAC-7F6F21490E83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3FC9599-768F-264B-ED43-C760AA56E6DF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CF204AC-FEF1-B36A-DBF6-1F3862462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8" y="4629987"/>
            <a:ext cx="1008070" cy="5502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A91B95-50F2-4456-65D1-0A84ABFFBE72}"/>
              </a:ext>
            </a:extLst>
          </p:cNvPr>
          <p:cNvCxnSpPr>
            <a:cxnSpLocks/>
          </p:cNvCxnSpPr>
          <p:nvPr/>
        </p:nvCxnSpPr>
        <p:spPr>
          <a:xfrm flipV="1">
            <a:off x="1221727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8E9A690-FDE5-1296-44C3-3AA4E3789885}"/>
              </a:ext>
            </a:extLst>
          </p:cNvPr>
          <p:cNvGrpSpPr/>
          <p:nvPr/>
        </p:nvGrpSpPr>
        <p:grpSpPr>
          <a:xfrm>
            <a:off x="1882076" y="1947430"/>
            <a:ext cx="2270638" cy="2174061"/>
            <a:chOff x="410366" y="1977765"/>
            <a:chExt cx="2270638" cy="217406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4A46BD-5453-3E87-5FFE-FDC4B2CCC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84" y="3639758"/>
              <a:ext cx="0" cy="5120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FA7D64-8523-E67A-5CE9-C889879A865F}"/>
                </a:ext>
              </a:extLst>
            </p:cNvPr>
            <p:cNvSpPr txBox="1"/>
            <p:nvPr/>
          </p:nvSpPr>
          <p:spPr>
            <a:xfrm>
              <a:off x="410366" y="1977765"/>
              <a:ext cx="2270638" cy="1800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1200" b="1" u="sng"/>
                <a:t>Commodore Amiga 500 (1987)</a:t>
              </a:r>
            </a:p>
            <a:p>
              <a:r>
                <a:rPr lang="sv-SE" sz="900"/>
                <a:t>CPU: Motorola 68000 – 7 Mhz</a:t>
              </a:r>
            </a:p>
            <a:p>
              <a:r>
                <a:rPr lang="sv-SE" sz="900"/>
                <a:t>Register: 16 st 32-bitars register</a:t>
              </a:r>
            </a:p>
            <a:p>
              <a:r>
                <a:rPr lang="sv-SE" sz="900"/>
                <a:t>Addressrymd: 24 bitar (16 MB)</a:t>
              </a:r>
            </a:p>
            <a:p>
              <a:endParaRPr lang="sv-SE" sz="900" b="1"/>
            </a:p>
            <a:p>
              <a:r>
                <a:rPr lang="sv-SE" sz="900"/>
                <a:t>Interrupts och kommunikation med grafik och ljudchip funkar som ni lärt er, men den introducerar två saker som vi inte gått igenom ännu:</a:t>
              </a:r>
            </a:p>
            <a:p>
              <a:endParaRPr lang="sv-SE" sz="900" b="1"/>
            </a:p>
            <a:p>
              <a:r>
                <a:rPr lang="sv-SE" sz="900" b="1"/>
                <a:t>Multitasking </a:t>
              </a:r>
              <a:r>
                <a:rPr lang="sv-SE" sz="900"/>
                <a:t>och</a:t>
              </a:r>
              <a:endParaRPr lang="sv-SE" sz="900" b="1"/>
            </a:p>
            <a:p>
              <a:r>
                <a:rPr lang="sv-SE" sz="900"/>
                <a:t>DMA</a:t>
              </a:r>
              <a:endParaRPr lang="LID4096" sz="105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9438FF-ADBE-6B52-B66B-7019540AC4B5}"/>
              </a:ext>
            </a:extLst>
          </p:cNvPr>
          <p:cNvCxnSpPr>
            <a:cxnSpLocks/>
          </p:cNvCxnSpPr>
          <p:nvPr/>
        </p:nvCxnSpPr>
        <p:spPr>
          <a:xfrm flipV="1">
            <a:off x="2698194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2BE50AB-7506-5907-EB0F-A1AF3616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730" y="4660322"/>
            <a:ext cx="2410420" cy="17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1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18C6-AB2D-1E9A-8D19-042881BC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Multitasking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7B073-32C7-A316-D17B-D552A1E5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Hur köra två program på samma processor?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3832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40E1-BA56-F081-931C-AF13770F5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Multitasking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6407-76C9-88D4-0AEF-EE7DBB62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Hur köra samma program på två ställen i minnet?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3405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72017-0655-BBFB-4A38-20B6C6F8E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797F-2BD4-B817-1CC9-A7772CEA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541D26-17B2-EE4F-D2AE-74D82CE53691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EB9C96-C74C-5899-A98B-B2DE7C649C4E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A54EBC-C26B-4ECA-1170-839D7F36A9FC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65D5654-6790-24B3-5CDB-5E48E5E928D9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53E5FA-7737-C63F-4F63-77FEB8863E69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1C3E0E-7C0C-A7D1-D894-588A35748C64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268F32-87A5-293E-EE19-E2174B8517D5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014C01-4BFB-E4A1-328A-86D39ABE9129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9CD801-AC31-CC00-4C22-C60BDC410A37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0E31F5F-F468-8B5E-75FD-26DEDCA11E66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81BE34-9218-17A3-8C4F-6DDA96995B49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1869B52-42C0-BFF7-6741-3FE04F85F9F4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8F5A63-24B5-66AD-2ECB-C952BF3CF58B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CCA3530-4F9C-1E8C-7F8E-2C8AEBB3E5E9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C7D75E-B66B-0119-2C17-4F3866DF5E58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B574FB-AC40-5794-1792-A175D6EB7EA6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38B9FA1-9775-D0F5-0228-63A464291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8" y="4629987"/>
            <a:ext cx="1008070" cy="5502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2CF9B-0E9C-FFB8-5A02-AA81F45F93FA}"/>
              </a:ext>
            </a:extLst>
          </p:cNvPr>
          <p:cNvCxnSpPr>
            <a:cxnSpLocks/>
          </p:cNvCxnSpPr>
          <p:nvPr/>
        </p:nvCxnSpPr>
        <p:spPr>
          <a:xfrm flipV="1">
            <a:off x="1221727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ED2868B-AD36-109B-F293-EB61E04109F5}"/>
              </a:ext>
            </a:extLst>
          </p:cNvPr>
          <p:cNvGrpSpPr/>
          <p:nvPr/>
        </p:nvGrpSpPr>
        <p:grpSpPr>
          <a:xfrm>
            <a:off x="1882076" y="1947430"/>
            <a:ext cx="2270638" cy="2174061"/>
            <a:chOff x="410366" y="1977765"/>
            <a:chExt cx="2270638" cy="217406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6BC4703-23C9-2FD7-BDB2-E3206C21DA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84" y="3639758"/>
              <a:ext cx="0" cy="5120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C7A78B-3631-CB85-16B2-16E456351CAA}"/>
                </a:ext>
              </a:extLst>
            </p:cNvPr>
            <p:cNvSpPr txBox="1"/>
            <p:nvPr/>
          </p:nvSpPr>
          <p:spPr>
            <a:xfrm>
              <a:off x="410366" y="1977765"/>
              <a:ext cx="2270638" cy="1800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1200" b="1" u="sng"/>
                <a:t>Commodore Amiga 500 (1987)</a:t>
              </a:r>
            </a:p>
            <a:p>
              <a:r>
                <a:rPr lang="sv-SE" sz="900"/>
                <a:t>CPU: Motorola 68000 – 7 Mhz</a:t>
              </a:r>
            </a:p>
            <a:p>
              <a:r>
                <a:rPr lang="sv-SE" sz="900"/>
                <a:t>Register: 16 st 32-bitars register</a:t>
              </a:r>
            </a:p>
            <a:p>
              <a:r>
                <a:rPr lang="sv-SE" sz="900"/>
                <a:t>Addressrymd: 24 bitar (16 MB)</a:t>
              </a:r>
            </a:p>
            <a:p>
              <a:endParaRPr lang="sv-SE" sz="900" b="1"/>
            </a:p>
            <a:p>
              <a:r>
                <a:rPr lang="sv-SE" sz="900"/>
                <a:t>Interrupts och kommunikation med grafik och ljudchip funkar som ni lärt er, men den introducerar två saker som vi inte gått igenom ännu:</a:t>
              </a:r>
            </a:p>
            <a:p>
              <a:endParaRPr lang="sv-SE" sz="900" b="1"/>
            </a:p>
            <a:p>
              <a:r>
                <a:rPr lang="sv-SE" sz="900"/>
                <a:t>Multitasking</a:t>
              </a:r>
              <a:r>
                <a:rPr lang="sv-SE" sz="900" b="1"/>
                <a:t> </a:t>
              </a:r>
              <a:r>
                <a:rPr lang="sv-SE" sz="900"/>
                <a:t>och</a:t>
              </a:r>
              <a:endParaRPr lang="sv-SE" sz="900" b="1"/>
            </a:p>
            <a:p>
              <a:r>
                <a:rPr lang="sv-SE" sz="900" b="1"/>
                <a:t>DMA</a:t>
              </a:r>
              <a:endParaRPr lang="LID4096" sz="105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950A96-505E-7819-D5E3-A29FD7BB8788}"/>
              </a:ext>
            </a:extLst>
          </p:cNvPr>
          <p:cNvCxnSpPr>
            <a:cxnSpLocks/>
          </p:cNvCxnSpPr>
          <p:nvPr/>
        </p:nvCxnSpPr>
        <p:spPr>
          <a:xfrm flipV="1">
            <a:off x="2698194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EA4201B-CB7C-E87E-4C96-E4A8FFBEB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730" y="4660322"/>
            <a:ext cx="2410420" cy="17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3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66F8-628B-C356-802E-B608C75AC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DMA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9C088-36AA-A4E0-EE22-AE3754582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Exempel: </a:t>
            </a:r>
          </a:p>
          <a:p>
            <a:pPr lvl="1"/>
            <a:r>
              <a:rPr lang="sv-SE"/>
              <a:t>Vi har en sprite (en bild) i minnet, och vill ladda upp den till sprite minnet på grafikkortet.</a:t>
            </a:r>
          </a:p>
          <a:p>
            <a:pPr lvl="1"/>
            <a:endParaRPr lang="sv-SE"/>
          </a:p>
          <a:p>
            <a:pPr lvl="1"/>
            <a:r>
              <a:rPr lang="sv-SE"/>
              <a:t>Loop? </a:t>
            </a:r>
          </a:p>
          <a:p>
            <a:pPr lvl="1"/>
            <a:endParaRPr lang="sv-SE"/>
          </a:p>
          <a:p>
            <a:pPr lvl="1"/>
            <a:r>
              <a:rPr lang="sv-SE"/>
              <a:t>Nej, starta DMA transfer</a:t>
            </a:r>
          </a:p>
          <a:p>
            <a:pPr lvl="1"/>
            <a:endParaRPr lang="sv-SE"/>
          </a:p>
          <a:p>
            <a:pPr lvl="1"/>
            <a:r>
              <a:rPr lang="sv-SE"/>
              <a:t>Precis samma funktionalitet finns på CH32V307 och alla moderna processorer.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9942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C4403-CCFA-D854-263B-FF21C14A2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C922-1F6B-EAE4-4F1D-8C5A5954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1BB4BA-66A0-9F49-7570-56D520F2DF2A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822A89-065F-F4C0-3805-DC864D2F2EC4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95AB35-7727-C846-CF1A-84D98ABC6101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6A12E00-CF3B-974A-19C3-0363955ED6D6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A05A00-2194-F9C7-9671-03A23A7DEAE4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FCBA4E-343C-3533-6648-19D4F5FDAC09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5E4058C-DCB5-5583-05C5-0563D17037D7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2A0B8B-9617-F532-6EB1-74F5796A45A0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7813C6-8689-59F8-4BFD-ED84D4BC6AF5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9FA1A2-B69B-081A-FD6D-65603B6A8B9A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479CD9-7D48-A58E-26B0-D864D609A6B8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503E59-FB4B-06D2-9527-F8C3B2D596A6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420065E-12FB-61C8-986E-AB9150EE583D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6EB06A-0BED-B6B1-8FD7-23E5E98F2DB8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7B5749-40A5-BDB6-53D5-8A32AB2AB496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482744D-3928-E6CA-D6B4-225031DC8C6E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12E1952-4B23-C3A9-7CF9-392EF4AAB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8" y="4629987"/>
            <a:ext cx="1008070" cy="5502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A2359D-3528-945F-1582-B9A5982DCA05}"/>
              </a:ext>
            </a:extLst>
          </p:cNvPr>
          <p:cNvCxnSpPr>
            <a:cxnSpLocks/>
          </p:cNvCxnSpPr>
          <p:nvPr/>
        </p:nvCxnSpPr>
        <p:spPr>
          <a:xfrm flipV="1">
            <a:off x="1221727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4FFC67-AE6E-C07C-15EB-1ED296A6BA21}"/>
              </a:ext>
            </a:extLst>
          </p:cNvPr>
          <p:cNvGrpSpPr/>
          <p:nvPr/>
        </p:nvGrpSpPr>
        <p:grpSpPr>
          <a:xfrm>
            <a:off x="1841931" y="2376310"/>
            <a:ext cx="2270638" cy="1753990"/>
            <a:chOff x="205183" y="2397836"/>
            <a:chExt cx="2270638" cy="175399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606C32-5322-9295-9613-9E185C310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84" y="3639758"/>
              <a:ext cx="0" cy="5120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D4BF242-0E8E-CB3C-30EA-E95AC2988513}"/>
                </a:ext>
              </a:extLst>
            </p:cNvPr>
            <p:cNvSpPr txBox="1"/>
            <p:nvPr/>
          </p:nvSpPr>
          <p:spPr>
            <a:xfrm>
              <a:off x="205183" y="2397836"/>
              <a:ext cx="2270638" cy="12464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1200" b="1" u="sng"/>
                <a:t>IBM 386 (1987ish)</a:t>
              </a:r>
            </a:p>
            <a:p>
              <a:r>
                <a:rPr lang="sv-SE" sz="900"/>
                <a:t>CPU: Intel 80386</a:t>
              </a:r>
            </a:p>
            <a:p>
              <a:r>
                <a:rPr lang="sv-SE" sz="900"/>
                <a:t>Register: 8 generella 32 bitars register </a:t>
              </a:r>
            </a:p>
            <a:p>
              <a:r>
                <a:rPr lang="sv-SE" sz="900"/>
                <a:t>                   </a:t>
              </a:r>
              <a:r>
                <a:rPr lang="sv-SE" sz="600"/>
                <a:t>(ungefär... intelprocessorer är krångliga)</a:t>
              </a:r>
              <a:endParaRPr lang="sv-SE" sz="900"/>
            </a:p>
            <a:p>
              <a:r>
                <a:rPr lang="sv-SE" sz="900"/>
                <a:t>32 bitars addressrymd (4GB!)</a:t>
              </a:r>
            </a:p>
            <a:p>
              <a:r>
                <a:rPr lang="sv-SE" sz="900" b="1"/>
                <a:t>Minnesskydd</a:t>
              </a:r>
            </a:p>
            <a:p>
              <a:r>
                <a:rPr lang="sv-SE" sz="900" b="1"/>
                <a:t>Address translation (Paging MMU)</a:t>
              </a:r>
            </a:p>
            <a:p>
              <a:endParaRPr lang="LID4096" sz="90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7D6325-CFCD-00DB-A244-808326EBCE5F}"/>
              </a:ext>
            </a:extLst>
          </p:cNvPr>
          <p:cNvCxnSpPr>
            <a:cxnSpLocks/>
          </p:cNvCxnSpPr>
          <p:nvPr/>
        </p:nvCxnSpPr>
        <p:spPr>
          <a:xfrm flipV="1">
            <a:off x="2698194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9DA578-C253-1604-BD30-0FAB9175E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408" y="4731690"/>
            <a:ext cx="1056939" cy="77481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5A6E9EFB-0E52-E94E-3814-D517D98AB62C}"/>
              </a:ext>
            </a:extLst>
          </p:cNvPr>
          <p:cNvGrpSpPr/>
          <p:nvPr/>
        </p:nvGrpSpPr>
        <p:grpSpPr>
          <a:xfrm>
            <a:off x="2602834" y="4137401"/>
            <a:ext cx="2595582" cy="2601214"/>
            <a:chOff x="2602834" y="4137401"/>
            <a:chExt cx="2595582" cy="2601214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F2DE58-A80B-0BC5-7611-8626BE053D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9515" y="4137401"/>
              <a:ext cx="0" cy="447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9B42E9-5894-3814-98AE-7FC513458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3496" y="4572223"/>
              <a:ext cx="1047129" cy="252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03F4240-0122-FA9B-CBCC-4B68C899F5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5092" y="4552082"/>
              <a:ext cx="0" cy="447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 descr="IBM PC 5150">
              <a:extLst>
                <a:ext uri="{FF2B5EF4-FFF2-40B4-BE49-F238E27FC236}">
                  <a16:creationId xmlns:a16="http://schemas.microsoft.com/office/drawing/2014/main" id="{77F50E2C-7E8B-0372-2845-D510EC2D0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2834" y="4828353"/>
              <a:ext cx="2595582" cy="19102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22F5C6-395D-F0E5-902C-781C597C9E6E}"/>
              </a:ext>
            </a:extLst>
          </p:cNvPr>
          <p:cNvCxnSpPr>
            <a:cxnSpLocks/>
          </p:cNvCxnSpPr>
          <p:nvPr/>
        </p:nvCxnSpPr>
        <p:spPr>
          <a:xfrm flipV="1">
            <a:off x="2749338" y="3673511"/>
            <a:ext cx="0" cy="4479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14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A67A-3D84-A5CD-57AD-820638A8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Multitasking med Address Translation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B5E15-1791-8A99-6126-05BF52BA1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7044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6DA31-F52D-4993-1773-92BDC556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AFED-8B92-DCEC-9BD2-63B297E4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Multitasking med Memory Protection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3CAB3-2008-85E4-F8B7-07345A6F3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9425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F0392-01CE-26C3-E635-4B3E55A3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7612C-83EE-A2E0-B1F1-A964E177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C5A2602-F5C9-A8C9-0101-BF7DFB9E6434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38363615-6F22-AD60-26ED-3AF4F188769E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FEAD98-0809-85CE-ABB7-0218A43156CD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E5A6959-7E0C-17A3-B2BA-31490B6244F8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B892BE-96E6-2E2A-6E4C-5907E3C261B7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C10A72-3BCF-80F2-17FB-AF3E59BB1E5B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5666C3A-8FEE-2458-C607-994131351D5A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7DBC9-6339-AEE9-64F9-3B3DE7E07BDE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6BF9888-ABF9-9ECF-C906-E07313F371FC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69ECAC-BD36-5BCE-67E2-F1AF36D82030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FA91E6-1A32-615D-0ACE-8C1D9A18F4DA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A87AAC-53D6-DAA7-AC2A-BE03EC2D0188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0ECD3DA-048A-CE23-8C89-E1EC0D04C996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1F66A3-D9B3-4E50-89D4-EC2FB2CCA8E5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F02403F-F7F7-94C7-77DC-6B877759AF88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2914962-C1EE-B804-7189-7DA74B888E48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D443DCC-4DD3-A31C-30F8-396E0D438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8" y="4629987"/>
            <a:ext cx="1008070" cy="5502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FF8D4A-B96A-0F55-CEB8-472CD3AAA149}"/>
              </a:ext>
            </a:extLst>
          </p:cNvPr>
          <p:cNvCxnSpPr>
            <a:cxnSpLocks/>
          </p:cNvCxnSpPr>
          <p:nvPr/>
        </p:nvCxnSpPr>
        <p:spPr>
          <a:xfrm flipV="1">
            <a:off x="1221727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40FC1A5-FCE8-3402-56A7-AD5F10674B3F}"/>
              </a:ext>
            </a:extLst>
          </p:cNvPr>
          <p:cNvCxnSpPr>
            <a:cxnSpLocks/>
          </p:cNvCxnSpPr>
          <p:nvPr/>
        </p:nvCxnSpPr>
        <p:spPr>
          <a:xfrm flipV="1">
            <a:off x="2698194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B9845C2-392D-1FD4-E4DE-761578BF3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408" y="4731690"/>
            <a:ext cx="1056939" cy="77481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A0F6AA2-D7ED-CF99-64DB-7831B151644F}"/>
              </a:ext>
            </a:extLst>
          </p:cNvPr>
          <p:cNvGrpSpPr/>
          <p:nvPr/>
        </p:nvGrpSpPr>
        <p:grpSpPr>
          <a:xfrm>
            <a:off x="2220404" y="3032335"/>
            <a:ext cx="934332" cy="1089156"/>
            <a:chOff x="3433459" y="5064149"/>
            <a:chExt cx="934332" cy="108915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339C84-AA51-8EEB-FEA0-6A82BA5AF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2393" y="5705325"/>
              <a:ext cx="0" cy="447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 descr="IBM PC 5150">
              <a:extLst>
                <a:ext uri="{FF2B5EF4-FFF2-40B4-BE49-F238E27FC236}">
                  <a16:creationId xmlns:a16="http://schemas.microsoft.com/office/drawing/2014/main" id="{84379101-1E53-E1F2-DB5F-2315A03ED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3459" y="5064149"/>
              <a:ext cx="934332" cy="687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C2AE23-7E00-74A5-A2F6-A868F3B9EF30}"/>
              </a:ext>
            </a:extLst>
          </p:cNvPr>
          <p:cNvGrpSpPr/>
          <p:nvPr/>
        </p:nvGrpSpPr>
        <p:grpSpPr>
          <a:xfrm>
            <a:off x="2567913" y="1799309"/>
            <a:ext cx="1925508" cy="2322182"/>
            <a:chOff x="2567912" y="1799309"/>
            <a:chExt cx="1925508" cy="2322182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8171E9-811B-9BB6-328E-67FCA6A282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0666" y="2832410"/>
              <a:ext cx="0" cy="128908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A625143-8B89-A282-4866-DADDD43B219C}"/>
                </a:ext>
              </a:extLst>
            </p:cNvPr>
            <p:cNvSpPr txBox="1"/>
            <p:nvPr/>
          </p:nvSpPr>
          <p:spPr>
            <a:xfrm>
              <a:off x="2567912" y="1799309"/>
              <a:ext cx="1925508" cy="2308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900"/>
                <a:t>The memory wall is approaching</a:t>
              </a:r>
              <a:endParaRPr lang="LID4096" sz="90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08F9B7F-FB11-556D-C525-EF5A1D9BA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67912" y="2036831"/>
              <a:ext cx="1925508" cy="1252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4884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EB44-AD92-F189-EEC2-375AF43F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46E9-5754-F4AA-76F2-DE22D947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DF0340-8D94-4044-1A30-3BBF56A6BD61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5375AC-E4B6-6F49-EA69-968B65435276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602DC1-6E88-0A5D-E405-52F278B629F2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56BDE05-3DB8-6316-7B6D-2A559FEDFA17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54C2A7-0C0B-6B4C-0473-5156DBAF94D0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9C506C-DB28-0169-1F1E-0B7E84F62E9C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73B5BF-E732-4E9B-0061-8D61F70ADD57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7F81E3-0CB8-A367-C207-ED213B787FEE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20B468-2D1D-0941-7848-9B4A364B9FB1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BAC58B-5DA5-56C3-0720-95747C24216F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ED2B0F-C4BF-696C-E535-50C5C79F301E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5E4642-3C50-0299-20FF-3D11887170AD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1349C6-4AD5-0DDB-8DBC-576908DA28DE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F341867-42D0-9781-8CDE-8D71D10C7655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5635D9-FF25-2CCE-9F8B-351B408C26C1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81ECA3-90F6-76CF-AC2A-8E90A1B0AE66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1AF408D-B1A8-B14F-5CBE-11AEB85D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8" y="4629987"/>
            <a:ext cx="1008070" cy="5502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37F16E-DE53-570A-E624-B25855DA749A}"/>
              </a:ext>
            </a:extLst>
          </p:cNvPr>
          <p:cNvCxnSpPr>
            <a:cxnSpLocks/>
          </p:cNvCxnSpPr>
          <p:nvPr/>
        </p:nvCxnSpPr>
        <p:spPr>
          <a:xfrm flipV="1">
            <a:off x="1221727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E7F700-9918-48BA-2DBC-34F2DAD8CC87}"/>
              </a:ext>
            </a:extLst>
          </p:cNvPr>
          <p:cNvCxnSpPr>
            <a:cxnSpLocks/>
          </p:cNvCxnSpPr>
          <p:nvPr/>
        </p:nvCxnSpPr>
        <p:spPr>
          <a:xfrm flipV="1">
            <a:off x="2698194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2524962-F456-3412-7C5B-A0BD097A7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408" y="4731690"/>
            <a:ext cx="1056939" cy="77481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5ABBA226-505A-46DE-3042-9879C11548E7}"/>
              </a:ext>
            </a:extLst>
          </p:cNvPr>
          <p:cNvGrpSpPr/>
          <p:nvPr/>
        </p:nvGrpSpPr>
        <p:grpSpPr>
          <a:xfrm>
            <a:off x="2220404" y="3032335"/>
            <a:ext cx="934332" cy="1089156"/>
            <a:chOff x="3433459" y="5064149"/>
            <a:chExt cx="934332" cy="108915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740B230-0C88-4CE4-2EB5-3EB2712E90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2393" y="5705325"/>
              <a:ext cx="0" cy="447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 descr="IBM PC 5150">
              <a:extLst>
                <a:ext uri="{FF2B5EF4-FFF2-40B4-BE49-F238E27FC236}">
                  <a16:creationId xmlns:a16="http://schemas.microsoft.com/office/drawing/2014/main" id="{12E03097-20EA-ACD8-C9A3-C4B3A784A1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3459" y="5064149"/>
              <a:ext cx="934332" cy="687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3BD0ED5-F843-3BB0-02AB-428B2389879A}"/>
              </a:ext>
            </a:extLst>
          </p:cNvPr>
          <p:cNvGrpSpPr/>
          <p:nvPr/>
        </p:nvGrpSpPr>
        <p:grpSpPr>
          <a:xfrm>
            <a:off x="3255683" y="3630381"/>
            <a:ext cx="549967" cy="491110"/>
            <a:chOff x="3255682" y="3630381"/>
            <a:chExt cx="549967" cy="49111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4A57FC-7F76-6536-51F7-FDCB80F357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0666" y="3969834"/>
              <a:ext cx="0" cy="1516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43882A7-71CF-0049-B269-74888F609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5682" y="3630381"/>
              <a:ext cx="549967" cy="357696"/>
            </a:xfrm>
            <a:prstGeom prst="rect">
              <a:avLst/>
            </a:prstGeom>
          </p:spPr>
        </p:pic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D341EA-2E9F-15A7-50BB-2A2C7DA97241}"/>
              </a:ext>
            </a:extLst>
          </p:cNvPr>
          <p:cNvCxnSpPr>
            <a:cxnSpLocks/>
          </p:cNvCxnSpPr>
          <p:nvPr/>
        </p:nvCxnSpPr>
        <p:spPr>
          <a:xfrm flipV="1">
            <a:off x="3969005" y="2836414"/>
            <a:ext cx="0" cy="12890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C78BEED-1543-65C4-6862-424FD2AC52F8}"/>
              </a:ext>
            </a:extLst>
          </p:cNvPr>
          <p:cNvSpPr txBox="1"/>
          <p:nvPr/>
        </p:nvSpPr>
        <p:spPr>
          <a:xfrm>
            <a:off x="2833686" y="2170111"/>
            <a:ext cx="227063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sz="1200" b="1" u="sng"/>
              <a:t>486 PC (early nineties)</a:t>
            </a:r>
          </a:p>
          <a:p>
            <a:r>
              <a:rPr lang="sv-SE" sz="900"/>
              <a:t>CPU: Intel 80486 – 25-66Mhz</a:t>
            </a:r>
          </a:p>
          <a:p>
            <a:r>
              <a:rPr lang="sv-SE" sz="900"/>
              <a:t>Registers: Samma som 386</a:t>
            </a:r>
          </a:p>
          <a:p>
            <a:r>
              <a:rPr lang="sv-SE" sz="900" b="1"/>
              <a:t>L1 Cache </a:t>
            </a:r>
            <a:r>
              <a:rPr lang="sv-SE" sz="900"/>
              <a:t>(för instruktioner och data)</a:t>
            </a:r>
          </a:p>
          <a:p>
            <a:r>
              <a:rPr lang="sv-SE" sz="900" b="1"/>
              <a:t>Pipelining </a:t>
            </a:r>
            <a:endParaRPr lang="LID4096" sz="900" b="1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10DF563-9D10-626B-64A9-329A0187CA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707" y="4402977"/>
            <a:ext cx="1713088" cy="188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49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3136-5C87-EA16-19ED-0540BDEB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Cache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B31C0-5EDD-AEA9-74C7-893E915F7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4467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FB33-4A3B-300F-02CD-FCF781826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Pipelining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0AE2-32D6-4812-6BA4-16AA4624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9395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2A6DF-E0BE-957C-34DA-119FB7E8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3C8F-0350-2122-090E-41A0FF3D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7AB122-7B7C-3813-2F26-86DA81D670A1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646907-4F0C-B9B9-C7C8-D4CB218E2A3B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43B7C2-62C4-EAA0-CC3D-43BEEA799063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A1916AA-9B74-F992-044D-C9589AD604BB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888A6E-5C8E-8F5F-9C7B-C6378ACD9293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87D774-C23D-0AC9-A221-E79410A3EDF0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BEEAB29-BE8A-3CFC-BC61-0C33C97045D3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C47D6-A944-9A07-F196-798CC7ACACBE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69D281-9DEA-2FB4-B71A-E78AEF0B512B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8CA2C9-80C8-C6C8-5C14-74E6C4935F33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1F9411-438C-28FC-BCD8-7742681B6B7C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E9768D-3880-3D08-81D2-E489759D66E0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7A164A-6765-9217-1B8F-571898DE8BAB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548ABB-13F7-0E85-C79C-46EC1CB23186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B928F4-A457-560E-BDC3-7C120DDDBA79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5F716C4-B1CB-8EF8-9196-C5F57454967E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0A65BFB-0BD3-1D22-9F5B-6E3FE2684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8" y="4629987"/>
            <a:ext cx="1008070" cy="5502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81770F-1F1F-0A6E-E43F-DFA9ADCE6B1C}"/>
              </a:ext>
            </a:extLst>
          </p:cNvPr>
          <p:cNvCxnSpPr>
            <a:cxnSpLocks/>
          </p:cNvCxnSpPr>
          <p:nvPr/>
        </p:nvCxnSpPr>
        <p:spPr>
          <a:xfrm flipV="1">
            <a:off x="1221727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61F2E5-2261-3E68-0392-63FCE6AE4E3C}"/>
              </a:ext>
            </a:extLst>
          </p:cNvPr>
          <p:cNvCxnSpPr>
            <a:cxnSpLocks/>
          </p:cNvCxnSpPr>
          <p:nvPr/>
        </p:nvCxnSpPr>
        <p:spPr>
          <a:xfrm flipV="1">
            <a:off x="2698194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6F38640-ADD4-2808-AD10-216EB70E1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408" y="4731690"/>
            <a:ext cx="1056939" cy="77481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AE599147-76C0-37EB-31F6-B629B83739A9}"/>
              </a:ext>
            </a:extLst>
          </p:cNvPr>
          <p:cNvGrpSpPr/>
          <p:nvPr/>
        </p:nvGrpSpPr>
        <p:grpSpPr>
          <a:xfrm>
            <a:off x="2220404" y="3032335"/>
            <a:ext cx="934332" cy="1089156"/>
            <a:chOff x="3433459" y="5064149"/>
            <a:chExt cx="934332" cy="108915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464F642-AD83-F747-3A45-D8021B4FF6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2393" y="5705325"/>
              <a:ext cx="0" cy="447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 descr="IBM PC 5150">
              <a:extLst>
                <a:ext uri="{FF2B5EF4-FFF2-40B4-BE49-F238E27FC236}">
                  <a16:creationId xmlns:a16="http://schemas.microsoft.com/office/drawing/2014/main" id="{1F83D69D-5A26-FBF3-B870-0A1F19236E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3459" y="5064149"/>
              <a:ext cx="934332" cy="687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84D522E-7EE6-AFEB-76E1-AF9D7EFBBF6F}"/>
              </a:ext>
            </a:extLst>
          </p:cNvPr>
          <p:cNvGrpSpPr/>
          <p:nvPr/>
        </p:nvGrpSpPr>
        <p:grpSpPr>
          <a:xfrm>
            <a:off x="3255683" y="3630381"/>
            <a:ext cx="549967" cy="491110"/>
            <a:chOff x="3255682" y="3630381"/>
            <a:chExt cx="549967" cy="49111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0B57BF0-0409-0708-EFDF-03BB35D92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0666" y="3969834"/>
              <a:ext cx="0" cy="1516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3CA6589-61A3-56F3-52A9-AA0F852E9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5682" y="3630381"/>
              <a:ext cx="549967" cy="357696"/>
            </a:xfrm>
            <a:prstGeom prst="rect">
              <a:avLst/>
            </a:prstGeom>
          </p:spPr>
        </p:pic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B64250-7F07-5D44-6ABF-8502E01FB048}"/>
              </a:ext>
            </a:extLst>
          </p:cNvPr>
          <p:cNvCxnSpPr>
            <a:cxnSpLocks/>
          </p:cNvCxnSpPr>
          <p:nvPr/>
        </p:nvCxnSpPr>
        <p:spPr>
          <a:xfrm flipV="1">
            <a:off x="3969005" y="4121491"/>
            <a:ext cx="0" cy="2305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63629CCF-6E2E-F781-0437-6B14C85839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8969" y="4462274"/>
            <a:ext cx="705278" cy="774812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4767182C-BEA9-FB34-68D0-39BBC87CDFC7}"/>
              </a:ext>
            </a:extLst>
          </p:cNvPr>
          <p:cNvGrpSpPr/>
          <p:nvPr/>
        </p:nvGrpSpPr>
        <p:grpSpPr>
          <a:xfrm>
            <a:off x="6096000" y="2459476"/>
            <a:ext cx="2270638" cy="1682087"/>
            <a:chOff x="6096000" y="2459476"/>
            <a:chExt cx="2270638" cy="168208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F4D4FF1-D023-7B03-0EBC-CD74E56E6D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096" y="2852482"/>
              <a:ext cx="0" cy="128908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F0A59A-F28A-704C-C506-A49B889DE3F7}"/>
                </a:ext>
              </a:extLst>
            </p:cNvPr>
            <p:cNvSpPr txBox="1"/>
            <p:nvPr/>
          </p:nvSpPr>
          <p:spPr>
            <a:xfrm>
              <a:off x="6096000" y="2459476"/>
              <a:ext cx="2270638" cy="4154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1200" b="1" u="sng"/>
                <a:t>Pentium 4 (mid-2000s)</a:t>
              </a:r>
            </a:p>
            <a:p>
              <a:r>
                <a:rPr lang="sv-SE" sz="900"/>
                <a:t>CPU: 3.8GHz!!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57BFDAE-F1A5-9D2E-1434-02A93DA63AD7}"/>
              </a:ext>
            </a:extLst>
          </p:cNvPr>
          <p:cNvGrpSpPr/>
          <p:nvPr/>
        </p:nvGrpSpPr>
        <p:grpSpPr>
          <a:xfrm>
            <a:off x="5893859" y="4155678"/>
            <a:ext cx="1925508" cy="2049158"/>
            <a:chOff x="2567912" y="1240016"/>
            <a:chExt cx="1925508" cy="2049158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1BD10E3-3947-7F54-47E9-1CEC498F5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7140" y="1240016"/>
              <a:ext cx="0" cy="128908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2D7E51-AB46-6396-DDDF-526BC706B349}"/>
                </a:ext>
              </a:extLst>
            </p:cNvPr>
            <p:cNvSpPr txBox="1"/>
            <p:nvPr/>
          </p:nvSpPr>
          <p:spPr>
            <a:xfrm>
              <a:off x="2567912" y="1799309"/>
              <a:ext cx="1925508" cy="2308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900"/>
                <a:t>The frequency wall is approaching</a:t>
              </a:r>
              <a:endParaRPr lang="LID4096" sz="900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357B1B3-363D-6DA6-EEA0-AFCBCA160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67912" y="2036831"/>
              <a:ext cx="1925508" cy="1252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040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2896-7B6C-3210-C57B-FF38ABAE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B4AF-F766-B1B4-D842-DDC53670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2963E8-E686-8C6A-EFDF-8B72A8B2D9DB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437677-1303-0E4F-2C8D-84FDDC27B53D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4A43AA-CCDF-1F4C-EEA4-6F461D2F1AEE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2ABE05-FACA-61CD-B3F6-74F8CAA91EB1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389281-D2C0-3B1F-9EAF-E1D152CAD4DC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FFC97E-E87D-7DCE-3965-FA89405BF910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12C5E2A-77BA-3C70-7FD8-EEC206D6C16C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05D9EEF-A64E-3728-7DBF-B44C206F3045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3007AB-DEC8-AD5F-D9BA-00EF8B798F31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60DA648-8126-16D7-5D79-D5D1B93E0B0E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7255E3-23E8-9A2A-978F-1D133EA1965E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872EAA-F871-FE00-07E2-0552F8B2B003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96FD43-EB44-0954-1F26-CE877528EAAF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864151-741D-F21B-7626-9C98B776652A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C8C6490-5812-5B7F-3BE5-4ADA9EE9160F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733597E-84B9-BB8C-CE2A-D74218091310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7615285-7AA3-63E7-5054-302522537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8" y="4629987"/>
            <a:ext cx="1008070" cy="5502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09BC17-E96D-56E3-5C16-B58E3EE8F58A}"/>
              </a:ext>
            </a:extLst>
          </p:cNvPr>
          <p:cNvCxnSpPr>
            <a:cxnSpLocks/>
          </p:cNvCxnSpPr>
          <p:nvPr/>
        </p:nvCxnSpPr>
        <p:spPr>
          <a:xfrm flipV="1">
            <a:off x="1221727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D23414-EB51-85A9-0AE3-49C057588A62}"/>
              </a:ext>
            </a:extLst>
          </p:cNvPr>
          <p:cNvCxnSpPr>
            <a:cxnSpLocks/>
          </p:cNvCxnSpPr>
          <p:nvPr/>
        </p:nvCxnSpPr>
        <p:spPr>
          <a:xfrm flipV="1">
            <a:off x="2698194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60CAF51-A199-74A7-6737-BD7715969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408" y="4731690"/>
            <a:ext cx="1056939" cy="77481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A78B146B-262E-3EE0-2643-2A0AAA8F874D}"/>
              </a:ext>
            </a:extLst>
          </p:cNvPr>
          <p:cNvGrpSpPr/>
          <p:nvPr/>
        </p:nvGrpSpPr>
        <p:grpSpPr>
          <a:xfrm>
            <a:off x="2220404" y="3032335"/>
            <a:ext cx="934332" cy="1089156"/>
            <a:chOff x="3433459" y="5064149"/>
            <a:chExt cx="934332" cy="108915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58CE037-B518-047D-102D-106DAC4E19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2393" y="5705325"/>
              <a:ext cx="0" cy="447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 descr="IBM PC 5150">
              <a:extLst>
                <a:ext uri="{FF2B5EF4-FFF2-40B4-BE49-F238E27FC236}">
                  <a16:creationId xmlns:a16="http://schemas.microsoft.com/office/drawing/2014/main" id="{C56B3D4B-589A-B577-59F6-566F2E0DF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3459" y="5064149"/>
              <a:ext cx="934332" cy="687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9211D2F-CC7F-C9BE-2A20-AC478E4B3E55}"/>
              </a:ext>
            </a:extLst>
          </p:cNvPr>
          <p:cNvGrpSpPr/>
          <p:nvPr/>
        </p:nvGrpSpPr>
        <p:grpSpPr>
          <a:xfrm>
            <a:off x="3255683" y="3630381"/>
            <a:ext cx="549967" cy="491110"/>
            <a:chOff x="3255682" y="3630381"/>
            <a:chExt cx="549967" cy="49111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F69E51A-BB7A-A721-F496-73BCCA7E94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0666" y="3969834"/>
              <a:ext cx="0" cy="1516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8D7DF7D-B2DC-0EB8-B753-2AEF8F6E6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5682" y="3630381"/>
              <a:ext cx="549967" cy="357696"/>
            </a:xfrm>
            <a:prstGeom prst="rect">
              <a:avLst/>
            </a:prstGeom>
          </p:spPr>
        </p:pic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66A2CD-8DF7-3E07-2F18-BCED78AFE6BB}"/>
              </a:ext>
            </a:extLst>
          </p:cNvPr>
          <p:cNvCxnSpPr>
            <a:cxnSpLocks/>
          </p:cNvCxnSpPr>
          <p:nvPr/>
        </p:nvCxnSpPr>
        <p:spPr>
          <a:xfrm flipV="1">
            <a:off x="3969005" y="4121491"/>
            <a:ext cx="0" cy="2305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81E793F7-CF65-5BA0-84A9-EEAFD5BFC1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8969" y="4462274"/>
            <a:ext cx="705278" cy="774812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812F84FC-70CA-E3B9-1E5D-D825FAE22516}"/>
              </a:ext>
            </a:extLst>
          </p:cNvPr>
          <p:cNvGrpSpPr/>
          <p:nvPr/>
        </p:nvGrpSpPr>
        <p:grpSpPr>
          <a:xfrm>
            <a:off x="6912269" y="2400289"/>
            <a:ext cx="2270638" cy="1704280"/>
            <a:chOff x="6131684" y="2437283"/>
            <a:chExt cx="2270638" cy="170428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5B318B4-2AB7-AD11-9E53-62761FC0E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096" y="2852482"/>
              <a:ext cx="0" cy="128908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672095-6039-2948-04BF-67BEC509DEBE}"/>
                </a:ext>
              </a:extLst>
            </p:cNvPr>
            <p:cNvSpPr txBox="1"/>
            <p:nvPr/>
          </p:nvSpPr>
          <p:spPr>
            <a:xfrm>
              <a:off x="6131684" y="2437283"/>
              <a:ext cx="2270638" cy="4154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1200" b="1" u="sng"/>
                <a:t>Intel Core 2 Quad</a:t>
              </a:r>
            </a:p>
            <a:p>
              <a:r>
                <a:rPr lang="sv-SE" sz="900"/>
                <a:t>CPU: 2.4GHz, </a:t>
              </a:r>
              <a:r>
                <a:rPr lang="sv-SE" sz="900" b="1"/>
                <a:t> 4 cores</a:t>
              </a:r>
              <a:endParaRPr lang="sv-SE" sz="9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2EA4D4-075B-071A-5D2B-43B54EDF157C}"/>
              </a:ext>
            </a:extLst>
          </p:cNvPr>
          <p:cNvGrpSpPr/>
          <p:nvPr/>
        </p:nvGrpSpPr>
        <p:grpSpPr>
          <a:xfrm>
            <a:off x="6603640" y="4121491"/>
            <a:ext cx="705278" cy="689234"/>
            <a:chOff x="3124501" y="1240016"/>
            <a:chExt cx="705278" cy="68923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DA3E90-CF11-D695-FD35-41B28C44D2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7140" y="1240016"/>
              <a:ext cx="0" cy="2305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3EAD619-D10B-025A-9091-E6796A1EE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24501" y="1470540"/>
              <a:ext cx="705278" cy="45871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732D04-67C0-E8E2-675C-D6592A0B1AAF}"/>
              </a:ext>
            </a:extLst>
          </p:cNvPr>
          <p:cNvGrpSpPr/>
          <p:nvPr/>
        </p:nvGrpSpPr>
        <p:grpSpPr>
          <a:xfrm>
            <a:off x="6255649" y="4121491"/>
            <a:ext cx="1925508" cy="2049158"/>
            <a:chOff x="2567912" y="1240016"/>
            <a:chExt cx="1925508" cy="204915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26FB9CA-1B62-B1EB-60D3-5537BE867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7140" y="1240016"/>
              <a:ext cx="0" cy="128908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49C2261-5224-B609-8EBD-9BE5761B6A70}"/>
                </a:ext>
              </a:extLst>
            </p:cNvPr>
            <p:cNvSpPr txBox="1"/>
            <p:nvPr/>
          </p:nvSpPr>
          <p:spPr>
            <a:xfrm>
              <a:off x="2567912" y="1799309"/>
              <a:ext cx="1925508" cy="2308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sv-SE" sz="900"/>
                <a:t>The power wall is approaching</a:t>
              </a:r>
              <a:endParaRPr lang="LID4096" sz="90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89283E1-435D-E1A0-1846-86263C573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67912" y="2036831"/>
              <a:ext cx="1925508" cy="1252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009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BBA42-9714-6152-F40C-95510356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C1AB-AEC3-C067-87D4-578313EA1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Vad kan ni nu? </a:t>
            </a:r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6CAD46-9A86-F91A-0145-4BF7761EA804}"/>
              </a:ext>
            </a:extLst>
          </p:cNvPr>
          <p:cNvCxnSpPr>
            <a:cxnSpLocks/>
          </p:cNvCxnSpPr>
          <p:nvPr/>
        </p:nvCxnSpPr>
        <p:spPr>
          <a:xfrm>
            <a:off x="410365" y="4134872"/>
            <a:ext cx="1142777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DE34A5-084B-C0D0-E0C4-7A1A926B57DF}"/>
              </a:ext>
            </a:extLst>
          </p:cNvPr>
          <p:cNvGrpSpPr/>
          <p:nvPr/>
        </p:nvGrpSpPr>
        <p:grpSpPr>
          <a:xfrm>
            <a:off x="303313" y="4121491"/>
            <a:ext cx="678391" cy="525449"/>
            <a:chOff x="303313" y="4121491"/>
            <a:chExt cx="678391" cy="5254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60EC20-E119-EA45-D8D2-694F370E236C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1980</a:t>
              </a:r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91AC271-FEE7-5873-0BC9-5BF8BD5BCED5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7AA867-7D7D-EABF-AE3F-6862FB40EAAF}"/>
              </a:ext>
            </a:extLst>
          </p:cNvPr>
          <p:cNvGrpSpPr/>
          <p:nvPr/>
        </p:nvGrpSpPr>
        <p:grpSpPr>
          <a:xfrm>
            <a:off x="2929152" y="4121491"/>
            <a:ext cx="678391" cy="525449"/>
            <a:chOff x="303313" y="4121491"/>
            <a:chExt cx="678391" cy="5254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C498D8-91E2-57F2-8B9A-CFB620330F14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1990</a:t>
              </a:r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BA7A543-CF1F-3233-D710-D472A12CFC97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B3C63C-7595-7D36-AF17-060867F2A9DE}"/>
              </a:ext>
            </a:extLst>
          </p:cNvPr>
          <p:cNvGrpSpPr/>
          <p:nvPr/>
        </p:nvGrpSpPr>
        <p:grpSpPr>
          <a:xfrm>
            <a:off x="5554991" y="4121491"/>
            <a:ext cx="678391" cy="525449"/>
            <a:chOff x="303313" y="4121491"/>
            <a:chExt cx="678391" cy="52544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13CB5D-22B0-370D-1AFD-2C6360566DCA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2000</a:t>
              </a:r>
              <a:endParaRPr lang="LID4096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335742B-45C7-94CA-8B2A-4F1BA4ECCDF3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A9D121-0CC1-450A-D8D0-242A74879495}"/>
              </a:ext>
            </a:extLst>
          </p:cNvPr>
          <p:cNvGrpSpPr/>
          <p:nvPr/>
        </p:nvGrpSpPr>
        <p:grpSpPr>
          <a:xfrm>
            <a:off x="8180830" y="4121491"/>
            <a:ext cx="678391" cy="525449"/>
            <a:chOff x="303313" y="4121491"/>
            <a:chExt cx="678391" cy="5254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E5B0EC-2C4C-9F79-A0B8-3CD7258C8392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2010</a:t>
              </a:r>
              <a:endParaRPr lang="LID409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414D7F-17A9-2E3D-EEB1-CB836D188B27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58DCC2-4AA3-0C45-A569-A7DACB5377EE}"/>
              </a:ext>
            </a:extLst>
          </p:cNvPr>
          <p:cNvGrpSpPr/>
          <p:nvPr/>
        </p:nvGrpSpPr>
        <p:grpSpPr>
          <a:xfrm>
            <a:off x="10806669" y="4121491"/>
            <a:ext cx="678391" cy="525449"/>
            <a:chOff x="303313" y="4121491"/>
            <a:chExt cx="678391" cy="5254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6CAEE65-0007-42B3-3E65-ABE2C5B1B9CA}"/>
                </a:ext>
              </a:extLst>
            </p:cNvPr>
            <p:cNvSpPr txBox="1"/>
            <p:nvPr/>
          </p:nvSpPr>
          <p:spPr>
            <a:xfrm>
              <a:off x="303313" y="427760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2020</a:t>
              </a:r>
              <a:endParaRPr lang="LID4096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485D2B0-F8D7-CF54-AEC3-0F58F618D509}"/>
                </a:ext>
              </a:extLst>
            </p:cNvPr>
            <p:cNvCxnSpPr>
              <a:stCxn id="21" idx="0"/>
            </p:cNvCxnSpPr>
            <p:nvPr/>
          </p:nvCxnSpPr>
          <p:spPr>
            <a:xfrm flipH="1" flipV="1">
              <a:off x="642508" y="4121491"/>
              <a:ext cx="1" cy="1561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D530E68-D0F9-FA20-72EB-008C302D4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8" y="4629987"/>
            <a:ext cx="1008070" cy="5502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EE112D-151E-C09C-5A0F-ED039D926345}"/>
              </a:ext>
            </a:extLst>
          </p:cNvPr>
          <p:cNvCxnSpPr>
            <a:cxnSpLocks/>
          </p:cNvCxnSpPr>
          <p:nvPr/>
        </p:nvCxnSpPr>
        <p:spPr>
          <a:xfrm flipV="1">
            <a:off x="1221727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B81C6F-6617-44D5-88A2-27CCBEC6C6A7}"/>
              </a:ext>
            </a:extLst>
          </p:cNvPr>
          <p:cNvCxnSpPr>
            <a:cxnSpLocks/>
          </p:cNvCxnSpPr>
          <p:nvPr/>
        </p:nvCxnSpPr>
        <p:spPr>
          <a:xfrm flipV="1">
            <a:off x="2698194" y="4134872"/>
            <a:ext cx="0" cy="5120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C361204-82EE-C025-B07B-BE879765D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408" y="4731690"/>
            <a:ext cx="1056939" cy="77481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55312D00-CD01-590B-C41A-DB457FC0A7A8}"/>
              </a:ext>
            </a:extLst>
          </p:cNvPr>
          <p:cNvGrpSpPr/>
          <p:nvPr/>
        </p:nvGrpSpPr>
        <p:grpSpPr>
          <a:xfrm>
            <a:off x="2220404" y="3032335"/>
            <a:ext cx="934332" cy="1089156"/>
            <a:chOff x="3433459" y="5064149"/>
            <a:chExt cx="934332" cy="108915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1FFD9F5-BDC7-313A-21B2-A1E419E0C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2393" y="5705325"/>
              <a:ext cx="0" cy="447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 descr="IBM PC 5150">
              <a:extLst>
                <a:ext uri="{FF2B5EF4-FFF2-40B4-BE49-F238E27FC236}">
                  <a16:creationId xmlns:a16="http://schemas.microsoft.com/office/drawing/2014/main" id="{7FFDBDA4-F2C1-4D2B-18FC-EF0B654C69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3459" y="5064149"/>
              <a:ext cx="934332" cy="687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33F78A1-FFF3-746E-C368-13FBBDA8B862}"/>
              </a:ext>
            </a:extLst>
          </p:cNvPr>
          <p:cNvGrpSpPr/>
          <p:nvPr/>
        </p:nvGrpSpPr>
        <p:grpSpPr>
          <a:xfrm>
            <a:off x="3255683" y="3630381"/>
            <a:ext cx="549967" cy="491110"/>
            <a:chOff x="3255682" y="3630381"/>
            <a:chExt cx="549967" cy="49111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056B192-DB65-3D87-C190-86A066D987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0666" y="3969834"/>
              <a:ext cx="0" cy="1516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8A74179-8A39-9D4B-C0CB-9D64C2473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5682" y="3630381"/>
              <a:ext cx="549967" cy="357696"/>
            </a:xfrm>
            <a:prstGeom prst="rect">
              <a:avLst/>
            </a:prstGeom>
          </p:spPr>
        </p:pic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134F48-FF77-5639-9C3C-B4226B010A69}"/>
              </a:ext>
            </a:extLst>
          </p:cNvPr>
          <p:cNvCxnSpPr>
            <a:cxnSpLocks/>
          </p:cNvCxnSpPr>
          <p:nvPr/>
        </p:nvCxnSpPr>
        <p:spPr>
          <a:xfrm flipV="1">
            <a:off x="3969005" y="4121491"/>
            <a:ext cx="0" cy="2305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E1BBBD75-B4A6-F6F0-1CEC-22D5BDA45A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8969" y="4462274"/>
            <a:ext cx="705278" cy="774812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56916554-CD63-FD89-FF98-025EA37F5C63}"/>
              </a:ext>
            </a:extLst>
          </p:cNvPr>
          <p:cNvGrpSpPr/>
          <p:nvPr/>
        </p:nvGrpSpPr>
        <p:grpSpPr>
          <a:xfrm>
            <a:off x="6603640" y="4121491"/>
            <a:ext cx="705278" cy="689234"/>
            <a:chOff x="3124501" y="1240016"/>
            <a:chExt cx="705278" cy="68923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B9A7CD0-E762-CD2E-98C0-FB6DD4D4D0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7140" y="1240016"/>
              <a:ext cx="0" cy="2305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DE87D26-9586-CF4E-091E-692B64919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24501" y="1470540"/>
              <a:ext cx="705278" cy="458710"/>
            </a:xfrm>
            <a:prstGeom prst="rect">
              <a:avLst/>
            </a:prstGeom>
          </p:spPr>
        </p:pic>
      </p:grpSp>
      <p:sp>
        <p:nvSpPr>
          <p:cNvPr id="43" name="Right Brace 42">
            <a:extLst>
              <a:ext uri="{FF2B5EF4-FFF2-40B4-BE49-F238E27FC236}">
                <a16:creationId xmlns:a16="http://schemas.microsoft.com/office/drawing/2014/main" id="{AC5123A6-B97C-3921-6B3F-A60DFF8DF844}"/>
              </a:ext>
            </a:extLst>
          </p:cNvPr>
          <p:cNvSpPr/>
          <p:nvPr/>
        </p:nvSpPr>
        <p:spPr>
          <a:xfrm rot="5400000">
            <a:off x="10059928" y="3223177"/>
            <a:ext cx="211705" cy="322873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F55A6F-3809-D371-9310-87F6B81213BC}"/>
              </a:ext>
            </a:extLst>
          </p:cNvPr>
          <p:cNvSpPr txBox="1"/>
          <p:nvPr/>
        </p:nvSpPr>
        <p:spPr>
          <a:xfrm>
            <a:off x="8611715" y="5036009"/>
            <a:ext cx="3168432" cy="5770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v-SE" sz="1050"/>
              <a:t>Om Moores Law hade hållt hade en processor för samma pris idag varit 256x snabbare än en från 2010. Dagens dystra sanning: ~4x snabbare.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326AAD-EB29-A483-5B96-16B8A1C79204}"/>
              </a:ext>
            </a:extLst>
          </p:cNvPr>
          <p:cNvGrpSpPr/>
          <p:nvPr/>
        </p:nvGrpSpPr>
        <p:grpSpPr>
          <a:xfrm>
            <a:off x="6784044" y="4171099"/>
            <a:ext cx="705278" cy="689234"/>
            <a:chOff x="3124501" y="1240016"/>
            <a:chExt cx="705278" cy="689234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840F2E4-40B1-A1C0-EFA3-FCC3F4100D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7140" y="1240016"/>
              <a:ext cx="0" cy="2305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71020BFD-FD64-295D-FD41-4AF1DC52A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24501" y="1470540"/>
              <a:ext cx="705278" cy="4587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710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5404</TotalTime>
  <Words>1407</Words>
  <Application>Microsoft Office PowerPoint</Application>
  <PresentationFormat>Widescreen</PresentationFormat>
  <Paragraphs>243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Bradley Hand ITC</vt:lpstr>
      <vt:lpstr>Wingdings</vt:lpstr>
      <vt:lpstr>Office Theme</vt:lpstr>
      <vt:lpstr>Lektion 12</vt:lpstr>
      <vt:lpstr>Vad kan ni nu? </vt:lpstr>
      <vt:lpstr>Vad kan ni nu? </vt:lpstr>
      <vt:lpstr>Vad kan ni nu? </vt:lpstr>
      <vt:lpstr>Vad kan ni nu? </vt:lpstr>
      <vt:lpstr>Multitasking</vt:lpstr>
      <vt:lpstr>Multitasking</vt:lpstr>
      <vt:lpstr>Vad kan ni nu? </vt:lpstr>
      <vt:lpstr>DMA</vt:lpstr>
      <vt:lpstr>Vad kan ni nu? </vt:lpstr>
      <vt:lpstr>Multitasking med Address Translation</vt:lpstr>
      <vt:lpstr>Multitasking med Memory Protection</vt:lpstr>
      <vt:lpstr>Vad kan ni nu? </vt:lpstr>
      <vt:lpstr>Vad kan ni nu? </vt:lpstr>
      <vt:lpstr>Cache</vt:lpstr>
      <vt:lpstr>Pipelining</vt:lpstr>
      <vt:lpstr>Vad kan ni nu? </vt:lpstr>
      <vt:lpstr>Vad kan ni nu? </vt:lpstr>
      <vt:lpstr>Vad kan ni nu?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93</cp:revision>
  <cp:lastPrinted>2026-02-17T11:02:10Z</cp:lastPrinted>
  <dcterms:created xsi:type="dcterms:W3CDTF">2026-01-14T14:09:03Z</dcterms:created>
  <dcterms:modified xsi:type="dcterms:W3CDTF">2026-03-12T14:45:54Z</dcterms:modified>
</cp:coreProperties>
</file>