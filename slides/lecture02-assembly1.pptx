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96" r:id="rId11"/>
    <p:sldId id="265" r:id="rId12"/>
    <p:sldId id="280" r:id="rId13"/>
    <p:sldId id="282" r:id="rId14"/>
    <p:sldId id="283" r:id="rId15"/>
    <p:sldId id="284" r:id="rId16"/>
    <p:sldId id="297" r:id="rId17"/>
    <p:sldId id="266" r:id="rId18"/>
    <p:sldId id="285" r:id="rId19"/>
    <p:sldId id="267" r:id="rId20"/>
    <p:sldId id="286" r:id="rId21"/>
    <p:sldId id="268" r:id="rId22"/>
    <p:sldId id="298" r:id="rId23"/>
    <p:sldId id="270" r:id="rId24"/>
    <p:sldId id="287" r:id="rId25"/>
    <p:sldId id="288" r:id="rId26"/>
    <p:sldId id="271" r:id="rId27"/>
    <p:sldId id="289" r:id="rId28"/>
    <p:sldId id="290" r:id="rId29"/>
    <p:sldId id="299" r:id="rId30"/>
    <p:sldId id="273" r:id="rId31"/>
    <p:sldId id="274" r:id="rId32"/>
    <p:sldId id="291" r:id="rId33"/>
    <p:sldId id="275" r:id="rId34"/>
    <p:sldId id="277" r:id="rId35"/>
    <p:sldId id="292" r:id="rId36"/>
    <p:sldId id="293" r:id="rId37"/>
    <p:sldId id="300" r:id="rId38"/>
    <p:sldId id="278" r:id="rId39"/>
    <p:sldId id="294" r:id="rId40"/>
    <p:sldId id="295" r:id="rId41"/>
    <p:sldId id="279" r:id="rId42"/>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3" autoAdjust="0"/>
    <p:restoredTop sz="86416" autoAdjust="0"/>
  </p:normalViewPr>
  <p:slideViewPr>
    <p:cSldViewPr snapToGrid="0">
      <p:cViewPr varScale="1">
        <p:scale>
          <a:sx n="222" d="100"/>
          <a:sy n="222" d="100"/>
        </p:scale>
        <p:origin x="612" y="16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C9657E-FDB3-4206-AA4E-9AE2AAB0A71C}" type="datetimeFigureOut">
              <a:rPr lang="LID4096" smtClean="0"/>
              <a:t>01/23/2026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Hur många har INTE installerat utvecklingsmiljön ännu? </a:t>
            </a:r>
          </a:p>
          <a:p>
            <a:r>
              <a:rPr lang="sv-SE"/>
              <a:t>Idag är vår första riktiga lektion, och vi kommer börja med grunderna i assemblerprogrammering för RISC-V processorer.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a:t>
            </a:fld>
            <a:endParaRPr lang="LID4096"/>
          </a:p>
        </p:txBody>
      </p:sp>
    </p:spTree>
    <p:extLst>
      <p:ext uri="{BB962C8B-B14F-4D97-AF65-F5344CB8AC3E}">
        <p14:creationId xmlns:p14="http://schemas.microsoft.com/office/powerpoint/2010/main" val="401937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Förklara vad en ISA är. Gå igenom de som finns. </a:t>
            </a:r>
          </a:p>
          <a:p>
            <a:r>
              <a:rPr lang="sv-SE"/>
              <a:t>RISC-V är intressant för:</a:t>
            </a:r>
            <a:br>
              <a:rPr lang="sv-SE"/>
            </a:br>
            <a:r>
              <a:rPr lang="sv-SE"/>
              <a:t>* modernt (lärt sig av misstag)</a:t>
            </a:r>
          </a:p>
          <a:p>
            <a:r>
              <a:rPr lang="sv-SE"/>
              <a:t>* öppet</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12495650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12888-A922-E761-9C22-6D35939732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819AEC-BE8B-DCBF-064B-E53B13EE9F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8B55C-2FA3-1BB7-3563-9A169629BBDC}"/>
              </a:ext>
            </a:extLst>
          </p:cNvPr>
          <p:cNvSpPr>
            <a:spLocks noGrp="1"/>
          </p:cNvSpPr>
          <p:nvPr>
            <p:ph type="body" idx="1"/>
          </p:nvPr>
        </p:nvSpPr>
        <p:spPr/>
        <p:txBody>
          <a:bodyPr/>
          <a:lstStyle/>
          <a:p>
            <a:r>
              <a:rPr lang="sv-SE"/>
              <a:t>Ställ frågan</a:t>
            </a:r>
          </a:p>
          <a:p>
            <a:r>
              <a:rPr lang="sv-SE"/>
              <a:t>Gå igenom</a:t>
            </a:r>
          </a:p>
          <a:p>
            <a:r>
              <a:rPr lang="sv-SE"/>
              <a:t>Att utveckla allt detta blir dyrare än att designa själva processorn.</a:t>
            </a:r>
            <a:endParaRPr lang="LID4096"/>
          </a:p>
        </p:txBody>
      </p:sp>
      <p:sp>
        <p:nvSpPr>
          <p:cNvPr id="4" name="Slide Number Placeholder 3">
            <a:extLst>
              <a:ext uri="{FF2B5EF4-FFF2-40B4-BE49-F238E27FC236}">
                <a16:creationId xmlns:a16="http://schemas.microsoft.com/office/drawing/2014/main" id="{4E163E60-F8DD-30F1-5F31-FAAEDD7A2E9F}"/>
              </a:ext>
            </a:extLst>
          </p:cNvPr>
          <p:cNvSpPr>
            <a:spLocks noGrp="1"/>
          </p:cNvSpPr>
          <p:nvPr>
            <p:ph type="sldNum" sz="quarter" idx="5"/>
          </p:nvPr>
        </p:nvSpPr>
        <p:spPr/>
        <p:txBody>
          <a:bodyPr/>
          <a:lstStyle/>
          <a:p>
            <a:fld id="{01B4E41B-EE32-43AA-BF26-21D12108C66F}" type="slidenum">
              <a:rPr lang="LID4096" smtClean="0"/>
              <a:t>3</a:t>
            </a:fld>
            <a:endParaRPr lang="LID4096"/>
          </a:p>
        </p:txBody>
      </p:sp>
    </p:spTree>
    <p:extLst>
      <p:ext uri="{BB962C8B-B14F-4D97-AF65-F5344CB8AC3E}">
        <p14:creationId xmlns:p14="http://schemas.microsoft.com/office/powerpoint/2010/main" val="2613340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I obligatoriska delen av kursen kommer vi ENBART prata om RV32I, inga extensions.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9</a:t>
            </a:fld>
            <a:endParaRPr lang="LID4096"/>
          </a:p>
        </p:txBody>
      </p:sp>
    </p:spTree>
    <p:extLst>
      <p:ext uri="{BB962C8B-B14F-4D97-AF65-F5344CB8AC3E}">
        <p14:creationId xmlns:p14="http://schemas.microsoft.com/office/powerpoint/2010/main" val="461923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Detta är de register som finns på processorn (förutom PC och floating point)</a:t>
            </a:r>
          </a:p>
          <a:p>
            <a:r>
              <a:rPr lang="sv-SE"/>
              <a:t>Notera att från ISA:ns synpunkt så heter dom bara x0-x31</a:t>
            </a:r>
          </a:p>
          <a:p>
            <a:r>
              <a:rPr lang="sv-SE"/>
              <a:t>I ABI:n bestämmer man att dom bör användas för specifika saker, och ger dem namn därefter. </a:t>
            </a:r>
          </a:p>
          <a:p>
            <a:r>
              <a:rPr lang="sv-SE"/>
              <a:t>Båda namnen går fint att använda i assembler kod. </a:t>
            </a:r>
          </a:p>
          <a:p>
            <a:r>
              <a:rPr lang="sv-SE"/>
              <a:t>Några viktiga saker: </a:t>
            </a:r>
          </a:p>
          <a:p>
            <a:r>
              <a:rPr lang="en-GB"/>
              <a:t>&lt;click&gt;</a:t>
            </a:r>
          </a:p>
          <a:p>
            <a:r>
              <a:rPr lang="en-GB"/>
              <a:t>Register x0 (zero) </a:t>
            </a:r>
            <a:r>
              <a:rPr lang="sv-SE"/>
              <a:t>är speciellt och konstigt. Det är alltid 0, oavsett vad du skriver till det. Ni kommer se exempel på varför detta är en bra ide snart. </a:t>
            </a:r>
          </a:p>
          <a:p>
            <a:r>
              <a:rPr lang="en-GB"/>
              <a:t>&lt;click&gt; </a:t>
            </a:r>
          </a:p>
          <a:p>
            <a:r>
              <a:rPr lang="en-GB"/>
              <a:t>De h</a:t>
            </a:r>
            <a:r>
              <a:rPr lang="sv-SE"/>
              <a:t>är registrena används för funktionsparametrar och returvärden.</a:t>
            </a:r>
          </a:p>
          <a:p>
            <a:r>
              <a:rPr lang="en-GB"/>
              <a:t>&lt;click&gt;</a:t>
            </a:r>
          </a:p>
          <a:p>
            <a:r>
              <a:rPr lang="en-GB"/>
              <a:t>x2 anv</a:t>
            </a:r>
            <a:r>
              <a:rPr lang="sv-SE"/>
              <a:t>änds som stackpekare. </a:t>
            </a:r>
          </a:p>
          <a:p>
            <a:endParaRPr lang="sv-SE"/>
          </a:p>
          <a:p>
            <a:r>
              <a:rPr lang="sv-SE"/>
              <a:t>Och så vidare... vi kommer återvända till alla dessa konventioner senare. Det viktiga är att dessa bara är </a:t>
            </a:r>
            <a:r>
              <a:rPr lang="sv-SE" i="1"/>
              <a:t>konventioner</a:t>
            </a:r>
            <a:r>
              <a:rPr lang="sv-SE" i="0"/>
              <a:t>. </a:t>
            </a:r>
          </a:p>
          <a:p>
            <a:r>
              <a:rPr lang="sv-SE" i="0"/>
              <a:t>Ni kan använda varenda register precis hur ni vill när ni skriver assembler, men för att det skall funka med kod från kompilatorer så måste man följa konventionerna. </a:t>
            </a:r>
          </a:p>
          <a:p>
            <a:r>
              <a:rPr lang="sv-SE" i="0"/>
              <a:t>Så... gör det. </a:t>
            </a:r>
          </a:p>
          <a:p>
            <a:endParaRPr lang="en-GB"/>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17</a:t>
            </a:fld>
            <a:endParaRPr lang="LID4096"/>
          </a:p>
        </p:txBody>
      </p:sp>
    </p:spTree>
    <p:extLst>
      <p:ext uri="{BB962C8B-B14F-4D97-AF65-F5344CB8AC3E}">
        <p14:creationId xmlns:p14="http://schemas.microsoft.com/office/powerpoint/2010/main" val="28814062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Var hittar vi alla instruktioner och register? </a:t>
            </a:r>
          </a:p>
          <a:p>
            <a:pPr lvl="1"/>
            <a:r>
              <a:rPr lang="sv-SE"/>
              <a:t>Möt er nya bästa vän: </a:t>
            </a:r>
            <a:endParaRPr lang="LID4096"/>
          </a:p>
          <a:p>
            <a:endParaRPr lang="en-GB"/>
          </a:p>
          <a:p>
            <a:r>
              <a:rPr lang="en-GB"/>
              <a:t>https://www.cse.chalmers.se/edu/resources/mop/lecture_notes/quickguide.html</a:t>
            </a:r>
          </a:p>
          <a:p>
            <a:endParaRPr lang="en-GB"/>
          </a:p>
          <a:p>
            <a:r>
              <a:rPr lang="en-GB"/>
              <a:t>En pappersvariant av denna guide kommer vara ert enda hjälpmedel på tentan. </a:t>
            </a:r>
          </a:p>
          <a:p>
            <a:r>
              <a:rPr lang="en-GB"/>
              <a:t>Ni kommer få en pdf som är exakt det ni får på tentan om några veckor.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19</a:t>
            </a:fld>
            <a:endParaRPr lang="LID4096"/>
          </a:p>
        </p:txBody>
      </p:sp>
    </p:spTree>
    <p:extLst>
      <p:ext uri="{BB962C8B-B14F-4D97-AF65-F5344CB8AC3E}">
        <p14:creationId xmlns:p14="http://schemas.microsoft.com/office/powerpoint/2010/main" val="20731462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D7-622B-3BFE-6570-1F79FFBE6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8A624A-6517-D3B8-F935-AEDFA52C9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10E434-7DCF-92B3-4C45-5E23A3F6ADFA}"/>
              </a:ext>
            </a:extLst>
          </p:cNvPr>
          <p:cNvSpPr>
            <a:spLocks noGrp="1"/>
          </p:cNvSpPr>
          <p:nvPr>
            <p:ph type="body" idx="1"/>
          </p:nvPr>
        </p:nvSpPr>
        <p:spPr/>
        <p:txBody>
          <a:bodyPr/>
          <a:lstStyle/>
          <a:p>
            <a:r>
              <a:rPr lang="en-GB"/>
              <a:t>https://www.cse.chalmers.se/edu/resources/mop/lecture_notes/quickguide.html</a:t>
            </a:r>
            <a:endParaRPr lang="LID4096"/>
          </a:p>
        </p:txBody>
      </p:sp>
      <p:sp>
        <p:nvSpPr>
          <p:cNvPr id="4" name="Slide Number Placeholder 3">
            <a:extLst>
              <a:ext uri="{FF2B5EF4-FFF2-40B4-BE49-F238E27FC236}">
                <a16:creationId xmlns:a16="http://schemas.microsoft.com/office/drawing/2014/main" id="{61E37608-67DF-70AB-B69F-8AF3A68C3835}"/>
              </a:ext>
            </a:extLst>
          </p:cNvPr>
          <p:cNvSpPr>
            <a:spLocks noGrp="1"/>
          </p:cNvSpPr>
          <p:nvPr>
            <p:ph type="sldNum" sz="quarter" idx="5"/>
          </p:nvPr>
        </p:nvSpPr>
        <p:spPr/>
        <p:txBody>
          <a:bodyPr/>
          <a:lstStyle/>
          <a:p>
            <a:fld id="{01B4E41B-EE32-43AA-BF26-21D12108C66F}" type="slidenum">
              <a:rPr lang="LID4096" smtClean="0"/>
              <a:t>20</a:t>
            </a:fld>
            <a:endParaRPr lang="LID4096"/>
          </a:p>
        </p:txBody>
      </p:sp>
    </p:spTree>
    <p:extLst>
      <p:ext uri="{BB962C8B-B14F-4D97-AF65-F5344CB8AC3E}">
        <p14:creationId xmlns:p14="http://schemas.microsoft.com/office/powerpoint/2010/main" val="2347223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Bra ställe för paus.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22</a:t>
            </a:fld>
            <a:endParaRPr lang="LID4096"/>
          </a:p>
        </p:txBody>
      </p:sp>
    </p:spTree>
    <p:extLst>
      <p:ext uri="{BB962C8B-B14F-4D97-AF65-F5344CB8AC3E}">
        <p14:creationId xmlns:p14="http://schemas.microsoft.com/office/powerpoint/2010/main" val="1785869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Vi har ju inte egentligen lärt oss några assemblerkommandon ännu, men eftersom det är alldeles för tråkigt att bara rada upp dem, så börjar vi med ett pyttelitet exempel</a:t>
            </a:r>
          </a:p>
          <a:p>
            <a:r>
              <a:rPr lang="sv-SE"/>
              <a:t>Beskriv vad vi vill göra i exemplet</a:t>
            </a:r>
          </a:p>
          <a:p>
            <a:r>
              <a:rPr lang="en-GB"/>
              <a:t>&lt;click&gt;</a:t>
            </a:r>
          </a:p>
          <a:p>
            <a:r>
              <a:rPr lang="en-GB"/>
              <a:t>Vi b</a:t>
            </a:r>
            <a:r>
              <a:rPr lang="sv-SE"/>
              <a:t>örjar med att lägga värdet 10 i t0</a:t>
            </a:r>
          </a:p>
          <a:p>
            <a:r>
              <a:rPr lang="sv-SE"/>
              <a:t>Nämn rtl </a:t>
            </a:r>
          </a:p>
          <a:p>
            <a:r>
              <a:rPr lang="en-GB"/>
              <a:t>&lt;</a:t>
            </a:r>
            <a:r>
              <a:rPr lang="sv-SE"/>
              <a:t>click&gt;</a:t>
            </a:r>
          </a:p>
          <a:p>
            <a:r>
              <a:rPr lang="sv-SE"/>
              <a:t>Nästa rad är bara en ”label”. Vi vill kunna hoppa hit i slutet. </a:t>
            </a:r>
          </a:p>
        </p:txBody>
      </p:sp>
      <p:sp>
        <p:nvSpPr>
          <p:cNvPr id="4" name="Slide Number Placeholder 3"/>
          <p:cNvSpPr>
            <a:spLocks noGrp="1"/>
          </p:cNvSpPr>
          <p:nvPr>
            <p:ph type="sldNum" sz="quarter" idx="5"/>
          </p:nvPr>
        </p:nvSpPr>
        <p:spPr/>
        <p:txBody>
          <a:bodyPr/>
          <a:lstStyle/>
          <a:p>
            <a:fld id="{01B4E41B-EE32-43AA-BF26-21D12108C66F}" type="slidenum">
              <a:rPr lang="LID4096" smtClean="0"/>
              <a:t>23</a:t>
            </a:fld>
            <a:endParaRPr lang="LID4096"/>
          </a:p>
        </p:txBody>
      </p:sp>
    </p:spTree>
    <p:extLst>
      <p:ext uri="{BB962C8B-B14F-4D97-AF65-F5344CB8AC3E}">
        <p14:creationId xmlns:p14="http://schemas.microsoft.com/office/powerpoint/2010/main" val="42775025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1A74A-B6FC-0328-BF7B-7FFAFB77BB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74CDD4-D2B0-0BB6-5A6E-4A4899194B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5DD690-8956-280B-2EE5-9B92554958E2}"/>
              </a:ext>
            </a:extLst>
          </p:cNvPr>
          <p:cNvSpPr>
            <a:spLocks noGrp="1"/>
          </p:cNvSpPr>
          <p:nvPr>
            <p:ph type="body" idx="1"/>
          </p:nvPr>
        </p:nvSpPr>
        <p:spPr/>
        <p:txBody>
          <a:bodyPr/>
          <a:lstStyle/>
          <a:p>
            <a:r>
              <a:rPr lang="sv-SE"/>
              <a:t>Nu skall vi dra bort 2 från värdet i t0... </a:t>
            </a:r>
          </a:p>
          <a:p>
            <a:r>
              <a:rPr lang="sv-SE"/>
              <a:t>Vi kollar quickguide</a:t>
            </a:r>
          </a:p>
          <a:p>
            <a:r>
              <a:rPr lang="en-GB"/>
              <a:t>&lt;click&gt;</a:t>
            </a:r>
          </a:p>
          <a:p>
            <a:r>
              <a:rPr lang="en-GB"/>
              <a:t>Det finns en sub instruction... men d</a:t>
            </a:r>
            <a:r>
              <a:rPr lang="sv-SE"/>
              <a:t>å måste vi först lägga ett värde i ett annat register... Någon som ser en bättre lösning? </a:t>
            </a:r>
          </a:p>
        </p:txBody>
      </p:sp>
      <p:sp>
        <p:nvSpPr>
          <p:cNvPr id="4" name="Slide Number Placeholder 3">
            <a:extLst>
              <a:ext uri="{FF2B5EF4-FFF2-40B4-BE49-F238E27FC236}">
                <a16:creationId xmlns:a16="http://schemas.microsoft.com/office/drawing/2014/main" id="{1B6887E3-DE74-ECB3-2CBA-BE661300E211}"/>
              </a:ext>
            </a:extLst>
          </p:cNvPr>
          <p:cNvSpPr>
            <a:spLocks noGrp="1"/>
          </p:cNvSpPr>
          <p:nvPr>
            <p:ph type="sldNum" sz="quarter" idx="5"/>
          </p:nvPr>
        </p:nvSpPr>
        <p:spPr/>
        <p:txBody>
          <a:bodyPr/>
          <a:lstStyle/>
          <a:p>
            <a:fld id="{01B4E41B-EE32-43AA-BF26-21D12108C66F}" type="slidenum">
              <a:rPr lang="LID4096" smtClean="0"/>
              <a:t>24</a:t>
            </a:fld>
            <a:endParaRPr lang="LID4096"/>
          </a:p>
        </p:txBody>
      </p:sp>
    </p:spTree>
    <p:extLst>
      <p:ext uri="{BB962C8B-B14F-4D97-AF65-F5344CB8AC3E}">
        <p14:creationId xmlns:p14="http://schemas.microsoft.com/office/powerpoint/2010/main" val="15256162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47B61-3D1E-7AA1-0AEB-88DEA0B17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B83BCF-192E-2A30-CC84-116200FB1B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A3D9F-1887-3226-0094-6459775529FD}"/>
              </a:ext>
            </a:extLst>
          </p:cNvPr>
          <p:cNvSpPr>
            <a:spLocks noGrp="1"/>
          </p:cNvSpPr>
          <p:nvPr>
            <p:ph type="body" idx="1"/>
          </p:nvPr>
        </p:nvSpPr>
        <p:spPr/>
        <p:txBody>
          <a:bodyPr/>
          <a:lstStyle/>
          <a:p>
            <a:r>
              <a:rPr lang="sv-SE"/>
              <a:t>Till slut vill vi kolla om värdet i t0 är större än 0, och annars hoppa tillbaks till loop</a:t>
            </a:r>
          </a:p>
          <a:p>
            <a:r>
              <a:rPr lang="en-GB"/>
              <a:t>&lt;click&gt; </a:t>
            </a:r>
          </a:p>
          <a:p>
            <a:r>
              <a:rPr lang="en-GB"/>
              <a:t>I quickguiden hittar vi instruktionen bghtz</a:t>
            </a:r>
          </a:p>
          <a:p>
            <a:r>
              <a:rPr lang="en-GB"/>
              <a:t>&lt;click&gt;</a:t>
            </a:r>
          </a:p>
          <a:p>
            <a:r>
              <a:rPr lang="en-GB"/>
              <a:t>S</a:t>
            </a:r>
            <a:r>
              <a:rPr lang="sv-SE"/>
              <a:t>å vi kör på den. </a:t>
            </a:r>
          </a:p>
          <a:p>
            <a:endParaRPr lang="sv-SE"/>
          </a:p>
        </p:txBody>
      </p:sp>
      <p:sp>
        <p:nvSpPr>
          <p:cNvPr id="4" name="Slide Number Placeholder 3">
            <a:extLst>
              <a:ext uri="{FF2B5EF4-FFF2-40B4-BE49-F238E27FC236}">
                <a16:creationId xmlns:a16="http://schemas.microsoft.com/office/drawing/2014/main" id="{D0290431-FEB0-E5DD-80DF-F4EADEBA915F}"/>
              </a:ext>
            </a:extLst>
          </p:cNvPr>
          <p:cNvSpPr>
            <a:spLocks noGrp="1"/>
          </p:cNvSpPr>
          <p:nvPr>
            <p:ph type="sldNum" sz="quarter" idx="5"/>
          </p:nvPr>
        </p:nvSpPr>
        <p:spPr/>
        <p:txBody>
          <a:bodyPr/>
          <a:lstStyle/>
          <a:p>
            <a:fld id="{01B4E41B-EE32-43AA-BF26-21D12108C66F}" type="slidenum">
              <a:rPr lang="LID4096" smtClean="0"/>
              <a:t>25</a:t>
            </a:fld>
            <a:endParaRPr lang="LID4096"/>
          </a:p>
        </p:txBody>
      </p:sp>
    </p:spTree>
    <p:extLst>
      <p:ext uri="{BB962C8B-B14F-4D97-AF65-F5344CB8AC3E}">
        <p14:creationId xmlns:p14="http://schemas.microsoft.com/office/powerpoint/2010/main" val="1519081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Now we compare what we wrote, and what the assembler created for us.</a:t>
            </a:r>
          </a:p>
          <a:p>
            <a:r>
              <a:rPr lang="sv-SE"/>
              <a:t>Some differenses</a:t>
            </a:r>
          </a:p>
          <a:p>
            <a:r>
              <a:rPr lang="en-GB"/>
              <a:t>&lt;click&gt;</a:t>
            </a:r>
          </a:p>
          <a:p>
            <a:r>
              <a:rPr lang="en-GB"/>
              <a:t>bgtz is a pseudo instruction. Assembler can achieve this with blt</a:t>
            </a:r>
          </a:p>
          <a:p>
            <a:endParaRPr lang="sv-SE"/>
          </a:p>
          <a:p>
            <a:r>
              <a:rPr lang="en-GB"/>
              <a:t>&lt;click&gt;</a:t>
            </a:r>
          </a:p>
          <a:p>
            <a:r>
              <a:rPr lang="en-GB"/>
              <a:t>“li” is a pseudo instruction. Assembler can achieve this by adding 10 zero.</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5446915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49578-8A72-5C63-8613-A5023A4032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BF8DB-C642-C4E5-50B9-6C1D56146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C4DE60-FDBF-DC13-AB50-FA83F6D710C4}"/>
              </a:ext>
            </a:extLst>
          </p:cNvPr>
          <p:cNvSpPr>
            <a:spLocks noGrp="1"/>
          </p:cNvSpPr>
          <p:nvPr>
            <p:ph type="body" idx="1"/>
          </p:nvPr>
        </p:nvSpPr>
        <p:spPr/>
        <p:txBody>
          <a:bodyPr/>
          <a:lstStyle/>
          <a:p>
            <a:r>
              <a:rPr lang="en-GB"/>
              <a:t>Now we make one tiny change to our program. </a:t>
            </a:r>
          </a:p>
          <a:p>
            <a:r>
              <a:rPr lang="en-GB"/>
              <a:t>We change the code so that it needs to load a million into t0 instead. </a:t>
            </a:r>
          </a:p>
          <a:p>
            <a:r>
              <a:rPr lang="en-GB"/>
              <a:t>&lt;click&gt; </a:t>
            </a:r>
          </a:p>
          <a:p>
            <a:endParaRPr lang="LID4096"/>
          </a:p>
        </p:txBody>
      </p:sp>
      <p:sp>
        <p:nvSpPr>
          <p:cNvPr id="4" name="Slide Number Placeholder 3">
            <a:extLst>
              <a:ext uri="{FF2B5EF4-FFF2-40B4-BE49-F238E27FC236}">
                <a16:creationId xmlns:a16="http://schemas.microsoft.com/office/drawing/2014/main" id="{C6BCC27F-7A02-C592-65D1-5EEDACADE891}"/>
              </a:ext>
            </a:extLst>
          </p:cNvPr>
          <p:cNvSpPr>
            <a:spLocks noGrp="1"/>
          </p:cNvSpPr>
          <p:nvPr>
            <p:ph type="sldNum" sz="quarter" idx="5"/>
          </p:nvPr>
        </p:nvSpPr>
        <p:spPr/>
        <p:txBody>
          <a:bodyPr/>
          <a:lstStyle/>
          <a:p>
            <a:fld id="{01B4E41B-EE32-43AA-BF26-21D12108C66F}" type="slidenum">
              <a:rPr lang="LID4096" smtClean="0"/>
              <a:t>27</a:t>
            </a:fld>
            <a:endParaRPr lang="LID4096"/>
          </a:p>
        </p:txBody>
      </p:sp>
    </p:spTree>
    <p:extLst>
      <p:ext uri="{BB962C8B-B14F-4D97-AF65-F5344CB8AC3E}">
        <p14:creationId xmlns:p14="http://schemas.microsoft.com/office/powerpoint/2010/main" val="867779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8D824-0E58-D449-C327-101627730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B3867-4330-9891-F23B-4143A9317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99CEE-ABA7-54A0-ECC6-AD31BE7EB598}"/>
              </a:ext>
            </a:extLst>
          </p:cNvPr>
          <p:cNvSpPr>
            <a:spLocks noGrp="1"/>
          </p:cNvSpPr>
          <p:nvPr>
            <p:ph type="body" idx="1"/>
          </p:nvPr>
        </p:nvSpPr>
        <p:spPr/>
        <p:txBody>
          <a:bodyPr/>
          <a:lstStyle/>
          <a:p>
            <a:endParaRPr lang="LID4096"/>
          </a:p>
        </p:txBody>
      </p:sp>
      <p:sp>
        <p:nvSpPr>
          <p:cNvPr id="4" name="Slide Number Placeholder 3">
            <a:extLst>
              <a:ext uri="{FF2B5EF4-FFF2-40B4-BE49-F238E27FC236}">
                <a16:creationId xmlns:a16="http://schemas.microsoft.com/office/drawing/2014/main" id="{1854BB3A-DA8F-83D5-E655-DB2547DD16A1}"/>
              </a:ext>
            </a:extLst>
          </p:cNvPr>
          <p:cNvSpPr>
            <a:spLocks noGrp="1"/>
          </p:cNvSpPr>
          <p:nvPr>
            <p:ph type="sldNum" sz="quarter" idx="5"/>
          </p:nvPr>
        </p:nvSpPr>
        <p:spPr/>
        <p:txBody>
          <a:bodyPr/>
          <a:lstStyle/>
          <a:p>
            <a:fld id="{01B4E41B-EE32-43AA-BF26-21D12108C66F}" type="slidenum">
              <a:rPr lang="LID4096" smtClean="0"/>
              <a:t>28</a:t>
            </a:fld>
            <a:endParaRPr lang="LID4096"/>
          </a:p>
        </p:txBody>
      </p:sp>
    </p:spTree>
    <p:extLst>
      <p:ext uri="{BB962C8B-B14F-4D97-AF65-F5344CB8AC3E}">
        <p14:creationId xmlns:p14="http://schemas.microsoft.com/office/powerpoint/2010/main" val="9341106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Om vi tar pausen här är jag nog i väldigt god tid?</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29</a:t>
            </a:fld>
            <a:endParaRPr lang="LID4096"/>
          </a:p>
        </p:txBody>
      </p:sp>
    </p:spTree>
    <p:extLst>
      <p:ext uri="{BB962C8B-B14F-4D97-AF65-F5344CB8AC3E}">
        <p14:creationId xmlns:p14="http://schemas.microsoft.com/office/powerpoint/2010/main" val="19627248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Nu skall vi b</a:t>
            </a:r>
            <a:r>
              <a:rPr lang="sv-SE"/>
              <a:t>örja prata om load och store instruktionerna, alltså hur vi läser värden från och skriver värden till, minnessystemet. </a:t>
            </a:r>
          </a:p>
          <a:p>
            <a:r>
              <a:rPr lang="sv-SE"/>
              <a:t>Men till att börja med skall vi titta på den här bilden och få klart för oss att detta </a:t>
            </a:r>
            <a:r>
              <a:rPr lang="sv-SE" i="1"/>
              <a:t>inte</a:t>
            </a:r>
            <a:r>
              <a:rPr lang="sv-SE" i="0"/>
              <a:t> bara handlar om att skriva till minnet.</a:t>
            </a:r>
          </a:p>
          <a:p>
            <a:r>
              <a:rPr lang="sv-SE" i="0"/>
              <a:t>Faktum är att </a:t>
            </a:r>
            <a:r>
              <a:rPr lang="sv-SE" i="1"/>
              <a:t>allt</a:t>
            </a:r>
            <a:r>
              <a:rPr lang="sv-SE" i="0"/>
              <a:t> vi kan göra för att påverka någonting utanför själva processorkärnan (register) görs genom att skriva eller läsa till minnesaddresser.</a:t>
            </a:r>
          </a:p>
          <a:p>
            <a:endParaRPr lang="sv-SE" i="0"/>
          </a:p>
          <a:p>
            <a:r>
              <a:rPr lang="sv-SE" i="0"/>
              <a:t>SRAM: Om vi gör en skrivning eller läsning till en address i den här regionen, så går läsningen eller skrivningen rakt till vårat vanliga minne. Inga konstigheter här. </a:t>
            </a:r>
          </a:p>
          <a:p>
            <a:r>
              <a:rPr lang="sv-SE" i="0"/>
              <a:t>FLASH: Men den </a:t>
            </a:r>
            <a:r>
              <a:rPr lang="sv-SE" i="1"/>
              <a:t>här</a:t>
            </a:r>
            <a:r>
              <a:rPr lang="sv-SE" i="0"/>
              <a:t> regionen är kopplad till FLASH minnet. Flash minne är en annan slags minnesteknologi. Non-volatile, läsningar som vanligt* skrivningar krångliga. </a:t>
            </a:r>
          </a:p>
          <a:p>
            <a:r>
              <a:rPr lang="sv-SE" i="0"/>
              <a:t>PERIPHERAL REGISTERS: Sedan finns en stor del av minnesarean som är upplåten åt peripheral registers. Vi skall prata om dem nästa vecka, men kort så är det dessa vi skriver till om vi vill sätta en 1:a på en av våra GPIO pinnar. </a:t>
            </a:r>
          </a:p>
          <a:p>
            <a:r>
              <a:rPr lang="sv-SE" i="0"/>
              <a:t>SYSTEM CONTROL SPACE: Detta är ett annat block där vi kan konfigurera systemet. Vi kommer prata lite om det senare i kursen.</a:t>
            </a:r>
          </a:p>
          <a:p>
            <a:endParaRPr lang="sv-SE" i="0"/>
          </a:p>
          <a:p>
            <a:r>
              <a:rPr lang="sv-SE" i="0"/>
              <a:t>Poängen är att alla dessa grejjor kommunicerar vi med genom load och store instruktioner. </a:t>
            </a:r>
          </a:p>
          <a:p>
            <a:r>
              <a:rPr lang="sv-SE" i="0"/>
              <a:t>Om vi vill skriva någonstans lägger processorn addressen på addressbussen och datan på databussen. </a:t>
            </a:r>
          </a:p>
          <a:p>
            <a:r>
              <a:rPr lang="sv-SE" i="0"/>
              <a:t>Om vi vill läsa lägger processorn addressen på addressbussen och modelen vi kommunicerar med lägger datan på databussen. </a:t>
            </a:r>
          </a:p>
          <a:p>
            <a:r>
              <a:rPr lang="sv-SE" i="0"/>
              <a:t> </a:t>
            </a:r>
          </a:p>
          <a:p>
            <a:endParaRPr lang="sv-SE" i="0"/>
          </a:p>
          <a:p>
            <a:endParaRPr lang="sv-SE" i="0"/>
          </a:p>
          <a:p>
            <a:endParaRPr lang="sv-SE"/>
          </a:p>
        </p:txBody>
      </p:sp>
      <p:sp>
        <p:nvSpPr>
          <p:cNvPr id="4" name="Slide Number Placeholder 3"/>
          <p:cNvSpPr>
            <a:spLocks noGrp="1"/>
          </p:cNvSpPr>
          <p:nvPr>
            <p:ph type="sldNum" sz="quarter" idx="5"/>
          </p:nvPr>
        </p:nvSpPr>
        <p:spPr/>
        <p:txBody>
          <a:bodyPr/>
          <a:lstStyle/>
          <a:p>
            <a:fld id="{01B4E41B-EE32-43AA-BF26-21D12108C66F}" type="slidenum">
              <a:rPr lang="LID4096" smtClean="0"/>
              <a:t>30</a:t>
            </a:fld>
            <a:endParaRPr lang="LID4096"/>
          </a:p>
        </p:txBody>
      </p:sp>
    </p:spTree>
    <p:extLst>
      <p:ext uri="{BB962C8B-B14F-4D97-AF65-F5344CB8AC3E}">
        <p14:creationId xmlns:p14="http://schemas.microsoft.com/office/powerpoint/2010/main" val="2363276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Säg att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31</a:t>
            </a:fld>
            <a:endParaRPr lang="LID4096"/>
          </a:p>
        </p:txBody>
      </p:sp>
    </p:spTree>
    <p:extLst>
      <p:ext uri="{BB962C8B-B14F-4D97-AF65-F5344CB8AC3E}">
        <p14:creationId xmlns:p14="http://schemas.microsoft.com/office/powerpoint/2010/main" val="35119784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Ta det lungt</a:t>
            </a:r>
          </a:p>
          <a:p>
            <a:endParaRPr lang="sv-SE"/>
          </a:p>
          <a:p>
            <a:r>
              <a:rPr lang="sv-SE"/>
              <a:t>Notera bara dom två nedersta bytesen i x2 används</a:t>
            </a:r>
          </a:p>
          <a:p>
            <a:endParaRPr lang="sv-SE"/>
          </a:p>
          <a:p>
            <a:r>
              <a:rPr lang="sv-SE"/>
              <a:t>Notera ordningen är tvärtom här.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33</a:t>
            </a:fld>
            <a:endParaRPr lang="LID4096"/>
          </a:p>
        </p:txBody>
      </p:sp>
    </p:spTree>
    <p:extLst>
      <p:ext uri="{BB962C8B-B14F-4D97-AF65-F5344CB8AC3E}">
        <p14:creationId xmlns:p14="http://schemas.microsoft.com/office/powerpoint/2010/main" val="17536167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Load and store global</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34</a:t>
            </a:fld>
            <a:endParaRPr lang="LID4096"/>
          </a:p>
        </p:txBody>
      </p:sp>
    </p:spTree>
    <p:extLst>
      <p:ext uri="{BB962C8B-B14F-4D97-AF65-F5344CB8AC3E}">
        <p14:creationId xmlns:p14="http://schemas.microsoft.com/office/powerpoint/2010/main" val="8995344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a:p>
          <a:p>
            <a:r>
              <a:rPr lang="sv-SE"/>
              <a:t>Gå igenom koden. </a:t>
            </a:r>
          </a:p>
          <a:p>
            <a:r>
              <a:rPr lang="sv-SE"/>
              <a:t>Visa att det blev fel. </a:t>
            </a:r>
          </a:p>
          <a:p>
            <a:r>
              <a:rPr lang="sv-SE"/>
              <a:t>Varför blev det fel? </a:t>
            </a:r>
          </a:p>
          <a:p>
            <a:endParaRPr lang="sv-SE"/>
          </a:p>
          <a:p>
            <a:endParaRPr lang="sv-SE"/>
          </a:p>
          <a:p>
            <a:endParaRPr lang="sv-SE"/>
          </a:p>
          <a:p>
            <a:endParaRPr lang="sv-SE"/>
          </a:p>
          <a:p>
            <a:r>
              <a:rPr lang="en-US" sz="1200" b="0" kern="1200">
                <a:solidFill>
                  <a:schemeClr val="tx1"/>
                </a:solidFill>
                <a:effectLst/>
                <a:latin typeface="+mn-lt"/>
                <a:ea typeface="+mn-ea"/>
                <a:cs typeface="+mn-cs"/>
              </a:rPr>
              <a:t>.global main</a:t>
            </a:r>
          </a:p>
          <a:p>
            <a:r>
              <a:rPr lang="en-US" sz="1200" b="0" kern="1200">
                <a:solidFill>
                  <a:schemeClr val="tx1"/>
                </a:solidFill>
                <a:effectLst/>
                <a:latin typeface="+mn-lt"/>
                <a:ea typeface="+mn-ea"/>
                <a:cs typeface="+mn-cs"/>
              </a:rPr>
              <a:t>main:</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la t0, a          # Load address of `a` to t0</a:t>
            </a:r>
          </a:p>
          <a:p>
            <a:r>
              <a:rPr lang="en-US" sz="1200" b="0" kern="1200">
                <a:solidFill>
                  <a:schemeClr val="tx1"/>
                </a:solidFill>
                <a:effectLst/>
                <a:latin typeface="+mn-lt"/>
                <a:ea typeface="+mn-ea"/>
                <a:cs typeface="+mn-cs"/>
              </a:rPr>
              <a:t>lbu t0, 0(t0)     # Load `a` into t0. </a:t>
            </a:r>
          </a:p>
          <a:p>
            <a:r>
              <a:rPr lang="en-US" sz="1200" b="0" kern="1200">
                <a:solidFill>
                  <a:schemeClr val="tx1"/>
                </a:solidFill>
                <a:effectLst/>
                <a:latin typeface="+mn-lt"/>
                <a:ea typeface="+mn-ea"/>
                <a:cs typeface="+mn-cs"/>
              </a:rPr>
              <a:t>la t1, b          # Load address of `b` into t1</a:t>
            </a:r>
          </a:p>
          <a:p>
            <a:r>
              <a:rPr lang="en-US" sz="1200" b="0" kern="1200">
                <a:solidFill>
                  <a:schemeClr val="tx1"/>
                </a:solidFill>
                <a:effectLst/>
                <a:latin typeface="+mn-lt"/>
                <a:ea typeface="+mn-ea"/>
                <a:cs typeface="+mn-cs"/>
              </a:rPr>
              <a:t>lb t1, 0(t1)      # Load `b` into t1</a:t>
            </a:r>
          </a:p>
          <a:p>
            <a:r>
              <a:rPr lang="en-US" sz="1200" b="0" kern="1200">
                <a:solidFill>
                  <a:schemeClr val="tx1"/>
                </a:solidFill>
                <a:effectLst/>
                <a:latin typeface="+mn-lt"/>
                <a:ea typeface="+mn-ea"/>
                <a:cs typeface="+mn-cs"/>
              </a:rPr>
              <a:t>add t2, t0, t1    # Add values into t2.</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nop</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a: .byte 251</a:t>
            </a:r>
          </a:p>
          <a:p>
            <a:r>
              <a:rPr lang="en-US" sz="1200" b="0" kern="1200">
                <a:solidFill>
                  <a:schemeClr val="tx1"/>
                </a:solidFill>
                <a:effectLst/>
                <a:latin typeface="+mn-lt"/>
                <a:ea typeface="+mn-ea"/>
                <a:cs typeface="+mn-cs"/>
              </a:rPr>
              <a:t>b: .byte -5</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35</a:t>
            </a:fld>
            <a:endParaRPr lang="LID4096"/>
          </a:p>
        </p:txBody>
      </p:sp>
    </p:spTree>
    <p:extLst>
      <p:ext uri="{BB962C8B-B14F-4D97-AF65-F5344CB8AC3E}">
        <p14:creationId xmlns:p14="http://schemas.microsoft.com/office/powerpoint/2010/main" val="3404452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55927-843C-1AF8-973B-5ED249E7A6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6A2F1-AAF4-432C-067A-6D8E8C6E33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259850-DD58-20B0-57F5-22DDCCB87DDA}"/>
              </a:ext>
            </a:extLst>
          </p:cNvPr>
          <p:cNvSpPr>
            <a:spLocks noGrp="1"/>
          </p:cNvSpPr>
          <p:nvPr>
            <p:ph type="body" idx="1"/>
          </p:nvPr>
        </p:nvSpPr>
        <p:spPr/>
        <p:txBody>
          <a:bodyPr/>
          <a:lstStyle/>
          <a:p>
            <a:endParaRPr lang="sv-SE"/>
          </a:p>
          <a:p>
            <a:r>
              <a:rPr lang="sv-SE"/>
              <a:t>Gå igenom koden. </a:t>
            </a:r>
          </a:p>
          <a:p>
            <a:r>
              <a:rPr lang="sv-SE"/>
              <a:t>Visa att det blev fel. </a:t>
            </a:r>
          </a:p>
          <a:p>
            <a:r>
              <a:rPr lang="sv-SE"/>
              <a:t>Varför blev det fel? </a:t>
            </a:r>
          </a:p>
          <a:p>
            <a:endParaRPr lang="sv-SE"/>
          </a:p>
          <a:p>
            <a:endParaRPr lang="sv-SE"/>
          </a:p>
          <a:p>
            <a:endParaRPr lang="sv-SE"/>
          </a:p>
          <a:p>
            <a:endParaRPr lang="sv-SE"/>
          </a:p>
          <a:p>
            <a:r>
              <a:rPr lang="en-US" sz="1200" b="0" kern="1200">
                <a:solidFill>
                  <a:schemeClr val="tx1"/>
                </a:solidFill>
                <a:effectLst/>
                <a:latin typeface="+mn-lt"/>
                <a:ea typeface="+mn-ea"/>
                <a:cs typeface="+mn-cs"/>
              </a:rPr>
              <a:t>.global main</a:t>
            </a:r>
          </a:p>
          <a:p>
            <a:r>
              <a:rPr lang="en-US" sz="1200" b="0" kern="1200">
                <a:solidFill>
                  <a:schemeClr val="tx1"/>
                </a:solidFill>
                <a:effectLst/>
                <a:latin typeface="+mn-lt"/>
                <a:ea typeface="+mn-ea"/>
                <a:cs typeface="+mn-cs"/>
              </a:rPr>
              <a:t>main:</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la t0, a          # Load address of `a` to t0</a:t>
            </a:r>
          </a:p>
          <a:p>
            <a:r>
              <a:rPr lang="en-US" sz="1200" b="0" kern="1200">
                <a:solidFill>
                  <a:schemeClr val="tx1"/>
                </a:solidFill>
                <a:effectLst/>
                <a:latin typeface="+mn-lt"/>
                <a:ea typeface="+mn-ea"/>
                <a:cs typeface="+mn-cs"/>
              </a:rPr>
              <a:t>lbu t0, 0(t0)     # Load `a` into t0. </a:t>
            </a:r>
          </a:p>
          <a:p>
            <a:r>
              <a:rPr lang="en-US" sz="1200" b="0" kern="1200">
                <a:solidFill>
                  <a:schemeClr val="tx1"/>
                </a:solidFill>
                <a:effectLst/>
                <a:latin typeface="+mn-lt"/>
                <a:ea typeface="+mn-ea"/>
                <a:cs typeface="+mn-cs"/>
              </a:rPr>
              <a:t>la t1, b          # Load address of `b` into t1</a:t>
            </a:r>
          </a:p>
          <a:p>
            <a:r>
              <a:rPr lang="en-US" sz="1200" b="0" kern="1200">
                <a:solidFill>
                  <a:schemeClr val="tx1"/>
                </a:solidFill>
                <a:effectLst/>
                <a:latin typeface="+mn-lt"/>
                <a:ea typeface="+mn-ea"/>
                <a:cs typeface="+mn-cs"/>
              </a:rPr>
              <a:t>lb t1, 0(t1)      # Load `b` into t1</a:t>
            </a:r>
          </a:p>
          <a:p>
            <a:r>
              <a:rPr lang="en-US" sz="1200" b="0" kern="1200">
                <a:solidFill>
                  <a:schemeClr val="tx1"/>
                </a:solidFill>
                <a:effectLst/>
                <a:latin typeface="+mn-lt"/>
                <a:ea typeface="+mn-ea"/>
                <a:cs typeface="+mn-cs"/>
              </a:rPr>
              <a:t>add t2, t0, t1    # Add values into t2.</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nop</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a: .byte 251</a:t>
            </a:r>
          </a:p>
          <a:p>
            <a:r>
              <a:rPr lang="en-US" sz="1200" b="0" kern="1200">
                <a:solidFill>
                  <a:schemeClr val="tx1"/>
                </a:solidFill>
                <a:effectLst/>
                <a:latin typeface="+mn-lt"/>
                <a:ea typeface="+mn-ea"/>
                <a:cs typeface="+mn-cs"/>
              </a:rPr>
              <a:t>b: .byte -5</a:t>
            </a:r>
          </a:p>
          <a:p>
            <a:endParaRPr lang="LID4096"/>
          </a:p>
        </p:txBody>
      </p:sp>
      <p:sp>
        <p:nvSpPr>
          <p:cNvPr id="4" name="Slide Number Placeholder 3">
            <a:extLst>
              <a:ext uri="{FF2B5EF4-FFF2-40B4-BE49-F238E27FC236}">
                <a16:creationId xmlns:a16="http://schemas.microsoft.com/office/drawing/2014/main" id="{035B87CE-7D5C-5DDC-C65B-1D8F119869C9}"/>
              </a:ext>
            </a:extLst>
          </p:cNvPr>
          <p:cNvSpPr>
            <a:spLocks noGrp="1"/>
          </p:cNvSpPr>
          <p:nvPr>
            <p:ph type="sldNum" sz="quarter" idx="5"/>
          </p:nvPr>
        </p:nvSpPr>
        <p:spPr/>
        <p:txBody>
          <a:bodyPr/>
          <a:lstStyle/>
          <a:p>
            <a:fld id="{01B4E41B-EE32-43AA-BF26-21D12108C66F}" type="slidenum">
              <a:rPr lang="LID4096" smtClean="0"/>
              <a:t>36</a:t>
            </a:fld>
            <a:endParaRPr lang="LID4096"/>
          </a:p>
        </p:txBody>
      </p:sp>
    </p:spTree>
    <p:extLst>
      <p:ext uri="{BB962C8B-B14F-4D97-AF65-F5344CB8AC3E}">
        <p14:creationId xmlns:p14="http://schemas.microsoft.com/office/powerpoint/2010/main" val="2454906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F8B98-EEBD-7BAC-FA2F-D8DAE8F64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62DDB7-0AD1-A39D-3A26-3DE6DCC606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597D47-C61D-A15F-3310-7CA078849B1B}"/>
              </a:ext>
            </a:extLst>
          </p:cNvPr>
          <p:cNvSpPr>
            <a:spLocks noGrp="1"/>
          </p:cNvSpPr>
          <p:nvPr>
            <p:ph type="body" idx="1"/>
          </p:nvPr>
        </p:nvSpPr>
        <p:spPr/>
        <p:txBody>
          <a:bodyPr/>
          <a:lstStyle/>
          <a:p>
            <a:r>
              <a:rPr lang="sv-SE"/>
              <a:t>Om vi tar pausen här är jag nog i väldigt god tid?</a:t>
            </a:r>
            <a:endParaRPr lang="LID4096"/>
          </a:p>
        </p:txBody>
      </p:sp>
      <p:sp>
        <p:nvSpPr>
          <p:cNvPr id="4" name="Slide Number Placeholder 3">
            <a:extLst>
              <a:ext uri="{FF2B5EF4-FFF2-40B4-BE49-F238E27FC236}">
                <a16:creationId xmlns:a16="http://schemas.microsoft.com/office/drawing/2014/main" id="{C0CAE98E-9F87-89F4-604E-CD2FA2F775D7}"/>
              </a:ext>
            </a:extLst>
          </p:cNvPr>
          <p:cNvSpPr>
            <a:spLocks noGrp="1"/>
          </p:cNvSpPr>
          <p:nvPr>
            <p:ph type="sldNum" sz="quarter" idx="5"/>
          </p:nvPr>
        </p:nvSpPr>
        <p:spPr/>
        <p:txBody>
          <a:bodyPr/>
          <a:lstStyle/>
          <a:p>
            <a:fld id="{01B4E41B-EE32-43AA-BF26-21D12108C66F}" type="slidenum">
              <a:rPr lang="LID4096" smtClean="0"/>
              <a:t>37</a:t>
            </a:fld>
            <a:endParaRPr lang="LID4096"/>
          </a:p>
        </p:txBody>
      </p:sp>
    </p:spTree>
    <p:extLst>
      <p:ext uri="{BB962C8B-B14F-4D97-AF65-F5344CB8AC3E}">
        <p14:creationId xmlns:p14="http://schemas.microsoft.com/office/powerpoint/2010/main" val="16343328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Prata igenom hur och att detta funkar.</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38</a:t>
            </a:fld>
            <a:endParaRPr lang="LID4096"/>
          </a:p>
        </p:txBody>
      </p:sp>
    </p:spTree>
    <p:extLst>
      <p:ext uri="{BB962C8B-B14F-4D97-AF65-F5344CB8AC3E}">
        <p14:creationId xmlns:p14="http://schemas.microsoft.com/office/powerpoint/2010/main" val="4771776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57471-8E1D-DA13-EECC-E87F1DA6F2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596F9-7197-782C-A7FF-C8C79E9801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555C8-0C82-999E-1323-09E06BC06466}"/>
              </a:ext>
            </a:extLst>
          </p:cNvPr>
          <p:cNvSpPr>
            <a:spLocks noGrp="1"/>
          </p:cNvSpPr>
          <p:nvPr>
            <p:ph type="body" idx="1"/>
          </p:nvPr>
        </p:nvSpPr>
        <p:spPr/>
        <p:txBody>
          <a:bodyPr/>
          <a:lstStyle/>
          <a:p>
            <a:r>
              <a:rPr lang="sv-SE"/>
              <a:t>Men inte detta. </a:t>
            </a:r>
            <a:endParaRPr lang="LID4096"/>
          </a:p>
        </p:txBody>
      </p:sp>
      <p:sp>
        <p:nvSpPr>
          <p:cNvPr id="4" name="Slide Number Placeholder 3">
            <a:extLst>
              <a:ext uri="{FF2B5EF4-FFF2-40B4-BE49-F238E27FC236}">
                <a16:creationId xmlns:a16="http://schemas.microsoft.com/office/drawing/2014/main" id="{9CF7A051-2B76-40DF-8A4A-8D29DFBBDB3F}"/>
              </a:ext>
            </a:extLst>
          </p:cNvPr>
          <p:cNvSpPr>
            <a:spLocks noGrp="1"/>
          </p:cNvSpPr>
          <p:nvPr>
            <p:ph type="sldNum" sz="quarter" idx="5"/>
          </p:nvPr>
        </p:nvSpPr>
        <p:spPr/>
        <p:txBody>
          <a:bodyPr/>
          <a:lstStyle/>
          <a:p>
            <a:fld id="{01B4E41B-EE32-43AA-BF26-21D12108C66F}" type="slidenum">
              <a:rPr lang="LID4096" smtClean="0"/>
              <a:t>39</a:t>
            </a:fld>
            <a:endParaRPr lang="LID4096"/>
          </a:p>
        </p:txBody>
      </p:sp>
    </p:spTree>
    <p:extLst>
      <p:ext uri="{BB962C8B-B14F-4D97-AF65-F5344CB8AC3E}">
        <p14:creationId xmlns:p14="http://schemas.microsoft.com/office/powerpoint/2010/main" val="21509299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Vi kommer </a:t>
            </a:r>
            <a:r>
              <a:rPr lang="sv-SE"/>
              <a:t>återkomma till memory alignment senare i kursen när vi börjar prata om struktar. </a:t>
            </a:r>
          </a:p>
          <a:p>
            <a:endParaRPr lang="sv-SE"/>
          </a:p>
          <a:p>
            <a:r>
              <a:rPr lang="sv-SE"/>
              <a:t>Ta med att vi kunde lägga in en dummy byte, men vad händer då om a råkar ligga på address 1</a:t>
            </a:r>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40</a:t>
            </a:fld>
            <a:endParaRPr lang="LID4096"/>
          </a:p>
        </p:txBody>
      </p:sp>
    </p:spTree>
    <p:extLst>
      <p:ext uri="{BB962C8B-B14F-4D97-AF65-F5344CB8AC3E}">
        <p14:creationId xmlns:p14="http://schemas.microsoft.com/office/powerpoint/2010/main" val="3388778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a+b + c+d, signedness, wordsize, align</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41</a:t>
            </a:fld>
            <a:endParaRPr lang="LID4096"/>
          </a:p>
        </p:txBody>
      </p:sp>
    </p:spTree>
    <p:extLst>
      <p:ext uri="{BB962C8B-B14F-4D97-AF65-F5344CB8AC3E}">
        <p14:creationId xmlns:p14="http://schemas.microsoft.com/office/powerpoint/2010/main" val="2567899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01/23/2026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5.png"/><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2</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Assembler på RISC-V</a:t>
            </a:r>
            <a:endParaRPr lang="LID4096"/>
          </a:p>
        </p:txBody>
      </p:sp>
    </p:spTree>
    <p:extLst>
      <p:ext uri="{BB962C8B-B14F-4D97-AF65-F5344CB8AC3E}">
        <p14:creationId xmlns:p14="http://schemas.microsoft.com/office/powerpoint/2010/main" val="3174365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EF2E1-3C49-2806-295F-F733D095A44B}"/>
              </a:ext>
            </a:extLst>
          </p:cNvPr>
          <p:cNvSpPr>
            <a:spLocks noGrp="1"/>
          </p:cNvSpPr>
          <p:nvPr>
            <p:ph type="title"/>
          </p:nvPr>
        </p:nvSpPr>
        <p:spPr/>
        <p:txBody>
          <a:bodyPr/>
          <a:lstStyle/>
          <a:p>
            <a:r>
              <a:rPr lang="sv-SE"/>
              <a:t>Instruction Set Architecture (ISA)</a:t>
            </a:r>
            <a:endParaRPr lang="LID4096"/>
          </a:p>
        </p:txBody>
      </p:sp>
      <p:grpSp>
        <p:nvGrpSpPr>
          <p:cNvPr id="9" name="Group 8">
            <a:extLst>
              <a:ext uri="{FF2B5EF4-FFF2-40B4-BE49-F238E27FC236}">
                <a16:creationId xmlns:a16="http://schemas.microsoft.com/office/drawing/2014/main" id="{95DD4650-1CD9-455B-A5C1-70A1AA633BF7}"/>
              </a:ext>
            </a:extLst>
          </p:cNvPr>
          <p:cNvGrpSpPr/>
          <p:nvPr/>
        </p:nvGrpSpPr>
        <p:grpSpPr>
          <a:xfrm>
            <a:off x="4074016" y="1931831"/>
            <a:ext cx="3627549" cy="2494207"/>
            <a:chOff x="4031087" y="3176789"/>
            <a:chExt cx="3627549" cy="2494207"/>
          </a:xfrm>
        </p:grpSpPr>
        <p:sp>
          <p:nvSpPr>
            <p:cNvPr id="4" name="Rectangle: Rounded Corners 3">
              <a:extLst>
                <a:ext uri="{FF2B5EF4-FFF2-40B4-BE49-F238E27FC236}">
                  <a16:creationId xmlns:a16="http://schemas.microsoft.com/office/drawing/2014/main" id="{865AC28E-C1D1-B03B-F3AB-B01EC89F4652}"/>
                </a:ext>
              </a:extLst>
            </p:cNvPr>
            <p:cNvSpPr/>
            <p:nvPr/>
          </p:nvSpPr>
          <p:spPr>
            <a:xfrm>
              <a:off x="4031087" y="3176789"/>
              <a:ext cx="3576034" cy="2494207"/>
            </a:xfrm>
            <a:prstGeom prst="roundRect">
              <a:avLst>
                <a:gd name="adj" fmla="val 9284"/>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241CEE5F-074B-0C86-E13C-09231EE9D588}"/>
                </a:ext>
              </a:extLst>
            </p:cNvPr>
            <p:cNvSpPr txBox="1"/>
            <p:nvPr/>
          </p:nvSpPr>
          <p:spPr>
            <a:xfrm>
              <a:off x="4142703" y="3230278"/>
              <a:ext cx="3515933" cy="2400657"/>
            </a:xfrm>
            <a:prstGeom prst="rect">
              <a:avLst/>
            </a:prstGeom>
            <a:noFill/>
          </p:spPr>
          <p:txBody>
            <a:bodyPr wrap="square">
              <a:spAutoFit/>
            </a:bodyPr>
            <a:lstStyle/>
            <a:p>
              <a:r>
                <a:rPr lang="sv-SE" sz="1600" b="1"/>
                <a:t>ISA (Instruction Set Architecture)</a:t>
              </a:r>
            </a:p>
            <a:p>
              <a:br>
                <a:rPr lang="sv-SE" sz="1600"/>
              </a:br>
              <a:r>
                <a:rPr lang="sv-SE" sz="1400"/>
                <a:t>Specificerar en processors beteende i termer av </a:t>
              </a:r>
              <a:r>
                <a:rPr lang="sv-SE" sz="1400" b="1"/>
                <a:t>instruktionsuppsättning</a:t>
              </a:r>
              <a:r>
                <a:rPr lang="sv-SE" sz="1400"/>
                <a:t>, </a:t>
              </a:r>
              <a:r>
                <a:rPr lang="sv-SE" sz="1400" b="1"/>
                <a:t>register</a:t>
              </a:r>
              <a:r>
                <a:rPr lang="sv-SE" sz="1400"/>
                <a:t> och </a:t>
              </a:r>
              <a:r>
                <a:rPr lang="sv-SE" sz="1400" b="1"/>
                <a:t>minnesmodell</a:t>
              </a:r>
              <a:r>
                <a:rPr lang="sv-SE" sz="1400"/>
                <a:t>, samt hur dessa komponenter samverkar.</a:t>
              </a:r>
            </a:p>
            <a:p>
              <a:endParaRPr lang="sv-SE" sz="1400"/>
            </a:p>
            <a:p>
              <a:r>
                <a:rPr lang="sv-SE" sz="1200" i="1"/>
                <a:t>Om en processor korrekt implementerar en ISA, kommer varje korrekt kompilerat program som är riktat mot denna ISA att exekveras korrekt på processorn.</a:t>
              </a:r>
            </a:p>
          </p:txBody>
        </p:sp>
      </p:grpSp>
      <p:grpSp>
        <p:nvGrpSpPr>
          <p:cNvPr id="44" name="Group 43">
            <a:extLst>
              <a:ext uri="{FF2B5EF4-FFF2-40B4-BE49-F238E27FC236}">
                <a16:creationId xmlns:a16="http://schemas.microsoft.com/office/drawing/2014/main" id="{9A2675E2-1E15-D9E1-2FA9-19F2AE8F837F}"/>
              </a:ext>
            </a:extLst>
          </p:cNvPr>
          <p:cNvGrpSpPr/>
          <p:nvPr/>
        </p:nvGrpSpPr>
        <p:grpSpPr>
          <a:xfrm>
            <a:off x="970583" y="2994267"/>
            <a:ext cx="9920785" cy="3596957"/>
            <a:chOff x="970583" y="2994267"/>
            <a:chExt cx="9920785" cy="3596957"/>
          </a:xfrm>
        </p:grpSpPr>
        <p:sp>
          <p:nvSpPr>
            <p:cNvPr id="15" name="TextBox 14">
              <a:extLst>
                <a:ext uri="{FF2B5EF4-FFF2-40B4-BE49-F238E27FC236}">
                  <a16:creationId xmlns:a16="http://schemas.microsoft.com/office/drawing/2014/main" id="{B8790283-BE97-03E2-711A-4E3CF9ADEC66}"/>
                </a:ext>
              </a:extLst>
            </p:cNvPr>
            <p:cNvSpPr txBox="1"/>
            <p:nvPr/>
          </p:nvSpPr>
          <p:spPr>
            <a:xfrm>
              <a:off x="8462498" y="3117379"/>
              <a:ext cx="2428870" cy="461665"/>
            </a:xfrm>
            <a:prstGeom prst="rect">
              <a:avLst/>
            </a:prstGeom>
            <a:noFill/>
            <a:ln>
              <a:solidFill>
                <a:schemeClr val="accent1">
                  <a:shade val="15000"/>
                </a:schemeClr>
              </a:solidFill>
            </a:ln>
          </p:spPr>
          <p:txBody>
            <a:bodyPr wrap="none" rtlCol="0">
              <a:spAutoFit/>
            </a:bodyPr>
            <a:lstStyle/>
            <a:p>
              <a:pPr algn="ctr"/>
              <a:r>
                <a:rPr lang="sv-SE" sz="800"/>
                <a:t>Others: </a:t>
              </a:r>
              <a:br>
                <a:rPr lang="sv-SE" sz="800"/>
              </a:br>
              <a:r>
                <a:rPr lang="sv-SE" sz="800"/>
                <a:t>MIPS, Nintendo, NVIDIA, etc</a:t>
              </a:r>
              <a:br>
                <a:rPr lang="sv-SE" sz="800"/>
              </a:br>
              <a:r>
                <a:rPr lang="sv-SE" sz="800"/>
                <a:t>Special purpose, historical, or very small user base</a:t>
              </a:r>
              <a:endParaRPr lang="LID4096" sz="800"/>
            </a:p>
          </p:txBody>
        </p:sp>
        <p:cxnSp>
          <p:nvCxnSpPr>
            <p:cNvPr id="28" name="Straight Connector 27">
              <a:extLst>
                <a:ext uri="{FF2B5EF4-FFF2-40B4-BE49-F238E27FC236}">
                  <a16:creationId xmlns:a16="http://schemas.microsoft.com/office/drawing/2014/main" id="{6FDE01B0-7D27-5537-8B71-65F31C6AB02B}"/>
                </a:ext>
              </a:extLst>
            </p:cNvPr>
            <p:cNvCxnSpPr>
              <a:cxnSpLocks/>
              <a:stCxn id="15" idx="1"/>
            </p:cNvCxnSpPr>
            <p:nvPr/>
          </p:nvCxnSpPr>
          <p:spPr>
            <a:xfrm flipH="1" flipV="1">
              <a:off x="7650050" y="3309870"/>
              <a:ext cx="812448" cy="3834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2D7169D0-90AA-C2DB-82B6-680EF63DCA5A}"/>
                </a:ext>
              </a:extLst>
            </p:cNvPr>
            <p:cNvSpPr txBox="1"/>
            <p:nvPr/>
          </p:nvSpPr>
          <p:spPr>
            <a:xfrm>
              <a:off x="970583" y="2994267"/>
              <a:ext cx="2058577" cy="830997"/>
            </a:xfrm>
            <a:prstGeom prst="rect">
              <a:avLst/>
            </a:prstGeom>
            <a:noFill/>
            <a:ln>
              <a:solidFill>
                <a:schemeClr val="accent1">
                  <a:shade val="15000"/>
                </a:schemeClr>
              </a:solidFill>
            </a:ln>
          </p:spPr>
          <p:txBody>
            <a:bodyPr wrap="none" rtlCol="0">
              <a:spAutoFit/>
            </a:bodyPr>
            <a:lstStyle/>
            <a:p>
              <a:pPr algn="ctr"/>
              <a:r>
                <a:rPr lang="sv-SE"/>
                <a:t>(Intel/AMD) x86</a:t>
              </a:r>
            </a:p>
            <a:p>
              <a:pPr algn="ctr"/>
              <a:r>
                <a:rPr lang="sv-SE" sz="1400"/>
                <a:t>1978 -</a:t>
              </a:r>
            </a:p>
            <a:p>
              <a:pPr algn="ctr"/>
              <a:r>
                <a:rPr lang="sv-SE" sz="800">
                  <a:solidFill>
                    <a:srgbClr val="C00000"/>
                  </a:solidFill>
                </a:rPr>
                <a:t>only AMD and Intel are allowed to use</a:t>
              </a:r>
            </a:p>
            <a:p>
              <a:pPr algn="ctr"/>
              <a:r>
                <a:rPr lang="sv-SE" sz="800"/>
                <a:t>(persondatorer, servers, hpc workstations)</a:t>
              </a:r>
              <a:endParaRPr lang="LID4096" sz="800"/>
            </a:p>
          </p:txBody>
        </p:sp>
        <p:sp>
          <p:nvSpPr>
            <p:cNvPr id="37" name="TextBox 36">
              <a:extLst>
                <a:ext uri="{FF2B5EF4-FFF2-40B4-BE49-F238E27FC236}">
                  <a16:creationId xmlns:a16="http://schemas.microsoft.com/office/drawing/2014/main" id="{FC589799-4321-A29B-D906-5ACF6669C76B}"/>
                </a:ext>
              </a:extLst>
            </p:cNvPr>
            <p:cNvSpPr txBox="1"/>
            <p:nvPr/>
          </p:nvSpPr>
          <p:spPr>
            <a:xfrm>
              <a:off x="1402111" y="4717961"/>
              <a:ext cx="2270173" cy="954107"/>
            </a:xfrm>
            <a:prstGeom prst="rect">
              <a:avLst/>
            </a:prstGeom>
            <a:noFill/>
            <a:ln>
              <a:solidFill>
                <a:schemeClr val="accent1">
                  <a:shade val="15000"/>
                </a:schemeClr>
              </a:solidFill>
            </a:ln>
          </p:spPr>
          <p:txBody>
            <a:bodyPr wrap="none" rtlCol="0">
              <a:spAutoFit/>
            </a:bodyPr>
            <a:lstStyle/>
            <a:p>
              <a:pPr algn="ctr"/>
              <a:r>
                <a:rPr lang="sv-SE"/>
                <a:t>ARM</a:t>
              </a:r>
            </a:p>
            <a:p>
              <a:pPr algn="ctr"/>
              <a:r>
                <a:rPr lang="sv-SE" sz="1400"/>
                <a:t>1985 -</a:t>
              </a:r>
            </a:p>
            <a:p>
              <a:pPr algn="ctr"/>
              <a:r>
                <a:rPr lang="sv-SE" sz="800">
                  <a:solidFill>
                    <a:srgbClr val="C00000"/>
                  </a:solidFill>
                </a:rPr>
                <a:t>pay licence to ARM if you want to use</a:t>
              </a:r>
              <a:br>
                <a:rPr lang="sv-SE" sz="800">
                  <a:solidFill>
                    <a:srgbClr val="C00000"/>
                  </a:solidFill>
                </a:rPr>
              </a:br>
              <a:r>
                <a:rPr lang="sv-SE" sz="800"/>
                <a:t>(phones, tablets, embedded, IoT, servers, mac)</a:t>
              </a:r>
              <a:endParaRPr lang="LID4096" sz="800"/>
            </a:p>
            <a:p>
              <a:pPr algn="ctr"/>
              <a:endParaRPr lang="LID4096" sz="800"/>
            </a:p>
          </p:txBody>
        </p:sp>
        <p:sp>
          <p:nvSpPr>
            <p:cNvPr id="38" name="TextBox 37">
              <a:extLst>
                <a:ext uri="{FF2B5EF4-FFF2-40B4-BE49-F238E27FC236}">
                  <a16:creationId xmlns:a16="http://schemas.microsoft.com/office/drawing/2014/main" id="{23DB4DA0-1AF2-5976-8C13-9C07934F9A29}"/>
                </a:ext>
              </a:extLst>
            </p:cNvPr>
            <p:cNvSpPr txBox="1"/>
            <p:nvPr/>
          </p:nvSpPr>
          <p:spPr>
            <a:xfrm>
              <a:off x="4431192" y="4990786"/>
              <a:ext cx="2861681" cy="1600438"/>
            </a:xfrm>
            <a:prstGeom prst="rect">
              <a:avLst/>
            </a:prstGeom>
            <a:noFill/>
            <a:ln w="25400">
              <a:solidFill>
                <a:schemeClr val="accent1">
                  <a:shade val="15000"/>
                </a:schemeClr>
              </a:solidFill>
            </a:ln>
          </p:spPr>
          <p:txBody>
            <a:bodyPr wrap="none" rtlCol="0">
              <a:spAutoFit/>
            </a:bodyPr>
            <a:lstStyle/>
            <a:p>
              <a:pPr algn="ctr"/>
              <a:r>
                <a:rPr lang="sv-SE" sz="2800"/>
                <a:t>RISC-V</a:t>
              </a:r>
            </a:p>
            <a:p>
              <a:pPr algn="ctr"/>
              <a:r>
                <a:rPr lang="sv-SE" sz="2800"/>
                <a:t>2010 - </a:t>
              </a:r>
            </a:p>
            <a:p>
              <a:pPr algn="ctr"/>
              <a:r>
                <a:rPr lang="sv-SE" sz="1050" b="1">
                  <a:solidFill>
                    <a:schemeClr val="accent6">
                      <a:lumMod val="75000"/>
                    </a:schemeClr>
                  </a:solidFill>
                </a:rPr>
                <a:t>free to use for anyone</a:t>
              </a:r>
            </a:p>
            <a:p>
              <a:pPr algn="ctr"/>
              <a:r>
                <a:rPr lang="sv-SE" sz="1050"/>
                <a:t>(embedded systems, microcontrollers, </a:t>
              </a:r>
              <a:br>
                <a:rPr lang="sv-SE" sz="1050"/>
              </a:br>
              <a:r>
                <a:rPr lang="sv-SE" sz="1050"/>
                <a:t>domain-specific accelerators, men växer fort!)</a:t>
              </a:r>
              <a:br>
                <a:rPr lang="sv-SE" sz="1050">
                  <a:solidFill>
                    <a:schemeClr val="accent6">
                      <a:lumMod val="75000"/>
                    </a:schemeClr>
                  </a:solidFill>
                </a:rPr>
              </a:br>
              <a:endParaRPr lang="LID4096" sz="1050"/>
            </a:p>
          </p:txBody>
        </p:sp>
        <p:sp>
          <p:nvSpPr>
            <p:cNvPr id="39" name="TextBox 38">
              <a:extLst>
                <a:ext uri="{FF2B5EF4-FFF2-40B4-BE49-F238E27FC236}">
                  <a16:creationId xmlns:a16="http://schemas.microsoft.com/office/drawing/2014/main" id="{A23E1548-472D-788A-9349-DDA2E9BBC1A9}"/>
                </a:ext>
              </a:extLst>
            </p:cNvPr>
            <p:cNvSpPr txBox="1"/>
            <p:nvPr/>
          </p:nvSpPr>
          <p:spPr>
            <a:xfrm>
              <a:off x="8122279" y="4717961"/>
              <a:ext cx="1387816" cy="892552"/>
            </a:xfrm>
            <a:prstGeom prst="rect">
              <a:avLst/>
            </a:prstGeom>
            <a:noFill/>
            <a:ln>
              <a:solidFill>
                <a:schemeClr val="accent1">
                  <a:shade val="15000"/>
                </a:schemeClr>
              </a:solidFill>
            </a:ln>
          </p:spPr>
          <p:txBody>
            <a:bodyPr wrap="none" rtlCol="0">
              <a:spAutoFit/>
            </a:bodyPr>
            <a:lstStyle/>
            <a:p>
              <a:pPr algn="ctr"/>
              <a:r>
                <a:rPr lang="sv-SE"/>
                <a:t>IBM POWER</a:t>
              </a:r>
            </a:p>
            <a:p>
              <a:pPr algn="ctr"/>
              <a:r>
                <a:rPr lang="sv-SE"/>
                <a:t>1990 -</a:t>
              </a:r>
              <a:br>
                <a:rPr lang="sv-SE"/>
              </a:br>
              <a:r>
                <a:rPr lang="sv-SE" sz="800">
                  <a:solidFill>
                    <a:srgbClr val="C00000"/>
                  </a:solidFill>
                </a:rPr>
                <a:t>only IBM uses (these days)</a:t>
              </a:r>
            </a:p>
            <a:p>
              <a:pPr algn="ctr"/>
              <a:r>
                <a:rPr lang="sv-SE" sz="800"/>
                <a:t>(enterprise servers, hpc)</a:t>
              </a:r>
              <a:endParaRPr lang="LID4096" sz="800"/>
            </a:p>
          </p:txBody>
        </p:sp>
        <p:cxnSp>
          <p:nvCxnSpPr>
            <p:cNvPr id="40" name="Straight Connector 39">
              <a:extLst>
                <a:ext uri="{FF2B5EF4-FFF2-40B4-BE49-F238E27FC236}">
                  <a16:creationId xmlns:a16="http://schemas.microsoft.com/office/drawing/2014/main" id="{6772F008-52B7-5E20-87D3-B9E8898712DC}"/>
                </a:ext>
              </a:extLst>
            </p:cNvPr>
            <p:cNvCxnSpPr>
              <a:stCxn id="36" idx="3"/>
            </p:cNvCxnSpPr>
            <p:nvPr/>
          </p:nvCxnSpPr>
          <p:spPr>
            <a:xfrm flipV="1">
              <a:off x="3029160" y="3178935"/>
              <a:ext cx="1044856" cy="2308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C79BE79-F37B-B6E2-C449-952D2901F2D5}"/>
                </a:ext>
              </a:extLst>
            </p:cNvPr>
            <p:cNvCxnSpPr>
              <a:cxnSpLocks/>
              <a:stCxn id="37" idx="3"/>
            </p:cNvCxnSpPr>
            <p:nvPr/>
          </p:nvCxnSpPr>
          <p:spPr>
            <a:xfrm flipV="1">
              <a:off x="3672284" y="4426038"/>
              <a:ext cx="573451" cy="7689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67E0B3F-9D6F-450B-D23A-21473DA73D5D}"/>
                </a:ext>
              </a:extLst>
            </p:cNvPr>
            <p:cNvCxnSpPr>
              <a:cxnSpLocks/>
              <a:stCxn id="38" idx="0"/>
            </p:cNvCxnSpPr>
            <p:nvPr/>
          </p:nvCxnSpPr>
          <p:spPr>
            <a:xfrm flipV="1">
              <a:off x="5862033" y="4426038"/>
              <a:ext cx="0" cy="56474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631DAB-5C64-F566-BAED-C7DAF59318C2}"/>
                </a:ext>
              </a:extLst>
            </p:cNvPr>
            <p:cNvCxnSpPr>
              <a:cxnSpLocks/>
              <a:stCxn id="39" idx="0"/>
            </p:cNvCxnSpPr>
            <p:nvPr/>
          </p:nvCxnSpPr>
          <p:spPr>
            <a:xfrm flipH="1" flipV="1">
              <a:off x="7650050" y="4177048"/>
              <a:ext cx="1166137" cy="54091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27499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wipe(up)">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797DD-7F2A-9FBA-E409-B79FD9C94E6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87A51E-BDD3-2A60-34B4-21D3438E4590}"/>
              </a:ext>
            </a:extLst>
          </p:cNvPr>
          <p:cNvSpPr txBox="1"/>
          <p:nvPr/>
        </p:nvSpPr>
        <p:spPr>
          <a:xfrm>
            <a:off x="8122279" y="1978605"/>
            <a:ext cx="3625736" cy="2031325"/>
          </a:xfrm>
          <a:prstGeom prst="rect">
            <a:avLst/>
          </a:prstGeom>
          <a:noFill/>
          <a:ln>
            <a:solidFill>
              <a:schemeClr val="tx1"/>
            </a:solidFill>
          </a:ln>
        </p:spPr>
        <p:txBody>
          <a:bodyPr wrap="none" rtlCol="0">
            <a:spAutoFit/>
          </a:bodyPr>
          <a:lstStyle/>
          <a:p>
            <a:r>
              <a:rPr lang="sv-SE"/>
              <a:t>Gösta skall bygga en processor, </a:t>
            </a:r>
          </a:p>
          <a:p>
            <a:r>
              <a:rPr lang="sv-SE"/>
              <a:t>men gillar inte RISC-V. Han vill göra</a:t>
            </a:r>
            <a:br>
              <a:rPr lang="sv-SE"/>
            </a:br>
            <a:r>
              <a:rPr lang="sv-SE"/>
              <a:t>sin egen ISA till sin nya </a:t>
            </a:r>
            <a:br>
              <a:rPr lang="sv-SE"/>
            </a:br>
            <a:r>
              <a:rPr lang="sv-SE"/>
              <a:t>laptopprocessor. </a:t>
            </a:r>
          </a:p>
          <a:p>
            <a:endParaRPr lang="sv-SE"/>
          </a:p>
          <a:p>
            <a:r>
              <a:rPr lang="sv-SE"/>
              <a:t>Varför kommer det bli</a:t>
            </a:r>
          </a:p>
          <a:p>
            <a:r>
              <a:rPr lang="sv-SE"/>
              <a:t>dyrt för Gösta? </a:t>
            </a:r>
            <a:endParaRPr lang="LID4096"/>
          </a:p>
        </p:txBody>
      </p:sp>
      <p:sp>
        <p:nvSpPr>
          <p:cNvPr id="2" name="Title 1">
            <a:extLst>
              <a:ext uri="{FF2B5EF4-FFF2-40B4-BE49-F238E27FC236}">
                <a16:creationId xmlns:a16="http://schemas.microsoft.com/office/drawing/2014/main" id="{D1F9F772-8840-9CAC-5967-ACD89D271B8F}"/>
              </a:ext>
            </a:extLst>
          </p:cNvPr>
          <p:cNvSpPr>
            <a:spLocks noGrp="1"/>
          </p:cNvSpPr>
          <p:nvPr>
            <p:ph type="title"/>
          </p:nvPr>
        </p:nvSpPr>
        <p:spPr/>
        <p:txBody>
          <a:bodyPr/>
          <a:lstStyle/>
          <a:p>
            <a:r>
              <a:rPr lang="sv-SE"/>
              <a:t>Instruction Set Architecture (ISA)</a:t>
            </a:r>
            <a:endParaRPr lang="LID4096"/>
          </a:p>
        </p:txBody>
      </p:sp>
      <p:grpSp>
        <p:nvGrpSpPr>
          <p:cNvPr id="9" name="Group 8">
            <a:extLst>
              <a:ext uri="{FF2B5EF4-FFF2-40B4-BE49-F238E27FC236}">
                <a16:creationId xmlns:a16="http://schemas.microsoft.com/office/drawing/2014/main" id="{19ECF206-DFA1-B830-1A8B-776CFD344365}"/>
              </a:ext>
            </a:extLst>
          </p:cNvPr>
          <p:cNvGrpSpPr/>
          <p:nvPr/>
        </p:nvGrpSpPr>
        <p:grpSpPr>
          <a:xfrm>
            <a:off x="4074016" y="1931831"/>
            <a:ext cx="3627549" cy="2494207"/>
            <a:chOff x="4031087" y="3176789"/>
            <a:chExt cx="3627549" cy="2494207"/>
          </a:xfrm>
        </p:grpSpPr>
        <p:sp>
          <p:nvSpPr>
            <p:cNvPr id="4" name="Rectangle: Rounded Corners 3">
              <a:extLst>
                <a:ext uri="{FF2B5EF4-FFF2-40B4-BE49-F238E27FC236}">
                  <a16:creationId xmlns:a16="http://schemas.microsoft.com/office/drawing/2014/main" id="{B7166E1C-5F66-E259-9677-4641DBE5B9DF}"/>
                </a:ext>
              </a:extLst>
            </p:cNvPr>
            <p:cNvSpPr/>
            <p:nvPr/>
          </p:nvSpPr>
          <p:spPr>
            <a:xfrm>
              <a:off x="4031087" y="3176789"/>
              <a:ext cx="3576034" cy="2494207"/>
            </a:xfrm>
            <a:prstGeom prst="roundRect">
              <a:avLst>
                <a:gd name="adj" fmla="val 9284"/>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71FCFA64-B196-BF70-AF32-B752AEBBE375}"/>
                </a:ext>
              </a:extLst>
            </p:cNvPr>
            <p:cNvSpPr txBox="1"/>
            <p:nvPr/>
          </p:nvSpPr>
          <p:spPr>
            <a:xfrm>
              <a:off x="4142703" y="3230278"/>
              <a:ext cx="3515933" cy="2400657"/>
            </a:xfrm>
            <a:prstGeom prst="rect">
              <a:avLst/>
            </a:prstGeom>
            <a:noFill/>
          </p:spPr>
          <p:txBody>
            <a:bodyPr wrap="square">
              <a:spAutoFit/>
            </a:bodyPr>
            <a:lstStyle/>
            <a:p>
              <a:r>
                <a:rPr lang="sv-SE" sz="1600" b="1"/>
                <a:t>ISA (Instruction Set Architecture)</a:t>
              </a:r>
            </a:p>
            <a:p>
              <a:br>
                <a:rPr lang="sv-SE" sz="1600"/>
              </a:br>
              <a:r>
                <a:rPr lang="sv-SE" sz="1400"/>
                <a:t>Specificerar en processors beteende i termer av </a:t>
              </a:r>
              <a:r>
                <a:rPr lang="sv-SE" sz="1400" b="1"/>
                <a:t>instruktionsuppsättning</a:t>
              </a:r>
              <a:r>
                <a:rPr lang="sv-SE" sz="1400"/>
                <a:t>, </a:t>
              </a:r>
              <a:r>
                <a:rPr lang="sv-SE" sz="1400" b="1"/>
                <a:t>register</a:t>
              </a:r>
              <a:r>
                <a:rPr lang="sv-SE" sz="1400"/>
                <a:t> och </a:t>
              </a:r>
              <a:r>
                <a:rPr lang="sv-SE" sz="1400" b="1"/>
                <a:t>minnesmodell</a:t>
              </a:r>
              <a:r>
                <a:rPr lang="sv-SE" sz="1400"/>
                <a:t>, samt hur dessa komponenter samverkar.</a:t>
              </a:r>
            </a:p>
            <a:p>
              <a:endParaRPr lang="sv-SE" sz="1400"/>
            </a:p>
            <a:p>
              <a:r>
                <a:rPr lang="sv-SE" sz="1200" i="1"/>
                <a:t>Om en processor korrekt implementerar en ISA, kommer varje korrekt kompilerat program som är riktat mot denna ISA att exekveras korrekt på processorn.</a:t>
              </a:r>
            </a:p>
          </p:txBody>
        </p:sp>
      </p:grpSp>
      <p:sp>
        <p:nvSpPr>
          <p:cNvPr id="10" name="TextBox 9">
            <a:extLst>
              <a:ext uri="{FF2B5EF4-FFF2-40B4-BE49-F238E27FC236}">
                <a16:creationId xmlns:a16="http://schemas.microsoft.com/office/drawing/2014/main" id="{8E58017A-5C0F-8658-0425-4E92B38FC87C}"/>
              </a:ext>
            </a:extLst>
          </p:cNvPr>
          <p:cNvSpPr txBox="1"/>
          <p:nvPr/>
        </p:nvSpPr>
        <p:spPr>
          <a:xfrm>
            <a:off x="970583" y="2994267"/>
            <a:ext cx="2058577" cy="830997"/>
          </a:xfrm>
          <a:prstGeom prst="rect">
            <a:avLst/>
          </a:prstGeom>
          <a:noFill/>
          <a:ln>
            <a:solidFill>
              <a:schemeClr val="accent1">
                <a:shade val="15000"/>
              </a:schemeClr>
            </a:solidFill>
          </a:ln>
        </p:spPr>
        <p:txBody>
          <a:bodyPr wrap="none" rtlCol="0">
            <a:spAutoFit/>
          </a:bodyPr>
          <a:lstStyle/>
          <a:p>
            <a:pPr algn="ctr"/>
            <a:r>
              <a:rPr lang="sv-SE"/>
              <a:t>(Intel/AMD) x86</a:t>
            </a:r>
          </a:p>
          <a:p>
            <a:pPr algn="ctr"/>
            <a:r>
              <a:rPr lang="sv-SE" sz="1400"/>
              <a:t>1978 -</a:t>
            </a:r>
          </a:p>
          <a:p>
            <a:pPr algn="ctr"/>
            <a:r>
              <a:rPr lang="sv-SE" sz="800">
                <a:solidFill>
                  <a:srgbClr val="C00000"/>
                </a:solidFill>
              </a:rPr>
              <a:t>only AMD and Intel are allowed to use</a:t>
            </a:r>
          </a:p>
          <a:p>
            <a:pPr algn="ctr"/>
            <a:r>
              <a:rPr lang="sv-SE" sz="800"/>
              <a:t>(persondatorer, servers, hpc workstations)</a:t>
            </a:r>
            <a:endParaRPr lang="LID4096" sz="800"/>
          </a:p>
        </p:txBody>
      </p:sp>
      <p:sp>
        <p:nvSpPr>
          <p:cNvPr id="11" name="TextBox 10">
            <a:extLst>
              <a:ext uri="{FF2B5EF4-FFF2-40B4-BE49-F238E27FC236}">
                <a16:creationId xmlns:a16="http://schemas.microsoft.com/office/drawing/2014/main" id="{275C7C2D-D5E8-95AF-9999-94C8F7998130}"/>
              </a:ext>
            </a:extLst>
          </p:cNvPr>
          <p:cNvSpPr txBox="1"/>
          <p:nvPr/>
        </p:nvSpPr>
        <p:spPr>
          <a:xfrm>
            <a:off x="1402111" y="4717961"/>
            <a:ext cx="2270173" cy="954107"/>
          </a:xfrm>
          <a:prstGeom prst="rect">
            <a:avLst/>
          </a:prstGeom>
          <a:noFill/>
          <a:ln>
            <a:solidFill>
              <a:schemeClr val="accent1">
                <a:shade val="15000"/>
              </a:schemeClr>
            </a:solidFill>
          </a:ln>
        </p:spPr>
        <p:txBody>
          <a:bodyPr wrap="none" rtlCol="0">
            <a:spAutoFit/>
          </a:bodyPr>
          <a:lstStyle/>
          <a:p>
            <a:pPr algn="ctr"/>
            <a:r>
              <a:rPr lang="sv-SE"/>
              <a:t>ARM</a:t>
            </a:r>
          </a:p>
          <a:p>
            <a:pPr algn="ctr"/>
            <a:r>
              <a:rPr lang="sv-SE" sz="1400"/>
              <a:t>1985 -</a:t>
            </a:r>
          </a:p>
          <a:p>
            <a:pPr algn="ctr"/>
            <a:r>
              <a:rPr lang="sv-SE" sz="800">
                <a:solidFill>
                  <a:srgbClr val="C00000"/>
                </a:solidFill>
              </a:rPr>
              <a:t>pay licence to ARM if you want to use</a:t>
            </a:r>
            <a:br>
              <a:rPr lang="sv-SE" sz="800">
                <a:solidFill>
                  <a:srgbClr val="C00000"/>
                </a:solidFill>
              </a:rPr>
            </a:br>
            <a:r>
              <a:rPr lang="sv-SE" sz="800"/>
              <a:t>(phones, tablets, embedded, IoT, servers, mac)</a:t>
            </a:r>
            <a:endParaRPr lang="LID4096" sz="800"/>
          </a:p>
          <a:p>
            <a:pPr algn="ctr"/>
            <a:endParaRPr lang="LID4096" sz="800"/>
          </a:p>
        </p:txBody>
      </p:sp>
      <p:sp>
        <p:nvSpPr>
          <p:cNvPr id="12" name="TextBox 11">
            <a:extLst>
              <a:ext uri="{FF2B5EF4-FFF2-40B4-BE49-F238E27FC236}">
                <a16:creationId xmlns:a16="http://schemas.microsoft.com/office/drawing/2014/main" id="{33C8DBD8-47FC-21BC-8F5A-589949D6585A}"/>
              </a:ext>
            </a:extLst>
          </p:cNvPr>
          <p:cNvSpPr txBox="1"/>
          <p:nvPr/>
        </p:nvSpPr>
        <p:spPr>
          <a:xfrm>
            <a:off x="4431192" y="4990786"/>
            <a:ext cx="2861681" cy="1600438"/>
          </a:xfrm>
          <a:prstGeom prst="rect">
            <a:avLst/>
          </a:prstGeom>
          <a:noFill/>
          <a:ln w="25400">
            <a:solidFill>
              <a:schemeClr val="accent1">
                <a:shade val="15000"/>
              </a:schemeClr>
            </a:solidFill>
          </a:ln>
        </p:spPr>
        <p:txBody>
          <a:bodyPr wrap="none" rtlCol="0">
            <a:spAutoFit/>
          </a:bodyPr>
          <a:lstStyle/>
          <a:p>
            <a:pPr algn="ctr"/>
            <a:r>
              <a:rPr lang="sv-SE" sz="2800"/>
              <a:t>RISC-V</a:t>
            </a:r>
          </a:p>
          <a:p>
            <a:pPr algn="ctr"/>
            <a:r>
              <a:rPr lang="sv-SE" sz="2800"/>
              <a:t>2010 - </a:t>
            </a:r>
          </a:p>
          <a:p>
            <a:pPr algn="ctr"/>
            <a:r>
              <a:rPr lang="sv-SE" sz="1050" b="1">
                <a:solidFill>
                  <a:schemeClr val="accent6">
                    <a:lumMod val="75000"/>
                  </a:schemeClr>
                </a:solidFill>
              </a:rPr>
              <a:t>free to use for anyone</a:t>
            </a:r>
          </a:p>
          <a:p>
            <a:pPr algn="ctr"/>
            <a:r>
              <a:rPr lang="sv-SE" sz="1050"/>
              <a:t>(embedded systems, microcontrollers, </a:t>
            </a:r>
            <a:br>
              <a:rPr lang="sv-SE" sz="1050"/>
            </a:br>
            <a:r>
              <a:rPr lang="sv-SE" sz="1050"/>
              <a:t>domain-specific accelerators, men växer fort!)</a:t>
            </a:r>
            <a:br>
              <a:rPr lang="sv-SE" sz="1050">
                <a:solidFill>
                  <a:schemeClr val="accent6">
                    <a:lumMod val="75000"/>
                  </a:schemeClr>
                </a:solidFill>
              </a:rPr>
            </a:br>
            <a:endParaRPr lang="LID4096" sz="1050"/>
          </a:p>
        </p:txBody>
      </p:sp>
      <p:sp>
        <p:nvSpPr>
          <p:cNvPr id="14" name="TextBox 13">
            <a:extLst>
              <a:ext uri="{FF2B5EF4-FFF2-40B4-BE49-F238E27FC236}">
                <a16:creationId xmlns:a16="http://schemas.microsoft.com/office/drawing/2014/main" id="{A7649859-9520-FB0E-B5E0-BFA01DA052C9}"/>
              </a:ext>
            </a:extLst>
          </p:cNvPr>
          <p:cNvSpPr txBox="1"/>
          <p:nvPr/>
        </p:nvSpPr>
        <p:spPr>
          <a:xfrm>
            <a:off x="8122279" y="4717961"/>
            <a:ext cx="1387816" cy="892552"/>
          </a:xfrm>
          <a:prstGeom prst="rect">
            <a:avLst/>
          </a:prstGeom>
          <a:noFill/>
          <a:ln>
            <a:solidFill>
              <a:schemeClr val="accent1">
                <a:shade val="15000"/>
              </a:schemeClr>
            </a:solidFill>
          </a:ln>
        </p:spPr>
        <p:txBody>
          <a:bodyPr wrap="none" rtlCol="0">
            <a:spAutoFit/>
          </a:bodyPr>
          <a:lstStyle/>
          <a:p>
            <a:pPr algn="ctr"/>
            <a:r>
              <a:rPr lang="sv-SE"/>
              <a:t>IBM POWER</a:t>
            </a:r>
          </a:p>
          <a:p>
            <a:pPr algn="ctr"/>
            <a:r>
              <a:rPr lang="sv-SE"/>
              <a:t>1990 -</a:t>
            </a:r>
            <a:br>
              <a:rPr lang="sv-SE"/>
            </a:br>
            <a:r>
              <a:rPr lang="sv-SE" sz="800">
                <a:solidFill>
                  <a:srgbClr val="C00000"/>
                </a:solidFill>
              </a:rPr>
              <a:t>only IBM uses (these days)</a:t>
            </a:r>
          </a:p>
          <a:p>
            <a:pPr algn="ctr"/>
            <a:r>
              <a:rPr lang="sv-SE" sz="800"/>
              <a:t>(enterprise servers, hpc)</a:t>
            </a:r>
            <a:endParaRPr lang="LID4096" sz="800"/>
          </a:p>
        </p:txBody>
      </p:sp>
      <p:cxnSp>
        <p:nvCxnSpPr>
          <p:cNvPr id="17" name="Straight Connector 16">
            <a:extLst>
              <a:ext uri="{FF2B5EF4-FFF2-40B4-BE49-F238E27FC236}">
                <a16:creationId xmlns:a16="http://schemas.microsoft.com/office/drawing/2014/main" id="{1E35DC7E-0D25-BA9E-5C00-1BE4C451C227}"/>
              </a:ext>
            </a:extLst>
          </p:cNvPr>
          <p:cNvCxnSpPr>
            <a:stCxn id="10" idx="3"/>
            <a:endCxn id="4" idx="1"/>
          </p:cNvCxnSpPr>
          <p:nvPr/>
        </p:nvCxnSpPr>
        <p:spPr>
          <a:xfrm flipV="1">
            <a:off x="3029160" y="3178935"/>
            <a:ext cx="1044856" cy="2308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308C926A-4ACA-8F21-17C3-A97AC7A7D009}"/>
              </a:ext>
            </a:extLst>
          </p:cNvPr>
          <p:cNvCxnSpPr>
            <a:cxnSpLocks/>
            <a:stCxn id="11" idx="3"/>
          </p:cNvCxnSpPr>
          <p:nvPr/>
        </p:nvCxnSpPr>
        <p:spPr>
          <a:xfrm flipV="1">
            <a:off x="3672284" y="4426038"/>
            <a:ext cx="573451" cy="7689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7D22BD50-4A2E-8E1A-46A4-13DA4E575C36}"/>
              </a:ext>
            </a:extLst>
          </p:cNvPr>
          <p:cNvCxnSpPr>
            <a:cxnSpLocks/>
            <a:stCxn id="12" idx="0"/>
            <a:endCxn id="4" idx="2"/>
          </p:cNvCxnSpPr>
          <p:nvPr/>
        </p:nvCxnSpPr>
        <p:spPr>
          <a:xfrm flipV="1">
            <a:off x="5862033" y="4426038"/>
            <a:ext cx="0" cy="56474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B9F1DA2-1C63-DDEF-7523-431D5F99F46B}"/>
              </a:ext>
            </a:extLst>
          </p:cNvPr>
          <p:cNvCxnSpPr>
            <a:cxnSpLocks/>
            <a:stCxn id="14" idx="0"/>
          </p:cNvCxnSpPr>
          <p:nvPr/>
        </p:nvCxnSpPr>
        <p:spPr>
          <a:xfrm flipH="1" flipV="1">
            <a:off x="7650050" y="4177048"/>
            <a:ext cx="1166137" cy="54091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6BFCCE86-ABA5-2E90-CDAA-CFA104A9CBFD}"/>
              </a:ext>
            </a:extLst>
          </p:cNvPr>
          <p:cNvPicPr>
            <a:picLocks noChangeAspect="1"/>
          </p:cNvPicPr>
          <p:nvPr/>
        </p:nvPicPr>
        <p:blipFill>
          <a:blip r:embed="rId3"/>
          <a:stretch>
            <a:fillRect/>
          </a:stretch>
        </p:blipFill>
        <p:spPr>
          <a:xfrm>
            <a:off x="10153968" y="3579044"/>
            <a:ext cx="1742237" cy="3278956"/>
          </a:xfrm>
          <a:prstGeom prst="rect">
            <a:avLst/>
          </a:prstGeom>
        </p:spPr>
      </p:pic>
      <p:grpSp>
        <p:nvGrpSpPr>
          <p:cNvPr id="23" name="Group 22">
            <a:extLst>
              <a:ext uri="{FF2B5EF4-FFF2-40B4-BE49-F238E27FC236}">
                <a16:creationId xmlns:a16="http://schemas.microsoft.com/office/drawing/2014/main" id="{C3F7B7F0-3E0D-7D25-B7E6-6048A1D080D4}"/>
              </a:ext>
            </a:extLst>
          </p:cNvPr>
          <p:cNvGrpSpPr/>
          <p:nvPr/>
        </p:nvGrpSpPr>
        <p:grpSpPr>
          <a:xfrm>
            <a:off x="7950775" y="4077166"/>
            <a:ext cx="2465652" cy="2814106"/>
            <a:chOff x="7950775" y="4077166"/>
            <a:chExt cx="2465652" cy="2814106"/>
          </a:xfrm>
        </p:grpSpPr>
        <p:sp>
          <p:nvSpPr>
            <p:cNvPr id="5" name="TextBox 4">
              <a:extLst>
                <a:ext uri="{FF2B5EF4-FFF2-40B4-BE49-F238E27FC236}">
                  <a16:creationId xmlns:a16="http://schemas.microsoft.com/office/drawing/2014/main" id="{0816B1D0-AF29-489F-A882-8B9A9472FA45}"/>
                </a:ext>
              </a:extLst>
            </p:cNvPr>
            <p:cNvSpPr txBox="1"/>
            <p:nvPr/>
          </p:nvSpPr>
          <p:spPr>
            <a:xfrm rot="1348636">
              <a:off x="9323771" y="4077166"/>
              <a:ext cx="946093"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kompilator</a:t>
              </a:r>
              <a:endParaRPr lang="LID4096" sz="1200">
                <a:latin typeface="Amasis MT Pro Medium" panose="02040604050005020304" pitchFamily="18" charset="0"/>
                <a:cs typeface="Aldhabi" panose="020F0502020204030204" pitchFamily="2" charset="-78"/>
              </a:endParaRPr>
            </a:p>
          </p:txBody>
        </p:sp>
        <p:sp>
          <p:nvSpPr>
            <p:cNvPr id="7" name="TextBox 6">
              <a:extLst>
                <a:ext uri="{FF2B5EF4-FFF2-40B4-BE49-F238E27FC236}">
                  <a16:creationId xmlns:a16="http://schemas.microsoft.com/office/drawing/2014/main" id="{61E777C6-FD08-31F7-DE38-0FEAA117B269}"/>
                </a:ext>
              </a:extLst>
            </p:cNvPr>
            <p:cNvSpPr txBox="1"/>
            <p:nvPr/>
          </p:nvSpPr>
          <p:spPr>
            <a:xfrm rot="898342">
              <a:off x="9067505" y="4385977"/>
              <a:ext cx="885179"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assembler</a:t>
              </a:r>
              <a:endParaRPr lang="LID4096" sz="1200">
                <a:latin typeface="Amasis MT Pro Medium" panose="02040604050005020304" pitchFamily="18" charset="0"/>
                <a:cs typeface="Aldhabi" panose="020F0502020204030204" pitchFamily="2" charset="-78"/>
              </a:endParaRPr>
            </a:p>
          </p:txBody>
        </p:sp>
        <p:sp>
          <p:nvSpPr>
            <p:cNvPr id="8" name="TextBox 7">
              <a:extLst>
                <a:ext uri="{FF2B5EF4-FFF2-40B4-BE49-F238E27FC236}">
                  <a16:creationId xmlns:a16="http://schemas.microsoft.com/office/drawing/2014/main" id="{3D2F8E5D-0737-CC5A-23F9-F5BC8FEAB65A}"/>
                </a:ext>
              </a:extLst>
            </p:cNvPr>
            <p:cNvSpPr txBox="1"/>
            <p:nvPr/>
          </p:nvSpPr>
          <p:spPr>
            <a:xfrm>
              <a:off x="9572124" y="4852287"/>
              <a:ext cx="704039"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länkare</a:t>
              </a:r>
              <a:endParaRPr lang="LID4096" sz="1200">
                <a:latin typeface="Amasis MT Pro Medium" panose="02040604050005020304" pitchFamily="18" charset="0"/>
                <a:cs typeface="Aldhabi" panose="020F0502020204030204" pitchFamily="2" charset="-78"/>
              </a:endParaRPr>
            </a:p>
          </p:txBody>
        </p:sp>
        <p:sp>
          <p:nvSpPr>
            <p:cNvPr id="13" name="TextBox 12">
              <a:extLst>
                <a:ext uri="{FF2B5EF4-FFF2-40B4-BE49-F238E27FC236}">
                  <a16:creationId xmlns:a16="http://schemas.microsoft.com/office/drawing/2014/main" id="{3EEF7C7E-6F3F-6736-381C-254925A2ADE5}"/>
                </a:ext>
              </a:extLst>
            </p:cNvPr>
            <p:cNvSpPr txBox="1"/>
            <p:nvPr/>
          </p:nvSpPr>
          <p:spPr>
            <a:xfrm rot="20820615">
              <a:off x="9156132" y="5396413"/>
              <a:ext cx="947695"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optimerare</a:t>
              </a:r>
              <a:endParaRPr lang="LID4096" sz="1200">
                <a:latin typeface="Amasis MT Pro Medium" panose="02040604050005020304" pitchFamily="18" charset="0"/>
                <a:cs typeface="Aldhabi" panose="020F0502020204030204" pitchFamily="2" charset="-78"/>
              </a:endParaRPr>
            </a:p>
          </p:txBody>
        </p:sp>
        <p:sp>
          <p:nvSpPr>
            <p:cNvPr id="16" name="TextBox 15">
              <a:extLst>
                <a:ext uri="{FF2B5EF4-FFF2-40B4-BE49-F238E27FC236}">
                  <a16:creationId xmlns:a16="http://schemas.microsoft.com/office/drawing/2014/main" id="{BC0259BB-87AF-CBA2-DC57-68766C804F85}"/>
                </a:ext>
              </a:extLst>
            </p:cNvPr>
            <p:cNvSpPr txBox="1"/>
            <p:nvPr/>
          </p:nvSpPr>
          <p:spPr>
            <a:xfrm rot="19570960">
              <a:off x="9431862" y="5853868"/>
              <a:ext cx="984565"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debug tools</a:t>
              </a:r>
              <a:endParaRPr lang="LID4096" sz="1200">
                <a:latin typeface="Amasis MT Pro Medium" panose="02040604050005020304" pitchFamily="18" charset="0"/>
                <a:cs typeface="Aldhabi" panose="020F0502020204030204" pitchFamily="2" charset="-78"/>
              </a:endParaRPr>
            </a:p>
          </p:txBody>
        </p:sp>
        <p:sp>
          <p:nvSpPr>
            <p:cNvPr id="19" name="TextBox 18">
              <a:extLst>
                <a:ext uri="{FF2B5EF4-FFF2-40B4-BE49-F238E27FC236}">
                  <a16:creationId xmlns:a16="http://schemas.microsoft.com/office/drawing/2014/main" id="{87EC8610-8433-6796-5D17-468199E06656}"/>
                </a:ext>
              </a:extLst>
            </p:cNvPr>
            <p:cNvSpPr txBox="1"/>
            <p:nvPr/>
          </p:nvSpPr>
          <p:spPr>
            <a:xfrm rot="20956128">
              <a:off x="7950775" y="5808202"/>
              <a:ext cx="1779654" cy="369332"/>
            </a:xfrm>
            <a:prstGeom prst="rect">
              <a:avLst/>
            </a:prstGeom>
            <a:noFill/>
          </p:spPr>
          <p:txBody>
            <a:bodyPr wrap="none" rtlCol="0">
              <a:spAutoFit/>
            </a:bodyPr>
            <a:lstStyle/>
            <a:p>
              <a:r>
                <a:rPr lang="sv-SE">
                  <a:latin typeface="Amasis MT Pro Medium" panose="02040604050005020304" pitchFamily="18" charset="0"/>
                  <a:cs typeface="Aldhabi" panose="020F0502020204030204" pitchFamily="2" charset="-78"/>
                </a:rPr>
                <a:t>operativsystem</a:t>
              </a:r>
              <a:endParaRPr lang="LID4096">
                <a:latin typeface="Amasis MT Pro Medium" panose="02040604050005020304" pitchFamily="18" charset="0"/>
                <a:cs typeface="Aldhabi" panose="020F0502020204030204" pitchFamily="2" charset="-78"/>
              </a:endParaRPr>
            </a:p>
          </p:txBody>
        </p:sp>
        <p:sp>
          <p:nvSpPr>
            <p:cNvPr id="20" name="TextBox 19">
              <a:extLst>
                <a:ext uri="{FF2B5EF4-FFF2-40B4-BE49-F238E27FC236}">
                  <a16:creationId xmlns:a16="http://schemas.microsoft.com/office/drawing/2014/main" id="{3EB1DBE7-7A68-18F8-EF44-A27F3AF1F79E}"/>
                </a:ext>
              </a:extLst>
            </p:cNvPr>
            <p:cNvSpPr txBox="1"/>
            <p:nvPr/>
          </p:nvSpPr>
          <p:spPr>
            <a:xfrm rot="18531493">
              <a:off x="9506006" y="6254560"/>
              <a:ext cx="934871" cy="338554"/>
            </a:xfrm>
            <a:prstGeom prst="rect">
              <a:avLst/>
            </a:prstGeom>
            <a:noFill/>
          </p:spPr>
          <p:txBody>
            <a:bodyPr wrap="none" rtlCol="0">
              <a:spAutoFit/>
            </a:bodyPr>
            <a:lstStyle/>
            <a:p>
              <a:r>
                <a:rPr lang="sv-SE" sz="1600">
                  <a:latin typeface="Amasis MT Pro Medium" panose="02040604050005020304" pitchFamily="18" charset="0"/>
                  <a:cs typeface="Aldhabi" panose="020F0502020204030204" pitchFamily="2" charset="-78"/>
                </a:rPr>
                <a:t>libraries</a:t>
              </a:r>
              <a:endParaRPr lang="LID4096" sz="1600">
                <a:latin typeface="Amasis MT Pro Medium" panose="02040604050005020304" pitchFamily="18" charset="0"/>
                <a:cs typeface="Aldhabi" panose="020F0502020204030204" pitchFamily="2" charset="-78"/>
              </a:endParaRPr>
            </a:p>
          </p:txBody>
        </p:sp>
        <p:sp>
          <p:nvSpPr>
            <p:cNvPr id="22" name="TextBox 21">
              <a:extLst>
                <a:ext uri="{FF2B5EF4-FFF2-40B4-BE49-F238E27FC236}">
                  <a16:creationId xmlns:a16="http://schemas.microsoft.com/office/drawing/2014/main" id="{49AB3843-85FC-7011-7F5A-1C2A2961543B}"/>
                </a:ext>
              </a:extLst>
            </p:cNvPr>
            <p:cNvSpPr txBox="1"/>
            <p:nvPr/>
          </p:nvSpPr>
          <p:spPr>
            <a:xfrm rot="20250798">
              <a:off x="9188034" y="6222204"/>
              <a:ext cx="314510"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a:t>
              </a:r>
              <a:endParaRPr lang="LID4096" sz="1200">
                <a:latin typeface="Amasis MT Pro Medium" panose="02040604050005020304" pitchFamily="18" charset="0"/>
                <a:cs typeface="Aldhabi" panose="020F0502020204030204" pitchFamily="2" charset="-78"/>
              </a:endParaRPr>
            </a:p>
          </p:txBody>
        </p:sp>
      </p:grpSp>
    </p:spTree>
    <p:extLst>
      <p:ext uri="{BB962C8B-B14F-4D97-AF65-F5344CB8AC3E}">
        <p14:creationId xmlns:p14="http://schemas.microsoft.com/office/powerpoint/2010/main" val="2980542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 calcmode="lin" valueType="num">
                                      <p:cBhvr>
                                        <p:cTn id="7" dur="500" fill="hold"/>
                                        <p:tgtEl>
                                          <p:spTgt spid="23"/>
                                        </p:tgtEl>
                                        <p:attrNameLst>
                                          <p:attrName>ppt_w</p:attrName>
                                        </p:attrNameLst>
                                      </p:cBhvr>
                                      <p:tavLst>
                                        <p:tav tm="0">
                                          <p:val>
                                            <p:fltVal val="0"/>
                                          </p:val>
                                        </p:tav>
                                        <p:tav tm="100000">
                                          <p:val>
                                            <p:strVal val="#ppt_w"/>
                                          </p:val>
                                        </p:tav>
                                      </p:tavLst>
                                    </p:anim>
                                    <p:anim calcmode="lin" valueType="num">
                                      <p:cBhvr>
                                        <p:cTn id="8" dur="500" fill="hold"/>
                                        <p:tgtEl>
                                          <p:spTgt spid="23"/>
                                        </p:tgtEl>
                                        <p:attrNameLst>
                                          <p:attrName>ppt_h</p:attrName>
                                        </p:attrNameLst>
                                      </p:cBhvr>
                                      <p:tavLst>
                                        <p:tav tm="0">
                                          <p:val>
                                            <p:fltVal val="0"/>
                                          </p:val>
                                        </p:tav>
                                        <p:tav tm="100000">
                                          <p:val>
                                            <p:strVal val="#ppt_h"/>
                                          </p:val>
                                        </p:tav>
                                      </p:tavLst>
                                    </p:anim>
                                    <p:animEffect transition="in" filter="fade">
                                      <p:cBhvr>
                                        <p:cTn id="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F4CC2-268B-7D8B-DDAB-B7D0B335BF6C}"/>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7DC37481-E257-ACC9-DAF8-51AA117B85A7}"/>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61EA4480-7CAA-128F-BEA8-4BDFEC38C065}"/>
                </a:ext>
              </a:extLst>
            </p:cNvPr>
            <p:cNvSpPr txBox="1"/>
            <p:nvPr/>
          </p:nvSpPr>
          <p:spPr>
            <a:xfrm>
              <a:off x="1094704" y="2902039"/>
              <a:ext cx="2637966" cy="1107996"/>
            </a:xfrm>
            <a:prstGeom prst="rect">
              <a:avLst/>
            </a:prstGeom>
            <a:noFill/>
            <a:ln>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E59D7982-D573-A2C4-078F-A0195402BCD0}"/>
                </a:ext>
              </a:extLst>
            </p:cNvPr>
            <p:cNvSpPr txBox="1"/>
            <p:nvPr/>
          </p:nvSpPr>
          <p:spPr>
            <a:xfrm>
              <a:off x="1103290" y="4157729"/>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96D3B81D-6BF1-2B41-337D-8809E81352DA}"/>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329009CC-E6EC-8B43-889F-8A8DD4F2C128}"/>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A02193A6-075C-CDEB-4620-E03200045CD7}"/>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7DEBB046-2878-C5D5-8E0A-0097029766E8}"/>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51A04108-47B1-952C-9332-748C54D37BEC}"/>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10FDE5F5-A1CD-CC06-4902-D2937CD9A3B6}"/>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6E75B604-891D-1429-ADB4-498EE3324632}"/>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47E457A7-B952-6D8E-7B0F-E8E8687E3850}"/>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BF5375BD-3991-5DD6-9A72-B1326722B92E}"/>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spTree>
    <p:extLst>
      <p:ext uri="{BB962C8B-B14F-4D97-AF65-F5344CB8AC3E}">
        <p14:creationId xmlns:p14="http://schemas.microsoft.com/office/powerpoint/2010/main" val="3305752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DB824-B7D5-1420-2D5D-DC0D40BF6C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FE794-0452-29A4-3CC1-A76A4FEE65BA}"/>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D050D185-AF5E-3658-98BF-BD3C9AD2F113}"/>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DD3C2649-0497-D07D-2D15-3FF0359A11E0}"/>
                </a:ext>
              </a:extLst>
            </p:cNvPr>
            <p:cNvSpPr txBox="1"/>
            <p:nvPr/>
          </p:nvSpPr>
          <p:spPr>
            <a:xfrm>
              <a:off x="1094704" y="2902039"/>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B73C5FFF-9B58-5F8D-5F90-E2E2D4856236}"/>
                </a:ext>
              </a:extLst>
            </p:cNvPr>
            <p:cNvSpPr txBox="1"/>
            <p:nvPr/>
          </p:nvSpPr>
          <p:spPr>
            <a:xfrm>
              <a:off x="1103290" y="4157729"/>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2A082149-EF03-EB06-7776-460C949E75C5}"/>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2751C767-1EF8-C3B5-B632-62DFAA4E0C7A}"/>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A9F304CA-01A6-E331-6DA9-0D022A67678E}"/>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A0760174-A6EA-A611-BB4C-6C111B5B5364}"/>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84A192C1-5317-C232-04F7-D7C1B615467C}"/>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3DF543E1-9E15-E153-8A1C-56981959A644}"/>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BCEBB976-DC7C-CE94-7662-38E2365F112C}"/>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F917B71F-5AA9-FFA8-FF32-AD2E42BCE6DE}"/>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53283749-CB03-C7E5-B558-65ADA989BE74}"/>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242F5784-52EF-2784-DAC6-938E797FA597}"/>
              </a:ext>
            </a:extLst>
          </p:cNvPr>
          <p:cNvPicPr>
            <a:picLocks noChangeAspect="1"/>
          </p:cNvPicPr>
          <p:nvPr/>
        </p:nvPicPr>
        <p:blipFill>
          <a:blip r:embed="rId2"/>
          <a:stretch>
            <a:fillRect/>
          </a:stretch>
        </p:blipFill>
        <p:spPr>
          <a:xfrm>
            <a:off x="8114157" y="2563531"/>
            <a:ext cx="2198772" cy="3437992"/>
          </a:xfrm>
          <a:prstGeom prst="rect">
            <a:avLst/>
          </a:prstGeom>
        </p:spPr>
      </p:pic>
    </p:spTree>
    <p:extLst>
      <p:ext uri="{BB962C8B-B14F-4D97-AF65-F5344CB8AC3E}">
        <p14:creationId xmlns:p14="http://schemas.microsoft.com/office/powerpoint/2010/main" val="3797489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1716A-90F3-0E2E-BDB2-62B1D1940E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BF8630-3C2E-6423-7130-C03194FBC9FC}"/>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27EB737E-3995-6A9D-8F6A-80D0DEFF1B6C}"/>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5ABC8C79-42E5-4E1F-F5CB-652ADE91CA8B}"/>
                </a:ext>
              </a:extLst>
            </p:cNvPr>
            <p:cNvSpPr txBox="1"/>
            <p:nvPr/>
          </p:nvSpPr>
          <p:spPr>
            <a:xfrm>
              <a:off x="1094704" y="2902039"/>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2DA73CD3-48DF-B457-4E9D-CCF4911AA11B}"/>
                </a:ext>
              </a:extLst>
            </p:cNvPr>
            <p:cNvSpPr txBox="1"/>
            <p:nvPr/>
          </p:nvSpPr>
          <p:spPr>
            <a:xfrm>
              <a:off x="1103290" y="4157729"/>
              <a:ext cx="2637966" cy="1107996"/>
            </a:xfrm>
            <a:prstGeom prst="rect">
              <a:avLst/>
            </a:prstGeom>
            <a:noFill/>
            <a:ln w="9525">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A108D2AE-725A-EE92-F312-82B758260B15}"/>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6C86352A-B928-D066-3596-F0A80AB90BD0}"/>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88136CDE-8603-49F2-A33E-3B6063EF9BC0}"/>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BDFED03E-1E58-6137-0453-C6DA6FA777D7}"/>
              </a:ext>
            </a:extLst>
          </p:cNvPr>
          <p:cNvSpPr txBox="1"/>
          <p:nvPr/>
        </p:nvSpPr>
        <p:spPr>
          <a:xfrm>
            <a:off x="4149143" y="2616558"/>
            <a:ext cx="2303579" cy="738664"/>
          </a:xfrm>
          <a:prstGeom prst="rect">
            <a:avLst/>
          </a:prstGeom>
          <a:noFill/>
          <a:ln w="3810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92F95B7D-3EB7-C9B8-0207-9A5E3DD0D184}"/>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7AAC637C-B39A-43A9-222B-1A4FE862D895}"/>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F24FE69C-D2D2-C69F-9AF5-DC13C2FD640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E0B482A5-CD19-0674-4E70-1B4518795130}"/>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A5C294E2-09DE-FBCF-22C1-BA19415CE11B}"/>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4F82B5EA-973B-D5FE-6706-3BDBBBC863C0}"/>
              </a:ext>
            </a:extLst>
          </p:cNvPr>
          <p:cNvPicPr>
            <a:picLocks noChangeAspect="1"/>
          </p:cNvPicPr>
          <p:nvPr/>
        </p:nvPicPr>
        <p:blipFill>
          <a:blip r:embed="rId2"/>
          <a:stretch>
            <a:fillRect/>
          </a:stretch>
        </p:blipFill>
        <p:spPr>
          <a:xfrm>
            <a:off x="7660567" y="2549757"/>
            <a:ext cx="3436141" cy="3499383"/>
          </a:xfrm>
          <a:prstGeom prst="rect">
            <a:avLst/>
          </a:prstGeom>
        </p:spPr>
      </p:pic>
    </p:spTree>
    <p:extLst>
      <p:ext uri="{BB962C8B-B14F-4D97-AF65-F5344CB8AC3E}">
        <p14:creationId xmlns:p14="http://schemas.microsoft.com/office/powerpoint/2010/main" val="145706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BA57C-48E8-EFA5-FF28-84CF466A8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2ACA59-3775-C5D4-CD91-A685EAC26D94}"/>
              </a:ext>
            </a:extLst>
          </p:cNvPr>
          <p:cNvSpPr>
            <a:spLocks noGrp="1"/>
          </p:cNvSpPr>
          <p:nvPr>
            <p:ph type="title"/>
          </p:nvPr>
        </p:nvSpPr>
        <p:spPr/>
        <p:txBody>
          <a:bodyPr/>
          <a:lstStyle/>
          <a:p>
            <a:r>
              <a:rPr lang="sv-SE"/>
              <a:t>RISC-V - Varianter och extensions</a:t>
            </a:r>
            <a:endParaRPr lang="LID4096"/>
          </a:p>
        </p:txBody>
      </p:sp>
      <p:sp>
        <p:nvSpPr>
          <p:cNvPr id="4" name="TextBox 3">
            <a:extLst>
              <a:ext uri="{FF2B5EF4-FFF2-40B4-BE49-F238E27FC236}">
                <a16:creationId xmlns:a16="http://schemas.microsoft.com/office/drawing/2014/main" id="{AF5FB873-2FE1-2093-7BF4-C7A924176614}"/>
              </a:ext>
            </a:extLst>
          </p:cNvPr>
          <p:cNvSpPr txBox="1"/>
          <p:nvPr/>
        </p:nvSpPr>
        <p:spPr>
          <a:xfrm>
            <a:off x="1038895" y="2726028"/>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E0700BA5-CE8E-E990-328C-A656605116EB}"/>
              </a:ext>
            </a:extLst>
          </p:cNvPr>
          <p:cNvSpPr txBox="1"/>
          <p:nvPr/>
        </p:nvSpPr>
        <p:spPr>
          <a:xfrm>
            <a:off x="1047481" y="3981718"/>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7470607A-9E04-1AF7-16E9-F1B679A6B049}"/>
              </a:ext>
            </a:extLst>
          </p:cNvPr>
          <p:cNvSpPr txBox="1"/>
          <p:nvPr/>
        </p:nvSpPr>
        <p:spPr>
          <a:xfrm>
            <a:off x="1038895" y="5237408"/>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02A6EC28-845F-779E-CF5D-A7D29B01A5E4}"/>
              </a:ext>
            </a:extLst>
          </p:cNvPr>
          <p:cNvSpPr txBox="1"/>
          <p:nvPr/>
        </p:nvSpPr>
        <p:spPr>
          <a:xfrm>
            <a:off x="940157" y="2194199"/>
            <a:ext cx="1257973" cy="369332"/>
          </a:xfrm>
          <a:prstGeom prst="rect">
            <a:avLst/>
          </a:prstGeom>
          <a:noFill/>
        </p:spPr>
        <p:txBody>
          <a:bodyPr wrap="none" rtlCol="0">
            <a:spAutoFit/>
          </a:bodyPr>
          <a:lstStyle/>
          <a:p>
            <a:r>
              <a:rPr lang="sv-SE" b="1"/>
              <a:t>Varianter: </a:t>
            </a:r>
            <a:endParaRPr lang="LID4096" b="1"/>
          </a:p>
        </p:txBody>
      </p:sp>
      <p:sp>
        <p:nvSpPr>
          <p:cNvPr id="9" name="TextBox 8">
            <a:extLst>
              <a:ext uri="{FF2B5EF4-FFF2-40B4-BE49-F238E27FC236}">
                <a16:creationId xmlns:a16="http://schemas.microsoft.com/office/drawing/2014/main" id="{93DF3838-5520-DF98-6ED0-30DFAFE7A37C}"/>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E3BDE782-B4E9-FB35-3B5E-F2EE00B1B2EE}"/>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3B1A9FDB-4D0A-9B1B-AA74-4FD368B2A2A0}"/>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D396C03A-8069-EC42-BCCC-4F4DB96A3F01}"/>
              </a:ext>
            </a:extLst>
          </p:cNvPr>
          <p:cNvSpPr txBox="1"/>
          <p:nvPr/>
        </p:nvSpPr>
        <p:spPr>
          <a:xfrm>
            <a:off x="4149142" y="4199940"/>
            <a:ext cx="2115387" cy="553998"/>
          </a:xfrm>
          <a:prstGeom prst="rect">
            <a:avLst/>
          </a:prstGeom>
          <a:noFill/>
          <a:ln w="3810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33337E76-6358-918B-437E-52347B726D4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71FE78F3-C704-627E-66A8-1F981E580A4D}"/>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E504ED8A-D317-54D4-8497-CB72E3A1C45D}"/>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8FC8F4F6-E762-B746-00E6-0274B1C0A5B0}"/>
              </a:ext>
            </a:extLst>
          </p:cNvPr>
          <p:cNvPicPr>
            <a:picLocks noChangeAspect="1"/>
          </p:cNvPicPr>
          <p:nvPr/>
        </p:nvPicPr>
        <p:blipFill>
          <a:blip r:embed="rId2"/>
          <a:stretch>
            <a:fillRect/>
          </a:stretch>
        </p:blipFill>
        <p:spPr>
          <a:xfrm>
            <a:off x="7927916" y="2320344"/>
            <a:ext cx="2734691" cy="4051394"/>
          </a:xfrm>
          <a:prstGeom prst="rect">
            <a:avLst/>
          </a:prstGeom>
        </p:spPr>
      </p:pic>
    </p:spTree>
    <p:extLst>
      <p:ext uri="{BB962C8B-B14F-4D97-AF65-F5344CB8AC3E}">
        <p14:creationId xmlns:p14="http://schemas.microsoft.com/office/powerpoint/2010/main" val="2376519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D9D8-04B3-516B-976C-9FE6F44A09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9437D-4523-3FD0-1D85-4FA40F6B56D8}"/>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46BBD32A-633F-3ABC-E161-1FF186BBD275}"/>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2425BCF4-B9C0-4B84-3221-01E2146FFD50}"/>
                </a:ext>
              </a:extLst>
            </p:cNvPr>
            <p:cNvSpPr txBox="1"/>
            <p:nvPr/>
          </p:nvSpPr>
          <p:spPr>
            <a:xfrm>
              <a:off x="1094704" y="2902039"/>
              <a:ext cx="2637966" cy="1107996"/>
            </a:xfrm>
            <a:prstGeom prst="rect">
              <a:avLst/>
            </a:prstGeom>
            <a:noFill/>
            <a:ln>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8DE9CF07-B484-48DD-27EC-A3AC371891E9}"/>
                </a:ext>
              </a:extLst>
            </p:cNvPr>
            <p:cNvSpPr txBox="1"/>
            <p:nvPr/>
          </p:nvSpPr>
          <p:spPr>
            <a:xfrm>
              <a:off x="1103290" y="4157729"/>
              <a:ext cx="2637966" cy="1107996"/>
            </a:xfrm>
            <a:prstGeom prst="rect">
              <a:avLst/>
            </a:prstGeom>
            <a:noFill/>
            <a:ln w="38100">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0F630510-E3A8-D1CE-9676-4C62C2AA38CA}"/>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1E510D80-E265-0294-19B7-79D09E026A1A}"/>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04C527F1-6D12-6778-7403-B9B701231078}"/>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32BB911A-09F4-F5AB-1588-2C046D83859F}"/>
              </a:ext>
            </a:extLst>
          </p:cNvPr>
          <p:cNvSpPr txBox="1"/>
          <p:nvPr/>
        </p:nvSpPr>
        <p:spPr>
          <a:xfrm>
            <a:off x="4149143" y="2616558"/>
            <a:ext cx="2303579" cy="738664"/>
          </a:xfrm>
          <a:prstGeom prst="rect">
            <a:avLst/>
          </a:prstGeom>
          <a:noFill/>
          <a:ln w="1905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B34D4B3B-C690-47C9-2311-248C73483E8E}"/>
              </a:ext>
            </a:extLst>
          </p:cNvPr>
          <p:cNvSpPr txBox="1"/>
          <p:nvPr/>
        </p:nvSpPr>
        <p:spPr>
          <a:xfrm>
            <a:off x="4149142" y="3408249"/>
            <a:ext cx="2415790" cy="738664"/>
          </a:xfrm>
          <a:prstGeom prst="rect">
            <a:avLst/>
          </a:prstGeom>
          <a:noFill/>
          <a:ln w="38100">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8DFE855F-0B6A-0F44-DDAD-316182D07CA7}"/>
              </a:ext>
            </a:extLst>
          </p:cNvPr>
          <p:cNvSpPr txBox="1"/>
          <p:nvPr/>
        </p:nvSpPr>
        <p:spPr>
          <a:xfrm>
            <a:off x="4149142" y="4199940"/>
            <a:ext cx="2115387" cy="553998"/>
          </a:xfrm>
          <a:prstGeom prst="rect">
            <a:avLst/>
          </a:prstGeom>
          <a:noFill/>
          <a:ln w="1905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C57E56FE-12FF-9F86-B2E6-F054757359E2}"/>
              </a:ext>
            </a:extLst>
          </p:cNvPr>
          <p:cNvSpPr txBox="1"/>
          <p:nvPr/>
        </p:nvSpPr>
        <p:spPr>
          <a:xfrm>
            <a:off x="4149141" y="5413990"/>
            <a:ext cx="1686231" cy="369332"/>
          </a:xfrm>
          <a:prstGeom prst="rect">
            <a:avLst/>
          </a:prstGeom>
          <a:noFill/>
          <a:ln w="38100">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596DFF2F-8730-F7D7-1AD5-DC46A7AC3F60}"/>
              </a:ext>
            </a:extLst>
          </p:cNvPr>
          <p:cNvSpPr txBox="1"/>
          <p:nvPr/>
        </p:nvSpPr>
        <p:spPr>
          <a:xfrm>
            <a:off x="4149141" y="4868076"/>
            <a:ext cx="1789144" cy="369332"/>
          </a:xfrm>
          <a:prstGeom prst="rect">
            <a:avLst/>
          </a:prstGeom>
          <a:noFill/>
          <a:ln w="38100">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19B04B6B-A4FF-3E86-C321-45E65B5265A7}"/>
              </a:ext>
            </a:extLst>
          </p:cNvPr>
          <p:cNvSpPr txBox="1"/>
          <p:nvPr/>
        </p:nvSpPr>
        <p:spPr>
          <a:xfrm>
            <a:off x="4139981" y="5864474"/>
            <a:ext cx="391454" cy="369332"/>
          </a:xfrm>
          <a:prstGeom prst="rect">
            <a:avLst/>
          </a:prstGeom>
          <a:noFill/>
          <a:ln w="38100">
            <a:solidFill>
              <a:schemeClr val="tx1"/>
            </a:solidFill>
          </a:ln>
        </p:spPr>
        <p:txBody>
          <a:bodyPr wrap="none" rtlCol="0">
            <a:spAutoFit/>
          </a:bodyPr>
          <a:lstStyle/>
          <a:p>
            <a:r>
              <a:rPr lang="sv-SE" b="1"/>
              <a:t>...</a:t>
            </a:r>
            <a:endParaRPr lang="LID4096" sz="1200"/>
          </a:p>
        </p:txBody>
      </p:sp>
      <p:pic>
        <p:nvPicPr>
          <p:cNvPr id="18" name="Picture 17">
            <a:extLst>
              <a:ext uri="{FF2B5EF4-FFF2-40B4-BE49-F238E27FC236}">
                <a16:creationId xmlns:a16="http://schemas.microsoft.com/office/drawing/2014/main" id="{776E6634-328D-E3AC-8731-01B1F36D4266}"/>
              </a:ext>
            </a:extLst>
          </p:cNvPr>
          <p:cNvPicPr>
            <a:picLocks noChangeAspect="1"/>
          </p:cNvPicPr>
          <p:nvPr/>
        </p:nvPicPr>
        <p:blipFill>
          <a:blip r:embed="rId2"/>
          <a:stretch>
            <a:fillRect/>
          </a:stretch>
        </p:blipFill>
        <p:spPr>
          <a:xfrm>
            <a:off x="7583186" y="2736561"/>
            <a:ext cx="3900476" cy="3312579"/>
          </a:xfrm>
          <a:prstGeom prst="rect">
            <a:avLst/>
          </a:prstGeom>
        </p:spPr>
      </p:pic>
    </p:spTree>
    <p:extLst>
      <p:ext uri="{BB962C8B-B14F-4D97-AF65-F5344CB8AC3E}">
        <p14:creationId xmlns:p14="http://schemas.microsoft.com/office/powerpoint/2010/main" val="20696435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8932D-CEE0-174C-7244-37E8407A14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7E9910-EBC5-44BE-0430-816AEF3BF51E}"/>
              </a:ext>
            </a:extLst>
          </p:cNvPr>
          <p:cNvSpPr>
            <a:spLocks noGrp="1"/>
          </p:cNvSpPr>
          <p:nvPr>
            <p:ph type="title"/>
          </p:nvPr>
        </p:nvSpPr>
        <p:spPr/>
        <p:txBody>
          <a:bodyPr/>
          <a:lstStyle/>
          <a:p>
            <a:r>
              <a:rPr lang="sv-SE"/>
              <a:t>RISC-V - Varianter och extensions</a:t>
            </a:r>
            <a:endParaRPr lang="LID4096"/>
          </a:p>
        </p:txBody>
      </p:sp>
      <p:sp>
        <p:nvSpPr>
          <p:cNvPr id="4" name="TextBox 3">
            <a:extLst>
              <a:ext uri="{FF2B5EF4-FFF2-40B4-BE49-F238E27FC236}">
                <a16:creationId xmlns:a16="http://schemas.microsoft.com/office/drawing/2014/main" id="{0A1FBD34-F8D3-6EA4-C03D-EA411D2899C2}"/>
              </a:ext>
            </a:extLst>
          </p:cNvPr>
          <p:cNvSpPr txBox="1"/>
          <p:nvPr/>
        </p:nvSpPr>
        <p:spPr>
          <a:xfrm>
            <a:off x="1038895" y="2726028"/>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4EDA932E-F65E-A433-E3AC-3E23F60FDCA5}"/>
              </a:ext>
            </a:extLst>
          </p:cNvPr>
          <p:cNvSpPr txBox="1"/>
          <p:nvPr/>
        </p:nvSpPr>
        <p:spPr>
          <a:xfrm>
            <a:off x="1047481" y="3981718"/>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2EA0D389-DB9F-3094-6239-561E42144B49}"/>
              </a:ext>
            </a:extLst>
          </p:cNvPr>
          <p:cNvSpPr txBox="1"/>
          <p:nvPr/>
        </p:nvSpPr>
        <p:spPr>
          <a:xfrm>
            <a:off x="1038895" y="5237408"/>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67F9D9FD-E408-5741-CEA8-4CD964CC397A}"/>
              </a:ext>
            </a:extLst>
          </p:cNvPr>
          <p:cNvSpPr txBox="1"/>
          <p:nvPr/>
        </p:nvSpPr>
        <p:spPr>
          <a:xfrm>
            <a:off x="940157" y="2194199"/>
            <a:ext cx="1257973" cy="369332"/>
          </a:xfrm>
          <a:prstGeom prst="rect">
            <a:avLst/>
          </a:prstGeom>
          <a:noFill/>
        </p:spPr>
        <p:txBody>
          <a:bodyPr wrap="none" rtlCol="0">
            <a:spAutoFit/>
          </a:bodyPr>
          <a:lstStyle/>
          <a:p>
            <a:r>
              <a:rPr lang="sv-SE" b="1"/>
              <a:t>Varianter: </a:t>
            </a:r>
            <a:endParaRPr lang="LID4096" b="1"/>
          </a:p>
        </p:txBody>
      </p:sp>
      <p:sp>
        <p:nvSpPr>
          <p:cNvPr id="9" name="TextBox 8">
            <a:extLst>
              <a:ext uri="{FF2B5EF4-FFF2-40B4-BE49-F238E27FC236}">
                <a16:creationId xmlns:a16="http://schemas.microsoft.com/office/drawing/2014/main" id="{A8A1DD06-AD6C-DAB1-B9D1-FBC83038200D}"/>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C1E6E42B-D78A-5E43-787C-48C6BB813DEA}"/>
              </a:ext>
            </a:extLst>
          </p:cNvPr>
          <p:cNvSpPr txBox="1"/>
          <p:nvPr/>
        </p:nvSpPr>
        <p:spPr>
          <a:xfrm>
            <a:off x="4149143" y="2616558"/>
            <a:ext cx="2303579" cy="738664"/>
          </a:xfrm>
          <a:prstGeom prst="rect">
            <a:avLst/>
          </a:prstGeom>
          <a:noFill/>
          <a:ln w="3810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53D3C6AF-8ED8-EA7A-B593-546178DFA43B}"/>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A50380B0-4449-ADE9-79AF-F5DD24BA0FCC}"/>
              </a:ext>
            </a:extLst>
          </p:cNvPr>
          <p:cNvSpPr txBox="1"/>
          <p:nvPr/>
        </p:nvSpPr>
        <p:spPr>
          <a:xfrm>
            <a:off x="4149142" y="4199940"/>
            <a:ext cx="2115387" cy="553998"/>
          </a:xfrm>
          <a:prstGeom prst="rect">
            <a:avLst/>
          </a:prstGeom>
          <a:noFill/>
          <a:ln w="3810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6365596B-B532-92CC-CD33-A4E6D07DE92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63A174B0-9C09-8530-6241-37D8765C8D7F}"/>
              </a:ext>
            </a:extLst>
          </p:cNvPr>
          <p:cNvSpPr txBox="1"/>
          <p:nvPr/>
        </p:nvSpPr>
        <p:spPr>
          <a:xfrm>
            <a:off x="4149141" y="4868076"/>
            <a:ext cx="1789144" cy="369332"/>
          </a:xfrm>
          <a:prstGeom prst="rect">
            <a:avLst/>
          </a:prstGeom>
          <a:noFill/>
          <a:ln w="38100">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6A37D61D-05AA-27C9-F722-5259F920CF36}"/>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grpSp>
        <p:nvGrpSpPr>
          <p:cNvPr id="3" name="Group 2">
            <a:extLst>
              <a:ext uri="{FF2B5EF4-FFF2-40B4-BE49-F238E27FC236}">
                <a16:creationId xmlns:a16="http://schemas.microsoft.com/office/drawing/2014/main" id="{7CA0869E-3676-70D8-5A2F-4A64B7D1FE8E}"/>
              </a:ext>
            </a:extLst>
          </p:cNvPr>
          <p:cNvGrpSpPr/>
          <p:nvPr/>
        </p:nvGrpSpPr>
        <p:grpSpPr>
          <a:xfrm>
            <a:off x="7706482" y="2726028"/>
            <a:ext cx="5244607" cy="2949294"/>
            <a:chOff x="1275631" y="2434252"/>
            <a:chExt cx="5244607" cy="2949294"/>
          </a:xfrm>
        </p:grpSpPr>
        <p:pic>
          <p:nvPicPr>
            <p:cNvPr id="16" name="Picture 15" descr="A close-up of a circuit board&#10;&#10;AI-generated content may be incorrect.">
              <a:extLst>
                <a:ext uri="{FF2B5EF4-FFF2-40B4-BE49-F238E27FC236}">
                  <a16:creationId xmlns:a16="http://schemas.microsoft.com/office/drawing/2014/main" id="{ACFF4857-2D64-28AD-C166-7451E17853EE}"/>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rot="20959597">
              <a:off x="1275631" y="2756063"/>
              <a:ext cx="5244607" cy="2627483"/>
            </a:xfrm>
            <a:prstGeom prst="rect">
              <a:avLst/>
            </a:prstGeom>
          </p:spPr>
        </p:pic>
        <p:sp>
          <p:nvSpPr>
            <p:cNvPr id="17" name="TextBox 16">
              <a:extLst>
                <a:ext uri="{FF2B5EF4-FFF2-40B4-BE49-F238E27FC236}">
                  <a16:creationId xmlns:a16="http://schemas.microsoft.com/office/drawing/2014/main" id="{EBC1868E-2AAB-6DF0-258C-0F2CBFECA151}"/>
                </a:ext>
              </a:extLst>
            </p:cNvPr>
            <p:cNvSpPr txBox="1"/>
            <p:nvPr/>
          </p:nvSpPr>
          <p:spPr>
            <a:xfrm rot="20924799">
              <a:off x="2020268" y="2434252"/>
              <a:ext cx="3192875" cy="368491"/>
            </a:xfrm>
            <a:prstGeom prst="rect">
              <a:avLst/>
            </a:prstGeom>
            <a:noFill/>
          </p:spPr>
          <p:txBody>
            <a:bodyPr wrap="none" rtlCol="0">
              <a:spAutoFit/>
            </a:bodyPr>
            <a:lstStyle/>
            <a:p>
              <a:r>
                <a:rPr lang="en-US" b="1" dirty="0"/>
                <a:t>MD307 – Development Board</a:t>
              </a:r>
              <a:endParaRPr lang="LID4096" b="1" dirty="0"/>
            </a:p>
          </p:txBody>
        </p:sp>
      </p:grpSp>
    </p:spTree>
    <p:extLst>
      <p:ext uri="{BB962C8B-B14F-4D97-AF65-F5344CB8AC3E}">
        <p14:creationId xmlns:p14="http://schemas.microsoft.com/office/powerpoint/2010/main" val="13517351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16686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ABI0">
            <a:extLst>
              <a:ext uri="{FF2B5EF4-FFF2-40B4-BE49-F238E27FC236}">
                <a16:creationId xmlns:a16="http://schemas.microsoft.com/office/drawing/2014/main" id="{66657D7F-8B64-6F6A-0C1B-80FE98FE93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1012"/>
            <a:ext cx="7620000" cy="5080000"/>
          </a:xfrm>
          <a:prstGeom prst="rect">
            <a:avLst/>
          </a:prstGeom>
        </p:spPr>
      </p:pic>
      <p:sp>
        <p:nvSpPr>
          <p:cNvPr id="2" name="Title 1">
            <a:extLst>
              <a:ext uri="{FF2B5EF4-FFF2-40B4-BE49-F238E27FC236}">
                <a16:creationId xmlns:a16="http://schemas.microsoft.com/office/drawing/2014/main" id="{F240D270-1B4A-C386-8252-F1491862E132}"/>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196F4E14-D50B-B5CF-F02D-23114114763B}"/>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FA517690-8E01-0D89-A3BE-59F07E165446}"/>
              </a:ext>
            </a:extLst>
          </p:cNvPr>
          <p:cNvSpPr txBox="1"/>
          <p:nvPr/>
        </p:nvSpPr>
        <p:spPr>
          <a:xfrm>
            <a:off x="412750" y="1986518"/>
            <a:ext cx="2634054" cy="369332"/>
          </a:xfrm>
          <a:prstGeom prst="rect">
            <a:avLst/>
          </a:prstGeom>
          <a:noFill/>
        </p:spPr>
        <p:txBody>
          <a:bodyPr wrap="none" rtlCol="0">
            <a:spAutoFit/>
          </a:bodyPr>
          <a:lstStyle/>
          <a:p>
            <a:r>
              <a:rPr lang="sv-SE" b="1">
                <a:latin typeface="Segoe Print" panose="02000600000000000000" pitchFamily="2" charset="0"/>
              </a:rPr>
              <a:t>Mitt library är klart!</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D79A69D9-A895-B9AA-8019-4920ADD9FF6B}"/>
              </a:ext>
            </a:extLst>
          </p:cNvPr>
          <p:cNvSpPr txBox="1"/>
          <p:nvPr/>
        </p:nvSpPr>
        <p:spPr>
          <a:xfrm>
            <a:off x="8966200" y="2123837"/>
            <a:ext cx="2702984" cy="646331"/>
          </a:xfrm>
          <a:prstGeom prst="rect">
            <a:avLst/>
          </a:prstGeom>
          <a:noFill/>
        </p:spPr>
        <p:txBody>
          <a:bodyPr wrap="none" rtlCol="0">
            <a:spAutoFit/>
          </a:bodyPr>
          <a:lstStyle/>
          <a:p>
            <a:r>
              <a:rPr lang="sv-SE" b="1">
                <a:latin typeface="Segoe Print" panose="02000600000000000000" pitchFamily="2" charset="0"/>
              </a:rPr>
              <a:t>Toppen! Då kallar jag</a:t>
            </a:r>
            <a:br>
              <a:rPr lang="sv-SE" b="1">
                <a:latin typeface="Segoe Print" panose="02000600000000000000" pitchFamily="2" charset="0"/>
              </a:rPr>
            </a:br>
            <a:r>
              <a:rPr lang="sv-SE" b="1">
                <a:latin typeface="Segoe Print" panose="02000600000000000000" pitchFamily="2" charset="0"/>
              </a:rPr>
              <a:t>f(x,y) nu. </a:t>
            </a:r>
          </a:p>
        </p:txBody>
      </p:sp>
      <p:sp>
        <p:nvSpPr>
          <p:cNvPr id="18" name="TextBox 17">
            <a:extLst>
              <a:ext uri="{FF2B5EF4-FFF2-40B4-BE49-F238E27FC236}">
                <a16:creationId xmlns:a16="http://schemas.microsoft.com/office/drawing/2014/main" id="{5CE6EB33-4692-CE95-CFC4-ABC9678E6C84}"/>
              </a:ext>
            </a:extLst>
          </p:cNvPr>
          <p:cNvSpPr txBox="1"/>
          <p:nvPr/>
        </p:nvSpPr>
        <p:spPr>
          <a:xfrm>
            <a:off x="10136716" y="2710924"/>
            <a:ext cx="1713931" cy="369332"/>
          </a:xfrm>
          <a:prstGeom prst="rect">
            <a:avLst/>
          </a:prstGeom>
          <a:noFill/>
        </p:spPr>
        <p:txBody>
          <a:bodyPr wrap="none" rtlCol="0">
            <a:spAutoFit/>
          </a:bodyPr>
          <a:lstStyle/>
          <a:p>
            <a:r>
              <a:rPr lang="sv-SE" b="1">
                <a:latin typeface="Segoe Print" panose="02000600000000000000" pitchFamily="2" charset="0"/>
              </a:rPr>
              <a:t>Funkar inte...</a:t>
            </a:r>
          </a:p>
        </p:txBody>
      </p:sp>
      <p:sp>
        <p:nvSpPr>
          <p:cNvPr id="19" name="TextBox 18">
            <a:extLst>
              <a:ext uri="{FF2B5EF4-FFF2-40B4-BE49-F238E27FC236}">
                <a16:creationId xmlns:a16="http://schemas.microsoft.com/office/drawing/2014/main" id="{1B17899F-A25F-7622-EC87-158709D01720}"/>
              </a:ext>
            </a:extLst>
          </p:cNvPr>
          <p:cNvSpPr txBox="1"/>
          <p:nvPr/>
        </p:nvSpPr>
        <p:spPr>
          <a:xfrm>
            <a:off x="412750" y="3105834"/>
            <a:ext cx="4891083" cy="646331"/>
          </a:xfrm>
          <a:prstGeom prst="rect">
            <a:avLst/>
          </a:prstGeom>
          <a:noFill/>
        </p:spPr>
        <p:txBody>
          <a:bodyPr wrap="none" rtlCol="0">
            <a:spAutoFit/>
          </a:bodyPr>
          <a:lstStyle/>
          <a:p>
            <a:r>
              <a:rPr lang="sv-SE" b="1">
                <a:latin typeface="Segoe Print" panose="02000600000000000000" pitchFamily="2" charset="0"/>
              </a:rPr>
              <a:t>Jo, det funkar. La du parametrarna på </a:t>
            </a:r>
            <a:br>
              <a:rPr lang="sv-SE" b="1">
                <a:latin typeface="Segoe Print" panose="02000600000000000000" pitchFamily="2" charset="0"/>
              </a:rPr>
            </a:br>
            <a:r>
              <a:rPr lang="sv-SE" b="1">
                <a:latin typeface="Segoe Print" panose="02000600000000000000" pitchFamily="2" charset="0"/>
              </a:rPr>
              <a:t>stacken? </a:t>
            </a:r>
          </a:p>
        </p:txBody>
      </p:sp>
      <p:sp>
        <p:nvSpPr>
          <p:cNvPr id="21" name="TextBox 20">
            <a:extLst>
              <a:ext uri="{FF2B5EF4-FFF2-40B4-BE49-F238E27FC236}">
                <a16:creationId xmlns:a16="http://schemas.microsoft.com/office/drawing/2014/main" id="{D02D4E4A-7EF7-48FF-DEEC-1DB492212FDB}"/>
              </a:ext>
            </a:extLst>
          </p:cNvPr>
          <p:cNvSpPr txBox="1"/>
          <p:nvPr/>
        </p:nvSpPr>
        <p:spPr>
          <a:xfrm>
            <a:off x="9442292" y="3902858"/>
            <a:ext cx="2226892" cy="646331"/>
          </a:xfrm>
          <a:prstGeom prst="rect">
            <a:avLst/>
          </a:prstGeom>
          <a:noFill/>
        </p:spPr>
        <p:txBody>
          <a:bodyPr wrap="none" rtlCol="0">
            <a:spAutoFit/>
          </a:bodyPr>
          <a:lstStyle/>
          <a:p>
            <a:r>
              <a:rPr lang="sv-SE" b="1">
                <a:latin typeface="Segoe Print" panose="02000600000000000000" pitchFamily="2" charset="0"/>
              </a:rPr>
              <a:t>Nej, jag la dom i </a:t>
            </a:r>
            <a:br>
              <a:rPr lang="sv-SE" b="1">
                <a:latin typeface="Segoe Print" panose="02000600000000000000" pitchFamily="2" charset="0"/>
              </a:rPr>
            </a:br>
            <a:r>
              <a:rPr lang="sv-SE" b="1">
                <a:latin typeface="Segoe Print" panose="02000600000000000000" pitchFamily="2" charset="0"/>
              </a:rPr>
              <a:t>x1 och x2!</a:t>
            </a:r>
          </a:p>
        </p:txBody>
      </p:sp>
    </p:spTree>
    <p:extLst>
      <p:ext uri="{BB962C8B-B14F-4D97-AF65-F5344CB8AC3E}">
        <p14:creationId xmlns:p14="http://schemas.microsoft.com/office/powerpoint/2010/main" val="3683194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18460-DF55-B9FF-0C70-EC8652123F3B}"/>
            </a:ext>
          </a:extLst>
        </p:cNvPr>
        <p:cNvGrpSpPr/>
        <p:nvPr/>
      </p:nvGrpSpPr>
      <p:grpSpPr>
        <a:xfrm>
          <a:off x="0" y="0"/>
          <a:ext cx="0" cy="0"/>
          <a:chOff x="0" y="0"/>
          <a:chExt cx="0" cy="0"/>
        </a:xfrm>
      </p:grpSpPr>
      <p:pic>
        <p:nvPicPr>
          <p:cNvPr id="12" name="ABI1">
            <a:extLst>
              <a:ext uri="{FF2B5EF4-FFF2-40B4-BE49-F238E27FC236}">
                <a16:creationId xmlns:a16="http://schemas.microsoft.com/office/drawing/2014/main" id="{88235733-EA38-0EBE-A74B-FF01F58E7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1012"/>
            <a:ext cx="7620000" cy="5076825"/>
          </a:xfrm>
          <a:prstGeom prst="rect">
            <a:avLst/>
          </a:prstGeom>
        </p:spPr>
      </p:pic>
      <p:sp>
        <p:nvSpPr>
          <p:cNvPr id="2" name="Title 1">
            <a:extLst>
              <a:ext uri="{FF2B5EF4-FFF2-40B4-BE49-F238E27FC236}">
                <a16:creationId xmlns:a16="http://schemas.microsoft.com/office/drawing/2014/main" id="{105C705F-3D68-3A90-92F3-658BB124456A}"/>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B48175BA-B6AE-C898-C562-5A372421A744}"/>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F1686B8D-947C-D230-66E1-E4977F0F4440}"/>
              </a:ext>
            </a:extLst>
          </p:cNvPr>
          <p:cNvSpPr txBox="1"/>
          <p:nvPr/>
        </p:nvSpPr>
        <p:spPr>
          <a:xfrm>
            <a:off x="412750" y="1986518"/>
            <a:ext cx="2199641" cy="369332"/>
          </a:xfrm>
          <a:prstGeom prst="rect">
            <a:avLst/>
          </a:prstGeom>
          <a:noFill/>
        </p:spPr>
        <p:txBody>
          <a:bodyPr wrap="none" rtlCol="0">
            <a:spAutoFit/>
          </a:bodyPr>
          <a:lstStyle/>
          <a:p>
            <a:r>
              <a:rPr lang="sv-SE" b="1">
                <a:latin typeface="Segoe Print" panose="02000600000000000000" pitchFamily="2" charset="0"/>
              </a:rPr>
              <a:t>Hrrm... fixar... så!</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C6E23991-390E-129F-FBEB-C329017747F2}"/>
              </a:ext>
            </a:extLst>
          </p:cNvPr>
          <p:cNvSpPr txBox="1"/>
          <p:nvPr/>
        </p:nvSpPr>
        <p:spPr>
          <a:xfrm>
            <a:off x="8442181" y="2222455"/>
            <a:ext cx="3389069" cy="369332"/>
          </a:xfrm>
          <a:prstGeom prst="rect">
            <a:avLst/>
          </a:prstGeom>
          <a:noFill/>
        </p:spPr>
        <p:txBody>
          <a:bodyPr wrap="none" rtlCol="0">
            <a:spAutoFit/>
          </a:bodyPr>
          <a:lstStyle/>
          <a:p>
            <a:r>
              <a:rPr lang="sv-SE" b="1">
                <a:latin typeface="Segoe Print" panose="02000600000000000000" pitchFamily="2" charset="0"/>
              </a:rPr>
              <a:t>Toppen! Då testar jag igen </a:t>
            </a:r>
          </a:p>
        </p:txBody>
      </p:sp>
      <p:sp>
        <p:nvSpPr>
          <p:cNvPr id="18" name="TextBox 17">
            <a:extLst>
              <a:ext uri="{FF2B5EF4-FFF2-40B4-BE49-F238E27FC236}">
                <a16:creationId xmlns:a16="http://schemas.microsoft.com/office/drawing/2014/main" id="{AAFF2609-A57E-7195-8084-6EA839FE2197}"/>
              </a:ext>
            </a:extLst>
          </p:cNvPr>
          <p:cNvSpPr txBox="1"/>
          <p:nvPr/>
        </p:nvSpPr>
        <p:spPr>
          <a:xfrm>
            <a:off x="10136716" y="2710924"/>
            <a:ext cx="1713931" cy="369332"/>
          </a:xfrm>
          <a:prstGeom prst="rect">
            <a:avLst/>
          </a:prstGeom>
          <a:noFill/>
        </p:spPr>
        <p:txBody>
          <a:bodyPr wrap="none" rtlCol="0">
            <a:spAutoFit/>
          </a:bodyPr>
          <a:lstStyle/>
          <a:p>
            <a:r>
              <a:rPr lang="sv-SE" b="1">
                <a:latin typeface="Segoe Print" panose="02000600000000000000" pitchFamily="2" charset="0"/>
              </a:rPr>
              <a:t>Funkar inte...</a:t>
            </a:r>
          </a:p>
        </p:txBody>
      </p:sp>
      <p:sp>
        <p:nvSpPr>
          <p:cNvPr id="19" name="TextBox 18">
            <a:extLst>
              <a:ext uri="{FF2B5EF4-FFF2-40B4-BE49-F238E27FC236}">
                <a16:creationId xmlns:a16="http://schemas.microsoft.com/office/drawing/2014/main" id="{52A375D4-F8B9-E628-3712-29AAC6314274}"/>
              </a:ext>
            </a:extLst>
          </p:cNvPr>
          <p:cNvSpPr txBox="1"/>
          <p:nvPr/>
        </p:nvSpPr>
        <p:spPr>
          <a:xfrm>
            <a:off x="857244" y="3115458"/>
            <a:ext cx="4200189" cy="369332"/>
          </a:xfrm>
          <a:prstGeom prst="rect">
            <a:avLst/>
          </a:prstGeom>
          <a:noFill/>
        </p:spPr>
        <p:txBody>
          <a:bodyPr wrap="none" rtlCol="0">
            <a:spAutoFit/>
          </a:bodyPr>
          <a:lstStyle/>
          <a:p>
            <a:r>
              <a:rPr lang="sv-SE" b="1">
                <a:latin typeface="Segoe Print" panose="02000600000000000000" pitchFamily="2" charset="0"/>
              </a:rPr>
              <a:t>Va? Hämtar du returvärdet i x5? </a:t>
            </a:r>
          </a:p>
        </p:txBody>
      </p:sp>
      <p:sp>
        <p:nvSpPr>
          <p:cNvPr id="21" name="TextBox 20">
            <a:extLst>
              <a:ext uri="{FF2B5EF4-FFF2-40B4-BE49-F238E27FC236}">
                <a16:creationId xmlns:a16="http://schemas.microsoft.com/office/drawing/2014/main" id="{B742A7A6-2BBE-3A10-740E-5E3F5C4838D3}"/>
              </a:ext>
            </a:extLst>
          </p:cNvPr>
          <p:cNvSpPr txBox="1"/>
          <p:nvPr/>
        </p:nvSpPr>
        <p:spPr>
          <a:xfrm>
            <a:off x="9407809" y="3384333"/>
            <a:ext cx="2836033" cy="646331"/>
          </a:xfrm>
          <a:prstGeom prst="rect">
            <a:avLst/>
          </a:prstGeom>
          <a:noFill/>
        </p:spPr>
        <p:txBody>
          <a:bodyPr wrap="none" rtlCol="0">
            <a:spAutoFit/>
          </a:bodyPr>
          <a:lstStyle/>
          <a:p>
            <a:r>
              <a:rPr lang="sv-SE" b="1">
                <a:latin typeface="Segoe Print" panose="02000600000000000000" pitchFamily="2" charset="0"/>
              </a:rPr>
              <a:t>Eh? Nej. Det trodde </a:t>
            </a:r>
            <a:br>
              <a:rPr lang="sv-SE" b="1">
                <a:latin typeface="Segoe Print" panose="02000600000000000000" pitchFamily="2" charset="0"/>
              </a:rPr>
            </a:br>
            <a:r>
              <a:rPr lang="sv-SE" b="1">
                <a:latin typeface="Segoe Print" panose="02000600000000000000" pitchFamily="2" charset="0"/>
              </a:rPr>
              <a:t>jag du lagt på stacken.</a:t>
            </a:r>
          </a:p>
        </p:txBody>
      </p:sp>
      <p:sp>
        <p:nvSpPr>
          <p:cNvPr id="3" name="TextBox 2">
            <a:extLst>
              <a:ext uri="{FF2B5EF4-FFF2-40B4-BE49-F238E27FC236}">
                <a16:creationId xmlns:a16="http://schemas.microsoft.com/office/drawing/2014/main" id="{21696240-E772-2FB7-6135-B4D85ABFB693}"/>
              </a:ext>
            </a:extLst>
          </p:cNvPr>
          <p:cNvSpPr txBox="1"/>
          <p:nvPr/>
        </p:nvSpPr>
        <p:spPr>
          <a:xfrm>
            <a:off x="458629" y="3845998"/>
            <a:ext cx="1007007" cy="369332"/>
          </a:xfrm>
          <a:prstGeom prst="rect">
            <a:avLst/>
          </a:prstGeom>
          <a:noFill/>
        </p:spPr>
        <p:txBody>
          <a:bodyPr wrap="none" rtlCol="0">
            <a:spAutoFit/>
          </a:bodyPr>
          <a:lstStyle/>
          <a:p>
            <a:r>
              <a:rPr lang="sv-SE" b="1">
                <a:latin typeface="Segoe Print" panose="02000600000000000000" pitchFamily="2" charset="0"/>
              </a:rPr>
              <a:t>Nej x5.</a:t>
            </a:r>
          </a:p>
        </p:txBody>
      </p:sp>
      <p:sp>
        <p:nvSpPr>
          <p:cNvPr id="4" name="TextBox 3">
            <a:extLst>
              <a:ext uri="{FF2B5EF4-FFF2-40B4-BE49-F238E27FC236}">
                <a16:creationId xmlns:a16="http://schemas.microsoft.com/office/drawing/2014/main" id="{C15B2B7F-7DD5-4EC9-6A66-10ECF98C7FBE}"/>
              </a:ext>
            </a:extLst>
          </p:cNvPr>
          <p:cNvSpPr txBox="1"/>
          <p:nvPr/>
        </p:nvSpPr>
        <p:spPr>
          <a:xfrm>
            <a:off x="9766698" y="4326494"/>
            <a:ext cx="1568058" cy="369332"/>
          </a:xfrm>
          <a:prstGeom prst="rect">
            <a:avLst/>
          </a:prstGeom>
          <a:noFill/>
        </p:spPr>
        <p:txBody>
          <a:bodyPr wrap="none" rtlCol="0">
            <a:spAutoFit/>
          </a:bodyPr>
          <a:lstStyle/>
          <a:p>
            <a:r>
              <a:rPr lang="sv-SE" b="1">
                <a:latin typeface="Segoe Print" panose="02000600000000000000" pitchFamily="2" charset="0"/>
              </a:rPr>
              <a:t>Okay.. fixar.</a:t>
            </a:r>
          </a:p>
        </p:txBody>
      </p:sp>
    </p:spTree>
    <p:extLst>
      <p:ext uri="{BB962C8B-B14F-4D97-AF65-F5344CB8AC3E}">
        <p14:creationId xmlns:p14="http://schemas.microsoft.com/office/powerpoint/2010/main" val="3877766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500"/>
                                        <p:tgtEl>
                                          <p:spTgt spid="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P spid="3" grpId="0"/>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4968-0D13-926C-CCB7-06E744B33DD9}"/>
            </a:ext>
          </a:extLst>
        </p:cNvPr>
        <p:cNvGrpSpPr/>
        <p:nvPr/>
      </p:nvGrpSpPr>
      <p:grpSpPr>
        <a:xfrm>
          <a:off x="0" y="0"/>
          <a:ext cx="0" cy="0"/>
          <a:chOff x="0" y="0"/>
          <a:chExt cx="0" cy="0"/>
        </a:xfrm>
      </p:grpSpPr>
      <p:pic>
        <p:nvPicPr>
          <p:cNvPr id="10" name="ABI2">
            <a:extLst>
              <a:ext uri="{FF2B5EF4-FFF2-40B4-BE49-F238E27FC236}">
                <a16:creationId xmlns:a16="http://schemas.microsoft.com/office/drawing/2014/main" id="{7833D354-80E6-C12A-EBA8-90B36F42B9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4187"/>
            <a:ext cx="7620000" cy="5076825"/>
          </a:xfrm>
          <a:prstGeom prst="rect">
            <a:avLst/>
          </a:prstGeom>
        </p:spPr>
      </p:pic>
      <p:sp>
        <p:nvSpPr>
          <p:cNvPr id="2" name="Title 1">
            <a:extLst>
              <a:ext uri="{FF2B5EF4-FFF2-40B4-BE49-F238E27FC236}">
                <a16:creationId xmlns:a16="http://schemas.microsoft.com/office/drawing/2014/main" id="{C85C877E-253B-77BD-528B-BA6BA5CC3A17}"/>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E20F778E-2B19-047E-1F3E-0BCE2C1D4899}"/>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201962BE-D4F2-66DA-A9F5-AEC480FC6159}"/>
              </a:ext>
            </a:extLst>
          </p:cNvPr>
          <p:cNvSpPr txBox="1"/>
          <p:nvPr/>
        </p:nvSpPr>
        <p:spPr>
          <a:xfrm>
            <a:off x="336550" y="2964418"/>
            <a:ext cx="4347665" cy="646331"/>
          </a:xfrm>
          <a:prstGeom prst="rect">
            <a:avLst/>
          </a:prstGeom>
          <a:noFill/>
        </p:spPr>
        <p:txBody>
          <a:bodyPr wrap="none" rtlCol="0">
            <a:spAutoFit/>
          </a:bodyPr>
          <a:lstStyle/>
          <a:p>
            <a:r>
              <a:rPr lang="sv-SE" b="1">
                <a:latin typeface="Segoe Print" panose="02000600000000000000" pitchFamily="2" charset="0"/>
              </a:rPr>
              <a:t>Öh.. hur skall jag skriva en funktion</a:t>
            </a:r>
            <a:br>
              <a:rPr lang="sv-SE" b="1">
                <a:latin typeface="Segoe Print" panose="02000600000000000000" pitchFamily="2" charset="0"/>
              </a:rPr>
            </a:br>
            <a:r>
              <a:rPr lang="sv-SE" b="1">
                <a:latin typeface="Segoe Print" panose="02000600000000000000" pitchFamily="2" charset="0"/>
              </a:rPr>
              <a:t>utan att skriva över register? </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7979B2C1-0EB2-EF75-AD52-FBD992ED2949}"/>
              </a:ext>
            </a:extLst>
          </p:cNvPr>
          <p:cNvSpPr txBox="1"/>
          <p:nvPr/>
        </p:nvSpPr>
        <p:spPr>
          <a:xfrm>
            <a:off x="8966200" y="2123837"/>
            <a:ext cx="3142207" cy="369332"/>
          </a:xfrm>
          <a:prstGeom prst="rect">
            <a:avLst/>
          </a:prstGeom>
          <a:noFill/>
        </p:spPr>
        <p:txBody>
          <a:bodyPr wrap="none" rtlCol="0">
            <a:spAutoFit/>
          </a:bodyPr>
          <a:lstStyle/>
          <a:p>
            <a:r>
              <a:rPr lang="sv-SE" b="1">
                <a:latin typeface="Segoe Print" panose="02000600000000000000" pitchFamily="2" charset="0"/>
              </a:rPr>
              <a:t>Funkar fortfarande inte...</a:t>
            </a:r>
          </a:p>
        </p:txBody>
      </p:sp>
      <p:sp>
        <p:nvSpPr>
          <p:cNvPr id="18" name="TextBox 17">
            <a:extLst>
              <a:ext uri="{FF2B5EF4-FFF2-40B4-BE49-F238E27FC236}">
                <a16:creationId xmlns:a16="http://schemas.microsoft.com/office/drawing/2014/main" id="{6439327A-C5DC-7ED7-ADB7-09B47D352DF4}"/>
              </a:ext>
            </a:extLst>
          </p:cNvPr>
          <p:cNvSpPr txBox="1"/>
          <p:nvPr/>
        </p:nvSpPr>
        <p:spPr>
          <a:xfrm>
            <a:off x="8555566" y="2579836"/>
            <a:ext cx="2922595" cy="646331"/>
          </a:xfrm>
          <a:prstGeom prst="rect">
            <a:avLst/>
          </a:prstGeom>
          <a:noFill/>
        </p:spPr>
        <p:txBody>
          <a:bodyPr wrap="none" rtlCol="0">
            <a:spAutoFit/>
          </a:bodyPr>
          <a:lstStyle/>
          <a:p>
            <a:r>
              <a:rPr lang="sv-SE" b="1">
                <a:latin typeface="Segoe Print" panose="02000600000000000000" pitchFamily="2" charset="0"/>
              </a:rPr>
              <a:t>Du skriver väl inte över</a:t>
            </a:r>
            <a:br>
              <a:rPr lang="sv-SE" b="1">
                <a:latin typeface="Segoe Print" panose="02000600000000000000" pitchFamily="2" charset="0"/>
              </a:rPr>
            </a:br>
            <a:r>
              <a:rPr lang="sv-SE" b="1">
                <a:latin typeface="Segoe Print" panose="02000600000000000000" pitchFamily="2" charset="0"/>
              </a:rPr>
              <a:t>något av registrena va?</a:t>
            </a:r>
          </a:p>
        </p:txBody>
      </p:sp>
      <p:sp>
        <p:nvSpPr>
          <p:cNvPr id="19" name="TextBox 18">
            <a:extLst>
              <a:ext uri="{FF2B5EF4-FFF2-40B4-BE49-F238E27FC236}">
                <a16:creationId xmlns:a16="http://schemas.microsoft.com/office/drawing/2014/main" id="{9FF029FC-754C-B6B8-4429-5423B8E00CBE}"/>
              </a:ext>
            </a:extLst>
          </p:cNvPr>
          <p:cNvSpPr txBox="1"/>
          <p:nvPr/>
        </p:nvSpPr>
        <p:spPr>
          <a:xfrm>
            <a:off x="9432611" y="3441502"/>
            <a:ext cx="2852063" cy="923330"/>
          </a:xfrm>
          <a:prstGeom prst="rect">
            <a:avLst/>
          </a:prstGeom>
          <a:noFill/>
        </p:spPr>
        <p:txBody>
          <a:bodyPr wrap="none" rtlCol="0">
            <a:spAutoFit/>
          </a:bodyPr>
          <a:lstStyle/>
          <a:p>
            <a:r>
              <a:rPr lang="sv-SE" b="1">
                <a:latin typeface="Segoe Print" panose="02000600000000000000" pitchFamily="2" charset="0"/>
              </a:rPr>
              <a:t>Men då får du väl </a:t>
            </a:r>
            <a:br>
              <a:rPr lang="sv-SE" b="1">
                <a:latin typeface="Segoe Print" panose="02000600000000000000" pitchFamily="2" charset="0"/>
              </a:rPr>
            </a:br>
            <a:r>
              <a:rPr lang="sv-SE" b="1">
                <a:latin typeface="Segoe Print" panose="02000600000000000000" pitchFamily="2" charset="0"/>
              </a:rPr>
              <a:t>spara dom på stacken </a:t>
            </a:r>
            <a:br>
              <a:rPr lang="sv-SE" b="1">
                <a:latin typeface="Segoe Print" panose="02000600000000000000" pitchFamily="2" charset="0"/>
              </a:rPr>
            </a:br>
            <a:r>
              <a:rPr lang="sv-SE" b="1">
                <a:latin typeface="Segoe Print" panose="02000600000000000000" pitchFamily="2" charset="0"/>
              </a:rPr>
              <a:t>först!? </a:t>
            </a:r>
          </a:p>
        </p:txBody>
      </p:sp>
    </p:spTree>
    <p:extLst>
      <p:ext uri="{BB962C8B-B14F-4D97-AF65-F5344CB8AC3E}">
        <p14:creationId xmlns:p14="http://schemas.microsoft.com/office/powerpoint/2010/main" val="899917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37C2D-90C2-D6B1-7457-5A01B6873904}"/>
            </a:ext>
          </a:extLst>
        </p:cNvPr>
        <p:cNvGrpSpPr/>
        <p:nvPr/>
      </p:nvGrpSpPr>
      <p:grpSpPr>
        <a:xfrm>
          <a:off x="0" y="0"/>
          <a:ext cx="0" cy="0"/>
          <a:chOff x="0" y="0"/>
          <a:chExt cx="0" cy="0"/>
        </a:xfrm>
      </p:grpSpPr>
      <p:pic>
        <p:nvPicPr>
          <p:cNvPr id="8" name="ABI3">
            <a:extLst>
              <a:ext uri="{FF2B5EF4-FFF2-40B4-BE49-F238E27FC236}">
                <a16:creationId xmlns:a16="http://schemas.microsoft.com/office/drawing/2014/main" id="{BF4C8AFE-328E-F3D4-9F1E-3FB1CE758E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4187"/>
            <a:ext cx="7620000" cy="5076825"/>
          </a:xfrm>
          <a:prstGeom prst="rect">
            <a:avLst/>
          </a:prstGeom>
        </p:spPr>
      </p:pic>
      <p:sp>
        <p:nvSpPr>
          <p:cNvPr id="2" name="Title 1">
            <a:extLst>
              <a:ext uri="{FF2B5EF4-FFF2-40B4-BE49-F238E27FC236}">
                <a16:creationId xmlns:a16="http://schemas.microsoft.com/office/drawing/2014/main" id="{ADCDE7AC-19A3-CE45-D6D2-63C0B24CE41D}"/>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791D3D03-CA48-2F35-80A9-520C9899CD3D}"/>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D6433051-D5A7-F5A8-B27C-2234EEAC91C9}"/>
              </a:ext>
            </a:extLst>
          </p:cNvPr>
          <p:cNvSpPr txBox="1"/>
          <p:nvPr/>
        </p:nvSpPr>
        <p:spPr>
          <a:xfrm>
            <a:off x="412750" y="1986518"/>
            <a:ext cx="2807179" cy="369332"/>
          </a:xfrm>
          <a:prstGeom prst="rect">
            <a:avLst/>
          </a:prstGeom>
          <a:noFill/>
        </p:spPr>
        <p:txBody>
          <a:bodyPr wrap="none" rtlCol="0">
            <a:spAutoFit/>
          </a:bodyPr>
          <a:lstStyle/>
          <a:p>
            <a:r>
              <a:rPr lang="sv-SE" b="1">
                <a:latin typeface="Segoe Print" panose="02000600000000000000" pitchFamily="2" charset="0"/>
              </a:rPr>
              <a:t>Det kan väl du göra!? </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C58D602B-8B5B-8F38-CAEC-FB5CDA681D87}"/>
              </a:ext>
            </a:extLst>
          </p:cNvPr>
          <p:cNvSpPr txBox="1"/>
          <p:nvPr/>
        </p:nvSpPr>
        <p:spPr>
          <a:xfrm>
            <a:off x="8554508" y="2324273"/>
            <a:ext cx="3544560" cy="646331"/>
          </a:xfrm>
          <a:prstGeom prst="rect">
            <a:avLst/>
          </a:prstGeom>
          <a:noFill/>
        </p:spPr>
        <p:txBody>
          <a:bodyPr wrap="none" rtlCol="0">
            <a:spAutoFit/>
          </a:bodyPr>
          <a:lstStyle/>
          <a:p>
            <a:r>
              <a:rPr lang="sv-SE" b="1">
                <a:latin typeface="Segoe Print" panose="02000600000000000000" pitchFamily="2" charset="0"/>
              </a:rPr>
              <a:t>Nä! Det är ju du som skriver</a:t>
            </a:r>
            <a:br>
              <a:rPr lang="sv-SE" b="1">
                <a:latin typeface="Segoe Print" panose="02000600000000000000" pitchFamily="2" charset="0"/>
              </a:rPr>
            </a:br>
            <a:r>
              <a:rPr lang="sv-SE" b="1">
                <a:latin typeface="Segoe Print" panose="02000600000000000000" pitchFamily="2" charset="0"/>
              </a:rPr>
              <a:t>över dem!</a:t>
            </a:r>
          </a:p>
        </p:txBody>
      </p:sp>
      <p:sp>
        <p:nvSpPr>
          <p:cNvPr id="18" name="TextBox 17">
            <a:extLst>
              <a:ext uri="{FF2B5EF4-FFF2-40B4-BE49-F238E27FC236}">
                <a16:creationId xmlns:a16="http://schemas.microsoft.com/office/drawing/2014/main" id="{467F5C03-C0B3-F10B-C16A-3E836FC72A5B}"/>
              </a:ext>
            </a:extLst>
          </p:cNvPr>
          <p:cNvSpPr txBox="1"/>
          <p:nvPr/>
        </p:nvSpPr>
        <p:spPr>
          <a:xfrm>
            <a:off x="10019811" y="3797077"/>
            <a:ext cx="1114408" cy="369332"/>
          </a:xfrm>
          <a:prstGeom prst="rect">
            <a:avLst/>
          </a:prstGeom>
          <a:noFill/>
        </p:spPr>
        <p:txBody>
          <a:bodyPr wrap="none" rtlCol="0">
            <a:spAutoFit/>
          </a:bodyPr>
          <a:lstStyle/>
          <a:p>
            <a:r>
              <a:rPr lang="sv-SE" b="1">
                <a:latin typeface="Segoe Print" panose="02000600000000000000" pitchFamily="2" charset="0"/>
              </a:rPr>
              <a:t>PUCKO!</a:t>
            </a:r>
          </a:p>
        </p:txBody>
      </p:sp>
      <p:sp>
        <p:nvSpPr>
          <p:cNvPr id="19" name="TextBox 18">
            <a:extLst>
              <a:ext uri="{FF2B5EF4-FFF2-40B4-BE49-F238E27FC236}">
                <a16:creationId xmlns:a16="http://schemas.microsoft.com/office/drawing/2014/main" id="{85101656-0F8B-C204-AB96-9FFC26B58543}"/>
              </a:ext>
            </a:extLst>
          </p:cNvPr>
          <p:cNvSpPr txBox="1"/>
          <p:nvPr/>
        </p:nvSpPr>
        <p:spPr>
          <a:xfrm>
            <a:off x="949011" y="2825750"/>
            <a:ext cx="3116559" cy="646331"/>
          </a:xfrm>
          <a:prstGeom prst="rect">
            <a:avLst/>
          </a:prstGeom>
          <a:noFill/>
        </p:spPr>
        <p:txBody>
          <a:bodyPr wrap="none" rtlCol="0">
            <a:spAutoFit/>
          </a:bodyPr>
          <a:lstStyle/>
          <a:p>
            <a:r>
              <a:rPr lang="sv-SE" b="1">
                <a:latin typeface="Segoe Print" panose="02000600000000000000" pitchFamily="2" charset="0"/>
              </a:rPr>
              <a:t>Ja men det är ju du som</a:t>
            </a:r>
            <a:br>
              <a:rPr lang="sv-SE" b="1">
                <a:latin typeface="Segoe Print" panose="02000600000000000000" pitchFamily="2" charset="0"/>
              </a:rPr>
            </a:br>
            <a:r>
              <a:rPr lang="sv-SE" b="1">
                <a:latin typeface="Segoe Print" panose="02000600000000000000" pitchFamily="2" charset="0"/>
              </a:rPr>
              <a:t>vet vilka du behöver!</a:t>
            </a:r>
          </a:p>
        </p:txBody>
      </p:sp>
      <p:sp>
        <p:nvSpPr>
          <p:cNvPr id="21" name="TextBox 20">
            <a:extLst>
              <a:ext uri="{FF2B5EF4-FFF2-40B4-BE49-F238E27FC236}">
                <a16:creationId xmlns:a16="http://schemas.microsoft.com/office/drawing/2014/main" id="{1C62824F-14A0-ED64-137F-09386BB689F2}"/>
              </a:ext>
            </a:extLst>
          </p:cNvPr>
          <p:cNvSpPr txBox="1"/>
          <p:nvPr/>
        </p:nvSpPr>
        <p:spPr>
          <a:xfrm>
            <a:off x="1115649" y="4022396"/>
            <a:ext cx="981359" cy="369332"/>
          </a:xfrm>
          <a:prstGeom prst="rect">
            <a:avLst/>
          </a:prstGeom>
          <a:noFill/>
        </p:spPr>
        <p:txBody>
          <a:bodyPr wrap="none" rtlCol="0">
            <a:spAutoFit/>
          </a:bodyPr>
          <a:lstStyle/>
          <a:p>
            <a:r>
              <a:rPr lang="sv-SE" b="1">
                <a:latin typeface="Segoe Print" panose="02000600000000000000" pitchFamily="2" charset="0"/>
              </a:rPr>
              <a:t>NOOB!</a:t>
            </a:r>
          </a:p>
        </p:txBody>
      </p:sp>
    </p:spTree>
    <p:extLst>
      <p:ext uri="{BB962C8B-B14F-4D97-AF65-F5344CB8AC3E}">
        <p14:creationId xmlns:p14="http://schemas.microsoft.com/office/powerpoint/2010/main" val="345980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32D81-4AF6-C25E-29CD-02FE7A2B5C8D}"/>
              </a:ext>
            </a:extLst>
          </p:cNvPr>
          <p:cNvSpPr>
            <a:spLocks noGrp="1"/>
          </p:cNvSpPr>
          <p:nvPr>
            <p:ph type="title"/>
          </p:nvPr>
        </p:nvSpPr>
        <p:spPr/>
        <p:txBody>
          <a:bodyPr/>
          <a:lstStyle/>
          <a:p>
            <a:r>
              <a:rPr lang="sv-SE"/>
              <a:t>Application Binary Interface (ABI)</a:t>
            </a:r>
            <a:endParaRPr lang="LID4096"/>
          </a:p>
        </p:txBody>
      </p:sp>
      <p:sp>
        <p:nvSpPr>
          <p:cNvPr id="3" name="Content Placeholder 2">
            <a:extLst>
              <a:ext uri="{FF2B5EF4-FFF2-40B4-BE49-F238E27FC236}">
                <a16:creationId xmlns:a16="http://schemas.microsoft.com/office/drawing/2014/main" id="{8CB1DEEA-E5A8-06F1-D0F2-BB2DBB48754D}"/>
              </a:ext>
            </a:extLst>
          </p:cNvPr>
          <p:cNvSpPr>
            <a:spLocks noGrp="1"/>
          </p:cNvSpPr>
          <p:nvPr>
            <p:ph idx="1"/>
          </p:nvPr>
        </p:nvSpPr>
        <p:spPr/>
        <p:txBody>
          <a:bodyPr/>
          <a:lstStyle/>
          <a:p>
            <a:r>
              <a:rPr lang="en-GB"/>
              <a:t>ABI </a:t>
            </a:r>
            <a:r>
              <a:rPr lang="sv-SE"/>
              <a:t>är ett dokument som sätter upp en massa </a:t>
            </a:r>
            <a:r>
              <a:rPr lang="sv-SE" i="1"/>
              <a:t>konventioner</a:t>
            </a:r>
            <a:br>
              <a:rPr lang="sv-SE"/>
            </a:br>
            <a:r>
              <a:rPr lang="sv-SE"/>
              <a:t>för hur maskinkod på en viss ISA skall skrivas. Ex: </a:t>
            </a:r>
          </a:p>
          <a:p>
            <a:pPr lvl="1"/>
            <a:r>
              <a:rPr lang="sv-SE"/>
              <a:t>Var lägger man funktionsparametrar? </a:t>
            </a:r>
          </a:p>
          <a:p>
            <a:pPr lvl="1"/>
            <a:r>
              <a:rPr lang="sv-SE"/>
              <a:t>Var lägger man returvärdet? </a:t>
            </a:r>
          </a:p>
          <a:p>
            <a:pPr lvl="1"/>
            <a:r>
              <a:rPr lang="sv-SE"/>
              <a:t>Vem ansvarar för att spara undan register somman skriver över? </a:t>
            </a:r>
          </a:p>
          <a:p>
            <a:pPr lvl="1"/>
            <a:r>
              <a:rPr lang="sv-SE"/>
              <a:t>Hur skall stacken organiseras?</a:t>
            </a:r>
          </a:p>
          <a:p>
            <a:pPr lvl="1"/>
            <a:r>
              <a:rPr lang="sv-SE"/>
              <a:t>Vilket register skall vi ha som stackpekare? </a:t>
            </a:r>
          </a:p>
          <a:p>
            <a:pPr lvl="1"/>
            <a:r>
              <a:rPr lang="sv-SE"/>
              <a:t>... och en väldig massa mer ... </a:t>
            </a:r>
          </a:p>
          <a:p>
            <a:endParaRPr lang="LID4096"/>
          </a:p>
        </p:txBody>
      </p:sp>
    </p:spTree>
    <p:extLst>
      <p:ext uri="{BB962C8B-B14F-4D97-AF65-F5344CB8AC3E}">
        <p14:creationId xmlns:p14="http://schemas.microsoft.com/office/powerpoint/2010/main" val="25967781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85374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51CDD-6C56-C6A5-0941-E1CC497104BA}"/>
              </a:ext>
            </a:extLst>
          </p:cNvPr>
          <p:cNvSpPr>
            <a:spLocks noGrp="1"/>
          </p:cNvSpPr>
          <p:nvPr>
            <p:ph type="title"/>
          </p:nvPr>
        </p:nvSpPr>
        <p:spPr/>
        <p:txBody>
          <a:bodyPr/>
          <a:lstStyle/>
          <a:p>
            <a:r>
              <a:rPr lang="sv-SE"/>
              <a:t>RV32I - Register</a:t>
            </a:r>
            <a:endParaRPr lang="LID4096"/>
          </a:p>
        </p:txBody>
      </p:sp>
      <p:pic>
        <p:nvPicPr>
          <p:cNvPr id="5" name="Picture 4">
            <a:extLst>
              <a:ext uri="{FF2B5EF4-FFF2-40B4-BE49-F238E27FC236}">
                <a16:creationId xmlns:a16="http://schemas.microsoft.com/office/drawing/2014/main" id="{EC735441-5014-612D-897A-3509BC5BD5C5}"/>
              </a:ext>
            </a:extLst>
          </p:cNvPr>
          <p:cNvPicPr>
            <a:picLocks noChangeAspect="1"/>
          </p:cNvPicPr>
          <p:nvPr/>
        </p:nvPicPr>
        <p:blipFill>
          <a:blip r:embed="rId3"/>
          <a:stretch>
            <a:fillRect/>
          </a:stretch>
        </p:blipFill>
        <p:spPr>
          <a:xfrm>
            <a:off x="392942" y="1983947"/>
            <a:ext cx="7981643" cy="4508928"/>
          </a:xfrm>
          <a:prstGeom prst="rect">
            <a:avLst/>
          </a:prstGeom>
        </p:spPr>
      </p:pic>
      <p:sp>
        <p:nvSpPr>
          <p:cNvPr id="6" name="Rectangle: Rounded Corners 5">
            <a:extLst>
              <a:ext uri="{FF2B5EF4-FFF2-40B4-BE49-F238E27FC236}">
                <a16:creationId xmlns:a16="http://schemas.microsoft.com/office/drawing/2014/main" id="{E674EBDB-0559-81A0-F9D5-D85C31F1E834}"/>
              </a:ext>
            </a:extLst>
          </p:cNvPr>
          <p:cNvSpPr/>
          <p:nvPr/>
        </p:nvSpPr>
        <p:spPr>
          <a:xfrm>
            <a:off x="392942" y="2413000"/>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Rectangle: Rounded Corners 6">
            <a:extLst>
              <a:ext uri="{FF2B5EF4-FFF2-40B4-BE49-F238E27FC236}">
                <a16:creationId xmlns:a16="http://schemas.microsoft.com/office/drawing/2014/main" id="{0C8D9A06-164B-6E0D-5F22-504FDA6AB6A9}"/>
              </a:ext>
            </a:extLst>
          </p:cNvPr>
          <p:cNvSpPr/>
          <p:nvPr/>
        </p:nvSpPr>
        <p:spPr>
          <a:xfrm>
            <a:off x="392942" y="5346700"/>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0E50B520-FE69-1D53-ABF7-2DEFEC29E6A7}"/>
              </a:ext>
            </a:extLst>
          </p:cNvPr>
          <p:cNvSpPr/>
          <p:nvPr/>
        </p:nvSpPr>
        <p:spPr>
          <a:xfrm>
            <a:off x="392941" y="3144044"/>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4253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5B8C2B-34C0-7042-D3A3-64F11520E229}"/>
              </a:ext>
            </a:extLst>
          </p:cNvPr>
          <p:cNvSpPr>
            <a:spLocks noGrp="1"/>
          </p:cNvSpPr>
          <p:nvPr>
            <p:ph idx="1"/>
          </p:nvPr>
        </p:nvSpPr>
        <p:spPr/>
        <p:txBody>
          <a:bodyPr/>
          <a:lstStyle/>
          <a:p>
            <a:r>
              <a:rPr lang="sv-SE"/>
              <a:t>RV32I definerar bara 47 instruktioner!</a:t>
            </a:r>
          </a:p>
          <a:p>
            <a:r>
              <a:rPr lang="sv-SE"/>
              <a:t>RISCV </a:t>
            </a:r>
            <a:r>
              <a:rPr lang="sv-SE" i="1"/>
              <a:t>assemblerkod </a:t>
            </a:r>
            <a:r>
              <a:rPr lang="sv-SE"/>
              <a:t>definerar många fler instruktioner. </a:t>
            </a:r>
          </a:p>
          <a:p>
            <a:pPr lvl="1"/>
            <a:r>
              <a:rPr lang="sv-SE"/>
              <a:t>Dessa översätts till en eller flera maskininstruktioner</a:t>
            </a:r>
          </a:p>
          <a:p>
            <a:r>
              <a:rPr lang="sv-SE"/>
              <a:t>Ex: </a:t>
            </a:r>
          </a:p>
          <a:p>
            <a:pPr lvl="1"/>
            <a:r>
              <a:rPr lang="sv-SE">
                <a:highlight>
                  <a:srgbClr val="C0C0C0"/>
                </a:highlight>
                <a:latin typeface="Consolas" panose="020B0609020204030204" pitchFamily="49" charset="0"/>
              </a:rPr>
              <a:t>mv t0, t1 </a:t>
            </a:r>
            <a:r>
              <a:rPr lang="sv-SE">
                <a:latin typeface="Consolas" panose="020B0609020204030204" pitchFamily="49" charset="0"/>
              </a:rPr>
              <a:t> – mv </a:t>
            </a:r>
            <a:r>
              <a:rPr lang="sv-SE">
                <a:latin typeface="+mj-lt"/>
              </a:rPr>
              <a:t>finns inte som maskininstruktion</a:t>
            </a:r>
          </a:p>
          <a:p>
            <a:pPr lvl="1"/>
            <a:r>
              <a:rPr lang="sv-SE">
                <a:highlight>
                  <a:srgbClr val="C0C0C0"/>
                </a:highlight>
                <a:latin typeface="Consolas" panose="020B0609020204030204" pitchFamily="49" charset="0"/>
              </a:rPr>
              <a:t>add t0, t1, zero</a:t>
            </a:r>
            <a:r>
              <a:rPr lang="sv-SE">
                <a:latin typeface="Consolas" panose="020B0609020204030204" pitchFamily="49" charset="0"/>
              </a:rPr>
              <a:t> – add </a:t>
            </a:r>
            <a:r>
              <a:rPr lang="sv-SE"/>
              <a:t>finns. Den här instruktionen gör precis vad vi ville åstadkomma!</a:t>
            </a:r>
          </a:p>
          <a:p>
            <a:r>
              <a:rPr lang="sv-SE"/>
              <a:t>Vi skriver </a:t>
            </a:r>
            <a:r>
              <a:rPr lang="sv-SE">
                <a:highlight>
                  <a:srgbClr val="C0C0C0"/>
                </a:highlight>
                <a:latin typeface="Consolas" panose="020B0609020204030204" pitchFamily="49" charset="0"/>
              </a:rPr>
              <a:t>mv</a:t>
            </a:r>
            <a:r>
              <a:rPr lang="sv-SE"/>
              <a:t> i assemblerkoden, assemblatorn översätter till </a:t>
            </a:r>
            <a:r>
              <a:rPr lang="sv-SE">
                <a:highlight>
                  <a:srgbClr val="C0C0C0"/>
                </a:highlight>
                <a:latin typeface="Consolas" panose="020B0609020204030204" pitchFamily="49" charset="0"/>
              </a:rPr>
              <a:t>add</a:t>
            </a:r>
          </a:p>
          <a:p>
            <a:r>
              <a:rPr lang="sv-SE">
                <a:highlight>
                  <a:srgbClr val="C0C0C0"/>
                </a:highlight>
                <a:latin typeface="Consolas" panose="020B0609020204030204" pitchFamily="49" charset="0"/>
              </a:rPr>
              <a:t>mv</a:t>
            </a:r>
            <a:r>
              <a:rPr lang="sv-SE"/>
              <a:t> är en </a:t>
            </a:r>
            <a:r>
              <a:rPr lang="sv-SE" i="1"/>
              <a:t>pseudoinstruktion</a:t>
            </a:r>
            <a:endParaRPr lang="LID4096"/>
          </a:p>
        </p:txBody>
      </p:sp>
      <p:sp>
        <p:nvSpPr>
          <p:cNvPr id="2" name="Title 1">
            <a:extLst>
              <a:ext uri="{FF2B5EF4-FFF2-40B4-BE49-F238E27FC236}">
                <a16:creationId xmlns:a16="http://schemas.microsoft.com/office/drawing/2014/main" id="{E66529A7-7D97-1DC5-0BF2-A2CDF7568A3F}"/>
              </a:ext>
            </a:extLst>
          </p:cNvPr>
          <p:cNvSpPr>
            <a:spLocks noGrp="1"/>
          </p:cNvSpPr>
          <p:nvPr>
            <p:ph type="title"/>
          </p:nvPr>
        </p:nvSpPr>
        <p:spPr/>
        <p:txBody>
          <a:bodyPr/>
          <a:lstStyle/>
          <a:p>
            <a:r>
              <a:rPr lang="sv-SE"/>
              <a:t>RV32I – Instruktioner och pseudoinstuktioner</a:t>
            </a:r>
            <a:endParaRPr lang="LID4096"/>
          </a:p>
        </p:txBody>
      </p:sp>
      <p:grpSp>
        <p:nvGrpSpPr>
          <p:cNvPr id="8" name="Group 7">
            <a:extLst>
              <a:ext uri="{FF2B5EF4-FFF2-40B4-BE49-F238E27FC236}">
                <a16:creationId xmlns:a16="http://schemas.microsoft.com/office/drawing/2014/main" id="{A6A160CD-5E8E-5C5B-EA12-75C07F04BCFC}"/>
              </a:ext>
            </a:extLst>
          </p:cNvPr>
          <p:cNvGrpSpPr/>
          <p:nvPr/>
        </p:nvGrpSpPr>
        <p:grpSpPr>
          <a:xfrm>
            <a:off x="6775450" y="2736850"/>
            <a:ext cx="5207000" cy="1670050"/>
            <a:chOff x="6775450" y="2736850"/>
            <a:chExt cx="5207000" cy="1670050"/>
          </a:xfrm>
        </p:grpSpPr>
        <p:sp>
          <p:nvSpPr>
            <p:cNvPr id="6" name="Rectangle 5">
              <a:extLst>
                <a:ext uri="{FF2B5EF4-FFF2-40B4-BE49-F238E27FC236}">
                  <a16:creationId xmlns:a16="http://schemas.microsoft.com/office/drawing/2014/main" id="{6092F4DE-2427-3DBB-B55C-A72122096B8A}"/>
                </a:ext>
              </a:extLst>
            </p:cNvPr>
            <p:cNvSpPr/>
            <p:nvPr/>
          </p:nvSpPr>
          <p:spPr>
            <a:xfrm>
              <a:off x="6775450" y="2736850"/>
              <a:ext cx="5207000" cy="167005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5" name="Picture 4">
              <a:extLst>
                <a:ext uri="{FF2B5EF4-FFF2-40B4-BE49-F238E27FC236}">
                  <a16:creationId xmlns:a16="http://schemas.microsoft.com/office/drawing/2014/main" id="{94C9ECA8-56CE-E9BE-A4D9-C92C1C994F93}"/>
                </a:ext>
              </a:extLst>
            </p:cNvPr>
            <p:cNvPicPr>
              <a:picLocks noChangeAspect="1"/>
            </p:cNvPicPr>
            <p:nvPr/>
          </p:nvPicPr>
          <p:blipFill>
            <a:blip r:embed="rId2"/>
            <a:stretch>
              <a:fillRect/>
            </a:stretch>
          </p:blipFill>
          <p:spPr>
            <a:xfrm>
              <a:off x="9569285" y="2771663"/>
              <a:ext cx="2362530" cy="1600423"/>
            </a:xfrm>
            <a:prstGeom prst="rect">
              <a:avLst/>
            </a:prstGeom>
          </p:spPr>
        </p:pic>
        <p:sp>
          <p:nvSpPr>
            <p:cNvPr id="7" name="TextBox 6">
              <a:extLst>
                <a:ext uri="{FF2B5EF4-FFF2-40B4-BE49-F238E27FC236}">
                  <a16:creationId xmlns:a16="http://schemas.microsoft.com/office/drawing/2014/main" id="{E090441C-64F5-0E55-8C1F-0293420F6BA2}"/>
                </a:ext>
              </a:extLst>
            </p:cNvPr>
            <p:cNvSpPr txBox="1"/>
            <p:nvPr/>
          </p:nvSpPr>
          <p:spPr>
            <a:xfrm>
              <a:off x="6775450" y="3387208"/>
              <a:ext cx="2752677" cy="369332"/>
            </a:xfrm>
            <a:prstGeom prst="rect">
              <a:avLst/>
            </a:prstGeom>
            <a:noFill/>
          </p:spPr>
          <p:txBody>
            <a:bodyPr wrap="none" rtlCol="0">
              <a:spAutoFit/>
            </a:bodyPr>
            <a:lstStyle/>
            <a:p>
              <a:r>
                <a:rPr lang="sv-SE" b="1">
                  <a:solidFill>
                    <a:schemeClr val="bg1"/>
                  </a:solidFill>
                  <a:latin typeface="Segoe Print" panose="02000600000000000000" pitchFamily="2" charset="0"/>
                </a:rPr>
                <a:t>This is the (RISC) way</a:t>
              </a:r>
              <a:endParaRPr lang="LID4096" b="1">
                <a:solidFill>
                  <a:schemeClr val="bg1"/>
                </a:solidFill>
                <a:latin typeface="Segoe Print" panose="02000600000000000000" pitchFamily="2" charset="0"/>
              </a:endParaRPr>
            </a:p>
          </p:txBody>
        </p:sp>
      </p:grpSp>
    </p:spTree>
    <p:extLst>
      <p:ext uri="{BB962C8B-B14F-4D97-AF65-F5344CB8AC3E}">
        <p14:creationId xmlns:p14="http://schemas.microsoft.com/office/powerpoint/2010/main" val="451719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500"/>
                                        <p:tgtEl>
                                          <p:spTgt spid="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nodeType="clickEffect">
                                  <p:stCondLst>
                                    <p:cond delay="0"/>
                                  </p:stCondLst>
                                  <p:childTnLst>
                                    <p:animEffect transition="out" filter="fade">
                                      <p:cBhvr>
                                        <p:cTn id="45" dur="500"/>
                                        <p:tgtEl>
                                          <p:spTgt spid="8"/>
                                        </p:tgtEl>
                                      </p:cBhvr>
                                    </p:animEffect>
                                    <p:set>
                                      <p:cBhvr>
                                        <p:cTn id="46"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711A6-523B-3EC0-AA0C-778C9E7DEE09}"/>
              </a:ext>
            </a:extLst>
          </p:cNvPr>
          <p:cNvSpPr>
            <a:spLocks noGrp="1"/>
          </p:cNvSpPr>
          <p:nvPr>
            <p:ph type="title"/>
          </p:nvPr>
        </p:nvSpPr>
        <p:spPr/>
        <p:txBody>
          <a:bodyPr/>
          <a:lstStyle/>
          <a:p>
            <a:r>
              <a:rPr lang="sv-SE"/>
              <a:t>Quickguide </a:t>
            </a:r>
            <a:endParaRPr lang="LID4096"/>
          </a:p>
        </p:txBody>
      </p:sp>
      <p:pic>
        <p:nvPicPr>
          <p:cNvPr id="6" name="Picture 5">
            <a:extLst>
              <a:ext uri="{FF2B5EF4-FFF2-40B4-BE49-F238E27FC236}">
                <a16:creationId xmlns:a16="http://schemas.microsoft.com/office/drawing/2014/main" id="{E1FA89DA-2431-83D6-0AA6-117BFBE7C74F}"/>
              </a:ext>
            </a:extLst>
          </p:cNvPr>
          <p:cNvPicPr>
            <a:picLocks noChangeAspect="1"/>
          </p:cNvPicPr>
          <p:nvPr/>
        </p:nvPicPr>
        <p:blipFill>
          <a:blip r:embed="rId3"/>
          <a:stretch>
            <a:fillRect/>
          </a:stretch>
        </p:blipFill>
        <p:spPr>
          <a:xfrm>
            <a:off x="259888" y="3683186"/>
            <a:ext cx="3283244" cy="1325563"/>
          </a:xfrm>
          <a:prstGeom prst="rect">
            <a:avLst/>
          </a:prstGeom>
        </p:spPr>
      </p:pic>
      <p:pic>
        <p:nvPicPr>
          <p:cNvPr id="8" name="Picture 7">
            <a:extLst>
              <a:ext uri="{FF2B5EF4-FFF2-40B4-BE49-F238E27FC236}">
                <a16:creationId xmlns:a16="http://schemas.microsoft.com/office/drawing/2014/main" id="{0F4EC4E3-E940-94B0-63D9-394BAEEF5F93}"/>
              </a:ext>
            </a:extLst>
          </p:cNvPr>
          <p:cNvPicPr>
            <a:picLocks noChangeAspect="1"/>
          </p:cNvPicPr>
          <p:nvPr/>
        </p:nvPicPr>
        <p:blipFill>
          <a:blip r:embed="rId4"/>
          <a:stretch>
            <a:fillRect/>
          </a:stretch>
        </p:blipFill>
        <p:spPr>
          <a:xfrm>
            <a:off x="2726713" y="2673350"/>
            <a:ext cx="4596686" cy="3943350"/>
          </a:xfrm>
          <a:prstGeom prst="rect">
            <a:avLst/>
          </a:prstGeom>
        </p:spPr>
      </p:pic>
      <p:sp>
        <p:nvSpPr>
          <p:cNvPr id="9" name="Rectangle: Rounded Corners 8">
            <a:extLst>
              <a:ext uri="{FF2B5EF4-FFF2-40B4-BE49-F238E27FC236}">
                <a16:creationId xmlns:a16="http://schemas.microsoft.com/office/drawing/2014/main" id="{08F0E186-1078-6241-6FA9-FC870944D0C5}"/>
              </a:ext>
            </a:extLst>
          </p:cNvPr>
          <p:cNvSpPr/>
          <p:nvPr/>
        </p:nvSpPr>
        <p:spPr>
          <a:xfrm>
            <a:off x="259889" y="4718049"/>
            <a:ext cx="1581612" cy="265299"/>
          </a:xfrm>
          <a:custGeom>
            <a:avLst/>
            <a:gdLst>
              <a:gd name="csX0" fmla="*/ 0 w 1581612"/>
              <a:gd name="csY0" fmla="*/ 44217 h 265299"/>
              <a:gd name="csX1" fmla="*/ 44217 w 1581612"/>
              <a:gd name="csY1" fmla="*/ 0 h 265299"/>
              <a:gd name="csX2" fmla="*/ 571807 w 1581612"/>
              <a:gd name="csY2" fmla="*/ 0 h 265299"/>
              <a:gd name="csX3" fmla="*/ 1054601 w 1581612"/>
              <a:gd name="csY3" fmla="*/ 0 h 265299"/>
              <a:gd name="csX4" fmla="*/ 1537395 w 1581612"/>
              <a:gd name="csY4" fmla="*/ 0 h 265299"/>
              <a:gd name="csX5" fmla="*/ 1581612 w 1581612"/>
              <a:gd name="csY5" fmla="*/ 44217 h 265299"/>
              <a:gd name="csX6" fmla="*/ 1581612 w 1581612"/>
              <a:gd name="csY6" fmla="*/ 221082 h 265299"/>
              <a:gd name="csX7" fmla="*/ 1537395 w 1581612"/>
              <a:gd name="csY7" fmla="*/ 265299 h 265299"/>
              <a:gd name="csX8" fmla="*/ 1069533 w 1581612"/>
              <a:gd name="csY8" fmla="*/ 265299 h 265299"/>
              <a:gd name="csX9" fmla="*/ 571807 w 1581612"/>
              <a:gd name="csY9" fmla="*/ 265299 h 265299"/>
              <a:gd name="csX10" fmla="*/ 44217 w 1581612"/>
              <a:gd name="csY10" fmla="*/ 265299 h 265299"/>
              <a:gd name="csX11" fmla="*/ 0 w 1581612"/>
              <a:gd name="csY11" fmla="*/ 221082 h 265299"/>
              <a:gd name="csX12" fmla="*/ 0 w 1581612"/>
              <a:gd name="csY12" fmla="*/ 44217 h 265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81612" h="265299" extrusionOk="0">
                <a:moveTo>
                  <a:pt x="0" y="44217"/>
                </a:moveTo>
                <a:cubicBezTo>
                  <a:pt x="-512" y="19481"/>
                  <a:pt x="18638" y="435"/>
                  <a:pt x="44217" y="0"/>
                </a:cubicBezTo>
                <a:cubicBezTo>
                  <a:pt x="265325" y="1393"/>
                  <a:pt x="388981" y="20808"/>
                  <a:pt x="571807" y="0"/>
                </a:cubicBezTo>
                <a:cubicBezTo>
                  <a:pt x="754633" y="-20808"/>
                  <a:pt x="887616" y="-16467"/>
                  <a:pt x="1054601" y="0"/>
                </a:cubicBezTo>
                <a:cubicBezTo>
                  <a:pt x="1221586" y="16467"/>
                  <a:pt x="1412549" y="-9612"/>
                  <a:pt x="1537395" y="0"/>
                </a:cubicBezTo>
                <a:cubicBezTo>
                  <a:pt x="1561606" y="-674"/>
                  <a:pt x="1582558" y="16295"/>
                  <a:pt x="1581612" y="44217"/>
                </a:cubicBezTo>
                <a:cubicBezTo>
                  <a:pt x="1586238" y="109448"/>
                  <a:pt x="1590141" y="145188"/>
                  <a:pt x="1581612" y="221082"/>
                </a:cubicBezTo>
                <a:cubicBezTo>
                  <a:pt x="1581232" y="241875"/>
                  <a:pt x="1561381" y="265903"/>
                  <a:pt x="1537395" y="265299"/>
                </a:cubicBezTo>
                <a:cubicBezTo>
                  <a:pt x="1405523" y="284630"/>
                  <a:pt x="1209926" y="284606"/>
                  <a:pt x="1069533" y="265299"/>
                </a:cubicBezTo>
                <a:cubicBezTo>
                  <a:pt x="929140" y="245992"/>
                  <a:pt x="680515" y="252963"/>
                  <a:pt x="571807" y="265299"/>
                </a:cubicBezTo>
                <a:cubicBezTo>
                  <a:pt x="463099" y="277635"/>
                  <a:pt x="255016" y="277467"/>
                  <a:pt x="44217" y="265299"/>
                </a:cubicBezTo>
                <a:cubicBezTo>
                  <a:pt x="20420" y="264683"/>
                  <a:pt x="1945" y="244248"/>
                  <a:pt x="0" y="221082"/>
                </a:cubicBezTo>
                <a:cubicBezTo>
                  <a:pt x="-2409" y="166207"/>
                  <a:pt x="-5879" y="128872"/>
                  <a:pt x="0" y="44217"/>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Picture 11">
            <a:extLst>
              <a:ext uri="{FF2B5EF4-FFF2-40B4-BE49-F238E27FC236}">
                <a16:creationId xmlns:a16="http://schemas.microsoft.com/office/drawing/2014/main" id="{41AAF4A7-CA50-C356-9DC9-B7B3DC569647}"/>
              </a:ext>
            </a:extLst>
          </p:cNvPr>
          <p:cNvPicPr>
            <a:picLocks noChangeAspect="1"/>
          </p:cNvPicPr>
          <p:nvPr/>
        </p:nvPicPr>
        <p:blipFill>
          <a:blip r:embed="rId5"/>
          <a:stretch>
            <a:fillRect/>
          </a:stretch>
        </p:blipFill>
        <p:spPr>
          <a:xfrm>
            <a:off x="7215994" y="2673350"/>
            <a:ext cx="3761771" cy="4164475"/>
          </a:xfrm>
          <a:prstGeom prst="rect">
            <a:avLst/>
          </a:prstGeom>
        </p:spPr>
      </p:pic>
      <p:sp>
        <p:nvSpPr>
          <p:cNvPr id="13" name="Rectangle: Rounded Corners 12">
            <a:extLst>
              <a:ext uri="{FF2B5EF4-FFF2-40B4-BE49-F238E27FC236}">
                <a16:creationId xmlns:a16="http://schemas.microsoft.com/office/drawing/2014/main" id="{4BF7BDC1-6CF5-EF8A-E09D-BA54210F2BB3}"/>
              </a:ext>
            </a:extLst>
          </p:cNvPr>
          <p:cNvSpPr/>
          <p:nvPr/>
        </p:nvSpPr>
        <p:spPr>
          <a:xfrm>
            <a:off x="3389742" y="3462061"/>
            <a:ext cx="585358" cy="232238"/>
          </a:xfrm>
          <a:custGeom>
            <a:avLst/>
            <a:gdLst>
              <a:gd name="csX0" fmla="*/ 0 w 585358"/>
              <a:gd name="csY0" fmla="*/ 38707 h 232238"/>
              <a:gd name="csX1" fmla="*/ 38707 w 585358"/>
              <a:gd name="csY1" fmla="*/ 0 h 232238"/>
              <a:gd name="csX2" fmla="*/ 546651 w 585358"/>
              <a:gd name="csY2" fmla="*/ 0 h 232238"/>
              <a:gd name="csX3" fmla="*/ 585358 w 585358"/>
              <a:gd name="csY3" fmla="*/ 38707 h 232238"/>
              <a:gd name="csX4" fmla="*/ 585358 w 585358"/>
              <a:gd name="csY4" fmla="*/ 193531 h 232238"/>
              <a:gd name="csX5" fmla="*/ 546651 w 585358"/>
              <a:gd name="csY5" fmla="*/ 232238 h 232238"/>
              <a:gd name="csX6" fmla="*/ 38707 w 585358"/>
              <a:gd name="csY6" fmla="*/ 232238 h 232238"/>
              <a:gd name="csX7" fmla="*/ 0 w 585358"/>
              <a:gd name="csY7" fmla="*/ 193531 h 232238"/>
              <a:gd name="csX8" fmla="*/ 0 w 585358"/>
              <a:gd name="csY8" fmla="*/ 38707 h 232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5358" h="232238" extrusionOk="0">
                <a:moveTo>
                  <a:pt x="0" y="38707"/>
                </a:moveTo>
                <a:cubicBezTo>
                  <a:pt x="-1759" y="16245"/>
                  <a:pt x="13534" y="1425"/>
                  <a:pt x="38707" y="0"/>
                </a:cubicBezTo>
                <a:cubicBezTo>
                  <a:pt x="252909" y="-21765"/>
                  <a:pt x="391034" y="4704"/>
                  <a:pt x="546651" y="0"/>
                </a:cubicBezTo>
                <a:cubicBezTo>
                  <a:pt x="565641" y="-1816"/>
                  <a:pt x="584577" y="18933"/>
                  <a:pt x="585358" y="38707"/>
                </a:cubicBezTo>
                <a:cubicBezTo>
                  <a:pt x="589507" y="70561"/>
                  <a:pt x="591024" y="138165"/>
                  <a:pt x="585358" y="193531"/>
                </a:cubicBezTo>
                <a:cubicBezTo>
                  <a:pt x="587152" y="211216"/>
                  <a:pt x="563315" y="231516"/>
                  <a:pt x="546651" y="232238"/>
                </a:cubicBezTo>
                <a:cubicBezTo>
                  <a:pt x="437716" y="209586"/>
                  <a:pt x="196193" y="244233"/>
                  <a:pt x="38707" y="232238"/>
                </a:cubicBezTo>
                <a:cubicBezTo>
                  <a:pt x="14795" y="236432"/>
                  <a:pt x="-1864" y="212746"/>
                  <a:pt x="0" y="193531"/>
                </a:cubicBezTo>
                <a:cubicBezTo>
                  <a:pt x="208" y="126014"/>
                  <a:pt x="5432" y="71538"/>
                  <a:pt x="0" y="38707"/>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331181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97F4-9CD3-FA96-AE0F-E116B51D4E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5DBBAE-D68B-DF89-FF3A-B23310A1190F}"/>
              </a:ext>
            </a:extLst>
          </p:cNvPr>
          <p:cNvSpPr>
            <a:spLocks noGrp="1"/>
          </p:cNvSpPr>
          <p:nvPr>
            <p:ph type="title"/>
          </p:nvPr>
        </p:nvSpPr>
        <p:spPr/>
        <p:txBody>
          <a:bodyPr/>
          <a:lstStyle/>
          <a:p>
            <a:r>
              <a:rPr lang="sv-SE"/>
              <a:t>Quickguide i VSCode </a:t>
            </a:r>
            <a:endParaRPr lang="LID4096"/>
          </a:p>
        </p:txBody>
      </p:sp>
      <p:pic>
        <p:nvPicPr>
          <p:cNvPr id="10" name="Picture 9">
            <a:extLst>
              <a:ext uri="{FF2B5EF4-FFF2-40B4-BE49-F238E27FC236}">
                <a16:creationId xmlns:a16="http://schemas.microsoft.com/office/drawing/2014/main" id="{C918D1EB-1531-B328-47D9-84A1E77982E0}"/>
              </a:ext>
            </a:extLst>
          </p:cNvPr>
          <p:cNvPicPr>
            <a:picLocks noChangeAspect="1"/>
          </p:cNvPicPr>
          <p:nvPr/>
        </p:nvPicPr>
        <p:blipFill>
          <a:blip r:embed="rId3"/>
          <a:stretch>
            <a:fillRect/>
          </a:stretch>
        </p:blipFill>
        <p:spPr>
          <a:xfrm>
            <a:off x="1130300" y="1690688"/>
            <a:ext cx="9749742" cy="5167312"/>
          </a:xfrm>
          <a:prstGeom prst="rect">
            <a:avLst/>
          </a:prstGeom>
        </p:spPr>
      </p:pic>
      <p:sp>
        <p:nvSpPr>
          <p:cNvPr id="11" name="Rectangle: Rounded Corners 10">
            <a:extLst>
              <a:ext uri="{FF2B5EF4-FFF2-40B4-BE49-F238E27FC236}">
                <a16:creationId xmlns:a16="http://schemas.microsoft.com/office/drawing/2014/main" id="{B924D4AF-C221-BD49-B765-69E88E508599}"/>
              </a:ext>
            </a:extLst>
          </p:cNvPr>
          <p:cNvSpPr/>
          <p:nvPr/>
        </p:nvSpPr>
        <p:spPr>
          <a:xfrm>
            <a:off x="641350" y="5175250"/>
            <a:ext cx="4394200" cy="1174750"/>
          </a:xfrm>
          <a:prstGeom prst="roundRect">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TextBox 13">
            <a:extLst>
              <a:ext uri="{FF2B5EF4-FFF2-40B4-BE49-F238E27FC236}">
                <a16:creationId xmlns:a16="http://schemas.microsoft.com/office/drawing/2014/main" id="{AB983A23-6548-7900-E1CD-CF979BC35135}"/>
              </a:ext>
            </a:extLst>
          </p:cNvPr>
          <p:cNvSpPr txBox="1"/>
          <p:nvPr/>
        </p:nvSpPr>
        <p:spPr>
          <a:xfrm>
            <a:off x="749300" y="5439459"/>
            <a:ext cx="3903633" cy="784830"/>
          </a:xfrm>
          <a:prstGeom prst="rect">
            <a:avLst/>
          </a:prstGeom>
          <a:noFill/>
        </p:spPr>
        <p:txBody>
          <a:bodyPr wrap="none" rtlCol="0">
            <a:spAutoFit/>
          </a:bodyPr>
          <a:lstStyle/>
          <a:p>
            <a:r>
              <a:rPr lang="sv-SE"/>
              <a:t>(CTRL/CMD)+SHIFT+P</a:t>
            </a:r>
          </a:p>
          <a:p>
            <a:r>
              <a:rPr lang="sv-SE"/>
              <a:t>”Simple Browser: Show”</a:t>
            </a:r>
            <a:br>
              <a:rPr lang="sv-SE"/>
            </a:br>
            <a:r>
              <a:rPr lang="en-GB" sz="900"/>
              <a:t>www.cse.chalmers.se/edu/resources/mop/lecture_notes/quickguide.html</a:t>
            </a:r>
            <a:endParaRPr lang="LID4096"/>
          </a:p>
        </p:txBody>
      </p:sp>
    </p:spTree>
    <p:extLst>
      <p:ext uri="{BB962C8B-B14F-4D97-AF65-F5344CB8AC3E}">
        <p14:creationId xmlns:p14="http://schemas.microsoft.com/office/powerpoint/2010/main" val="2581570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68AB2-B398-0889-A6EA-EE7C340B0B1E}"/>
              </a:ext>
            </a:extLst>
          </p:cNvPr>
          <p:cNvSpPr>
            <a:spLocks noGrp="1"/>
          </p:cNvSpPr>
          <p:nvPr>
            <p:ph type="title"/>
          </p:nvPr>
        </p:nvSpPr>
        <p:spPr/>
        <p:txBody>
          <a:bodyPr/>
          <a:lstStyle/>
          <a:p>
            <a:r>
              <a:rPr lang="sv-SE"/>
              <a:t>Load/Store arkitektur</a:t>
            </a:r>
            <a:endParaRPr lang="LID4096"/>
          </a:p>
        </p:txBody>
      </p:sp>
      <p:pic>
        <p:nvPicPr>
          <p:cNvPr id="5" name="Picture 4">
            <a:extLst>
              <a:ext uri="{FF2B5EF4-FFF2-40B4-BE49-F238E27FC236}">
                <a16:creationId xmlns:a16="http://schemas.microsoft.com/office/drawing/2014/main" id="{55A2001A-EF8A-585E-B67D-2928AC20A4B7}"/>
              </a:ext>
            </a:extLst>
          </p:cNvPr>
          <p:cNvPicPr>
            <a:picLocks noChangeAspect="1"/>
          </p:cNvPicPr>
          <p:nvPr/>
        </p:nvPicPr>
        <p:blipFill>
          <a:blip r:embed="rId2"/>
          <a:stretch>
            <a:fillRect/>
          </a:stretch>
        </p:blipFill>
        <p:spPr>
          <a:xfrm>
            <a:off x="951944" y="2133549"/>
            <a:ext cx="7964011" cy="724001"/>
          </a:xfrm>
          <a:prstGeom prst="rect">
            <a:avLst/>
          </a:prstGeom>
        </p:spPr>
      </p:pic>
      <p:pic>
        <p:nvPicPr>
          <p:cNvPr id="7" name="Picture 6">
            <a:extLst>
              <a:ext uri="{FF2B5EF4-FFF2-40B4-BE49-F238E27FC236}">
                <a16:creationId xmlns:a16="http://schemas.microsoft.com/office/drawing/2014/main" id="{DAEA7CDA-7466-236D-D271-C9F1A6656855}"/>
              </a:ext>
            </a:extLst>
          </p:cNvPr>
          <p:cNvPicPr>
            <a:picLocks noChangeAspect="1"/>
          </p:cNvPicPr>
          <p:nvPr/>
        </p:nvPicPr>
        <p:blipFill>
          <a:blip r:embed="rId3"/>
          <a:stretch>
            <a:fillRect/>
          </a:stretch>
        </p:blipFill>
        <p:spPr>
          <a:xfrm>
            <a:off x="951944" y="3933765"/>
            <a:ext cx="8287907" cy="733527"/>
          </a:xfrm>
          <a:prstGeom prst="rect">
            <a:avLst/>
          </a:prstGeom>
        </p:spPr>
      </p:pic>
      <p:grpSp>
        <p:nvGrpSpPr>
          <p:cNvPr id="10" name="Group 9">
            <a:extLst>
              <a:ext uri="{FF2B5EF4-FFF2-40B4-BE49-F238E27FC236}">
                <a16:creationId xmlns:a16="http://schemas.microsoft.com/office/drawing/2014/main" id="{4FDE79AD-324D-F85F-6353-B3A19B60CE47}"/>
              </a:ext>
            </a:extLst>
          </p:cNvPr>
          <p:cNvGrpSpPr/>
          <p:nvPr/>
        </p:nvGrpSpPr>
        <p:grpSpPr>
          <a:xfrm>
            <a:off x="6096000" y="3898952"/>
            <a:ext cx="5867400" cy="1670050"/>
            <a:chOff x="6115050" y="2736850"/>
            <a:chExt cx="5867400" cy="1670050"/>
          </a:xfrm>
        </p:grpSpPr>
        <p:sp>
          <p:nvSpPr>
            <p:cNvPr id="11" name="Rectangle 10">
              <a:extLst>
                <a:ext uri="{FF2B5EF4-FFF2-40B4-BE49-F238E27FC236}">
                  <a16:creationId xmlns:a16="http://schemas.microsoft.com/office/drawing/2014/main" id="{6FA21E44-84D9-4361-54E9-84C646C0B3F8}"/>
                </a:ext>
              </a:extLst>
            </p:cNvPr>
            <p:cNvSpPr/>
            <p:nvPr/>
          </p:nvSpPr>
          <p:spPr>
            <a:xfrm>
              <a:off x="6115050" y="2736850"/>
              <a:ext cx="5867400" cy="167005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Picture 11">
              <a:extLst>
                <a:ext uri="{FF2B5EF4-FFF2-40B4-BE49-F238E27FC236}">
                  <a16:creationId xmlns:a16="http://schemas.microsoft.com/office/drawing/2014/main" id="{18C667D4-7D23-2F99-66CF-503C6AFDE91C}"/>
                </a:ext>
              </a:extLst>
            </p:cNvPr>
            <p:cNvPicPr>
              <a:picLocks noChangeAspect="1"/>
            </p:cNvPicPr>
            <p:nvPr/>
          </p:nvPicPr>
          <p:blipFill>
            <a:blip r:embed="rId4"/>
            <a:stretch>
              <a:fillRect/>
            </a:stretch>
          </p:blipFill>
          <p:spPr>
            <a:xfrm>
              <a:off x="9569285" y="2771663"/>
              <a:ext cx="2362530" cy="1600423"/>
            </a:xfrm>
            <a:prstGeom prst="rect">
              <a:avLst/>
            </a:prstGeom>
          </p:spPr>
        </p:pic>
        <p:sp>
          <p:nvSpPr>
            <p:cNvPr id="13" name="TextBox 12">
              <a:extLst>
                <a:ext uri="{FF2B5EF4-FFF2-40B4-BE49-F238E27FC236}">
                  <a16:creationId xmlns:a16="http://schemas.microsoft.com/office/drawing/2014/main" id="{3D910890-B264-B58E-CBFC-E99C86CD449F}"/>
                </a:ext>
              </a:extLst>
            </p:cNvPr>
            <p:cNvSpPr txBox="1"/>
            <p:nvPr/>
          </p:nvSpPr>
          <p:spPr>
            <a:xfrm>
              <a:off x="6309536" y="3395094"/>
              <a:ext cx="3065263" cy="369332"/>
            </a:xfrm>
            <a:prstGeom prst="rect">
              <a:avLst/>
            </a:prstGeom>
            <a:noFill/>
          </p:spPr>
          <p:txBody>
            <a:bodyPr wrap="none" rtlCol="0">
              <a:spAutoFit/>
            </a:bodyPr>
            <a:lstStyle/>
            <a:p>
              <a:r>
                <a:rPr lang="sv-SE" b="1">
                  <a:solidFill>
                    <a:schemeClr val="bg1"/>
                  </a:solidFill>
                  <a:latin typeface="Segoe Print" panose="02000600000000000000" pitchFamily="2" charset="0"/>
                </a:rPr>
                <a:t>This is the (RISC-V) way</a:t>
              </a:r>
              <a:endParaRPr lang="LID4096" b="1">
                <a:solidFill>
                  <a:schemeClr val="bg1"/>
                </a:solidFill>
                <a:latin typeface="Segoe Print" panose="02000600000000000000" pitchFamily="2" charset="0"/>
              </a:endParaRPr>
            </a:p>
          </p:txBody>
        </p:sp>
      </p:grpSp>
      <p:sp>
        <p:nvSpPr>
          <p:cNvPr id="15" name="Multiplication Sign 14">
            <a:extLst>
              <a:ext uri="{FF2B5EF4-FFF2-40B4-BE49-F238E27FC236}">
                <a16:creationId xmlns:a16="http://schemas.microsoft.com/office/drawing/2014/main" id="{4ABECB33-5DB8-3B68-935B-9DEE8404E6A4}"/>
              </a:ext>
            </a:extLst>
          </p:cNvPr>
          <p:cNvSpPr/>
          <p:nvPr/>
        </p:nvSpPr>
        <p:spPr>
          <a:xfrm>
            <a:off x="-730250" y="2016721"/>
            <a:ext cx="10921835" cy="1083157"/>
          </a:xfrm>
          <a:prstGeom prst="mathMultiply">
            <a:avLst>
              <a:gd name="adj1" fmla="val 11209"/>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52D883BB-82C1-61F8-2EFF-37B53B3D55E8}"/>
              </a:ext>
            </a:extLst>
          </p:cNvPr>
          <p:cNvSpPr txBox="1"/>
          <p:nvPr/>
        </p:nvSpPr>
        <p:spPr>
          <a:xfrm>
            <a:off x="951944" y="5671283"/>
            <a:ext cx="9026061" cy="584775"/>
          </a:xfrm>
          <a:prstGeom prst="rect">
            <a:avLst/>
          </a:prstGeom>
          <a:noFill/>
        </p:spPr>
        <p:txBody>
          <a:bodyPr wrap="none" rtlCol="0">
            <a:spAutoFit/>
          </a:bodyPr>
          <a:lstStyle/>
          <a:p>
            <a:r>
              <a:rPr lang="en-GB" sz="3200"/>
              <a:t>Simplifies HW design, pipelining, and optimization</a:t>
            </a:r>
            <a:endParaRPr lang="LID4096" sz="3200"/>
          </a:p>
        </p:txBody>
      </p:sp>
      <p:sp>
        <p:nvSpPr>
          <p:cNvPr id="3" name="TextBox 2">
            <a:extLst>
              <a:ext uri="{FF2B5EF4-FFF2-40B4-BE49-F238E27FC236}">
                <a16:creationId xmlns:a16="http://schemas.microsoft.com/office/drawing/2014/main" id="{A5B93D1A-841C-C096-4A89-49836DE2D336}"/>
              </a:ext>
            </a:extLst>
          </p:cNvPr>
          <p:cNvSpPr txBox="1"/>
          <p:nvPr/>
        </p:nvSpPr>
        <p:spPr>
          <a:xfrm>
            <a:off x="951943" y="3128727"/>
            <a:ext cx="8179932" cy="369332"/>
          </a:xfrm>
          <a:prstGeom prst="rect">
            <a:avLst/>
          </a:prstGeom>
          <a:noFill/>
        </p:spPr>
        <p:txBody>
          <a:bodyPr wrap="none" rtlCol="0">
            <a:spAutoFit/>
          </a:bodyPr>
          <a:lstStyle/>
          <a:p>
            <a:r>
              <a:rPr lang="en-GB" b="1"/>
              <a:t>Load/Store: Enbart Load och Store instruktioner kommunicerar med minnet!</a:t>
            </a:r>
            <a:endParaRPr lang="LID4096" b="1"/>
          </a:p>
        </p:txBody>
      </p:sp>
    </p:spTree>
    <p:extLst>
      <p:ext uri="{BB962C8B-B14F-4D97-AF65-F5344CB8AC3E}">
        <p14:creationId xmlns:p14="http://schemas.microsoft.com/office/powerpoint/2010/main" val="2920818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nodeType="clickEffect">
                                  <p:stCondLst>
                                    <p:cond delay="0"/>
                                  </p:stCondLst>
                                  <p:childTnLst>
                                    <p:animEffect transition="out" filter="fade">
                                      <p:cBhvr>
                                        <p:cTn id="24" dur="500"/>
                                        <p:tgtEl>
                                          <p:spTgt spid="10"/>
                                        </p:tgtEl>
                                      </p:cBhvr>
                                    </p:animEffect>
                                    <p:set>
                                      <p:cBhvr>
                                        <p:cTn id="25" dur="1" fill="hold">
                                          <p:stCondLst>
                                            <p:cond delay="499"/>
                                          </p:stCondLst>
                                        </p:cTn>
                                        <p:tgtEl>
                                          <p:spTgt spid="10"/>
                                        </p:tgtEl>
                                        <p:attrNameLst>
                                          <p:attrName>style.visibility</p:attrName>
                                        </p:attrNameLst>
                                      </p:cBhvr>
                                      <p:to>
                                        <p:strVal val="hidden"/>
                                      </p:to>
                                    </p:set>
                                  </p:childTnLst>
                                </p:cTn>
                              </p:par>
                            </p:childTnLst>
                          </p:cTn>
                        </p:par>
                        <p:par>
                          <p:cTn id="26" fill="hold">
                            <p:stCondLst>
                              <p:cond delay="500"/>
                            </p:stCondLst>
                            <p:childTnLst>
                              <p:par>
                                <p:cTn id="27" presetID="10" presetClass="entr" presetSubtype="0" fill="hold" grpId="0" nodeType="after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46618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F3391-374A-6F1C-B281-FFAE66F26CA7}"/>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82433B27-9DA7-2633-12F2-8F527053B993}"/>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8ED50CD9-65F9-F580-CEBD-244FEC625F11}"/>
              </a:ext>
            </a:extLst>
          </p:cNvPr>
          <p:cNvPicPr>
            <a:picLocks noChangeAspect="1"/>
          </p:cNvPicPr>
          <p:nvPr/>
        </p:nvPicPr>
        <p:blipFill>
          <a:blip r:embed="rId4"/>
          <a:stretch>
            <a:fillRect/>
          </a:stretch>
        </p:blipFill>
        <p:spPr>
          <a:xfrm>
            <a:off x="533139" y="3632109"/>
            <a:ext cx="5973009" cy="1295581"/>
          </a:xfrm>
          <a:prstGeom prst="rect">
            <a:avLst/>
          </a:prstGeom>
        </p:spPr>
      </p:pic>
      <p:pic>
        <p:nvPicPr>
          <p:cNvPr id="10" name="Picture 9">
            <a:extLst>
              <a:ext uri="{FF2B5EF4-FFF2-40B4-BE49-F238E27FC236}">
                <a16:creationId xmlns:a16="http://schemas.microsoft.com/office/drawing/2014/main" id="{3C64BED3-AB2D-3E5A-A76F-E401662867A6}"/>
              </a:ext>
            </a:extLst>
          </p:cNvPr>
          <p:cNvPicPr>
            <a:picLocks noChangeAspect="1"/>
          </p:cNvPicPr>
          <p:nvPr/>
        </p:nvPicPr>
        <p:blipFill>
          <a:blip r:embed="rId5"/>
          <a:stretch>
            <a:fillRect/>
          </a:stretch>
        </p:blipFill>
        <p:spPr>
          <a:xfrm>
            <a:off x="6743700" y="3160555"/>
            <a:ext cx="5349033" cy="2238687"/>
          </a:xfrm>
          <a:prstGeom prst="rect">
            <a:avLst/>
          </a:prstGeom>
        </p:spPr>
      </p:pic>
      <p:sp>
        <p:nvSpPr>
          <p:cNvPr id="11" name="Rectangle: Rounded Corners 10">
            <a:extLst>
              <a:ext uri="{FF2B5EF4-FFF2-40B4-BE49-F238E27FC236}">
                <a16:creationId xmlns:a16="http://schemas.microsoft.com/office/drawing/2014/main" id="{42A235F8-BC8C-1628-C421-01ED3F404D6C}"/>
              </a:ext>
            </a:extLst>
          </p:cNvPr>
          <p:cNvSpPr/>
          <p:nvPr/>
        </p:nvSpPr>
        <p:spPr>
          <a:xfrm>
            <a:off x="6743701" y="4591049"/>
            <a:ext cx="5302250" cy="247559"/>
          </a:xfrm>
          <a:custGeom>
            <a:avLst/>
            <a:gdLst>
              <a:gd name="csX0" fmla="*/ 0 w 5302250"/>
              <a:gd name="csY0" fmla="*/ 41261 h 247559"/>
              <a:gd name="csX1" fmla="*/ 41261 w 5302250"/>
              <a:gd name="csY1" fmla="*/ 0 h 247559"/>
              <a:gd name="csX2" fmla="*/ 798122 w 5302250"/>
              <a:gd name="csY2" fmla="*/ 0 h 247559"/>
              <a:gd name="csX3" fmla="*/ 1398390 w 5302250"/>
              <a:gd name="csY3" fmla="*/ 0 h 247559"/>
              <a:gd name="csX4" fmla="*/ 1946462 w 5302250"/>
              <a:gd name="csY4" fmla="*/ 0 h 247559"/>
              <a:gd name="csX5" fmla="*/ 2651125 w 5302250"/>
              <a:gd name="csY5" fmla="*/ 0 h 247559"/>
              <a:gd name="csX6" fmla="*/ 3251394 w 5302250"/>
              <a:gd name="csY6" fmla="*/ 0 h 247559"/>
              <a:gd name="csX7" fmla="*/ 4008254 w 5302250"/>
              <a:gd name="csY7" fmla="*/ 0 h 247559"/>
              <a:gd name="csX8" fmla="*/ 4556326 w 5302250"/>
              <a:gd name="csY8" fmla="*/ 0 h 247559"/>
              <a:gd name="csX9" fmla="*/ 5260989 w 5302250"/>
              <a:gd name="csY9" fmla="*/ 0 h 247559"/>
              <a:gd name="csX10" fmla="*/ 5302250 w 5302250"/>
              <a:gd name="csY10" fmla="*/ 41261 h 247559"/>
              <a:gd name="csX11" fmla="*/ 5302250 w 5302250"/>
              <a:gd name="csY11" fmla="*/ 206298 h 247559"/>
              <a:gd name="csX12" fmla="*/ 5260989 w 5302250"/>
              <a:gd name="csY12" fmla="*/ 247559 h 247559"/>
              <a:gd name="csX13" fmla="*/ 4608523 w 5302250"/>
              <a:gd name="csY13" fmla="*/ 247559 h 247559"/>
              <a:gd name="csX14" fmla="*/ 4060452 w 5302250"/>
              <a:gd name="csY14" fmla="*/ 247559 h 247559"/>
              <a:gd name="csX15" fmla="*/ 3407986 w 5302250"/>
              <a:gd name="csY15" fmla="*/ 247559 h 247559"/>
              <a:gd name="csX16" fmla="*/ 2651125 w 5302250"/>
              <a:gd name="csY16" fmla="*/ 247559 h 247559"/>
              <a:gd name="csX17" fmla="*/ 1998659 w 5302250"/>
              <a:gd name="csY17" fmla="*/ 247559 h 247559"/>
              <a:gd name="csX18" fmla="*/ 1502785 w 5302250"/>
              <a:gd name="csY18" fmla="*/ 247559 h 247559"/>
              <a:gd name="csX19" fmla="*/ 954713 w 5302250"/>
              <a:gd name="csY19" fmla="*/ 247559 h 247559"/>
              <a:gd name="csX20" fmla="*/ 41261 w 5302250"/>
              <a:gd name="csY20" fmla="*/ 247559 h 247559"/>
              <a:gd name="csX21" fmla="*/ 0 w 5302250"/>
              <a:gd name="csY21" fmla="*/ 206298 h 247559"/>
              <a:gd name="csX22" fmla="*/ 0 w 5302250"/>
              <a:gd name="csY22" fmla="*/ 41261 h 247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02250" h="247559" extrusionOk="0">
                <a:moveTo>
                  <a:pt x="0" y="41261"/>
                </a:moveTo>
                <a:cubicBezTo>
                  <a:pt x="-2569" y="16888"/>
                  <a:pt x="14249" y="1585"/>
                  <a:pt x="41261" y="0"/>
                </a:cubicBezTo>
                <a:cubicBezTo>
                  <a:pt x="337156" y="-15155"/>
                  <a:pt x="579819" y="33119"/>
                  <a:pt x="798122" y="0"/>
                </a:cubicBezTo>
                <a:cubicBezTo>
                  <a:pt x="1016425" y="-33119"/>
                  <a:pt x="1164124" y="14715"/>
                  <a:pt x="1398390" y="0"/>
                </a:cubicBezTo>
                <a:cubicBezTo>
                  <a:pt x="1632656" y="-14715"/>
                  <a:pt x="1674770" y="15777"/>
                  <a:pt x="1946462" y="0"/>
                </a:cubicBezTo>
                <a:cubicBezTo>
                  <a:pt x="2218154" y="-15777"/>
                  <a:pt x="2406640" y="-11327"/>
                  <a:pt x="2651125" y="0"/>
                </a:cubicBezTo>
                <a:cubicBezTo>
                  <a:pt x="2895610" y="11327"/>
                  <a:pt x="3098335" y="5179"/>
                  <a:pt x="3251394" y="0"/>
                </a:cubicBezTo>
                <a:cubicBezTo>
                  <a:pt x="3404453" y="-5179"/>
                  <a:pt x="3817609" y="-12686"/>
                  <a:pt x="4008254" y="0"/>
                </a:cubicBezTo>
                <a:cubicBezTo>
                  <a:pt x="4198899" y="12686"/>
                  <a:pt x="4401013" y="-7977"/>
                  <a:pt x="4556326" y="0"/>
                </a:cubicBezTo>
                <a:cubicBezTo>
                  <a:pt x="4711639" y="7977"/>
                  <a:pt x="5035660" y="11969"/>
                  <a:pt x="5260989" y="0"/>
                </a:cubicBezTo>
                <a:cubicBezTo>
                  <a:pt x="5286140" y="568"/>
                  <a:pt x="5298066" y="17796"/>
                  <a:pt x="5302250" y="41261"/>
                </a:cubicBezTo>
                <a:cubicBezTo>
                  <a:pt x="5307775" y="101450"/>
                  <a:pt x="5305497" y="158987"/>
                  <a:pt x="5302250" y="206298"/>
                </a:cubicBezTo>
                <a:cubicBezTo>
                  <a:pt x="5302965" y="228380"/>
                  <a:pt x="5284741" y="246937"/>
                  <a:pt x="5260989" y="247559"/>
                </a:cubicBezTo>
                <a:cubicBezTo>
                  <a:pt x="4973471" y="252873"/>
                  <a:pt x="4906172" y="277349"/>
                  <a:pt x="4608523" y="247559"/>
                </a:cubicBezTo>
                <a:cubicBezTo>
                  <a:pt x="4310874" y="217769"/>
                  <a:pt x="4263366" y="269186"/>
                  <a:pt x="4060452" y="247559"/>
                </a:cubicBezTo>
                <a:cubicBezTo>
                  <a:pt x="3857538" y="225932"/>
                  <a:pt x="3715921" y="251660"/>
                  <a:pt x="3407986" y="247559"/>
                </a:cubicBezTo>
                <a:cubicBezTo>
                  <a:pt x="3100051" y="243458"/>
                  <a:pt x="3019165" y="261004"/>
                  <a:pt x="2651125" y="247559"/>
                </a:cubicBezTo>
                <a:cubicBezTo>
                  <a:pt x="2283085" y="234114"/>
                  <a:pt x="2264679" y="270724"/>
                  <a:pt x="1998659" y="247559"/>
                </a:cubicBezTo>
                <a:cubicBezTo>
                  <a:pt x="1732639" y="224394"/>
                  <a:pt x="1723732" y="240262"/>
                  <a:pt x="1502785" y="247559"/>
                </a:cubicBezTo>
                <a:cubicBezTo>
                  <a:pt x="1281838" y="254856"/>
                  <a:pt x="1069664" y="249457"/>
                  <a:pt x="954713" y="247559"/>
                </a:cubicBezTo>
                <a:cubicBezTo>
                  <a:pt x="839762" y="245661"/>
                  <a:pt x="249778" y="212676"/>
                  <a:pt x="41261" y="247559"/>
                </a:cubicBezTo>
                <a:cubicBezTo>
                  <a:pt x="23853" y="246421"/>
                  <a:pt x="304" y="231968"/>
                  <a:pt x="0" y="206298"/>
                </a:cubicBezTo>
                <a:cubicBezTo>
                  <a:pt x="-3393" y="128091"/>
                  <a:pt x="-4262" y="120075"/>
                  <a:pt x="0" y="41261"/>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Rectangle: Rounded Corners 11">
            <a:extLst>
              <a:ext uri="{FF2B5EF4-FFF2-40B4-BE49-F238E27FC236}">
                <a16:creationId xmlns:a16="http://schemas.microsoft.com/office/drawing/2014/main" id="{C6E74016-B238-EEB7-AEA3-76954DA3D5E1}"/>
              </a:ext>
            </a:extLst>
          </p:cNvPr>
          <p:cNvSpPr/>
          <p:nvPr/>
        </p:nvSpPr>
        <p:spPr>
          <a:xfrm>
            <a:off x="355601" y="4032339"/>
            <a:ext cx="774699" cy="253911"/>
          </a:xfrm>
          <a:custGeom>
            <a:avLst/>
            <a:gdLst>
              <a:gd name="csX0" fmla="*/ 0 w 774699"/>
              <a:gd name="csY0" fmla="*/ 42319 h 253911"/>
              <a:gd name="csX1" fmla="*/ 42319 w 774699"/>
              <a:gd name="csY1" fmla="*/ 0 h 253911"/>
              <a:gd name="csX2" fmla="*/ 732380 w 774699"/>
              <a:gd name="csY2" fmla="*/ 0 h 253911"/>
              <a:gd name="csX3" fmla="*/ 774699 w 774699"/>
              <a:gd name="csY3" fmla="*/ 42319 h 253911"/>
              <a:gd name="csX4" fmla="*/ 774699 w 774699"/>
              <a:gd name="csY4" fmla="*/ 211592 h 253911"/>
              <a:gd name="csX5" fmla="*/ 732380 w 774699"/>
              <a:gd name="csY5" fmla="*/ 253911 h 253911"/>
              <a:gd name="csX6" fmla="*/ 42319 w 774699"/>
              <a:gd name="csY6" fmla="*/ 253911 h 253911"/>
              <a:gd name="csX7" fmla="*/ 0 w 774699"/>
              <a:gd name="csY7" fmla="*/ 211592 h 253911"/>
              <a:gd name="csX8" fmla="*/ 0 w 774699"/>
              <a:gd name="csY8" fmla="*/ 42319 h 253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74699" h="253911" extrusionOk="0">
                <a:moveTo>
                  <a:pt x="0" y="42319"/>
                </a:moveTo>
                <a:cubicBezTo>
                  <a:pt x="-3652" y="16694"/>
                  <a:pt x="16551" y="899"/>
                  <a:pt x="42319" y="0"/>
                </a:cubicBezTo>
                <a:cubicBezTo>
                  <a:pt x="291484" y="-18909"/>
                  <a:pt x="522484" y="-25859"/>
                  <a:pt x="732380" y="0"/>
                </a:cubicBezTo>
                <a:cubicBezTo>
                  <a:pt x="753205" y="-1938"/>
                  <a:pt x="773896" y="20595"/>
                  <a:pt x="774699" y="42319"/>
                </a:cubicBezTo>
                <a:cubicBezTo>
                  <a:pt x="781997" y="108803"/>
                  <a:pt x="780899" y="136746"/>
                  <a:pt x="774699" y="211592"/>
                </a:cubicBezTo>
                <a:cubicBezTo>
                  <a:pt x="776624" y="231002"/>
                  <a:pt x="753416" y="253553"/>
                  <a:pt x="732380" y="253911"/>
                </a:cubicBezTo>
                <a:cubicBezTo>
                  <a:pt x="523061" y="269396"/>
                  <a:pt x="372592" y="279327"/>
                  <a:pt x="42319" y="253911"/>
                </a:cubicBezTo>
                <a:cubicBezTo>
                  <a:pt x="18303" y="254976"/>
                  <a:pt x="-2995" y="231490"/>
                  <a:pt x="0" y="211592"/>
                </a:cubicBezTo>
                <a:cubicBezTo>
                  <a:pt x="-2962" y="147053"/>
                  <a:pt x="-2721" y="105924"/>
                  <a:pt x="0" y="42319"/>
                </a:cubicBezTo>
                <a:close/>
              </a:path>
            </a:pathLst>
          </a:custGeom>
          <a:noFill/>
          <a:ln w="38100">
            <a:solidFill>
              <a:schemeClr val="accent1">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Rectangle: Rounded Corners 12">
            <a:extLst>
              <a:ext uri="{FF2B5EF4-FFF2-40B4-BE49-F238E27FC236}">
                <a16:creationId xmlns:a16="http://schemas.microsoft.com/office/drawing/2014/main" id="{029CF173-3D87-4C40-5C2F-CA461BB7F39D}"/>
              </a:ext>
            </a:extLst>
          </p:cNvPr>
          <p:cNvSpPr/>
          <p:nvPr/>
        </p:nvSpPr>
        <p:spPr>
          <a:xfrm>
            <a:off x="533139" y="2114417"/>
            <a:ext cx="2686312" cy="349070"/>
          </a:xfrm>
          <a:custGeom>
            <a:avLst/>
            <a:gdLst>
              <a:gd name="csX0" fmla="*/ 0 w 2686312"/>
              <a:gd name="csY0" fmla="*/ 58179 h 349070"/>
              <a:gd name="csX1" fmla="*/ 58179 w 2686312"/>
              <a:gd name="csY1" fmla="*/ 0 h 349070"/>
              <a:gd name="csX2" fmla="*/ 752067 w 2686312"/>
              <a:gd name="csY2" fmla="*/ 0 h 349070"/>
              <a:gd name="csX3" fmla="*/ 1368856 w 2686312"/>
              <a:gd name="csY3" fmla="*/ 0 h 349070"/>
              <a:gd name="csX4" fmla="*/ 1959945 w 2686312"/>
              <a:gd name="csY4" fmla="*/ 0 h 349070"/>
              <a:gd name="csX5" fmla="*/ 2628133 w 2686312"/>
              <a:gd name="csY5" fmla="*/ 0 h 349070"/>
              <a:gd name="csX6" fmla="*/ 2686312 w 2686312"/>
              <a:gd name="csY6" fmla="*/ 58179 h 349070"/>
              <a:gd name="csX7" fmla="*/ 2686312 w 2686312"/>
              <a:gd name="csY7" fmla="*/ 290891 h 349070"/>
              <a:gd name="csX8" fmla="*/ 2628133 w 2686312"/>
              <a:gd name="csY8" fmla="*/ 349070 h 349070"/>
              <a:gd name="csX9" fmla="*/ 2037044 w 2686312"/>
              <a:gd name="csY9" fmla="*/ 349070 h 349070"/>
              <a:gd name="csX10" fmla="*/ 1394555 w 2686312"/>
              <a:gd name="csY10" fmla="*/ 349070 h 349070"/>
              <a:gd name="csX11" fmla="*/ 777766 w 2686312"/>
              <a:gd name="csY11" fmla="*/ 349070 h 349070"/>
              <a:gd name="csX12" fmla="*/ 58179 w 2686312"/>
              <a:gd name="csY12" fmla="*/ 349070 h 349070"/>
              <a:gd name="csX13" fmla="*/ 0 w 2686312"/>
              <a:gd name="csY13" fmla="*/ 290891 h 349070"/>
              <a:gd name="csX14" fmla="*/ 0 w 2686312"/>
              <a:gd name="csY14"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686312" h="349070" extrusionOk="0">
                <a:moveTo>
                  <a:pt x="0" y="58179"/>
                </a:moveTo>
                <a:cubicBezTo>
                  <a:pt x="-4705" y="23146"/>
                  <a:pt x="18736" y="2744"/>
                  <a:pt x="58179" y="0"/>
                </a:cubicBezTo>
                <a:cubicBezTo>
                  <a:pt x="351409" y="-7107"/>
                  <a:pt x="453268" y="31488"/>
                  <a:pt x="752067" y="0"/>
                </a:cubicBezTo>
                <a:cubicBezTo>
                  <a:pt x="1050866" y="-31488"/>
                  <a:pt x="1134201" y="-209"/>
                  <a:pt x="1368856" y="0"/>
                </a:cubicBezTo>
                <a:cubicBezTo>
                  <a:pt x="1603511" y="209"/>
                  <a:pt x="1714551" y="-15329"/>
                  <a:pt x="1959945" y="0"/>
                </a:cubicBezTo>
                <a:cubicBezTo>
                  <a:pt x="2205339" y="15329"/>
                  <a:pt x="2464204" y="23731"/>
                  <a:pt x="2628133" y="0"/>
                </a:cubicBezTo>
                <a:cubicBezTo>
                  <a:pt x="2661089" y="-1698"/>
                  <a:pt x="2683079" y="25553"/>
                  <a:pt x="2686312" y="58179"/>
                </a:cubicBezTo>
                <a:cubicBezTo>
                  <a:pt x="2684725" y="141489"/>
                  <a:pt x="2679347" y="241584"/>
                  <a:pt x="2686312" y="290891"/>
                </a:cubicBezTo>
                <a:cubicBezTo>
                  <a:pt x="2683474" y="327717"/>
                  <a:pt x="2656443" y="344638"/>
                  <a:pt x="2628133" y="349070"/>
                </a:cubicBezTo>
                <a:cubicBezTo>
                  <a:pt x="2430355" y="351635"/>
                  <a:pt x="2277916" y="370538"/>
                  <a:pt x="2037044" y="349070"/>
                </a:cubicBezTo>
                <a:cubicBezTo>
                  <a:pt x="1796172" y="327602"/>
                  <a:pt x="1629120" y="347618"/>
                  <a:pt x="1394555" y="349070"/>
                </a:cubicBezTo>
                <a:cubicBezTo>
                  <a:pt x="1159990" y="350522"/>
                  <a:pt x="1018940" y="345134"/>
                  <a:pt x="777766" y="349070"/>
                </a:cubicBezTo>
                <a:cubicBezTo>
                  <a:pt x="536592" y="353006"/>
                  <a:pt x="258320" y="341994"/>
                  <a:pt x="58179" y="349070"/>
                </a:cubicBezTo>
                <a:cubicBezTo>
                  <a:pt x="27104" y="347760"/>
                  <a:pt x="-1379" y="322489"/>
                  <a:pt x="0" y="290891"/>
                </a:cubicBezTo>
                <a:cubicBezTo>
                  <a:pt x="-8893" y="179177"/>
                  <a:pt x="2796" y="165382"/>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Hide 0" hidden="1">
            <a:extLst>
              <a:ext uri="{FF2B5EF4-FFF2-40B4-BE49-F238E27FC236}">
                <a16:creationId xmlns:a16="http://schemas.microsoft.com/office/drawing/2014/main" id="{50218C05-BE5E-FEA1-98DF-2CED081A300B}"/>
              </a:ext>
            </a:extLst>
          </p:cNvPr>
          <p:cNvSpPr/>
          <p:nvPr/>
        </p:nvSpPr>
        <p:spPr>
          <a:xfrm>
            <a:off x="533139" y="3575050"/>
            <a:ext cx="5973009" cy="1390829"/>
          </a:xfrm>
          <a:custGeom>
            <a:avLst/>
            <a:gdLst>
              <a:gd name="csX0" fmla="*/ 0 w 5973009"/>
              <a:gd name="csY0" fmla="*/ 231809 h 1390829"/>
              <a:gd name="csX1" fmla="*/ 231809 w 5973009"/>
              <a:gd name="csY1" fmla="*/ 0 h 1390829"/>
              <a:gd name="csX2" fmla="*/ 975577 w 5973009"/>
              <a:gd name="csY2" fmla="*/ 0 h 1390829"/>
              <a:gd name="csX3" fmla="*/ 1554063 w 5973009"/>
              <a:gd name="csY3" fmla="*/ 0 h 1390829"/>
              <a:gd name="csX4" fmla="*/ 2297831 w 5973009"/>
              <a:gd name="csY4" fmla="*/ 0 h 1390829"/>
              <a:gd name="csX5" fmla="*/ 2821223 w 5973009"/>
              <a:gd name="csY5" fmla="*/ 0 h 1390829"/>
              <a:gd name="csX6" fmla="*/ 3564991 w 5973009"/>
              <a:gd name="csY6" fmla="*/ 0 h 1390829"/>
              <a:gd name="csX7" fmla="*/ 4143477 w 5973009"/>
              <a:gd name="csY7" fmla="*/ 0 h 1390829"/>
              <a:gd name="csX8" fmla="*/ 4666869 w 5973009"/>
              <a:gd name="csY8" fmla="*/ 0 h 1390829"/>
              <a:gd name="csX9" fmla="*/ 5741200 w 5973009"/>
              <a:gd name="csY9" fmla="*/ 0 h 1390829"/>
              <a:gd name="csX10" fmla="*/ 5973009 w 5973009"/>
              <a:gd name="csY10" fmla="*/ 231809 h 1390829"/>
              <a:gd name="csX11" fmla="*/ 5973009 w 5973009"/>
              <a:gd name="csY11" fmla="*/ 704687 h 1390829"/>
              <a:gd name="csX12" fmla="*/ 5973009 w 5973009"/>
              <a:gd name="csY12" fmla="*/ 1159020 h 1390829"/>
              <a:gd name="csX13" fmla="*/ 5741200 w 5973009"/>
              <a:gd name="csY13" fmla="*/ 1390829 h 1390829"/>
              <a:gd name="csX14" fmla="*/ 5217808 w 5973009"/>
              <a:gd name="csY14" fmla="*/ 1390829 h 1390829"/>
              <a:gd name="csX15" fmla="*/ 4418946 w 5973009"/>
              <a:gd name="csY15" fmla="*/ 1390829 h 1390829"/>
              <a:gd name="csX16" fmla="*/ 3730272 w 5973009"/>
              <a:gd name="csY16" fmla="*/ 1390829 h 1390829"/>
              <a:gd name="csX17" fmla="*/ 2931411 w 5973009"/>
              <a:gd name="csY17" fmla="*/ 1390829 h 1390829"/>
              <a:gd name="csX18" fmla="*/ 2187643 w 5973009"/>
              <a:gd name="csY18" fmla="*/ 1390829 h 1390829"/>
              <a:gd name="csX19" fmla="*/ 1554063 w 5973009"/>
              <a:gd name="csY19" fmla="*/ 1390829 h 1390829"/>
              <a:gd name="csX20" fmla="*/ 231809 w 5973009"/>
              <a:gd name="csY20" fmla="*/ 1390829 h 1390829"/>
              <a:gd name="csX21" fmla="*/ 0 w 5973009"/>
              <a:gd name="csY21" fmla="*/ 1159020 h 1390829"/>
              <a:gd name="csX22" fmla="*/ 0 w 5973009"/>
              <a:gd name="csY22" fmla="*/ 695415 h 1390829"/>
              <a:gd name="csX23" fmla="*/ 0 w 5973009"/>
              <a:gd name="csY23" fmla="*/ 231809 h 13908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973009" h="1390829" fill="none" extrusionOk="0">
                <a:moveTo>
                  <a:pt x="0" y="231809"/>
                </a:moveTo>
                <a:cubicBezTo>
                  <a:pt x="-13513" y="130910"/>
                  <a:pt x="94573" y="-12222"/>
                  <a:pt x="231809" y="0"/>
                </a:cubicBezTo>
                <a:cubicBezTo>
                  <a:pt x="552945" y="-15826"/>
                  <a:pt x="813309" y="-4496"/>
                  <a:pt x="975577" y="0"/>
                </a:cubicBezTo>
                <a:cubicBezTo>
                  <a:pt x="1137845" y="4496"/>
                  <a:pt x="1333437" y="-15398"/>
                  <a:pt x="1554063" y="0"/>
                </a:cubicBezTo>
                <a:cubicBezTo>
                  <a:pt x="1774689" y="15398"/>
                  <a:pt x="1992356" y="9222"/>
                  <a:pt x="2297831" y="0"/>
                </a:cubicBezTo>
                <a:cubicBezTo>
                  <a:pt x="2603306" y="-9222"/>
                  <a:pt x="2583123" y="-6321"/>
                  <a:pt x="2821223" y="0"/>
                </a:cubicBezTo>
                <a:cubicBezTo>
                  <a:pt x="3059323" y="6321"/>
                  <a:pt x="3228274" y="29514"/>
                  <a:pt x="3564991" y="0"/>
                </a:cubicBezTo>
                <a:cubicBezTo>
                  <a:pt x="3901708" y="-29514"/>
                  <a:pt x="3958263" y="6781"/>
                  <a:pt x="4143477" y="0"/>
                </a:cubicBezTo>
                <a:cubicBezTo>
                  <a:pt x="4328691" y="-6781"/>
                  <a:pt x="4457968" y="20633"/>
                  <a:pt x="4666869" y="0"/>
                </a:cubicBezTo>
                <a:cubicBezTo>
                  <a:pt x="4875770" y="-20633"/>
                  <a:pt x="5345850" y="-31284"/>
                  <a:pt x="5741200" y="0"/>
                </a:cubicBezTo>
                <a:cubicBezTo>
                  <a:pt x="5866747" y="9271"/>
                  <a:pt x="6003654" y="112574"/>
                  <a:pt x="5973009" y="231809"/>
                </a:cubicBezTo>
                <a:cubicBezTo>
                  <a:pt x="5953545" y="427882"/>
                  <a:pt x="5993421" y="588999"/>
                  <a:pt x="5973009" y="704687"/>
                </a:cubicBezTo>
                <a:cubicBezTo>
                  <a:pt x="5952597" y="820375"/>
                  <a:pt x="5968994" y="1013455"/>
                  <a:pt x="5973009" y="1159020"/>
                </a:cubicBezTo>
                <a:cubicBezTo>
                  <a:pt x="5980984" y="1306539"/>
                  <a:pt x="5874402" y="1395950"/>
                  <a:pt x="5741200" y="1390829"/>
                </a:cubicBezTo>
                <a:cubicBezTo>
                  <a:pt x="5623494" y="1412637"/>
                  <a:pt x="5424710" y="1394546"/>
                  <a:pt x="5217808" y="1390829"/>
                </a:cubicBezTo>
                <a:cubicBezTo>
                  <a:pt x="5010906" y="1387112"/>
                  <a:pt x="4721268" y="1382883"/>
                  <a:pt x="4418946" y="1390829"/>
                </a:cubicBezTo>
                <a:cubicBezTo>
                  <a:pt x="4116624" y="1398775"/>
                  <a:pt x="3914070" y="1424706"/>
                  <a:pt x="3730272" y="1390829"/>
                </a:cubicBezTo>
                <a:cubicBezTo>
                  <a:pt x="3546474" y="1356952"/>
                  <a:pt x="3094587" y="1388624"/>
                  <a:pt x="2931411" y="1390829"/>
                </a:cubicBezTo>
                <a:cubicBezTo>
                  <a:pt x="2768235" y="1393034"/>
                  <a:pt x="2525725" y="1421428"/>
                  <a:pt x="2187643" y="1390829"/>
                </a:cubicBezTo>
                <a:cubicBezTo>
                  <a:pt x="1849561" y="1360230"/>
                  <a:pt x="1781300" y="1395761"/>
                  <a:pt x="1554063" y="1390829"/>
                </a:cubicBezTo>
                <a:cubicBezTo>
                  <a:pt x="1326826" y="1385897"/>
                  <a:pt x="631364" y="1336725"/>
                  <a:pt x="231809" y="1390829"/>
                </a:cubicBezTo>
                <a:cubicBezTo>
                  <a:pt x="104003" y="1400781"/>
                  <a:pt x="18606" y="1270350"/>
                  <a:pt x="0" y="1159020"/>
                </a:cubicBezTo>
                <a:cubicBezTo>
                  <a:pt x="16073" y="1046046"/>
                  <a:pt x="12885" y="790100"/>
                  <a:pt x="0" y="695415"/>
                </a:cubicBezTo>
                <a:cubicBezTo>
                  <a:pt x="-12885" y="600731"/>
                  <a:pt x="7299" y="326830"/>
                  <a:pt x="0" y="231809"/>
                </a:cubicBezTo>
                <a:close/>
              </a:path>
              <a:path w="5973009" h="1390829" stroke="0" extrusionOk="0">
                <a:moveTo>
                  <a:pt x="0" y="231809"/>
                </a:moveTo>
                <a:cubicBezTo>
                  <a:pt x="-22126" y="90136"/>
                  <a:pt x="78194" y="9604"/>
                  <a:pt x="231809" y="0"/>
                </a:cubicBezTo>
                <a:cubicBezTo>
                  <a:pt x="561933" y="23224"/>
                  <a:pt x="823639" y="7937"/>
                  <a:pt x="1030671" y="0"/>
                </a:cubicBezTo>
                <a:cubicBezTo>
                  <a:pt x="1237703" y="-7937"/>
                  <a:pt x="1378307" y="9681"/>
                  <a:pt x="1664251" y="0"/>
                </a:cubicBezTo>
                <a:cubicBezTo>
                  <a:pt x="1950195" y="-9681"/>
                  <a:pt x="2056952" y="12130"/>
                  <a:pt x="2242737" y="0"/>
                </a:cubicBezTo>
                <a:cubicBezTo>
                  <a:pt x="2428522" y="-12130"/>
                  <a:pt x="2699976" y="-28261"/>
                  <a:pt x="2986505" y="0"/>
                </a:cubicBezTo>
                <a:cubicBezTo>
                  <a:pt x="3273034" y="28261"/>
                  <a:pt x="3327956" y="166"/>
                  <a:pt x="3620084" y="0"/>
                </a:cubicBezTo>
                <a:cubicBezTo>
                  <a:pt x="3912212" y="-166"/>
                  <a:pt x="4111747" y="-9509"/>
                  <a:pt x="4418946" y="0"/>
                </a:cubicBezTo>
                <a:cubicBezTo>
                  <a:pt x="4726145" y="9509"/>
                  <a:pt x="4847405" y="-22352"/>
                  <a:pt x="4997432" y="0"/>
                </a:cubicBezTo>
                <a:cubicBezTo>
                  <a:pt x="5147459" y="22352"/>
                  <a:pt x="5555794" y="-18288"/>
                  <a:pt x="5741200" y="0"/>
                </a:cubicBezTo>
                <a:cubicBezTo>
                  <a:pt x="5876102" y="1654"/>
                  <a:pt x="5945869" y="99394"/>
                  <a:pt x="5973009" y="231809"/>
                </a:cubicBezTo>
                <a:cubicBezTo>
                  <a:pt x="5986503" y="455798"/>
                  <a:pt x="5971529" y="581060"/>
                  <a:pt x="5973009" y="695415"/>
                </a:cubicBezTo>
                <a:cubicBezTo>
                  <a:pt x="5974489" y="809770"/>
                  <a:pt x="5969944" y="948931"/>
                  <a:pt x="5973009" y="1159020"/>
                </a:cubicBezTo>
                <a:cubicBezTo>
                  <a:pt x="5983273" y="1299618"/>
                  <a:pt x="5889402" y="1373163"/>
                  <a:pt x="5741200" y="1390829"/>
                </a:cubicBezTo>
                <a:cubicBezTo>
                  <a:pt x="5547923" y="1392453"/>
                  <a:pt x="5289015" y="1376949"/>
                  <a:pt x="5052526" y="1390829"/>
                </a:cubicBezTo>
                <a:cubicBezTo>
                  <a:pt x="4816037" y="1404709"/>
                  <a:pt x="4516611" y="1372869"/>
                  <a:pt x="4363852" y="1390829"/>
                </a:cubicBezTo>
                <a:cubicBezTo>
                  <a:pt x="4211093" y="1408789"/>
                  <a:pt x="3883242" y="1358351"/>
                  <a:pt x="3564991" y="1390829"/>
                </a:cubicBezTo>
                <a:cubicBezTo>
                  <a:pt x="3246740" y="1423307"/>
                  <a:pt x="3180396" y="1395718"/>
                  <a:pt x="2876317" y="1390829"/>
                </a:cubicBezTo>
                <a:cubicBezTo>
                  <a:pt x="2572238" y="1385940"/>
                  <a:pt x="2578354" y="1390551"/>
                  <a:pt x="2352925" y="1390829"/>
                </a:cubicBezTo>
                <a:cubicBezTo>
                  <a:pt x="2127496" y="1391107"/>
                  <a:pt x="2019442" y="1416012"/>
                  <a:pt x="1774438" y="1390829"/>
                </a:cubicBezTo>
                <a:cubicBezTo>
                  <a:pt x="1529434" y="1365646"/>
                  <a:pt x="1222706" y="1422540"/>
                  <a:pt x="975577" y="1390829"/>
                </a:cubicBezTo>
                <a:cubicBezTo>
                  <a:pt x="728448" y="1359118"/>
                  <a:pt x="428448" y="1426034"/>
                  <a:pt x="231809" y="1390829"/>
                </a:cubicBezTo>
                <a:cubicBezTo>
                  <a:pt x="113632" y="1410328"/>
                  <a:pt x="-13014" y="1293908"/>
                  <a:pt x="0" y="1159020"/>
                </a:cubicBezTo>
                <a:cubicBezTo>
                  <a:pt x="3949" y="1015896"/>
                  <a:pt x="20453" y="824356"/>
                  <a:pt x="0" y="686142"/>
                </a:cubicBezTo>
                <a:cubicBezTo>
                  <a:pt x="-20453" y="547928"/>
                  <a:pt x="10203" y="417086"/>
                  <a:pt x="0" y="231809"/>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1" hidden="1">
            <a:extLst>
              <a:ext uri="{FF2B5EF4-FFF2-40B4-BE49-F238E27FC236}">
                <a16:creationId xmlns:a16="http://schemas.microsoft.com/office/drawing/2014/main" id="{D2728637-12B8-D991-3182-645418FC7CBA}"/>
              </a:ext>
            </a:extLst>
          </p:cNvPr>
          <p:cNvSpPr/>
          <p:nvPr/>
        </p:nvSpPr>
        <p:spPr>
          <a:xfrm>
            <a:off x="311151" y="396240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Hide 2">
            <a:extLst>
              <a:ext uri="{FF2B5EF4-FFF2-40B4-BE49-F238E27FC236}">
                <a16:creationId xmlns:a16="http://schemas.microsoft.com/office/drawing/2014/main" id="{DD5D735D-4F0F-B664-D96A-C5786A3F45A8}"/>
              </a:ext>
            </a:extLst>
          </p:cNvPr>
          <p:cNvSpPr/>
          <p:nvPr/>
        </p:nvSpPr>
        <p:spPr>
          <a:xfrm>
            <a:off x="355601" y="43497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2902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par>
                          <p:cTn id="21" fill="hold">
                            <p:stCondLst>
                              <p:cond delay="500"/>
                            </p:stCondLst>
                            <p:childTnLst>
                              <p:par>
                                <p:cTn id="22" presetID="10" presetClass="exit" presetSubtype="0" fill="hold" grpId="0" nodeType="afterEffect">
                                  <p:stCondLst>
                                    <p:cond delay="0"/>
                                  </p:stCondLst>
                                  <p:childTnLst>
                                    <p:animEffect transition="out" filter="fade">
                                      <p:cBhvr>
                                        <p:cTn id="23" dur="500"/>
                                        <p:tgtEl>
                                          <p:spTgt spid="8"/>
                                        </p:tgtEl>
                                      </p:cBhvr>
                                    </p:animEffect>
                                    <p:set>
                                      <p:cBhvr>
                                        <p:cTn id="24" dur="1" fill="hold">
                                          <p:stCondLst>
                                            <p:cond delay="499"/>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14"/>
                                        </p:tgtEl>
                                      </p:cBhvr>
                                    </p:animEffect>
                                    <p:set>
                                      <p:cBhvr>
                                        <p:cTn id="34"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8"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EB02D-A121-BE5B-F73D-B8BFC4C773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7D41F-6F68-36CF-F876-61CD025903BF}"/>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2B925B2C-EF70-9513-D2F0-152665166016}"/>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D81F4E4D-1793-AFF9-FE36-6247B86BCE0D}"/>
              </a:ext>
            </a:extLst>
          </p:cNvPr>
          <p:cNvPicPr>
            <a:picLocks noChangeAspect="1"/>
          </p:cNvPicPr>
          <p:nvPr/>
        </p:nvPicPr>
        <p:blipFill>
          <a:blip r:embed="rId4"/>
          <a:stretch>
            <a:fillRect/>
          </a:stretch>
        </p:blipFill>
        <p:spPr>
          <a:xfrm>
            <a:off x="533139" y="3632109"/>
            <a:ext cx="5973009" cy="1295581"/>
          </a:xfrm>
          <a:prstGeom prst="rect">
            <a:avLst/>
          </a:prstGeom>
        </p:spPr>
      </p:pic>
      <p:pic>
        <p:nvPicPr>
          <p:cNvPr id="9" name="Picture 8">
            <a:extLst>
              <a:ext uri="{FF2B5EF4-FFF2-40B4-BE49-F238E27FC236}">
                <a16:creationId xmlns:a16="http://schemas.microsoft.com/office/drawing/2014/main" id="{D65D38E5-686A-2613-933E-F0D536E10236}"/>
              </a:ext>
            </a:extLst>
          </p:cNvPr>
          <p:cNvPicPr>
            <a:picLocks noChangeAspect="1"/>
          </p:cNvPicPr>
          <p:nvPr/>
        </p:nvPicPr>
        <p:blipFill>
          <a:blip r:embed="rId5"/>
          <a:stretch>
            <a:fillRect/>
          </a:stretch>
        </p:blipFill>
        <p:spPr>
          <a:xfrm>
            <a:off x="6858744" y="2654299"/>
            <a:ext cx="5261499" cy="3592763"/>
          </a:xfrm>
          <a:prstGeom prst="rect">
            <a:avLst/>
          </a:prstGeom>
        </p:spPr>
      </p:pic>
      <p:sp>
        <p:nvSpPr>
          <p:cNvPr id="13" name="Rectangle: Rounded Corners 12">
            <a:extLst>
              <a:ext uri="{FF2B5EF4-FFF2-40B4-BE49-F238E27FC236}">
                <a16:creationId xmlns:a16="http://schemas.microsoft.com/office/drawing/2014/main" id="{B3F18D18-8F49-4333-F067-9CAA55797781}"/>
              </a:ext>
            </a:extLst>
          </p:cNvPr>
          <p:cNvSpPr/>
          <p:nvPr/>
        </p:nvSpPr>
        <p:spPr>
          <a:xfrm>
            <a:off x="533138" y="2429938"/>
            <a:ext cx="3378461" cy="349070"/>
          </a:xfrm>
          <a:custGeom>
            <a:avLst/>
            <a:gdLst>
              <a:gd name="csX0" fmla="*/ 0 w 3378461"/>
              <a:gd name="csY0" fmla="*/ 58179 h 349070"/>
              <a:gd name="csX1" fmla="*/ 58179 w 3378461"/>
              <a:gd name="csY1" fmla="*/ 0 h 349070"/>
              <a:gd name="csX2" fmla="*/ 775842 w 3378461"/>
              <a:gd name="csY2" fmla="*/ 0 h 349070"/>
              <a:gd name="csX3" fmla="*/ 1395641 w 3378461"/>
              <a:gd name="csY3" fmla="*/ 0 h 349070"/>
              <a:gd name="csX4" fmla="*/ 1982820 w 3378461"/>
              <a:gd name="csY4" fmla="*/ 0 h 349070"/>
              <a:gd name="csX5" fmla="*/ 2667861 w 3378461"/>
              <a:gd name="csY5" fmla="*/ 0 h 349070"/>
              <a:gd name="csX6" fmla="*/ 3320282 w 3378461"/>
              <a:gd name="csY6" fmla="*/ 0 h 349070"/>
              <a:gd name="csX7" fmla="*/ 3378461 w 3378461"/>
              <a:gd name="csY7" fmla="*/ 58179 h 349070"/>
              <a:gd name="csX8" fmla="*/ 3378461 w 3378461"/>
              <a:gd name="csY8" fmla="*/ 290891 h 349070"/>
              <a:gd name="csX9" fmla="*/ 3320282 w 3378461"/>
              <a:gd name="csY9" fmla="*/ 349070 h 349070"/>
              <a:gd name="csX10" fmla="*/ 2667861 w 3378461"/>
              <a:gd name="csY10" fmla="*/ 349070 h 349070"/>
              <a:gd name="csX11" fmla="*/ 2048062 w 3378461"/>
              <a:gd name="csY11" fmla="*/ 349070 h 349070"/>
              <a:gd name="csX12" fmla="*/ 1330399 w 3378461"/>
              <a:gd name="csY12" fmla="*/ 349070 h 349070"/>
              <a:gd name="csX13" fmla="*/ 612737 w 3378461"/>
              <a:gd name="csY13" fmla="*/ 349070 h 349070"/>
              <a:gd name="csX14" fmla="*/ 58179 w 3378461"/>
              <a:gd name="csY14" fmla="*/ 349070 h 349070"/>
              <a:gd name="csX15" fmla="*/ 0 w 3378461"/>
              <a:gd name="csY15" fmla="*/ 290891 h 349070"/>
              <a:gd name="csX16" fmla="*/ 0 w 3378461"/>
              <a:gd name="csY16"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378461" h="349070" extrusionOk="0">
                <a:moveTo>
                  <a:pt x="0" y="58179"/>
                </a:moveTo>
                <a:cubicBezTo>
                  <a:pt x="-4705" y="23146"/>
                  <a:pt x="18736" y="2744"/>
                  <a:pt x="58179" y="0"/>
                </a:cubicBezTo>
                <a:cubicBezTo>
                  <a:pt x="372893" y="-21086"/>
                  <a:pt x="579309" y="-6620"/>
                  <a:pt x="775842" y="0"/>
                </a:cubicBezTo>
                <a:cubicBezTo>
                  <a:pt x="972375" y="6620"/>
                  <a:pt x="1140862" y="-2395"/>
                  <a:pt x="1395641" y="0"/>
                </a:cubicBezTo>
                <a:cubicBezTo>
                  <a:pt x="1650420" y="2395"/>
                  <a:pt x="1809761" y="-18782"/>
                  <a:pt x="1982820" y="0"/>
                </a:cubicBezTo>
                <a:cubicBezTo>
                  <a:pt x="2155879" y="18782"/>
                  <a:pt x="2448330" y="-27418"/>
                  <a:pt x="2667861" y="0"/>
                </a:cubicBezTo>
                <a:cubicBezTo>
                  <a:pt x="2887392" y="27418"/>
                  <a:pt x="3056036" y="-31298"/>
                  <a:pt x="3320282" y="0"/>
                </a:cubicBezTo>
                <a:cubicBezTo>
                  <a:pt x="3354427" y="-3278"/>
                  <a:pt x="3376115" y="28110"/>
                  <a:pt x="3378461" y="58179"/>
                </a:cubicBezTo>
                <a:cubicBezTo>
                  <a:pt x="3388759" y="132106"/>
                  <a:pt x="3376052" y="238985"/>
                  <a:pt x="3378461" y="290891"/>
                </a:cubicBezTo>
                <a:cubicBezTo>
                  <a:pt x="3379593" y="323294"/>
                  <a:pt x="3348921" y="348505"/>
                  <a:pt x="3320282" y="349070"/>
                </a:cubicBezTo>
                <a:cubicBezTo>
                  <a:pt x="3077281" y="378055"/>
                  <a:pt x="2812014" y="364200"/>
                  <a:pt x="2667861" y="349070"/>
                </a:cubicBezTo>
                <a:cubicBezTo>
                  <a:pt x="2523708" y="333940"/>
                  <a:pt x="2260732" y="328622"/>
                  <a:pt x="2048062" y="349070"/>
                </a:cubicBezTo>
                <a:cubicBezTo>
                  <a:pt x="1835392" y="369518"/>
                  <a:pt x="1618553" y="313664"/>
                  <a:pt x="1330399" y="349070"/>
                </a:cubicBezTo>
                <a:cubicBezTo>
                  <a:pt x="1042245" y="384476"/>
                  <a:pt x="790798" y="328196"/>
                  <a:pt x="612737" y="349070"/>
                </a:cubicBezTo>
                <a:cubicBezTo>
                  <a:pt x="434676" y="369944"/>
                  <a:pt x="187602" y="334089"/>
                  <a:pt x="58179" y="349070"/>
                </a:cubicBezTo>
                <a:cubicBezTo>
                  <a:pt x="24878" y="347967"/>
                  <a:pt x="-1638" y="320574"/>
                  <a:pt x="0" y="290891"/>
                </a:cubicBezTo>
                <a:cubicBezTo>
                  <a:pt x="6322" y="184640"/>
                  <a:pt x="5400" y="165240"/>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Rounded Corners 10">
            <a:extLst>
              <a:ext uri="{FF2B5EF4-FFF2-40B4-BE49-F238E27FC236}">
                <a16:creationId xmlns:a16="http://schemas.microsoft.com/office/drawing/2014/main" id="{36666448-A12E-55F7-320C-5C2F2ED790E0}"/>
              </a:ext>
            </a:extLst>
          </p:cNvPr>
          <p:cNvSpPr/>
          <p:nvPr/>
        </p:nvSpPr>
        <p:spPr>
          <a:xfrm>
            <a:off x="6902710" y="3305220"/>
            <a:ext cx="5105140" cy="247559"/>
          </a:xfrm>
          <a:custGeom>
            <a:avLst/>
            <a:gdLst>
              <a:gd name="csX0" fmla="*/ 0 w 5105140"/>
              <a:gd name="csY0" fmla="*/ 41261 h 247559"/>
              <a:gd name="csX1" fmla="*/ 41261 w 5105140"/>
              <a:gd name="csY1" fmla="*/ 0 h 247559"/>
              <a:gd name="csX2" fmla="*/ 769541 w 5105140"/>
              <a:gd name="csY2" fmla="*/ 0 h 247559"/>
              <a:gd name="csX3" fmla="*/ 1347142 w 5105140"/>
              <a:gd name="csY3" fmla="*/ 0 h 247559"/>
              <a:gd name="csX4" fmla="*/ 1874517 w 5105140"/>
              <a:gd name="csY4" fmla="*/ 0 h 247559"/>
              <a:gd name="csX5" fmla="*/ 2552570 w 5105140"/>
              <a:gd name="csY5" fmla="*/ 0 h 247559"/>
              <a:gd name="csX6" fmla="*/ 3130171 w 5105140"/>
              <a:gd name="csY6" fmla="*/ 0 h 247559"/>
              <a:gd name="csX7" fmla="*/ 3858451 w 5105140"/>
              <a:gd name="csY7" fmla="*/ 0 h 247559"/>
              <a:gd name="csX8" fmla="*/ 4385826 w 5105140"/>
              <a:gd name="csY8" fmla="*/ 0 h 247559"/>
              <a:gd name="csX9" fmla="*/ 5063879 w 5105140"/>
              <a:gd name="csY9" fmla="*/ 0 h 247559"/>
              <a:gd name="csX10" fmla="*/ 5105140 w 5105140"/>
              <a:gd name="csY10" fmla="*/ 41261 h 247559"/>
              <a:gd name="csX11" fmla="*/ 5105140 w 5105140"/>
              <a:gd name="csY11" fmla="*/ 206298 h 247559"/>
              <a:gd name="csX12" fmla="*/ 5063879 w 5105140"/>
              <a:gd name="csY12" fmla="*/ 247559 h 247559"/>
              <a:gd name="csX13" fmla="*/ 4436052 w 5105140"/>
              <a:gd name="csY13" fmla="*/ 247559 h 247559"/>
              <a:gd name="csX14" fmla="*/ 3908677 w 5105140"/>
              <a:gd name="csY14" fmla="*/ 247559 h 247559"/>
              <a:gd name="csX15" fmla="*/ 3280850 w 5105140"/>
              <a:gd name="csY15" fmla="*/ 247559 h 247559"/>
              <a:gd name="csX16" fmla="*/ 2552570 w 5105140"/>
              <a:gd name="csY16" fmla="*/ 247559 h 247559"/>
              <a:gd name="csX17" fmla="*/ 1924743 w 5105140"/>
              <a:gd name="csY17" fmla="*/ 247559 h 247559"/>
              <a:gd name="csX18" fmla="*/ 1447594 w 5105140"/>
              <a:gd name="csY18" fmla="*/ 247559 h 247559"/>
              <a:gd name="csX19" fmla="*/ 920219 w 5105140"/>
              <a:gd name="csY19" fmla="*/ 247559 h 247559"/>
              <a:gd name="csX20" fmla="*/ 41261 w 5105140"/>
              <a:gd name="csY20" fmla="*/ 247559 h 247559"/>
              <a:gd name="csX21" fmla="*/ 0 w 5105140"/>
              <a:gd name="csY21" fmla="*/ 206298 h 247559"/>
              <a:gd name="csX22" fmla="*/ 0 w 5105140"/>
              <a:gd name="csY22" fmla="*/ 41261 h 247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05140" h="247559" extrusionOk="0">
                <a:moveTo>
                  <a:pt x="0" y="41261"/>
                </a:moveTo>
                <a:cubicBezTo>
                  <a:pt x="-2569" y="16888"/>
                  <a:pt x="14249" y="1585"/>
                  <a:pt x="41261" y="0"/>
                </a:cubicBezTo>
                <a:cubicBezTo>
                  <a:pt x="394069" y="-36299"/>
                  <a:pt x="619950" y="-3829"/>
                  <a:pt x="769541" y="0"/>
                </a:cubicBezTo>
                <a:cubicBezTo>
                  <a:pt x="919132" y="3829"/>
                  <a:pt x="1091533" y="10520"/>
                  <a:pt x="1347142" y="0"/>
                </a:cubicBezTo>
                <a:cubicBezTo>
                  <a:pt x="1602751" y="-10520"/>
                  <a:pt x="1700338" y="-17066"/>
                  <a:pt x="1874517" y="0"/>
                </a:cubicBezTo>
                <a:cubicBezTo>
                  <a:pt x="2048696" y="17066"/>
                  <a:pt x="2315163" y="-28553"/>
                  <a:pt x="2552570" y="0"/>
                </a:cubicBezTo>
                <a:cubicBezTo>
                  <a:pt x="2789977" y="28553"/>
                  <a:pt x="2982279" y="7212"/>
                  <a:pt x="3130171" y="0"/>
                </a:cubicBezTo>
                <a:cubicBezTo>
                  <a:pt x="3278063" y="-7212"/>
                  <a:pt x="3584798" y="28241"/>
                  <a:pt x="3858451" y="0"/>
                </a:cubicBezTo>
                <a:cubicBezTo>
                  <a:pt x="4132104" y="-28241"/>
                  <a:pt x="4220197" y="5351"/>
                  <a:pt x="4385826" y="0"/>
                </a:cubicBezTo>
                <a:cubicBezTo>
                  <a:pt x="4551455" y="-5351"/>
                  <a:pt x="4814871" y="30441"/>
                  <a:pt x="5063879" y="0"/>
                </a:cubicBezTo>
                <a:cubicBezTo>
                  <a:pt x="5089030" y="568"/>
                  <a:pt x="5100956" y="17796"/>
                  <a:pt x="5105140" y="41261"/>
                </a:cubicBezTo>
                <a:cubicBezTo>
                  <a:pt x="5110665" y="101450"/>
                  <a:pt x="5108387" y="158987"/>
                  <a:pt x="5105140" y="206298"/>
                </a:cubicBezTo>
                <a:cubicBezTo>
                  <a:pt x="5105855" y="228380"/>
                  <a:pt x="5087631" y="246937"/>
                  <a:pt x="5063879" y="247559"/>
                </a:cubicBezTo>
                <a:cubicBezTo>
                  <a:pt x="4920877" y="234817"/>
                  <a:pt x="4714794" y="230281"/>
                  <a:pt x="4436052" y="247559"/>
                </a:cubicBezTo>
                <a:cubicBezTo>
                  <a:pt x="4157310" y="264837"/>
                  <a:pt x="4055441" y="253344"/>
                  <a:pt x="3908677" y="247559"/>
                </a:cubicBezTo>
                <a:cubicBezTo>
                  <a:pt x="3761914" y="241774"/>
                  <a:pt x="3421400" y="262855"/>
                  <a:pt x="3280850" y="247559"/>
                </a:cubicBezTo>
                <a:cubicBezTo>
                  <a:pt x="3140300" y="232263"/>
                  <a:pt x="2783880" y="246009"/>
                  <a:pt x="2552570" y="247559"/>
                </a:cubicBezTo>
                <a:cubicBezTo>
                  <a:pt x="2321260" y="249109"/>
                  <a:pt x="2215795" y="228968"/>
                  <a:pt x="1924743" y="247559"/>
                </a:cubicBezTo>
                <a:cubicBezTo>
                  <a:pt x="1633691" y="266150"/>
                  <a:pt x="1586781" y="267960"/>
                  <a:pt x="1447594" y="247559"/>
                </a:cubicBezTo>
                <a:cubicBezTo>
                  <a:pt x="1308407" y="227158"/>
                  <a:pt x="1099983" y="226745"/>
                  <a:pt x="920219" y="247559"/>
                </a:cubicBezTo>
                <a:cubicBezTo>
                  <a:pt x="740456" y="268373"/>
                  <a:pt x="389683" y="244295"/>
                  <a:pt x="41261" y="247559"/>
                </a:cubicBezTo>
                <a:cubicBezTo>
                  <a:pt x="23853" y="246421"/>
                  <a:pt x="304" y="231968"/>
                  <a:pt x="0" y="206298"/>
                </a:cubicBezTo>
                <a:cubicBezTo>
                  <a:pt x="-3393" y="128091"/>
                  <a:pt x="-4262" y="120075"/>
                  <a:pt x="0" y="41261"/>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2">
            <a:extLst>
              <a:ext uri="{FF2B5EF4-FFF2-40B4-BE49-F238E27FC236}">
                <a16:creationId xmlns:a16="http://schemas.microsoft.com/office/drawing/2014/main" id="{A57B0902-826F-FE67-8C00-12562F3517A5}"/>
              </a:ext>
            </a:extLst>
          </p:cNvPr>
          <p:cNvSpPr/>
          <p:nvPr/>
        </p:nvSpPr>
        <p:spPr>
          <a:xfrm>
            <a:off x="345944" y="45656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Hide 2">
            <a:extLst>
              <a:ext uri="{FF2B5EF4-FFF2-40B4-BE49-F238E27FC236}">
                <a16:creationId xmlns:a16="http://schemas.microsoft.com/office/drawing/2014/main" id="{EE47607D-DD6D-34F4-D113-8EC2BEFA070F}"/>
              </a:ext>
            </a:extLst>
          </p:cNvPr>
          <p:cNvSpPr/>
          <p:nvPr/>
        </p:nvSpPr>
        <p:spPr>
          <a:xfrm>
            <a:off x="335048" y="4265087"/>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06336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0" nodeType="clickEffect">
                                  <p:stCondLst>
                                    <p:cond delay="0"/>
                                  </p:stCondLst>
                                  <p:childTnLst>
                                    <p:animEffect transition="out" filter="fade">
                                      <p:cBhvr>
                                        <p:cTn id="21" dur="500"/>
                                        <p:tgtEl>
                                          <p:spTgt spid="15"/>
                                        </p:tgtEl>
                                      </p:cBhvr>
                                    </p:animEffect>
                                    <p:set>
                                      <p:cBhvr>
                                        <p:cTn id="22"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1" grpId="0" animBg="1"/>
      <p:bldP spid="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48ADD-60F3-7A10-7A87-8B982CEE9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603CB-50EC-38BB-0E04-FD9131DF7CDE}"/>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15506B5A-F82D-9466-D7AF-23F1CF117763}"/>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9F56ACEE-AD23-DCD6-852D-A14C901F7440}"/>
              </a:ext>
            </a:extLst>
          </p:cNvPr>
          <p:cNvPicPr>
            <a:picLocks noChangeAspect="1"/>
          </p:cNvPicPr>
          <p:nvPr/>
        </p:nvPicPr>
        <p:blipFill>
          <a:blip r:embed="rId4"/>
          <a:stretch>
            <a:fillRect/>
          </a:stretch>
        </p:blipFill>
        <p:spPr>
          <a:xfrm>
            <a:off x="533139" y="3632109"/>
            <a:ext cx="5973009" cy="1295581"/>
          </a:xfrm>
          <a:prstGeom prst="rect">
            <a:avLst/>
          </a:prstGeom>
        </p:spPr>
      </p:pic>
      <p:sp>
        <p:nvSpPr>
          <p:cNvPr id="13" name="Rectangle: Rounded Corners 12">
            <a:extLst>
              <a:ext uri="{FF2B5EF4-FFF2-40B4-BE49-F238E27FC236}">
                <a16:creationId xmlns:a16="http://schemas.microsoft.com/office/drawing/2014/main" id="{27FD2A73-5B5F-B37B-7FBB-C9CA78D6DB07}"/>
              </a:ext>
            </a:extLst>
          </p:cNvPr>
          <p:cNvSpPr/>
          <p:nvPr/>
        </p:nvSpPr>
        <p:spPr>
          <a:xfrm>
            <a:off x="533139" y="2717980"/>
            <a:ext cx="3378461" cy="349070"/>
          </a:xfrm>
          <a:custGeom>
            <a:avLst/>
            <a:gdLst>
              <a:gd name="csX0" fmla="*/ 0 w 3378461"/>
              <a:gd name="csY0" fmla="*/ 58179 h 349070"/>
              <a:gd name="csX1" fmla="*/ 58179 w 3378461"/>
              <a:gd name="csY1" fmla="*/ 0 h 349070"/>
              <a:gd name="csX2" fmla="*/ 775842 w 3378461"/>
              <a:gd name="csY2" fmla="*/ 0 h 349070"/>
              <a:gd name="csX3" fmla="*/ 1395641 w 3378461"/>
              <a:gd name="csY3" fmla="*/ 0 h 349070"/>
              <a:gd name="csX4" fmla="*/ 1982820 w 3378461"/>
              <a:gd name="csY4" fmla="*/ 0 h 349070"/>
              <a:gd name="csX5" fmla="*/ 2667861 w 3378461"/>
              <a:gd name="csY5" fmla="*/ 0 h 349070"/>
              <a:gd name="csX6" fmla="*/ 3320282 w 3378461"/>
              <a:gd name="csY6" fmla="*/ 0 h 349070"/>
              <a:gd name="csX7" fmla="*/ 3378461 w 3378461"/>
              <a:gd name="csY7" fmla="*/ 58179 h 349070"/>
              <a:gd name="csX8" fmla="*/ 3378461 w 3378461"/>
              <a:gd name="csY8" fmla="*/ 290891 h 349070"/>
              <a:gd name="csX9" fmla="*/ 3320282 w 3378461"/>
              <a:gd name="csY9" fmla="*/ 349070 h 349070"/>
              <a:gd name="csX10" fmla="*/ 2667861 w 3378461"/>
              <a:gd name="csY10" fmla="*/ 349070 h 349070"/>
              <a:gd name="csX11" fmla="*/ 2048062 w 3378461"/>
              <a:gd name="csY11" fmla="*/ 349070 h 349070"/>
              <a:gd name="csX12" fmla="*/ 1330399 w 3378461"/>
              <a:gd name="csY12" fmla="*/ 349070 h 349070"/>
              <a:gd name="csX13" fmla="*/ 612737 w 3378461"/>
              <a:gd name="csY13" fmla="*/ 349070 h 349070"/>
              <a:gd name="csX14" fmla="*/ 58179 w 3378461"/>
              <a:gd name="csY14" fmla="*/ 349070 h 349070"/>
              <a:gd name="csX15" fmla="*/ 0 w 3378461"/>
              <a:gd name="csY15" fmla="*/ 290891 h 349070"/>
              <a:gd name="csX16" fmla="*/ 0 w 3378461"/>
              <a:gd name="csY16"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378461" h="349070" extrusionOk="0">
                <a:moveTo>
                  <a:pt x="0" y="58179"/>
                </a:moveTo>
                <a:cubicBezTo>
                  <a:pt x="-4705" y="23146"/>
                  <a:pt x="18736" y="2744"/>
                  <a:pt x="58179" y="0"/>
                </a:cubicBezTo>
                <a:cubicBezTo>
                  <a:pt x="372893" y="-21086"/>
                  <a:pt x="579309" y="-6620"/>
                  <a:pt x="775842" y="0"/>
                </a:cubicBezTo>
                <a:cubicBezTo>
                  <a:pt x="972375" y="6620"/>
                  <a:pt x="1140862" y="-2395"/>
                  <a:pt x="1395641" y="0"/>
                </a:cubicBezTo>
                <a:cubicBezTo>
                  <a:pt x="1650420" y="2395"/>
                  <a:pt x="1809761" y="-18782"/>
                  <a:pt x="1982820" y="0"/>
                </a:cubicBezTo>
                <a:cubicBezTo>
                  <a:pt x="2155879" y="18782"/>
                  <a:pt x="2448330" y="-27418"/>
                  <a:pt x="2667861" y="0"/>
                </a:cubicBezTo>
                <a:cubicBezTo>
                  <a:pt x="2887392" y="27418"/>
                  <a:pt x="3056036" y="-31298"/>
                  <a:pt x="3320282" y="0"/>
                </a:cubicBezTo>
                <a:cubicBezTo>
                  <a:pt x="3354427" y="-3278"/>
                  <a:pt x="3376115" y="28110"/>
                  <a:pt x="3378461" y="58179"/>
                </a:cubicBezTo>
                <a:cubicBezTo>
                  <a:pt x="3388759" y="132106"/>
                  <a:pt x="3376052" y="238985"/>
                  <a:pt x="3378461" y="290891"/>
                </a:cubicBezTo>
                <a:cubicBezTo>
                  <a:pt x="3379593" y="323294"/>
                  <a:pt x="3348921" y="348505"/>
                  <a:pt x="3320282" y="349070"/>
                </a:cubicBezTo>
                <a:cubicBezTo>
                  <a:pt x="3077281" y="378055"/>
                  <a:pt x="2812014" y="364200"/>
                  <a:pt x="2667861" y="349070"/>
                </a:cubicBezTo>
                <a:cubicBezTo>
                  <a:pt x="2523708" y="333940"/>
                  <a:pt x="2260732" y="328622"/>
                  <a:pt x="2048062" y="349070"/>
                </a:cubicBezTo>
                <a:cubicBezTo>
                  <a:pt x="1835392" y="369518"/>
                  <a:pt x="1618553" y="313664"/>
                  <a:pt x="1330399" y="349070"/>
                </a:cubicBezTo>
                <a:cubicBezTo>
                  <a:pt x="1042245" y="384476"/>
                  <a:pt x="790798" y="328196"/>
                  <a:pt x="612737" y="349070"/>
                </a:cubicBezTo>
                <a:cubicBezTo>
                  <a:pt x="434676" y="369944"/>
                  <a:pt x="187602" y="334089"/>
                  <a:pt x="58179" y="349070"/>
                </a:cubicBezTo>
                <a:cubicBezTo>
                  <a:pt x="24878" y="347967"/>
                  <a:pt x="-1638" y="320574"/>
                  <a:pt x="0" y="290891"/>
                </a:cubicBezTo>
                <a:cubicBezTo>
                  <a:pt x="6322" y="184640"/>
                  <a:pt x="5400" y="165240"/>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2">
            <a:extLst>
              <a:ext uri="{FF2B5EF4-FFF2-40B4-BE49-F238E27FC236}">
                <a16:creationId xmlns:a16="http://schemas.microsoft.com/office/drawing/2014/main" id="{193D4FBD-27B5-B6B9-B58A-B322F81CE7E1}"/>
              </a:ext>
            </a:extLst>
          </p:cNvPr>
          <p:cNvSpPr/>
          <p:nvPr/>
        </p:nvSpPr>
        <p:spPr>
          <a:xfrm>
            <a:off x="345944" y="45656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4" name="Picture 3">
            <a:extLst>
              <a:ext uri="{FF2B5EF4-FFF2-40B4-BE49-F238E27FC236}">
                <a16:creationId xmlns:a16="http://schemas.microsoft.com/office/drawing/2014/main" id="{E3CCFD14-F0A9-6589-A757-90762479E65B}"/>
              </a:ext>
            </a:extLst>
          </p:cNvPr>
          <p:cNvPicPr>
            <a:picLocks noChangeAspect="1"/>
          </p:cNvPicPr>
          <p:nvPr/>
        </p:nvPicPr>
        <p:blipFill>
          <a:blip r:embed="rId5"/>
          <a:stretch>
            <a:fillRect/>
          </a:stretch>
        </p:blipFill>
        <p:spPr>
          <a:xfrm>
            <a:off x="7230298" y="1690688"/>
            <a:ext cx="4961702" cy="5167312"/>
          </a:xfrm>
          <a:prstGeom prst="rect">
            <a:avLst/>
          </a:prstGeom>
        </p:spPr>
      </p:pic>
      <p:sp>
        <p:nvSpPr>
          <p:cNvPr id="11" name="Rectangle: Rounded Corners 10">
            <a:extLst>
              <a:ext uri="{FF2B5EF4-FFF2-40B4-BE49-F238E27FC236}">
                <a16:creationId xmlns:a16="http://schemas.microsoft.com/office/drawing/2014/main" id="{F09FA874-5E95-A915-9950-EBD877F726E1}"/>
              </a:ext>
            </a:extLst>
          </p:cNvPr>
          <p:cNvSpPr/>
          <p:nvPr/>
        </p:nvSpPr>
        <p:spPr>
          <a:xfrm>
            <a:off x="7230298" y="4318001"/>
            <a:ext cx="4847402" cy="247650"/>
          </a:xfrm>
          <a:custGeom>
            <a:avLst/>
            <a:gdLst>
              <a:gd name="csX0" fmla="*/ 0 w 4847402"/>
              <a:gd name="csY0" fmla="*/ 41276 h 247650"/>
              <a:gd name="csX1" fmla="*/ 41276 w 4847402"/>
              <a:gd name="csY1" fmla="*/ 0 h 247650"/>
              <a:gd name="csX2" fmla="*/ 817266 w 4847402"/>
              <a:gd name="csY2" fmla="*/ 0 h 247650"/>
              <a:gd name="csX3" fmla="*/ 1450310 w 4847402"/>
              <a:gd name="csY3" fmla="*/ 0 h 247650"/>
              <a:gd name="csX4" fmla="*/ 2035706 w 4847402"/>
              <a:gd name="csY4" fmla="*/ 0 h 247650"/>
              <a:gd name="csX5" fmla="*/ 2764047 w 4847402"/>
              <a:gd name="csY5" fmla="*/ 0 h 247650"/>
              <a:gd name="csX6" fmla="*/ 3397092 w 4847402"/>
              <a:gd name="csY6" fmla="*/ 0 h 247650"/>
              <a:gd name="csX7" fmla="*/ 4173082 w 4847402"/>
              <a:gd name="csY7" fmla="*/ 0 h 247650"/>
              <a:gd name="csX8" fmla="*/ 4806126 w 4847402"/>
              <a:gd name="csY8" fmla="*/ 0 h 247650"/>
              <a:gd name="csX9" fmla="*/ 4847402 w 4847402"/>
              <a:gd name="csY9" fmla="*/ 41276 h 247650"/>
              <a:gd name="csX10" fmla="*/ 4847402 w 4847402"/>
              <a:gd name="csY10" fmla="*/ 206374 h 247650"/>
              <a:gd name="csX11" fmla="*/ 4806126 w 4847402"/>
              <a:gd name="csY11" fmla="*/ 247650 h 247650"/>
              <a:gd name="csX12" fmla="*/ 4268379 w 4847402"/>
              <a:gd name="csY12" fmla="*/ 247650 h 247650"/>
              <a:gd name="csX13" fmla="*/ 3492389 w 4847402"/>
              <a:gd name="csY13" fmla="*/ 247650 h 247650"/>
              <a:gd name="csX14" fmla="*/ 2906993 w 4847402"/>
              <a:gd name="csY14" fmla="*/ 247650 h 247650"/>
              <a:gd name="csX15" fmla="*/ 2226300 w 4847402"/>
              <a:gd name="csY15" fmla="*/ 247650 h 247650"/>
              <a:gd name="csX16" fmla="*/ 1450310 w 4847402"/>
              <a:gd name="csY16" fmla="*/ 247650 h 247650"/>
              <a:gd name="csX17" fmla="*/ 769617 w 4847402"/>
              <a:gd name="csY17" fmla="*/ 247650 h 247650"/>
              <a:gd name="csX18" fmla="*/ 41276 w 4847402"/>
              <a:gd name="csY18" fmla="*/ 247650 h 247650"/>
              <a:gd name="csX19" fmla="*/ 0 w 4847402"/>
              <a:gd name="csY19" fmla="*/ 206374 h 247650"/>
              <a:gd name="csX20" fmla="*/ 0 w 4847402"/>
              <a:gd name="csY20" fmla="*/ 41276 h 247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847402" h="247650" extrusionOk="0">
                <a:moveTo>
                  <a:pt x="0" y="41276"/>
                </a:moveTo>
                <a:cubicBezTo>
                  <a:pt x="-4608" y="15638"/>
                  <a:pt x="14613" y="1451"/>
                  <a:pt x="41276" y="0"/>
                </a:cubicBezTo>
                <a:cubicBezTo>
                  <a:pt x="263940" y="21192"/>
                  <a:pt x="476886" y="3626"/>
                  <a:pt x="817266" y="0"/>
                </a:cubicBezTo>
                <a:cubicBezTo>
                  <a:pt x="1157646" y="-3626"/>
                  <a:pt x="1187970" y="25162"/>
                  <a:pt x="1450310" y="0"/>
                </a:cubicBezTo>
                <a:cubicBezTo>
                  <a:pt x="1712650" y="-25162"/>
                  <a:pt x="1895633" y="13942"/>
                  <a:pt x="2035706" y="0"/>
                </a:cubicBezTo>
                <a:cubicBezTo>
                  <a:pt x="2175779" y="-13942"/>
                  <a:pt x="2608847" y="-6160"/>
                  <a:pt x="2764047" y="0"/>
                </a:cubicBezTo>
                <a:cubicBezTo>
                  <a:pt x="2919247" y="6160"/>
                  <a:pt x="3103743" y="-29055"/>
                  <a:pt x="3397092" y="0"/>
                </a:cubicBezTo>
                <a:cubicBezTo>
                  <a:pt x="3690441" y="29055"/>
                  <a:pt x="3942932" y="-22056"/>
                  <a:pt x="4173082" y="0"/>
                </a:cubicBezTo>
                <a:cubicBezTo>
                  <a:pt x="4403232" y="22056"/>
                  <a:pt x="4544652" y="-14556"/>
                  <a:pt x="4806126" y="0"/>
                </a:cubicBezTo>
                <a:cubicBezTo>
                  <a:pt x="4827082" y="3044"/>
                  <a:pt x="4845457" y="16224"/>
                  <a:pt x="4847402" y="41276"/>
                </a:cubicBezTo>
                <a:cubicBezTo>
                  <a:pt x="4851401" y="97944"/>
                  <a:pt x="4855312" y="128242"/>
                  <a:pt x="4847402" y="206374"/>
                </a:cubicBezTo>
                <a:cubicBezTo>
                  <a:pt x="4850161" y="233276"/>
                  <a:pt x="4829078" y="249270"/>
                  <a:pt x="4806126" y="247650"/>
                </a:cubicBezTo>
                <a:cubicBezTo>
                  <a:pt x="4670374" y="227030"/>
                  <a:pt x="4455010" y="253926"/>
                  <a:pt x="4268379" y="247650"/>
                </a:cubicBezTo>
                <a:cubicBezTo>
                  <a:pt x="4081748" y="241374"/>
                  <a:pt x="3853075" y="244458"/>
                  <a:pt x="3492389" y="247650"/>
                </a:cubicBezTo>
                <a:cubicBezTo>
                  <a:pt x="3131703" y="250843"/>
                  <a:pt x="3125060" y="220277"/>
                  <a:pt x="2906993" y="247650"/>
                </a:cubicBezTo>
                <a:cubicBezTo>
                  <a:pt x="2688926" y="275023"/>
                  <a:pt x="2528559" y="220297"/>
                  <a:pt x="2226300" y="247650"/>
                </a:cubicBezTo>
                <a:cubicBezTo>
                  <a:pt x="1924041" y="275003"/>
                  <a:pt x="1796407" y="278554"/>
                  <a:pt x="1450310" y="247650"/>
                </a:cubicBezTo>
                <a:cubicBezTo>
                  <a:pt x="1104213" y="216747"/>
                  <a:pt x="988661" y="261548"/>
                  <a:pt x="769617" y="247650"/>
                </a:cubicBezTo>
                <a:cubicBezTo>
                  <a:pt x="550573" y="233752"/>
                  <a:pt x="203049" y="227432"/>
                  <a:pt x="41276" y="247650"/>
                </a:cubicBezTo>
                <a:cubicBezTo>
                  <a:pt x="17496" y="247691"/>
                  <a:pt x="2474" y="224709"/>
                  <a:pt x="0" y="206374"/>
                </a:cubicBezTo>
                <a:cubicBezTo>
                  <a:pt x="172" y="148086"/>
                  <a:pt x="-7576" y="111535"/>
                  <a:pt x="0" y="41276"/>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7966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14"/>
                                        </p:tgtEl>
                                      </p:cBhvr>
                                    </p:animEffect>
                                    <p:set>
                                      <p:cBhvr>
                                        <p:cTn id="17"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6E1FE-24F2-650A-737C-F63CD3C87784}"/>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053CCFD9-2059-D987-7363-A0569ADC8205}"/>
              </a:ext>
            </a:extLst>
          </p:cNvPr>
          <p:cNvPicPr>
            <a:picLocks noChangeAspect="1"/>
          </p:cNvPicPr>
          <p:nvPr/>
        </p:nvPicPr>
        <p:blipFill>
          <a:blip r:embed="rId3"/>
          <a:stretch>
            <a:fillRect/>
          </a:stretch>
        </p:blipFill>
        <p:spPr>
          <a:xfrm>
            <a:off x="1117087" y="2585949"/>
            <a:ext cx="7354326" cy="1267002"/>
          </a:xfrm>
          <a:prstGeom prst="rect">
            <a:avLst/>
          </a:prstGeom>
        </p:spPr>
      </p:pic>
      <p:pic>
        <p:nvPicPr>
          <p:cNvPr id="7" name="Picture 6">
            <a:extLst>
              <a:ext uri="{FF2B5EF4-FFF2-40B4-BE49-F238E27FC236}">
                <a16:creationId xmlns:a16="http://schemas.microsoft.com/office/drawing/2014/main" id="{79637A0E-0765-8B25-72DE-14F1EB9D6753}"/>
              </a:ext>
            </a:extLst>
          </p:cNvPr>
          <p:cNvPicPr>
            <a:picLocks noChangeAspect="1"/>
          </p:cNvPicPr>
          <p:nvPr/>
        </p:nvPicPr>
        <p:blipFill>
          <a:blip r:embed="rId4"/>
          <a:stretch>
            <a:fillRect/>
          </a:stretch>
        </p:blipFill>
        <p:spPr>
          <a:xfrm>
            <a:off x="1117087" y="4600486"/>
            <a:ext cx="7354326" cy="1276528"/>
          </a:xfrm>
          <a:prstGeom prst="rect">
            <a:avLst/>
          </a:prstGeom>
        </p:spPr>
      </p:pic>
      <p:sp>
        <p:nvSpPr>
          <p:cNvPr id="8" name="TextBox 7">
            <a:extLst>
              <a:ext uri="{FF2B5EF4-FFF2-40B4-BE49-F238E27FC236}">
                <a16:creationId xmlns:a16="http://schemas.microsoft.com/office/drawing/2014/main" id="{67D0A4C9-48E4-4B61-BEA7-789777632FA1}"/>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sp>
        <p:nvSpPr>
          <p:cNvPr id="9" name="TextBox 8">
            <a:extLst>
              <a:ext uri="{FF2B5EF4-FFF2-40B4-BE49-F238E27FC236}">
                <a16:creationId xmlns:a16="http://schemas.microsoft.com/office/drawing/2014/main" id="{2C3CC76B-9DC3-4EF9-1E6A-7462323572DE}"/>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grpSp>
        <p:nvGrpSpPr>
          <p:cNvPr id="12" name="Group 11">
            <a:extLst>
              <a:ext uri="{FF2B5EF4-FFF2-40B4-BE49-F238E27FC236}">
                <a16:creationId xmlns:a16="http://schemas.microsoft.com/office/drawing/2014/main" id="{3F1DED4B-8AA0-DA2F-6F6E-24DD153C4E08}"/>
              </a:ext>
            </a:extLst>
          </p:cNvPr>
          <p:cNvGrpSpPr/>
          <p:nvPr/>
        </p:nvGrpSpPr>
        <p:grpSpPr>
          <a:xfrm>
            <a:off x="1117087" y="2600515"/>
            <a:ext cx="4591563" cy="2378174"/>
            <a:chOff x="1117087" y="2600515"/>
            <a:chExt cx="4591563" cy="2378174"/>
          </a:xfrm>
        </p:grpSpPr>
        <p:sp>
          <p:nvSpPr>
            <p:cNvPr id="10" name="Rectangle: Rounded Corners 9">
              <a:extLst>
                <a:ext uri="{FF2B5EF4-FFF2-40B4-BE49-F238E27FC236}">
                  <a16:creationId xmlns:a16="http://schemas.microsoft.com/office/drawing/2014/main" id="{8CFCACE5-0607-8FFA-5E8D-927F81426FCA}"/>
                </a:ext>
              </a:extLst>
            </p:cNvPr>
            <p:cNvSpPr/>
            <p:nvPr/>
          </p:nvSpPr>
          <p:spPr>
            <a:xfrm>
              <a:off x="1117087" y="2600515"/>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Rounded Corners 10">
              <a:extLst>
                <a:ext uri="{FF2B5EF4-FFF2-40B4-BE49-F238E27FC236}">
                  <a16:creationId xmlns:a16="http://schemas.microsoft.com/office/drawing/2014/main" id="{9261F0BD-CEE0-A267-1DED-614E8FC76A54}"/>
                </a:ext>
              </a:extLst>
            </p:cNvPr>
            <p:cNvSpPr/>
            <p:nvPr/>
          </p:nvSpPr>
          <p:spPr>
            <a:xfrm>
              <a:off x="1117087" y="4629619"/>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6" name="Group 15">
            <a:extLst>
              <a:ext uri="{FF2B5EF4-FFF2-40B4-BE49-F238E27FC236}">
                <a16:creationId xmlns:a16="http://schemas.microsoft.com/office/drawing/2014/main" id="{01629126-8A12-4738-9E9A-4B1F7611AA20}"/>
              </a:ext>
            </a:extLst>
          </p:cNvPr>
          <p:cNvGrpSpPr/>
          <p:nvPr/>
        </p:nvGrpSpPr>
        <p:grpSpPr>
          <a:xfrm>
            <a:off x="1117087" y="3481210"/>
            <a:ext cx="5740913" cy="2378174"/>
            <a:chOff x="1117087" y="3481210"/>
            <a:chExt cx="5740913" cy="2378174"/>
          </a:xfrm>
        </p:grpSpPr>
        <p:sp>
          <p:nvSpPr>
            <p:cNvPr id="14" name="Rectangle: Rounded Corners 13">
              <a:extLst>
                <a:ext uri="{FF2B5EF4-FFF2-40B4-BE49-F238E27FC236}">
                  <a16:creationId xmlns:a16="http://schemas.microsoft.com/office/drawing/2014/main" id="{34CA0C63-C2E6-5F62-11B0-B179DCD94099}"/>
                </a:ext>
              </a:extLst>
            </p:cNvPr>
            <p:cNvSpPr/>
            <p:nvPr/>
          </p:nvSpPr>
          <p:spPr>
            <a:xfrm>
              <a:off x="1117087" y="3481210"/>
              <a:ext cx="5740913" cy="349070"/>
            </a:xfrm>
            <a:custGeom>
              <a:avLst/>
              <a:gdLst>
                <a:gd name="csX0" fmla="*/ 0 w 5740913"/>
                <a:gd name="csY0" fmla="*/ 58179 h 349070"/>
                <a:gd name="csX1" fmla="*/ 58179 w 5740913"/>
                <a:gd name="csY1" fmla="*/ 0 h 349070"/>
                <a:gd name="csX2" fmla="*/ 795621 w 5740913"/>
                <a:gd name="csY2" fmla="*/ 0 h 349070"/>
                <a:gd name="csX3" fmla="*/ 1364326 w 5740913"/>
                <a:gd name="csY3" fmla="*/ 0 h 349070"/>
                <a:gd name="csX4" fmla="*/ 1876785 w 5740913"/>
                <a:gd name="csY4" fmla="*/ 0 h 349070"/>
                <a:gd name="csX5" fmla="*/ 2557981 w 5740913"/>
                <a:gd name="csY5" fmla="*/ 0 h 349070"/>
                <a:gd name="csX6" fmla="*/ 3126686 w 5740913"/>
                <a:gd name="csY6" fmla="*/ 0 h 349070"/>
                <a:gd name="csX7" fmla="*/ 3864128 w 5740913"/>
                <a:gd name="csY7" fmla="*/ 0 h 349070"/>
                <a:gd name="csX8" fmla="*/ 4376587 w 5740913"/>
                <a:gd name="csY8" fmla="*/ 0 h 349070"/>
                <a:gd name="csX9" fmla="*/ 5114029 w 5740913"/>
                <a:gd name="csY9" fmla="*/ 0 h 349070"/>
                <a:gd name="csX10" fmla="*/ 5682734 w 5740913"/>
                <a:gd name="csY10" fmla="*/ 0 h 349070"/>
                <a:gd name="csX11" fmla="*/ 5740913 w 5740913"/>
                <a:gd name="csY11" fmla="*/ 58179 h 349070"/>
                <a:gd name="csX12" fmla="*/ 5740913 w 5740913"/>
                <a:gd name="csY12" fmla="*/ 290891 h 349070"/>
                <a:gd name="csX13" fmla="*/ 5682734 w 5740913"/>
                <a:gd name="csY13" fmla="*/ 349070 h 349070"/>
                <a:gd name="csX14" fmla="*/ 5057783 w 5740913"/>
                <a:gd name="csY14" fmla="*/ 349070 h 349070"/>
                <a:gd name="csX15" fmla="*/ 4432833 w 5740913"/>
                <a:gd name="csY15" fmla="*/ 349070 h 349070"/>
                <a:gd name="csX16" fmla="*/ 3695391 w 5740913"/>
                <a:gd name="csY16" fmla="*/ 349070 h 349070"/>
                <a:gd name="csX17" fmla="*/ 3070441 w 5740913"/>
                <a:gd name="csY17" fmla="*/ 349070 h 349070"/>
                <a:gd name="csX18" fmla="*/ 2614227 w 5740913"/>
                <a:gd name="csY18" fmla="*/ 349070 h 349070"/>
                <a:gd name="csX19" fmla="*/ 2101767 w 5740913"/>
                <a:gd name="csY19" fmla="*/ 349070 h 349070"/>
                <a:gd name="csX20" fmla="*/ 1364326 w 5740913"/>
                <a:gd name="csY20" fmla="*/ 349070 h 349070"/>
                <a:gd name="csX21" fmla="*/ 739375 w 5740913"/>
                <a:gd name="csY21" fmla="*/ 349070 h 349070"/>
                <a:gd name="csX22" fmla="*/ 58179 w 5740913"/>
                <a:gd name="csY22" fmla="*/ 349070 h 349070"/>
                <a:gd name="csX23" fmla="*/ 0 w 5740913"/>
                <a:gd name="csY23" fmla="*/ 290891 h 349070"/>
                <a:gd name="csX24" fmla="*/ 0 w 5740913"/>
                <a:gd name="csY24"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5740913" h="349070" extrusionOk="0">
                  <a:moveTo>
                    <a:pt x="0" y="58179"/>
                  </a:moveTo>
                  <a:cubicBezTo>
                    <a:pt x="-4705" y="23146"/>
                    <a:pt x="18736" y="2744"/>
                    <a:pt x="58179" y="0"/>
                  </a:cubicBezTo>
                  <a:cubicBezTo>
                    <a:pt x="229970" y="33414"/>
                    <a:pt x="588613" y="-10151"/>
                    <a:pt x="795621" y="0"/>
                  </a:cubicBezTo>
                  <a:cubicBezTo>
                    <a:pt x="1002629" y="10151"/>
                    <a:pt x="1192870" y="-23443"/>
                    <a:pt x="1364326" y="0"/>
                  </a:cubicBezTo>
                  <a:cubicBezTo>
                    <a:pt x="1535783" y="23443"/>
                    <a:pt x="1702398" y="19294"/>
                    <a:pt x="1876785" y="0"/>
                  </a:cubicBezTo>
                  <a:cubicBezTo>
                    <a:pt x="2051172" y="-19294"/>
                    <a:pt x="2296490" y="-2914"/>
                    <a:pt x="2557981" y="0"/>
                  </a:cubicBezTo>
                  <a:cubicBezTo>
                    <a:pt x="2819472" y="2914"/>
                    <a:pt x="2857637" y="-18590"/>
                    <a:pt x="3126686" y="0"/>
                  </a:cubicBezTo>
                  <a:cubicBezTo>
                    <a:pt x="3395735" y="18590"/>
                    <a:pt x="3666400" y="35620"/>
                    <a:pt x="3864128" y="0"/>
                  </a:cubicBezTo>
                  <a:cubicBezTo>
                    <a:pt x="4061856" y="-35620"/>
                    <a:pt x="4193823" y="16790"/>
                    <a:pt x="4376587" y="0"/>
                  </a:cubicBezTo>
                  <a:cubicBezTo>
                    <a:pt x="4559351" y="-16790"/>
                    <a:pt x="4853295" y="-7273"/>
                    <a:pt x="5114029" y="0"/>
                  </a:cubicBezTo>
                  <a:cubicBezTo>
                    <a:pt x="5374763" y="7273"/>
                    <a:pt x="5511135" y="-18170"/>
                    <a:pt x="5682734" y="0"/>
                  </a:cubicBezTo>
                  <a:cubicBezTo>
                    <a:pt x="5709310" y="-318"/>
                    <a:pt x="5742738" y="21044"/>
                    <a:pt x="5740913" y="58179"/>
                  </a:cubicBezTo>
                  <a:cubicBezTo>
                    <a:pt x="5746187" y="139703"/>
                    <a:pt x="5745272" y="192953"/>
                    <a:pt x="5740913" y="290891"/>
                  </a:cubicBezTo>
                  <a:cubicBezTo>
                    <a:pt x="5744311" y="327184"/>
                    <a:pt x="5715826" y="348228"/>
                    <a:pt x="5682734" y="349070"/>
                  </a:cubicBezTo>
                  <a:cubicBezTo>
                    <a:pt x="5481262" y="330628"/>
                    <a:pt x="5360264" y="337901"/>
                    <a:pt x="5057783" y="349070"/>
                  </a:cubicBezTo>
                  <a:cubicBezTo>
                    <a:pt x="4755302" y="360239"/>
                    <a:pt x="4655994" y="326390"/>
                    <a:pt x="4432833" y="349070"/>
                  </a:cubicBezTo>
                  <a:cubicBezTo>
                    <a:pt x="4209672" y="371751"/>
                    <a:pt x="3923585" y="323257"/>
                    <a:pt x="3695391" y="349070"/>
                  </a:cubicBezTo>
                  <a:cubicBezTo>
                    <a:pt x="3467197" y="374883"/>
                    <a:pt x="3295610" y="327408"/>
                    <a:pt x="3070441" y="349070"/>
                  </a:cubicBezTo>
                  <a:cubicBezTo>
                    <a:pt x="2845272" y="370733"/>
                    <a:pt x="2828963" y="332427"/>
                    <a:pt x="2614227" y="349070"/>
                  </a:cubicBezTo>
                  <a:cubicBezTo>
                    <a:pt x="2399491" y="365713"/>
                    <a:pt x="2293541" y="331300"/>
                    <a:pt x="2101767" y="349070"/>
                  </a:cubicBezTo>
                  <a:cubicBezTo>
                    <a:pt x="1909993" y="366840"/>
                    <a:pt x="1687015" y="351331"/>
                    <a:pt x="1364326" y="349070"/>
                  </a:cubicBezTo>
                  <a:cubicBezTo>
                    <a:pt x="1041637" y="346809"/>
                    <a:pt x="955771" y="332049"/>
                    <a:pt x="739375" y="349070"/>
                  </a:cubicBezTo>
                  <a:cubicBezTo>
                    <a:pt x="522979" y="366091"/>
                    <a:pt x="307664" y="323855"/>
                    <a:pt x="58179" y="349070"/>
                  </a:cubicBezTo>
                  <a:cubicBezTo>
                    <a:pt x="25976" y="347136"/>
                    <a:pt x="2427" y="323528"/>
                    <a:pt x="0" y="290891"/>
                  </a:cubicBezTo>
                  <a:cubicBezTo>
                    <a:pt x="-6746" y="236996"/>
                    <a:pt x="-10482" y="112165"/>
                    <a:pt x="0" y="58179"/>
                  </a:cubicBezTo>
                  <a:close/>
                </a:path>
              </a:pathLst>
            </a:custGeom>
            <a:noFill/>
            <a:ln w="38100">
              <a:solidFill>
                <a:schemeClr val="accent2">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Rounded Corners 14">
              <a:extLst>
                <a:ext uri="{FF2B5EF4-FFF2-40B4-BE49-F238E27FC236}">
                  <a16:creationId xmlns:a16="http://schemas.microsoft.com/office/drawing/2014/main" id="{2898D2E5-2D2D-9F87-E6E0-D23A2AA8EA83}"/>
                </a:ext>
              </a:extLst>
            </p:cNvPr>
            <p:cNvSpPr/>
            <p:nvPr/>
          </p:nvSpPr>
          <p:spPr>
            <a:xfrm>
              <a:off x="1117087" y="5510314"/>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2">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2461164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05DF9-CB60-7AD2-F8AE-7A5E624FF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3C285-FA1D-521B-0370-8C7478D91FBE}"/>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475DDFB0-51FF-28A5-925B-69CF2DFA037F}"/>
              </a:ext>
            </a:extLst>
          </p:cNvPr>
          <p:cNvPicPr>
            <a:picLocks noChangeAspect="1"/>
          </p:cNvPicPr>
          <p:nvPr/>
        </p:nvPicPr>
        <p:blipFill>
          <a:blip r:embed="rId3"/>
          <a:stretch>
            <a:fillRect/>
          </a:stretch>
        </p:blipFill>
        <p:spPr>
          <a:xfrm>
            <a:off x="1117087" y="2585949"/>
            <a:ext cx="7354326" cy="1267002"/>
          </a:xfrm>
          <a:prstGeom prst="rect">
            <a:avLst/>
          </a:prstGeom>
        </p:spPr>
      </p:pic>
      <p:sp>
        <p:nvSpPr>
          <p:cNvPr id="8" name="TextBox 7">
            <a:extLst>
              <a:ext uri="{FF2B5EF4-FFF2-40B4-BE49-F238E27FC236}">
                <a16:creationId xmlns:a16="http://schemas.microsoft.com/office/drawing/2014/main" id="{3601ED45-1378-2A2F-E277-0CA5ED4FE8E3}"/>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pic>
        <p:nvPicPr>
          <p:cNvPr id="13" name="Picture 12">
            <a:extLst>
              <a:ext uri="{FF2B5EF4-FFF2-40B4-BE49-F238E27FC236}">
                <a16:creationId xmlns:a16="http://schemas.microsoft.com/office/drawing/2014/main" id="{D0BE0BB6-27F8-B65C-7588-427D1E32FB05}"/>
              </a:ext>
            </a:extLst>
          </p:cNvPr>
          <p:cNvPicPr>
            <a:picLocks noChangeAspect="1"/>
          </p:cNvPicPr>
          <p:nvPr/>
        </p:nvPicPr>
        <p:blipFill>
          <a:blip r:embed="rId4"/>
          <a:stretch>
            <a:fillRect/>
          </a:stretch>
        </p:blipFill>
        <p:spPr>
          <a:xfrm>
            <a:off x="1117087" y="2585949"/>
            <a:ext cx="7354326" cy="303301"/>
          </a:xfrm>
          <a:prstGeom prst="rect">
            <a:avLst/>
          </a:prstGeom>
          <a:effectLst>
            <a:outerShdw blurRad="50800" dist="38100" dir="2700000" algn="tl" rotWithShape="0">
              <a:prstClr val="black">
                <a:alpha val="40000"/>
              </a:prstClr>
            </a:outerShdw>
          </a:effectLst>
        </p:spPr>
      </p:pic>
      <p:grpSp>
        <p:nvGrpSpPr>
          <p:cNvPr id="20" name="Group 19">
            <a:extLst>
              <a:ext uri="{FF2B5EF4-FFF2-40B4-BE49-F238E27FC236}">
                <a16:creationId xmlns:a16="http://schemas.microsoft.com/office/drawing/2014/main" id="{D1D7ED90-F8B5-3221-42CF-7B9BB0A323BB}"/>
              </a:ext>
            </a:extLst>
          </p:cNvPr>
          <p:cNvGrpSpPr/>
          <p:nvPr/>
        </p:nvGrpSpPr>
        <p:grpSpPr>
          <a:xfrm>
            <a:off x="1117087" y="4231154"/>
            <a:ext cx="7354326" cy="1645860"/>
            <a:chOff x="1117087" y="4231154"/>
            <a:chExt cx="7354326" cy="1645860"/>
          </a:xfrm>
        </p:grpSpPr>
        <p:pic>
          <p:nvPicPr>
            <p:cNvPr id="7" name="Picture 6">
              <a:extLst>
                <a:ext uri="{FF2B5EF4-FFF2-40B4-BE49-F238E27FC236}">
                  <a16:creationId xmlns:a16="http://schemas.microsoft.com/office/drawing/2014/main" id="{CFDA1D73-A7A6-ABA0-A676-39600473D958}"/>
                </a:ext>
              </a:extLst>
            </p:cNvPr>
            <p:cNvPicPr>
              <a:picLocks noChangeAspect="1"/>
            </p:cNvPicPr>
            <p:nvPr/>
          </p:nvPicPr>
          <p:blipFill>
            <a:blip r:embed="rId5"/>
            <a:stretch>
              <a:fillRect/>
            </a:stretch>
          </p:blipFill>
          <p:spPr>
            <a:xfrm>
              <a:off x="1117087" y="4600486"/>
              <a:ext cx="7354326" cy="1276528"/>
            </a:xfrm>
            <a:prstGeom prst="rect">
              <a:avLst/>
            </a:prstGeom>
          </p:spPr>
        </p:pic>
        <p:sp>
          <p:nvSpPr>
            <p:cNvPr id="9" name="TextBox 8">
              <a:extLst>
                <a:ext uri="{FF2B5EF4-FFF2-40B4-BE49-F238E27FC236}">
                  <a16:creationId xmlns:a16="http://schemas.microsoft.com/office/drawing/2014/main" id="{02B774D3-7FF5-C048-D146-E188B7E98E9D}"/>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sp>
          <p:nvSpPr>
            <p:cNvPr id="17" name="Rectangle: Rounded Corners 16">
              <a:extLst>
                <a:ext uri="{FF2B5EF4-FFF2-40B4-BE49-F238E27FC236}">
                  <a16:creationId xmlns:a16="http://schemas.microsoft.com/office/drawing/2014/main" id="{28EED59D-054F-0715-FD53-40D3D5A4FD53}"/>
                </a:ext>
              </a:extLst>
            </p:cNvPr>
            <p:cNvSpPr/>
            <p:nvPr/>
          </p:nvSpPr>
          <p:spPr>
            <a:xfrm>
              <a:off x="1161537" y="4629619"/>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rgbClr val="C00000"/>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TextBox 18">
              <a:extLst>
                <a:ext uri="{FF2B5EF4-FFF2-40B4-BE49-F238E27FC236}">
                  <a16:creationId xmlns:a16="http://schemas.microsoft.com/office/drawing/2014/main" id="{29A55CBF-5120-217C-08D9-3882AB43DA2C}"/>
                </a:ext>
              </a:extLst>
            </p:cNvPr>
            <p:cNvSpPr txBox="1"/>
            <p:nvPr/>
          </p:nvSpPr>
          <p:spPr>
            <a:xfrm>
              <a:off x="3079751" y="4650265"/>
              <a:ext cx="914399" cy="307777"/>
            </a:xfrm>
            <a:prstGeom prst="rect">
              <a:avLst/>
            </a:prstGeom>
            <a:solidFill>
              <a:schemeClr val="bg1">
                <a:lumMod val="95000"/>
              </a:schemeClr>
            </a:solidFill>
          </p:spPr>
          <p:txBody>
            <a:bodyPr wrap="square" rtlCol="0">
              <a:spAutoFit/>
            </a:bodyPr>
            <a:lstStyle/>
            <a:p>
              <a:r>
                <a:rPr lang="en-GB" sz="1400">
                  <a:latin typeface="Consolas" panose="020B0609020204030204" pitchFamily="49" charset="0"/>
                </a:rPr>
                <a:t>1000000</a:t>
              </a:r>
              <a:endParaRPr lang="LID4096" sz="1400">
                <a:latin typeface="Consolas" panose="020B0609020204030204" pitchFamily="49" charset="0"/>
              </a:endParaRPr>
            </a:p>
          </p:txBody>
        </p:sp>
      </p:grpSp>
      <p:grpSp>
        <p:nvGrpSpPr>
          <p:cNvPr id="23" name="Group 22">
            <a:extLst>
              <a:ext uri="{FF2B5EF4-FFF2-40B4-BE49-F238E27FC236}">
                <a16:creationId xmlns:a16="http://schemas.microsoft.com/office/drawing/2014/main" id="{CBA68DD8-A9BF-911E-7850-91E786E1494A}"/>
              </a:ext>
            </a:extLst>
          </p:cNvPr>
          <p:cNvGrpSpPr/>
          <p:nvPr/>
        </p:nvGrpSpPr>
        <p:grpSpPr>
          <a:xfrm>
            <a:off x="6198344" y="2060020"/>
            <a:ext cx="5261499" cy="3592763"/>
            <a:chOff x="6198344" y="2060020"/>
            <a:chExt cx="5261499" cy="3592763"/>
          </a:xfrm>
        </p:grpSpPr>
        <p:pic>
          <p:nvPicPr>
            <p:cNvPr id="21" name="Picture 20">
              <a:extLst>
                <a:ext uri="{FF2B5EF4-FFF2-40B4-BE49-F238E27FC236}">
                  <a16:creationId xmlns:a16="http://schemas.microsoft.com/office/drawing/2014/main" id="{EC5A2E1F-8666-1E50-C904-F167EE7B774F}"/>
                </a:ext>
              </a:extLst>
            </p:cNvPr>
            <p:cNvPicPr>
              <a:picLocks noChangeAspect="1"/>
            </p:cNvPicPr>
            <p:nvPr/>
          </p:nvPicPr>
          <p:blipFill>
            <a:blip r:embed="rId6"/>
            <a:stretch>
              <a:fillRect/>
            </a:stretch>
          </p:blipFill>
          <p:spPr>
            <a:xfrm>
              <a:off x="6198344" y="2060020"/>
              <a:ext cx="5261499" cy="3592763"/>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2" name="Arrow: Down 21">
              <a:extLst>
                <a:ext uri="{FF2B5EF4-FFF2-40B4-BE49-F238E27FC236}">
                  <a16:creationId xmlns:a16="http://schemas.microsoft.com/office/drawing/2014/main" id="{8389C95A-846D-05F9-A406-D458B6A736D8}"/>
                </a:ext>
              </a:extLst>
            </p:cNvPr>
            <p:cNvSpPr/>
            <p:nvPr/>
          </p:nvSpPr>
          <p:spPr>
            <a:xfrm rot="9046269">
              <a:off x="6540501" y="2835560"/>
              <a:ext cx="260350" cy="361950"/>
            </a:xfrm>
            <a:prstGeom prst="downArrow">
              <a:avLst>
                <a:gd name="adj1" fmla="val 50000"/>
                <a:gd name="adj2" fmla="val 108537"/>
              </a:avLst>
            </a:prstGeom>
            <a:solidFill>
              <a:schemeClr val="bg1"/>
            </a:solidFill>
            <a:ln w="3810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27" name="Group 26">
            <a:extLst>
              <a:ext uri="{FF2B5EF4-FFF2-40B4-BE49-F238E27FC236}">
                <a16:creationId xmlns:a16="http://schemas.microsoft.com/office/drawing/2014/main" id="{D7A5A101-A887-FE99-2408-C4A8A7A895D3}"/>
              </a:ext>
            </a:extLst>
          </p:cNvPr>
          <p:cNvGrpSpPr/>
          <p:nvPr/>
        </p:nvGrpSpPr>
        <p:grpSpPr>
          <a:xfrm>
            <a:off x="6579944" y="3904282"/>
            <a:ext cx="5428661" cy="1957590"/>
            <a:chOff x="6579944" y="3904282"/>
            <a:chExt cx="5428661" cy="1957590"/>
          </a:xfrm>
        </p:grpSpPr>
        <p:pic>
          <p:nvPicPr>
            <p:cNvPr id="25" name="Picture 24">
              <a:extLst>
                <a:ext uri="{FF2B5EF4-FFF2-40B4-BE49-F238E27FC236}">
                  <a16:creationId xmlns:a16="http://schemas.microsoft.com/office/drawing/2014/main" id="{C28E21BD-3CC1-7FC9-3EB5-2FFC9B094039}"/>
                </a:ext>
              </a:extLst>
            </p:cNvPr>
            <p:cNvPicPr>
              <a:picLocks noChangeAspect="1"/>
            </p:cNvPicPr>
            <p:nvPr/>
          </p:nvPicPr>
          <p:blipFill>
            <a:blip r:embed="rId7"/>
            <a:stretch>
              <a:fillRect/>
            </a:stretch>
          </p:blipFill>
          <p:spPr>
            <a:xfrm>
              <a:off x="6579944" y="3904282"/>
              <a:ext cx="5428661" cy="1957590"/>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6" name="Rectangle: Rounded Corners 25">
              <a:extLst>
                <a:ext uri="{FF2B5EF4-FFF2-40B4-BE49-F238E27FC236}">
                  <a16:creationId xmlns:a16="http://schemas.microsoft.com/office/drawing/2014/main" id="{7947E0DF-80CF-E8F0-4C46-852509663D51}"/>
                </a:ext>
              </a:extLst>
            </p:cNvPr>
            <p:cNvSpPr/>
            <p:nvPr/>
          </p:nvSpPr>
          <p:spPr>
            <a:xfrm>
              <a:off x="6629643" y="5480049"/>
              <a:ext cx="5143258" cy="228027"/>
            </a:xfrm>
            <a:custGeom>
              <a:avLst/>
              <a:gdLst>
                <a:gd name="csX0" fmla="*/ 0 w 5143258"/>
                <a:gd name="csY0" fmla="*/ 38005 h 228027"/>
                <a:gd name="csX1" fmla="*/ 38005 w 5143258"/>
                <a:gd name="csY1" fmla="*/ 0 h 228027"/>
                <a:gd name="csX2" fmla="*/ 772756 w 5143258"/>
                <a:gd name="csY2" fmla="*/ 0 h 228027"/>
                <a:gd name="csX3" fmla="*/ 1355489 w 5143258"/>
                <a:gd name="csY3" fmla="*/ 0 h 228027"/>
                <a:gd name="csX4" fmla="*/ 1887551 w 5143258"/>
                <a:gd name="csY4" fmla="*/ 0 h 228027"/>
                <a:gd name="csX5" fmla="*/ 2571629 w 5143258"/>
                <a:gd name="csY5" fmla="*/ 0 h 228027"/>
                <a:gd name="csX6" fmla="*/ 3154363 w 5143258"/>
                <a:gd name="csY6" fmla="*/ 0 h 228027"/>
                <a:gd name="csX7" fmla="*/ 3889113 w 5143258"/>
                <a:gd name="csY7" fmla="*/ 0 h 228027"/>
                <a:gd name="csX8" fmla="*/ 4421175 w 5143258"/>
                <a:gd name="csY8" fmla="*/ 0 h 228027"/>
                <a:gd name="csX9" fmla="*/ 5105253 w 5143258"/>
                <a:gd name="csY9" fmla="*/ 0 h 228027"/>
                <a:gd name="csX10" fmla="*/ 5143258 w 5143258"/>
                <a:gd name="csY10" fmla="*/ 38005 h 228027"/>
                <a:gd name="csX11" fmla="*/ 5143258 w 5143258"/>
                <a:gd name="csY11" fmla="*/ 190022 h 228027"/>
                <a:gd name="csX12" fmla="*/ 5105253 w 5143258"/>
                <a:gd name="csY12" fmla="*/ 228027 h 228027"/>
                <a:gd name="csX13" fmla="*/ 4471847 w 5143258"/>
                <a:gd name="csY13" fmla="*/ 228027 h 228027"/>
                <a:gd name="csX14" fmla="*/ 3939786 w 5143258"/>
                <a:gd name="csY14" fmla="*/ 228027 h 228027"/>
                <a:gd name="csX15" fmla="*/ 3306380 w 5143258"/>
                <a:gd name="csY15" fmla="*/ 228027 h 228027"/>
                <a:gd name="csX16" fmla="*/ 2571629 w 5143258"/>
                <a:gd name="csY16" fmla="*/ 228027 h 228027"/>
                <a:gd name="csX17" fmla="*/ 1938223 w 5143258"/>
                <a:gd name="csY17" fmla="*/ 228027 h 228027"/>
                <a:gd name="csX18" fmla="*/ 1456834 w 5143258"/>
                <a:gd name="csY18" fmla="*/ 228027 h 228027"/>
                <a:gd name="csX19" fmla="*/ 924773 w 5143258"/>
                <a:gd name="csY19" fmla="*/ 228027 h 228027"/>
                <a:gd name="csX20" fmla="*/ 38005 w 5143258"/>
                <a:gd name="csY20" fmla="*/ 228027 h 228027"/>
                <a:gd name="csX21" fmla="*/ 0 w 5143258"/>
                <a:gd name="csY21" fmla="*/ 190022 h 228027"/>
                <a:gd name="csX22" fmla="*/ 0 w 5143258"/>
                <a:gd name="csY22" fmla="*/ 38005 h 2280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43258" h="228027" extrusionOk="0">
                  <a:moveTo>
                    <a:pt x="0" y="38005"/>
                  </a:moveTo>
                  <a:cubicBezTo>
                    <a:pt x="-2803" y="15286"/>
                    <a:pt x="15567" y="543"/>
                    <a:pt x="38005" y="0"/>
                  </a:cubicBezTo>
                  <a:cubicBezTo>
                    <a:pt x="374159" y="31024"/>
                    <a:pt x="590517" y="-1194"/>
                    <a:pt x="772756" y="0"/>
                  </a:cubicBezTo>
                  <a:cubicBezTo>
                    <a:pt x="954995" y="1194"/>
                    <a:pt x="1177486" y="4046"/>
                    <a:pt x="1355489" y="0"/>
                  </a:cubicBezTo>
                  <a:cubicBezTo>
                    <a:pt x="1533492" y="-4046"/>
                    <a:pt x="1776439" y="-6478"/>
                    <a:pt x="1887551" y="0"/>
                  </a:cubicBezTo>
                  <a:cubicBezTo>
                    <a:pt x="1998663" y="6478"/>
                    <a:pt x="2383906" y="9229"/>
                    <a:pt x="2571629" y="0"/>
                  </a:cubicBezTo>
                  <a:cubicBezTo>
                    <a:pt x="2759352" y="-9229"/>
                    <a:pt x="3037193" y="-28382"/>
                    <a:pt x="3154363" y="0"/>
                  </a:cubicBezTo>
                  <a:cubicBezTo>
                    <a:pt x="3271533" y="28382"/>
                    <a:pt x="3625869" y="17467"/>
                    <a:pt x="3889113" y="0"/>
                  </a:cubicBezTo>
                  <a:cubicBezTo>
                    <a:pt x="4152357" y="-17467"/>
                    <a:pt x="4242008" y="8236"/>
                    <a:pt x="4421175" y="0"/>
                  </a:cubicBezTo>
                  <a:cubicBezTo>
                    <a:pt x="4600342" y="-8236"/>
                    <a:pt x="4926359" y="-17237"/>
                    <a:pt x="5105253" y="0"/>
                  </a:cubicBezTo>
                  <a:cubicBezTo>
                    <a:pt x="5131167" y="1184"/>
                    <a:pt x="5140323" y="16540"/>
                    <a:pt x="5143258" y="38005"/>
                  </a:cubicBezTo>
                  <a:cubicBezTo>
                    <a:pt x="5136882" y="80054"/>
                    <a:pt x="5142508" y="149178"/>
                    <a:pt x="5143258" y="190022"/>
                  </a:cubicBezTo>
                  <a:cubicBezTo>
                    <a:pt x="5144084" y="210196"/>
                    <a:pt x="5129494" y="225931"/>
                    <a:pt x="5105253" y="228027"/>
                  </a:cubicBezTo>
                  <a:cubicBezTo>
                    <a:pt x="4957001" y="234075"/>
                    <a:pt x="4671197" y="232088"/>
                    <a:pt x="4471847" y="228027"/>
                  </a:cubicBezTo>
                  <a:cubicBezTo>
                    <a:pt x="4272497" y="223966"/>
                    <a:pt x="4076283" y="221694"/>
                    <a:pt x="3939786" y="228027"/>
                  </a:cubicBezTo>
                  <a:cubicBezTo>
                    <a:pt x="3803289" y="234360"/>
                    <a:pt x="3497455" y="208410"/>
                    <a:pt x="3306380" y="228027"/>
                  </a:cubicBezTo>
                  <a:cubicBezTo>
                    <a:pt x="3115305" y="247644"/>
                    <a:pt x="2909745" y="221651"/>
                    <a:pt x="2571629" y="228027"/>
                  </a:cubicBezTo>
                  <a:cubicBezTo>
                    <a:pt x="2233513" y="234403"/>
                    <a:pt x="2252565" y="219368"/>
                    <a:pt x="1938223" y="228027"/>
                  </a:cubicBezTo>
                  <a:cubicBezTo>
                    <a:pt x="1623881" y="236686"/>
                    <a:pt x="1644550" y="247846"/>
                    <a:pt x="1456834" y="228027"/>
                  </a:cubicBezTo>
                  <a:cubicBezTo>
                    <a:pt x="1269118" y="208208"/>
                    <a:pt x="1182034" y="224803"/>
                    <a:pt x="924773" y="228027"/>
                  </a:cubicBezTo>
                  <a:cubicBezTo>
                    <a:pt x="667512" y="231251"/>
                    <a:pt x="325283" y="261527"/>
                    <a:pt x="38005" y="228027"/>
                  </a:cubicBezTo>
                  <a:cubicBezTo>
                    <a:pt x="20526" y="227284"/>
                    <a:pt x="70" y="211677"/>
                    <a:pt x="0" y="190022"/>
                  </a:cubicBezTo>
                  <a:cubicBezTo>
                    <a:pt x="-7444" y="123883"/>
                    <a:pt x="-4115" y="100563"/>
                    <a:pt x="0" y="38005"/>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1991263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9AED6-1BE1-A2AC-0894-DF5FA0BC2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74B7A-F371-A8D4-ACE6-9B4D34CD9178}"/>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2AF993B8-B780-2030-2E74-C391C9ED0079}"/>
              </a:ext>
            </a:extLst>
          </p:cNvPr>
          <p:cNvPicPr>
            <a:picLocks noChangeAspect="1"/>
          </p:cNvPicPr>
          <p:nvPr/>
        </p:nvPicPr>
        <p:blipFill>
          <a:blip r:embed="rId3"/>
          <a:stretch>
            <a:fillRect/>
          </a:stretch>
        </p:blipFill>
        <p:spPr>
          <a:xfrm>
            <a:off x="1117087" y="2585949"/>
            <a:ext cx="7354326" cy="1267002"/>
          </a:xfrm>
          <a:prstGeom prst="rect">
            <a:avLst/>
          </a:prstGeom>
        </p:spPr>
      </p:pic>
      <p:sp>
        <p:nvSpPr>
          <p:cNvPr id="8" name="TextBox 7">
            <a:extLst>
              <a:ext uri="{FF2B5EF4-FFF2-40B4-BE49-F238E27FC236}">
                <a16:creationId xmlns:a16="http://schemas.microsoft.com/office/drawing/2014/main" id="{9E642BA6-88E0-6C8D-8166-9EE5E7C6C8C0}"/>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pic>
        <p:nvPicPr>
          <p:cNvPr id="13" name="Picture 12">
            <a:extLst>
              <a:ext uri="{FF2B5EF4-FFF2-40B4-BE49-F238E27FC236}">
                <a16:creationId xmlns:a16="http://schemas.microsoft.com/office/drawing/2014/main" id="{D0CC0BCE-E9F7-5E6F-9F91-9C1998D172A3}"/>
              </a:ext>
            </a:extLst>
          </p:cNvPr>
          <p:cNvPicPr>
            <a:picLocks noChangeAspect="1"/>
          </p:cNvPicPr>
          <p:nvPr/>
        </p:nvPicPr>
        <p:blipFill>
          <a:blip r:embed="rId4"/>
          <a:stretch>
            <a:fillRect/>
          </a:stretch>
        </p:blipFill>
        <p:spPr>
          <a:xfrm>
            <a:off x="1117087" y="2585949"/>
            <a:ext cx="7354326" cy="303301"/>
          </a:xfrm>
          <a:prstGeom prst="rect">
            <a:avLst/>
          </a:prstGeom>
          <a:effectLst>
            <a:outerShdw blurRad="50800" dist="38100" dir="2700000" algn="tl" rotWithShape="0">
              <a:prstClr val="black">
                <a:alpha val="40000"/>
              </a:prstClr>
            </a:outerShdw>
          </a:effectLst>
        </p:spPr>
      </p:pic>
      <p:pic>
        <p:nvPicPr>
          <p:cNvPr id="3" name="Picture 2">
            <a:extLst>
              <a:ext uri="{FF2B5EF4-FFF2-40B4-BE49-F238E27FC236}">
                <a16:creationId xmlns:a16="http://schemas.microsoft.com/office/drawing/2014/main" id="{CE521D74-7E74-36EB-244C-1AFDA79A06BA}"/>
              </a:ext>
            </a:extLst>
          </p:cNvPr>
          <p:cNvPicPr>
            <a:picLocks noChangeAspect="1"/>
          </p:cNvPicPr>
          <p:nvPr/>
        </p:nvPicPr>
        <p:blipFill>
          <a:blip r:embed="rId5"/>
          <a:stretch>
            <a:fillRect/>
          </a:stretch>
        </p:blipFill>
        <p:spPr>
          <a:xfrm>
            <a:off x="1154402" y="4978689"/>
            <a:ext cx="7354326" cy="1276528"/>
          </a:xfrm>
          <a:prstGeom prst="rect">
            <a:avLst/>
          </a:prstGeom>
        </p:spPr>
      </p:pic>
      <p:sp>
        <p:nvSpPr>
          <p:cNvPr id="4" name="TextBox 3">
            <a:extLst>
              <a:ext uri="{FF2B5EF4-FFF2-40B4-BE49-F238E27FC236}">
                <a16:creationId xmlns:a16="http://schemas.microsoft.com/office/drawing/2014/main" id="{238A60E7-81D9-3952-66A3-1E9CE6D3E474}"/>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pic>
        <p:nvPicPr>
          <p:cNvPr id="10" name="Picture 9">
            <a:extLst>
              <a:ext uri="{FF2B5EF4-FFF2-40B4-BE49-F238E27FC236}">
                <a16:creationId xmlns:a16="http://schemas.microsoft.com/office/drawing/2014/main" id="{F582264B-7905-DDE6-9B24-EC29DAD0D1C4}"/>
              </a:ext>
            </a:extLst>
          </p:cNvPr>
          <p:cNvPicPr>
            <a:picLocks noChangeAspect="1"/>
          </p:cNvPicPr>
          <p:nvPr/>
        </p:nvPicPr>
        <p:blipFill>
          <a:blip r:embed="rId6"/>
          <a:stretch>
            <a:fillRect/>
          </a:stretch>
        </p:blipFill>
        <p:spPr>
          <a:xfrm>
            <a:off x="1173454" y="4683373"/>
            <a:ext cx="7335274" cy="59217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181748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6D4C0-34A7-700E-2796-77CFE121B460}"/>
            </a:ext>
          </a:extLst>
        </p:cNvPr>
        <p:cNvGrpSpPr/>
        <p:nvPr/>
      </p:nvGrpSpPr>
      <p:grpSpPr>
        <a:xfrm>
          <a:off x="0" y="0"/>
          <a:ext cx="0" cy="0"/>
          <a:chOff x="0" y="0"/>
          <a:chExt cx="0" cy="0"/>
        </a:xfrm>
      </p:grpSpPr>
    </p:spTree>
    <p:extLst>
      <p:ext uri="{BB962C8B-B14F-4D97-AF65-F5344CB8AC3E}">
        <p14:creationId xmlns:p14="http://schemas.microsoft.com/office/powerpoint/2010/main" val="1673921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6F09A-66A2-7D24-6293-BD89865CA3BC}"/>
              </a:ext>
            </a:extLst>
          </p:cNvPr>
          <p:cNvSpPr>
            <a:spLocks noGrp="1"/>
          </p:cNvSpPr>
          <p:nvPr>
            <p:ph type="title"/>
          </p:nvPr>
        </p:nvSpPr>
        <p:spPr/>
        <p:txBody>
          <a:bodyPr/>
          <a:lstStyle/>
          <a:p>
            <a:r>
              <a:rPr lang="sv-SE"/>
              <a:t>Minnesrymd, Load, och Store</a:t>
            </a:r>
            <a:endParaRPr lang="LID4096"/>
          </a:p>
        </p:txBody>
      </p:sp>
      <p:pic>
        <p:nvPicPr>
          <p:cNvPr id="5" name="Picture 4">
            <a:extLst>
              <a:ext uri="{FF2B5EF4-FFF2-40B4-BE49-F238E27FC236}">
                <a16:creationId xmlns:a16="http://schemas.microsoft.com/office/drawing/2014/main" id="{35F3FD82-BB5D-3A6E-BF77-DA00A6D137FF}"/>
              </a:ext>
            </a:extLst>
          </p:cNvPr>
          <p:cNvPicPr>
            <a:picLocks noChangeAspect="1"/>
          </p:cNvPicPr>
          <p:nvPr/>
        </p:nvPicPr>
        <p:blipFill>
          <a:blip r:embed="rId3"/>
          <a:stretch>
            <a:fillRect/>
          </a:stretch>
        </p:blipFill>
        <p:spPr>
          <a:xfrm>
            <a:off x="0" y="1690688"/>
            <a:ext cx="12166799" cy="5014912"/>
          </a:xfrm>
          <a:prstGeom prst="rect">
            <a:avLst/>
          </a:prstGeom>
        </p:spPr>
      </p:pic>
    </p:spTree>
    <p:extLst>
      <p:ext uri="{BB962C8B-B14F-4D97-AF65-F5344CB8AC3E}">
        <p14:creationId xmlns:p14="http://schemas.microsoft.com/office/powerpoint/2010/main" val="32601902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11759-D40E-79F3-212F-E3A95B083903}"/>
              </a:ext>
            </a:extLst>
          </p:cNvPr>
          <p:cNvSpPr>
            <a:spLocks noGrp="1"/>
          </p:cNvSpPr>
          <p:nvPr>
            <p:ph type="title"/>
          </p:nvPr>
        </p:nvSpPr>
        <p:spPr/>
        <p:txBody>
          <a:bodyPr/>
          <a:lstStyle/>
          <a:p>
            <a:r>
              <a:rPr lang="en-GB"/>
              <a:t>Läsa data från minnet</a:t>
            </a:r>
            <a:endParaRPr lang="LID4096"/>
          </a:p>
        </p:txBody>
      </p:sp>
      <p:pic>
        <p:nvPicPr>
          <p:cNvPr id="4" name="Picture 3">
            <a:extLst>
              <a:ext uri="{FF2B5EF4-FFF2-40B4-BE49-F238E27FC236}">
                <a16:creationId xmlns:a16="http://schemas.microsoft.com/office/drawing/2014/main" id="{5221C250-996D-E5FF-CCF5-0B795FA4E827}"/>
              </a:ext>
            </a:extLst>
          </p:cNvPr>
          <p:cNvPicPr>
            <a:picLocks noChangeAspect="1"/>
          </p:cNvPicPr>
          <p:nvPr/>
        </p:nvPicPr>
        <p:blipFill>
          <a:blip r:embed="rId3"/>
          <a:stretch>
            <a:fillRect/>
          </a:stretch>
        </p:blipFill>
        <p:spPr>
          <a:xfrm>
            <a:off x="7600950" y="423531"/>
            <a:ext cx="4254699" cy="1753702"/>
          </a:xfrm>
          <a:prstGeom prst="rect">
            <a:avLst/>
          </a:prstGeom>
          <a:ln>
            <a:solidFill>
              <a:schemeClr val="accent1">
                <a:shade val="15000"/>
              </a:schemeClr>
            </a:solidFill>
          </a:ln>
        </p:spPr>
      </p:pic>
      <p:sp>
        <p:nvSpPr>
          <p:cNvPr id="6" name="TextBox 5">
            <a:extLst>
              <a:ext uri="{FF2B5EF4-FFF2-40B4-BE49-F238E27FC236}">
                <a16:creationId xmlns:a16="http://schemas.microsoft.com/office/drawing/2014/main" id="{C7AF566A-5ADC-6C38-CA0E-B3FABAA24238}"/>
              </a:ext>
            </a:extLst>
          </p:cNvPr>
          <p:cNvSpPr txBox="1"/>
          <p:nvPr/>
        </p:nvSpPr>
        <p:spPr>
          <a:xfrm>
            <a:off x="1117087" y="2202112"/>
            <a:ext cx="4826642" cy="461665"/>
          </a:xfrm>
          <a:prstGeom prst="rect">
            <a:avLst/>
          </a:prstGeom>
          <a:noFill/>
        </p:spPr>
        <p:txBody>
          <a:bodyPr wrap="none" rtlCol="0">
            <a:spAutoFit/>
          </a:bodyPr>
          <a:lstStyle/>
          <a:p>
            <a:r>
              <a:rPr lang="sv-SE" sz="2400"/>
              <a:t>Vi vill läsa den tredje byten i SRAM: </a:t>
            </a:r>
            <a:endParaRPr lang="LID4096" sz="2400"/>
          </a:p>
        </p:txBody>
      </p:sp>
      <p:pic>
        <p:nvPicPr>
          <p:cNvPr id="8" name="Picture 7">
            <a:extLst>
              <a:ext uri="{FF2B5EF4-FFF2-40B4-BE49-F238E27FC236}">
                <a16:creationId xmlns:a16="http://schemas.microsoft.com/office/drawing/2014/main" id="{61D42AE3-364C-FED4-7CC3-04874C56E0DA}"/>
              </a:ext>
            </a:extLst>
          </p:cNvPr>
          <p:cNvPicPr>
            <a:picLocks noChangeAspect="1"/>
          </p:cNvPicPr>
          <p:nvPr/>
        </p:nvPicPr>
        <p:blipFill>
          <a:blip r:embed="rId4"/>
          <a:stretch>
            <a:fillRect/>
          </a:stretch>
        </p:blipFill>
        <p:spPr>
          <a:xfrm>
            <a:off x="1117087" y="2663777"/>
            <a:ext cx="7325747" cy="704948"/>
          </a:xfrm>
          <a:prstGeom prst="rect">
            <a:avLst/>
          </a:prstGeom>
        </p:spPr>
      </p:pic>
      <p:grpSp>
        <p:nvGrpSpPr>
          <p:cNvPr id="13" name="Group 12">
            <a:extLst>
              <a:ext uri="{FF2B5EF4-FFF2-40B4-BE49-F238E27FC236}">
                <a16:creationId xmlns:a16="http://schemas.microsoft.com/office/drawing/2014/main" id="{F0749EB5-AF10-3895-B06F-DAC9B085D915}"/>
              </a:ext>
            </a:extLst>
          </p:cNvPr>
          <p:cNvGrpSpPr/>
          <p:nvPr/>
        </p:nvGrpSpPr>
        <p:grpSpPr>
          <a:xfrm>
            <a:off x="2241550" y="2638898"/>
            <a:ext cx="7908471" cy="1202852"/>
            <a:chOff x="2241550" y="2638898"/>
            <a:chExt cx="7908471" cy="1202852"/>
          </a:xfrm>
        </p:grpSpPr>
        <p:sp>
          <p:nvSpPr>
            <p:cNvPr id="9" name="TextBox 8">
              <a:extLst>
                <a:ext uri="{FF2B5EF4-FFF2-40B4-BE49-F238E27FC236}">
                  <a16:creationId xmlns:a16="http://schemas.microsoft.com/office/drawing/2014/main" id="{2DFE1E9C-7F7E-95F1-3D6F-728C7D09498A}"/>
                </a:ext>
              </a:extLst>
            </p:cNvPr>
            <p:cNvSpPr txBox="1"/>
            <p:nvPr/>
          </p:nvSpPr>
          <p:spPr>
            <a:xfrm>
              <a:off x="4236543" y="2638898"/>
              <a:ext cx="5913478" cy="461665"/>
            </a:xfrm>
            <a:prstGeom prst="rect">
              <a:avLst/>
            </a:prstGeom>
            <a:solidFill>
              <a:schemeClr val="bg1"/>
            </a:solidFill>
            <a:ln>
              <a:solidFill>
                <a:schemeClr val="accent1">
                  <a:shade val="15000"/>
                </a:schemeClr>
              </a:solidFill>
            </a:ln>
          </p:spPr>
          <p:txBody>
            <a:bodyPr wrap="none" rtlCol="0">
              <a:spAutoFit/>
            </a:bodyPr>
            <a:lstStyle/>
            <a:p>
              <a:r>
                <a:rPr lang="sv-SE" sz="2400"/>
                <a:t>Lägg </a:t>
              </a:r>
              <a:r>
                <a:rPr lang="sv-SE" sz="2400" i="1"/>
                <a:t>addressen</a:t>
              </a:r>
              <a:r>
                <a:rPr lang="sv-SE" sz="2400"/>
                <a:t> till tredje byten i ett register</a:t>
              </a:r>
              <a:endParaRPr lang="LID4096" sz="2400"/>
            </a:p>
          </p:txBody>
        </p:sp>
        <p:sp>
          <p:nvSpPr>
            <p:cNvPr id="10" name="TextBox 9">
              <a:extLst>
                <a:ext uri="{FF2B5EF4-FFF2-40B4-BE49-F238E27FC236}">
                  <a16:creationId xmlns:a16="http://schemas.microsoft.com/office/drawing/2014/main" id="{41A45A6C-54B2-113F-87E5-D3A6C9DEA2D1}"/>
                </a:ext>
              </a:extLst>
            </p:cNvPr>
            <p:cNvSpPr txBox="1"/>
            <p:nvPr/>
          </p:nvSpPr>
          <p:spPr>
            <a:xfrm>
              <a:off x="4236543" y="3137892"/>
              <a:ext cx="4978863" cy="461665"/>
            </a:xfrm>
            <a:prstGeom prst="rect">
              <a:avLst/>
            </a:prstGeom>
            <a:solidFill>
              <a:schemeClr val="bg1"/>
            </a:solidFill>
            <a:ln>
              <a:solidFill>
                <a:schemeClr val="accent1">
                  <a:shade val="15000"/>
                </a:schemeClr>
              </a:solidFill>
            </a:ln>
          </p:spPr>
          <p:txBody>
            <a:bodyPr wrap="none" rtlCol="0">
              <a:spAutoFit/>
            </a:bodyPr>
            <a:lstStyle/>
            <a:p>
              <a:r>
                <a:rPr lang="sv-SE" sz="2400"/>
                <a:t>Läs en </a:t>
              </a:r>
              <a:r>
                <a:rPr lang="sv-SE" sz="2400" i="1"/>
                <a:t>byte</a:t>
              </a:r>
              <a:r>
                <a:rPr lang="sv-SE" sz="2400"/>
                <a:t> från addressen </a:t>
              </a:r>
              <a:r>
                <a:rPr lang="sv-SE" sz="2400">
                  <a:solidFill>
                    <a:schemeClr val="accent6">
                      <a:lumMod val="75000"/>
                    </a:schemeClr>
                  </a:solidFill>
                </a:rPr>
                <a:t>t0</a:t>
              </a:r>
              <a:r>
                <a:rPr lang="sv-SE" sz="2400"/>
                <a:t>+</a:t>
              </a:r>
              <a:r>
                <a:rPr lang="sv-SE" sz="2400">
                  <a:solidFill>
                    <a:schemeClr val="accent4">
                      <a:lumMod val="75000"/>
                    </a:schemeClr>
                  </a:solidFill>
                </a:rPr>
                <a:t>offset</a:t>
              </a:r>
              <a:endParaRPr lang="LID4096" sz="2400">
                <a:solidFill>
                  <a:schemeClr val="accent4">
                    <a:lumMod val="75000"/>
                  </a:schemeClr>
                </a:solidFill>
              </a:endParaRPr>
            </a:p>
          </p:txBody>
        </p:sp>
        <p:sp>
          <p:nvSpPr>
            <p:cNvPr id="11" name="Freeform: Shape 10">
              <a:extLst>
                <a:ext uri="{FF2B5EF4-FFF2-40B4-BE49-F238E27FC236}">
                  <a16:creationId xmlns:a16="http://schemas.microsoft.com/office/drawing/2014/main" id="{FDA6A5E1-8D82-234E-483D-0CE44D46D9F0}"/>
                </a:ext>
              </a:extLst>
            </p:cNvPr>
            <p:cNvSpPr/>
            <p:nvPr/>
          </p:nvSpPr>
          <p:spPr>
            <a:xfrm>
              <a:off x="2489200" y="3302000"/>
              <a:ext cx="5556250" cy="412750"/>
            </a:xfrm>
            <a:custGeom>
              <a:avLst/>
              <a:gdLst>
                <a:gd name="csX0" fmla="*/ 5556250 w 5556250"/>
                <a:gd name="csY0" fmla="*/ 234950 h 412750"/>
                <a:gd name="csX1" fmla="*/ 5556250 w 5556250"/>
                <a:gd name="csY1" fmla="*/ 412750 h 412750"/>
                <a:gd name="csX2" fmla="*/ 0 w 5556250"/>
                <a:gd name="csY2" fmla="*/ 412750 h 412750"/>
                <a:gd name="csX3" fmla="*/ 0 w 5556250"/>
                <a:gd name="csY3" fmla="*/ 0 h 412750"/>
              </a:gdLst>
              <a:ahLst/>
              <a:cxnLst>
                <a:cxn ang="0">
                  <a:pos x="csX0" y="csY0"/>
                </a:cxn>
                <a:cxn ang="0">
                  <a:pos x="csX1" y="csY1"/>
                </a:cxn>
                <a:cxn ang="0">
                  <a:pos x="csX2" y="csY2"/>
                </a:cxn>
                <a:cxn ang="0">
                  <a:pos x="csX3" y="csY3"/>
                </a:cxn>
              </a:cxnLst>
              <a:rect l="l" t="t" r="r" b="b"/>
              <a:pathLst>
                <a:path w="5556250" h="412750">
                  <a:moveTo>
                    <a:pt x="5556250" y="234950"/>
                  </a:moveTo>
                  <a:lnTo>
                    <a:pt x="5556250" y="412750"/>
                  </a:lnTo>
                  <a:lnTo>
                    <a:pt x="0" y="412750"/>
                  </a:lnTo>
                  <a:lnTo>
                    <a:pt x="0" y="0"/>
                  </a:lnTo>
                </a:path>
              </a:pathLst>
            </a:custGeom>
            <a:noFill/>
            <a:ln w="254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Freeform: Shape 11">
              <a:extLst>
                <a:ext uri="{FF2B5EF4-FFF2-40B4-BE49-F238E27FC236}">
                  <a16:creationId xmlns:a16="http://schemas.microsoft.com/office/drawing/2014/main" id="{FB789360-F14B-70E3-7AA3-E5D73C74C282}"/>
                </a:ext>
              </a:extLst>
            </p:cNvPr>
            <p:cNvSpPr/>
            <p:nvPr/>
          </p:nvSpPr>
          <p:spPr>
            <a:xfrm>
              <a:off x="2241550" y="3340100"/>
              <a:ext cx="6483350" cy="501650"/>
            </a:xfrm>
            <a:custGeom>
              <a:avLst/>
              <a:gdLst>
                <a:gd name="csX0" fmla="*/ 6483350 w 6483350"/>
                <a:gd name="csY0" fmla="*/ 190500 h 501650"/>
                <a:gd name="csX1" fmla="*/ 6483350 w 6483350"/>
                <a:gd name="csY1" fmla="*/ 501650 h 501650"/>
                <a:gd name="csX2" fmla="*/ 0 w 6483350"/>
                <a:gd name="csY2" fmla="*/ 501650 h 501650"/>
                <a:gd name="csX3" fmla="*/ 0 w 6483350"/>
                <a:gd name="csY3" fmla="*/ 0 h 501650"/>
              </a:gdLst>
              <a:ahLst/>
              <a:cxnLst>
                <a:cxn ang="0">
                  <a:pos x="csX0" y="csY0"/>
                </a:cxn>
                <a:cxn ang="0">
                  <a:pos x="csX1" y="csY1"/>
                </a:cxn>
                <a:cxn ang="0">
                  <a:pos x="csX2" y="csY2"/>
                </a:cxn>
                <a:cxn ang="0">
                  <a:pos x="csX3" y="csY3"/>
                </a:cxn>
              </a:cxnLst>
              <a:rect l="l" t="t" r="r" b="b"/>
              <a:pathLst>
                <a:path w="6483350" h="501650">
                  <a:moveTo>
                    <a:pt x="6483350" y="190500"/>
                  </a:moveTo>
                  <a:lnTo>
                    <a:pt x="6483350" y="501650"/>
                  </a:lnTo>
                  <a:lnTo>
                    <a:pt x="0" y="501650"/>
                  </a:lnTo>
                  <a:lnTo>
                    <a:pt x="0" y="0"/>
                  </a:lnTo>
                </a:path>
              </a:pathLst>
            </a:custGeom>
            <a:noFill/>
            <a:ln w="25400">
              <a:solidFill>
                <a:schemeClr val="accent4">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7" name="Group 16">
            <a:extLst>
              <a:ext uri="{FF2B5EF4-FFF2-40B4-BE49-F238E27FC236}">
                <a16:creationId xmlns:a16="http://schemas.microsoft.com/office/drawing/2014/main" id="{B71F53AA-EDBF-59C6-9524-687E23627DBB}"/>
              </a:ext>
            </a:extLst>
          </p:cNvPr>
          <p:cNvGrpSpPr/>
          <p:nvPr/>
        </p:nvGrpSpPr>
        <p:grpSpPr>
          <a:xfrm>
            <a:off x="655143" y="3340100"/>
            <a:ext cx="8041625" cy="1547305"/>
            <a:chOff x="655143" y="3340100"/>
            <a:chExt cx="8041625" cy="1547305"/>
          </a:xfrm>
        </p:grpSpPr>
        <p:sp>
          <p:nvSpPr>
            <p:cNvPr id="14" name="TextBox 13">
              <a:extLst>
                <a:ext uri="{FF2B5EF4-FFF2-40B4-BE49-F238E27FC236}">
                  <a16:creationId xmlns:a16="http://schemas.microsoft.com/office/drawing/2014/main" id="{142938C1-3D28-3558-22F1-332EF59EAF2B}"/>
                </a:ext>
              </a:extLst>
            </p:cNvPr>
            <p:cNvSpPr txBox="1"/>
            <p:nvPr/>
          </p:nvSpPr>
          <p:spPr>
            <a:xfrm>
              <a:off x="655143" y="4056408"/>
              <a:ext cx="8041625" cy="830997"/>
            </a:xfrm>
            <a:prstGeom prst="rect">
              <a:avLst/>
            </a:prstGeom>
            <a:solidFill>
              <a:schemeClr val="bg1"/>
            </a:solidFill>
            <a:ln>
              <a:solidFill>
                <a:schemeClr val="accent1">
                  <a:shade val="15000"/>
                </a:schemeClr>
              </a:solidFill>
            </a:ln>
          </p:spPr>
          <p:txBody>
            <a:bodyPr wrap="none" rtlCol="0">
              <a:spAutoFit/>
            </a:bodyPr>
            <a:lstStyle/>
            <a:p>
              <a:r>
                <a:rPr lang="sv-SE" sz="2400" b="1"/>
                <a:t>Byten </a:t>
              </a:r>
              <a:r>
                <a:rPr lang="sv-SE" sz="2400"/>
                <a:t>i minnet kopieras till 32-bitars registret </a:t>
              </a:r>
              <a:r>
                <a:rPr lang="sv-SE" sz="2400" b="1">
                  <a:solidFill>
                    <a:schemeClr val="accent6">
                      <a:lumMod val="75000"/>
                    </a:schemeClr>
                  </a:solidFill>
                </a:rPr>
                <a:t>t0</a:t>
              </a:r>
            </a:p>
            <a:p>
              <a:r>
                <a:rPr lang="sv-SE" sz="2400"/>
                <a:t>Om minnet innehöll </a:t>
              </a:r>
              <a:r>
                <a:rPr lang="sv-SE" sz="2400" b="1"/>
                <a:t>0x1A</a:t>
              </a:r>
              <a:r>
                <a:rPr lang="sv-SE" sz="2400"/>
                <a:t> kommer </a:t>
              </a:r>
              <a:r>
                <a:rPr lang="sv-SE" sz="2400">
                  <a:solidFill>
                    <a:schemeClr val="accent6">
                      <a:lumMod val="75000"/>
                    </a:schemeClr>
                  </a:solidFill>
                </a:rPr>
                <a:t>t0</a:t>
              </a:r>
              <a:r>
                <a:rPr lang="sv-SE" sz="2400"/>
                <a:t> innehålla 0x000000</a:t>
              </a:r>
              <a:r>
                <a:rPr lang="sv-SE" sz="2400" b="1"/>
                <a:t>1A</a:t>
              </a:r>
              <a:endParaRPr lang="LID4096" sz="2400" b="1"/>
            </a:p>
          </p:txBody>
        </p:sp>
        <p:cxnSp>
          <p:nvCxnSpPr>
            <p:cNvPr id="16" name="Straight Arrow Connector 15">
              <a:extLst>
                <a:ext uri="{FF2B5EF4-FFF2-40B4-BE49-F238E27FC236}">
                  <a16:creationId xmlns:a16="http://schemas.microsoft.com/office/drawing/2014/main" id="{A1DDCBF2-0C37-F7A4-4D7A-B11B5CC90EC9}"/>
                </a:ext>
              </a:extLst>
            </p:cNvPr>
            <p:cNvCxnSpPr/>
            <p:nvPr/>
          </p:nvCxnSpPr>
          <p:spPr>
            <a:xfrm flipV="1">
              <a:off x="1873250" y="3340100"/>
              <a:ext cx="0" cy="7163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1" name="Group 20">
            <a:extLst>
              <a:ext uri="{FF2B5EF4-FFF2-40B4-BE49-F238E27FC236}">
                <a16:creationId xmlns:a16="http://schemas.microsoft.com/office/drawing/2014/main" id="{7D078881-C89C-5B78-5A9C-E05CC0D8905F}"/>
              </a:ext>
            </a:extLst>
          </p:cNvPr>
          <p:cNvGrpSpPr/>
          <p:nvPr/>
        </p:nvGrpSpPr>
        <p:grpSpPr>
          <a:xfrm>
            <a:off x="655143" y="5029497"/>
            <a:ext cx="11356497" cy="1541277"/>
            <a:chOff x="655143" y="5029497"/>
            <a:chExt cx="11356497" cy="1541277"/>
          </a:xfrm>
        </p:grpSpPr>
        <p:pic>
          <p:nvPicPr>
            <p:cNvPr id="19" name="Picture 18">
              <a:extLst>
                <a:ext uri="{FF2B5EF4-FFF2-40B4-BE49-F238E27FC236}">
                  <a16:creationId xmlns:a16="http://schemas.microsoft.com/office/drawing/2014/main" id="{CE0C2284-C127-1E4F-6A94-7281BC1E90B9}"/>
                </a:ext>
              </a:extLst>
            </p:cNvPr>
            <p:cNvPicPr>
              <a:picLocks noChangeAspect="1"/>
            </p:cNvPicPr>
            <p:nvPr/>
          </p:nvPicPr>
          <p:blipFill>
            <a:blip r:embed="rId5"/>
            <a:stretch>
              <a:fillRect/>
            </a:stretch>
          </p:blipFill>
          <p:spPr>
            <a:xfrm>
              <a:off x="5373396" y="5029497"/>
              <a:ext cx="6638244" cy="1541277"/>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0" name="TextBox 19">
              <a:extLst>
                <a:ext uri="{FF2B5EF4-FFF2-40B4-BE49-F238E27FC236}">
                  <a16:creationId xmlns:a16="http://schemas.microsoft.com/office/drawing/2014/main" id="{BBA899F5-4749-D791-4B1B-CE69E344C3EE}"/>
                </a:ext>
              </a:extLst>
            </p:cNvPr>
            <p:cNvSpPr txBox="1"/>
            <p:nvPr/>
          </p:nvSpPr>
          <p:spPr>
            <a:xfrm>
              <a:off x="655143" y="5384636"/>
              <a:ext cx="4410503" cy="830997"/>
            </a:xfrm>
            <a:prstGeom prst="rect">
              <a:avLst/>
            </a:prstGeom>
            <a:noFill/>
          </p:spPr>
          <p:txBody>
            <a:bodyPr wrap="none" rtlCol="0">
              <a:spAutoFit/>
            </a:bodyPr>
            <a:lstStyle/>
            <a:p>
              <a:r>
                <a:rPr lang="sv-SE" sz="2400"/>
                <a:t>Storleken på läsningen bestäms</a:t>
              </a:r>
              <a:br>
                <a:rPr lang="sv-SE" sz="2400"/>
              </a:br>
              <a:r>
                <a:rPr lang="sv-SE" sz="2400"/>
                <a:t>av assemblerinstruktionen:</a:t>
              </a:r>
              <a:endParaRPr lang="LID4096" sz="2400"/>
            </a:p>
          </p:txBody>
        </p:sp>
      </p:grpSp>
    </p:spTree>
    <p:extLst>
      <p:ext uri="{BB962C8B-B14F-4D97-AF65-F5344CB8AC3E}">
        <p14:creationId xmlns:p14="http://schemas.microsoft.com/office/powerpoint/2010/main" val="1548166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395A-117A-DD19-2F7C-6E79C1ED8724}"/>
              </a:ext>
            </a:extLst>
          </p:cNvPr>
          <p:cNvSpPr>
            <a:spLocks noGrp="1"/>
          </p:cNvSpPr>
          <p:nvPr>
            <p:ph type="title"/>
          </p:nvPr>
        </p:nvSpPr>
        <p:spPr/>
        <p:txBody>
          <a:bodyPr/>
          <a:lstStyle/>
          <a:p>
            <a:r>
              <a:rPr lang="sv-SE"/>
              <a:t>Läsa data från variabler (också i minnet)</a:t>
            </a:r>
            <a:endParaRPr lang="LID4096"/>
          </a:p>
        </p:txBody>
      </p:sp>
      <p:sp>
        <p:nvSpPr>
          <p:cNvPr id="3" name="Content Placeholder 2">
            <a:extLst>
              <a:ext uri="{FF2B5EF4-FFF2-40B4-BE49-F238E27FC236}">
                <a16:creationId xmlns:a16="http://schemas.microsoft.com/office/drawing/2014/main" id="{436AD07D-0BCD-6139-E24C-D3A8CAEF83B0}"/>
              </a:ext>
            </a:extLst>
          </p:cNvPr>
          <p:cNvSpPr>
            <a:spLocks noGrp="1"/>
          </p:cNvSpPr>
          <p:nvPr>
            <p:ph idx="1"/>
          </p:nvPr>
        </p:nvSpPr>
        <p:spPr/>
        <p:txBody>
          <a:bodyPr/>
          <a:lstStyle/>
          <a:p>
            <a:r>
              <a:rPr lang="sv-SE"/>
              <a:t>När vi läser från eller skriver till </a:t>
            </a:r>
            <a:r>
              <a:rPr lang="sv-SE" i="1"/>
              <a:t>variabler</a:t>
            </a:r>
            <a:r>
              <a:rPr lang="sv-SE"/>
              <a:t> i våra program kan vi i regel inte addressen till dem i huvet. </a:t>
            </a:r>
            <a:endParaRPr lang="LID4096"/>
          </a:p>
        </p:txBody>
      </p:sp>
      <p:pic>
        <p:nvPicPr>
          <p:cNvPr id="5" name="Picture 4">
            <a:extLst>
              <a:ext uri="{FF2B5EF4-FFF2-40B4-BE49-F238E27FC236}">
                <a16:creationId xmlns:a16="http://schemas.microsoft.com/office/drawing/2014/main" id="{572D9C3D-61C5-AE10-7215-666993420A87}"/>
              </a:ext>
            </a:extLst>
          </p:cNvPr>
          <p:cNvPicPr>
            <a:picLocks noChangeAspect="1"/>
          </p:cNvPicPr>
          <p:nvPr/>
        </p:nvPicPr>
        <p:blipFill>
          <a:blip r:embed="rId2"/>
          <a:stretch>
            <a:fillRect/>
          </a:stretch>
        </p:blipFill>
        <p:spPr>
          <a:xfrm>
            <a:off x="838200" y="2806186"/>
            <a:ext cx="4391638" cy="3686689"/>
          </a:xfrm>
          <a:prstGeom prst="rect">
            <a:avLst/>
          </a:prstGeom>
          <a:ln>
            <a:solidFill>
              <a:schemeClr val="accent1">
                <a:shade val="15000"/>
              </a:schemeClr>
            </a:solidFill>
          </a:ln>
          <a:effectLst>
            <a:outerShdw blurRad="50800" dist="38100" dir="2700000" algn="tl" rotWithShape="0">
              <a:prstClr val="black">
                <a:alpha val="40000"/>
              </a:prstClr>
            </a:outerShdw>
          </a:effectLst>
        </p:spPr>
      </p:pic>
      <p:grpSp>
        <p:nvGrpSpPr>
          <p:cNvPr id="14" name="Group 13">
            <a:extLst>
              <a:ext uri="{FF2B5EF4-FFF2-40B4-BE49-F238E27FC236}">
                <a16:creationId xmlns:a16="http://schemas.microsoft.com/office/drawing/2014/main" id="{2E83040F-DCD9-6519-3C09-1CE96A1F9320}"/>
              </a:ext>
            </a:extLst>
          </p:cNvPr>
          <p:cNvGrpSpPr/>
          <p:nvPr/>
        </p:nvGrpSpPr>
        <p:grpSpPr>
          <a:xfrm>
            <a:off x="2508250" y="2806186"/>
            <a:ext cx="8720808" cy="533914"/>
            <a:chOff x="2508250" y="2806186"/>
            <a:chExt cx="8720808" cy="533914"/>
          </a:xfrm>
        </p:grpSpPr>
        <p:sp>
          <p:nvSpPr>
            <p:cNvPr id="7" name="TextBox 6">
              <a:extLst>
                <a:ext uri="{FF2B5EF4-FFF2-40B4-BE49-F238E27FC236}">
                  <a16:creationId xmlns:a16="http://schemas.microsoft.com/office/drawing/2014/main" id="{87F31050-B6AF-1862-B37E-38942F18A68B}"/>
                </a:ext>
              </a:extLst>
            </p:cNvPr>
            <p:cNvSpPr txBox="1"/>
            <p:nvPr/>
          </p:nvSpPr>
          <p:spPr>
            <a:xfrm>
              <a:off x="5658943" y="2806186"/>
              <a:ext cx="5570115" cy="461665"/>
            </a:xfrm>
            <a:prstGeom prst="rect">
              <a:avLst/>
            </a:prstGeom>
            <a:solidFill>
              <a:schemeClr val="bg1"/>
            </a:solidFill>
            <a:ln>
              <a:solidFill>
                <a:schemeClr val="accent1">
                  <a:shade val="15000"/>
                </a:schemeClr>
              </a:solidFill>
            </a:ln>
          </p:spPr>
          <p:txBody>
            <a:bodyPr wrap="none" rtlCol="0">
              <a:spAutoFit/>
            </a:bodyPr>
            <a:lstStyle/>
            <a:p>
              <a:r>
                <a:rPr lang="sv-SE" sz="2400"/>
                <a:t>Lägg </a:t>
              </a:r>
              <a:r>
                <a:rPr lang="sv-SE" sz="2400" i="1"/>
                <a:t>addressen</a:t>
              </a:r>
              <a:r>
                <a:rPr lang="sv-SE" sz="2400"/>
                <a:t> till variabeln i ett register</a:t>
              </a:r>
              <a:endParaRPr lang="LID4096" sz="2400"/>
            </a:p>
          </p:txBody>
        </p:sp>
        <p:cxnSp>
          <p:nvCxnSpPr>
            <p:cNvPr id="9" name="Straight Arrow Connector 8">
              <a:extLst>
                <a:ext uri="{FF2B5EF4-FFF2-40B4-BE49-F238E27FC236}">
                  <a16:creationId xmlns:a16="http://schemas.microsoft.com/office/drawing/2014/main" id="{F8F62F07-62E5-320F-8701-2EDA952F1E4C}"/>
                </a:ext>
              </a:extLst>
            </p:cNvPr>
            <p:cNvCxnSpPr>
              <a:stCxn id="7" idx="1"/>
            </p:cNvCxnSpPr>
            <p:nvPr/>
          </p:nvCxnSpPr>
          <p:spPr>
            <a:xfrm flipH="1">
              <a:off x="2508250" y="3037019"/>
              <a:ext cx="3150693" cy="3030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D0F99D05-3532-E738-2714-4505D897974B}"/>
              </a:ext>
            </a:extLst>
          </p:cNvPr>
          <p:cNvGrpSpPr/>
          <p:nvPr/>
        </p:nvGrpSpPr>
        <p:grpSpPr>
          <a:xfrm>
            <a:off x="2508250" y="3321741"/>
            <a:ext cx="7586018" cy="461665"/>
            <a:chOff x="2508250" y="3321741"/>
            <a:chExt cx="7586018" cy="461665"/>
          </a:xfrm>
        </p:grpSpPr>
        <p:sp>
          <p:nvSpPr>
            <p:cNvPr id="10" name="TextBox 9">
              <a:extLst>
                <a:ext uri="{FF2B5EF4-FFF2-40B4-BE49-F238E27FC236}">
                  <a16:creationId xmlns:a16="http://schemas.microsoft.com/office/drawing/2014/main" id="{A0B2FE85-DE0F-1044-7DC6-B1CE03147656}"/>
                </a:ext>
              </a:extLst>
            </p:cNvPr>
            <p:cNvSpPr txBox="1"/>
            <p:nvPr/>
          </p:nvSpPr>
          <p:spPr>
            <a:xfrm>
              <a:off x="5802387" y="3321741"/>
              <a:ext cx="4291881" cy="461665"/>
            </a:xfrm>
            <a:prstGeom prst="rect">
              <a:avLst/>
            </a:prstGeom>
            <a:solidFill>
              <a:schemeClr val="bg1"/>
            </a:solidFill>
            <a:ln>
              <a:solidFill>
                <a:schemeClr val="accent1">
                  <a:shade val="15000"/>
                </a:schemeClr>
              </a:solidFill>
            </a:ln>
          </p:spPr>
          <p:txBody>
            <a:bodyPr wrap="none" rtlCol="0">
              <a:spAutoFit/>
            </a:bodyPr>
            <a:lstStyle/>
            <a:p>
              <a:r>
                <a:rPr lang="sv-SE" sz="2400"/>
                <a:t>Läs en </a:t>
              </a:r>
              <a:r>
                <a:rPr lang="sv-SE" sz="2400" i="1"/>
                <a:t>byte</a:t>
              </a:r>
              <a:r>
                <a:rPr lang="sv-SE" sz="2400"/>
                <a:t> från den addressen</a:t>
              </a:r>
              <a:endParaRPr lang="LID4096" sz="2400">
                <a:solidFill>
                  <a:schemeClr val="accent4">
                    <a:lumMod val="75000"/>
                  </a:schemeClr>
                </a:solidFill>
              </a:endParaRPr>
            </a:p>
          </p:txBody>
        </p:sp>
        <p:cxnSp>
          <p:nvCxnSpPr>
            <p:cNvPr id="11" name="Straight Arrow Connector 10">
              <a:extLst>
                <a:ext uri="{FF2B5EF4-FFF2-40B4-BE49-F238E27FC236}">
                  <a16:creationId xmlns:a16="http://schemas.microsoft.com/office/drawing/2014/main" id="{C01330D2-DB14-062E-BD10-4C084CFFE77E}"/>
                </a:ext>
              </a:extLst>
            </p:cNvPr>
            <p:cNvCxnSpPr>
              <a:cxnSpLocks/>
              <a:stCxn id="10" idx="1"/>
            </p:cNvCxnSpPr>
            <p:nvPr/>
          </p:nvCxnSpPr>
          <p:spPr>
            <a:xfrm flipH="1">
              <a:off x="2508250" y="3552574"/>
              <a:ext cx="3294137" cy="10324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BC257153-C1BD-408F-B8B9-687117073CC3}"/>
              </a:ext>
            </a:extLst>
          </p:cNvPr>
          <p:cNvGrpSpPr/>
          <p:nvPr/>
        </p:nvGrpSpPr>
        <p:grpSpPr>
          <a:xfrm>
            <a:off x="1041400" y="5546080"/>
            <a:ext cx="10899633" cy="1200329"/>
            <a:chOff x="1041400" y="5546080"/>
            <a:chExt cx="10899633" cy="1200329"/>
          </a:xfrm>
        </p:grpSpPr>
        <p:sp>
          <p:nvSpPr>
            <p:cNvPr id="6" name="TextBox 5">
              <a:extLst>
                <a:ext uri="{FF2B5EF4-FFF2-40B4-BE49-F238E27FC236}">
                  <a16:creationId xmlns:a16="http://schemas.microsoft.com/office/drawing/2014/main" id="{A7BDD166-234B-B40E-75A6-87787A668FEF}"/>
                </a:ext>
              </a:extLst>
            </p:cNvPr>
            <p:cNvSpPr txBox="1"/>
            <p:nvPr/>
          </p:nvSpPr>
          <p:spPr>
            <a:xfrm>
              <a:off x="5481508" y="5546080"/>
              <a:ext cx="6459525" cy="1200329"/>
            </a:xfrm>
            <a:prstGeom prst="rect">
              <a:avLst/>
            </a:prstGeom>
            <a:solidFill>
              <a:schemeClr val="bg1"/>
            </a:solidFill>
            <a:ln>
              <a:solidFill>
                <a:schemeClr val="accent1">
                  <a:shade val="15000"/>
                </a:schemeClr>
              </a:solidFill>
            </a:ln>
          </p:spPr>
          <p:txBody>
            <a:bodyPr wrap="none" rtlCol="0">
              <a:spAutoFit/>
            </a:bodyPr>
            <a:lstStyle/>
            <a:p>
              <a:r>
                <a:rPr lang="sv-SE" sz="2400"/>
                <a:t>Variabler defineras med en </a:t>
              </a:r>
              <a:r>
                <a:rPr lang="sv-SE" sz="2400" i="1"/>
                <a:t>label</a:t>
              </a:r>
              <a:r>
                <a:rPr lang="sv-SE" sz="2400"/>
                <a:t> och sedan ett</a:t>
              </a:r>
              <a:br>
                <a:rPr lang="sv-SE" sz="2400"/>
              </a:br>
              <a:r>
                <a:rPr lang="sv-SE" sz="2400"/>
                <a:t> </a:t>
              </a:r>
              <a:r>
                <a:rPr lang="sv-SE" sz="2400" i="1"/>
                <a:t>direktiv</a:t>
              </a:r>
              <a:r>
                <a:rPr lang="sv-SE" sz="2400"/>
                <a:t> som säger hur mycket plats och vilket </a:t>
              </a:r>
              <a:br>
                <a:rPr lang="sv-SE" sz="2400"/>
              </a:br>
              <a:r>
                <a:rPr lang="sv-SE" sz="2400"/>
                <a:t>värde som skall finnas på motsvarande address</a:t>
              </a:r>
              <a:endParaRPr lang="LID4096" sz="2400"/>
            </a:p>
          </p:txBody>
        </p:sp>
        <p:sp>
          <p:nvSpPr>
            <p:cNvPr id="16" name="Rectangle: Rounded Corners 15">
              <a:extLst>
                <a:ext uri="{FF2B5EF4-FFF2-40B4-BE49-F238E27FC236}">
                  <a16:creationId xmlns:a16="http://schemas.microsoft.com/office/drawing/2014/main" id="{8AB6678C-FBD0-D8A2-7424-713A3E10CFBA}"/>
                </a:ext>
              </a:extLst>
            </p:cNvPr>
            <p:cNvSpPr/>
            <p:nvPr/>
          </p:nvSpPr>
          <p:spPr>
            <a:xfrm>
              <a:off x="1041400" y="5753100"/>
              <a:ext cx="1879600" cy="65469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8" name="Straight Arrow Connector 17">
              <a:extLst>
                <a:ext uri="{FF2B5EF4-FFF2-40B4-BE49-F238E27FC236}">
                  <a16:creationId xmlns:a16="http://schemas.microsoft.com/office/drawing/2014/main" id="{584F3C57-4B16-FFAD-6E3F-ECAC610570C9}"/>
                </a:ext>
              </a:extLst>
            </p:cNvPr>
            <p:cNvCxnSpPr>
              <a:stCxn id="6" idx="1"/>
              <a:endCxn id="16" idx="3"/>
            </p:cNvCxnSpPr>
            <p:nvPr/>
          </p:nvCxnSpPr>
          <p:spPr>
            <a:xfrm flipH="1" flipV="1">
              <a:off x="2921000" y="6080448"/>
              <a:ext cx="2560508" cy="6579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62735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EB910-1D52-0EFE-64A1-3601CDE254EC}"/>
              </a:ext>
            </a:extLst>
          </p:cNvPr>
          <p:cNvSpPr>
            <a:spLocks noGrp="1"/>
          </p:cNvSpPr>
          <p:nvPr>
            <p:ph type="title"/>
          </p:nvPr>
        </p:nvSpPr>
        <p:spPr/>
        <p:txBody>
          <a:bodyPr/>
          <a:lstStyle/>
          <a:p>
            <a:r>
              <a:rPr lang="sv-SE"/>
              <a:t>Skriva till minnet</a:t>
            </a:r>
            <a:endParaRPr lang="LID4096"/>
          </a:p>
        </p:txBody>
      </p:sp>
      <p:sp>
        <p:nvSpPr>
          <p:cNvPr id="3" name="Content Placeholder 2">
            <a:extLst>
              <a:ext uri="{FF2B5EF4-FFF2-40B4-BE49-F238E27FC236}">
                <a16:creationId xmlns:a16="http://schemas.microsoft.com/office/drawing/2014/main" id="{792AC899-5E13-6218-3C0F-2DA116D840DA}"/>
              </a:ext>
            </a:extLst>
          </p:cNvPr>
          <p:cNvSpPr>
            <a:spLocks noGrp="1"/>
          </p:cNvSpPr>
          <p:nvPr>
            <p:ph idx="1"/>
          </p:nvPr>
        </p:nvSpPr>
        <p:spPr/>
        <p:txBody>
          <a:bodyPr/>
          <a:lstStyle/>
          <a:p>
            <a:r>
              <a:rPr lang="sv-SE"/>
              <a:t>Skriva till minnet fungerar precis likadant:</a:t>
            </a:r>
            <a:br>
              <a:rPr lang="sv-SE"/>
            </a:br>
            <a:br>
              <a:rPr lang="sv-SE"/>
            </a:br>
            <a:r>
              <a:rPr lang="sv-SE" i="1"/>
              <a:t>Lägg värdena 1, 2, och 3 till de första tre half-words (2 bytes ord)</a:t>
            </a:r>
            <a:br>
              <a:rPr lang="sv-SE" i="1"/>
            </a:br>
            <a:r>
              <a:rPr lang="sv-SE" i="1"/>
              <a:t>i SRAM</a:t>
            </a:r>
            <a:endParaRPr lang="sv-SE"/>
          </a:p>
        </p:txBody>
      </p:sp>
      <p:pic>
        <p:nvPicPr>
          <p:cNvPr id="7" name="Picture 6">
            <a:extLst>
              <a:ext uri="{FF2B5EF4-FFF2-40B4-BE49-F238E27FC236}">
                <a16:creationId xmlns:a16="http://schemas.microsoft.com/office/drawing/2014/main" id="{2FA8C3C3-3141-09B9-4DBA-386CBD0A625F}"/>
              </a:ext>
            </a:extLst>
          </p:cNvPr>
          <p:cNvPicPr>
            <a:picLocks noChangeAspect="1"/>
          </p:cNvPicPr>
          <p:nvPr/>
        </p:nvPicPr>
        <p:blipFill>
          <a:blip r:embed="rId3"/>
          <a:stretch>
            <a:fillRect/>
          </a:stretch>
        </p:blipFill>
        <p:spPr>
          <a:xfrm>
            <a:off x="949816" y="3630769"/>
            <a:ext cx="10202699" cy="2467319"/>
          </a:xfrm>
          <a:prstGeom prst="rect">
            <a:avLst/>
          </a:prstGeom>
          <a:ln>
            <a:solidFill>
              <a:schemeClr val="accent1">
                <a:shade val="15000"/>
              </a:schemeClr>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245059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6FB8F-8013-14D4-E05A-B65F9D0FCB72}"/>
              </a:ext>
            </a:extLst>
          </p:cNvPr>
          <p:cNvSpPr>
            <a:spLocks noGrp="1"/>
          </p:cNvSpPr>
          <p:nvPr>
            <p:ph type="title"/>
          </p:nvPr>
        </p:nvSpPr>
        <p:spPr/>
        <p:txBody>
          <a:bodyPr/>
          <a:lstStyle/>
          <a:p>
            <a:r>
              <a:rPr lang="sv-SE"/>
              <a:t>Load and Store Global (pseudo instructions)</a:t>
            </a:r>
            <a:endParaRPr lang="LID4096"/>
          </a:p>
        </p:txBody>
      </p:sp>
      <p:sp>
        <p:nvSpPr>
          <p:cNvPr id="3" name="Content Placeholder 2">
            <a:extLst>
              <a:ext uri="{FF2B5EF4-FFF2-40B4-BE49-F238E27FC236}">
                <a16:creationId xmlns:a16="http://schemas.microsoft.com/office/drawing/2014/main" id="{60CD3FB0-EA11-8584-EF7C-F0C5D441686E}"/>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27340897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F084B-CEC3-0D4E-C680-068C12877FBB}"/>
              </a:ext>
            </a:extLst>
          </p:cNvPr>
          <p:cNvSpPr>
            <a:spLocks noGrp="1"/>
          </p:cNvSpPr>
          <p:nvPr>
            <p:ph type="title"/>
          </p:nvPr>
        </p:nvSpPr>
        <p:spPr/>
        <p:txBody>
          <a:bodyPr/>
          <a:lstStyle/>
          <a:p>
            <a:r>
              <a:rPr lang="sv-SE"/>
              <a:t>Sign extension</a:t>
            </a:r>
            <a:endParaRPr lang="LID4096"/>
          </a:p>
        </p:txBody>
      </p:sp>
      <p:pic>
        <p:nvPicPr>
          <p:cNvPr id="5" name="Picture 4">
            <a:extLst>
              <a:ext uri="{FF2B5EF4-FFF2-40B4-BE49-F238E27FC236}">
                <a16:creationId xmlns:a16="http://schemas.microsoft.com/office/drawing/2014/main" id="{53A26BDA-8A26-A8BB-8FED-623F2DAA199E}"/>
              </a:ext>
            </a:extLst>
          </p:cNvPr>
          <p:cNvPicPr>
            <a:picLocks noChangeAspect="1"/>
          </p:cNvPicPr>
          <p:nvPr/>
        </p:nvPicPr>
        <p:blipFill>
          <a:blip r:embed="rId3"/>
          <a:stretch>
            <a:fillRect/>
          </a:stretch>
        </p:blipFill>
        <p:spPr>
          <a:xfrm>
            <a:off x="3476270" y="1928744"/>
            <a:ext cx="5087060" cy="98121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9ADD314A-9D5A-1A22-FDD6-0D06D62344A7}"/>
              </a:ext>
            </a:extLst>
          </p:cNvPr>
          <p:cNvPicPr>
            <a:picLocks noChangeAspect="1"/>
          </p:cNvPicPr>
          <p:nvPr/>
        </p:nvPicPr>
        <p:blipFill>
          <a:blip r:embed="rId4"/>
          <a:stretch>
            <a:fillRect/>
          </a:stretch>
        </p:blipFill>
        <p:spPr>
          <a:xfrm>
            <a:off x="236045" y="3111028"/>
            <a:ext cx="7059010" cy="3381847"/>
          </a:xfrm>
          <a:prstGeom prst="rect">
            <a:avLst/>
          </a:prstGeom>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A85247F8-C419-CECB-C4A2-81C53300451E}"/>
              </a:ext>
            </a:extLst>
          </p:cNvPr>
          <p:cNvSpPr txBox="1"/>
          <p:nvPr/>
        </p:nvSpPr>
        <p:spPr>
          <a:xfrm>
            <a:off x="5543550" y="2641160"/>
            <a:ext cx="2607252" cy="369332"/>
          </a:xfrm>
          <a:prstGeom prst="rect">
            <a:avLst/>
          </a:prstGeom>
          <a:solidFill>
            <a:schemeClr val="bg1"/>
          </a:solidFill>
          <a:ln>
            <a:solidFill>
              <a:schemeClr val="accent1">
                <a:shade val="15000"/>
              </a:schemeClr>
            </a:solidFill>
          </a:ln>
        </p:spPr>
        <p:txBody>
          <a:bodyPr wrap="none" rtlCol="0">
            <a:spAutoFit/>
          </a:bodyPr>
          <a:lstStyle/>
          <a:p>
            <a:r>
              <a:rPr lang="sv-SE"/>
              <a:t>c borde vara 251-5 = 246</a:t>
            </a:r>
            <a:endParaRPr lang="LID4096"/>
          </a:p>
        </p:txBody>
      </p:sp>
      <p:sp>
        <p:nvSpPr>
          <p:cNvPr id="11" name="TextBox 10">
            <a:extLst>
              <a:ext uri="{FF2B5EF4-FFF2-40B4-BE49-F238E27FC236}">
                <a16:creationId xmlns:a16="http://schemas.microsoft.com/office/drawing/2014/main" id="{D9C2CA82-AA3B-F016-C3B9-438511E1B546}"/>
              </a:ext>
            </a:extLst>
          </p:cNvPr>
          <p:cNvSpPr txBox="1"/>
          <p:nvPr/>
        </p:nvSpPr>
        <p:spPr>
          <a:xfrm>
            <a:off x="603250" y="5663760"/>
            <a:ext cx="2336152" cy="369332"/>
          </a:xfrm>
          <a:prstGeom prst="rect">
            <a:avLst/>
          </a:prstGeom>
          <a:solidFill>
            <a:schemeClr val="bg1"/>
          </a:solidFill>
          <a:ln>
            <a:solidFill>
              <a:schemeClr val="accent1">
                <a:shade val="15000"/>
              </a:schemeClr>
            </a:solidFill>
          </a:ln>
        </p:spPr>
        <p:txBody>
          <a:bodyPr wrap="none" rtlCol="0">
            <a:spAutoFit/>
          </a:bodyPr>
          <a:lstStyle/>
          <a:p>
            <a:r>
              <a:rPr lang="sv-SE"/>
              <a:t>c (t2) är 0xfffffff6 = -10</a:t>
            </a:r>
            <a:endParaRPr lang="LID4096"/>
          </a:p>
        </p:txBody>
      </p:sp>
      <p:sp>
        <p:nvSpPr>
          <p:cNvPr id="17" name="Rectangle: Rounded Corners 16">
            <a:extLst>
              <a:ext uri="{FF2B5EF4-FFF2-40B4-BE49-F238E27FC236}">
                <a16:creationId xmlns:a16="http://schemas.microsoft.com/office/drawing/2014/main" id="{360BF7BF-BBE3-6C74-00F1-27953856D967}"/>
              </a:ext>
            </a:extLst>
          </p:cNvPr>
          <p:cNvSpPr/>
          <p:nvPr/>
        </p:nvSpPr>
        <p:spPr>
          <a:xfrm>
            <a:off x="3657087" y="4683242"/>
            <a:ext cx="1080013" cy="237418"/>
          </a:xfrm>
          <a:custGeom>
            <a:avLst/>
            <a:gdLst>
              <a:gd name="csX0" fmla="*/ 0 w 1080013"/>
              <a:gd name="csY0" fmla="*/ 39570 h 237418"/>
              <a:gd name="csX1" fmla="*/ 39570 w 1080013"/>
              <a:gd name="csY1" fmla="*/ 0 h 237418"/>
              <a:gd name="csX2" fmla="*/ 560024 w 1080013"/>
              <a:gd name="csY2" fmla="*/ 0 h 237418"/>
              <a:gd name="csX3" fmla="*/ 1040443 w 1080013"/>
              <a:gd name="csY3" fmla="*/ 0 h 237418"/>
              <a:gd name="csX4" fmla="*/ 1080013 w 1080013"/>
              <a:gd name="csY4" fmla="*/ 39570 h 237418"/>
              <a:gd name="csX5" fmla="*/ 1080013 w 1080013"/>
              <a:gd name="csY5" fmla="*/ 197848 h 237418"/>
              <a:gd name="csX6" fmla="*/ 1040443 w 1080013"/>
              <a:gd name="csY6" fmla="*/ 237418 h 237418"/>
              <a:gd name="csX7" fmla="*/ 540007 w 1080013"/>
              <a:gd name="csY7" fmla="*/ 237418 h 237418"/>
              <a:gd name="csX8" fmla="*/ 39570 w 1080013"/>
              <a:gd name="csY8" fmla="*/ 237418 h 237418"/>
              <a:gd name="csX9" fmla="*/ 0 w 1080013"/>
              <a:gd name="csY9" fmla="*/ 197848 h 237418"/>
              <a:gd name="csX10" fmla="*/ 0 w 1080013"/>
              <a:gd name="csY10" fmla="*/ 39570 h 237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80013" h="237418" extrusionOk="0">
                <a:moveTo>
                  <a:pt x="0" y="39570"/>
                </a:moveTo>
                <a:cubicBezTo>
                  <a:pt x="-674" y="17301"/>
                  <a:pt x="12938" y="1793"/>
                  <a:pt x="39570" y="0"/>
                </a:cubicBezTo>
                <a:cubicBezTo>
                  <a:pt x="209529" y="-6625"/>
                  <a:pt x="339280" y="24399"/>
                  <a:pt x="560024" y="0"/>
                </a:cubicBezTo>
                <a:cubicBezTo>
                  <a:pt x="780768" y="-24399"/>
                  <a:pt x="856236" y="6820"/>
                  <a:pt x="1040443" y="0"/>
                </a:cubicBezTo>
                <a:cubicBezTo>
                  <a:pt x="1060717" y="-865"/>
                  <a:pt x="1081279" y="18321"/>
                  <a:pt x="1080013" y="39570"/>
                </a:cubicBezTo>
                <a:cubicBezTo>
                  <a:pt x="1075387" y="86959"/>
                  <a:pt x="1074988" y="165671"/>
                  <a:pt x="1080013" y="197848"/>
                </a:cubicBezTo>
                <a:cubicBezTo>
                  <a:pt x="1082285" y="216005"/>
                  <a:pt x="1060375" y="239107"/>
                  <a:pt x="1040443" y="237418"/>
                </a:cubicBezTo>
                <a:cubicBezTo>
                  <a:pt x="796666" y="213008"/>
                  <a:pt x="644671" y="261700"/>
                  <a:pt x="540007" y="237418"/>
                </a:cubicBezTo>
                <a:cubicBezTo>
                  <a:pt x="435343" y="213136"/>
                  <a:pt x="164285" y="254039"/>
                  <a:pt x="39570" y="237418"/>
                </a:cubicBezTo>
                <a:cubicBezTo>
                  <a:pt x="16554" y="237352"/>
                  <a:pt x="616" y="218013"/>
                  <a:pt x="0" y="197848"/>
                </a:cubicBezTo>
                <a:cubicBezTo>
                  <a:pt x="2791" y="127676"/>
                  <a:pt x="-3803" y="74910"/>
                  <a:pt x="0" y="39570"/>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864C25F0-ADA3-F64D-9B04-3D717482787F}"/>
              </a:ext>
            </a:extLst>
          </p:cNvPr>
          <p:cNvSpPr txBox="1"/>
          <p:nvPr/>
        </p:nvSpPr>
        <p:spPr>
          <a:xfrm>
            <a:off x="4946650" y="4430832"/>
            <a:ext cx="5224572" cy="923330"/>
          </a:xfrm>
          <a:prstGeom prst="rect">
            <a:avLst/>
          </a:prstGeom>
          <a:solidFill>
            <a:schemeClr val="bg1"/>
          </a:solidFill>
          <a:ln>
            <a:solidFill>
              <a:schemeClr val="accent1">
                <a:shade val="15000"/>
              </a:schemeClr>
            </a:solidFill>
          </a:ln>
        </p:spPr>
        <p:txBody>
          <a:bodyPr wrap="none" rtlCol="0">
            <a:spAutoFit/>
          </a:bodyPr>
          <a:lstStyle/>
          <a:p>
            <a:r>
              <a:rPr lang="sv-SE"/>
              <a:t>Läs en byte från minnet. Processorn antar att byten</a:t>
            </a:r>
            <a:br>
              <a:rPr lang="sv-SE"/>
            </a:br>
            <a:r>
              <a:rPr lang="sv-SE"/>
              <a:t>är signed. Byten är 0xFB (-5), så processorn lägger</a:t>
            </a:r>
            <a:br>
              <a:rPr lang="sv-SE"/>
            </a:br>
            <a:r>
              <a:rPr lang="sv-SE"/>
              <a:t>0xFFFFFFFB (-5) i t0.</a:t>
            </a:r>
            <a:endParaRPr lang="LID4096"/>
          </a:p>
        </p:txBody>
      </p:sp>
    </p:spTree>
    <p:extLst>
      <p:ext uri="{BB962C8B-B14F-4D97-AF65-F5344CB8AC3E}">
        <p14:creationId xmlns:p14="http://schemas.microsoft.com/office/powerpoint/2010/main" val="667817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7" grpId="0" animBg="1"/>
      <p:bldP spid="1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C568C-9226-771E-FCCD-7BBB18D691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9EE74-4D92-ECA0-5A46-A46C18AC9BE6}"/>
              </a:ext>
            </a:extLst>
          </p:cNvPr>
          <p:cNvSpPr>
            <a:spLocks noGrp="1"/>
          </p:cNvSpPr>
          <p:nvPr>
            <p:ph type="title"/>
          </p:nvPr>
        </p:nvSpPr>
        <p:spPr/>
        <p:txBody>
          <a:bodyPr/>
          <a:lstStyle/>
          <a:p>
            <a:r>
              <a:rPr lang="sv-SE"/>
              <a:t>Sign extension</a:t>
            </a:r>
            <a:endParaRPr lang="LID4096"/>
          </a:p>
        </p:txBody>
      </p:sp>
      <p:pic>
        <p:nvPicPr>
          <p:cNvPr id="5" name="Picture 4">
            <a:extLst>
              <a:ext uri="{FF2B5EF4-FFF2-40B4-BE49-F238E27FC236}">
                <a16:creationId xmlns:a16="http://schemas.microsoft.com/office/drawing/2014/main" id="{A0BF3D37-892B-12DD-65C4-07900E5E6E45}"/>
              </a:ext>
            </a:extLst>
          </p:cNvPr>
          <p:cNvPicPr>
            <a:picLocks noChangeAspect="1"/>
          </p:cNvPicPr>
          <p:nvPr/>
        </p:nvPicPr>
        <p:blipFill>
          <a:blip r:embed="rId3"/>
          <a:stretch>
            <a:fillRect/>
          </a:stretch>
        </p:blipFill>
        <p:spPr>
          <a:xfrm>
            <a:off x="3476270" y="1928744"/>
            <a:ext cx="5087060" cy="98121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3514506F-4332-20C3-C008-93B1242BFA8D}"/>
              </a:ext>
            </a:extLst>
          </p:cNvPr>
          <p:cNvPicPr>
            <a:picLocks noChangeAspect="1"/>
          </p:cNvPicPr>
          <p:nvPr/>
        </p:nvPicPr>
        <p:blipFill>
          <a:blip r:embed="rId4"/>
          <a:stretch>
            <a:fillRect/>
          </a:stretch>
        </p:blipFill>
        <p:spPr>
          <a:xfrm>
            <a:off x="236045" y="3111028"/>
            <a:ext cx="7059010" cy="3381847"/>
          </a:xfrm>
          <a:prstGeom prst="rect">
            <a:avLst/>
          </a:prstGeom>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AEEBC8E6-8C51-6426-9972-7397505E9AD9}"/>
              </a:ext>
            </a:extLst>
          </p:cNvPr>
          <p:cNvSpPr txBox="1"/>
          <p:nvPr/>
        </p:nvSpPr>
        <p:spPr>
          <a:xfrm>
            <a:off x="5543550" y="2641160"/>
            <a:ext cx="2607252" cy="369332"/>
          </a:xfrm>
          <a:prstGeom prst="rect">
            <a:avLst/>
          </a:prstGeom>
          <a:solidFill>
            <a:schemeClr val="bg1"/>
          </a:solidFill>
          <a:ln>
            <a:solidFill>
              <a:schemeClr val="accent1">
                <a:shade val="15000"/>
              </a:schemeClr>
            </a:solidFill>
          </a:ln>
        </p:spPr>
        <p:txBody>
          <a:bodyPr wrap="none" rtlCol="0">
            <a:spAutoFit/>
          </a:bodyPr>
          <a:lstStyle/>
          <a:p>
            <a:r>
              <a:rPr lang="sv-SE"/>
              <a:t>c borde vara 251-5 = 246</a:t>
            </a:r>
            <a:endParaRPr lang="LID4096"/>
          </a:p>
        </p:txBody>
      </p:sp>
      <p:sp>
        <p:nvSpPr>
          <p:cNvPr id="11" name="TextBox 10">
            <a:extLst>
              <a:ext uri="{FF2B5EF4-FFF2-40B4-BE49-F238E27FC236}">
                <a16:creationId xmlns:a16="http://schemas.microsoft.com/office/drawing/2014/main" id="{5A8B050B-1DFE-6B48-E52A-077FA3308F10}"/>
              </a:ext>
            </a:extLst>
          </p:cNvPr>
          <p:cNvSpPr txBox="1"/>
          <p:nvPr/>
        </p:nvSpPr>
        <p:spPr>
          <a:xfrm>
            <a:off x="603250" y="5663760"/>
            <a:ext cx="2336152" cy="369332"/>
          </a:xfrm>
          <a:prstGeom prst="rect">
            <a:avLst/>
          </a:prstGeom>
          <a:solidFill>
            <a:schemeClr val="bg1"/>
          </a:solidFill>
          <a:ln>
            <a:solidFill>
              <a:schemeClr val="accent1">
                <a:shade val="15000"/>
              </a:schemeClr>
            </a:solidFill>
          </a:ln>
        </p:spPr>
        <p:txBody>
          <a:bodyPr wrap="none" rtlCol="0">
            <a:spAutoFit/>
          </a:bodyPr>
          <a:lstStyle/>
          <a:p>
            <a:r>
              <a:rPr lang="sv-SE"/>
              <a:t>c (t2) är 0xfffffff6 = -10</a:t>
            </a:r>
            <a:endParaRPr lang="LID4096"/>
          </a:p>
        </p:txBody>
      </p:sp>
      <p:grpSp>
        <p:nvGrpSpPr>
          <p:cNvPr id="16" name="Group 15">
            <a:extLst>
              <a:ext uri="{FF2B5EF4-FFF2-40B4-BE49-F238E27FC236}">
                <a16:creationId xmlns:a16="http://schemas.microsoft.com/office/drawing/2014/main" id="{B497E09C-0742-2934-A869-4FD84142EB3A}"/>
              </a:ext>
            </a:extLst>
          </p:cNvPr>
          <p:cNvGrpSpPr/>
          <p:nvPr/>
        </p:nvGrpSpPr>
        <p:grpSpPr>
          <a:xfrm>
            <a:off x="593994" y="3211564"/>
            <a:ext cx="10851612" cy="3400900"/>
            <a:chOff x="593994" y="3211564"/>
            <a:chExt cx="10851612" cy="3400900"/>
          </a:xfrm>
        </p:grpSpPr>
        <p:pic>
          <p:nvPicPr>
            <p:cNvPr id="14" name="Picture 13">
              <a:extLst>
                <a:ext uri="{FF2B5EF4-FFF2-40B4-BE49-F238E27FC236}">
                  <a16:creationId xmlns:a16="http://schemas.microsoft.com/office/drawing/2014/main" id="{F0176348-F311-AFD7-70FD-1EE7DD1F84F4}"/>
                </a:ext>
              </a:extLst>
            </p:cNvPr>
            <p:cNvPicPr>
              <a:picLocks noChangeAspect="1"/>
            </p:cNvPicPr>
            <p:nvPr/>
          </p:nvPicPr>
          <p:blipFill>
            <a:blip r:embed="rId5"/>
            <a:stretch>
              <a:fillRect/>
            </a:stretch>
          </p:blipFill>
          <p:spPr>
            <a:xfrm>
              <a:off x="593994" y="3211564"/>
              <a:ext cx="7268589" cy="3400900"/>
            </a:xfrm>
            <a:prstGeom prst="rect">
              <a:avLst/>
            </a:prstGeom>
            <a:effectLst>
              <a:outerShdw blurRad="50800" dist="38100" dir="2700000" algn="tl" rotWithShape="0">
                <a:prstClr val="black">
                  <a:alpha val="40000"/>
                </a:prstClr>
              </a:outerShdw>
            </a:effectLst>
          </p:spPr>
        </p:pic>
        <p:sp>
          <p:nvSpPr>
            <p:cNvPr id="12" name="TextBox 11">
              <a:extLst>
                <a:ext uri="{FF2B5EF4-FFF2-40B4-BE49-F238E27FC236}">
                  <a16:creationId xmlns:a16="http://schemas.microsoft.com/office/drawing/2014/main" id="{DCB4337D-3BAE-F399-B04B-93838589BB4B}"/>
                </a:ext>
              </a:extLst>
            </p:cNvPr>
            <p:cNvSpPr txBox="1"/>
            <p:nvPr/>
          </p:nvSpPr>
          <p:spPr>
            <a:xfrm>
              <a:off x="7448550" y="3722908"/>
              <a:ext cx="3997056" cy="646331"/>
            </a:xfrm>
            <a:prstGeom prst="rect">
              <a:avLst/>
            </a:prstGeom>
            <a:solidFill>
              <a:schemeClr val="bg1"/>
            </a:solidFill>
            <a:ln>
              <a:solidFill>
                <a:schemeClr val="accent1">
                  <a:shade val="15000"/>
                </a:schemeClr>
              </a:solidFill>
            </a:ln>
          </p:spPr>
          <p:txBody>
            <a:bodyPr wrap="none" rtlCol="0">
              <a:spAutoFit/>
            </a:bodyPr>
            <a:lstStyle/>
            <a:p>
              <a:r>
                <a:rPr lang="sv-SE"/>
                <a:t>Vi måste tala om för </a:t>
              </a:r>
              <a:r>
                <a:rPr lang="sv-SE" i="1"/>
                <a:t>load instruktionen</a:t>
              </a:r>
              <a:br>
                <a:rPr lang="sv-SE" i="1"/>
              </a:br>
              <a:r>
                <a:rPr lang="sv-SE"/>
                <a:t>att </a:t>
              </a:r>
              <a:r>
                <a:rPr lang="sv-SE" b="1"/>
                <a:t>a</a:t>
              </a:r>
              <a:r>
                <a:rPr lang="sv-SE" b="1" i="1"/>
                <a:t> </a:t>
              </a:r>
              <a:r>
                <a:rPr lang="sv-SE"/>
                <a:t>är </a:t>
              </a:r>
              <a:r>
                <a:rPr lang="sv-SE" b="1"/>
                <a:t>unsigned.</a:t>
              </a:r>
              <a:endParaRPr lang="LID4096"/>
            </a:p>
          </p:txBody>
        </p:sp>
        <p:sp>
          <p:nvSpPr>
            <p:cNvPr id="15" name="Rectangle: Rounded Corners 14">
              <a:extLst>
                <a:ext uri="{FF2B5EF4-FFF2-40B4-BE49-F238E27FC236}">
                  <a16:creationId xmlns:a16="http://schemas.microsoft.com/office/drawing/2014/main" id="{00742B08-3F70-5C26-BEAF-99D87146FFB6}"/>
                </a:ext>
              </a:extLst>
            </p:cNvPr>
            <p:cNvSpPr/>
            <p:nvPr/>
          </p:nvSpPr>
          <p:spPr>
            <a:xfrm>
              <a:off x="4031737" y="4794250"/>
              <a:ext cx="1080013" cy="237418"/>
            </a:xfrm>
            <a:custGeom>
              <a:avLst/>
              <a:gdLst>
                <a:gd name="csX0" fmla="*/ 0 w 1080013"/>
                <a:gd name="csY0" fmla="*/ 39570 h 237418"/>
                <a:gd name="csX1" fmla="*/ 39570 w 1080013"/>
                <a:gd name="csY1" fmla="*/ 0 h 237418"/>
                <a:gd name="csX2" fmla="*/ 560024 w 1080013"/>
                <a:gd name="csY2" fmla="*/ 0 h 237418"/>
                <a:gd name="csX3" fmla="*/ 1040443 w 1080013"/>
                <a:gd name="csY3" fmla="*/ 0 h 237418"/>
                <a:gd name="csX4" fmla="*/ 1080013 w 1080013"/>
                <a:gd name="csY4" fmla="*/ 39570 h 237418"/>
                <a:gd name="csX5" fmla="*/ 1080013 w 1080013"/>
                <a:gd name="csY5" fmla="*/ 197848 h 237418"/>
                <a:gd name="csX6" fmla="*/ 1040443 w 1080013"/>
                <a:gd name="csY6" fmla="*/ 237418 h 237418"/>
                <a:gd name="csX7" fmla="*/ 540007 w 1080013"/>
                <a:gd name="csY7" fmla="*/ 237418 h 237418"/>
                <a:gd name="csX8" fmla="*/ 39570 w 1080013"/>
                <a:gd name="csY8" fmla="*/ 237418 h 237418"/>
                <a:gd name="csX9" fmla="*/ 0 w 1080013"/>
                <a:gd name="csY9" fmla="*/ 197848 h 237418"/>
                <a:gd name="csX10" fmla="*/ 0 w 1080013"/>
                <a:gd name="csY10" fmla="*/ 39570 h 237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80013" h="237418" extrusionOk="0">
                  <a:moveTo>
                    <a:pt x="0" y="39570"/>
                  </a:moveTo>
                  <a:cubicBezTo>
                    <a:pt x="-674" y="17301"/>
                    <a:pt x="12938" y="1793"/>
                    <a:pt x="39570" y="0"/>
                  </a:cubicBezTo>
                  <a:cubicBezTo>
                    <a:pt x="209529" y="-6625"/>
                    <a:pt x="339280" y="24399"/>
                    <a:pt x="560024" y="0"/>
                  </a:cubicBezTo>
                  <a:cubicBezTo>
                    <a:pt x="780768" y="-24399"/>
                    <a:pt x="856236" y="6820"/>
                    <a:pt x="1040443" y="0"/>
                  </a:cubicBezTo>
                  <a:cubicBezTo>
                    <a:pt x="1060717" y="-865"/>
                    <a:pt x="1081279" y="18321"/>
                    <a:pt x="1080013" y="39570"/>
                  </a:cubicBezTo>
                  <a:cubicBezTo>
                    <a:pt x="1075387" y="86959"/>
                    <a:pt x="1074988" y="165671"/>
                    <a:pt x="1080013" y="197848"/>
                  </a:cubicBezTo>
                  <a:cubicBezTo>
                    <a:pt x="1082285" y="216005"/>
                    <a:pt x="1060375" y="239107"/>
                    <a:pt x="1040443" y="237418"/>
                  </a:cubicBezTo>
                  <a:cubicBezTo>
                    <a:pt x="796666" y="213008"/>
                    <a:pt x="644671" y="261700"/>
                    <a:pt x="540007" y="237418"/>
                  </a:cubicBezTo>
                  <a:cubicBezTo>
                    <a:pt x="435343" y="213136"/>
                    <a:pt x="164285" y="254039"/>
                    <a:pt x="39570" y="237418"/>
                  </a:cubicBezTo>
                  <a:cubicBezTo>
                    <a:pt x="16554" y="237352"/>
                    <a:pt x="616" y="218013"/>
                    <a:pt x="0" y="197848"/>
                  </a:cubicBezTo>
                  <a:cubicBezTo>
                    <a:pt x="2791" y="127676"/>
                    <a:pt x="-3803" y="74910"/>
                    <a:pt x="0" y="39570"/>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37122192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37A74-FDD8-E0EE-8720-20791DA88FCA}"/>
            </a:ext>
          </a:extLst>
        </p:cNvPr>
        <p:cNvGrpSpPr/>
        <p:nvPr/>
      </p:nvGrpSpPr>
      <p:grpSpPr>
        <a:xfrm>
          <a:off x="0" y="0"/>
          <a:ext cx="0" cy="0"/>
          <a:chOff x="0" y="0"/>
          <a:chExt cx="0" cy="0"/>
        </a:xfrm>
      </p:grpSpPr>
    </p:spTree>
    <p:extLst>
      <p:ext uri="{BB962C8B-B14F-4D97-AF65-F5344CB8AC3E}">
        <p14:creationId xmlns:p14="http://schemas.microsoft.com/office/powerpoint/2010/main" val="26948091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9AE7D-9EC3-67AE-2ED8-36123A068764}"/>
              </a:ext>
            </a:extLst>
          </p:cNvPr>
          <p:cNvSpPr>
            <a:spLocks noGrp="1"/>
          </p:cNvSpPr>
          <p:nvPr>
            <p:ph type="title"/>
          </p:nvPr>
        </p:nvSpPr>
        <p:spPr/>
        <p:txBody>
          <a:bodyPr/>
          <a:lstStyle/>
          <a:p>
            <a:r>
              <a:rPr lang="sv-SE"/>
              <a:t>Memory Alignment</a:t>
            </a:r>
            <a:endParaRPr lang="LID4096"/>
          </a:p>
        </p:txBody>
      </p:sp>
      <p:pic>
        <p:nvPicPr>
          <p:cNvPr id="5" name="Picture 4">
            <a:extLst>
              <a:ext uri="{FF2B5EF4-FFF2-40B4-BE49-F238E27FC236}">
                <a16:creationId xmlns:a16="http://schemas.microsoft.com/office/drawing/2014/main" id="{97158B1D-7D8C-EF4F-59DF-C19892E1CD85}"/>
              </a:ext>
            </a:extLst>
          </p:cNvPr>
          <p:cNvPicPr>
            <a:picLocks noChangeAspect="1"/>
          </p:cNvPicPr>
          <p:nvPr/>
        </p:nvPicPr>
        <p:blipFill>
          <a:blip r:embed="rId3"/>
          <a:stretch>
            <a:fillRect/>
          </a:stretch>
        </p:blipFill>
        <p:spPr>
          <a:xfrm>
            <a:off x="904097" y="1912044"/>
            <a:ext cx="9967103" cy="4693910"/>
          </a:xfrm>
          <a:prstGeom prst="rect">
            <a:avLst/>
          </a:prstGeom>
        </p:spPr>
      </p:pic>
    </p:spTree>
    <p:extLst>
      <p:ext uri="{BB962C8B-B14F-4D97-AF65-F5344CB8AC3E}">
        <p14:creationId xmlns:p14="http://schemas.microsoft.com/office/powerpoint/2010/main" val="40482654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4F307-D522-3B18-42B5-830BA7D596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14FB1-B7BA-DD3C-E234-58C3D2EE8AEB}"/>
              </a:ext>
            </a:extLst>
          </p:cNvPr>
          <p:cNvSpPr>
            <a:spLocks noGrp="1"/>
          </p:cNvSpPr>
          <p:nvPr>
            <p:ph type="title"/>
          </p:nvPr>
        </p:nvSpPr>
        <p:spPr/>
        <p:txBody>
          <a:bodyPr/>
          <a:lstStyle/>
          <a:p>
            <a:r>
              <a:rPr lang="sv-SE"/>
              <a:t>Memory Alignment</a:t>
            </a:r>
            <a:endParaRPr lang="LID4096"/>
          </a:p>
        </p:txBody>
      </p:sp>
      <p:pic>
        <p:nvPicPr>
          <p:cNvPr id="4" name="Picture 3">
            <a:extLst>
              <a:ext uri="{FF2B5EF4-FFF2-40B4-BE49-F238E27FC236}">
                <a16:creationId xmlns:a16="http://schemas.microsoft.com/office/drawing/2014/main" id="{4E738D9F-3B69-5412-B763-B4873DA794C0}"/>
              </a:ext>
            </a:extLst>
          </p:cNvPr>
          <p:cNvPicPr>
            <a:picLocks noChangeAspect="1"/>
          </p:cNvPicPr>
          <p:nvPr/>
        </p:nvPicPr>
        <p:blipFill>
          <a:blip r:embed="rId3"/>
          <a:stretch>
            <a:fillRect/>
          </a:stretch>
        </p:blipFill>
        <p:spPr>
          <a:xfrm>
            <a:off x="1012069" y="1985974"/>
            <a:ext cx="9948032" cy="4563157"/>
          </a:xfrm>
          <a:prstGeom prst="rect">
            <a:avLst/>
          </a:prstGeom>
        </p:spPr>
      </p:pic>
    </p:spTree>
    <p:extLst>
      <p:ext uri="{BB962C8B-B14F-4D97-AF65-F5344CB8AC3E}">
        <p14:creationId xmlns:p14="http://schemas.microsoft.com/office/powerpoint/2010/main" val="6770524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B1A97-CAFB-2537-C728-01EAA2DB7AE9}"/>
              </a:ext>
            </a:extLst>
          </p:cNvPr>
          <p:cNvSpPr>
            <a:spLocks noGrp="1"/>
          </p:cNvSpPr>
          <p:nvPr>
            <p:ph type="title"/>
          </p:nvPr>
        </p:nvSpPr>
        <p:spPr/>
        <p:txBody>
          <a:bodyPr/>
          <a:lstStyle/>
          <a:p>
            <a:r>
              <a:rPr lang="sv-SE"/>
              <a:t>Memory Alignment</a:t>
            </a:r>
            <a:endParaRPr lang="LID4096"/>
          </a:p>
        </p:txBody>
      </p:sp>
      <p:sp>
        <p:nvSpPr>
          <p:cNvPr id="3" name="Content Placeholder 2">
            <a:extLst>
              <a:ext uri="{FF2B5EF4-FFF2-40B4-BE49-F238E27FC236}">
                <a16:creationId xmlns:a16="http://schemas.microsoft.com/office/drawing/2014/main" id="{0CA02E93-15F9-90A5-F171-731361382CC4}"/>
              </a:ext>
            </a:extLst>
          </p:cNvPr>
          <p:cNvSpPr>
            <a:spLocks noGrp="1"/>
          </p:cNvSpPr>
          <p:nvPr>
            <p:ph idx="1"/>
          </p:nvPr>
        </p:nvSpPr>
        <p:spPr>
          <a:xfrm>
            <a:off x="838200" y="1825625"/>
            <a:ext cx="10515600" cy="1952625"/>
          </a:xfrm>
        </p:spPr>
        <p:txBody>
          <a:bodyPr/>
          <a:lstStyle/>
          <a:p>
            <a:r>
              <a:rPr lang="sv-SE"/>
              <a:t>En variabel som tar upp 4 bytes (int/unsigned int) </a:t>
            </a:r>
            <a:r>
              <a:rPr lang="sv-SE" i="1"/>
              <a:t>måste</a:t>
            </a:r>
            <a:r>
              <a:rPr lang="sv-SE"/>
              <a:t> ligga på en address som är jämnt delbar med fyra.</a:t>
            </a:r>
          </a:p>
          <a:p>
            <a:r>
              <a:rPr lang="sv-SE"/>
              <a:t>En variabel som tar upp 2 bytes (short/unsigned short) </a:t>
            </a:r>
            <a:r>
              <a:rPr lang="sv-SE" i="1"/>
              <a:t>måste</a:t>
            </a:r>
            <a:r>
              <a:rPr lang="sv-SE"/>
              <a:t> ligga på en address som är jämnt delbar med två.</a:t>
            </a:r>
          </a:p>
          <a:p>
            <a:endParaRPr lang="sv-SE"/>
          </a:p>
          <a:p>
            <a:endParaRPr lang="LID4096"/>
          </a:p>
        </p:txBody>
      </p:sp>
      <p:sp>
        <p:nvSpPr>
          <p:cNvPr id="4" name="TextBox 3">
            <a:extLst>
              <a:ext uri="{FF2B5EF4-FFF2-40B4-BE49-F238E27FC236}">
                <a16:creationId xmlns:a16="http://schemas.microsoft.com/office/drawing/2014/main" id="{5E81BF68-B619-B13C-911E-B6E062A79CDD}"/>
              </a:ext>
            </a:extLst>
          </p:cNvPr>
          <p:cNvSpPr txBox="1"/>
          <p:nvPr/>
        </p:nvSpPr>
        <p:spPr>
          <a:xfrm>
            <a:off x="838200" y="3989608"/>
            <a:ext cx="3755515" cy="1754326"/>
          </a:xfrm>
          <a:prstGeom prst="rect">
            <a:avLst/>
          </a:prstGeom>
          <a:solidFill>
            <a:schemeClr val="bg1"/>
          </a:solidFill>
          <a:ln>
            <a:solidFill>
              <a:schemeClr val="accent1">
                <a:shade val="15000"/>
              </a:schemeClr>
            </a:solidFill>
          </a:ln>
        </p:spPr>
        <p:txBody>
          <a:bodyPr wrap="none" rtlCol="0">
            <a:spAutoFit/>
          </a:bodyPr>
          <a:lstStyle/>
          <a:p>
            <a:r>
              <a:rPr lang="sv-SE"/>
              <a:t>Skriv en deklaration i assembler för: </a:t>
            </a:r>
          </a:p>
          <a:p>
            <a:endParaRPr lang="sv-SE"/>
          </a:p>
          <a:p>
            <a:r>
              <a:rPr lang="sv-SE">
                <a:latin typeface="Consolas" panose="020B0609020204030204" pitchFamily="49" charset="0"/>
              </a:rPr>
              <a:t>char  a;</a:t>
            </a:r>
          </a:p>
          <a:p>
            <a:r>
              <a:rPr lang="sv-SE">
                <a:latin typeface="Consolas" panose="020B0609020204030204" pitchFamily="49" charset="0"/>
              </a:rPr>
              <a:t>short b;</a:t>
            </a:r>
          </a:p>
          <a:p>
            <a:r>
              <a:rPr lang="sv-SE">
                <a:latin typeface="Consolas" panose="020B0609020204030204" pitchFamily="49" charset="0"/>
              </a:rPr>
              <a:t>short c;</a:t>
            </a:r>
          </a:p>
          <a:p>
            <a:r>
              <a:rPr lang="sv-SE">
                <a:latin typeface="Consolas" panose="020B0609020204030204" pitchFamily="49" charset="0"/>
              </a:rPr>
              <a:t>int   d;</a:t>
            </a:r>
            <a:endParaRPr lang="LID4096">
              <a:latin typeface="Consolas" panose="020B0609020204030204" pitchFamily="49" charset="0"/>
            </a:endParaRPr>
          </a:p>
        </p:txBody>
      </p:sp>
      <p:sp>
        <p:nvSpPr>
          <p:cNvPr id="5" name="TextBox 4">
            <a:extLst>
              <a:ext uri="{FF2B5EF4-FFF2-40B4-BE49-F238E27FC236}">
                <a16:creationId xmlns:a16="http://schemas.microsoft.com/office/drawing/2014/main" id="{DFA38A16-4813-0E7C-F054-1247481B6484}"/>
              </a:ext>
            </a:extLst>
          </p:cNvPr>
          <p:cNvSpPr txBox="1"/>
          <p:nvPr/>
        </p:nvSpPr>
        <p:spPr>
          <a:xfrm>
            <a:off x="4924937" y="3989608"/>
            <a:ext cx="2225163" cy="1754326"/>
          </a:xfrm>
          <a:prstGeom prst="rect">
            <a:avLst/>
          </a:prstGeom>
          <a:solidFill>
            <a:schemeClr val="bg1"/>
          </a:solidFill>
          <a:ln>
            <a:solidFill>
              <a:schemeClr val="accent1">
                <a:shade val="15000"/>
              </a:schemeClr>
            </a:solidFill>
          </a:ln>
        </p:spPr>
        <p:txBody>
          <a:bodyPr wrap="square" rtlCol="0">
            <a:spAutoFit/>
          </a:bodyPr>
          <a:lstStyle/>
          <a:p>
            <a:r>
              <a:rPr lang="sv-SE">
                <a:latin typeface="Consolas" panose="020B0609020204030204" pitchFamily="49" charset="0"/>
              </a:rPr>
              <a:t>a: .byte</a:t>
            </a:r>
          </a:p>
          <a:p>
            <a:r>
              <a:rPr lang="sv-SE" b="1">
                <a:latin typeface="Consolas" panose="020B0609020204030204" pitchFamily="49" charset="0"/>
              </a:rPr>
              <a:t>.align 1</a:t>
            </a:r>
          </a:p>
          <a:p>
            <a:r>
              <a:rPr lang="sv-SE">
                <a:latin typeface="Consolas" panose="020B0609020204030204" pitchFamily="49" charset="0"/>
              </a:rPr>
              <a:t>b: .hword</a:t>
            </a:r>
          </a:p>
          <a:p>
            <a:r>
              <a:rPr lang="sv-SE">
                <a:latin typeface="Consolas" panose="020B0609020204030204" pitchFamily="49" charset="0"/>
              </a:rPr>
              <a:t>c: .hword</a:t>
            </a:r>
          </a:p>
          <a:p>
            <a:r>
              <a:rPr lang="sv-SE" b="1">
                <a:latin typeface="Consolas" panose="020B0609020204030204" pitchFamily="49" charset="0"/>
              </a:rPr>
              <a:t>.align 2</a:t>
            </a:r>
          </a:p>
          <a:p>
            <a:r>
              <a:rPr lang="sv-SE">
                <a:latin typeface="Consolas" panose="020B0609020204030204" pitchFamily="49" charset="0"/>
              </a:rPr>
              <a:t>d: .word</a:t>
            </a:r>
            <a:endParaRPr lang="LID4096">
              <a:latin typeface="Consolas" panose="020B0609020204030204" pitchFamily="49" charset="0"/>
            </a:endParaRPr>
          </a:p>
        </p:txBody>
      </p:sp>
      <p:grpSp>
        <p:nvGrpSpPr>
          <p:cNvPr id="6" name="Group 5">
            <a:extLst>
              <a:ext uri="{FF2B5EF4-FFF2-40B4-BE49-F238E27FC236}">
                <a16:creationId xmlns:a16="http://schemas.microsoft.com/office/drawing/2014/main" id="{BEC5B576-D6EC-C75D-55D4-8AB8B56E6549}"/>
              </a:ext>
            </a:extLst>
          </p:cNvPr>
          <p:cNvGrpSpPr/>
          <p:nvPr/>
        </p:nvGrpSpPr>
        <p:grpSpPr>
          <a:xfrm>
            <a:off x="6096000" y="4065587"/>
            <a:ext cx="5971258" cy="830997"/>
            <a:chOff x="6096000" y="4065587"/>
            <a:chExt cx="5971258" cy="830997"/>
          </a:xfrm>
        </p:grpSpPr>
        <p:sp>
          <p:nvSpPr>
            <p:cNvPr id="7" name="TextBox 6">
              <a:extLst>
                <a:ext uri="{FF2B5EF4-FFF2-40B4-BE49-F238E27FC236}">
                  <a16:creationId xmlns:a16="http://schemas.microsoft.com/office/drawing/2014/main" id="{72253383-1D79-2744-EE7E-4019BE2CBCD0}"/>
                </a:ext>
              </a:extLst>
            </p:cNvPr>
            <p:cNvSpPr txBox="1"/>
            <p:nvPr/>
          </p:nvSpPr>
          <p:spPr>
            <a:xfrm>
              <a:off x="6497143" y="4065587"/>
              <a:ext cx="5570115" cy="830997"/>
            </a:xfrm>
            <a:prstGeom prst="rect">
              <a:avLst/>
            </a:prstGeom>
            <a:solidFill>
              <a:schemeClr val="bg1"/>
            </a:solidFill>
            <a:ln>
              <a:solidFill>
                <a:schemeClr val="accent1">
                  <a:shade val="15000"/>
                </a:schemeClr>
              </a:solidFill>
            </a:ln>
          </p:spPr>
          <p:txBody>
            <a:bodyPr wrap="square" rtlCol="0">
              <a:spAutoFit/>
            </a:bodyPr>
            <a:lstStyle/>
            <a:p>
              <a:r>
                <a:rPr lang="sv-SE" sz="2400"/>
                <a:t>Nästa address skall vara jämnt delbar med 2</a:t>
              </a:r>
              <a:r>
                <a:rPr lang="en-GB" sz="2400"/>
                <a:t>^</a:t>
              </a:r>
              <a:r>
                <a:rPr lang="en-GB" sz="2400" b="1"/>
                <a:t>1</a:t>
              </a:r>
              <a:r>
                <a:rPr lang="en-GB" sz="2400"/>
                <a:t> = 2</a:t>
              </a:r>
              <a:endParaRPr lang="LID4096" sz="2400"/>
            </a:p>
          </p:txBody>
        </p:sp>
        <p:cxnSp>
          <p:nvCxnSpPr>
            <p:cNvPr id="8" name="Straight Arrow Connector 7">
              <a:extLst>
                <a:ext uri="{FF2B5EF4-FFF2-40B4-BE49-F238E27FC236}">
                  <a16:creationId xmlns:a16="http://schemas.microsoft.com/office/drawing/2014/main" id="{8226E213-0A2C-59C7-3B22-E0A60B2620E1}"/>
                </a:ext>
              </a:extLst>
            </p:cNvPr>
            <p:cNvCxnSpPr>
              <a:cxnSpLocks/>
            </p:cNvCxnSpPr>
            <p:nvPr/>
          </p:nvCxnSpPr>
          <p:spPr>
            <a:xfrm flipH="1">
              <a:off x="6096000" y="4286250"/>
              <a:ext cx="392201" cy="16085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9E5D12A3-6A8A-10EC-29F9-0BD043A8F3EC}"/>
              </a:ext>
            </a:extLst>
          </p:cNvPr>
          <p:cNvGrpSpPr/>
          <p:nvPr/>
        </p:nvGrpSpPr>
        <p:grpSpPr>
          <a:xfrm>
            <a:off x="6037518" y="5302250"/>
            <a:ext cx="6029740" cy="933161"/>
            <a:chOff x="6037518" y="5302250"/>
            <a:chExt cx="6029740" cy="933161"/>
          </a:xfrm>
        </p:grpSpPr>
        <p:sp>
          <p:nvSpPr>
            <p:cNvPr id="10" name="TextBox 9">
              <a:extLst>
                <a:ext uri="{FF2B5EF4-FFF2-40B4-BE49-F238E27FC236}">
                  <a16:creationId xmlns:a16="http://schemas.microsoft.com/office/drawing/2014/main" id="{9A6F3973-A261-6130-3A71-4933A409D5D0}"/>
                </a:ext>
              </a:extLst>
            </p:cNvPr>
            <p:cNvSpPr txBox="1"/>
            <p:nvPr/>
          </p:nvSpPr>
          <p:spPr>
            <a:xfrm>
              <a:off x="6497143" y="5404414"/>
              <a:ext cx="5570115" cy="830997"/>
            </a:xfrm>
            <a:prstGeom prst="rect">
              <a:avLst/>
            </a:prstGeom>
            <a:solidFill>
              <a:schemeClr val="bg1"/>
            </a:solidFill>
            <a:ln>
              <a:solidFill>
                <a:schemeClr val="accent1">
                  <a:shade val="15000"/>
                </a:schemeClr>
              </a:solidFill>
            </a:ln>
          </p:spPr>
          <p:txBody>
            <a:bodyPr wrap="square" rtlCol="0">
              <a:spAutoFit/>
            </a:bodyPr>
            <a:lstStyle/>
            <a:p>
              <a:r>
                <a:rPr lang="sv-SE" sz="2400"/>
                <a:t>Nästa address skall vara jämnt delbar med 2</a:t>
              </a:r>
              <a:r>
                <a:rPr lang="en-GB" sz="2400"/>
                <a:t>^</a:t>
              </a:r>
              <a:r>
                <a:rPr lang="en-GB" sz="2400" b="1"/>
                <a:t>2</a:t>
              </a:r>
              <a:r>
                <a:rPr lang="en-GB" sz="2400"/>
                <a:t> = 4</a:t>
              </a:r>
              <a:endParaRPr lang="LID4096" sz="2400"/>
            </a:p>
          </p:txBody>
        </p:sp>
        <p:cxnSp>
          <p:nvCxnSpPr>
            <p:cNvPr id="11" name="Straight Arrow Connector 10">
              <a:extLst>
                <a:ext uri="{FF2B5EF4-FFF2-40B4-BE49-F238E27FC236}">
                  <a16:creationId xmlns:a16="http://schemas.microsoft.com/office/drawing/2014/main" id="{1C253222-24EC-C76F-DB95-3E78C48C6CDE}"/>
                </a:ext>
              </a:extLst>
            </p:cNvPr>
            <p:cNvCxnSpPr>
              <a:cxnSpLocks/>
              <a:stCxn id="10" idx="1"/>
            </p:cNvCxnSpPr>
            <p:nvPr/>
          </p:nvCxnSpPr>
          <p:spPr>
            <a:xfrm flipH="1" flipV="1">
              <a:off x="6037518" y="5302250"/>
              <a:ext cx="459625" cy="51766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599267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500"/>
                                        <p:tgtEl>
                                          <p:spTgt spid="5">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fade">
                                      <p:cBhvr>
                                        <p:cTn id="18" dur="500"/>
                                        <p:tgtEl>
                                          <p:spTgt spid="5">
                                            <p:txEl>
                                              <p:pRg st="2" end="2"/>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Effect transition="in" filter="fade">
                                      <p:cBhvr>
                                        <p:cTn id="21" dur="500"/>
                                        <p:tgtEl>
                                          <p:spTgt spid="5">
                                            <p:txEl>
                                              <p:pRg st="3" end="3"/>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fade">
                                      <p:cBhvr>
                                        <p:cTn id="24" dur="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500"/>
                                        <p:tgtEl>
                                          <p:spTgt spid="6"/>
                                        </p:tgtEl>
                                      </p:cBhvr>
                                    </p:animEffect>
                                  </p:childTnLst>
                                </p:cTn>
                              </p:par>
                              <p:par>
                                <p:cTn id="30" presetID="10" presetClass="entr" presetSubtype="0" fill="hold" nodeType="withEffect">
                                  <p:stCondLst>
                                    <p:cond delay="0"/>
                                  </p:stCondLst>
                                  <p:childTnLst>
                                    <p:set>
                                      <p:cBhvr>
                                        <p:cTn id="31" dur="1" fill="hold">
                                          <p:stCondLst>
                                            <p:cond delay="0"/>
                                          </p:stCondLst>
                                        </p:cTn>
                                        <p:tgtEl>
                                          <p:spTgt spid="5">
                                            <p:txEl>
                                              <p:pRg st="1" end="1"/>
                                            </p:txEl>
                                          </p:spTgt>
                                        </p:tgtEl>
                                        <p:attrNameLst>
                                          <p:attrName>style.visibility</p:attrName>
                                        </p:attrNameLst>
                                      </p:cBhvr>
                                      <p:to>
                                        <p:strVal val="visible"/>
                                      </p:to>
                                    </p:set>
                                    <p:animEffect transition="in" filter="fade">
                                      <p:cBhvr>
                                        <p:cTn id="32" dur="500"/>
                                        <p:tgtEl>
                                          <p:spTgt spid="5">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par>
                                <p:cTn id="38" presetID="10" presetClass="entr" presetSubtype="0" fill="hold" nodeType="withEffect">
                                  <p:stCondLst>
                                    <p:cond delay="0"/>
                                  </p:stCondLst>
                                  <p:childTnLst>
                                    <p:set>
                                      <p:cBhvr>
                                        <p:cTn id="39" dur="1" fill="hold">
                                          <p:stCondLst>
                                            <p:cond delay="0"/>
                                          </p:stCondLst>
                                        </p:cTn>
                                        <p:tgtEl>
                                          <p:spTgt spid="5">
                                            <p:txEl>
                                              <p:pRg st="4" end="4"/>
                                            </p:txEl>
                                          </p:spTgt>
                                        </p:tgtEl>
                                        <p:attrNameLst>
                                          <p:attrName>style.visibility</p:attrName>
                                        </p:attrNameLst>
                                      </p:cBhvr>
                                      <p:to>
                                        <p:strVal val="visible"/>
                                      </p:to>
                                    </p:set>
                                    <p:animEffect transition="in" filter="fade">
                                      <p:cBhvr>
                                        <p:cTn id="4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DAA1A-481E-FFAD-C393-EC489616FF7E}"/>
              </a:ext>
            </a:extLst>
          </p:cNvPr>
          <p:cNvSpPr>
            <a:spLocks noGrp="1"/>
          </p:cNvSpPr>
          <p:nvPr>
            <p:ph type="title"/>
          </p:nvPr>
        </p:nvSpPr>
        <p:spPr/>
        <p:txBody>
          <a:bodyPr/>
          <a:lstStyle/>
          <a:p>
            <a:r>
              <a:rPr lang="sv-SE"/>
              <a:t>Closing example</a:t>
            </a:r>
            <a:endParaRPr lang="LID4096"/>
          </a:p>
        </p:txBody>
      </p:sp>
      <p:sp>
        <p:nvSpPr>
          <p:cNvPr id="3" name="Content Placeholder 2">
            <a:extLst>
              <a:ext uri="{FF2B5EF4-FFF2-40B4-BE49-F238E27FC236}">
                <a16:creationId xmlns:a16="http://schemas.microsoft.com/office/drawing/2014/main" id="{DC1190EE-BBCD-5274-7BE3-8C3F957DE9AE}"/>
              </a:ext>
            </a:extLst>
          </p:cNvPr>
          <p:cNvSpPr>
            <a:spLocks noGrp="1"/>
          </p:cNvSpPr>
          <p:nvPr>
            <p:ph idx="1"/>
          </p:nvPr>
        </p:nvSpPr>
        <p:spPr/>
        <p:txBody>
          <a:bodyPr/>
          <a:lstStyle/>
          <a:p>
            <a:pPr marL="0" indent="0">
              <a:buNone/>
            </a:pPr>
            <a:r>
              <a:rPr lang="sv-SE"/>
              <a:t>signed char a = 1;</a:t>
            </a:r>
          </a:p>
          <a:p>
            <a:pPr marL="0" indent="0">
              <a:buNone/>
            </a:pPr>
            <a:r>
              <a:rPr lang="sv-SE"/>
              <a:t>int b = 5;</a:t>
            </a:r>
          </a:p>
          <a:p>
            <a:pPr marL="0" indent="0">
              <a:buNone/>
            </a:pPr>
            <a:r>
              <a:rPr lang="sv-SE"/>
              <a:t>unsigned char c = 10; </a:t>
            </a:r>
          </a:p>
          <a:p>
            <a:pPr marL="0" indent="0">
              <a:buNone/>
            </a:pPr>
            <a:r>
              <a:rPr lang="sv-SE"/>
              <a:t>short d = 3;</a:t>
            </a:r>
          </a:p>
          <a:p>
            <a:pPr marL="0" indent="0">
              <a:buNone/>
            </a:pPr>
            <a:r>
              <a:rPr lang="sv-SE"/>
              <a:t>unsigned int e; </a:t>
            </a:r>
          </a:p>
          <a:p>
            <a:pPr marL="0" indent="0">
              <a:buNone/>
            </a:pPr>
            <a:endParaRPr lang="sv-SE"/>
          </a:p>
          <a:p>
            <a:pPr marL="0" indent="0">
              <a:buNone/>
            </a:pPr>
            <a:r>
              <a:rPr lang="sv-SE"/>
              <a:t>Write assembly that calculates </a:t>
            </a:r>
            <a:br>
              <a:rPr lang="sv-SE"/>
            </a:br>
            <a:r>
              <a:rPr lang="sv-SE">
                <a:latin typeface="Consolas" panose="020B0609020204030204" pitchFamily="49" charset="0"/>
              </a:rPr>
              <a:t>e = </a:t>
            </a:r>
            <a:r>
              <a:rPr lang="en-GB">
                <a:latin typeface="Consolas" panose="020B0609020204030204" pitchFamily="49" charset="0"/>
              </a:rPr>
              <a:t>(a+b)*(c–d)</a:t>
            </a:r>
            <a:endParaRPr lang="sv-SE">
              <a:latin typeface="Consolas" panose="020B0609020204030204" pitchFamily="49" charset="0"/>
            </a:endParaRPr>
          </a:p>
          <a:p>
            <a:pPr marL="0" indent="0">
              <a:buNone/>
            </a:pPr>
            <a:endParaRPr lang="sv-SE"/>
          </a:p>
        </p:txBody>
      </p:sp>
    </p:spTree>
    <p:extLst>
      <p:ext uri="{BB962C8B-B14F-4D97-AF65-F5344CB8AC3E}">
        <p14:creationId xmlns:p14="http://schemas.microsoft.com/office/powerpoint/2010/main" val="38802862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1381</TotalTime>
  <Words>3066</Words>
  <Application>Microsoft Office PowerPoint</Application>
  <PresentationFormat>Widescreen</PresentationFormat>
  <Paragraphs>430</Paragraphs>
  <Slides>41</Slides>
  <Notes>26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Amasis MT Pro Medium</vt:lpstr>
      <vt:lpstr>Aptos</vt:lpstr>
      <vt:lpstr>Aptos Display</vt:lpstr>
      <vt:lpstr>Arial</vt:lpstr>
      <vt:lpstr>Consolas</vt:lpstr>
      <vt:lpstr>Segoe Print</vt:lpstr>
      <vt:lpstr>Office Theme</vt:lpstr>
      <vt:lpstr>Lektion 2</vt:lpstr>
      <vt:lpstr>Instruction Set Architecture (ISA)</vt:lpstr>
      <vt:lpstr>Instruction Set Architecture (ISA)</vt:lpstr>
      <vt:lpstr>RISC-V - Varianter och extensions</vt:lpstr>
      <vt:lpstr>RISC-V - Varianter och extensions</vt:lpstr>
      <vt:lpstr>RISC-V - Varianter och extensions</vt:lpstr>
      <vt:lpstr>RISC-V - Varianter och extensions</vt:lpstr>
      <vt:lpstr>RISC-V - Varianter och extensions</vt:lpstr>
      <vt:lpstr>RISC-V - Varianter och extensions</vt:lpstr>
      <vt:lpstr>PowerPoint Presentation</vt:lpstr>
      <vt:lpstr>Application Binary Interface (ABI)</vt:lpstr>
      <vt:lpstr>Application Binary Interface (ABI)</vt:lpstr>
      <vt:lpstr>Application Binary Interface (ABI)</vt:lpstr>
      <vt:lpstr>Application Binary Interface (ABI)</vt:lpstr>
      <vt:lpstr>Application Binary Interface (ABI)</vt:lpstr>
      <vt:lpstr>PowerPoint Presentation</vt:lpstr>
      <vt:lpstr>RV32I - Register</vt:lpstr>
      <vt:lpstr>RV32I – Instruktioner och pseudoinstuktioner</vt:lpstr>
      <vt:lpstr>Quickguide </vt:lpstr>
      <vt:lpstr>Quickguide i VSCode </vt:lpstr>
      <vt:lpstr>Load/Store arkitektur</vt:lpstr>
      <vt:lpstr>PowerPoint Presentation</vt:lpstr>
      <vt:lpstr>Ett första, enkelt, program</vt:lpstr>
      <vt:lpstr>Ett första, enkelt, program</vt:lpstr>
      <vt:lpstr>Ett första, enkelt, program</vt:lpstr>
      <vt:lpstr>Pseudo vs machine code</vt:lpstr>
      <vt:lpstr>Pseudo vs machine code</vt:lpstr>
      <vt:lpstr>Pseudo vs machine code</vt:lpstr>
      <vt:lpstr>PowerPoint Presentation</vt:lpstr>
      <vt:lpstr>Minnesrymd, Load, och Store</vt:lpstr>
      <vt:lpstr>Läsa data från minnet</vt:lpstr>
      <vt:lpstr>Läsa data från variabler (också i minnet)</vt:lpstr>
      <vt:lpstr>Skriva till minnet</vt:lpstr>
      <vt:lpstr>Load and Store Global (pseudo instructions)</vt:lpstr>
      <vt:lpstr>Sign extension</vt:lpstr>
      <vt:lpstr>Sign extension</vt:lpstr>
      <vt:lpstr>PowerPoint Presentation</vt:lpstr>
      <vt:lpstr>Memory Alignment</vt:lpstr>
      <vt:lpstr>Memory Alignment</vt:lpstr>
      <vt:lpstr>Memory Alignment</vt:lpstr>
      <vt:lpstr>Closing 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18</cp:revision>
  <dcterms:created xsi:type="dcterms:W3CDTF">2026-01-14T14:09:03Z</dcterms:created>
  <dcterms:modified xsi:type="dcterms:W3CDTF">2026-01-23T10:49:42Z</dcterms:modified>
</cp:coreProperties>
</file>