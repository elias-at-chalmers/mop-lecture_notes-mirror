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32"/>
  </p:notesMasterIdLst>
  <p:sldIdLst>
    <p:sldId id="256" r:id="rId2"/>
    <p:sldId id="257" r:id="rId3"/>
    <p:sldId id="258" r:id="rId4"/>
    <p:sldId id="259" r:id="rId5"/>
    <p:sldId id="260" r:id="rId6"/>
    <p:sldId id="261" r:id="rId7"/>
    <p:sldId id="262" r:id="rId8"/>
    <p:sldId id="263" r:id="rId9"/>
    <p:sldId id="264" r:id="rId10"/>
    <p:sldId id="282" r:id="rId11"/>
    <p:sldId id="265" r:id="rId12"/>
    <p:sldId id="266" r:id="rId13"/>
    <p:sldId id="267" r:id="rId14"/>
    <p:sldId id="268" r:id="rId15"/>
    <p:sldId id="283" r:id="rId16"/>
    <p:sldId id="269" r:id="rId17"/>
    <p:sldId id="270" r:id="rId18"/>
    <p:sldId id="271" r:id="rId19"/>
    <p:sldId id="284" r:id="rId20"/>
    <p:sldId id="272" r:id="rId21"/>
    <p:sldId id="273" r:id="rId22"/>
    <p:sldId id="274" r:id="rId23"/>
    <p:sldId id="275" r:id="rId24"/>
    <p:sldId id="285" r:id="rId25"/>
    <p:sldId id="276" r:id="rId26"/>
    <p:sldId id="277" r:id="rId27"/>
    <p:sldId id="278" r:id="rId28"/>
    <p:sldId id="279" r:id="rId29"/>
    <p:sldId id="280" r:id="rId30"/>
    <p:sldId id="281" r:id="rId31"/>
  </p:sldIdLst>
  <p:sldSz cx="12192000" cy="6858000"/>
  <p:notesSz cx="6794500" cy="9906000"/>
  <p:defaultTextStyle>
    <a:defPPr>
      <a:defRPr lang="LID4096"/>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 id="{4E61B486-9643-4A02-8A51-D34E00CDE215}">
          <p14:sldIdLst>
            <p14:sldId id="256"/>
            <p14:sldId id="257"/>
            <p14:sldId id="258"/>
            <p14:sldId id="259"/>
            <p14:sldId id="260"/>
            <p14:sldId id="261"/>
            <p14:sldId id="262"/>
            <p14:sldId id="263"/>
            <p14:sldId id="264"/>
            <p14:sldId id="282"/>
            <p14:sldId id="265"/>
            <p14:sldId id="266"/>
            <p14:sldId id="267"/>
            <p14:sldId id="268"/>
            <p14:sldId id="283"/>
            <p14:sldId id="269"/>
            <p14:sldId id="270"/>
            <p14:sldId id="271"/>
            <p14:sldId id="284"/>
            <p14:sldId id="272"/>
            <p14:sldId id="273"/>
            <p14:sldId id="274"/>
            <p14:sldId id="275"/>
            <p14:sldId id="285"/>
            <p14:sldId id="276"/>
            <p14:sldId id="277"/>
            <p14:sldId id="278"/>
            <p14:sldId id="279"/>
            <p14:sldId id="280"/>
            <p14:sldId id="28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473" autoAdjust="0"/>
    <p:restoredTop sz="83595" autoAdjust="0"/>
  </p:normalViewPr>
  <p:slideViewPr>
    <p:cSldViewPr snapToGrid="0">
      <p:cViewPr varScale="1">
        <p:scale>
          <a:sx n="214" d="100"/>
          <a:sy n="214" d="100"/>
        </p:scale>
        <p:origin x="486" y="168"/>
      </p:cViewPr>
      <p:guideLst/>
    </p:cSldViewPr>
  </p:slideViewPr>
  <p:notesTextViewPr>
    <p:cViewPr>
      <p:scale>
        <a:sx n="3" d="2"/>
        <a:sy n="3" d="2"/>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theme" Target="theme/theme1.xml"/><Relationship Id="rId8"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44283" cy="497020"/>
          </a:xfrm>
          <a:prstGeom prst="rect">
            <a:avLst/>
          </a:prstGeom>
        </p:spPr>
        <p:txBody>
          <a:bodyPr vert="horz" lIns="91440" tIns="45720" rIns="91440" bIns="45720" rtlCol="0"/>
          <a:lstStyle>
            <a:lvl1pPr algn="l">
              <a:defRPr sz="1200"/>
            </a:lvl1pPr>
          </a:lstStyle>
          <a:p>
            <a:endParaRPr lang="LID4096"/>
          </a:p>
        </p:txBody>
      </p:sp>
      <p:sp>
        <p:nvSpPr>
          <p:cNvPr id="3" name="Date Placeholder 2"/>
          <p:cNvSpPr>
            <a:spLocks noGrp="1"/>
          </p:cNvSpPr>
          <p:nvPr>
            <p:ph type="dt" idx="1"/>
          </p:nvPr>
        </p:nvSpPr>
        <p:spPr>
          <a:xfrm>
            <a:off x="3848645" y="0"/>
            <a:ext cx="2944283" cy="497020"/>
          </a:xfrm>
          <a:prstGeom prst="rect">
            <a:avLst/>
          </a:prstGeom>
        </p:spPr>
        <p:txBody>
          <a:bodyPr vert="horz" lIns="91440" tIns="45720" rIns="91440" bIns="45720" rtlCol="0"/>
          <a:lstStyle>
            <a:lvl1pPr algn="r">
              <a:defRPr sz="1200"/>
            </a:lvl1pPr>
          </a:lstStyle>
          <a:p>
            <a:fld id="{55C9657E-FDB3-4206-AA4E-9AE2AAB0A71C}" type="datetimeFigureOut">
              <a:rPr lang="LID4096" smtClean="0"/>
              <a:t>02/24/2026</a:t>
            </a:fld>
            <a:endParaRPr lang="LID4096"/>
          </a:p>
        </p:txBody>
      </p:sp>
      <p:sp>
        <p:nvSpPr>
          <p:cNvPr id="4" name="Slide Image Placeholder 3"/>
          <p:cNvSpPr>
            <a:spLocks noGrp="1" noRot="1" noChangeAspect="1"/>
          </p:cNvSpPr>
          <p:nvPr>
            <p:ph type="sldImg" idx="2"/>
          </p:nvPr>
        </p:nvSpPr>
        <p:spPr>
          <a:xfrm>
            <a:off x="425450" y="1238250"/>
            <a:ext cx="5943600" cy="3343275"/>
          </a:xfrm>
          <a:prstGeom prst="rect">
            <a:avLst/>
          </a:prstGeom>
          <a:noFill/>
          <a:ln w="12700">
            <a:solidFill>
              <a:prstClr val="black"/>
            </a:solidFill>
          </a:ln>
        </p:spPr>
        <p:txBody>
          <a:bodyPr vert="horz" lIns="91440" tIns="45720" rIns="91440" bIns="45720" rtlCol="0" anchor="ctr"/>
          <a:lstStyle/>
          <a:p>
            <a:endParaRPr lang="LID4096"/>
          </a:p>
        </p:txBody>
      </p:sp>
      <p:sp>
        <p:nvSpPr>
          <p:cNvPr id="5" name="Notes Placeholder 4"/>
          <p:cNvSpPr>
            <a:spLocks noGrp="1"/>
          </p:cNvSpPr>
          <p:nvPr>
            <p:ph type="body" sz="quarter" idx="3"/>
          </p:nvPr>
        </p:nvSpPr>
        <p:spPr>
          <a:xfrm>
            <a:off x="679450" y="4767262"/>
            <a:ext cx="5435600" cy="3900488"/>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LID4096"/>
          </a:p>
        </p:txBody>
      </p:sp>
      <p:sp>
        <p:nvSpPr>
          <p:cNvPr id="6" name="Footer Placeholder 5"/>
          <p:cNvSpPr>
            <a:spLocks noGrp="1"/>
          </p:cNvSpPr>
          <p:nvPr>
            <p:ph type="ftr" sz="quarter" idx="4"/>
          </p:nvPr>
        </p:nvSpPr>
        <p:spPr>
          <a:xfrm>
            <a:off x="0" y="9408981"/>
            <a:ext cx="2944283" cy="497019"/>
          </a:xfrm>
          <a:prstGeom prst="rect">
            <a:avLst/>
          </a:prstGeom>
        </p:spPr>
        <p:txBody>
          <a:bodyPr vert="horz" lIns="91440" tIns="45720" rIns="91440" bIns="45720" rtlCol="0" anchor="b"/>
          <a:lstStyle>
            <a:lvl1pPr algn="l">
              <a:defRPr sz="1200"/>
            </a:lvl1pPr>
          </a:lstStyle>
          <a:p>
            <a:endParaRPr lang="LID4096"/>
          </a:p>
        </p:txBody>
      </p:sp>
      <p:sp>
        <p:nvSpPr>
          <p:cNvPr id="7" name="Slide Number Placeholder 6"/>
          <p:cNvSpPr>
            <a:spLocks noGrp="1"/>
          </p:cNvSpPr>
          <p:nvPr>
            <p:ph type="sldNum" sz="quarter" idx="5"/>
          </p:nvPr>
        </p:nvSpPr>
        <p:spPr>
          <a:xfrm>
            <a:off x="3848645" y="9408981"/>
            <a:ext cx="2944283" cy="497019"/>
          </a:xfrm>
          <a:prstGeom prst="rect">
            <a:avLst/>
          </a:prstGeom>
        </p:spPr>
        <p:txBody>
          <a:bodyPr vert="horz" lIns="91440" tIns="45720" rIns="91440" bIns="45720" rtlCol="0" anchor="b"/>
          <a:lstStyle>
            <a:lvl1pPr algn="r">
              <a:defRPr sz="1200"/>
            </a:lvl1pPr>
          </a:lstStyle>
          <a:p>
            <a:fld id="{01B4E41B-EE32-43AA-BF26-21D12108C66F}" type="slidenum">
              <a:rPr lang="LID4096" smtClean="0"/>
              <a:t>‹#›</a:t>
            </a:fld>
            <a:endParaRPr lang="LID4096"/>
          </a:p>
        </p:txBody>
      </p:sp>
    </p:spTree>
    <p:extLst>
      <p:ext uri="{BB962C8B-B14F-4D97-AF65-F5344CB8AC3E}">
        <p14:creationId xmlns:p14="http://schemas.microsoft.com/office/powerpoint/2010/main" val="234014971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sv-SE" i="0"/>
              <a:t>Nu när ni fått några dagar att smälta grundläggande interrupts (vi fick maskinen att avbryta vårat program när systick räknat ner till 0)</a:t>
            </a:r>
          </a:p>
          <a:p>
            <a:r>
              <a:rPr lang="sv-SE" i="0"/>
              <a:t>så skall vi gå vidare och lära oss hur man hanterar många interruptkällor på samma gång, och hur man kan hantera interrupts från GPIO pinnarna. </a:t>
            </a:r>
          </a:p>
          <a:p>
            <a:endParaRPr lang="sv-SE" i="0"/>
          </a:p>
          <a:p>
            <a:r>
              <a:rPr lang="sv-SE" i="0"/>
              <a:t>Vi har en del att gå igenom idag, men detta är sista lektionen med saker som dom skall förstå så väl att dom faktiskt kan programmera dem. </a:t>
            </a:r>
          </a:p>
          <a:p>
            <a:endParaRPr lang="sv-SE" i="0"/>
          </a:p>
          <a:p>
            <a:endParaRPr lang="sv-SE" i="0"/>
          </a:p>
          <a:p>
            <a:endParaRPr lang="LID4096" i="0" dirty="0"/>
          </a:p>
        </p:txBody>
      </p:sp>
      <p:sp>
        <p:nvSpPr>
          <p:cNvPr id="4" name="Slide Number Placeholder 3"/>
          <p:cNvSpPr>
            <a:spLocks noGrp="1"/>
          </p:cNvSpPr>
          <p:nvPr>
            <p:ph type="sldNum" sz="quarter" idx="5"/>
          </p:nvPr>
        </p:nvSpPr>
        <p:spPr/>
        <p:txBody>
          <a:bodyPr/>
          <a:lstStyle/>
          <a:p>
            <a:fld id="{01B4E41B-EE32-43AA-BF26-21D12108C66F}" type="slidenum">
              <a:rPr lang="LID4096" smtClean="0"/>
              <a:t>1</a:t>
            </a:fld>
            <a:endParaRPr lang="LID4096"/>
          </a:p>
        </p:txBody>
      </p:sp>
    </p:spTree>
    <p:extLst>
      <p:ext uri="{BB962C8B-B14F-4D97-AF65-F5344CB8AC3E}">
        <p14:creationId xmlns:p14="http://schemas.microsoft.com/office/powerpoint/2010/main" val="401937262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Alla interrupts f</a:t>
            </a:r>
            <a:r>
              <a:rPr lang="sv-SE"/>
              <a:t>rån alla möjliga källor går igenom PFICen</a:t>
            </a:r>
          </a:p>
          <a:p>
            <a:endParaRPr lang="sv-SE"/>
          </a:p>
          <a:p>
            <a:r>
              <a:rPr lang="sv-SE"/>
              <a:t>Varje möjligt interrupt har ett eget hårdkodat nummer IRQ som vi hittar i vector tabellen</a:t>
            </a:r>
          </a:p>
          <a:p>
            <a:endParaRPr lang="sv-SE"/>
          </a:p>
          <a:p>
            <a:r>
              <a:rPr lang="sv-SE"/>
              <a:t>Vi har hittills konfigurerat PFICen bara genom att enabla ett visst interrupt i IENR registret. </a:t>
            </a:r>
          </a:p>
          <a:p>
            <a:endParaRPr lang="sv-SE"/>
          </a:p>
          <a:p>
            <a:r>
              <a:rPr lang="sv-SE"/>
              <a:t>Idag kommer vi lära oss lite mer om några av dessa register. </a:t>
            </a:r>
            <a:endParaRPr lang="LID4096"/>
          </a:p>
        </p:txBody>
      </p:sp>
      <p:sp>
        <p:nvSpPr>
          <p:cNvPr id="4" name="Slide Number Placeholder 3"/>
          <p:cNvSpPr>
            <a:spLocks noGrp="1"/>
          </p:cNvSpPr>
          <p:nvPr>
            <p:ph type="sldNum" sz="quarter" idx="5"/>
          </p:nvPr>
        </p:nvSpPr>
        <p:spPr/>
        <p:txBody>
          <a:bodyPr/>
          <a:lstStyle/>
          <a:p>
            <a:fld id="{01B4E41B-EE32-43AA-BF26-21D12108C66F}" type="slidenum">
              <a:rPr lang="LID4096" smtClean="0"/>
              <a:t>2</a:t>
            </a:fld>
            <a:endParaRPr lang="LID4096"/>
          </a:p>
        </p:txBody>
      </p:sp>
    </p:spTree>
    <p:extLst>
      <p:ext uri="{BB962C8B-B14F-4D97-AF65-F5344CB8AC3E}">
        <p14:creationId xmlns:p14="http://schemas.microsoft.com/office/powerpoint/2010/main" val="381810118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sv-SE"/>
              <a:t>Går att lösa, om man programmerar om systick varje gång man får ett interrupt, </a:t>
            </a:r>
          </a:p>
          <a:p>
            <a:r>
              <a:rPr lang="sv-SE"/>
              <a:t>Men mycket enklare att använda tre olika timers? </a:t>
            </a:r>
            <a:endParaRPr lang="LID4096"/>
          </a:p>
        </p:txBody>
      </p:sp>
      <p:sp>
        <p:nvSpPr>
          <p:cNvPr id="4" name="Slide Number Placeholder 3"/>
          <p:cNvSpPr>
            <a:spLocks noGrp="1"/>
          </p:cNvSpPr>
          <p:nvPr>
            <p:ph type="sldNum" sz="quarter" idx="5"/>
          </p:nvPr>
        </p:nvSpPr>
        <p:spPr/>
        <p:txBody>
          <a:bodyPr/>
          <a:lstStyle/>
          <a:p>
            <a:fld id="{01B4E41B-EE32-43AA-BF26-21D12108C66F}" type="slidenum">
              <a:rPr lang="LID4096" smtClean="0"/>
              <a:t>3</a:t>
            </a:fld>
            <a:endParaRPr lang="LID4096"/>
          </a:p>
        </p:txBody>
      </p:sp>
    </p:spTree>
    <p:extLst>
      <p:ext uri="{BB962C8B-B14F-4D97-AF65-F5344CB8AC3E}">
        <p14:creationId xmlns:p14="http://schemas.microsoft.com/office/powerpoint/2010/main" val="236765630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sv-SE"/>
              <a:t>Gå igenom koden. </a:t>
            </a:r>
          </a:p>
          <a:p>
            <a:endParaRPr lang="sv-SE"/>
          </a:p>
          <a:p>
            <a:r>
              <a:rPr lang="sv-SE"/>
              <a:t>Vi har sagt åt alla timers att skapa ett interrupt när dom räknat klart, men det betyder bara att det kommer fram ett interrupt till PFIC:en</a:t>
            </a:r>
            <a:endParaRPr lang="LID4096"/>
          </a:p>
        </p:txBody>
      </p:sp>
      <p:sp>
        <p:nvSpPr>
          <p:cNvPr id="4" name="Slide Number Placeholder 3"/>
          <p:cNvSpPr>
            <a:spLocks noGrp="1"/>
          </p:cNvSpPr>
          <p:nvPr>
            <p:ph type="sldNum" sz="quarter" idx="5"/>
          </p:nvPr>
        </p:nvSpPr>
        <p:spPr/>
        <p:txBody>
          <a:bodyPr/>
          <a:lstStyle/>
          <a:p>
            <a:fld id="{01B4E41B-EE32-43AA-BF26-21D12108C66F}" type="slidenum">
              <a:rPr lang="LID4096" smtClean="0"/>
              <a:t>6</a:t>
            </a:fld>
            <a:endParaRPr lang="LID4096"/>
          </a:p>
        </p:txBody>
      </p:sp>
    </p:spTree>
    <p:extLst>
      <p:ext uri="{BB962C8B-B14F-4D97-AF65-F5344CB8AC3E}">
        <p14:creationId xmlns:p14="http://schemas.microsoft.com/office/powerpoint/2010/main" val="352059562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sv-SE"/>
              <a:t>Sedan måste vi säga till PFIC:en att dessa interrupts skall vara enablade. </a:t>
            </a:r>
            <a:endParaRPr lang="LID4096"/>
          </a:p>
        </p:txBody>
      </p:sp>
      <p:sp>
        <p:nvSpPr>
          <p:cNvPr id="4" name="Slide Number Placeholder 3"/>
          <p:cNvSpPr>
            <a:spLocks noGrp="1"/>
          </p:cNvSpPr>
          <p:nvPr>
            <p:ph type="sldNum" sz="quarter" idx="5"/>
          </p:nvPr>
        </p:nvSpPr>
        <p:spPr/>
        <p:txBody>
          <a:bodyPr/>
          <a:lstStyle/>
          <a:p>
            <a:fld id="{01B4E41B-EE32-43AA-BF26-21D12108C66F}" type="slidenum">
              <a:rPr lang="LID4096" smtClean="0"/>
              <a:t>7</a:t>
            </a:fld>
            <a:endParaRPr lang="LID4096"/>
          </a:p>
        </p:txBody>
      </p:sp>
    </p:spTree>
    <p:extLst>
      <p:ext uri="{BB962C8B-B14F-4D97-AF65-F5344CB8AC3E}">
        <p14:creationId xmlns:p14="http://schemas.microsoft.com/office/powerpoint/2010/main" val="115674228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sv-SE"/>
              <a:t>Förklara mcause</a:t>
            </a:r>
          </a:p>
          <a:p>
            <a:r>
              <a:rPr lang="sv-SE"/>
              <a:t>Förklara koden</a:t>
            </a:r>
          </a:p>
          <a:p>
            <a:r>
              <a:rPr lang="sv-SE"/>
              <a:t>Förklara att vi måste ankowledga interrupten för att kunna få nya. </a:t>
            </a:r>
          </a:p>
          <a:p>
            <a:endParaRPr lang="sv-SE"/>
          </a:p>
          <a:p>
            <a:r>
              <a:rPr lang="sv-SE"/>
              <a:t>Detta funkar, och på dom enklaste RISCV maskinerna är detta allt som behöver finnas. </a:t>
            </a:r>
          </a:p>
          <a:p>
            <a:r>
              <a:rPr lang="sv-SE"/>
              <a:t>Men när allt vi behöver göra är att flippa en bit så är detta ganska ineffektivt. </a:t>
            </a:r>
            <a:endParaRPr lang="LID4096"/>
          </a:p>
        </p:txBody>
      </p:sp>
      <p:sp>
        <p:nvSpPr>
          <p:cNvPr id="4" name="Slide Number Placeholder 3"/>
          <p:cNvSpPr>
            <a:spLocks noGrp="1"/>
          </p:cNvSpPr>
          <p:nvPr>
            <p:ph type="sldNum" sz="quarter" idx="5"/>
          </p:nvPr>
        </p:nvSpPr>
        <p:spPr/>
        <p:txBody>
          <a:bodyPr/>
          <a:lstStyle/>
          <a:p>
            <a:fld id="{01B4E41B-EE32-43AA-BF26-21D12108C66F}" type="slidenum">
              <a:rPr lang="LID4096" smtClean="0"/>
              <a:t>9</a:t>
            </a:fld>
            <a:endParaRPr lang="LID4096"/>
          </a:p>
        </p:txBody>
      </p:sp>
    </p:spTree>
    <p:extLst>
      <p:ext uri="{BB962C8B-B14F-4D97-AF65-F5344CB8AC3E}">
        <p14:creationId xmlns:p14="http://schemas.microsoft.com/office/powerpoint/2010/main" val="133122340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sv-SE"/>
              <a:t>En riscv processor kan hantera avbrott på olika sätt beroende på hur den är konfigurerad. </a:t>
            </a:r>
          </a:p>
          <a:p>
            <a:r>
              <a:rPr lang="sv-SE"/>
              <a:t>Vilket mode vi skall ha ställs in med dom två nedersta bitarna i mtvec. </a:t>
            </a:r>
          </a:p>
          <a:p>
            <a:r>
              <a:rPr lang="sv-SE"/>
              <a:t>Hittills har vi bara använt mode 0. </a:t>
            </a:r>
          </a:p>
          <a:p>
            <a:r>
              <a:rPr lang="en-GB"/>
              <a:t>&lt;click&gt;</a:t>
            </a:r>
            <a:endParaRPr lang="sv-SE"/>
          </a:p>
          <a:p>
            <a:r>
              <a:rPr lang="sv-SE"/>
              <a:t>Repetera vad mode 0 är. </a:t>
            </a:r>
          </a:p>
          <a:p>
            <a:endParaRPr lang="sv-SE"/>
          </a:p>
          <a:p>
            <a:r>
              <a:rPr lang="sv-SE"/>
              <a:t>men... vi har ju aldrig ändrat dom nedersta två bitarna? Hur har vi kommit undan med detta? </a:t>
            </a:r>
          </a:p>
          <a:p>
            <a:endParaRPr lang="sv-SE"/>
          </a:p>
          <a:p>
            <a:r>
              <a:rPr lang="sv-SE"/>
              <a:t>Idag skall vi lära oss hur man använder vectored mode. </a:t>
            </a:r>
          </a:p>
          <a:p>
            <a:r>
              <a:rPr lang="sv-SE"/>
              <a:t>För att välja detta skriver vi alltså addressen till mtvec, och sedan sätter vi de nedersta två bitarna till 01.</a:t>
            </a:r>
          </a:p>
          <a:p>
            <a:endParaRPr lang="sv-SE"/>
          </a:p>
          <a:p>
            <a:endParaRPr lang="LID4096"/>
          </a:p>
        </p:txBody>
      </p:sp>
      <p:sp>
        <p:nvSpPr>
          <p:cNvPr id="4" name="Slide Number Placeholder 3"/>
          <p:cNvSpPr>
            <a:spLocks noGrp="1"/>
          </p:cNvSpPr>
          <p:nvPr>
            <p:ph type="sldNum" sz="quarter" idx="5"/>
          </p:nvPr>
        </p:nvSpPr>
        <p:spPr/>
        <p:txBody>
          <a:bodyPr/>
          <a:lstStyle/>
          <a:p>
            <a:fld id="{01B4E41B-EE32-43AA-BF26-21D12108C66F}" type="slidenum">
              <a:rPr lang="LID4096" smtClean="0"/>
              <a:t>11</a:t>
            </a:fld>
            <a:endParaRPr lang="LID4096"/>
          </a:p>
        </p:txBody>
      </p:sp>
    </p:spTree>
    <p:extLst>
      <p:ext uri="{BB962C8B-B14F-4D97-AF65-F5344CB8AC3E}">
        <p14:creationId xmlns:p14="http://schemas.microsoft.com/office/powerpoint/2010/main" val="286631339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sv-SE"/>
              <a:t>Då fungerar det istället så här. </a:t>
            </a:r>
          </a:p>
          <a:p>
            <a:r>
              <a:rPr lang="sv-SE"/>
              <a:t>mcause pekar alltså nu istället på en lång lista med jump instruktioner.</a:t>
            </a:r>
          </a:p>
          <a:p>
            <a:r>
              <a:rPr lang="sv-SE"/>
              <a:t>Utan att vi behöver göra något speciellt alls så hoppar alltså processorn till den interrupthanterare vi vill. </a:t>
            </a:r>
          </a:p>
          <a:p>
            <a:r>
              <a:rPr lang="sv-SE"/>
              <a:t>Hur får vi en sådan här lista med jump instruktioner någonstans i minnet då? </a:t>
            </a:r>
          </a:p>
          <a:p>
            <a:endParaRPr lang="LID4096"/>
          </a:p>
        </p:txBody>
      </p:sp>
      <p:sp>
        <p:nvSpPr>
          <p:cNvPr id="4" name="Slide Number Placeholder 3"/>
          <p:cNvSpPr>
            <a:spLocks noGrp="1"/>
          </p:cNvSpPr>
          <p:nvPr>
            <p:ph type="sldNum" sz="quarter" idx="5"/>
          </p:nvPr>
        </p:nvSpPr>
        <p:spPr/>
        <p:txBody>
          <a:bodyPr/>
          <a:lstStyle/>
          <a:p>
            <a:fld id="{01B4E41B-EE32-43AA-BF26-21D12108C66F}" type="slidenum">
              <a:rPr lang="LID4096" smtClean="0"/>
              <a:t>12</a:t>
            </a:fld>
            <a:endParaRPr lang="LID4096"/>
          </a:p>
        </p:txBody>
      </p:sp>
    </p:spTree>
    <p:extLst>
      <p:ext uri="{BB962C8B-B14F-4D97-AF65-F5344CB8AC3E}">
        <p14:creationId xmlns:p14="http://schemas.microsoft.com/office/powerpoint/2010/main" val="345508594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sv-SE"/>
              <a:t>Enklast (och vanligast) är att vi låter kompilatorn ta hand om det. </a:t>
            </a:r>
          </a:p>
          <a:p>
            <a:r>
              <a:rPr lang="sv-SE"/>
              <a:t>Vi skapar en assembler fil, och skapar våran lista med jump instruktioner på det här viset. </a:t>
            </a:r>
          </a:p>
          <a:p>
            <a:endParaRPr lang="sv-SE"/>
          </a:p>
          <a:p>
            <a:r>
              <a:rPr lang="sv-SE"/>
              <a:t>Gå igenom vad koden gör:</a:t>
            </a:r>
          </a:p>
          <a:p>
            <a:r>
              <a:rPr lang="sv-SE"/>
              <a:t>align</a:t>
            </a:r>
          </a:p>
          <a:p>
            <a:r>
              <a:rPr lang="sv-SE"/>
              <a:t>org</a:t>
            </a:r>
          </a:p>
          <a:p>
            <a:endParaRPr lang="sv-SE"/>
          </a:p>
          <a:p>
            <a:r>
              <a:rPr lang="sv-SE"/>
              <a:t>Påpeka igen att när ett timer6 interrupt kommer så hoppar processorn direkt </a:t>
            </a:r>
            <a:r>
              <a:rPr lang="sv-SE" i="1"/>
              <a:t>hit</a:t>
            </a:r>
            <a:r>
              <a:rPr lang="sv-SE" i="0"/>
              <a:t> vilket i sin tur gör att det hoppas till interrupt handlern. </a:t>
            </a:r>
          </a:p>
          <a:p>
            <a:r>
              <a:rPr lang="en-GB" i="0"/>
              <a:t>&lt;click&gt;</a:t>
            </a:r>
          </a:p>
          <a:p>
            <a:r>
              <a:rPr lang="en-GB" i="0"/>
              <a:t>F</a:t>
            </a:r>
            <a:r>
              <a:rPr lang="sv-SE" i="0"/>
              <a:t>ör att skriva sätt värde till mtvec så använder vi antingen inline asm, eller så skriver vi en liten funktion på det här viset. </a:t>
            </a:r>
          </a:p>
          <a:p>
            <a:endParaRPr lang="sv-SE" i="0"/>
          </a:p>
          <a:p>
            <a:endParaRPr lang="LID4096"/>
          </a:p>
        </p:txBody>
      </p:sp>
      <p:sp>
        <p:nvSpPr>
          <p:cNvPr id="4" name="Slide Number Placeholder 3"/>
          <p:cNvSpPr>
            <a:spLocks noGrp="1"/>
          </p:cNvSpPr>
          <p:nvPr>
            <p:ph type="sldNum" sz="quarter" idx="5"/>
          </p:nvPr>
        </p:nvSpPr>
        <p:spPr/>
        <p:txBody>
          <a:bodyPr/>
          <a:lstStyle/>
          <a:p>
            <a:fld id="{01B4E41B-EE32-43AA-BF26-21D12108C66F}" type="slidenum">
              <a:rPr lang="LID4096" smtClean="0"/>
              <a:t>13</a:t>
            </a:fld>
            <a:endParaRPr lang="LID4096"/>
          </a:p>
        </p:txBody>
      </p:sp>
    </p:spTree>
    <p:extLst>
      <p:ext uri="{BB962C8B-B14F-4D97-AF65-F5344CB8AC3E}">
        <p14:creationId xmlns:p14="http://schemas.microsoft.com/office/powerpoint/2010/main" val="304557921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sv-SE"/>
              <a:t>Om jag har tid över här så skulle jag kunna gå igenom ett färdigskrivet program som blinkar de tre lamporna. </a:t>
            </a:r>
          </a:p>
          <a:p>
            <a:r>
              <a:rPr lang="sv-SE"/>
              <a:t>Annars pekar jag bara på den här koden. </a:t>
            </a:r>
            <a:endParaRPr lang="LID4096"/>
          </a:p>
        </p:txBody>
      </p:sp>
      <p:sp>
        <p:nvSpPr>
          <p:cNvPr id="4" name="Slide Number Placeholder 3"/>
          <p:cNvSpPr>
            <a:spLocks noGrp="1"/>
          </p:cNvSpPr>
          <p:nvPr>
            <p:ph type="sldNum" sz="quarter" idx="5"/>
          </p:nvPr>
        </p:nvSpPr>
        <p:spPr/>
        <p:txBody>
          <a:bodyPr/>
          <a:lstStyle/>
          <a:p>
            <a:fld id="{01B4E41B-EE32-43AA-BF26-21D12108C66F}" type="slidenum">
              <a:rPr lang="LID4096" smtClean="0"/>
              <a:t>14</a:t>
            </a:fld>
            <a:endParaRPr lang="LID4096"/>
          </a:p>
        </p:txBody>
      </p:sp>
    </p:spTree>
    <p:extLst>
      <p:ext uri="{BB962C8B-B14F-4D97-AF65-F5344CB8AC3E}">
        <p14:creationId xmlns:p14="http://schemas.microsoft.com/office/powerpoint/2010/main" val="3967349002"/>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 </a:t>
            </a:r>
            <a:r>
              <a:rPr lang="en-US" dirty="0" err="1"/>
              <a:t>kommer</a:t>
            </a:r>
            <a:r>
              <a:rPr lang="en-US" dirty="0"/>
              <a:t> </a:t>
            </a:r>
            <a:r>
              <a:rPr lang="en-US" dirty="0" err="1"/>
              <a:t>inte</a:t>
            </a:r>
            <a:r>
              <a:rPr lang="en-US" dirty="0"/>
              <a:t> </a:t>
            </a:r>
            <a:r>
              <a:rPr lang="en-US" dirty="0" err="1"/>
              <a:t>att</a:t>
            </a:r>
            <a:r>
              <a:rPr lang="en-US" dirty="0"/>
              <a:t> prata </a:t>
            </a:r>
            <a:r>
              <a:rPr lang="en-US" dirty="0" err="1"/>
              <a:t>mer</a:t>
            </a:r>
            <a:r>
              <a:rPr lang="en-US" dirty="0"/>
              <a:t> om, </a:t>
            </a:r>
            <a:r>
              <a:rPr lang="en-US" dirty="0" err="1"/>
              <a:t>eller</a:t>
            </a:r>
            <a:r>
              <a:rPr lang="en-US" dirty="0"/>
              <a:t> </a:t>
            </a:r>
            <a:r>
              <a:rPr lang="en-US" dirty="0" err="1"/>
              <a:t>testa</a:t>
            </a:r>
            <a:r>
              <a:rPr lang="en-US" dirty="0"/>
              <a:t> er, p</a:t>
            </a:r>
            <a:r>
              <a:rPr lang="sv-SE" dirty="0"/>
              <a:t>å prioriteter, men ni skall veta att det fungerar. </a:t>
            </a:r>
          </a:p>
          <a:p>
            <a:endParaRPr lang="LID4096" dirty="0"/>
          </a:p>
        </p:txBody>
      </p:sp>
      <p:sp>
        <p:nvSpPr>
          <p:cNvPr id="4" name="Slide Number Placeholder 3"/>
          <p:cNvSpPr>
            <a:spLocks noGrp="1"/>
          </p:cNvSpPr>
          <p:nvPr>
            <p:ph type="sldNum" sz="quarter" idx="5"/>
          </p:nvPr>
        </p:nvSpPr>
        <p:spPr/>
        <p:txBody>
          <a:bodyPr/>
          <a:lstStyle/>
          <a:p>
            <a:fld id="{01B4E41B-EE32-43AA-BF26-21D12108C66F}" type="slidenum">
              <a:rPr lang="LID4096" smtClean="0"/>
              <a:t>18</a:t>
            </a:fld>
            <a:endParaRPr lang="LID4096"/>
          </a:p>
        </p:txBody>
      </p:sp>
    </p:spTree>
    <p:extLst>
      <p:ext uri="{BB962C8B-B14F-4D97-AF65-F5344CB8AC3E}">
        <p14:creationId xmlns:p14="http://schemas.microsoft.com/office/powerpoint/2010/main" val="293820330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sv-SE" dirty="0"/>
              <a:t>Så nu skall vi lära oss hur den här kedjan fungerar. </a:t>
            </a:r>
          </a:p>
          <a:p>
            <a:r>
              <a:rPr lang="sv-SE" dirty="0"/>
              <a:t>EXTI enheten har 16 ingångar (en </a:t>
            </a:r>
            <a:r>
              <a:rPr lang="sv-SE" dirty="0" err="1"/>
              <a:t>en</a:t>
            </a:r>
            <a:r>
              <a:rPr lang="sv-SE" dirty="0"/>
              <a:t> för pinne 0, en för pinne 1, en för pinne 2, o.s.v.)</a:t>
            </a:r>
          </a:p>
          <a:p>
            <a:r>
              <a:rPr lang="sv-SE" dirty="0"/>
              <a:t>På något sätt måste vi alltså välja vilken av portarna som skall få </a:t>
            </a:r>
            <a:r>
              <a:rPr lang="sv-SE"/>
              <a:t>skicka vid</a:t>
            </a:r>
            <a:endParaRPr lang="sv-SE" dirty="0"/>
          </a:p>
          <a:p>
            <a:endParaRPr lang="LID4096" dirty="0"/>
          </a:p>
        </p:txBody>
      </p:sp>
      <p:sp>
        <p:nvSpPr>
          <p:cNvPr id="4" name="Slide Number Placeholder 3"/>
          <p:cNvSpPr>
            <a:spLocks noGrp="1"/>
          </p:cNvSpPr>
          <p:nvPr>
            <p:ph type="sldNum" sz="quarter" idx="5"/>
          </p:nvPr>
        </p:nvSpPr>
        <p:spPr/>
        <p:txBody>
          <a:bodyPr/>
          <a:lstStyle/>
          <a:p>
            <a:fld id="{01B4E41B-EE32-43AA-BF26-21D12108C66F}" type="slidenum">
              <a:rPr lang="LID4096" smtClean="0"/>
              <a:t>21</a:t>
            </a:fld>
            <a:endParaRPr lang="LID4096"/>
          </a:p>
        </p:txBody>
      </p:sp>
    </p:spTree>
    <p:extLst>
      <p:ext uri="{BB962C8B-B14F-4D97-AF65-F5344CB8AC3E}">
        <p14:creationId xmlns:p14="http://schemas.microsoft.com/office/powerpoint/2010/main" val="2629257494"/>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sv-SE" dirty="0"/>
              <a:t>Detta gör vi med EXTICR registren i AFIO blocket. </a:t>
            </a:r>
          </a:p>
          <a:p>
            <a:r>
              <a:rPr lang="sv-SE" dirty="0"/>
              <a:t>Förklara, och </a:t>
            </a:r>
          </a:p>
          <a:p>
            <a:r>
              <a:rPr lang="en-US" dirty="0"/>
              <a:t>&lt;click&gt;</a:t>
            </a:r>
          </a:p>
          <a:p>
            <a:r>
              <a:rPr lang="sv-SE" dirty="0"/>
              <a:t>I kod skulle det se ut så här: </a:t>
            </a:r>
          </a:p>
          <a:p>
            <a:r>
              <a:rPr lang="en-US" dirty="0"/>
              <a:t>&lt;click&gt;</a:t>
            </a:r>
            <a:endParaRPr lang="LID4096" dirty="0"/>
          </a:p>
        </p:txBody>
      </p:sp>
      <p:sp>
        <p:nvSpPr>
          <p:cNvPr id="4" name="Slide Number Placeholder 3"/>
          <p:cNvSpPr>
            <a:spLocks noGrp="1"/>
          </p:cNvSpPr>
          <p:nvPr>
            <p:ph type="sldNum" sz="quarter" idx="5"/>
          </p:nvPr>
        </p:nvSpPr>
        <p:spPr/>
        <p:txBody>
          <a:bodyPr/>
          <a:lstStyle/>
          <a:p>
            <a:fld id="{01B4E41B-EE32-43AA-BF26-21D12108C66F}" type="slidenum">
              <a:rPr lang="LID4096" smtClean="0"/>
              <a:t>22</a:t>
            </a:fld>
            <a:endParaRPr lang="LID4096"/>
          </a:p>
        </p:txBody>
      </p:sp>
    </p:spTree>
    <p:extLst>
      <p:ext uri="{BB962C8B-B14F-4D97-AF65-F5344CB8AC3E}">
        <p14:creationId xmlns:p14="http://schemas.microsoft.com/office/powerpoint/2010/main" val="638387813"/>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Om vi </a:t>
            </a:r>
            <a:r>
              <a:rPr lang="en-US" dirty="0" err="1"/>
              <a:t>ville</a:t>
            </a:r>
            <a:r>
              <a:rPr lang="en-US" dirty="0"/>
              <a:t> </a:t>
            </a:r>
            <a:r>
              <a:rPr lang="sv-SE" dirty="0"/>
              <a:t>läsa av ett </a:t>
            </a:r>
            <a:r>
              <a:rPr lang="sv-SE" dirty="0" err="1"/>
              <a:t>interrupt</a:t>
            </a:r>
            <a:r>
              <a:rPr lang="sv-SE" dirty="0"/>
              <a:t> från pinne 0 på någon port skulle vi istället konfigurera EXTI0, och så vidare. </a:t>
            </a:r>
          </a:p>
          <a:p>
            <a:endParaRPr lang="sv-SE" dirty="0"/>
          </a:p>
          <a:p>
            <a:r>
              <a:rPr lang="sv-SE" dirty="0"/>
              <a:t>När vi är klara med </a:t>
            </a:r>
            <a:r>
              <a:rPr lang="sv-SE" dirty="0" err="1"/>
              <a:t>routingen</a:t>
            </a:r>
            <a:r>
              <a:rPr lang="sv-SE" dirty="0"/>
              <a:t> kommer alltså pinnens värde in i EXTI blocket. </a:t>
            </a:r>
          </a:p>
          <a:p>
            <a:r>
              <a:rPr lang="sv-SE" dirty="0"/>
              <a:t>Det här vi måste konfigurera när vi faktiskt vill att den skall skapa ett </a:t>
            </a:r>
            <a:r>
              <a:rPr lang="sv-SE" dirty="0" err="1"/>
              <a:t>interrupt</a:t>
            </a:r>
            <a:r>
              <a:rPr lang="sv-SE" dirty="0"/>
              <a:t>, som går vidare till </a:t>
            </a:r>
            <a:r>
              <a:rPr lang="sv-SE" dirty="0" err="1"/>
              <a:t>PFICen</a:t>
            </a:r>
            <a:r>
              <a:rPr lang="sv-SE" dirty="0"/>
              <a:t>. </a:t>
            </a:r>
          </a:p>
          <a:p>
            <a:endParaRPr lang="LID4096" dirty="0"/>
          </a:p>
        </p:txBody>
      </p:sp>
      <p:sp>
        <p:nvSpPr>
          <p:cNvPr id="4" name="Slide Number Placeholder 3"/>
          <p:cNvSpPr>
            <a:spLocks noGrp="1"/>
          </p:cNvSpPr>
          <p:nvPr>
            <p:ph type="sldNum" sz="quarter" idx="5"/>
          </p:nvPr>
        </p:nvSpPr>
        <p:spPr/>
        <p:txBody>
          <a:bodyPr/>
          <a:lstStyle/>
          <a:p>
            <a:fld id="{01B4E41B-EE32-43AA-BF26-21D12108C66F}" type="slidenum">
              <a:rPr lang="LID4096" smtClean="0"/>
              <a:t>23</a:t>
            </a:fld>
            <a:endParaRPr lang="LID4096"/>
          </a:p>
        </p:txBody>
      </p:sp>
    </p:spTree>
    <p:extLst>
      <p:ext uri="{BB962C8B-B14F-4D97-AF65-F5344CB8AC3E}">
        <p14:creationId xmlns:p14="http://schemas.microsoft.com/office/powerpoint/2010/main" val="4140075980"/>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sv-SE" dirty="0"/>
              <a:t>Nu när vi har rätt pinnes signal in till EXTI så skall vi konfigurera den så att den bara skapar ett </a:t>
            </a:r>
            <a:r>
              <a:rPr lang="sv-SE" dirty="0" err="1"/>
              <a:t>interrupt</a:t>
            </a:r>
            <a:r>
              <a:rPr lang="sv-SE" dirty="0"/>
              <a:t> precis när vi vill det. </a:t>
            </a:r>
          </a:p>
          <a:p>
            <a:r>
              <a:rPr lang="sv-SE" dirty="0"/>
              <a:t>Det gör vi genom att konfigurera dessa </a:t>
            </a:r>
            <a:r>
              <a:rPr lang="sv-SE" dirty="0" err="1"/>
              <a:t>registrena</a:t>
            </a:r>
            <a:r>
              <a:rPr lang="sv-SE" dirty="0"/>
              <a:t>. Vi tar dem i ordning.</a:t>
            </a:r>
            <a:endParaRPr lang="LID4096" dirty="0"/>
          </a:p>
        </p:txBody>
      </p:sp>
      <p:sp>
        <p:nvSpPr>
          <p:cNvPr id="4" name="Slide Number Placeholder 3"/>
          <p:cNvSpPr>
            <a:spLocks noGrp="1"/>
          </p:cNvSpPr>
          <p:nvPr>
            <p:ph type="sldNum" sz="quarter" idx="5"/>
          </p:nvPr>
        </p:nvSpPr>
        <p:spPr/>
        <p:txBody>
          <a:bodyPr/>
          <a:lstStyle/>
          <a:p>
            <a:fld id="{01B4E41B-EE32-43AA-BF26-21D12108C66F}" type="slidenum">
              <a:rPr lang="LID4096" smtClean="0"/>
              <a:t>25</a:t>
            </a:fld>
            <a:endParaRPr lang="LID4096"/>
          </a:p>
        </p:txBody>
      </p:sp>
    </p:spTree>
    <p:extLst>
      <p:ext uri="{BB962C8B-B14F-4D97-AF65-F5344CB8AC3E}">
        <p14:creationId xmlns:p14="http://schemas.microsoft.com/office/powerpoint/2010/main" val="3149056990"/>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0B0F94-FA4D-9A95-F209-070D9FF21C7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1014C5D-A39E-FE3F-3905-28ED220D866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84595AA-B156-52AF-7AF0-4060DC1D77BE}"/>
              </a:ext>
            </a:extLst>
          </p:cNvPr>
          <p:cNvSpPr>
            <a:spLocks noGrp="1"/>
          </p:cNvSpPr>
          <p:nvPr>
            <p:ph type="body" idx="1"/>
          </p:nvPr>
        </p:nvSpPr>
        <p:spPr/>
        <p:txBody>
          <a:bodyPr/>
          <a:lstStyle/>
          <a:p>
            <a:r>
              <a:rPr lang="sv-SE" dirty="0"/>
              <a:t>Först har vi en </a:t>
            </a:r>
            <a:r>
              <a:rPr lang="sv-SE" dirty="0" err="1"/>
              <a:t>edge</a:t>
            </a:r>
            <a:r>
              <a:rPr lang="sv-SE" dirty="0"/>
              <a:t> detektion </a:t>
            </a:r>
            <a:r>
              <a:rPr lang="sv-SE" dirty="0" err="1"/>
              <a:t>curcuit</a:t>
            </a:r>
            <a:r>
              <a:rPr lang="sv-SE" dirty="0"/>
              <a:t>. Vi vill ju bara ha </a:t>
            </a:r>
            <a:r>
              <a:rPr lang="sv-SE" dirty="0" err="1"/>
              <a:t>interrupts</a:t>
            </a:r>
            <a:r>
              <a:rPr lang="sv-SE" dirty="0"/>
              <a:t> när någonting </a:t>
            </a:r>
            <a:r>
              <a:rPr lang="sv-SE" i="1" dirty="0"/>
              <a:t>händer</a:t>
            </a:r>
            <a:r>
              <a:rPr lang="sv-SE" dirty="0"/>
              <a:t>, d.v.s., när pinnens värde går från </a:t>
            </a:r>
          </a:p>
          <a:p>
            <a:pPr marL="171450" indent="-171450">
              <a:buFontTx/>
              <a:buChar char="-"/>
            </a:pPr>
            <a:r>
              <a:rPr lang="sv-SE" dirty="0"/>
              <a:t>noll till ett (</a:t>
            </a:r>
            <a:r>
              <a:rPr lang="sv-SE" dirty="0" err="1"/>
              <a:t>rising</a:t>
            </a:r>
            <a:r>
              <a:rPr lang="sv-SE" dirty="0"/>
              <a:t> trigger)</a:t>
            </a:r>
          </a:p>
          <a:p>
            <a:pPr marL="171450" indent="-171450">
              <a:buFontTx/>
              <a:buChar char="-"/>
            </a:pPr>
            <a:r>
              <a:rPr lang="sv-SE" dirty="0"/>
              <a:t>eller ett till noll (</a:t>
            </a:r>
            <a:r>
              <a:rPr lang="sv-SE" dirty="0" err="1"/>
              <a:t>falling</a:t>
            </a:r>
            <a:r>
              <a:rPr lang="sv-SE" dirty="0"/>
              <a:t> trigger)</a:t>
            </a:r>
          </a:p>
          <a:p>
            <a:pPr marL="171450" indent="-171450">
              <a:buFontTx/>
              <a:buChar char="-"/>
            </a:pPr>
            <a:r>
              <a:rPr lang="sv-SE" dirty="0"/>
              <a:t>eller båda två</a:t>
            </a:r>
          </a:p>
          <a:p>
            <a:pPr marL="0" indent="0">
              <a:buFontTx/>
              <a:buNone/>
            </a:pPr>
            <a:endParaRPr lang="sv-SE" dirty="0"/>
          </a:p>
          <a:p>
            <a:pPr marL="0" indent="0">
              <a:buFontTx/>
              <a:buNone/>
            </a:pPr>
            <a:r>
              <a:rPr lang="sv-SE" dirty="0"/>
              <a:t>Vi bestämmer vilken eller vilka events vi vill ha </a:t>
            </a:r>
            <a:r>
              <a:rPr lang="sv-SE" dirty="0" err="1"/>
              <a:t>interrupts</a:t>
            </a:r>
            <a:r>
              <a:rPr lang="sv-SE" dirty="0"/>
              <a:t> på med dessa register. </a:t>
            </a:r>
          </a:p>
          <a:p>
            <a:pPr marL="0" indent="0">
              <a:buFontTx/>
              <a:buNone/>
            </a:pPr>
            <a:r>
              <a:rPr lang="sv-SE" dirty="0"/>
              <a:t>När pinnen sedan byter värde så kommer det en </a:t>
            </a:r>
            <a:r>
              <a:rPr lang="sv-SE" i="1" dirty="0"/>
              <a:t>puls</a:t>
            </a:r>
            <a:r>
              <a:rPr lang="sv-SE" i="0" dirty="0"/>
              <a:t> ur </a:t>
            </a:r>
            <a:r>
              <a:rPr lang="sv-SE" i="0" dirty="0" err="1"/>
              <a:t>edge</a:t>
            </a:r>
            <a:r>
              <a:rPr lang="sv-SE" i="0" dirty="0"/>
              <a:t> </a:t>
            </a:r>
            <a:r>
              <a:rPr lang="sv-SE" i="0" dirty="0" err="1"/>
              <a:t>detection</a:t>
            </a:r>
            <a:r>
              <a:rPr lang="sv-SE" i="0" dirty="0"/>
              <a:t> enheten. Den är alltså alltid 0, förutom en </a:t>
            </a:r>
            <a:r>
              <a:rPr lang="sv-SE" i="0" dirty="0" err="1"/>
              <a:t>jättekort</a:t>
            </a:r>
            <a:r>
              <a:rPr lang="sv-SE" i="0" dirty="0"/>
              <a:t> stund precis när pinnen bytt värde. </a:t>
            </a:r>
          </a:p>
          <a:p>
            <a:pPr marL="0" indent="0">
              <a:buFontTx/>
              <a:buNone/>
            </a:pPr>
            <a:endParaRPr lang="sv-SE" i="0" dirty="0"/>
          </a:p>
          <a:p>
            <a:pPr marL="0" indent="0">
              <a:buFontTx/>
              <a:buNone/>
            </a:pPr>
            <a:r>
              <a:rPr lang="sv-SE" i="0" dirty="0"/>
              <a:t>Vi har en knapp som ger oss en etta när den är nedtryckt. Vad skall vi skriva? </a:t>
            </a:r>
            <a:endParaRPr lang="LID4096" dirty="0"/>
          </a:p>
        </p:txBody>
      </p:sp>
      <p:sp>
        <p:nvSpPr>
          <p:cNvPr id="4" name="Slide Number Placeholder 3">
            <a:extLst>
              <a:ext uri="{FF2B5EF4-FFF2-40B4-BE49-F238E27FC236}">
                <a16:creationId xmlns:a16="http://schemas.microsoft.com/office/drawing/2014/main" id="{00D26380-844F-0B7F-76B4-1A5A7D8F0C5C}"/>
              </a:ext>
            </a:extLst>
          </p:cNvPr>
          <p:cNvSpPr>
            <a:spLocks noGrp="1"/>
          </p:cNvSpPr>
          <p:nvPr>
            <p:ph type="sldNum" sz="quarter" idx="5"/>
          </p:nvPr>
        </p:nvSpPr>
        <p:spPr/>
        <p:txBody>
          <a:bodyPr/>
          <a:lstStyle/>
          <a:p>
            <a:fld id="{01B4E41B-EE32-43AA-BF26-21D12108C66F}" type="slidenum">
              <a:rPr lang="LID4096" smtClean="0"/>
              <a:t>26</a:t>
            </a:fld>
            <a:endParaRPr lang="LID4096"/>
          </a:p>
        </p:txBody>
      </p:sp>
    </p:spTree>
    <p:extLst>
      <p:ext uri="{BB962C8B-B14F-4D97-AF65-F5344CB8AC3E}">
        <p14:creationId xmlns:p14="http://schemas.microsoft.com/office/powerpoint/2010/main" val="2385832909"/>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B18A17-12D4-F2FB-24B2-E3ED7183CD2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49985B8-F9DE-32A1-B66A-4EE490E25B9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8F44847-E957-80F7-3293-39E6DA3C4A0C}"/>
              </a:ext>
            </a:extLst>
          </p:cNvPr>
          <p:cNvSpPr>
            <a:spLocks noGrp="1"/>
          </p:cNvSpPr>
          <p:nvPr>
            <p:ph type="body" idx="1"/>
          </p:nvPr>
        </p:nvSpPr>
        <p:spPr/>
        <p:txBody>
          <a:bodyPr/>
          <a:lstStyle/>
          <a:p>
            <a:r>
              <a:rPr lang="sv-SE" dirty="0"/>
              <a:t>Sen kommer ett specialregister. </a:t>
            </a:r>
          </a:p>
          <a:p>
            <a:r>
              <a:rPr lang="sv-SE" dirty="0"/>
              <a:t>Detta kan vi skriva till om vi vill </a:t>
            </a:r>
            <a:r>
              <a:rPr lang="sv-SE" i="1" dirty="0"/>
              <a:t>simulera</a:t>
            </a:r>
            <a:r>
              <a:rPr lang="sv-SE" i="0" dirty="0"/>
              <a:t> att det kommit en puls från pinnen. </a:t>
            </a:r>
          </a:p>
          <a:p>
            <a:r>
              <a:rPr lang="sv-SE" i="0" dirty="0"/>
              <a:t>Notera att detta inte är ett vanligt register, utan när vi skriver en etta till det så smäller det ut en puls, annars är det noll. </a:t>
            </a:r>
          </a:p>
          <a:p>
            <a:endParaRPr lang="LID4096" dirty="0"/>
          </a:p>
        </p:txBody>
      </p:sp>
      <p:sp>
        <p:nvSpPr>
          <p:cNvPr id="4" name="Slide Number Placeholder 3">
            <a:extLst>
              <a:ext uri="{FF2B5EF4-FFF2-40B4-BE49-F238E27FC236}">
                <a16:creationId xmlns:a16="http://schemas.microsoft.com/office/drawing/2014/main" id="{EC1DBDEF-2169-CD15-31AC-AD54FA40A39E}"/>
              </a:ext>
            </a:extLst>
          </p:cNvPr>
          <p:cNvSpPr>
            <a:spLocks noGrp="1"/>
          </p:cNvSpPr>
          <p:nvPr>
            <p:ph type="sldNum" sz="quarter" idx="5"/>
          </p:nvPr>
        </p:nvSpPr>
        <p:spPr/>
        <p:txBody>
          <a:bodyPr/>
          <a:lstStyle/>
          <a:p>
            <a:fld id="{01B4E41B-EE32-43AA-BF26-21D12108C66F}" type="slidenum">
              <a:rPr lang="LID4096" smtClean="0"/>
              <a:t>27</a:t>
            </a:fld>
            <a:endParaRPr lang="LID4096"/>
          </a:p>
        </p:txBody>
      </p:sp>
    </p:spTree>
    <p:extLst>
      <p:ext uri="{BB962C8B-B14F-4D97-AF65-F5344CB8AC3E}">
        <p14:creationId xmlns:p14="http://schemas.microsoft.com/office/powerpoint/2010/main" val="1970918016"/>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F764AF-273A-7DA4-774B-9FD2DDED223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8D46AFC-050B-F666-6399-DB8D312D920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FD2E194-C3CB-7D9E-00E5-326E0989635F}"/>
              </a:ext>
            </a:extLst>
          </p:cNvPr>
          <p:cNvSpPr>
            <a:spLocks noGrp="1"/>
          </p:cNvSpPr>
          <p:nvPr>
            <p:ph type="body" idx="1"/>
          </p:nvPr>
        </p:nvSpPr>
        <p:spPr/>
        <p:txBody>
          <a:bodyPr/>
          <a:lstStyle/>
          <a:p>
            <a:r>
              <a:rPr lang="sv-SE" dirty="0"/>
              <a:t>Sedan </a:t>
            </a:r>
            <a:r>
              <a:rPr lang="sv-SE" dirty="0" err="1"/>
              <a:t>ANDas</a:t>
            </a:r>
            <a:r>
              <a:rPr lang="sv-SE" dirty="0"/>
              <a:t> pulsen med INTENR registret. </a:t>
            </a:r>
          </a:p>
          <a:p>
            <a:r>
              <a:rPr lang="sv-SE" dirty="0"/>
              <a:t>Där kan vi alltså skriva en nolla till en bit för att helt stänga av möjligheten att få ett </a:t>
            </a:r>
            <a:r>
              <a:rPr lang="sv-SE" dirty="0" err="1"/>
              <a:t>interrupt</a:t>
            </a:r>
            <a:r>
              <a:rPr lang="sv-SE" dirty="0"/>
              <a:t> från motsvarande pinne. </a:t>
            </a:r>
          </a:p>
          <a:p>
            <a:endParaRPr lang="LID4096" dirty="0"/>
          </a:p>
        </p:txBody>
      </p:sp>
      <p:sp>
        <p:nvSpPr>
          <p:cNvPr id="4" name="Slide Number Placeholder 3">
            <a:extLst>
              <a:ext uri="{FF2B5EF4-FFF2-40B4-BE49-F238E27FC236}">
                <a16:creationId xmlns:a16="http://schemas.microsoft.com/office/drawing/2014/main" id="{EA4D59E6-6594-C717-9543-B32A3822BADB}"/>
              </a:ext>
            </a:extLst>
          </p:cNvPr>
          <p:cNvSpPr>
            <a:spLocks noGrp="1"/>
          </p:cNvSpPr>
          <p:nvPr>
            <p:ph type="sldNum" sz="quarter" idx="5"/>
          </p:nvPr>
        </p:nvSpPr>
        <p:spPr/>
        <p:txBody>
          <a:bodyPr/>
          <a:lstStyle/>
          <a:p>
            <a:fld id="{01B4E41B-EE32-43AA-BF26-21D12108C66F}" type="slidenum">
              <a:rPr lang="LID4096" smtClean="0"/>
              <a:t>28</a:t>
            </a:fld>
            <a:endParaRPr lang="LID4096"/>
          </a:p>
        </p:txBody>
      </p:sp>
    </p:spTree>
    <p:extLst>
      <p:ext uri="{BB962C8B-B14F-4D97-AF65-F5344CB8AC3E}">
        <p14:creationId xmlns:p14="http://schemas.microsoft.com/office/powerpoint/2010/main" val="399310294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2BEE7D-1CBB-7174-F3A3-0CF6DA91AD8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55AA4E6-B848-DF24-ACD3-AF07885DCB1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13A9FDB-750C-C9F5-4787-B954B832264F}"/>
              </a:ext>
            </a:extLst>
          </p:cNvPr>
          <p:cNvSpPr>
            <a:spLocks noGrp="1"/>
          </p:cNvSpPr>
          <p:nvPr>
            <p:ph type="body" idx="1"/>
          </p:nvPr>
        </p:nvSpPr>
        <p:spPr/>
        <p:txBody>
          <a:bodyPr/>
          <a:lstStyle/>
          <a:p>
            <a:r>
              <a:rPr lang="sv-SE" dirty="0"/>
              <a:t>Om pulsen har tagit sig hela vägen så sätter den motsvarande bit i INTFR registret, som skickas vidare till </a:t>
            </a:r>
            <a:r>
              <a:rPr lang="sv-SE" dirty="0" err="1"/>
              <a:t>PFIC:en</a:t>
            </a:r>
            <a:r>
              <a:rPr lang="sv-SE" dirty="0"/>
              <a:t>. </a:t>
            </a:r>
          </a:p>
          <a:p>
            <a:endParaRPr lang="sv-SE" dirty="0"/>
          </a:p>
          <a:p>
            <a:r>
              <a:rPr lang="sv-SE" dirty="0"/>
              <a:t>I min illustration här är också output från registret tillbakakopplat till ingången. Det är för att visa att det här registret sedan aldrig ändrar värde förrän vi aktivt nollställer det från mjukvaran. </a:t>
            </a:r>
          </a:p>
          <a:p>
            <a:endParaRPr lang="sv-SE" dirty="0"/>
          </a:p>
          <a:p>
            <a:r>
              <a:rPr lang="sv-SE" dirty="0"/>
              <a:t>Vi måste alltså nolla det här registret när vi är klara med att hantera vårat </a:t>
            </a:r>
            <a:r>
              <a:rPr lang="sv-SE" dirty="0" err="1"/>
              <a:t>interrupt</a:t>
            </a:r>
            <a:r>
              <a:rPr lang="sv-SE" dirty="0"/>
              <a:t>. </a:t>
            </a:r>
          </a:p>
          <a:p>
            <a:r>
              <a:rPr lang="sv-SE" dirty="0"/>
              <a:t>Vi nollar genom att skriva ETT!</a:t>
            </a:r>
            <a:endParaRPr lang="LID4096" dirty="0"/>
          </a:p>
        </p:txBody>
      </p:sp>
      <p:sp>
        <p:nvSpPr>
          <p:cNvPr id="4" name="Slide Number Placeholder 3">
            <a:extLst>
              <a:ext uri="{FF2B5EF4-FFF2-40B4-BE49-F238E27FC236}">
                <a16:creationId xmlns:a16="http://schemas.microsoft.com/office/drawing/2014/main" id="{5C3E9B66-1543-B670-3CDE-56A08019789D}"/>
              </a:ext>
            </a:extLst>
          </p:cNvPr>
          <p:cNvSpPr>
            <a:spLocks noGrp="1"/>
          </p:cNvSpPr>
          <p:nvPr>
            <p:ph type="sldNum" sz="quarter" idx="5"/>
          </p:nvPr>
        </p:nvSpPr>
        <p:spPr/>
        <p:txBody>
          <a:bodyPr/>
          <a:lstStyle/>
          <a:p>
            <a:fld id="{01B4E41B-EE32-43AA-BF26-21D12108C66F}" type="slidenum">
              <a:rPr lang="LID4096" smtClean="0"/>
              <a:t>29</a:t>
            </a:fld>
            <a:endParaRPr lang="LID4096"/>
          </a:p>
        </p:txBody>
      </p:sp>
    </p:spTree>
    <p:extLst>
      <p:ext uri="{BB962C8B-B14F-4D97-AF65-F5344CB8AC3E}">
        <p14:creationId xmlns:p14="http://schemas.microsoft.com/office/powerpoint/2010/main" val="768448949"/>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5455FE-5990-141A-84F8-01B4A316E7D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E1293D7-2376-C233-707B-8090DD229CC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1D18A19-2CB5-C77E-D0F1-0DCCA4A26CA4}"/>
              </a:ext>
            </a:extLst>
          </p:cNvPr>
          <p:cNvSpPr>
            <a:spLocks noGrp="1"/>
          </p:cNvSpPr>
          <p:nvPr>
            <p:ph type="body" idx="1"/>
          </p:nvPr>
        </p:nvSpPr>
        <p:spPr/>
        <p:txBody>
          <a:bodyPr/>
          <a:lstStyle/>
          <a:p>
            <a:r>
              <a:rPr lang="sv-SE" dirty="0"/>
              <a:t>Slutligen har vi 16 insignaler, men bara 7 möjliga avbrottssignaler till </a:t>
            </a:r>
            <a:r>
              <a:rPr lang="sv-SE" dirty="0" err="1"/>
              <a:t>PFIC:en</a:t>
            </a:r>
            <a:r>
              <a:rPr lang="sv-SE" dirty="0"/>
              <a:t>. </a:t>
            </a:r>
          </a:p>
          <a:p>
            <a:endParaRPr lang="sv-SE" dirty="0"/>
          </a:p>
          <a:p>
            <a:r>
              <a:rPr lang="sv-SE" dirty="0"/>
              <a:t>Hur vet våran </a:t>
            </a:r>
            <a:r>
              <a:rPr lang="sv-SE" dirty="0" err="1"/>
              <a:t>interrupthanterare</a:t>
            </a:r>
            <a:r>
              <a:rPr lang="sv-SE" dirty="0"/>
              <a:t> var avbrottet kommer ifrån, ifall det kommer på t.ex. EXTI5_9 linan? </a:t>
            </a:r>
          </a:p>
          <a:p>
            <a:endParaRPr lang="sv-SE" dirty="0"/>
          </a:p>
          <a:p>
            <a:endParaRPr lang="LID4096" dirty="0"/>
          </a:p>
        </p:txBody>
      </p:sp>
      <p:sp>
        <p:nvSpPr>
          <p:cNvPr id="4" name="Slide Number Placeholder 3">
            <a:extLst>
              <a:ext uri="{FF2B5EF4-FFF2-40B4-BE49-F238E27FC236}">
                <a16:creationId xmlns:a16="http://schemas.microsoft.com/office/drawing/2014/main" id="{6378E72E-D85F-6D39-BEE0-B985896B88B4}"/>
              </a:ext>
            </a:extLst>
          </p:cNvPr>
          <p:cNvSpPr>
            <a:spLocks noGrp="1"/>
          </p:cNvSpPr>
          <p:nvPr>
            <p:ph type="sldNum" sz="quarter" idx="5"/>
          </p:nvPr>
        </p:nvSpPr>
        <p:spPr/>
        <p:txBody>
          <a:bodyPr/>
          <a:lstStyle/>
          <a:p>
            <a:fld id="{01B4E41B-EE32-43AA-BF26-21D12108C66F}" type="slidenum">
              <a:rPr lang="LID4096" smtClean="0"/>
              <a:t>30</a:t>
            </a:fld>
            <a:endParaRPr lang="LID4096"/>
          </a:p>
        </p:txBody>
      </p:sp>
    </p:spTree>
    <p:extLst>
      <p:ext uri="{BB962C8B-B14F-4D97-AF65-F5344CB8AC3E}">
        <p14:creationId xmlns:p14="http://schemas.microsoft.com/office/powerpoint/2010/main" val="304186754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907AAEC-3E6C-4451-F486-87E023A51197}"/>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LID4096"/>
          </a:p>
        </p:txBody>
      </p:sp>
      <p:sp>
        <p:nvSpPr>
          <p:cNvPr id="3" name="Subtitle 2">
            <a:extLst>
              <a:ext uri="{FF2B5EF4-FFF2-40B4-BE49-F238E27FC236}">
                <a16:creationId xmlns:a16="http://schemas.microsoft.com/office/drawing/2014/main" id="{2423331C-A0B6-0FB2-3F60-753189EC5DC6}"/>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LID4096"/>
          </a:p>
        </p:txBody>
      </p:sp>
      <p:sp>
        <p:nvSpPr>
          <p:cNvPr id="4" name="Date Placeholder 3">
            <a:extLst>
              <a:ext uri="{FF2B5EF4-FFF2-40B4-BE49-F238E27FC236}">
                <a16:creationId xmlns:a16="http://schemas.microsoft.com/office/drawing/2014/main" id="{EADF49D7-5229-A7AD-747E-E6E2A94807DB}"/>
              </a:ext>
            </a:extLst>
          </p:cNvPr>
          <p:cNvSpPr>
            <a:spLocks noGrp="1"/>
          </p:cNvSpPr>
          <p:nvPr>
            <p:ph type="dt" sz="half" idx="10"/>
          </p:nvPr>
        </p:nvSpPr>
        <p:spPr/>
        <p:txBody>
          <a:bodyPr/>
          <a:lstStyle/>
          <a:p>
            <a:fld id="{C16EB631-5B1A-4879-85E7-A8D4C94FBFC5}" type="datetimeFigureOut">
              <a:rPr lang="LID4096" smtClean="0"/>
              <a:t>02/24/2026</a:t>
            </a:fld>
            <a:endParaRPr lang="LID4096"/>
          </a:p>
        </p:txBody>
      </p:sp>
      <p:sp>
        <p:nvSpPr>
          <p:cNvPr id="5" name="Footer Placeholder 4">
            <a:extLst>
              <a:ext uri="{FF2B5EF4-FFF2-40B4-BE49-F238E27FC236}">
                <a16:creationId xmlns:a16="http://schemas.microsoft.com/office/drawing/2014/main" id="{E33705F1-D570-FD0F-514D-706EC471432C}"/>
              </a:ext>
            </a:extLst>
          </p:cNvPr>
          <p:cNvSpPr>
            <a:spLocks noGrp="1"/>
          </p:cNvSpPr>
          <p:nvPr>
            <p:ph type="ftr" sz="quarter" idx="11"/>
          </p:nvPr>
        </p:nvSpPr>
        <p:spPr/>
        <p:txBody>
          <a:bodyPr/>
          <a:lstStyle/>
          <a:p>
            <a:endParaRPr lang="LID4096"/>
          </a:p>
        </p:txBody>
      </p:sp>
      <p:sp>
        <p:nvSpPr>
          <p:cNvPr id="6" name="Slide Number Placeholder 5">
            <a:extLst>
              <a:ext uri="{FF2B5EF4-FFF2-40B4-BE49-F238E27FC236}">
                <a16:creationId xmlns:a16="http://schemas.microsoft.com/office/drawing/2014/main" id="{2E82FFF5-DA5D-BE5F-C578-D94F74E27609}"/>
              </a:ext>
            </a:extLst>
          </p:cNvPr>
          <p:cNvSpPr>
            <a:spLocks noGrp="1"/>
          </p:cNvSpPr>
          <p:nvPr>
            <p:ph type="sldNum" sz="quarter" idx="12"/>
          </p:nvPr>
        </p:nvSpPr>
        <p:spPr/>
        <p:txBody>
          <a:bodyPr/>
          <a:lstStyle/>
          <a:p>
            <a:fld id="{2C189057-92C1-481C-81FE-C4EA53628E84}" type="slidenum">
              <a:rPr lang="LID4096" smtClean="0"/>
              <a:t>‹#›</a:t>
            </a:fld>
            <a:endParaRPr lang="LID4096"/>
          </a:p>
        </p:txBody>
      </p:sp>
    </p:spTree>
    <p:extLst>
      <p:ext uri="{BB962C8B-B14F-4D97-AF65-F5344CB8AC3E}">
        <p14:creationId xmlns:p14="http://schemas.microsoft.com/office/powerpoint/2010/main" val="412326736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8B61E56A-61B1-4728-4B29-992DB3EED256}"/>
              </a:ext>
            </a:extLst>
          </p:cNvPr>
          <p:cNvSpPr>
            <a:spLocks noGrp="1" noRot="1" noMove="1" noResize="1" noEditPoints="1" noAdjustHandles="1" noChangeArrowheads="1" noChangeShapeType="1"/>
          </p:cNvSpPr>
          <p:nvPr userDrawn="1"/>
        </p:nvSpPr>
        <p:spPr>
          <a:xfrm>
            <a:off x="0" y="0"/>
            <a:ext cx="12192000" cy="1690688"/>
          </a:xfrm>
          <a:prstGeom prst="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2" name="Title 1">
            <a:extLst>
              <a:ext uri="{FF2B5EF4-FFF2-40B4-BE49-F238E27FC236}">
                <a16:creationId xmlns:a16="http://schemas.microsoft.com/office/drawing/2014/main" id="{24D76953-890A-D048-2193-B60830D7DD8A}"/>
              </a:ext>
            </a:extLst>
          </p:cNvPr>
          <p:cNvSpPr>
            <a:spLocks noGrp="1"/>
          </p:cNvSpPr>
          <p:nvPr>
            <p:ph type="title"/>
          </p:nvPr>
        </p:nvSpPr>
        <p:spPr/>
        <p:txBody>
          <a:bodyPr/>
          <a:lstStyle/>
          <a:p>
            <a:r>
              <a:rPr lang="en-US"/>
              <a:t>Click to edit Master title style</a:t>
            </a:r>
            <a:endParaRPr lang="LID4096"/>
          </a:p>
        </p:txBody>
      </p:sp>
      <p:sp>
        <p:nvSpPr>
          <p:cNvPr id="3" name="Content Placeholder 2">
            <a:extLst>
              <a:ext uri="{FF2B5EF4-FFF2-40B4-BE49-F238E27FC236}">
                <a16:creationId xmlns:a16="http://schemas.microsoft.com/office/drawing/2014/main" id="{7D433386-BED0-D084-18B4-677D6B198F07}"/>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LID4096"/>
          </a:p>
        </p:txBody>
      </p:sp>
      <p:sp>
        <p:nvSpPr>
          <p:cNvPr id="4" name="Date Placeholder 3">
            <a:extLst>
              <a:ext uri="{FF2B5EF4-FFF2-40B4-BE49-F238E27FC236}">
                <a16:creationId xmlns:a16="http://schemas.microsoft.com/office/drawing/2014/main" id="{20E72D33-941F-13F9-A7E8-260FC6E52369}"/>
              </a:ext>
            </a:extLst>
          </p:cNvPr>
          <p:cNvSpPr>
            <a:spLocks noGrp="1"/>
          </p:cNvSpPr>
          <p:nvPr>
            <p:ph type="dt" sz="half" idx="10"/>
          </p:nvPr>
        </p:nvSpPr>
        <p:spPr/>
        <p:txBody>
          <a:bodyPr/>
          <a:lstStyle/>
          <a:p>
            <a:fld id="{C16EB631-5B1A-4879-85E7-A8D4C94FBFC5}" type="datetimeFigureOut">
              <a:rPr lang="LID4096" smtClean="0"/>
              <a:t>02/24/2026</a:t>
            </a:fld>
            <a:endParaRPr lang="LID4096"/>
          </a:p>
        </p:txBody>
      </p:sp>
      <p:sp>
        <p:nvSpPr>
          <p:cNvPr id="5" name="Footer Placeholder 4">
            <a:extLst>
              <a:ext uri="{FF2B5EF4-FFF2-40B4-BE49-F238E27FC236}">
                <a16:creationId xmlns:a16="http://schemas.microsoft.com/office/drawing/2014/main" id="{36759F51-CB1B-DF9A-5CC0-93AFDF6758C7}"/>
              </a:ext>
            </a:extLst>
          </p:cNvPr>
          <p:cNvSpPr>
            <a:spLocks noGrp="1"/>
          </p:cNvSpPr>
          <p:nvPr>
            <p:ph type="ftr" sz="quarter" idx="11"/>
          </p:nvPr>
        </p:nvSpPr>
        <p:spPr/>
        <p:txBody>
          <a:bodyPr/>
          <a:lstStyle/>
          <a:p>
            <a:endParaRPr lang="LID4096"/>
          </a:p>
        </p:txBody>
      </p:sp>
      <p:sp>
        <p:nvSpPr>
          <p:cNvPr id="6" name="Slide Number Placeholder 5">
            <a:extLst>
              <a:ext uri="{FF2B5EF4-FFF2-40B4-BE49-F238E27FC236}">
                <a16:creationId xmlns:a16="http://schemas.microsoft.com/office/drawing/2014/main" id="{23E42DB4-6401-3763-4016-068E35BF833C}"/>
              </a:ext>
            </a:extLst>
          </p:cNvPr>
          <p:cNvSpPr>
            <a:spLocks noGrp="1"/>
          </p:cNvSpPr>
          <p:nvPr>
            <p:ph type="sldNum" sz="quarter" idx="12"/>
          </p:nvPr>
        </p:nvSpPr>
        <p:spPr/>
        <p:txBody>
          <a:bodyPr/>
          <a:lstStyle/>
          <a:p>
            <a:fld id="{2C189057-92C1-481C-81FE-C4EA53628E84}" type="slidenum">
              <a:rPr lang="LID4096" smtClean="0"/>
              <a:t>‹#›</a:t>
            </a:fld>
            <a:endParaRPr lang="LID4096"/>
          </a:p>
        </p:txBody>
      </p:sp>
    </p:spTree>
    <p:extLst>
      <p:ext uri="{BB962C8B-B14F-4D97-AF65-F5344CB8AC3E}">
        <p14:creationId xmlns:p14="http://schemas.microsoft.com/office/powerpoint/2010/main" val="108842127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1_Title and Content">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C7224668-B732-F6E4-82FD-48279E8CE7C6}"/>
              </a:ext>
            </a:extLst>
          </p:cNvPr>
          <p:cNvSpPr>
            <a:spLocks noGrp="1" noRot="1" noMove="1" noResize="1" noEditPoints="1" noAdjustHandles="1" noChangeArrowheads="1" noChangeShapeType="1"/>
          </p:cNvSpPr>
          <p:nvPr userDrawn="1"/>
        </p:nvSpPr>
        <p:spPr>
          <a:xfrm>
            <a:off x="0" y="1690688"/>
            <a:ext cx="12192000" cy="5167312"/>
          </a:xfrm>
          <a:prstGeom prst="rect">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7" name="Rectangle 6">
            <a:extLst>
              <a:ext uri="{FF2B5EF4-FFF2-40B4-BE49-F238E27FC236}">
                <a16:creationId xmlns:a16="http://schemas.microsoft.com/office/drawing/2014/main" id="{8B61E56A-61B1-4728-4B29-992DB3EED256}"/>
              </a:ext>
            </a:extLst>
          </p:cNvPr>
          <p:cNvSpPr>
            <a:spLocks noGrp="1" noRot="1" noMove="1" noResize="1" noEditPoints="1" noAdjustHandles="1" noChangeArrowheads="1" noChangeShapeType="1"/>
          </p:cNvSpPr>
          <p:nvPr userDrawn="1"/>
        </p:nvSpPr>
        <p:spPr>
          <a:xfrm>
            <a:off x="0" y="0"/>
            <a:ext cx="12192000" cy="1690688"/>
          </a:xfrm>
          <a:prstGeom prst="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2" name="Title 1">
            <a:extLst>
              <a:ext uri="{FF2B5EF4-FFF2-40B4-BE49-F238E27FC236}">
                <a16:creationId xmlns:a16="http://schemas.microsoft.com/office/drawing/2014/main" id="{24D76953-890A-D048-2193-B60830D7DD8A}"/>
              </a:ext>
            </a:extLst>
          </p:cNvPr>
          <p:cNvSpPr>
            <a:spLocks noGrp="1"/>
          </p:cNvSpPr>
          <p:nvPr>
            <p:ph type="title"/>
          </p:nvPr>
        </p:nvSpPr>
        <p:spPr/>
        <p:txBody>
          <a:bodyPr/>
          <a:lstStyle/>
          <a:p>
            <a:r>
              <a:rPr lang="en-US"/>
              <a:t>Click to edit Master title style</a:t>
            </a:r>
            <a:endParaRPr lang="LID4096"/>
          </a:p>
        </p:txBody>
      </p:sp>
      <p:sp>
        <p:nvSpPr>
          <p:cNvPr id="3" name="Content Placeholder 2">
            <a:extLst>
              <a:ext uri="{FF2B5EF4-FFF2-40B4-BE49-F238E27FC236}">
                <a16:creationId xmlns:a16="http://schemas.microsoft.com/office/drawing/2014/main" id="{7D433386-BED0-D084-18B4-677D6B198F07}"/>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LID4096"/>
          </a:p>
        </p:txBody>
      </p:sp>
      <p:sp>
        <p:nvSpPr>
          <p:cNvPr id="4" name="Date Placeholder 3">
            <a:extLst>
              <a:ext uri="{FF2B5EF4-FFF2-40B4-BE49-F238E27FC236}">
                <a16:creationId xmlns:a16="http://schemas.microsoft.com/office/drawing/2014/main" id="{20E72D33-941F-13F9-A7E8-260FC6E52369}"/>
              </a:ext>
            </a:extLst>
          </p:cNvPr>
          <p:cNvSpPr>
            <a:spLocks noGrp="1"/>
          </p:cNvSpPr>
          <p:nvPr>
            <p:ph type="dt" sz="half" idx="10"/>
          </p:nvPr>
        </p:nvSpPr>
        <p:spPr/>
        <p:txBody>
          <a:bodyPr/>
          <a:lstStyle/>
          <a:p>
            <a:fld id="{C16EB631-5B1A-4879-85E7-A8D4C94FBFC5}" type="datetimeFigureOut">
              <a:rPr lang="LID4096" smtClean="0"/>
              <a:t>02/24/2026</a:t>
            </a:fld>
            <a:endParaRPr lang="LID4096"/>
          </a:p>
        </p:txBody>
      </p:sp>
      <p:sp>
        <p:nvSpPr>
          <p:cNvPr id="5" name="Footer Placeholder 4">
            <a:extLst>
              <a:ext uri="{FF2B5EF4-FFF2-40B4-BE49-F238E27FC236}">
                <a16:creationId xmlns:a16="http://schemas.microsoft.com/office/drawing/2014/main" id="{36759F51-CB1B-DF9A-5CC0-93AFDF6758C7}"/>
              </a:ext>
            </a:extLst>
          </p:cNvPr>
          <p:cNvSpPr>
            <a:spLocks noGrp="1"/>
          </p:cNvSpPr>
          <p:nvPr>
            <p:ph type="ftr" sz="quarter" idx="11"/>
          </p:nvPr>
        </p:nvSpPr>
        <p:spPr/>
        <p:txBody>
          <a:bodyPr/>
          <a:lstStyle/>
          <a:p>
            <a:endParaRPr lang="LID4096"/>
          </a:p>
        </p:txBody>
      </p:sp>
      <p:sp>
        <p:nvSpPr>
          <p:cNvPr id="6" name="Slide Number Placeholder 5">
            <a:extLst>
              <a:ext uri="{FF2B5EF4-FFF2-40B4-BE49-F238E27FC236}">
                <a16:creationId xmlns:a16="http://schemas.microsoft.com/office/drawing/2014/main" id="{23E42DB4-6401-3763-4016-068E35BF833C}"/>
              </a:ext>
            </a:extLst>
          </p:cNvPr>
          <p:cNvSpPr>
            <a:spLocks noGrp="1"/>
          </p:cNvSpPr>
          <p:nvPr>
            <p:ph type="sldNum" sz="quarter" idx="12"/>
          </p:nvPr>
        </p:nvSpPr>
        <p:spPr/>
        <p:txBody>
          <a:bodyPr/>
          <a:lstStyle/>
          <a:p>
            <a:fld id="{2C189057-92C1-481C-81FE-C4EA53628E84}" type="slidenum">
              <a:rPr lang="LID4096" smtClean="0"/>
              <a:t>‹#›</a:t>
            </a:fld>
            <a:endParaRPr lang="LID4096"/>
          </a:p>
        </p:txBody>
      </p:sp>
    </p:spTree>
    <p:extLst>
      <p:ext uri="{BB962C8B-B14F-4D97-AF65-F5344CB8AC3E}">
        <p14:creationId xmlns:p14="http://schemas.microsoft.com/office/powerpoint/2010/main" val="199750865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955AE1C-835E-4237-40BE-548098F75133}"/>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LID4096"/>
          </a:p>
        </p:txBody>
      </p:sp>
      <p:sp>
        <p:nvSpPr>
          <p:cNvPr id="3" name="Text Placeholder 2">
            <a:extLst>
              <a:ext uri="{FF2B5EF4-FFF2-40B4-BE49-F238E27FC236}">
                <a16:creationId xmlns:a16="http://schemas.microsoft.com/office/drawing/2014/main" id="{5680726C-642C-40B9-29E4-8CB6438330DD}"/>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45D861FB-8DCF-74EB-CB4F-6C8C5FDA2D70}"/>
              </a:ext>
            </a:extLst>
          </p:cNvPr>
          <p:cNvSpPr>
            <a:spLocks noGrp="1"/>
          </p:cNvSpPr>
          <p:nvPr>
            <p:ph type="dt" sz="half" idx="10"/>
          </p:nvPr>
        </p:nvSpPr>
        <p:spPr/>
        <p:txBody>
          <a:bodyPr/>
          <a:lstStyle/>
          <a:p>
            <a:fld id="{C16EB631-5B1A-4879-85E7-A8D4C94FBFC5}" type="datetimeFigureOut">
              <a:rPr lang="LID4096" smtClean="0"/>
              <a:t>02/24/2026</a:t>
            </a:fld>
            <a:endParaRPr lang="LID4096"/>
          </a:p>
        </p:txBody>
      </p:sp>
      <p:sp>
        <p:nvSpPr>
          <p:cNvPr id="5" name="Footer Placeholder 4">
            <a:extLst>
              <a:ext uri="{FF2B5EF4-FFF2-40B4-BE49-F238E27FC236}">
                <a16:creationId xmlns:a16="http://schemas.microsoft.com/office/drawing/2014/main" id="{94B0EE97-CCFB-62D1-AD51-EC2640FFF3A1}"/>
              </a:ext>
            </a:extLst>
          </p:cNvPr>
          <p:cNvSpPr>
            <a:spLocks noGrp="1"/>
          </p:cNvSpPr>
          <p:nvPr>
            <p:ph type="ftr" sz="quarter" idx="11"/>
          </p:nvPr>
        </p:nvSpPr>
        <p:spPr/>
        <p:txBody>
          <a:bodyPr/>
          <a:lstStyle/>
          <a:p>
            <a:endParaRPr lang="LID4096"/>
          </a:p>
        </p:txBody>
      </p:sp>
      <p:sp>
        <p:nvSpPr>
          <p:cNvPr id="6" name="Slide Number Placeholder 5">
            <a:extLst>
              <a:ext uri="{FF2B5EF4-FFF2-40B4-BE49-F238E27FC236}">
                <a16:creationId xmlns:a16="http://schemas.microsoft.com/office/drawing/2014/main" id="{A224E895-9CC8-B3E0-C23B-C34A3154E382}"/>
              </a:ext>
            </a:extLst>
          </p:cNvPr>
          <p:cNvSpPr>
            <a:spLocks noGrp="1"/>
          </p:cNvSpPr>
          <p:nvPr>
            <p:ph type="sldNum" sz="quarter" idx="12"/>
          </p:nvPr>
        </p:nvSpPr>
        <p:spPr/>
        <p:txBody>
          <a:bodyPr/>
          <a:lstStyle/>
          <a:p>
            <a:fld id="{2C189057-92C1-481C-81FE-C4EA53628E84}" type="slidenum">
              <a:rPr lang="LID4096" smtClean="0"/>
              <a:t>‹#›</a:t>
            </a:fld>
            <a:endParaRPr lang="LID4096"/>
          </a:p>
        </p:txBody>
      </p:sp>
    </p:spTree>
    <p:extLst>
      <p:ext uri="{BB962C8B-B14F-4D97-AF65-F5344CB8AC3E}">
        <p14:creationId xmlns:p14="http://schemas.microsoft.com/office/powerpoint/2010/main" val="283083359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6ADA9653-920E-A3FB-A09E-24B10BF25882}"/>
              </a:ext>
            </a:extLst>
          </p:cNvPr>
          <p:cNvSpPr/>
          <p:nvPr userDrawn="1"/>
        </p:nvSpPr>
        <p:spPr>
          <a:xfrm>
            <a:off x="0" y="0"/>
            <a:ext cx="12192000" cy="1690688"/>
          </a:xfrm>
          <a:prstGeom prst="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2" name="Title 1">
            <a:extLst>
              <a:ext uri="{FF2B5EF4-FFF2-40B4-BE49-F238E27FC236}">
                <a16:creationId xmlns:a16="http://schemas.microsoft.com/office/drawing/2014/main" id="{6D912F9C-95D6-9F26-CB8F-4684FA3BC91D}"/>
              </a:ext>
            </a:extLst>
          </p:cNvPr>
          <p:cNvSpPr>
            <a:spLocks noGrp="1"/>
          </p:cNvSpPr>
          <p:nvPr>
            <p:ph type="title"/>
          </p:nvPr>
        </p:nvSpPr>
        <p:spPr/>
        <p:txBody>
          <a:bodyPr/>
          <a:lstStyle/>
          <a:p>
            <a:r>
              <a:rPr lang="en-US"/>
              <a:t>Click to edit Master title style</a:t>
            </a:r>
            <a:endParaRPr lang="LID4096"/>
          </a:p>
        </p:txBody>
      </p:sp>
      <p:sp>
        <p:nvSpPr>
          <p:cNvPr id="3" name="Content Placeholder 2">
            <a:extLst>
              <a:ext uri="{FF2B5EF4-FFF2-40B4-BE49-F238E27FC236}">
                <a16:creationId xmlns:a16="http://schemas.microsoft.com/office/drawing/2014/main" id="{32A225D4-B7C6-E53C-86CB-746972F8BB56}"/>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LID4096"/>
          </a:p>
        </p:txBody>
      </p:sp>
      <p:sp>
        <p:nvSpPr>
          <p:cNvPr id="4" name="Content Placeholder 3">
            <a:extLst>
              <a:ext uri="{FF2B5EF4-FFF2-40B4-BE49-F238E27FC236}">
                <a16:creationId xmlns:a16="http://schemas.microsoft.com/office/drawing/2014/main" id="{E34E4528-78B3-D076-447C-021E6D75A5A4}"/>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LID4096"/>
          </a:p>
        </p:txBody>
      </p:sp>
      <p:sp>
        <p:nvSpPr>
          <p:cNvPr id="5" name="Date Placeholder 4">
            <a:extLst>
              <a:ext uri="{FF2B5EF4-FFF2-40B4-BE49-F238E27FC236}">
                <a16:creationId xmlns:a16="http://schemas.microsoft.com/office/drawing/2014/main" id="{81FD6A9B-7759-36F2-D666-8667C8DE7F6A}"/>
              </a:ext>
            </a:extLst>
          </p:cNvPr>
          <p:cNvSpPr>
            <a:spLocks noGrp="1"/>
          </p:cNvSpPr>
          <p:nvPr>
            <p:ph type="dt" sz="half" idx="10"/>
          </p:nvPr>
        </p:nvSpPr>
        <p:spPr/>
        <p:txBody>
          <a:bodyPr/>
          <a:lstStyle/>
          <a:p>
            <a:fld id="{C16EB631-5B1A-4879-85E7-A8D4C94FBFC5}" type="datetimeFigureOut">
              <a:rPr lang="LID4096" smtClean="0"/>
              <a:t>02/24/2026</a:t>
            </a:fld>
            <a:endParaRPr lang="LID4096"/>
          </a:p>
        </p:txBody>
      </p:sp>
      <p:sp>
        <p:nvSpPr>
          <p:cNvPr id="6" name="Footer Placeholder 5">
            <a:extLst>
              <a:ext uri="{FF2B5EF4-FFF2-40B4-BE49-F238E27FC236}">
                <a16:creationId xmlns:a16="http://schemas.microsoft.com/office/drawing/2014/main" id="{6821CEAB-5EF1-8A74-8968-8F0DB2B27660}"/>
              </a:ext>
            </a:extLst>
          </p:cNvPr>
          <p:cNvSpPr>
            <a:spLocks noGrp="1"/>
          </p:cNvSpPr>
          <p:nvPr>
            <p:ph type="ftr" sz="quarter" idx="11"/>
          </p:nvPr>
        </p:nvSpPr>
        <p:spPr/>
        <p:txBody>
          <a:bodyPr/>
          <a:lstStyle/>
          <a:p>
            <a:endParaRPr lang="LID4096"/>
          </a:p>
        </p:txBody>
      </p:sp>
      <p:sp>
        <p:nvSpPr>
          <p:cNvPr id="7" name="Slide Number Placeholder 6">
            <a:extLst>
              <a:ext uri="{FF2B5EF4-FFF2-40B4-BE49-F238E27FC236}">
                <a16:creationId xmlns:a16="http://schemas.microsoft.com/office/drawing/2014/main" id="{11540A9C-A1CD-86C2-36E4-17DFA2A93FEB}"/>
              </a:ext>
            </a:extLst>
          </p:cNvPr>
          <p:cNvSpPr>
            <a:spLocks noGrp="1"/>
          </p:cNvSpPr>
          <p:nvPr>
            <p:ph type="sldNum" sz="quarter" idx="12"/>
          </p:nvPr>
        </p:nvSpPr>
        <p:spPr/>
        <p:txBody>
          <a:bodyPr/>
          <a:lstStyle/>
          <a:p>
            <a:fld id="{2C189057-92C1-481C-81FE-C4EA53628E84}" type="slidenum">
              <a:rPr lang="LID4096" smtClean="0"/>
              <a:t>‹#›</a:t>
            </a:fld>
            <a:endParaRPr lang="LID4096"/>
          </a:p>
        </p:txBody>
      </p:sp>
    </p:spTree>
    <p:extLst>
      <p:ext uri="{BB962C8B-B14F-4D97-AF65-F5344CB8AC3E}">
        <p14:creationId xmlns:p14="http://schemas.microsoft.com/office/powerpoint/2010/main" val="301813942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DAC8CFAD-2C3B-E51D-4FD9-E852766792F8}"/>
              </a:ext>
            </a:extLst>
          </p:cNvPr>
          <p:cNvSpPr/>
          <p:nvPr userDrawn="1"/>
        </p:nvSpPr>
        <p:spPr>
          <a:xfrm>
            <a:off x="0" y="0"/>
            <a:ext cx="12192000" cy="1690688"/>
          </a:xfrm>
          <a:prstGeom prst="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2" name="Title 1">
            <a:extLst>
              <a:ext uri="{FF2B5EF4-FFF2-40B4-BE49-F238E27FC236}">
                <a16:creationId xmlns:a16="http://schemas.microsoft.com/office/drawing/2014/main" id="{68FA55E2-B180-DE62-C73A-B825DAA5CD87}"/>
              </a:ext>
            </a:extLst>
          </p:cNvPr>
          <p:cNvSpPr>
            <a:spLocks noGrp="1"/>
          </p:cNvSpPr>
          <p:nvPr>
            <p:ph type="title"/>
          </p:nvPr>
        </p:nvSpPr>
        <p:spPr>
          <a:xfrm>
            <a:off x="839788" y="365125"/>
            <a:ext cx="10515600" cy="1325563"/>
          </a:xfrm>
        </p:spPr>
        <p:txBody>
          <a:bodyPr/>
          <a:lstStyle/>
          <a:p>
            <a:r>
              <a:rPr lang="en-US"/>
              <a:t>Click to edit Master title style</a:t>
            </a:r>
            <a:endParaRPr lang="LID4096"/>
          </a:p>
        </p:txBody>
      </p:sp>
      <p:sp>
        <p:nvSpPr>
          <p:cNvPr id="3" name="Text Placeholder 2">
            <a:extLst>
              <a:ext uri="{FF2B5EF4-FFF2-40B4-BE49-F238E27FC236}">
                <a16:creationId xmlns:a16="http://schemas.microsoft.com/office/drawing/2014/main" id="{882EA99E-F1A7-2F45-FDF1-5E254A755E8D}"/>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159AB4C4-573F-7FAB-48DA-DAF97814929D}"/>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LID4096"/>
          </a:p>
        </p:txBody>
      </p:sp>
      <p:sp>
        <p:nvSpPr>
          <p:cNvPr id="5" name="Text Placeholder 4">
            <a:extLst>
              <a:ext uri="{FF2B5EF4-FFF2-40B4-BE49-F238E27FC236}">
                <a16:creationId xmlns:a16="http://schemas.microsoft.com/office/drawing/2014/main" id="{8F7018C2-E8F6-E5E6-79EA-3155C34500D3}"/>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C31AF297-CD62-07D0-9158-3B908BD1CAFB}"/>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LID4096"/>
          </a:p>
        </p:txBody>
      </p:sp>
      <p:sp>
        <p:nvSpPr>
          <p:cNvPr id="7" name="Date Placeholder 6">
            <a:extLst>
              <a:ext uri="{FF2B5EF4-FFF2-40B4-BE49-F238E27FC236}">
                <a16:creationId xmlns:a16="http://schemas.microsoft.com/office/drawing/2014/main" id="{1CD7138E-77A6-33DA-62AD-A97A7ECC83FD}"/>
              </a:ext>
            </a:extLst>
          </p:cNvPr>
          <p:cNvSpPr>
            <a:spLocks noGrp="1"/>
          </p:cNvSpPr>
          <p:nvPr>
            <p:ph type="dt" sz="half" idx="10"/>
          </p:nvPr>
        </p:nvSpPr>
        <p:spPr/>
        <p:txBody>
          <a:bodyPr/>
          <a:lstStyle/>
          <a:p>
            <a:fld id="{C16EB631-5B1A-4879-85E7-A8D4C94FBFC5}" type="datetimeFigureOut">
              <a:rPr lang="LID4096" smtClean="0"/>
              <a:t>02/24/2026</a:t>
            </a:fld>
            <a:endParaRPr lang="LID4096"/>
          </a:p>
        </p:txBody>
      </p:sp>
      <p:sp>
        <p:nvSpPr>
          <p:cNvPr id="8" name="Footer Placeholder 7">
            <a:extLst>
              <a:ext uri="{FF2B5EF4-FFF2-40B4-BE49-F238E27FC236}">
                <a16:creationId xmlns:a16="http://schemas.microsoft.com/office/drawing/2014/main" id="{94097087-613E-94E4-030D-9C72E53CB68E}"/>
              </a:ext>
            </a:extLst>
          </p:cNvPr>
          <p:cNvSpPr>
            <a:spLocks noGrp="1"/>
          </p:cNvSpPr>
          <p:nvPr>
            <p:ph type="ftr" sz="quarter" idx="11"/>
          </p:nvPr>
        </p:nvSpPr>
        <p:spPr/>
        <p:txBody>
          <a:bodyPr/>
          <a:lstStyle/>
          <a:p>
            <a:endParaRPr lang="LID4096"/>
          </a:p>
        </p:txBody>
      </p:sp>
      <p:sp>
        <p:nvSpPr>
          <p:cNvPr id="9" name="Slide Number Placeholder 8">
            <a:extLst>
              <a:ext uri="{FF2B5EF4-FFF2-40B4-BE49-F238E27FC236}">
                <a16:creationId xmlns:a16="http://schemas.microsoft.com/office/drawing/2014/main" id="{D53AB01B-9183-BED8-5270-E118181DA12B}"/>
              </a:ext>
            </a:extLst>
          </p:cNvPr>
          <p:cNvSpPr>
            <a:spLocks noGrp="1"/>
          </p:cNvSpPr>
          <p:nvPr>
            <p:ph type="sldNum" sz="quarter" idx="12"/>
          </p:nvPr>
        </p:nvSpPr>
        <p:spPr/>
        <p:txBody>
          <a:bodyPr/>
          <a:lstStyle/>
          <a:p>
            <a:fld id="{2C189057-92C1-481C-81FE-C4EA53628E84}" type="slidenum">
              <a:rPr lang="LID4096" smtClean="0"/>
              <a:t>‹#›</a:t>
            </a:fld>
            <a:endParaRPr lang="LID4096"/>
          </a:p>
        </p:txBody>
      </p:sp>
    </p:spTree>
    <p:extLst>
      <p:ext uri="{BB962C8B-B14F-4D97-AF65-F5344CB8AC3E}">
        <p14:creationId xmlns:p14="http://schemas.microsoft.com/office/powerpoint/2010/main" val="244291463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1B0351AC-8666-6A69-B402-81D189976CE4}"/>
              </a:ext>
            </a:extLst>
          </p:cNvPr>
          <p:cNvSpPr/>
          <p:nvPr userDrawn="1"/>
        </p:nvSpPr>
        <p:spPr>
          <a:xfrm>
            <a:off x="0" y="0"/>
            <a:ext cx="12192000" cy="1690688"/>
          </a:xfrm>
          <a:prstGeom prst="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2" name="Title 1">
            <a:extLst>
              <a:ext uri="{FF2B5EF4-FFF2-40B4-BE49-F238E27FC236}">
                <a16:creationId xmlns:a16="http://schemas.microsoft.com/office/drawing/2014/main" id="{57DC8B82-510D-675C-90C7-E85E633B5811}"/>
              </a:ext>
            </a:extLst>
          </p:cNvPr>
          <p:cNvSpPr>
            <a:spLocks noGrp="1"/>
          </p:cNvSpPr>
          <p:nvPr>
            <p:ph type="title"/>
          </p:nvPr>
        </p:nvSpPr>
        <p:spPr/>
        <p:txBody>
          <a:bodyPr/>
          <a:lstStyle/>
          <a:p>
            <a:r>
              <a:rPr lang="en-US"/>
              <a:t>Click to edit Master title style</a:t>
            </a:r>
            <a:endParaRPr lang="LID4096"/>
          </a:p>
        </p:txBody>
      </p:sp>
      <p:sp>
        <p:nvSpPr>
          <p:cNvPr id="3" name="Date Placeholder 2">
            <a:extLst>
              <a:ext uri="{FF2B5EF4-FFF2-40B4-BE49-F238E27FC236}">
                <a16:creationId xmlns:a16="http://schemas.microsoft.com/office/drawing/2014/main" id="{6AFBD4E8-F59F-752C-FE4A-3B1CDA10D2DB}"/>
              </a:ext>
            </a:extLst>
          </p:cNvPr>
          <p:cNvSpPr>
            <a:spLocks noGrp="1"/>
          </p:cNvSpPr>
          <p:nvPr>
            <p:ph type="dt" sz="half" idx="10"/>
          </p:nvPr>
        </p:nvSpPr>
        <p:spPr/>
        <p:txBody>
          <a:bodyPr/>
          <a:lstStyle/>
          <a:p>
            <a:fld id="{C16EB631-5B1A-4879-85E7-A8D4C94FBFC5}" type="datetimeFigureOut">
              <a:rPr lang="LID4096" smtClean="0"/>
              <a:t>02/24/2026</a:t>
            </a:fld>
            <a:endParaRPr lang="LID4096"/>
          </a:p>
        </p:txBody>
      </p:sp>
      <p:sp>
        <p:nvSpPr>
          <p:cNvPr id="4" name="Footer Placeholder 3">
            <a:extLst>
              <a:ext uri="{FF2B5EF4-FFF2-40B4-BE49-F238E27FC236}">
                <a16:creationId xmlns:a16="http://schemas.microsoft.com/office/drawing/2014/main" id="{4574A05F-55BF-5716-B67E-826F7B5ACE20}"/>
              </a:ext>
            </a:extLst>
          </p:cNvPr>
          <p:cNvSpPr>
            <a:spLocks noGrp="1"/>
          </p:cNvSpPr>
          <p:nvPr>
            <p:ph type="ftr" sz="quarter" idx="11"/>
          </p:nvPr>
        </p:nvSpPr>
        <p:spPr/>
        <p:txBody>
          <a:bodyPr/>
          <a:lstStyle/>
          <a:p>
            <a:endParaRPr lang="LID4096"/>
          </a:p>
        </p:txBody>
      </p:sp>
      <p:sp>
        <p:nvSpPr>
          <p:cNvPr id="5" name="Slide Number Placeholder 4">
            <a:extLst>
              <a:ext uri="{FF2B5EF4-FFF2-40B4-BE49-F238E27FC236}">
                <a16:creationId xmlns:a16="http://schemas.microsoft.com/office/drawing/2014/main" id="{818E29FC-9E20-22D5-23DC-B42B2A2F2D7F}"/>
              </a:ext>
            </a:extLst>
          </p:cNvPr>
          <p:cNvSpPr>
            <a:spLocks noGrp="1"/>
          </p:cNvSpPr>
          <p:nvPr>
            <p:ph type="sldNum" sz="quarter" idx="12"/>
          </p:nvPr>
        </p:nvSpPr>
        <p:spPr/>
        <p:txBody>
          <a:bodyPr/>
          <a:lstStyle/>
          <a:p>
            <a:fld id="{2C189057-92C1-481C-81FE-C4EA53628E84}" type="slidenum">
              <a:rPr lang="LID4096" smtClean="0"/>
              <a:t>‹#›</a:t>
            </a:fld>
            <a:endParaRPr lang="LID4096"/>
          </a:p>
        </p:txBody>
      </p:sp>
    </p:spTree>
    <p:extLst>
      <p:ext uri="{BB962C8B-B14F-4D97-AF65-F5344CB8AC3E}">
        <p14:creationId xmlns:p14="http://schemas.microsoft.com/office/powerpoint/2010/main" val="315469346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C28A2B7A-FCD7-89EB-1A96-B7932F9689A4}"/>
              </a:ext>
            </a:extLst>
          </p:cNvPr>
          <p:cNvSpPr>
            <a:spLocks noGrp="1"/>
          </p:cNvSpPr>
          <p:nvPr>
            <p:ph type="dt" sz="half" idx="10"/>
          </p:nvPr>
        </p:nvSpPr>
        <p:spPr/>
        <p:txBody>
          <a:bodyPr/>
          <a:lstStyle/>
          <a:p>
            <a:fld id="{C16EB631-5B1A-4879-85E7-A8D4C94FBFC5}" type="datetimeFigureOut">
              <a:rPr lang="LID4096" smtClean="0"/>
              <a:t>02/24/2026</a:t>
            </a:fld>
            <a:endParaRPr lang="LID4096"/>
          </a:p>
        </p:txBody>
      </p:sp>
      <p:sp>
        <p:nvSpPr>
          <p:cNvPr id="3" name="Footer Placeholder 2">
            <a:extLst>
              <a:ext uri="{FF2B5EF4-FFF2-40B4-BE49-F238E27FC236}">
                <a16:creationId xmlns:a16="http://schemas.microsoft.com/office/drawing/2014/main" id="{FE727F0C-76DF-9396-D50C-E80D75E88C3B}"/>
              </a:ext>
            </a:extLst>
          </p:cNvPr>
          <p:cNvSpPr>
            <a:spLocks noGrp="1"/>
          </p:cNvSpPr>
          <p:nvPr>
            <p:ph type="ftr" sz="quarter" idx="11"/>
          </p:nvPr>
        </p:nvSpPr>
        <p:spPr/>
        <p:txBody>
          <a:bodyPr/>
          <a:lstStyle/>
          <a:p>
            <a:endParaRPr lang="LID4096"/>
          </a:p>
        </p:txBody>
      </p:sp>
      <p:sp>
        <p:nvSpPr>
          <p:cNvPr id="4" name="Slide Number Placeholder 3">
            <a:extLst>
              <a:ext uri="{FF2B5EF4-FFF2-40B4-BE49-F238E27FC236}">
                <a16:creationId xmlns:a16="http://schemas.microsoft.com/office/drawing/2014/main" id="{3F071C10-AF5A-33B6-0088-2D81FA270BCE}"/>
              </a:ext>
            </a:extLst>
          </p:cNvPr>
          <p:cNvSpPr>
            <a:spLocks noGrp="1"/>
          </p:cNvSpPr>
          <p:nvPr>
            <p:ph type="sldNum" sz="quarter" idx="12"/>
          </p:nvPr>
        </p:nvSpPr>
        <p:spPr/>
        <p:txBody>
          <a:bodyPr/>
          <a:lstStyle/>
          <a:p>
            <a:fld id="{2C189057-92C1-481C-81FE-C4EA53628E84}" type="slidenum">
              <a:rPr lang="LID4096" smtClean="0"/>
              <a:t>‹#›</a:t>
            </a:fld>
            <a:endParaRPr lang="LID4096"/>
          </a:p>
        </p:txBody>
      </p:sp>
    </p:spTree>
    <p:extLst>
      <p:ext uri="{BB962C8B-B14F-4D97-AF65-F5344CB8AC3E}">
        <p14:creationId xmlns:p14="http://schemas.microsoft.com/office/powerpoint/2010/main" val="346724647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D27353D-A96C-86D7-3B51-4AEF89B0E558}"/>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LID4096"/>
          </a:p>
        </p:txBody>
      </p:sp>
      <p:sp>
        <p:nvSpPr>
          <p:cNvPr id="3" name="Content Placeholder 2">
            <a:extLst>
              <a:ext uri="{FF2B5EF4-FFF2-40B4-BE49-F238E27FC236}">
                <a16:creationId xmlns:a16="http://schemas.microsoft.com/office/drawing/2014/main" id="{645426A3-8A7E-2232-C68D-B497DB402E11}"/>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LID4096"/>
          </a:p>
        </p:txBody>
      </p:sp>
      <p:sp>
        <p:nvSpPr>
          <p:cNvPr id="4" name="Text Placeholder 3">
            <a:extLst>
              <a:ext uri="{FF2B5EF4-FFF2-40B4-BE49-F238E27FC236}">
                <a16:creationId xmlns:a16="http://schemas.microsoft.com/office/drawing/2014/main" id="{71AEDFD2-8147-E4EA-30DB-B6EE92AFAC20}"/>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9042C160-1681-9853-0D30-D48019EF3B84}"/>
              </a:ext>
            </a:extLst>
          </p:cNvPr>
          <p:cNvSpPr>
            <a:spLocks noGrp="1"/>
          </p:cNvSpPr>
          <p:nvPr>
            <p:ph type="dt" sz="half" idx="10"/>
          </p:nvPr>
        </p:nvSpPr>
        <p:spPr/>
        <p:txBody>
          <a:bodyPr/>
          <a:lstStyle/>
          <a:p>
            <a:fld id="{C16EB631-5B1A-4879-85E7-A8D4C94FBFC5}" type="datetimeFigureOut">
              <a:rPr lang="LID4096" smtClean="0"/>
              <a:t>02/24/2026</a:t>
            </a:fld>
            <a:endParaRPr lang="LID4096"/>
          </a:p>
        </p:txBody>
      </p:sp>
      <p:sp>
        <p:nvSpPr>
          <p:cNvPr id="6" name="Footer Placeholder 5">
            <a:extLst>
              <a:ext uri="{FF2B5EF4-FFF2-40B4-BE49-F238E27FC236}">
                <a16:creationId xmlns:a16="http://schemas.microsoft.com/office/drawing/2014/main" id="{B9DBD775-8CC4-1D89-390B-CBE113AFFC15}"/>
              </a:ext>
            </a:extLst>
          </p:cNvPr>
          <p:cNvSpPr>
            <a:spLocks noGrp="1"/>
          </p:cNvSpPr>
          <p:nvPr>
            <p:ph type="ftr" sz="quarter" idx="11"/>
          </p:nvPr>
        </p:nvSpPr>
        <p:spPr/>
        <p:txBody>
          <a:bodyPr/>
          <a:lstStyle/>
          <a:p>
            <a:endParaRPr lang="LID4096"/>
          </a:p>
        </p:txBody>
      </p:sp>
      <p:sp>
        <p:nvSpPr>
          <p:cNvPr id="7" name="Slide Number Placeholder 6">
            <a:extLst>
              <a:ext uri="{FF2B5EF4-FFF2-40B4-BE49-F238E27FC236}">
                <a16:creationId xmlns:a16="http://schemas.microsoft.com/office/drawing/2014/main" id="{BB556AE1-23BA-5111-5A0E-06335408D01A}"/>
              </a:ext>
            </a:extLst>
          </p:cNvPr>
          <p:cNvSpPr>
            <a:spLocks noGrp="1"/>
          </p:cNvSpPr>
          <p:nvPr>
            <p:ph type="sldNum" sz="quarter" idx="12"/>
          </p:nvPr>
        </p:nvSpPr>
        <p:spPr/>
        <p:txBody>
          <a:bodyPr/>
          <a:lstStyle/>
          <a:p>
            <a:fld id="{2C189057-92C1-481C-81FE-C4EA53628E84}" type="slidenum">
              <a:rPr lang="LID4096" smtClean="0"/>
              <a:t>‹#›</a:t>
            </a:fld>
            <a:endParaRPr lang="LID4096"/>
          </a:p>
        </p:txBody>
      </p:sp>
    </p:spTree>
    <p:extLst>
      <p:ext uri="{BB962C8B-B14F-4D97-AF65-F5344CB8AC3E}">
        <p14:creationId xmlns:p14="http://schemas.microsoft.com/office/powerpoint/2010/main" val="281032548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2DB0FD3-1A53-ADC5-6F25-17D89C1E9B11}"/>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LID4096"/>
          </a:p>
        </p:txBody>
      </p:sp>
      <p:sp>
        <p:nvSpPr>
          <p:cNvPr id="3" name="Picture Placeholder 2">
            <a:extLst>
              <a:ext uri="{FF2B5EF4-FFF2-40B4-BE49-F238E27FC236}">
                <a16:creationId xmlns:a16="http://schemas.microsoft.com/office/drawing/2014/main" id="{AE0D64E3-FFB1-8C2C-B98F-A7A970F3E248}"/>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LID4096"/>
          </a:p>
        </p:txBody>
      </p:sp>
      <p:sp>
        <p:nvSpPr>
          <p:cNvPr id="4" name="Text Placeholder 3">
            <a:extLst>
              <a:ext uri="{FF2B5EF4-FFF2-40B4-BE49-F238E27FC236}">
                <a16:creationId xmlns:a16="http://schemas.microsoft.com/office/drawing/2014/main" id="{91339862-B6A9-674B-99C4-8ABD188F158F}"/>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5EA0084A-CEA6-A23A-8D58-A22A15A2D404}"/>
              </a:ext>
            </a:extLst>
          </p:cNvPr>
          <p:cNvSpPr>
            <a:spLocks noGrp="1"/>
          </p:cNvSpPr>
          <p:nvPr>
            <p:ph type="dt" sz="half" idx="10"/>
          </p:nvPr>
        </p:nvSpPr>
        <p:spPr/>
        <p:txBody>
          <a:bodyPr/>
          <a:lstStyle/>
          <a:p>
            <a:fld id="{C16EB631-5B1A-4879-85E7-A8D4C94FBFC5}" type="datetimeFigureOut">
              <a:rPr lang="LID4096" smtClean="0"/>
              <a:t>02/24/2026</a:t>
            </a:fld>
            <a:endParaRPr lang="LID4096"/>
          </a:p>
        </p:txBody>
      </p:sp>
      <p:sp>
        <p:nvSpPr>
          <p:cNvPr id="6" name="Footer Placeholder 5">
            <a:extLst>
              <a:ext uri="{FF2B5EF4-FFF2-40B4-BE49-F238E27FC236}">
                <a16:creationId xmlns:a16="http://schemas.microsoft.com/office/drawing/2014/main" id="{C3F3325F-BB03-5E1E-8BBA-77021E9FAB7D}"/>
              </a:ext>
            </a:extLst>
          </p:cNvPr>
          <p:cNvSpPr>
            <a:spLocks noGrp="1"/>
          </p:cNvSpPr>
          <p:nvPr>
            <p:ph type="ftr" sz="quarter" idx="11"/>
          </p:nvPr>
        </p:nvSpPr>
        <p:spPr/>
        <p:txBody>
          <a:bodyPr/>
          <a:lstStyle/>
          <a:p>
            <a:endParaRPr lang="LID4096"/>
          </a:p>
        </p:txBody>
      </p:sp>
      <p:sp>
        <p:nvSpPr>
          <p:cNvPr id="7" name="Slide Number Placeholder 6">
            <a:extLst>
              <a:ext uri="{FF2B5EF4-FFF2-40B4-BE49-F238E27FC236}">
                <a16:creationId xmlns:a16="http://schemas.microsoft.com/office/drawing/2014/main" id="{33FE28DD-BD5D-D807-4F41-CEA2BBBEB65B}"/>
              </a:ext>
            </a:extLst>
          </p:cNvPr>
          <p:cNvSpPr>
            <a:spLocks noGrp="1"/>
          </p:cNvSpPr>
          <p:nvPr>
            <p:ph type="sldNum" sz="quarter" idx="12"/>
          </p:nvPr>
        </p:nvSpPr>
        <p:spPr/>
        <p:txBody>
          <a:bodyPr/>
          <a:lstStyle/>
          <a:p>
            <a:fld id="{2C189057-92C1-481C-81FE-C4EA53628E84}" type="slidenum">
              <a:rPr lang="LID4096" smtClean="0"/>
              <a:t>‹#›</a:t>
            </a:fld>
            <a:endParaRPr lang="LID4096"/>
          </a:p>
        </p:txBody>
      </p:sp>
    </p:spTree>
    <p:extLst>
      <p:ext uri="{BB962C8B-B14F-4D97-AF65-F5344CB8AC3E}">
        <p14:creationId xmlns:p14="http://schemas.microsoft.com/office/powerpoint/2010/main" val="278236765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DC1E742-C2AD-6643-CED1-AFDDE4FC6022}"/>
              </a:ext>
            </a:extLst>
          </p:cNvPr>
          <p:cNvSpPr>
            <a:spLocks noGrp="1"/>
          </p:cNvSpPr>
          <p:nvPr>
            <p:ph type="title"/>
          </p:nvPr>
        </p:nvSpPr>
        <p:spPr/>
        <p:txBody>
          <a:bodyPr/>
          <a:lstStyle/>
          <a:p>
            <a:r>
              <a:rPr lang="en-US"/>
              <a:t>Click to edit Master title style</a:t>
            </a:r>
            <a:endParaRPr lang="LID4096"/>
          </a:p>
        </p:txBody>
      </p:sp>
      <p:sp>
        <p:nvSpPr>
          <p:cNvPr id="3" name="Vertical Text Placeholder 2">
            <a:extLst>
              <a:ext uri="{FF2B5EF4-FFF2-40B4-BE49-F238E27FC236}">
                <a16:creationId xmlns:a16="http://schemas.microsoft.com/office/drawing/2014/main" id="{1CEC0158-1729-4A7E-7B94-781E3123752D}"/>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LID4096"/>
          </a:p>
        </p:txBody>
      </p:sp>
      <p:sp>
        <p:nvSpPr>
          <p:cNvPr id="4" name="Date Placeholder 3">
            <a:extLst>
              <a:ext uri="{FF2B5EF4-FFF2-40B4-BE49-F238E27FC236}">
                <a16:creationId xmlns:a16="http://schemas.microsoft.com/office/drawing/2014/main" id="{12ED27F6-811A-D0A0-06B1-41B03656D885}"/>
              </a:ext>
            </a:extLst>
          </p:cNvPr>
          <p:cNvSpPr>
            <a:spLocks noGrp="1"/>
          </p:cNvSpPr>
          <p:nvPr>
            <p:ph type="dt" sz="half" idx="10"/>
          </p:nvPr>
        </p:nvSpPr>
        <p:spPr/>
        <p:txBody>
          <a:bodyPr/>
          <a:lstStyle/>
          <a:p>
            <a:fld id="{C16EB631-5B1A-4879-85E7-A8D4C94FBFC5}" type="datetimeFigureOut">
              <a:rPr lang="LID4096" smtClean="0"/>
              <a:t>02/24/2026</a:t>
            </a:fld>
            <a:endParaRPr lang="LID4096"/>
          </a:p>
        </p:txBody>
      </p:sp>
      <p:sp>
        <p:nvSpPr>
          <p:cNvPr id="5" name="Footer Placeholder 4">
            <a:extLst>
              <a:ext uri="{FF2B5EF4-FFF2-40B4-BE49-F238E27FC236}">
                <a16:creationId xmlns:a16="http://schemas.microsoft.com/office/drawing/2014/main" id="{DAD2C692-F6C8-CB76-B789-5004D9605FF4}"/>
              </a:ext>
            </a:extLst>
          </p:cNvPr>
          <p:cNvSpPr>
            <a:spLocks noGrp="1"/>
          </p:cNvSpPr>
          <p:nvPr>
            <p:ph type="ftr" sz="quarter" idx="11"/>
          </p:nvPr>
        </p:nvSpPr>
        <p:spPr/>
        <p:txBody>
          <a:bodyPr/>
          <a:lstStyle/>
          <a:p>
            <a:endParaRPr lang="LID4096"/>
          </a:p>
        </p:txBody>
      </p:sp>
      <p:sp>
        <p:nvSpPr>
          <p:cNvPr id="6" name="Slide Number Placeholder 5">
            <a:extLst>
              <a:ext uri="{FF2B5EF4-FFF2-40B4-BE49-F238E27FC236}">
                <a16:creationId xmlns:a16="http://schemas.microsoft.com/office/drawing/2014/main" id="{7AAF7830-571D-5B23-D628-16DCF365B59A}"/>
              </a:ext>
            </a:extLst>
          </p:cNvPr>
          <p:cNvSpPr>
            <a:spLocks noGrp="1"/>
          </p:cNvSpPr>
          <p:nvPr>
            <p:ph type="sldNum" sz="quarter" idx="12"/>
          </p:nvPr>
        </p:nvSpPr>
        <p:spPr/>
        <p:txBody>
          <a:bodyPr/>
          <a:lstStyle/>
          <a:p>
            <a:fld id="{2C189057-92C1-481C-81FE-C4EA53628E84}" type="slidenum">
              <a:rPr lang="LID4096" smtClean="0"/>
              <a:t>‹#›</a:t>
            </a:fld>
            <a:endParaRPr lang="LID4096"/>
          </a:p>
        </p:txBody>
      </p:sp>
    </p:spTree>
    <p:extLst>
      <p:ext uri="{BB962C8B-B14F-4D97-AF65-F5344CB8AC3E}">
        <p14:creationId xmlns:p14="http://schemas.microsoft.com/office/powerpoint/2010/main" val="271151017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8BFC0549-8A95-0497-7701-706A861F1979}"/>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LID4096"/>
          </a:p>
        </p:txBody>
      </p:sp>
      <p:sp>
        <p:nvSpPr>
          <p:cNvPr id="3" name="Vertical Text Placeholder 2">
            <a:extLst>
              <a:ext uri="{FF2B5EF4-FFF2-40B4-BE49-F238E27FC236}">
                <a16:creationId xmlns:a16="http://schemas.microsoft.com/office/drawing/2014/main" id="{2EEEBB1F-4FAC-A79D-8CEF-065067FC03E3}"/>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LID4096"/>
          </a:p>
        </p:txBody>
      </p:sp>
      <p:sp>
        <p:nvSpPr>
          <p:cNvPr id="4" name="Date Placeholder 3">
            <a:extLst>
              <a:ext uri="{FF2B5EF4-FFF2-40B4-BE49-F238E27FC236}">
                <a16:creationId xmlns:a16="http://schemas.microsoft.com/office/drawing/2014/main" id="{3843EFF8-EAC7-D303-AE5E-3FC052A5973E}"/>
              </a:ext>
            </a:extLst>
          </p:cNvPr>
          <p:cNvSpPr>
            <a:spLocks noGrp="1"/>
          </p:cNvSpPr>
          <p:nvPr>
            <p:ph type="dt" sz="half" idx="10"/>
          </p:nvPr>
        </p:nvSpPr>
        <p:spPr/>
        <p:txBody>
          <a:bodyPr/>
          <a:lstStyle/>
          <a:p>
            <a:fld id="{C16EB631-5B1A-4879-85E7-A8D4C94FBFC5}" type="datetimeFigureOut">
              <a:rPr lang="LID4096" smtClean="0"/>
              <a:t>02/24/2026</a:t>
            </a:fld>
            <a:endParaRPr lang="LID4096"/>
          </a:p>
        </p:txBody>
      </p:sp>
      <p:sp>
        <p:nvSpPr>
          <p:cNvPr id="5" name="Footer Placeholder 4">
            <a:extLst>
              <a:ext uri="{FF2B5EF4-FFF2-40B4-BE49-F238E27FC236}">
                <a16:creationId xmlns:a16="http://schemas.microsoft.com/office/drawing/2014/main" id="{C2840B46-B5A1-A5C4-7709-AF9C579E63CE}"/>
              </a:ext>
            </a:extLst>
          </p:cNvPr>
          <p:cNvSpPr>
            <a:spLocks noGrp="1"/>
          </p:cNvSpPr>
          <p:nvPr>
            <p:ph type="ftr" sz="quarter" idx="11"/>
          </p:nvPr>
        </p:nvSpPr>
        <p:spPr/>
        <p:txBody>
          <a:bodyPr/>
          <a:lstStyle/>
          <a:p>
            <a:endParaRPr lang="LID4096"/>
          </a:p>
        </p:txBody>
      </p:sp>
      <p:sp>
        <p:nvSpPr>
          <p:cNvPr id="6" name="Slide Number Placeholder 5">
            <a:extLst>
              <a:ext uri="{FF2B5EF4-FFF2-40B4-BE49-F238E27FC236}">
                <a16:creationId xmlns:a16="http://schemas.microsoft.com/office/drawing/2014/main" id="{A808CE26-1654-5732-2FCC-D9586B0F14DC}"/>
              </a:ext>
            </a:extLst>
          </p:cNvPr>
          <p:cNvSpPr>
            <a:spLocks noGrp="1"/>
          </p:cNvSpPr>
          <p:nvPr>
            <p:ph type="sldNum" sz="quarter" idx="12"/>
          </p:nvPr>
        </p:nvSpPr>
        <p:spPr/>
        <p:txBody>
          <a:bodyPr/>
          <a:lstStyle/>
          <a:p>
            <a:fld id="{2C189057-92C1-481C-81FE-C4EA53628E84}" type="slidenum">
              <a:rPr lang="LID4096" smtClean="0"/>
              <a:t>‹#›</a:t>
            </a:fld>
            <a:endParaRPr lang="LID4096"/>
          </a:p>
        </p:txBody>
      </p:sp>
    </p:spTree>
    <p:extLst>
      <p:ext uri="{BB962C8B-B14F-4D97-AF65-F5344CB8AC3E}">
        <p14:creationId xmlns:p14="http://schemas.microsoft.com/office/powerpoint/2010/main" val="3767791321"/>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Custom Layout">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FF3BB9D5-722B-FDAA-6867-63BCE26A0024}"/>
              </a:ext>
            </a:extLst>
          </p:cNvPr>
          <p:cNvSpPr txBox="1"/>
          <p:nvPr userDrawn="1"/>
        </p:nvSpPr>
        <p:spPr>
          <a:xfrm>
            <a:off x="4705350" y="-139700"/>
            <a:ext cx="2508250" cy="4489450"/>
          </a:xfrm>
          <a:prstGeom prst="rect">
            <a:avLst/>
          </a:prstGeom>
          <a:noFill/>
          <a:effectLst>
            <a:reflection blurRad="6350" stA="50000" endA="300" endPos="90000" dir="5400000" sy="-100000" algn="bl" rotWithShape="0"/>
          </a:effectLst>
        </p:spPr>
        <p:txBody>
          <a:bodyPr wrap="square" lIns="0" tIns="0" rIns="0" bIns="0" rtlCol="0">
            <a:noAutofit/>
          </a:bodyPr>
          <a:lstStyle/>
          <a:p>
            <a:r>
              <a:rPr lang="sv-SE" sz="38000" b="1"/>
              <a:t>?</a:t>
            </a:r>
            <a:endParaRPr lang="LID4096" sz="38000" b="1"/>
          </a:p>
        </p:txBody>
      </p:sp>
    </p:spTree>
    <p:extLst>
      <p:ext uri="{BB962C8B-B14F-4D97-AF65-F5344CB8AC3E}">
        <p14:creationId xmlns:p14="http://schemas.microsoft.com/office/powerpoint/2010/main" val="797509776"/>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userDrawn="1">
  <p:cSld name="Section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6B1C8C8-25EF-88DC-16E7-E04ABB8AD831}"/>
              </a:ext>
            </a:extLst>
          </p:cNvPr>
          <p:cNvSpPr>
            <a:spLocks noGrp="1"/>
          </p:cNvSpPr>
          <p:nvPr>
            <p:ph type="ctrTitle"/>
          </p:nvPr>
        </p:nvSpPr>
        <p:spPr>
          <a:xfrm>
            <a:off x="3886200" y="0"/>
            <a:ext cx="7741920" cy="773430"/>
          </a:xfrm>
          <a:prstGeom prst="rect">
            <a:avLst/>
          </a:prstGeom>
        </p:spPr>
        <p:txBody>
          <a:bodyPr anchor="ctr"/>
          <a:lstStyle>
            <a:lvl1pPr algn="r">
              <a:defRPr sz="3000">
                <a:solidFill>
                  <a:schemeClr val="bg1"/>
                </a:solidFill>
                <a:latin typeface="+mn-lt"/>
              </a:defRPr>
            </a:lvl1pPr>
          </a:lstStyle>
          <a:p>
            <a:r>
              <a:rPr lang="en-US"/>
              <a:t>Click to edit Master title style</a:t>
            </a:r>
            <a:endParaRPr lang="LID4096"/>
          </a:p>
        </p:txBody>
      </p:sp>
      <p:sp>
        <p:nvSpPr>
          <p:cNvPr id="4" name="Date Placeholder 3">
            <a:extLst>
              <a:ext uri="{FF2B5EF4-FFF2-40B4-BE49-F238E27FC236}">
                <a16:creationId xmlns:a16="http://schemas.microsoft.com/office/drawing/2014/main" id="{9156048A-1475-BECA-0D5C-B57BA73CE82C}"/>
              </a:ext>
            </a:extLst>
          </p:cNvPr>
          <p:cNvSpPr>
            <a:spLocks noGrp="1"/>
          </p:cNvSpPr>
          <p:nvPr>
            <p:ph type="dt" sz="half" idx="10"/>
          </p:nvPr>
        </p:nvSpPr>
        <p:spPr/>
        <p:txBody>
          <a:bodyPr/>
          <a:lstStyle/>
          <a:p>
            <a:fld id="{10ECE148-BD56-4755-B580-741EAF415DA4}" type="datetime1">
              <a:rPr lang="LID4096" smtClean="0"/>
              <a:t>02/24/2026</a:t>
            </a:fld>
            <a:endParaRPr lang="LID4096"/>
          </a:p>
        </p:txBody>
      </p:sp>
      <p:sp>
        <p:nvSpPr>
          <p:cNvPr id="5" name="Footer Placeholder 4">
            <a:extLst>
              <a:ext uri="{FF2B5EF4-FFF2-40B4-BE49-F238E27FC236}">
                <a16:creationId xmlns:a16="http://schemas.microsoft.com/office/drawing/2014/main" id="{2BE596A6-8AEA-8E00-82FA-0D02CDAEE9B4}"/>
              </a:ext>
            </a:extLst>
          </p:cNvPr>
          <p:cNvSpPr>
            <a:spLocks noGrp="1"/>
          </p:cNvSpPr>
          <p:nvPr>
            <p:ph type="ftr" sz="quarter" idx="11"/>
          </p:nvPr>
        </p:nvSpPr>
        <p:spPr/>
        <p:txBody>
          <a:bodyPr/>
          <a:lstStyle/>
          <a:p>
            <a:r>
              <a:rPr lang="en-GB"/>
              <a:t>Maskinorienterad Programmering</a:t>
            </a:r>
            <a:endParaRPr lang="LID4096"/>
          </a:p>
        </p:txBody>
      </p:sp>
      <p:sp>
        <p:nvSpPr>
          <p:cNvPr id="6" name="Slide Number Placeholder 5">
            <a:extLst>
              <a:ext uri="{FF2B5EF4-FFF2-40B4-BE49-F238E27FC236}">
                <a16:creationId xmlns:a16="http://schemas.microsoft.com/office/drawing/2014/main" id="{0251CFA3-5459-CB23-2E6A-37FD40749348}"/>
              </a:ext>
            </a:extLst>
          </p:cNvPr>
          <p:cNvSpPr>
            <a:spLocks noGrp="1"/>
          </p:cNvSpPr>
          <p:nvPr>
            <p:ph type="sldNum" sz="quarter" idx="12"/>
          </p:nvPr>
        </p:nvSpPr>
        <p:spPr/>
        <p:txBody>
          <a:bodyPr/>
          <a:lstStyle/>
          <a:p>
            <a:fld id="{E46909CE-3A1D-43F5-8F4E-45D6477AD820}" type="slidenum">
              <a:rPr lang="LID4096" smtClean="0"/>
              <a:t>‹#›</a:t>
            </a:fld>
            <a:endParaRPr lang="LID4096"/>
          </a:p>
        </p:txBody>
      </p:sp>
      <p:sp>
        <p:nvSpPr>
          <p:cNvPr id="8" name="Text Placeholder 7">
            <a:extLst>
              <a:ext uri="{FF2B5EF4-FFF2-40B4-BE49-F238E27FC236}">
                <a16:creationId xmlns:a16="http://schemas.microsoft.com/office/drawing/2014/main" id="{B2D43F1B-5C31-8357-7C5B-028155F6D017}"/>
              </a:ext>
            </a:extLst>
          </p:cNvPr>
          <p:cNvSpPr>
            <a:spLocks noGrp="1"/>
          </p:cNvSpPr>
          <p:nvPr>
            <p:ph type="body" sz="quarter" idx="13"/>
          </p:nvPr>
        </p:nvSpPr>
        <p:spPr>
          <a:xfrm>
            <a:off x="801688" y="1333500"/>
            <a:ext cx="10552112" cy="4702175"/>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LID4096"/>
          </a:p>
        </p:txBody>
      </p:sp>
    </p:spTree>
    <p:extLst>
      <p:ext uri="{BB962C8B-B14F-4D97-AF65-F5344CB8AC3E}">
        <p14:creationId xmlns:p14="http://schemas.microsoft.com/office/powerpoint/2010/main" val="4157834887"/>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userDrawn="1">
  <p:cSld name="1_Section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6B1C8C8-25EF-88DC-16E7-E04ABB8AD831}"/>
              </a:ext>
            </a:extLst>
          </p:cNvPr>
          <p:cNvSpPr>
            <a:spLocks noGrp="1"/>
          </p:cNvSpPr>
          <p:nvPr>
            <p:ph type="ctrTitle"/>
          </p:nvPr>
        </p:nvSpPr>
        <p:spPr>
          <a:xfrm>
            <a:off x="3886200" y="0"/>
            <a:ext cx="7741920" cy="773430"/>
          </a:xfrm>
          <a:prstGeom prst="rect">
            <a:avLst/>
          </a:prstGeom>
        </p:spPr>
        <p:txBody>
          <a:bodyPr anchor="ctr"/>
          <a:lstStyle>
            <a:lvl1pPr algn="r">
              <a:defRPr sz="3000">
                <a:solidFill>
                  <a:schemeClr val="bg1"/>
                </a:solidFill>
                <a:latin typeface="+mn-lt"/>
              </a:defRPr>
            </a:lvl1pPr>
          </a:lstStyle>
          <a:p>
            <a:r>
              <a:rPr lang="en-US"/>
              <a:t>Click to edit Master title style</a:t>
            </a:r>
            <a:endParaRPr lang="LID4096"/>
          </a:p>
        </p:txBody>
      </p:sp>
      <p:sp>
        <p:nvSpPr>
          <p:cNvPr id="4" name="Date Placeholder 3">
            <a:extLst>
              <a:ext uri="{FF2B5EF4-FFF2-40B4-BE49-F238E27FC236}">
                <a16:creationId xmlns:a16="http://schemas.microsoft.com/office/drawing/2014/main" id="{9156048A-1475-BECA-0D5C-B57BA73CE82C}"/>
              </a:ext>
            </a:extLst>
          </p:cNvPr>
          <p:cNvSpPr>
            <a:spLocks noGrp="1"/>
          </p:cNvSpPr>
          <p:nvPr>
            <p:ph type="dt" sz="half" idx="10"/>
          </p:nvPr>
        </p:nvSpPr>
        <p:spPr/>
        <p:txBody>
          <a:bodyPr/>
          <a:lstStyle/>
          <a:p>
            <a:fld id="{10ECE148-BD56-4755-B580-741EAF415DA4}" type="datetime1">
              <a:rPr lang="LID4096" smtClean="0"/>
              <a:t>02/24/2026</a:t>
            </a:fld>
            <a:endParaRPr lang="LID4096"/>
          </a:p>
        </p:txBody>
      </p:sp>
      <p:sp>
        <p:nvSpPr>
          <p:cNvPr id="5" name="Footer Placeholder 4">
            <a:extLst>
              <a:ext uri="{FF2B5EF4-FFF2-40B4-BE49-F238E27FC236}">
                <a16:creationId xmlns:a16="http://schemas.microsoft.com/office/drawing/2014/main" id="{2BE596A6-8AEA-8E00-82FA-0D02CDAEE9B4}"/>
              </a:ext>
            </a:extLst>
          </p:cNvPr>
          <p:cNvSpPr>
            <a:spLocks noGrp="1"/>
          </p:cNvSpPr>
          <p:nvPr>
            <p:ph type="ftr" sz="quarter" idx="11"/>
          </p:nvPr>
        </p:nvSpPr>
        <p:spPr/>
        <p:txBody>
          <a:bodyPr/>
          <a:lstStyle/>
          <a:p>
            <a:r>
              <a:rPr lang="en-GB"/>
              <a:t>Maskinorienterad Programmering</a:t>
            </a:r>
            <a:endParaRPr lang="LID4096"/>
          </a:p>
        </p:txBody>
      </p:sp>
      <p:sp>
        <p:nvSpPr>
          <p:cNvPr id="6" name="Slide Number Placeholder 5">
            <a:extLst>
              <a:ext uri="{FF2B5EF4-FFF2-40B4-BE49-F238E27FC236}">
                <a16:creationId xmlns:a16="http://schemas.microsoft.com/office/drawing/2014/main" id="{0251CFA3-5459-CB23-2E6A-37FD40749348}"/>
              </a:ext>
            </a:extLst>
          </p:cNvPr>
          <p:cNvSpPr>
            <a:spLocks noGrp="1"/>
          </p:cNvSpPr>
          <p:nvPr>
            <p:ph type="sldNum" sz="quarter" idx="12"/>
          </p:nvPr>
        </p:nvSpPr>
        <p:spPr/>
        <p:txBody>
          <a:bodyPr/>
          <a:lstStyle/>
          <a:p>
            <a:fld id="{E46909CE-3A1D-43F5-8F4E-45D6477AD820}" type="slidenum">
              <a:rPr lang="LID4096" smtClean="0"/>
              <a:t>‹#›</a:t>
            </a:fld>
            <a:endParaRPr lang="LID4096"/>
          </a:p>
        </p:txBody>
      </p:sp>
    </p:spTree>
    <p:extLst>
      <p:ext uri="{BB962C8B-B14F-4D97-AF65-F5344CB8AC3E}">
        <p14:creationId xmlns:p14="http://schemas.microsoft.com/office/powerpoint/2010/main" val="113452352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6" Type="http://schemas.openxmlformats.org/officeDocument/2006/relationships/theme" Target="../theme/theme1.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7492C8A0-0DE0-C4FC-A8FB-D00A440D094E}"/>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LID4096"/>
          </a:p>
        </p:txBody>
      </p:sp>
      <p:sp>
        <p:nvSpPr>
          <p:cNvPr id="3" name="Text Placeholder 2">
            <a:extLst>
              <a:ext uri="{FF2B5EF4-FFF2-40B4-BE49-F238E27FC236}">
                <a16:creationId xmlns:a16="http://schemas.microsoft.com/office/drawing/2014/main" id="{504CF994-83D9-1216-3BA3-76E9A3D4D6B9}"/>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LID4096"/>
          </a:p>
        </p:txBody>
      </p:sp>
      <p:sp>
        <p:nvSpPr>
          <p:cNvPr id="4" name="Date Placeholder 3">
            <a:extLst>
              <a:ext uri="{FF2B5EF4-FFF2-40B4-BE49-F238E27FC236}">
                <a16:creationId xmlns:a16="http://schemas.microsoft.com/office/drawing/2014/main" id="{5CB6BF0C-3972-8E81-14A3-E51F000884D8}"/>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C16EB631-5B1A-4879-85E7-A8D4C94FBFC5}" type="datetimeFigureOut">
              <a:rPr lang="LID4096" smtClean="0"/>
              <a:t>02/24/2026</a:t>
            </a:fld>
            <a:endParaRPr lang="LID4096"/>
          </a:p>
        </p:txBody>
      </p:sp>
      <p:sp>
        <p:nvSpPr>
          <p:cNvPr id="5" name="Footer Placeholder 4">
            <a:extLst>
              <a:ext uri="{FF2B5EF4-FFF2-40B4-BE49-F238E27FC236}">
                <a16:creationId xmlns:a16="http://schemas.microsoft.com/office/drawing/2014/main" id="{5C46C7A3-C949-61E8-A947-BF7E59CD910B}"/>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LID4096"/>
          </a:p>
        </p:txBody>
      </p:sp>
      <p:sp>
        <p:nvSpPr>
          <p:cNvPr id="6" name="Slide Number Placeholder 5">
            <a:extLst>
              <a:ext uri="{FF2B5EF4-FFF2-40B4-BE49-F238E27FC236}">
                <a16:creationId xmlns:a16="http://schemas.microsoft.com/office/drawing/2014/main" id="{B4661E2F-B9DE-A2C3-9386-5BE1861F0985}"/>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2C189057-92C1-481C-81FE-C4EA53628E84}" type="slidenum">
              <a:rPr lang="LID4096" smtClean="0"/>
              <a:t>‹#›</a:t>
            </a:fld>
            <a:endParaRPr lang="LID4096"/>
          </a:p>
        </p:txBody>
      </p:sp>
    </p:spTree>
    <p:extLst>
      <p:ext uri="{BB962C8B-B14F-4D97-AF65-F5344CB8AC3E}">
        <p14:creationId xmlns:p14="http://schemas.microsoft.com/office/powerpoint/2010/main" val="220542906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61"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2" r:id="rId14"/>
    <p:sldLayoutId id="2147483663" r:id="rId15"/>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LID4096"/>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2.xml"/><Relationship Id="rId4" Type="http://schemas.openxmlformats.org/officeDocument/2006/relationships/image" Target="../media/image2.png"/></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4.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image" Target="../media/image9.png"/><Relationship Id="rId5" Type="http://schemas.openxmlformats.org/officeDocument/2006/relationships/image" Target="../media/image8.png"/><Relationship Id="rId4" Type="http://schemas.openxmlformats.org/officeDocument/2006/relationships/image" Target="../media/image7.png"/></Relationships>
</file>

<file path=ppt/slides/_rels/slide8.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6.xml"/><Relationship Id="rId1" Type="http://schemas.openxmlformats.org/officeDocument/2006/relationships/slideLayout" Target="../slideLayouts/slideLayout2.xml"/><Relationship Id="rId4" Type="http://schemas.openxmlformats.org/officeDocument/2006/relationships/image" Target="../media/image1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1.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7.xml"/><Relationship Id="rId1" Type="http://schemas.openxmlformats.org/officeDocument/2006/relationships/slideLayout" Target="../slideLayouts/slideLayout2.xml"/><Relationship Id="rId4" Type="http://schemas.openxmlformats.org/officeDocument/2006/relationships/image" Target="../media/image14.png"/></Relationships>
</file>

<file path=ppt/slides/_rels/slide12.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8.xml"/><Relationship Id="rId1" Type="http://schemas.openxmlformats.org/officeDocument/2006/relationships/slideLayout" Target="../slideLayouts/slideLayout2.xml"/><Relationship Id="rId5" Type="http://schemas.openxmlformats.org/officeDocument/2006/relationships/image" Target="../media/image15.png"/><Relationship Id="rId4" Type="http://schemas.openxmlformats.org/officeDocument/2006/relationships/image" Target="../media/image14.png"/></Relationships>
</file>

<file path=ppt/slides/_rels/slide13.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9.xml"/><Relationship Id="rId1" Type="http://schemas.openxmlformats.org/officeDocument/2006/relationships/slideLayout" Target="../slideLayouts/slideLayout2.xml"/><Relationship Id="rId6" Type="http://schemas.openxmlformats.org/officeDocument/2006/relationships/image" Target="../media/image17.png"/><Relationship Id="rId5" Type="http://schemas.openxmlformats.org/officeDocument/2006/relationships/image" Target="../media/image8.png"/><Relationship Id="rId4" Type="http://schemas.openxmlformats.org/officeDocument/2006/relationships/image" Target="../media/image7.png"/></Relationships>
</file>

<file path=ppt/slides/_rels/slide14.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6.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20.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9.png"/><Relationship Id="rId1" Type="http://schemas.openxmlformats.org/officeDocument/2006/relationships/slideLayout" Target="../slideLayouts/slideLayout2.xml"/><Relationship Id="rId4" Type="http://schemas.microsoft.com/office/2007/relationships/hdphoto" Target="../media/hdphoto1.wdp"/></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13.xml"/><Relationship Id="rId1" Type="http://schemas.openxmlformats.org/officeDocument/2006/relationships/slideLayout" Target="../slideLayouts/slideLayout2.xml"/><Relationship Id="rId4" Type="http://schemas.openxmlformats.org/officeDocument/2006/relationships/image" Target="../media/image22.png"/></Relationships>
</file>

<file path=ppt/slides/_rels/slide23.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25.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4452DF-D5C9-52BE-066B-17C7A4BFAA6E}"/>
              </a:ext>
            </a:extLst>
          </p:cNvPr>
          <p:cNvSpPr>
            <a:spLocks noGrp="1"/>
          </p:cNvSpPr>
          <p:nvPr>
            <p:ph type="ctrTitle"/>
          </p:nvPr>
        </p:nvSpPr>
        <p:spPr/>
        <p:txBody>
          <a:bodyPr/>
          <a:lstStyle/>
          <a:p>
            <a:r>
              <a:rPr lang="sv-SE"/>
              <a:t>Lektion 9</a:t>
            </a:r>
            <a:endParaRPr lang="LID4096"/>
          </a:p>
        </p:txBody>
      </p:sp>
      <p:sp>
        <p:nvSpPr>
          <p:cNvPr id="3" name="Subtitle 2">
            <a:extLst>
              <a:ext uri="{FF2B5EF4-FFF2-40B4-BE49-F238E27FC236}">
                <a16:creationId xmlns:a16="http://schemas.microsoft.com/office/drawing/2014/main" id="{BA50E2CB-296B-2D3A-2C5D-AF9D01690A6E}"/>
              </a:ext>
            </a:extLst>
          </p:cNvPr>
          <p:cNvSpPr>
            <a:spLocks noGrp="1"/>
          </p:cNvSpPr>
          <p:nvPr>
            <p:ph type="subTitle" idx="1"/>
          </p:nvPr>
        </p:nvSpPr>
        <p:spPr/>
        <p:txBody>
          <a:bodyPr/>
          <a:lstStyle/>
          <a:p>
            <a:r>
              <a:rPr lang="sv-SE"/>
              <a:t>External Interrupts</a:t>
            </a:r>
          </a:p>
        </p:txBody>
      </p:sp>
    </p:spTree>
    <p:extLst>
      <p:ext uri="{BB962C8B-B14F-4D97-AF65-F5344CB8AC3E}">
        <p14:creationId xmlns:p14="http://schemas.microsoft.com/office/powerpoint/2010/main" val="317436535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17AB3F5-78EF-EAD9-EE87-2B7C973C06CA}"/>
              </a:ext>
            </a:extLst>
          </p:cNvPr>
          <p:cNvSpPr>
            <a:spLocks noGrp="1"/>
          </p:cNvSpPr>
          <p:nvPr>
            <p:ph type="title"/>
          </p:nvPr>
        </p:nvSpPr>
        <p:spPr/>
        <p:txBody>
          <a:bodyPr/>
          <a:lstStyle/>
          <a:p>
            <a:r>
              <a:rPr lang="en-GB"/>
              <a:t>Recap: PFIC</a:t>
            </a:r>
            <a:endParaRPr lang="LID4096"/>
          </a:p>
        </p:txBody>
      </p:sp>
      <p:pic>
        <p:nvPicPr>
          <p:cNvPr id="5" name="Picture 4">
            <a:extLst>
              <a:ext uri="{FF2B5EF4-FFF2-40B4-BE49-F238E27FC236}">
                <a16:creationId xmlns:a16="http://schemas.microsoft.com/office/drawing/2014/main" id="{7B5F34D8-DC02-7938-6265-639246E28FAF}"/>
              </a:ext>
            </a:extLst>
          </p:cNvPr>
          <p:cNvPicPr>
            <a:picLocks noChangeAspect="1"/>
          </p:cNvPicPr>
          <p:nvPr/>
        </p:nvPicPr>
        <p:blipFill>
          <a:blip r:embed="rId3"/>
          <a:stretch>
            <a:fillRect/>
          </a:stretch>
        </p:blipFill>
        <p:spPr>
          <a:xfrm>
            <a:off x="449980" y="2357572"/>
            <a:ext cx="11256899" cy="3488336"/>
          </a:xfrm>
          <a:prstGeom prst="rect">
            <a:avLst/>
          </a:prstGeom>
        </p:spPr>
      </p:pic>
      <p:grpSp>
        <p:nvGrpSpPr>
          <p:cNvPr id="9" name="Group 8">
            <a:extLst>
              <a:ext uri="{FF2B5EF4-FFF2-40B4-BE49-F238E27FC236}">
                <a16:creationId xmlns:a16="http://schemas.microsoft.com/office/drawing/2014/main" id="{90E9A9E0-4B49-F287-B61D-B2FBDB2DCF03}"/>
              </a:ext>
            </a:extLst>
          </p:cNvPr>
          <p:cNvGrpSpPr/>
          <p:nvPr/>
        </p:nvGrpSpPr>
        <p:grpSpPr>
          <a:xfrm>
            <a:off x="6888801" y="0"/>
            <a:ext cx="5303199" cy="6858000"/>
            <a:chOff x="6888801" y="0"/>
            <a:chExt cx="5303199" cy="6858000"/>
          </a:xfrm>
        </p:grpSpPr>
        <p:pic>
          <p:nvPicPr>
            <p:cNvPr id="7" name="Picture 6">
              <a:extLst>
                <a:ext uri="{FF2B5EF4-FFF2-40B4-BE49-F238E27FC236}">
                  <a16:creationId xmlns:a16="http://schemas.microsoft.com/office/drawing/2014/main" id="{EBB209E1-B318-E95C-8E19-350F8BB3FC79}"/>
                </a:ext>
              </a:extLst>
            </p:cNvPr>
            <p:cNvPicPr>
              <a:picLocks noChangeAspect="1"/>
            </p:cNvPicPr>
            <p:nvPr/>
          </p:nvPicPr>
          <p:blipFill>
            <a:blip r:embed="rId4"/>
            <a:stretch>
              <a:fillRect/>
            </a:stretch>
          </p:blipFill>
          <p:spPr>
            <a:xfrm>
              <a:off x="6888801" y="0"/>
              <a:ext cx="5303199" cy="6858000"/>
            </a:xfrm>
            <a:prstGeom prst="rect">
              <a:avLst/>
            </a:prstGeom>
            <a:ln>
              <a:solidFill>
                <a:schemeClr val="tx1"/>
              </a:solidFill>
            </a:ln>
          </p:spPr>
        </p:pic>
        <p:sp>
          <p:nvSpPr>
            <p:cNvPr id="8" name="Rectangle: Rounded Corners 7">
              <a:extLst>
                <a:ext uri="{FF2B5EF4-FFF2-40B4-BE49-F238E27FC236}">
                  <a16:creationId xmlns:a16="http://schemas.microsoft.com/office/drawing/2014/main" id="{D7BE72CE-CAAC-1FC4-1968-1C5CE330DA2E}"/>
                </a:ext>
              </a:extLst>
            </p:cNvPr>
            <p:cNvSpPr/>
            <p:nvPr/>
          </p:nvSpPr>
          <p:spPr>
            <a:xfrm>
              <a:off x="6954819" y="3313355"/>
              <a:ext cx="5158292" cy="941294"/>
            </a:xfrm>
            <a:prstGeom prst="roundRect">
              <a:avLst>
                <a:gd name="adj" fmla="val 8667"/>
              </a:avLst>
            </a:prstGeom>
            <a:noFill/>
            <a:ln w="38100">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grpSp>
    </p:spTree>
    <p:extLst>
      <p:ext uri="{BB962C8B-B14F-4D97-AF65-F5344CB8AC3E}">
        <p14:creationId xmlns:p14="http://schemas.microsoft.com/office/powerpoint/2010/main" val="22361854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D993647-B573-B62A-0E96-00E704ABD463}"/>
              </a:ext>
            </a:extLst>
          </p:cNvPr>
          <p:cNvSpPr>
            <a:spLocks noGrp="1"/>
          </p:cNvSpPr>
          <p:nvPr>
            <p:ph type="title"/>
          </p:nvPr>
        </p:nvSpPr>
        <p:spPr/>
        <p:txBody>
          <a:bodyPr/>
          <a:lstStyle/>
          <a:p>
            <a:r>
              <a:rPr lang="sv-SE"/>
              <a:t>Challenge! </a:t>
            </a:r>
            <a:endParaRPr lang="LID4096"/>
          </a:p>
        </p:txBody>
      </p:sp>
      <p:sp>
        <p:nvSpPr>
          <p:cNvPr id="3" name="Content Placeholder 2">
            <a:extLst>
              <a:ext uri="{FF2B5EF4-FFF2-40B4-BE49-F238E27FC236}">
                <a16:creationId xmlns:a16="http://schemas.microsoft.com/office/drawing/2014/main" id="{D3E8E1BE-0403-CA40-67C5-68494A503146}"/>
              </a:ext>
            </a:extLst>
          </p:cNvPr>
          <p:cNvSpPr>
            <a:spLocks noGrp="1"/>
          </p:cNvSpPr>
          <p:nvPr>
            <p:ph idx="1"/>
          </p:nvPr>
        </p:nvSpPr>
        <p:spPr/>
        <p:txBody>
          <a:bodyPr>
            <a:normAutofit lnSpcReduction="10000"/>
          </a:bodyPr>
          <a:lstStyle/>
          <a:p>
            <a:r>
              <a:rPr lang="sv-SE"/>
              <a:t>Få tre led lampor att blinka med tre olika frekvenser (f1, f2, f3)</a:t>
            </a:r>
          </a:p>
          <a:p>
            <a:endParaRPr lang="sv-SE"/>
          </a:p>
          <a:p>
            <a:r>
              <a:rPr lang="sv-SE" sz="2400"/>
              <a:t>f1 = 1Hz, f2 = 2Hz, f3 = 3Hz:</a:t>
            </a:r>
            <a:br>
              <a:rPr lang="sv-SE" sz="2400"/>
            </a:br>
            <a:r>
              <a:rPr lang="sv-SE" sz="2400"/>
              <a:t>Med systick? </a:t>
            </a:r>
          </a:p>
          <a:p>
            <a:endParaRPr lang="sv-SE"/>
          </a:p>
          <a:p>
            <a:endParaRPr lang="sv-SE"/>
          </a:p>
          <a:p>
            <a:endParaRPr lang="sv-SE"/>
          </a:p>
          <a:p>
            <a:r>
              <a:rPr lang="en-US" sz="2400"/>
              <a:t>f1 = 1Hz, f2 = 3, and f3 = 5</a:t>
            </a:r>
          </a:p>
          <a:p>
            <a:pPr lvl="1"/>
            <a:r>
              <a:rPr lang="en-US" sz="2000"/>
              <a:t>systick måste köras i 15Hz, och oftast</a:t>
            </a:r>
            <a:br>
              <a:rPr lang="en-US" sz="2000"/>
            </a:br>
            <a:r>
              <a:rPr lang="en-US" sz="2000"/>
              <a:t>inte göra någonting</a:t>
            </a:r>
            <a:endParaRPr lang="sv-SE" sz="2000"/>
          </a:p>
        </p:txBody>
      </p:sp>
      <p:pic>
        <p:nvPicPr>
          <p:cNvPr id="5" name="Picture 4">
            <a:extLst>
              <a:ext uri="{FF2B5EF4-FFF2-40B4-BE49-F238E27FC236}">
                <a16:creationId xmlns:a16="http://schemas.microsoft.com/office/drawing/2014/main" id="{0A654C14-67A2-11B5-5C82-6D0E28E98313}"/>
              </a:ext>
            </a:extLst>
          </p:cNvPr>
          <p:cNvPicPr>
            <a:picLocks noChangeAspect="1"/>
          </p:cNvPicPr>
          <p:nvPr/>
        </p:nvPicPr>
        <p:blipFill>
          <a:blip r:embed="rId3"/>
          <a:stretch>
            <a:fillRect/>
          </a:stretch>
        </p:blipFill>
        <p:spPr>
          <a:xfrm>
            <a:off x="6191026" y="3708600"/>
            <a:ext cx="6000974" cy="3149400"/>
          </a:xfrm>
          <a:prstGeom prst="rect">
            <a:avLst/>
          </a:prstGeom>
        </p:spPr>
      </p:pic>
      <p:sp>
        <p:nvSpPr>
          <p:cNvPr id="7" name="TextBox 6">
            <a:extLst>
              <a:ext uri="{FF2B5EF4-FFF2-40B4-BE49-F238E27FC236}">
                <a16:creationId xmlns:a16="http://schemas.microsoft.com/office/drawing/2014/main" id="{EC707B04-7022-202E-59C8-A787D9ECFB3A}"/>
              </a:ext>
            </a:extLst>
          </p:cNvPr>
          <p:cNvSpPr txBox="1"/>
          <p:nvPr/>
        </p:nvSpPr>
        <p:spPr>
          <a:xfrm>
            <a:off x="11013140" y="3870489"/>
            <a:ext cx="599739" cy="261610"/>
          </a:xfrm>
          <a:prstGeom prst="rect">
            <a:avLst/>
          </a:prstGeom>
          <a:noFill/>
        </p:spPr>
        <p:txBody>
          <a:bodyPr wrap="square">
            <a:spAutoFit/>
          </a:bodyPr>
          <a:lstStyle/>
          <a:p>
            <a:r>
              <a:rPr lang="sv-SE" sz="1100">
                <a:latin typeface="Consolas" panose="020B0609020204030204" pitchFamily="49" charset="0"/>
              </a:rPr>
              <a:t>f1</a:t>
            </a:r>
            <a:endParaRPr lang="LID4096" sz="1100">
              <a:latin typeface="Consolas" panose="020B0609020204030204" pitchFamily="49" charset="0"/>
            </a:endParaRPr>
          </a:p>
        </p:txBody>
      </p:sp>
      <p:sp>
        <p:nvSpPr>
          <p:cNvPr id="8" name="TextBox 7">
            <a:extLst>
              <a:ext uri="{FF2B5EF4-FFF2-40B4-BE49-F238E27FC236}">
                <a16:creationId xmlns:a16="http://schemas.microsoft.com/office/drawing/2014/main" id="{FA30C769-8015-284A-2CA8-050139AD4979}"/>
              </a:ext>
            </a:extLst>
          </p:cNvPr>
          <p:cNvSpPr txBox="1"/>
          <p:nvPr/>
        </p:nvSpPr>
        <p:spPr>
          <a:xfrm>
            <a:off x="10950387" y="4892921"/>
            <a:ext cx="599739" cy="261610"/>
          </a:xfrm>
          <a:prstGeom prst="rect">
            <a:avLst/>
          </a:prstGeom>
          <a:noFill/>
        </p:spPr>
        <p:txBody>
          <a:bodyPr wrap="square">
            <a:spAutoFit/>
          </a:bodyPr>
          <a:lstStyle/>
          <a:p>
            <a:r>
              <a:rPr lang="sv-SE" sz="1100">
                <a:latin typeface="Consolas" panose="020B0609020204030204" pitchFamily="49" charset="0"/>
              </a:rPr>
              <a:t>f2</a:t>
            </a:r>
            <a:endParaRPr lang="LID4096" sz="1100">
              <a:latin typeface="Consolas" panose="020B0609020204030204" pitchFamily="49" charset="0"/>
            </a:endParaRPr>
          </a:p>
        </p:txBody>
      </p:sp>
      <p:sp>
        <p:nvSpPr>
          <p:cNvPr id="9" name="TextBox 8">
            <a:extLst>
              <a:ext uri="{FF2B5EF4-FFF2-40B4-BE49-F238E27FC236}">
                <a16:creationId xmlns:a16="http://schemas.microsoft.com/office/drawing/2014/main" id="{F3863B05-D28A-D5E5-CD25-B1FD08880246}"/>
              </a:ext>
            </a:extLst>
          </p:cNvPr>
          <p:cNvSpPr txBox="1"/>
          <p:nvPr/>
        </p:nvSpPr>
        <p:spPr>
          <a:xfrm>
            <a:off x="11802034" y="5093730"/>
            <a:ext cx="599739" cy="261610"/>
          </a:xfrm>
          <a:prstGeom prst="rect">
            <a:avLst/>
          </a:prstGeom>
          <a:noFill/>
        </p:spPr>
        <p:txBody>
          <a:bodyPr wrap="square">
            <a:spAutoFit/>
          </a:bodyPr>
          <a:lstStyle/>
          <a:p>
            <a:r>
              <a:rPr lang="sv-SE" sz="1100">
                <a:latin typeface="Consolas" panose="020B0609020204030204" pitchFamily="49" charset="0"/>
              </a:rPr>
              <a:t>f3</a:t>
            </a:r>
            <a:endParaRPr lang="LID4096" sz="1100">
              <a:latin typeface="Consolas" panose="020B0609020204030204" pitchFamily="49" charset="0"/>
            </a:endParaRPr>
          </a:p>
        </p:txBody>
      </p:sp>
      <p:pic>
        <p:nvPicPr>
          <p:cNvPr id="11" name="Picture 10">
            <a:extLst>
              <a:ext uri="{FF2B5EF4-FFF2-40B4-BE49-F238E27FC236}">
                <a16:creationId xmlns:a16="http://schemas.microsoft.com/office/drawing/2014/main" id="{0B670589-CB8A-2B62-EAA7-CB702457599E}"/>
              </a:ext>
            </a:extLst>
          </p:cNvPr>
          <p:cNvPicPr>
            <a:picLocks noChangeAspect="1"/>
          </p:cNvPicPr>
          <p:nvPr/>
        </p:nvPicPr>
        <p:blipFill>
          <a:blip r:embed="rId4"/>
          <a:stretch>
            <a:fillRect/>
          </a:stretch>
        </p:blipFill>
        <p:spPr>
          <a:xfrm>
            <a:off x="821501" y="3771411"/>
            <a:ext cx="5243571" cy="1438606"/>
          </a:xfrm>
          <a:prstGeom prst="rect">
            <a:avLst/>
          </a:prstGeom>
        </p:spPr>
      </p:pic>
    </p:spTree>
    <p:extLst>
      <p:ext uri="{BB962C8B-B14F-4D97-AF65-F5344CB8AC3E}">
        <p14:creationId xmlns:p14="http://schemas.microsoft.com/office/powerpoint/2010/main" val="344252193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animEffect transition="in" filter="fade">
                                      <p:cBhvr>
                                        <p:cTn id="7" dur="500"/>
                                        <p:tgtEl>
                                          <p:spTgt spid="3">
                                            <p:txEl>
                                              <p:pRg st="2" end="2"/>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
                                            <p:txEl>
                                              <p:pRg st="6" end="6"/>
                                            </p:txEl>
                                          </p:spTgt>
                                        </p:tgtEl>
                                        <p:attrNameLst>
                                          <p:attrName>style.visibility</p:attrName>
                                        </p:attrNameLst>
                                      </p:cBhvr>
                                      <p:to>
                                        <p:strVal val="visible"/>
                                      </p:to>
                                    </p:set>
                                    <p:animEffect transition="in" filter="fade">
                                      <p:cBhvr>
                                        <p:cTn id="12" dur="500"/>
                                        <p:tgtEl>
                                          <p:spTgt spid="3">
                                            <p:txEl>
                                              <p:pRg st="6" end="6"/>
                                            </p:txEl>
                                          </p:spTgt>
                                        </p:tgtEl>
                                      </p:cBhvr>
                                    </p:animEffect>
                                  </p:childTnLst>
                                </p:cTn>
                              </p:par>
                              <p:par>
                                <p:cTn id="13" presetID="10" presetClass="entr" presetSubtype="0" fill="hold" nodeType="withEffect">
                                  <p:stCondLst>
                                    <p:cond delay="0"/>
                                  </p:stCondLst>
                                  <p:childTnLst>
                                    <p:set>
                                      <p:cBhvr>
                                        <p:cTn id="14" dur="1" fill="hold">
                                          <p:stCondLst>
                                            <p:cond delay="0"/>
                                          </p:stCondLst>
                                        </p:cTn>
                                        <p:tgtEl>
                                          <p:spTgt spid="3">
                                            <p:txEl>
                                              <p:pRg st="7" end="7"/>
                                            </p:txEl>
                                          </p:spTgt>
                                        </p:tgtEl>
                                        <p:attrNameLst>
                                          <p:attrName>style.visibility</p:attrName>
                                        </p:attrNameLst>
                                      </p:cBhvr>
                                      <p:to>
                                        <p:strVal val="visible"/>
                                      </p:to>
                                    </p:set>
                                    <p:animEffect transition="in" filter="fade">
                                      <p:cBhvr>
                                        <p:cTn id="15" dur="500"/>
                                        <p:tgtEl>
                                          <p:spTgt spid="3">
                                            <p:txEl>
                                              <p:pRg st="7" end="7"/>
                                            </p:txEl>
                                          </p:spTgt>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nodeType="clickEffect">
                                  <p:stCondLst>
                                    <p:cond delay="0"/>
                                  </p:stCondLst>
                                  <p:childTnLst>
                                    <p:set>
                                      <p:cBhvr>
                                        <p:cTn id="19" dur="1" fill="hold">
                                          <p:stCondLst>
                                            <p:cond delay="0"/>
                                          </p:stCondLst>
                                        </p:cTn>
                                        <p:tgtEl>
                                          <p:spTgt spid="11"/>
                                        </p:tgtEl>
                                        <p:attrNameLst>
                                          <p:attrName>style.visibility</p:attrName>
                                        </p:attrNameLst>
                                      </p:cBhvr>
                                      <p:to>
                                        <p:strVal val="visible"/>
                                      </p:to>
                                    </p:set>
                                    <p:animEffect transition="in" filter="fade">
                                      <p:cBhvr>
                                        <p:cTn id="20" dur="5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9B24AEA-50C9-2758-31AF-A6BFAB72E999}"/>
              </a:ext>
            </a:extLst>
          </p:cNvPr>
          <p:cNvSpPr>
            <a:spLocks noGrp="1"/>
          </p:cNvSpPr>
          <p:nvPr>
            <p:ph type="title"/>
          </p:nvPr>
        </p:nvSpPr>
        <p:spPr/>
        <p:txBody>
          <a:bodyPr/>
          <a:lstStyle/>
          <a:p>
            <a:r>
              <a:rPr lang="sv-SE"/>
              <a:t>Basic Timers</a:t>
            </a:r>
            <a:endParaRPr lang="LID4096"/>
          </a:p>
        </p:txBody>
      </p:sp>
      <p:pic>
        <p:nvPicPr>
          <p:cNvPr id="5" name="Picture 4">
            <a:extLst>
              <a:ext uri="{FF2B5EF4-FFF2-40B4-BE49-F238E27FC236}">
                <a16:creationId xmlns:a16="http://schemas.microsoft.com/office/drawing/2014/main" id="{A277E876-0CB3-05FA-C6A7-F315124F3379}"/>
              </a:ext>
            </a:extLst>
          </p:cNvPr>
          <p:cNvPicPr>
            <a:picLocks noChangeAspect="1"/>
          </p:cNvPicPr>
          <p:nvPr/>
        </p:nvPicPr>
        <p:blipFill>
          <a:blip r:embed="rId2"/>
          <a:stretch>
            <a:fillRect/>
          </a:stretch>
        </p:blipFill>
        <p:spPr>
          <a:xfrm>
            <a:off x="283276" y="1893345"/>
            <a:ext cx="4993576" cy="2177317"/>
          </a:xfrm>
          <a:prstGeom prst="rect">
            <a:avLst/>
          </a:prstGeom>
        </p:spPr>
      </p:pic>
      <p:grpSp>
        <p:nvGrpSpPr>
          <p:cNvPr id="10" name="Group 9">
            <a:extLst>
              <a:ext uri="{FF2B5EF4-FFF2-40B4-BE49-F238E27FC236}">
                <a16:creationId xmlns:a16="http://schemas.microsoft.com/office/drawing/2014/main" id="{4A6EFCB0-9C7F-AF3F-BE3A-E46D993DC142}"/>
              </a:ext>
            </a:extLst>
          </p:cNvPr>
          <p:cNvGrpSpPr/>
          <p:nvPr/>
        </p:nvGrpSpPr>
        <p:grpSpPr>
          <a:xfrm>
            <a:off x="4512833" y="2241185"/>
            <a:ext cx="2959441" cy="426712"/>
            <a:chOff x="4512833" y="2241185"/>
            <a:chExt cx="2959441" cy="426712"/>
          </a:xfrm>
        </p:grpSpPr>
        <p:sp>
          <p:nvSpPr>
            <p:cNvPr id="6" name="Rectangle: Rounded Corners 5">
              <a:extLst>
                <a:ext uri="{FF2B5EF4-FFF2-40B4-BE49-F238E27FC236}">
                  <a16:creationId xmlns:a16="http://schemas.microsoft.com/office/drawing/2014/main" id="{B8DAC031-A10F-01EA-D5BC-5EE516805303}"/>
                </a:ext>
              </a:extLst>
            </p:cNvPr>
            <p:cNvSpPr/>
            <p:nvPr/>
          </p:nvSpPr>
          <p:spPr>
            <a:xfrm>
              <a:off x="4512833" y="2463501"/>
              <a:ext cx="129092" cy="204396"/>
            </a:xfrm>
            <a:prstGeom prst="roundRect">
              <a:avLst>
                <a:gd name="adj" fmla="val 8667"/>
              </a:avLst>
            </a:prstGeom>
            <a:noFill/>
            <a:ln w="38100">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cxnSp>
          <p:nvCxnSpPr>
            <p:cNvPr id="8" name="Straight Connector 7">
              <a:extLst>
                <a:ext uri="{FF2B5EF4-FFF2-40B4-BE49-F238E27FC236}">
                  <a16:creationId xmlns:a16="http://schemas.microsoft.com/office/drawing/2014/main" id="{931664FF-6C5C-62E1-9F28-DBC81673B938}"/>
                </a:ext>
              </a:extLst>
            </p:cNvPr>
            <p:cNvCxnSpPr>
              <a:stCxn id="6" idx="0"/>
            </p:cNvCxnSpPr>
            <p:nvPr/>
          </p:nvCxnSpPr>
          <p:spPr>
            <a:xfrm>
              <a:off x="4577379" y="2463501"/>
              <a:ext cx="2791609" cy="0"/>
            </a:xfrm>
            <a:prstGeom prst="line">
              <a:avLst/>
            </a:prstGeom>
            <a:ln>
              <a:solidFill>
                <a:srgbClr val="FFC000"/>
              </a:solidFill>
            </a:ln>
          </p:spPr>
          <p:style>
            <a:lnRef idx="2">
              <a:schemeClr val="accent1"/>
            </a:lnRef>
            <a:fillRef idx="0">
              <a:schemeClr val="accent1"/>
            </a:fillRef>
            <a:effectRef idx="1">
              <a:schemeClr val="accent1"/>
            </a:effectRef>
            <a:fontRef idx="minor">
              <a:schemeClr val="tx1"/>
            </a:fontRef>
          </p:style>
        </p:cxnSp>
        <p:sp>
          <p:nvSpPr>
            <p:cNvPr id="9" name="TextBox 8">
              <a:extLst>
                <a:ext uri="{FF2B5EF4-FFF2-40B4-BE49-F238E27FC236}">
                  <a16:creationId xmlns:a16="http://schemas.microsoft.com/office/drawing/2014/main" id="{B4865F1D-43F4-98C4-0E6B-9111E49D1625}"/>
                </a:ext>
              </a:extLst>
            </p:cNvPr>
            <p:cNvSpPr txBox="1"/>
            <p:nvPr/>
          </p:nvSpPr>
          <p:spPr>
            <a:xfrm>
              <a:off x="5859332" y="2241185"/>
              <a:ext cx="1612942" cy="276999"/>
            </a:xfrm>
            <a:prstGeom prst="rect">
              <a:avLst/>
            </a:prstGeom>
            <a:noFill/>
          </p:spPr>
          <p:txBody>
            <a:bodyPr wrap="none" rtlCol="0">
              <a:spAutoFit/>
            </a:bodyPr>
            <a:lstStyle/>
            <a:p>
              <a:r>
                <a:rPr lang="en-GB" sz="1200"/>
                <a:t>Enable/Disable Timer</a:t>
              </a:r>
              <a:endParaRPr lang="LID4096" sz="1200"/>
            </a:p>
          </p:txBody>
        </p:sp>
      </p:grpSp>
      <p:grpSp>
        <p:nvGrpSpPr>
          <p:cNvPr id="11" name="Group 10">
            <a:extLst>
              <a:ext uri="{FF2B5EF4-FFF2-40B4-BE49-F238E27FC236}">
                <a16:creationId xmlns:a16="http://schemas.microsoft.com/office/drawing/2014/main" id="{2E718BF6-8B5E-A696-D4CC-AFCA28287F9C}"/>
              </a:ext>
            </a:extLst>
          </p:cNvPr>
          <p:cNvGrpSpPr/>
          <p:nvPr/>
        </p:nvGrpSpPr>
        <p:grpSpPr>
          <a:xfrm>
            <a:off x="4512833" y="2641969"/>
            <a:ext cx="3240223" cy="426712"/>
            <a:chOff x="4512833" y="2241185"/>
            <a:chExt cx="3240223" cy="426712"/>
          </a:xfrm>
        </p:grpSpPr>
        <p:sp>
          <p:nvSpPr>
            <p:cNvPr id="12" name="Rectangle: Rounded Corners 11">
              <a:extLst>
                <a:ext uri="{FF2B5EF4-FFF2-40B4-BE49-F238E27FC236}">
                  <a16:creationId xmlns:a16="http://schemas.microsoft.com/office/drawing/2014/main" id="{C8A6331B-7E04-77D2-A9E1-04CD5DF89AC3}"/>
                </a:ext>
              </a:extLst>
            </p:cNvPr>
            <p:cNvSpPr/>
            <p:nvPr/>
          </p:nvSpPr>
          <p:spPr>
            <a:xfrm>
              <a:off x="4512833" y="2463501"/>
              <a:ext cx="129092" cy="204396"/>
            </a:xfrm>
            <a:prstGeom prst="roundRect">
              <a:avLst>
                <a:gd name="adj" fmla="val 8667"/>
              </a:avLst>
            </a:prstGeom>
            <a:noFill/>
            <a:ln w="38100">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cxnSp>
          <p:nvCxnSpPr>
            <p:cNvPr id="13" name="Straight Connector 12">
              <a:extLst>
                <a:ext uri="{FF2B5EF4-FFF2-40B4-BE49-F238E27FC236}">
                  <a16:creationId xmlns:a16="http://schemas.microsoft.com/office/drawing/2014/main" id="{40E7576B-F0A0-6C40-10B8-D146A68FB8BF}"/>
                </a:ext>
              </a:extLst>
            </p:cNvPr>
            <p:cNvCxnSpPr>
              <a:cxnSpLocks/>
              <a:stCxn id="12" idx="0"/>
            </p:cNvCxnSpPr>
            <p:nvPr/>
          </p:nvCxnSpPr>
          <p:spPr>
            <a:xfrm>
              <a:off x="4577379" y="2463501"/>
              <a:ext cx="3087445" cy="0"/>
            </a:xfrm>
            <a:prstGeom prst="line">
              <a:avLst/>
            </a:prstGeom>
            <a:ln>
              <a:solidFill>
                <a:srgbClr val="FFC000"/>
              </a:solidFill>
            </a:ln>
          </p:spPr>
          <p:style>
            <a:lnRef idx="2">
              <a:schemeClr val="accent1"/>
            </a:lnRef>
            <a:fillRef idx="0">
              <a:schemeClr val="accent1"/>
            </a:fillRef>
            <a:effectRef idx="1">
              <a:schemeClr val="accent1"/>
            </a:effectRef>
            <a:fontRef idx="minor">
              <a:schemeClr val="tx1"/>
            </a:fontRef>
          </p:style>
        </p:cxnSp>
        <p:sp>
          <p:nvSpPr>
            <p:cNvPr id="14" name="TextBox 13">
              <a:extLst>
                <a:ext uri="{FF2B5EF4-FFF2-40B4-BE49-F238E27FC236}">
                  <a16:creationId xmlns:a16="http://schemas.microsoft.com/office/drawing/2014/main" id="{19716BCA-29F0-C9E5-CB7E-F3A2229AB562}"/>
                </a:ext>
              </a:extLst>
            </p:cNvPr>
            <p:cNvSpPr txBox="1"/>
            <p:nvPr/>
          </p:nvSpPr>
          <p:spPr>
            <a:xfrm>
              <a:off x="5859332" y="2241185"/>
              <a:ext cx="1893724" cy="276999"/>
            </a:xfrm>
            <a:prstGeom prst="rect">
              <a:avLst/>
            </a:prstGeom>
            <a:noFill/>
          </p:spPr>
          <p:txBody>
            <a:bodyPr wrap="none" rtlCol="0">
              <a:spAutoFit/>
            </a:bodyPr>
            <a:lstStyle/>
            <a:p>
              <a:r>
                <a:rPr lang="en-GB" sz="1200"/>
                <a:t>Enable/Disable Interrupts</a:t>
              </a:r>
              <a:endParaRPr lang="LID4096" sz="1200"/>
            </a:p>
          </p:txBody>
        </p:sp>
      </p:grpSp>
      <p:grpSp>
        <p:nvGrpSpPr>
          <p:cNvPr id="16" name="Group 15">
            <a:extLst>
              <a:ext uri="{FF2B5EF4-FFF2-40B4-BE49-F238E27FC236}">
                <a16:creationId xmlns:a16="http://schemas.microsoft.com/office/drawing/2014/main" id="{0D02348A-E95A-10F9-0468-03055FDED642}"/>
              </a:ext>
            </a:extLst>
          </p:cNvPr>
          <p:cNvGrpSpPr/>
          <p:nvPr/>
        </p:nvGrpSpPr>
        <p:grpSpPr>
          <a:xfrm>
            <a:off x="2770094" y="3227354"/>
            <a:ext cx="5267142" cy="426712"/>
            <a:chOff x="2770094" y="2241185"/>
            <a:chExt cx="5267142" cy="426712"/>
          </a:xfrm>
        </p:grpSpPr>
        <p:sp>
          <p:nvSpPr>
            <p:cNvPr id="17" name="Rectangle: Rounded Corners 16">
              <a:extLst>
                <a:ext uri="{FF2B5EF4-FFF2-40B4-BE49-F238E27FC236}">
                  <a16:creationId xmlns:a16="http://schemas.microsoft.com/office/drawing/2014/main" id="{8BE2F79A-192F-FAB5-6E57-0086781BF78F}"/>
                </a:ext>
              </a:extLst>
            </p:cNvPr>
            <p:cNvSpPr/>
            <p:nvPr/>
          </p:nvSpPr>
          <p:spPr>
            <a:xfrm>
              <a:off x="2770094" y="2463501"/>
              <a:ext cx="1871831" cy="204396"/>
            </a:xfrm>
            <a:prstGeom prst="roundRect">
              <a:avLst>
                <a:gd name="adj" fmla="val 8667"/>
              </a:avLst>
            </a:prstGeom>
            <a:noFill/>
            <a:ln w="38100">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cxnSp>
          <p:nvCxnSpPr>
            <p:cNvPr id="18" name="Straight Connector 17">
              <a:extLst>
                <a:ext uri="{FF2B5EF4-FFF2-40B4-BE49-F238E27FC236}">
                  <a16:creationId xmlns:a16="http://schemas.microsoft.com/office/drawing/2014/main" id="{114CE08C-3939-F8F5-A593-59256A1C165A}"/>
                </a:ext>
              </a:extLst>
            </p:cNvPr>
            <p:cNvCxnSpPr>
              <a:cxnSpLocks/>
              <a:stCxn id="17" idx="0"/>
            </p:cNvCxnSpPr>
            <p:nvPr/>
          </p:nvCxnSpPr>
          <p:spPr>
            <a:xfrm>
              <a:off x="3706010" y="2463501"/>
              <a:ext cx="4249270" cy="0"/>
            </a:xfrm>
            <a:prstGeom prst="line">
              <a:avLst/>
            </a:prstGeom>
            <a:ln>
              <a:solidFill>
                <a:srgbClr val="FFC000"/>
              </a:solidFill>
            </a:ln>
          </p:spPr>
          <p:style>
            <a:lnRef idx="2">
              <a:schemeClr val="accent1"/>
            </a:lnRef>
            <a:fillRef idx="0">
              <a:schemeClr val="accent1"/>
            </a:fillRef>
            <a:effectRef idx="1">
              <a:schemeClr val="accent1"/>
            </a:effectRef>
            <a:fontRef idx="minor">
              <a:schemeClr val="tx1"/>
            </a:fontRef>
          </p:style>
        </p:cxnSp>
        <p:sp>
          <p:nvSpPr>
            <p:cNvPr id="19" name="TextBox 18">
              <a:extLst>
                <a:ext uri="{FF2B5EF4-FFF2-40B4-BE49-F238E27FC236}">
                  <a16:creationId xmlns:a16="http://schemas.microsoft.com/office/drawing/2014/main" id="{2F3074B5-38F1-411B-65EE-F256814B18E0}"/>
                </a:ext>
              </a:extLst>
            </p:cNvPr>
            <p:cNvSpPr txBox="1"/>
            <p:nvPr/>
          </p:nvSpPr>
          <p:spPr>
            <a:xfrm>
              <a:off x="5859332" y="2241185"/>
              <a:ext cx="2177904" cy="276999"/>
            </a:xfrm>
            <a:prstGeom prst="rect">
              <a:avLst/>
            </a:prstGeom>
            <a:noFill/>
          </p:spPr>
          <p:txBody>
            <a:bodyPr wrap="none" rtlCol="0">
              <a:spAutoFit/>
            </a:bodyPr>
            <a:lstStyle/>
            <a:p>
              <a:r>
                <a:rPr lang="en-GB" sz="1200"/>
                <a:t>R</a:t>
              </a:r>
              <a:r>
                <a:rPr lang="sv-SE" sz="1200"/>
                <a:t>äknas upp varje klockcykel...</a:t>
              </a:r>
              <a:endParaRPr lang="LID4096" sz="1200"/>
            </a:p>
          </p:txBody>
        </p:sp>
      </p:grpSp>
      <p:grpSp>
        <p:nvGrpSpPr>
          <p:cNvPr id="26" name="Group 25">
            <a:extLst>
              <a:ext uri="{FF2B5EF4-FFF2-40B4-BE49-F238E27FC236}">
                <a16:creationId xmlns:a16="http://schemas.microsoft.com/office/drawing/2014/main" id="{0924D58B-623C-778F-E321-FA7E7E0414BE}"/>
              </a:ext>
            </a:extLst>
          </p:cNvPr>
          <p:cNvGrpSpPr/>
          <p:nvPr/>
        </p:nvGrpSpPr>
        <p:grpSpPr>
          <a:xfrm>
            <a:off x="2779797" y="3608343"/>
            <a:ext cx="4943528" cy="426712"/>
            <a:chOff x="2770094" y="2241185"/>
            <a:chExt cx="4943528" cy="426712"/>
          </a:xfrm>
        </p:grpSpPr>
        <p:sp>
          <p:nvSpPr>
            <p:cNvPr id="27" name="Rectangle: Rounded Corners 26">
              <a:extLst>
                <a:ext uri="{FF2B5EF4-FFF2-40B4-BE49-F238E27FC236}">
                  <a16:creationId xmlns:a16="http://schemas.microsoft.com/office/drawing/2014/main" id="{661B0340-74BB-6B06-5A8F-E4500668EF72}"/>
                </a:ext>
              </a:extLst>
            </p:cNvPr>
            <p:cNvSpPr/>
            <p:nvPr/>
          </p:nvSpPr>
          <p:spPr>
            <a:xfrm>
              <a:off x="2770094" y="2463501"/>
              <a:ext cx="1871831" cy="204396"/>
            </a:xfrm>
            <a:prstGeom prst="roundRect">
              <a:avLst>
                <a:gd name="adj" fmla="val 8667"/>
              </a:avLst>
            </a:prstGeom>
            <a:noFill/>
            <a:ln w="38100">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cxnSp>
          <p:nvCxnSpPr>
            <p:cNvPr id="28" name="Straight Connector 27">
              <a:extLst>
                <a:ext uri="{FF2B5EF4-FFF2-40B4-BE49-F238E27FC236}">
                  <a16:creationId xmlns:a16="http://schemas.microsoft.com/office/drawing/2014/main" id="{2E0E5CB0-7616-AD1A-962B-243F69A67B31}"/>
                </a:ext>
              </a:extLst>
            </p:cNvPr>
            <p:cNvCxnSpPr>
              <a:cxnSpLocks/>
              <a:stCxn id="27" idx="0"/>
            </p:cNvCxnSpPr>
            <p:nvPr/>
          </p:nvCxnSpPr>
          <p:spPr>
            <a:xfrm>
              <a:off x="3706010" y="2463501"/>
              <a:ext cx="3879186" cy="0"/>
            </a:xfrm>
            <a:prstGeom prst="line">
              <a:avLst/>
            </a:prstGeom>
            <a:ln>
              <a:solidFill>
                <a:srgbClr val="FFC000"/>
              </a:solidFill>
            </a:ln>
          </p:spPr>
          <p:style>
            <a:lnRef idx="2">
              <a:schemeClr val="accent1"/>
            </a:lnRef>
            <a:fillRef idx="0">
              <a:schemeClr val="accent1"/>
            </a:fillRef>
            <a:effectRef idx="1">
              <a:schemeClr val="accent1"/>
            </a:effectRef>
            <a:fontRef idx="minor">
              <a:schemeClr val="tx1"/>
            </a:fontRef>
          </p:style>
        </p:cxnSp>
        <p:sp>
          <p:nvSpPr>
            <p:cNvPr id="29" name="TextBox 28">
              <a:extLst>
                <a:ext uri="{FF2B5EF4-FFF2-40B4-BE49-F238E27FC236}">
                  <a16:creationId xmlns:a16="http://schemas.microsoft.com/office/drawing/2014/main" id="{7B6E81D6-CA5A-1D28-D3E4-FB8F4648392E}"/>
                </a:ext>
              </a:extLst>
            </p:cNvPr>
            <p:cNvSpPr txBox="1"/>
            <p:nvPr/>
          </p:nvSpPr>
          <p:spPr>
            <a:xfrm>
              <a:off x="5859332" y="2241185"/>
              <a:ext cx="1854290" cy="276999"/>
            </a:xfrm>
            <a:prstGeom prst="rect">
              <a:avLst/>
            </a:prstGeom>
            <a:noFill/>
          </p:spPr>
          <p:txBody>
            <a:bodyPr wrap="none" rtlCol="0">
              <a:spAutoFit/>
            </a:bodyPr>
            <a:lstStyle/>
            <a:p>
              <a:r>
                <a:rPr lang="sv-SE" sz="1200"/>
                <a:t>tills den är lika med detta</a:t>
              </a:r>
              <a:endParaRPr lang="LID4096" sz="1200"/>
            </a:p>
          </p:txBody>
        </p:sp>
      </p:grpSp>
      <p:sp>
        <p:nvSpPr>
          <p:cNvPr id="31" name="TextBox 30">
            <a:extLst>
              <a:ext uri="{FF2B5EF4-FFF2-40B4-BE49-F238E27FC236}">
                <a16:creationId xmlns:a16="http://schemas.microsoft.com/office/drawing/2014/main" id="{654644D7-1BD0-54BE-FAC3-D7A99FDF607E}"/>
              </a:ext>
            </a:extLst>
          </p:cNvPr>
          <p:cNvSpPr txBox="1"/>
          <p:nvPr/>
        </p:nvSpPr>
        <p:spPr>
          <a:xfrm>
            <a:off x="8304903" y="3213062"/>
            <a:ext cx="2636234" cy="646331"/>
          </a:xfrm>
          <a:prstGeom prst="rect">
            <a:avLst/>
          </a:prstGeom>
          <a:solidFill>
            <a:schemeClr val="bg1"/>
          </a:solidFill>
          <a:ln>
            <a:solidFill>
              <a:schemeClr val="tx1"/>
            </a:solidFill>
          </a:ln>
          <a:effectLst>
            <a:outerShdw blurRad="50800" dist="38100" dir="2700000" algn="tl" rotWithShape="0">
              <a:prstClr val="black">
                <a:alpha val="40000"/>
              </a:prstClr>
            </a:outerShdw>
          </a:effectLst>
        </p:spPr>
        <p:txBody>
          <a:bodyPr wrap="none" rtlCol="0">
            <a:spAutoFit/>
          </a:bodyPr>
          <a:lstStyle/>
          <a:p>
            <a:r>
              <a:rPr lang="sv-SE" sz="1200"/>
              <a:t>Dessa registrena är bara 16 bitar.</a:t>
            </a:r>
          </a:p>
          <a:p>
            <a:r>
              <a:rPr lang="sv-SE" sz="1200"/>
              <a:t>Kan som max räkna till 65536 cykler!</a:t>
            </a:r>
          </a:p>
          <a:p>
            <a:r>
              <a:rPr lang="sv-SE" sz="1200"/>
              <a:t>(</a:t>
            </a:r>
            <a:r>
              <a:rPr lang="en-GB" sz="1200"/>
              <a:t>&lt;0.5ms i 144MHz</a:t>
            </a:r>
            <a:r>
              <a:rPr lang="sv-SE" sz="1200"/>
              <a:t>)</a:t>
            </a:r>
            <a:endParaRPr lang="LID4096" sz="1200"/>
          </a:p>
        </p:txBody>
      </p:sp>
      <p:sp>
        <p:nvSpPr>
          <p:cNvPr id="32" name="TextBox 31">
            <a:extLst>
              <a:ext uri="{FF2B5EF4-FFF2-40B4-BE49-F238E27FC236}">
                <a16:creationId xmlns:a16="http://schemas.microsoft.com/office/drawing/2014/main" id="{140ECBF4-84A5-6CF2-C01B-80618113B5F0}"/>
              </a:ext>
            </a:extLst>
          </p:cNvPr>
          <p:cNvSpPr txBox="1"/>
          <p:nvPr/>
        </p:nvSpPr>
        <p:spPr>
          <a:xfrm>
            <a:off x="4455833" y="3614772"/>
            <a:ext cx="260008" cy="261610"/>
          </a:xfrm>
          <a:prstGeom prst="rect">
            <a:avLst/>
          </a:prstGeom>
          <a:noFill/>
        </p:spPr>
        <p:txBody>
          <a:bodyPr wrap="none" rtlCol="0">
            <a:spAutoFit/>
          </a:bodyPr>
          <a:lstStyle/>
          <a:p>
            <a:r>
              <a:rPr lang="en-GB" sz="1100"/>
              <a:t>0</a:t>
            </a:r>
            <a:endParaRPr lang="LID4096"/>
          </a:p>
        </p:txBody>
      </p:sp>
    </p:spTree>
    <p:extLst>
      <p:ext uri="{BB962C8B-B14F-4D97-AF65-F5344CB8AC3E}">
        <p14:creationId xmlns:p14="http://schemas.microsoft.com/office/powerpoint/2010/main" val="205639169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69FCB9-0E93-AFF9-57DE-DAC76D306E4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D455636-387F-F630-DA65-79C75E747247}"/>
              </a:ext>
            </a:extLst>
          </p:cNvPr>
          <p:cNvSpPr>
            <a:spLocks noGrp="1"/>
          </p:cNvSpPr>
          <p:nvPr>
            <p:ph type="title"/>
          </p:nvPr>
        </p:nvSpPr>
        <p:spPr/>
        <p:txBody>
          <a:bodyPr/>
          <a:lstStyle/>
          <a:p>
            <a:r>
              <a:rPr lang="sv-SE"/>
              <a:t>Basic Timers</a:t>
            </a:r>
            <a:endParaRPr lang="LID4096"/>
          </a:p>
        </p:txBody>
      </p:sp>
      <p:pic>
        <p:nvPicPr>
          <p:cNvPr id="5" name="Picture 4">
            <a:extLst>
              <a:ext uri="{FF2B5EF4-FFF2-40B4-BE49-F238E27FC236}">
                <a16:creationId xmlns:a16="http://schemas.microsoft.com/office/drawing/2014/main" id="{CB85B626-C64F-741B-FE93-DD66549D6D30}"/>
              </a:ext>
            </a:extLst>
          </p:cNvPr>
          <p:cNvPicPr>
            <a:picLocks noChangeAspect="1"/>
          </p:cNvPicPr>
          <p:nvPr/>
        </p:nvPicPr>
        <p:blipFill>
          <a:blip r:embed="rId2"/>
          <a:stretch>
            <a:fillRect/>
          </a:stretch>
        </p:blipFill>
        <p:spPr>
          <a:xfrm>
            <a:off x="283276" y="1893345"/>
            <a:ext cx="4993576" cy="2177317"/>
          </a:xfrm>
          <a:prstGeom prst="rect">
            <a:avLst/>
          </a:prstGeom>
        </p:spPr>
      </p:pic>
      <p:grpSp>
        <p:nvGrpSpPr>
          <p:cNvPr id="10" name="Group 9">
            <a:extLst>
              <a:ext uri="{FF2B5EF4-FFF2-40B4-BE49-F238E27FC236}">
                <a16:creationId xmlns:a16="http://schemas.microsoft.com/office/drawing/2014/main" id="{2872F908-8BA8-9C0D-9B6D-2D49A7149FCC}"/>
              </a:ext>
            </a:extLst>
          </p:cNvPr>
          <p:cNvGrpSpPr/>
          <p:nvPr/>
        </p:nvGrpSpPr>
        <p:grpSpPr>
          <a:xfrm>
            <a:off x="4512833" y="2241185"/>
            <a:ext cx="2959441" cy="426712"/>
            <a:chOff x="4512833" y="2241185"/>
            <a:chExt cx="2959441" cy="426712"/>
          </a:xfrm>
        </p:grpSpPr>
        <p:sp>
          <p:nvSpPr>
            <p:cNvPr id="6" name="Rectangle: Rounded Corners 5">
              <a:extLst>
                <a:ext uri="{FF2B5EF4-FFF2-40B4-BE49-F238E27FC236}">
                  <a16:creationId xmlns:a16="http://schemas.microsoft.com/office/drawing/2014/main" id="{A446045D-D537-95B6-3499-5A96E915D347}"/>
                </a:ext>
              </a:extLst>
            </p:cNvPr>
            <p:cNvSpPr/>
            <p:nvPr/>
          </p:nvSpPr>
          <p:spPr>
            <a:xfrm>
              <a:off x="4512833" y="2463501"/>
              <a:ext cx="129092" cy="204396"/>
            </a:xfrm>
            <a:prstGeom prst="roundRect">
              <a:avLst>
                <a:gd name="adj" fmla="val 8667"/>
              </a:avLst>
            </a:prstGeom>
            <a:noFill/>
            <a:ln w="38100">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cxnSp>
          <p:nvCxnSpPr>
            <p:cNvPr id="8" name="Straight Connector 7">
              <a:extLst>
                <a:ext uri="{FF2B5EF4-FFF2-40B4-BE49-F238E27FC236}">
                  <a16:creationId xmlns:a16="http://schemas.microsoft.com/office/drawing/2014/main" id="{0F202BB1-78A5-9563-CDB7-1875C844EFF5}"/>
                </a:ext>
              </a:extLst>
            </p:cNvPr>
            <p:cNvCxnSpPr>
              <a:stCxn id="6" idx="0"/>
            </p:cNvCxnSpPr>
            <p:nvPr/>
          </p:nvCxnSpPr>
          <p:spPr>
            <a:xfrm>
              <a:off x="4577379" y="2463501"/>
              <a:ext cx="2791609" cy="0"/>
            </a:xfrm>
            <a:prstGeom prst="line">
              <a:avLst/>
            </a:prstGeom>
            <a:ln>
              <a:solidFill>
                <a:srgbClr val="FFC000"/>
              </a:solidFill>
            </a:ln>
          </p:spPr>
          <p:style>
            <a:lnRef idx="2">
              <a:schemeClr val="accent1"/>
            </a:lnRef>
            <a:fillRef idx="0">
              <a:schemeClr val="accent1"/>
            </a:fillRef>
            <a:effectRef idx="1">
              <a:schemeClr val="accent1"/>
            </a:effectRef>
            <a:fontRef idx="minor">
              <a:schemeClr val="tx1"/>
            </a:fontRef>
          </p:style>
        </p:cxnSp>
        <p:sp>
          <p:nvSpPr>
            <p:cNvPr id="9" name="TextBox 8">
              <a:extLst>
                <a:ext uri="{FF2B5EF4-FFF2-40B4-BE49-F238E27FC236}">
                  <a16:creationId xmlns:a16="http://schemas.microsoft.com/office/drawing/2014/main" id="{0DADD6A0-A1E5-A030-F8E8-BEF7D5059F07}"/>
                </a:ext>
              </a:extLst>
            </p:cNvPr>
            <p:cNvSpPr txBox="1"/>
            <p:nvPr/>
          </p:nvSpPr>
          <p:spPr>
            <a:xfrm>
              <a:off x="5859332" y="2241185"/>
              <a:ext cx="1612942" cy="276999"/>
            </a:xfrm>
            <a:prstGeom prst="rect">
              <a:avLst/>
            </a:prstGeom>
            <a:noFill/>
          </p:spPr>
          <p:txBody>
            <a:bodyPr wrap="none" rtlCol="0">
              <a:spAutoFit/>
            </a:bodyPr>
            <a:lstStyle/>
            <a:p>
              <a:r>
                <a:rPr lang="en-GB" sz="1200"/>
                <a:t>Enable/Disable Timer</a:t>
              </a:r>
              <a:endParaRPr lang="LID4096" sz="1200"/>
            </a:p>
          </p:txBody>
        </p:sp>
      </p:grpSp>
      <p:grpSp>
        <p:nvGrpSpPr>
          <p:cNvPr id="11" name="Group 10">
            <a:extLst>
              <a:ext uri="{FF2B5EF4-FFF2-40B4-BE49-F238E27FC236}">
                <a16:creationId xmlns:a16="http://schemas.microsoft.com/office/drawing/2014/main" id="{0370D0C4-8F92-A71B-5AAB-5171E6854805}"/>
              </a:ext>
            </a:extLst>
          </p:cNvPr>
          <p:cNvGrpSpPr/>
          <p:nvPr/>
        </p:nvGrpSpPr>
        <p:grpSpPr>
          <a:xfrm>
            <a:off x="4512833" y="2641969"/>
            <a:ext cx="3240223" cy="426712"/>
            <a:chOff x="4512833" y="2241185"/>
            <a:chExt cx="3240223" cy="426712"/>
          </a:xfrm>
        </p:grpSpPr>
        <p:sp>
          <p:nvSpPr>
            <p:cNvPr id="12" name="Rectangle: Rounded Corners 11">
              <a:extLst>
                <a:ext uri="{FF2B5EF4-FFF2-40B4-BE49-F238E27FC236}">
                  <a16:creationId xmlns:a16="http://schemas.microsoft.com/office/drawing/2014/main" id="{C985C48F-0284-D9E2-DA78-9C32494FE2EA}"/>
                </a:ext>
              </a:extLst>
            </p:cNvPr>
            <p:cNvSpPr/>
            <p:nvPr/>
          </p:nvSpPr>
          <p:spPr>
            <a:xfrm>
              <a:off x="4512833" y="2463501"/>
              <a:ext cx="129092" cy="204396"/>
            </a:xfrm>
            <a:prstGeom prst="roundRect">
              <a:avLst>
                <a:gd name="adj" fmla="val 8667"/>
              </a:avLst>
            </a:prstGeom>
            <a:noFill/>
            <a:ln w="38100">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cxnSp>
          <p:nvCxnSpPr>
            <p:cNvPr id="13" name="Straight Connector 12">
              <a:extLst>
                <a:ext uri="{FF2B5EF4-FFF2-40B4-BE49-F238E27FC236}">
                  <a16:creationId xmlns:a16="http://schemas.microsoft.com/office/drawing/2014/main" id="{29841224-5D3B-2E54-D766-537981139537}"/>
                </a:ext>
              </a:extLst>
            </p:cNvPr>
            <p:cNvCxnSpPr>
              <a:cxnSpLocks/>
              <a:stCxn id="12" idx="0"/>
            </p:cNvCxnSpPr>
            <p:nvPr/>
          </p:nvCxnSpPr>
          <p:spPr>
            <a:xfrm>
              <a:off x="4577379" y="2463501"/>
              <a:ext cx="3087445" cy="0"/>
            </a:xfrm>
            <a:prstGeom prst="line">
              <a:avLst/>
            </a:prstGeom>
            <a:ln>
              <a:solidFill>
                <a:srgbClr val="FFC000"/>
              </a:solidFill>
            </a:ln>
          </p:spPr>
          <p:style>
            <a:lnRef idx="2">
              <a:schemeClr val="accent1"/>
            </a:lnRef>
            <a:fillRef idx="0">
              <a:schemeClr val="accent1"/>
            </a:fillRef>
            <a:effectRef idx="1">
              <a:schemeClr val="accent1"/>
            </a:effectRef>
            <a:fontRef idx="minor">
              <a:schemeClr val="tx1"/>
            </a:fontRef>
          </p:style>
        </p:cxnSp>
        <p:sp>
          <p:nvSpPr>
            <p:cNvPr id="14" name="TextBox 13">
              <a:extLst>
                <a:ext uri="{FF2B5EF4-FFF2-40B4-BE49-F238E27FC236}">
                  <a16:creationId xmlns:a16="http://schemas.microsoft.com/office/drawing/2014/main" id="{294A31EF-C9A2-ADE9-C745-FEFD577AD8F8}"/>
                </a:ext>
              </a:extLst>
            </p:cNvPr>
            <p:cNvSpPr txBox="1"/>
            <p:nvPr/>
          </p:nvSpPr>
          <p:spPr>
            <a:xfrm>
              <a:off x="5859332" y="2241185"/>
              <a:ext cx="1893724" cy="276999"/>
            </a:xfrm>
            <a:prstGeom prst="rect">
              <a:avLst/>
            </a:prstGeom>
            <a:noFill/>
          </p:spPr>
          <p:txBody>
            <a:bodyPr wrap="none" rtlCol="0">
              <a:spAutoFit/>
            </a:bodyPr>
            <a:lstStyle/>
            <a:p>
              <a:r>
                <a:rPr lang="en-GB" sz="1200"/>
                <a:t>Enable/Disable Interrupts</a:t>
              </a:r>
              <a:endParaRPr lang="LID4096" sz="1200"/>
            </a:p>
          </p:txBody>
        </p:sp>
      </p:grpSp>
      <p:grpSp>
        <p:nvGrpSpPr>
          <p:cNvPr id="16" name="Group 15">
            <a:extLst>
              <a:ext uri="{FF2B5EF4-FFF2-40B4-BE49-F238E27FC236}">
                <a16:creationId xmlns:a16="http://schemas.microsoft.com/office/drawing/2014/main" id="{887AB123-B399-D253-74B0-EEEEE29E33FA}"/>
              </a:ext>
            </a:extLst>
          </p:cNvPr>
          <p:cNvGrpSpPr/>
          <p:nvPr/>
        </p:nvGrpSpPr>
        <p:grpSpPr>
          <a:xfrm>
            <a:off x="2770094" y="3227354"/>
            <a:ext cx="5816972" cy="426712"/>
            <a:chOff x="2770094" y="2241185"/>
            <a:chExt cx="5816972" cy="426712"/>
          </a:xfrm>
        </p:grpSpPr>
        <p:sp>
          <p:nvSpPr>
            <p:cNvPr id="17" name="Rectangle: Rounded Corners 16">
              <a:extLst>
                <a:ext uri="{FF2B5EF4-FFF2-40B4-BE49-F238E27FC236}">
                  <a16:creationId xmlns:a16="http://schemas.microsoft.com/office/drawing/2014/main" id="{3C158401-A120-8853-80CF-E48DDE40FACF}"/>
                </a:ext>
              </a:extLst>
            </p:cNvPr>
            <p:cNvSpPr/>
            <p:nvPr/>
          </p:nvSpPr>
          <p:spPr>
            <a:xfrm>
              <a:off x="2770094" y="2463501"/>
              <a:ext cx="1871831" cy="204396"/>
            </a:xfrm>
            <a:prstGeom prst="roundRect">
              <a:avLst>
                <a:gd name="adj" fmla="val 8667"/>
              </a:avLst>
            </a:prstGeom>
            <a:noFill/>
            <a:ln w="38100">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cxnSp>
          <p:nvCxnSpPr>
            <p:cNvPr id="18" name="Straight Connector 17">
              <a:extLst>
                <a:ext uri="{FF2B5EF4-FFF2-40B4-BE49-F238E27FC236}">
                  <a16:creationId xmlns:a16="http://schemas.microsoft.com/office/drawing/2014/main" id="{9F23E952-DD36-297A-2253-92C214072771}"/>
                </a:ext>
              </a:extLst>
            </p:cNvPr>
            <p:cNvCxnSpPr>
              <a:cxnSpLocks/>
              <a:stCxn id="17" idx="0"/>
            </p:cNvCxnSpPr>
            <p:nvPr/>
          </p:nvCxnSpPr>
          <p:spPr>
            <a:xfrm>
              <a:off x="3706010" y="2463501"/>
              <a:ext cx="4814046" cy="0"/>
            </a:xfrm>
            <a:prstGeom prst="line">
              <a:avLst/>
            </a:prstGeom>
            <a:ln>
              <a:solidFill>
                <a:srgbClr val="FFC000"/>
              </a:solidFill>
            </a:ln>
          </p:spPr>
          <p:style>
            <a:lnRef idx="2">
              <a:schemeClr val="accent1"/>
            </a:lnRef>
            <a:fillRef idx="0">
              <a:schemeClr val="accent1"/>
            </a:fillRef>
            <a:effectRef idx="1">
              <a:schemeClr val="accent1"/>
            </a:effectRef>
            <a:fontRef idx="minor">
              <a:schemeClr val="tx1"/>
            </a:fontRef>
          </p:style>
        </p:cxnSp>
        <p:sp>
          <p:nvSpPr>
            <p:cNvPr id="19" name="TextBox 18">
              <a:extLst>
                <a:ext uri="{FF2B5EF4-FFF2-40B4-BE49-F238E27FC236}">
                  <a16:creationId xmlns:a16="http://schemas.microsoft.com/office/drawing/2014/main" id="{AD0A20C0-0746-A60E-8653-39E8CBBB6A9D}"/>
                </a:ext>
              </a:extLst>
            </p:cNvPr>
            <p:cNvSpPr txBox="1"/>
            <p:nvPr/>
          </p:nvSpPr>
          <p:spPr>
            <a:xfrm>
              <a:off x="5859332" y="2241185"/>
              <a:ext cx="2727734" cy="276999"/>
            </a:xfrm>
            <a:prstGeom prst="rect">
              <a:avLst/>
            </a:prstGeom>
            <a:noFill/>
          </p:spPr>
          <p:txBody>
            <a:bodyPr wrap="none" rtlCol="0">
              <a:spAutoFit/>
            </a:bodyPr>
            <a:lstStyle/>
            <a:p>
              <a:r>
                <a:rPr lang="en-GB" sz="1200"/>
                <a:t>R</a:t>
              </a:r>
              <a:r>
                <a:rPr lang="sv-SE" sz="1200"/>
                <a:t>äknas upp var </a:t>
              </a:r>
              <a:r>
                <a:rPr lang="sv-SE" sz="1200">
                  <a:solidFill>
                    <a:srgbClr val="C00000"/>
                  </a:solidFill>
                </a:rPr>
                <a:t>(PSC + 1)de </a:t>
              </a:r>
              <a:r>
                <a:rPr lang="sv-SE" sz="1200"/>
                <a:t>klockcykel</a:t>
              </a:r>
              <a:endParaRPr lang="LID4096" sz="1200"/>
            </a:p>
          </p:txBody>
        </p:sp>
      </p:grpSp>
      <p:grpSp>
        <p:nvGrpSpPr>
          <p:cNvPr id="26" name="Group 25">
            <a:extLst>
              <a:ext uri="{FF2B5EF4-FFF2-40B4-BE49-F238E27FC236}">
                <a16:creationId xmlns:a16="http://schemas.microsoft.com/office/drawing/2014/main" id="{481DA649-F85D-7532-8529-C8ED906620A5}"/>
              </a:ext>
            </a:extLst>
          </p:cNvPr>
          <p:cNvGrpSpPr/>
          <p:nvPr/>
        </p:nvGrpSpPr>
        <p:grpSpPr>
          <a:xfrm>
            <a:off x="2779797" y="3608343"/>
            <a:ext cx="4943528" cy="426712"/>
            <a:chOff x="2770094" y="2241185"/>
            <a:chExt cx="4943528" cy="426712"/>
          </a:xfrm>
        </p:grpSpPr>
        <p:sp>
          <p:nvSpPr>
            <p:cNvPr id="27" name="Rectangle: Rounded Corners 26">
              <a:extLst>
                <a:ext uri="{FF2B5EF4-FFF2-40B4-BE49-F238E27FC236}">
                  <a16:creationId xmlns:a16="http://schemas.microsoft.com/office/drawing/2014/main" id="{6482ECD5-95E5-F63A-D7F7-1199B6209D15}"/>
                </a:ext>
              </a:extLst>
            </p:cNvPr>
            <p:cNvSpPr/>
            <p:nvPr/>
          </p:nvSpPr>
          <p:spPr>
            <a:xfrm>
              <a:off x="2770094" y="2463501"/>
              <a:ext cx="1871831" cy="204396"/>
            </a:xfrm>
            <a:prstGeom prst="roundRect">
              <a:avLst>
                <a:gd name="adj" fmla="val 8667"/>
              </a:avLst>
            </a:prstGeom>
            <a:noFill/>
            <a:ln w="38100">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cxnSp>
          <p:nvCxnSpPr>
            <p:cNvPr id="28" name="Straight Connector 27">
              <a:extLst>
                <a:ext uri="{FF2B5EF4-FFF2-40B4-BE49-F238E27FC236}">
                  <a16:creationId xmlns:a16="http://schemas.microsoft.com/office/drawing/2014/main" id="{38E93F0F-3D91-315C-0CC9-2785E3A4EC5B}"/>
                </a:ext>
              </a:extLst>
            </p:cNvPr>
            <p:cNvCxnSpPr>
              <a:cxnSpLocks/>
              <a:stCxn id="27" idx="0"/>
            </p:cNvCxnSpPr>
            <p:nvPr/>
          </p:nvCxnSpPr>
          <p:spPr>
            <a:xfrm>
              <a:off x="3706010" y="2463501"/>
              <a:ext cx="3879186" cy="0"/>
            </a:xfrm>
            <a:prstGeom prst="line">
              <a:avLst/>
            </a:prstGeom>
            <a:ln>
              <a:solidFill>
                <a:srgbClr val="FFC000"/>
              </a:solidFill>
            </a:ln>
          </p:spPr>
          <p:style>
            <a:lnRef idx="2">
              <a:schemeClr val="accent1"/>
            </a:lnRef>
            <a:fillRef idx="0">
              <a:schemeClr val="accent1"/>
            </a:fillRef>
            <a:effectRef idx="1">
              <a:schemeClr val="accent1"/>
            </a:effectRef>
            <a:fontRef idx="minor">
              <a:schemeClr val="tx1"/>
            </a:fontRef>
          </p:style>
        </p:cxnSp>
        <p:sp>
          <p:nvSpPr>
            <p:cNvPr id="29" name="TextBox 28">
              <a:extLst>
                <a:ext uri="{FF2B5EF4-FFF2-40B4-BE49-F238E27FC236}">
                  <a16:creationId xmlns:a16="http://schemas.microsoft.com/office/drawing/2014/main" id="{103598AD-E0EB-13BF-29D3-7257FBFBAE91}"/>
                </a:ext>
              </a:extLst>
            </p:cNvPr>
            <p:cNvSpPr txBox="1"/>
            <p:nvPr/>
          </p:nvSpPr>
          <p:spPr>
            <a:xfrm>
              <a:off x="5859332" y="2241185"/>
              <a:ext cx="1854290" cy="276999"/>
            </a:xfrm>
            <a:prstGeom prst="rect">
              <a:avLst/>
            </a:prstGeom>
            <a:noFill/>
          </p:spPr>
          <p:txBody>
            <a:bodyPr wrap="none" rtlCol="0">
              <a:spAutoFit/>
            </a:bodyPr>
            <a:lstStyle/>
            <a:p>
              <a:r>
                <a:rPr lang="sv-SE" sz="1200"/>
                <a:t>tills den är lika med detta</a:t>
              </a:r>
              <a:endParaRPr lang="LID4096" sz="1200"/>
            </a:p>
          </p:txBody>
        </p:sp>
      </p:grpSp>
      <p:sp>
        <p:nvSpPr>
          <p:cNvPr id="32" name="TextBox 31">
            <a:extLst>
              <a:ext uri="{FF2B5EF4-FFF2-40B4-BE49-F238E27FC236}">
                <a16:creationId xmlns:a16="http://schemas.microsoft.com/office/drawing/2014/main" id="{9B441A52-65BA-EA71-EC87-5573E15AE156}"/>
              </a:ext>
            </a:extLst>
          </p:cNvPr>
          <p:cNvSpPr txBox="1"/>
          <p:nvPr/>
        </p:nvSpPr>
        <p:spPr>
          <a:xfrm>
            <a:off x="4380493" y="3610330"/>
            <a:ext cx="335348" cy="261610"/>
          </a:xfrm>
          <a:prstGeom prst="rect">
            <a:avLst/>
          </a:prstGeom>
          <a:noFill/>
        </p:spPr>
        <p:txBody>
          <a:bodyPr wrap="none" rtlCol="0">
            <a:spAutoFit/>
          </a:bodyPr>
          <a:lstStyle/>
          <a:p>
            <a:r>
              <a:rPr lang="en-GB" sz="1100">
                <a:solidFill>
                  <a:srgbClr val="C00000"/>
                </a:solidFill>
              </a:rPr>
              <a:t>99</a:t>
            </a:r>
            <a:endParaRPr lang="LID4096">
              <a:solidFill>
                <a:srgbClr val="C00000"/>
              </a:solidFill>
            </a:endParaRPr>
          </a:p>
        </p:txBody>
      </p:sp>
      <p:sp>
        <p:nvSpPr>
          <p:cNvPr id="7" name="TextBox 6">
            <a:extLst>
              <a:ext uri="{FF2B5EF4-FFF2-40B4-BE49-F238E27FC236}">
                <a16:creationId xmlns:a16="http://schemas.microsoft.com/office/drawing/2014/main" id="{9A8CE9AB-8C6E-186C-8F7B-F6BC95B58E41}"/>
              </a:ext>
            </a:extLst>
          </p:cNvPr>
          <p:cNvSpPr txBox="1"/>
          <p:nvPr/>
        </p:nvSpPr>
        <p:spPr>
          <a:xfrm>
            <a:off x="6665803" y="4455634"/>
            <a:ext cx="3189271" cy="461665"/>
          </a:xfrm>
          <a:prstGeom prst="rect">
            <a:avLst/>
          </a:prstGeom>
          <a:solidFill>
            <a:schemeClr val="bg1"/>
          </a:solidFill>
          <a:ln>
            <a:solidFill>
              <a:schemeClr val="tx1"/>
            </a:solidFill>
          </a:ln>
          <a:effectLst>
            <a:outerShdw blurRad="50800" dist="38100" dir="2700000" algn="tl" rotWithShape="0">
              <a:prstClr val="black">
                <a:alpha val="40000"/>
              </a:prstClr>
            </a:outerShdw>
          </a:effectLst>
        </p:spPr>
        <p:txBody>
          <a:bodyPr wrap="none" rtlCol="0">
            <a:spAutoFit/>
          </a:bodyPr>
          <a:lstStyle/>
          <a:p>
            <a:r>
              <a:rPr lang="en-GB" sz="1200"/>
              <a:t>Vi f</a:t>
            </a:r>
            <a:r>
              <a:rPr lang="sv-SE" sz="1200"/>
              <a:t>år ett interrupt efter (ATRLR + 1) * (PSC + 1)</a:t>
            </a:r>
            <a:br>
              <a:rPr lang="sv-SE" sz="1200"/>
            </a:br>
            <a:r>
              <a:rPr lang="sv-SE" sz="1200"/>
              <a:t>klockcykler</a:t>
            </a:r>
            <a:endParaRPr lang="LID4096" sz="1200"/>
          </a:p>
        </p:txBody>
      </p:sp>
    </p:spTree>
    <p:extLst>
      <p:ext uri="{BB962C8B-B14F-4D97-AF65-F5344CB8AC3E}">
        <p14:creationId xmlns:p14="http://schemas.microsoft.com/office/powerpoint/2010/main" val="1052609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D95C4D1-4240-D5B0-AFA5-496F403C4D16}"/>
              </a:ext>
            </a:extLst>
          </p:cNvPr>
          <p:cNvSpPr>
            <a:spLocks noGrp="1"/>
          </p:cNvSpPr>
          <p:nvPr>
            <p:ph type="title"/>
          </p:nvPr>
        </p:nvSpPr>
        <p:spPr/>
        <p:txBody>
          <a:bodyPr/>
          <a:lstStyle/>
          <a:p>
            <a:r>
              <a:rPr lang="sv-SE"/>
              <a:t>Konfigurera timers</a:t>
            </a:r>
            <a:endParaRPr lang="LID4096"/>
          </a:p>
        </p:txBody>
      </p:sp>
      <p:pic>
        <p:nvPicPr>
          <p:cNvPr id="5" name="Picture 4">
            <a:extLst>
              <a:ext uri="{FF2B5EF4-FFF2-40B4-BE49-F238E27FC236}">
                <a16:creationId xmlns:a16="http://schemas.microsoft.com/office/drawing/2014/main" id="{673ECDFE-862B-7C00-8688-D3FDDBC3A1E4}"/>
              </a:ext>
            </a:extLst>
          </p:cNvPr>
          <p:cNvPicPr>
            <a:picLocks noChangeAspect="1"/>
          </p:cNvPicPr>
          <p:nvPr/>
        </p:nvPicPr>
        <p:blipFill>
          <a:blip r:embed="rId3"/>
          <a:stretch>
            <a:fillRect/>
          </a:stretch>
        </p:blipFill>
        <p:spPr>
          <a:xfrm>
            <a:off x="0" y="1690688"/>
            <a:ext cx="8312633" cy="5167312"/>
          </a:xfrm>
          <a:prstGeom prst="rect">
            <a:avLst/>
          </a:prstGeom>
        </p:spPr>
      </p:pic>
      <p:grpSp>
        <p:nvGrpSpPr>
          <p:cNvPr id="19" name="Group 18">
            <a:extLst>
              <a:ext uri="{FF2B5EF4-FFF2-40B4-BE49-F238E27FC236}">
                <a16:creationId xmlns:a16="http://schemas.microsoft.com/office/drawing/2014/main" id="{A2BF4954-5EDC-F928-3740-08C9A3CD0BA8}"/>
              </a:ext>
            </a:extLst>
          </p:cNvPr>
          <p:cNvGrpSpPr/>
          <p:nvPr/>
        </p:nvGrpSpPr>
        <p:grpSpPr>
          <a:xfrm>
            <a:off x="4362226" y="3130475"/>
            <a:ext cx="7369333" cy="3462169"/>
            <a:chOff x="4362226" y="3130475"/>
            <a:chExt cx="7369333" cy="3462169"/>
          </a:xfrm>
        </p:grpSpPr>
        <p:cxnSp>
          <p:nvCxnSpPr>
            <p:cNvPr id="7" name="Straight Arrow Connector 6">
              <a:extLst>
                <a:ext uri="{FF2B5EF4-FFF2-40B4-BE49-F238E27FC236}">
                  <a16:creationId xmlns:a16="http://schemas.microsoft.com/office/drawing/2014/main" id="{35BD96E9-6C04-B458-DFBF-635169F6DD55}"/>
                </a:ext>
              </a:extLst>
            </p:cNvPr>
            <p:cNvCxnSpPr/>
            <p:nvPr/>
          </p:nvCxnSpPr>
          <p:spPr>
            <a:xfrm flipH="1">
              <a:off x="4362226" y="3130475"/>
              <a:ext cx="4351468" cy="0"/>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8" name="Straight Arrow Connector 7">
              <a:extLst>
                <a:ext uri="{FF2B5EF4-FFF2-40B4-BE49-F238E27FC236}">
                  <a16:creationId xmlns:a16="http://schemas.microsoft.com/office/drawing/2014/main" id="{118B029F-34E5-5684-4FD3-95613AA5E9F1}"/>
                </a:ext>
              </a:extLst>
            </p:cNvPr>
            <p:cNvCxnSpPr/>
            <p:nvPr/>
          </p:nvCxnSpPr>
          <p:spPr>
            <a:xfrm flipH="1">
              <a:off x="4665233" y="4982583"/>
              <a:ext cx="4351468" cy="0"/>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9" name="Straight Arrow Connector 8">
              <a:extLst>
                <a:ext uri="{FF2B5EF4-FFF2-40B4-BE49-F238E27FC236}">
                  <a16:creationId xmlns:a16="http://schemas.microsoft.com/office/drawing/2014/main" id="{FCD3967B-5B85-2B64-2343-85A0A349A3E1}"/>
                </a:ext>
              </a:extLst>
            </p:cNvPr>
            <p:cNvCxnSpPr/>
            <p:nvPr/>
          </p:nvCxnSpPr>
          <p:spPr>
            <a:xfrm flipH="1">
              <a:off x="4419600" y="6592644"/>
              <a:ext cx="4351468" cy="0"/>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11" name="Straight Connector 10">
              <a:extLst>
                <a:ext uri="{FF2B5EF4-FFF2-40B4-BE49-F238E27FC236}">
                  <a16:creationId xmlns:a16="http://schemas.microsoft.com/office/drawing/2014/main" id="{202E204F-F3A0-D067-5983-51005F9C6786}"/>
                </a:ext>
              </a:extLst>
            </p:cNvPr>
            <p:cNvCxnSpPr/>
            <p:nvPr/>
          </p:nvCxnSpPr>
          <p:spPr>
            <a:xfrm>
              <a:off x="8713694" y="3130475"/>
              <a:ext cx="303007" cy="1852108"/>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2" name="Straight Connector 11">
              <a:extLst>
                <a:ext uri="{FF2B5EF4-FFF2-40B4-BE49-F238E27FC236}">
                  <a16:creationId xmlns:a16="http://schemas.microsoft.com/office/drawing/2014/main" id="{B6BF774F-97E1-F245-A6CC-42A9FD045312}"/>
                </a:ext>
              </a:extLst>
            </p:cNvPr>
            <p:cNvCxnSpPr>
              <a:cxnSpLocks/>
            </p:cNvCxnSpPr>
            <p:nvPr/>
          </p:nvCxnSpPr>
          <p:spPr>
            <a:xfrm flipH="1">
              <a:off x="8771068" y="4982583"/>
              <a:ext cx="245633" cy="1610061"/>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5" name="Straight Connector 14">
              <a:extLst>
                <a:ext uri="{FF2B5EF4-FFF2-40B4-BE49-F238E27FC236}">
                  <a16:creationId xmlns:a16="http://schemas.microsoft.com/office/drawing/2014/main" id="{69D31926-A57D-9753-2FA9-D7F6430C353D}"/>
                </a:ext>
              </a:extLst>
            </p:cNvPr>
            <p:cNvCxnSpPr>
              <a:cxnSpLocks/>
            </p:cNvCxnSpPr>
            <p:nvPr/>
          </p:nvCxnSpPr>
          <p:spPr>
            <a:xfrm flipH="1">
              <a:off x="9016701" y="4982582"/>
              <a:ext cx="458435" cy="0"/>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sp>
          <p:nvSpPr>
            <p:cNvPr id="18" name="TextBox 17">
              <a:extLst>
                <a:ext uri="{FF2B5EF4-FFF2-40B4-BE49-F238E27FC236}">
                  <a16:creationId xmlns:a16="http://schemas.microsoft.com/office/drawing/2014/main" id="{9C551602-5B0A-09A4-32E5-4A0AF8B6290B}"/>
                </a:ext>
              </a:extLst>
            </p:cNvPr>
            <p:cNvSpPr txBox="1"/>
            <p:nvPr/>
          </p:nvSpPr>
          <p:spPr>
            <a:xfrm>
              <a:off x="9462027" y="4751749"/>
              <a:ext cx="2269532" cy="646331"/>
            </a:xfrm>
            <a:prstGeom prst="rect">
              <a:avLst/>
            </a:prstGeom>
            <a:solidFill>
              <a:schemeClr val="bg1"/>
            </a:solidFill>
            <a:ln>
              <a:solidFill>
                <a:schemeClr val="tx1"/>
              </a:solidFill>
            </a:ln>
            <a:effectLst>
              <a:outerShdw blurRad="50800" dist="38100" dir="2700000" algn="tl" rotWithShape="0">
                <a:prstClr val="black">
                  <a:alpha val="40000"/>
                </a:prstClr>
              </a:outerShdw>
            </a:effectLst>
          </p:spPr>
          <p:txBody>
            <a:bodyPr wrap="none" rtlCol="0">
              <a:spAutoFit/>
            </a:bodyPr>
            <a:lstStyle/>
            <a:p>
              <a:r>
                <a:rPr lang="sv-SE" sz="1200"/>
                <a:t>Vi säger åt alla timers att skicka</a:t>
              </a:r>
            </a:p>
            <a:p>
              <a:r>
                <a:rPr lang="sv-SE" sz="1200"/>
                <a:t>en interruptrequest till PFIC</a:t>
              </a:r>
              <a:br>
                <a:rPr lang="sv-SE" sz="1200"/>
              </a:br>
              <a:r>
                <a:rPr lang="sv-SE" sz="1200"/>
                <a:t>när dom räknat klart</a:t>
              </a:r>
              <a:endParaRPr lang="LID4096" sz="1200"/>
            </a:p>
          </p:txBody>
        </p:sp>
      </p:grpSp>
    </p:spTree>
    <p:extLst>
      <p:ext uri="{BB962C8B-B14F-4D97-AF65-F5344CB8AC3E}">
        <p14:creationId xmlns:p14="http://schemas.microsoft.com/office/powerpoint/2010/main" val="111521194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animEffect transition="in" filter="fade">
                                      <p:cBhvr>
                                        <p:cTn id="7" dur="5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857338E-07C8-2B1F-C736-DD1B96899E96}"/>
              </a:ext>
            </a:extLst>
          </p:cNvPr>
          <p:cNvSpPr>
            <a:spLocks noGrp="1"/>
          </p:cNvSpPr>
          <p:nvPr>
            <p:ph type="title"/>
          </p:nvPr>
        </p:nvSpPr>
        <p:spPr/>
        <p:txBody>
          <a:bodyPr/>
          <a:lstStyle/>
          <a:p>
            <a:r>
              <a:rPr lang="sv-SE"/>
              <a:t>Enabla interrupts i PFIC</a:t>
            </a:r>
            <a:endParaRPr lang="LID4096"/>
          </a:p>
        </p:txBody>
      </p:sp>
      <p:grpSp>
        <p:nvGrpSpPr>
          <p:cNvPr id="4" name="Group 3">
            <a:extLst>
              <a:ext uri="{FF2B5EF4-FFF2-40B4-BE49-F238E27FC236}">
                <a16:creationId xmlns:a16="http://schemas.microsoft.com/office/drawing/2014/main" id="{57ACD8A9-95E5-C067-32A8-FB1621549957}"/>
              </a:ext>
            </a:extLst>
          </p:cNvPr>
          <p:cNvGrpSpPr/>
          <p:nvPr/>
        </p:nvGrpSpPr>
        <p:grpSpPr>
          <a:xfrm>
            <a:off x="6888801" y="0"/>
            <a:ext cx="5303199" cy="6858000"/>
            <a:chOff x="6888801" y="0"/>
            <a:chExt cx="5303199" cy="6858000"/>
          </a:xfrm>
        </p:grpSpPr>
        <p:pic>
          <p:nvPicPr>
            <p:cNvPr id="5" name="Picture 4">
              <a:extLst>
                <a:ext uri="{FF2B5EF4-FFF2-40B4-BE49-F238E27FC236}">
                  <a16:creationId xmlns:a16="http://schemas.microsoft.com/office/drawing/2014/main" id="{8230705D-5D1F-DCF0-52D7-58B79344966D}"/>
                </a:ext>
              </a:extLst>
            </p:cNvPr>
            <p:cNvPicPr>
              <a:picLocks noChangeAspect="1"/>
            </p:cNvPicPr>
            <p:nvPr/>
          </p:nvPicPr>
          <p:blipFill>
            <a:blip r:embed="rId3"/>
            <a:stretch>
              <a:fillRect/>
            </a:stretch>
          </p:blipFill>
          <p:spPr>
            <a:xfrm>
              <a:off x="6888801" y="0"/>
              <a:ext cx="5303199" cy="6858000"/>
            </a:xfrm>
            <a:prstGeom prst="rect">
              <a:avLst/>
            </a:prstGeom>
            <a:ln>
              <a:solidFill>
                <a:schemeClr val="tx1"/>
              </a:solidFill>
            </a:ln>
          </p:spPr>
        </p:pic>
        <p:sp>
          <p:nvSpPr>
            <p:cNvPr id="6" name="Rectangle: Rounded Corners 5">
              <a:extLst>
                <a:ext uri="{FF2B5EF4-FFF2-40B4-BE49-F238E27FC236}">
                  <a16:creationId xmlns:a16="http://schemas.microsoft.com/office/drawing/2014/main" id="{B62537D1-3C68-47D6-6897-226D282CFAE7}"/>
                </a:ext>
              </a:extLst>
            </p:cNvPr>
            <p:cNvSpPr/>
            <p:nvPr/>
          </p:nvSpPr>
          <p:spPr>
            <a:xfrm>
              <a:off x="6954819" y="3313355"/>
              <a:ext cx="5158292" cy="941294"/>
            </a:xfrm>
            <a:prstGeom prst="roundRect">
              <a:avLst>
                <a:gd name="adj" fmla="val 8667"/>
              </a:avLst>
            </a:prstGeom>
            <a:noFill/>
            <a:ln w="38100">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grpSp>
      <p:grpSp>
        <p:nvGrpSpPr>
          <p:cNvPr id="15" name="Group 14">
            <a:extLst>
              <a:ext uri="{FF2B5EF4-FFF2-40B4-BE49-F238E27FC236}">
                <a16:creationId xmlns:a16="http://schemas.microsoft.com/office/drawing/2014/main" id="{C474705D-7C90-7758-D5C2-906B295EC559}"/>
              </a:ext>
            </a:extLst>
          </p:cNvPr>
          <p:cNvGrpSpPr/>
          <p:nvPr/>
        </p:nvGrpSpPr>
        <p:grpSpPr>
          <a:xfrm>
            <a:off x="435857" y="2055813"/>
            <a:ext cx="2512537" cy="4130935"/>
            <a:chOff x="645407" y="1807285"/>
            <a:chExt cx="2512537" cy="4130935"/>
          </a:xfrm>
        </p:grpSpPr>
        <p:pic>
          <p:nvPicPr>
            <p:cNvPr id="8" name="Picture 7">
              <a:extLst>
                <a:ext uri="{FF2B5EF4-FFF2-40B4-BE49-F238E27FC236}">
                  <a16:creationId xmlns:a16="http://schemas.microsoft.com/office/drawing/2014/main" id="{4C5608B9-D26A-0B26-EBA5-FA322AAAEEFC}"/>
                </a:ext>
              </a:extLst>
            </p:cNvPr>
            <p:cNvPicPr>
              <a:picLocks noChangeAspect="1"/>
            </p:cNvPicPr>
            <p:nvPr/>
          </p:nvPicPr>
          <p:blipFill>
            <a:blip r:embed="rId4"/>
            <a:stretch>
              <a:fillRect/>
            </a:stretch>
          </p:blipFill>
          <p:spPr>
            <a:xfrm>
              <a:off x="645407" y="4087229"/>
              <a:ext cx="2512537" cy="1850991"/>
            </a:xfrm>
            <a:prstGeom prst="rect">
              <a:avLst/>
            </a:prstGeom>
          </p:spPr>
        </p:pic>
        <p:pic>
          <p:nvPicPr>
            <p:cNvPr id="12" name="Picture 11">
              <a:extLst>
                <a:ext uri="{FF2B5EF4-FFF2-40B4-BE49-F238E27FC236}">
                  <a16:creationId xmlns:a16="http://schemas.microsoft.com/office/drawing/2014/main" id="{4EF47D9F-17CC-1C83-4972-61DDF9B5A9FE}"/>
                </a:ext>
              </a:extLst>
            </p:cNvPr>
            <p:cNvPicPr>
              <a:picLocks noChangeAspect="1"/>
            </p:cNvPicPr>
            <p:nvPr/>
          </p:nvPicPr>
          <p:blipFill>
            <a:blip r:embed="rId5"/>
            <a:stretch>
              <a:fillRect/>
            </a:stretch>
          </p:blipFill>
          <p:spPr>
            <a:xfrm>
              <a:off x="645407" y="1807285"/>
              <a:ext cx="2512537" cy="2065765"/>
            </a:xfrm>
            <a:prstGeom prst="rect">
              <a:avLst/>
            </a:prstGeom>
          </p:spPr>
        </p:pic>
        <p:sp>
          <p:nvSpPr>
            <p:cNvPr id="13" name="Freeform: Shape 12">
              <a:extLst>
                <a:ext uri="{FF2B5EF4-FFF2-40B4-BE49-F238E27FC236}">
                  <a16:creationId xmlns:a16="http://schemas.microsoft.com/office/drawing/2014/main" id="{C5345054-1370-6674-76A1-76632B9B92ED}"/>
                </a:ext>
              </a:extLst>
            </p:cNvPr>
            <p:cNvSpPr/>
            <p:nvPr/>
          </p:nvSpPr>
          <p:spPr>
            <a:xfrm>
              <a:off x="671513" y="3890963"/>
              <a:ext cx="2486025" cy="128587"/>
            </a:xfrm>
            <a:custGeom>
              <a:avLst/>
              <a:gdLst>
                <a:gd name="csX0" fmla="*/ 0 w 2486025"/>
                <a:gd name="csY0" fmla="*/ 123825 h 128587"/>
                <a:gd name="csX1" fmla="*/ 209550 w 2486025"/>
                <a:gd name="csY1" fmla="*/ 42862 h 128587"/>
                <a:gd name="csX2" fmla="*/ 200025 w 2486025"/>
                <a:gd name="csY2" fmla="*/ 128587 h 128587"/>
                <a:gd name="csX3" fmla="*/ 466725 w 2486025"/>
                <a:gd name="csY3" fmla="*/ 47625 h 128587"/>
                <a:gd name="csX4" fmla="*/ 461962 w 2486025"/>
                <a:gd name="csY4" fmla="*/ 123825 h 128587"/>
                <a:gd name="csX5" fmla="*/ 714375 w 2486025"/>
                <a:gd name="csY5" fmla="*/ 33337 h 128587"/>
                <a:gd name="csX6" fmla="*/ 723900 w 2486025"/>
                <a:gd name="csY6" fmla="*/ 95250 h 128587"/>
                <a:gd name="csX7" fmla="*/ 933450 w 2486025"/>
                <a:gd name="csY7" fmla="*/ 19050 h 128587"/>
                <a:gd name="csX8" fmla="*/ 933450 w 2486025"/>
                <a:gd name="csY8" fmla="*/ 104775 h 128587"/>
                <a:gd name="csX9" fmla="*/ 1200150 w 2486025"/>
                <a:gd name="csY9" fmla="*/ 28575 h 128587"/>
                <a:gd name="csX10" fmla="*/ 1204912 w 2486025"/>
                <a:gd name="csY10" fmla="*/ 95250 h 128587"/>
                <a:gd name="csX11" fmla="*/ 1533525 w 2486025"/>
                <a:gd name="csY11" fmla="*/ 23812 h 128587"/>
                <a:gd name="csX12" fmla="*/ 1547812 w 2486025"/>
                <a:gd name="csY12" fmla="*/ 80962 h 128587"/>
                <a:gd name="csX13" fmla="*/ 1824037 w 2486025"/>
                <a:gd name="csY13" fmla="*/ 0 h 128587"/>
                <a:gd name="csX14" fmla="*/ 1814512 w 2486025"/>
                <a:gd name="csY14" fmla="*/ 61912 h 128587"/>
                <a:gd name="csX15" fmla="*/ 2128837 w 2486025"/>
                <a:gd name="csY15" fmla="*/ 14287 h 128587"/>
                <a:gd name="csX16" fmla="*/ 2124075 w 2486025"/>
                <a:gd name="csY16" fmla="*/ 95250 h 128587"/>
                <a:gd name="csX17" fmla="*/ 2486025 w 2486025"/>
                <a:gd name="csY17" fmla="*/ 28575 h 12858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Lst>
              <a:rect l="l" t="t" r="r" b="b"/>
              <a:pathLst>
                <a:path w="2486025" h="128587">
                  <a:moveTo>
                    <a:pt x="0" y="123825"/>
                  </a:moveTo>
                  <a:lnTo>
                    <a:pt x="209550" y="42862"/>
                  </a:lnTo>
                  <a:lnTo>
                    <a:pt x="200025" y="128587"/>
                  </a:lnTo>
                  <a:lnTo>
                    <a:pt x="466725" y="47625"/>
                  </a:lnTo>
                  <a:lnTo>
                    <a:pt x="461962" y="123825"/>
                  </a:lnTo>
                  <a:lnTo>
                    <a:pt x="714375" y="33337"/>
                  </a:lnTo>
                  <a:lnTo>
                    <a:pt x="723900" y="95250"/>
                  </a:lnTo>
                  <a:lnTo>
                    <a:pt x="933450" y="19050"/>
                  </a:lnTo>
                  <a:lnTo>
                    <a:pt x="933450" y="104775"/>
                  </a:lnTo>
                  <a:lnTo>
                    <a:pt x="1200150" y="28575"/>
                  </a:lnTo>
                  <a:lnTo>
                    <a:pt x="1204912" y="95250"/>
                  </a:lnTo>
                  <a:lnTo>
                    <a:pt x="1533525" y="23812"/>
                  </a:lnTo>
                  <a:lnTo>
                    <a:pt x="1547812" y="80962"/>
                  </a:lnTo>
                  <a:lnTo>
                    <a:pt x="1824037" y="0"/>
                  </a:lnTo>
                  <a:lnTo>
                    <a:pt x="1814512" y="61912"/>
                  </a:lnTo>
                  <a:lnTo>
                    <a:pt x="2128837" y="14287"/>
                  </a:lnTo>
                  <a:lnTo>
                    <a:pt x="2124075" y="95250"/>
                  </a:lnTo>
                  <a:lnTo>
                    <a:pt x="2486025" y="28575"/>
                  </a:lnTo>
                </a:path>
              </a:pathLst>
            </a:custGeom>
            <a:noFill/>
            <a:ln w="6350">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14" name="Freeform: Shape 13">
              <a:extLst>
                <a:ext uri="{FF2B5EF4-FFF2-40B4-BE49-F238E27FC236}">
                  <a16:creationId xmlns:a16="http://schemas.microsoft.com/office/drawing/2014/main" id="{849642E2-89A4-AE2E-EF85-AA215BB8CF1F}"/>
                </a:ext>
              </a:extLst>
            </p:cNvPr>
            <p:cNvSpPr/>
            <p:nvPr/>
          </p:nvSpPr>
          <p:spPr>
            <a:xfrm>
              <a:off x="645407" y="3924802"/>
              <a:ext cx="2486025" cy="128587"/>
            </a:xfrm>
            <a:custGeom>
              <a:avLst/>
              <a:gdLst>
                <a:gd name="csX0" fmla="*/ 0 w 2486025"/>
                <a:gd name="csY0" fmla="*/ 123825 h 128587"/>
                <a:gd name="csX1" fmla="*/ 209550 w 2486025"/>
                <a:gd name="csY1" fmla="*/ 42862 h 128587"/>
                <a:gd name="csX2" fmla="*/ 200025 w 2486025"/>
                <a:gd name="csY2" fmla="*/ 128587 h 128587"/>
                <a:gd name="csX3" fmla="*/ 466725 w 2486025"/>
                <a:gd name="csY3" fmla="*/ 47625 h 128587"/>
                <a:gd name="csX4" fmla="*/ 461962 w 2486025"/>
                <a:gd name="csY4" fmla="*/ 123825 h 128587"/>
                <a:gd name="csX5" fmla="*/ 714375 w 2486025"/>
                <a:gd name="csY5" fmla="*/ 33337 h 128587"/>
                <a:gd name="csX6" fmla="*/ 723900 w 2486025"/>
                <a:gd name="csY6" fmla="*/ 95250 h 128587"/>
                <a:gd name="csX7" fmla="*/ 933450 w 2486025"/>
                <a:gd name="csY7" fmla="*/ 19050 h 128587"/>
                <a:gd name="csX8" fmla="*/ 933450 w 2486025"/>
                <a:gd name="csY8" fmla="*/ 104775 h 128587"/>
                <a:gd name="csX9" fmla="*/ 1200150 w 2486025"/>
                <a:gd name="csY9" fmla="*/ 28575 h 128587"/>
                <a:gd name="csX10" fmla="*/ 1204912 w 2486025"/>
                <a:gd name="csY10" fmla="*/ 95250 h 128587"/>
                <a:gd name="csX11" fmla="*/ 1533525 w 2486025"/>
                <a:gd name="csY11" fmla="*/ 23812 h 128587"/>
                <a:gd name="csX12" fmla="*/ 1547812 w 2486025"/>
                <a:gd name="csY12" fmla="*/ 80962 h 128587"/>
                <a:gd name="csX13" fmla="*/ 1824037 w 2486025"/>
                <a:gd name="csY13" fmla="*/ 0 h 128587"/>
                <a:gd name="csX14" fmla="*/ 1814512 w 2486025"/>
                <a:gd name="csY14" fmla="*/ 61912 h 128587"/>
                <a:gd name="csX15" fmla="*/ 2128837 w 2486025"/>
                <a:gd name="csY15" fmla="*/ 14287 h 128587"/>
                <a:gd name="csX16" fmla="*/ 2124075 w 2486025"/>
                <a:gd name="csY16" fmla="*/ 95250 h 128587"/>
                <a:gd name="csX17" fmla="*/ 2486025 w 2486025"/>
                <a:gd name="csY17" fmla="*/ 28575 h 12858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Lst>
              <a:rect l="l" t="t" r="r" b="b"/>
              <a:pathLst>
                <a:path w="2486025" h="128587">
                  <a:moveTo>
                    <a:pt x="0" y="123825"/>
                  </a:moveTo>
                  <a:lnTo>
                    <a:pt x="209550" y="42862"/>
                  </a:lnTo>
                  <a:lnTo>
                    <a:pt x="200025" y="128587"/>
                  </a:lnTo>
                  <a:lnTo>
                    <a:pt x="466725" y="47625"/>
                  </a:lnTo>
                  <a:lnTo>
                    <a:pt x="461962" y="123825"/>
                  </a:lnTo>
                  <a:lnTo>
                    <a:pt x="714375" y="33337"/>
                  </a:lnTo>
                  <a:lnTo>
                    <a:pt x="723900" y="95250"/>
                  </a:lnTo>
                  <a:lnTo>
                    <a:pt x="933450" y="19050"/>
                  </a:lnTo>
                  <a:lnTo>
                    <a:pt x="933450" y="104775"/>
                  </a:lnTo>
                  <a:lnTo>
                    <a:pt x="1200150" y="28575"/>
                  </a:lnTo>
                  <a:lnTo>
                    <a:pt x="1204912" y="95250"/>
                  </a:lnTo>
                  <a:lnTo>
                    <a:pt x="1533525" y="23812"/>
                  </a:lnTo>
                  <a:lnTo>
                    <a:pt x="1547812" y="80962"/>
                  </a:lnTo>
                  <a:lnTo>
                    <a:pt x="1824037" y="0"/>
                  </a:lnTo>
                  <a:lnTo>
                    <a:pt x="1814512" y="61912"/>
                  </a:lnTo>
                  <a:lnTo>
                    <a:pt x="2128837" y="14287"/>
                  </a:lnTo>
                  <a:lnTo>
                    <a:pt x="2124075" y="95250"/>
                  </a:lnTo>
                  <a:lnTo>
                    <a:pt x="2486025" y="28575"/>
                  </a:lnTo>
                </a:path>
              </a:pathLst>
            </a:custGeom>
            <a:noFill/>
            <a:ln w="6350">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grpSp>
      <p:sp>
        <p:nvSpPr>
          <p:cNvPr id="16" name="Rectangle: Rounded Corners 15">
            <a:extLst>
              <a:ext uri="{FF2B5EF4-FFF2-40B4-BE49-F238E27FC236}">
                <a16:creationId xmlns:a16="http://schemas.microsoft.com/office/drawing/2014/main" id="{FF6ABF9D-AC96-B046-518C-A689A5AE8D59}"/>
              </a:ext>
            </a:extLst>
          </p:cNvPr>
          <p:cNvSpPr/>
          <p:nvPr/>
        </p:nvSpPr>
        <p:spPr>
          <a:xfrm>
            <a:off x="461963" y="3143250"/>
            <a:ext cx="2459919" cy="114300"/>
          </a:xfrm>
          <a:prstGeom prst="roundRect">
            <a:avLst/>
          </a:prstGeom>
          <a:noFill/>
          <a:ln>
            <a:solidFill>
              <a:schemeClr val="accent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17" name="Rectangle: Rounded Corners 16">
            <a:extLst>
              <a:ext uri="{FF2B5EF4-FFF2-40B4-BE49-F238E27FC236}">
                <a16:creationId xmlns:a16="http://schemas.microsoft.com/office/drawing/2014/main" id="{528ECC6B-04D4-3D9E-10DA-5DD7D59B8DD6}"/>
              </a:ext>
            </a:extLst>
          </p:cNvPr>
          <p:cNvSpPr/>
          <p:nvPr/>
        </p:nvSpPr>
        <p:spPr>
          <a:xfrm>
            <a:off x="461963" y="5361415"/>
            <a:ext cx="2459919" cy="114300"/>
          </a:xfrm>
          <a:prstGeom prst="roundRect">
            <a:avLst/>
          </a:prstGeom>
          <a:noFill/>
          <a:ln>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18" name="Rectangle: Rounded Corners 17">
            <a:extLst>
              <a:ext uri="{FF2B5EF4-FFF2-40B4-BE49-F238E27FC236}">
                <a16:creationId xmlns:a16="http://schemas.microsoft.com/office/drawing/2014/main" id="{5077CB81-5DBE-525D-9598-D572FC8C63D9}"/>
              </a:ext>
            </a:extLst>
          </p:cNvPr>
          <p:cNvSpPr/>
          <p:nvPr/>
        </p:nvSpPr>
        <p:spPr>
          <a:xfrm>
            <a:off x="461963" y="5486244"/>
            <a:ext cx="2459919" cy="114300"/>
          </a:xfrm>
          <a:prstGeom prst="roundRect">
            <a:avLst/>
          </a:prstGeom>
          <a:noFill/>
          <a:ln>
            <a:solidFill>
              <a:schemeClr val="accent6">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19" name="Rectangle: Rounded Corners 18">
            <a:extLst>
              <a:ext uri="{FF2B5EF4-FFF2-40B4-BE49-F238E27FC236}">
                <a16:creationId xmlns:a16="http://schemas.microsoft.com/office/drawing/2014/main" id="{F693C057-A899-30D8-4B31-9D639C4382C8}"/>
              </a:ext>
            </a:extLst>
          </p:cNvPr>
          <p:cNvSpPr/>
          <p:nvPr/>
        </p:nvSpPr>
        <p:spPr>
          <a:xfrm>
            <a:off x="9845200" y="3313355"/>
            <a:ext cx="165575" cy="248996"/>
          </a:xfrm>
          <a:prstGeom prst="roundRect">
            <a:avLst/>
          </a:prstGeom>
          <a:noFill/>
          <a:ln>
            <a:solidFill>
              <a:schemeClr val="accent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20" name="Rectangle: Rounded Corners 19">
            <a:extLst>
              <a:ext uri="{FF2B5EF4-FFF2-40B4-BE49-F238E27FC236}">
                <a16:creationId xmlns:a16="http://schemas.microsoft.com/office/drawing/2014/main" id="{FD121779-EEAF-DD36-3A9D-FE9A1DECBD33}"/>
              </a:ext>
            </a:extLst>
          </p:cNvPr>
          <p:cNvSpPr/>
          <p:nvPr/>
        </p:nvSpPr>
        <p:spPr>
          <a:xfrm>
            <a:off x="10171648" y="3784002"/>
            <a:ext cx="165576" cy="248996"/>
          </a:xfrm>
          <a:prstGeom prst="roundRect">
            <a:avLst/>
          </a:prstGeom>
          <a:noFill/>
          <a:ln>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21" name="Rectangle: Rounded Corners 20">
            <a:extLst>
              <a:ext uri="{FF2B5EF4-FFF2-40B4-BE49-F238E27FC236}">
                <a16:creationId xmlns:a16="http://schemas.microsoft.com/office/drawing/2014/main" id="{69B86E35-8D8C-B923-37A6-8018DE67D140}"/>
              </a:ext>
            </a:extLst>
          </p:cNvPr>
          <p:cNvSpPr/>
          <p:nvPr/>
        </p:nvSpPr>
        <p:spPr>
          <a:xfrm>
            <a:off x="10006073" y="3784001"/>
            <a:ext cx="165576" cy="239247"/>
          </a:xfrm>
          <a:prstGeom prst="roundRect">
            <a:avLst/>
          </a:prstGeom>
          <a:noFill/>
          <a:ln>
            <a:solidFill>
              <a:schemeClr val="accent6">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22" name="TextBox 21">
            <a:extLst>
              <a:ext uri="{FF2B5EF4-FFF2-40B4-BE49-F238E27FC236}">
                <a16:creationId xmlns:a16="http://schemas.microsoft.com/office/drawing/2014/main" id="{FEC5180C-9E49-AEF6-D496-82EE6CF29C9D}"/>
              </a:ext>
            </a:extLst>
          </p:cNvPr>
          <p:cNvSpPr txBox="1"/>
          <p:nvPr/>
        </p:nvSpPr>
        <p:spPr>
          <a:xfrm>
            <a:off x="9797983" y="3313355"/>
            <a:ext cx="260008" cy="261610"/>
          </a:xfrm>
          <a:prstGeom prst="rect">
            <a:avLst/>
          </a:prstGeom>
          <a:noFill/>
        </p:spPr>
        <p:txBody>
          <a:bodyPr wrap="none" rtlCol="0">
            <a:spAutoFit/>
          </a:bodyPr>
          <a:lstStyle/>
          <a:p>
            <a:r>
              <a:rPr lang="sv-SE" sz="1100"/>
              <a:t>1</a:t>
            </a:r>
            <a:endParaRPr lang="LID4096"/>
          </a:p>
        </p:txBody>
      </p:sp>
      <p:sp>
        <p:nvSpPr>
          <p:cNvPr id="23" name="TextBox 22">
            <a:extLst>
              <a:ext uri="{FF2B5EF4-FFF2-40B4-BE49-F238E27FC236}">
                <a16:creationId xmlns:a16="http://schemas.microsoft.com/office/drawing/2014/main" id="{F3B6CA9C-F82E-3E98-345A-BA9C69657795}"/>
              </a:ext>
            </a:extLst>
          </p:cNvPr>
          <p:cNvSpPr txBox="1"/>
          <p:nvPr/>
        </p:nvSpPr>
        <p:spPr>
          <a:xfrm>
            <a:off x="10124433" y="3774251"/>
            <a:ext cx="260008" cy="261610"/>
          </a:xfrm>
          <a:prstGeom prst="rect">
            <a:avLst/>
          </a:prstGeom>
          <a:noFill/>
        </p:spPr>
        <p:txBody>
          <a:bodyPr wrap="none" rtlCol="0">
            <a:spAutoFit/>
          </a:bodyPr>
          <a:lstStyle/>
          <a:p>
            <a:r>
              <a:rPr lang="sv-SE" sz="1100"/>
              <a:t>1</a:t>
            </a:r>
            <a:endParaRPr lang="LID4096"/>
          </a:p>
        </p:txBody>
      </p:sp>
      <p:sp>
        <p:nvSpPr>
          <p:cNvPr id="24" name="TextBox 23">
            <a:extLst>
              <a:ext uri="{FF2B5EF4-FFF2-40B4-BE49-F238E27FC236}">
                <a16:creationId xmlns:a16="http://schemas.microsoft.com/office/drawing/2014/main" id="{483C5C95-9E27-FA7C-4189-3B18529D4433}"/>
              </a:ext>
            </a:extLst>
          </p:cNvPr>
          <p:cNvSpPr txBox="1"/>
          <p:nvPr/>
        </p:nvSpPr>
        <p:spPr>
          <a:xfrm>
            <a:off x="9961420" y="3784001"/>
            <a:ext cx="260008" cy="261610"/>
          </a:xfrm>
          <a:prstGeom prst="rect">
            <a:avLst/>
          </a:prstGeom>
          <a:noFill/>
        </p:spPr>
        <p:txBody>
          <a:bodyPr wrap="none" rtlCol="0">
            <a:spAutoFit/>
          </a:bodyPr>
          <a:lstStyle/>
          <a:p>
            <a:r>
              <a:rPr lang="sv-SE" sz="1100"/>
              <a:t>1</a:t>
            </a:r>
            <a:endParaRPr lang="LID4096"/>
          </a:p>
        </p:txBody>
      </p:sp>
      <p:pic>
        <p:nvPicPr>
          <p:cNvPr id="26" name="Picture 25">
            <a:extLst>
              <a:ext uri="{FF2B5EF4-FFF2-40B4-BE49-F238E27FC236}">
                <a16:creationId xmlns:a16="http://schemas.microsoft.com/office/drawing/2014/main" id="{BC9C04E3-F369-2C22-7A32-2935152901AA}"/>
              </a:ext>
            </a:extLst>
          </p:cNvPr>
          <p:cNvPicPr>
            <a:picLocks noChangeAspect="1"/>
          </p:cNvPicPr>
          <p:nvPr/>
        </p:nvPicPr>
        <p:blipFill>
          <a:blip r:embed="rId6"/>
          <a:stretch>
            <a:fillRect/>
          </a:stretch>
        </p:blipFill>
        <p:spPr>
          <a:xfrm>
            <a:off x="2995203" y="3679467"/>
            <a:ext cx="3786694" cy="816055"/>
          </a:xfrm>
          <a:prstGeom prst="rect">
            <a:avLst/>
          </a:prstGeom>
          <a:ln>
            <a:solidFill>
              <a:schemeClr val="tx1"/>
            </a:solidFill>
          </a:ln>
          <a:effectLst>
            <a:outerShdw blurRad="50800" dist="38100" dir="2700000" algn="tl" rotWithShape="0">
              <a:prstClr val="black">
                <a:alpha val="40000"/>
              </a:prstClr>
            </a:outerShdw>
          </a:effectLst>
        </p:spPr>
      </p:pic>
    </p:spTree>
    <p:extLst>
      <p:ext uri="{BB962C8B-B14F-4D97-AF65-F5344CB8AC3E}">
        <p14:creationId xmlns:p14="http://schemas.microsoft.com/office/powerpoint/2010/main" val="361113459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F7A9FF7-0A3C-64FA-D2A6-78190F41986B}"/>
              </a:ext>
            </a:extLst>
          </p:cNvPr>
          <p:cNvSpPr>
            <a:spLocks noGrp="1"/>
          </p:cNvSpPr>
          <p:nvPr>
            <p:ph type="title"/>
          </p:nvPr>
        </p:nvSpPr>
        <p:spPr/>
        <p:txBody>
          <a:bodyPr/>
          <a:lstStyle/>
          <a:p>
            <a:r>
              <a:rPr lang="sv-SE"/>
              <a:t>Skriv en interrupt hanterare</a:t>
            </a:r>
            <a:endParaRPr lang="LID4096"/>
          </a:p>
        </p:txBody>
      </p:sp>
      <p:pic>
        <p:nvPicPr>
          <p:cNvPr id="5" name="Content Placeholder 4">
            <a:extLst>
              <a:ext uri="{FF2B5EF4-FFF2-40B4-BE49-F238E27FC236}">
                <a16:creationId xmlns:a16="http://schemas.microsoft.com/office/drawing/2014/main" id="{23B1584C-87D6-BB7D-A4F8-908F83706678}"/>
              </a:ext>
            </a:extLst>
          </p:cNvPr>
          <p:cNvPicPr>
            <a:picLocks noGrp="1" noChangeAspect="1"/>
          </p:cNvPicPr>
          <p:nvPr>
            <p:ph idx="1"/>
          </p:nvPr>
        </p:nvPicPr>
        <p:blipFill>
          <a:blip r:embed="rId2"/>
          <a:stretch>
            <a:fillRect/>
          </a:stretch>
        </p:blipFill>
        <p:spPr>
          <a:xfrm>
            <a:off x="952023" y="2115112"/>
            <a:ext cx="6830378" cy="3315163"/>
          </a:xfrm>
          <a:prstGeom prst="rect">
            <a:avLst/>
          </a:prstGeom>
        </p:spPr>
      </p:pic>
      <p:sp>
        <p:nvSpPr>
          <p:cNvPr id="6" name="TextBox 5">
            <a:extLst>
              <a:ext uri="{FF2B5EF4-FFF2-40B4-BE49-F238E27FC236}">
                <a16:creationId xmlns:a16="http://schemas.microsoft.com/office/drawing/2014/main" id="{F4D1C0CF-1BA6-DBF3-E06A-2C1F47E01EFF}"/>
              </a:ext>
            </a:extLst>
          </p:cNvPr>
          <p:cNvSpPr txBox="1"/>
          <p:nvPr/>
        </p:nvSpPr>
        <p:spPr>
          <a:xfrm>
            <a:off x="2103328" y="2991148"/>
            <a:ext cx="2499980" cy="276999"/>
          </a:xfrm>
          <a:prstGeom prst="rect">
            <a:avLst/>
          </a:prstGeom>
          <a:solidFill>
            <a:schemeClr val="bg1"/>
          </a:solidFill>
          <a:ln>
            <a:solidFill>
              <a:schemeClr val="tx1"/>
            </a:solidFill>
          </a:ln>
          <a:effectLst>
            <a:outerShdw blurRad="50800" dist="38100" dir="2700000" algn="tl" rotWithShape="0">
              <a:prstClr val="black">
                <a:alpha val="40000"/>
              </a:prstClr>
            </a:outerShdw>
          </a:effectLst>
        </p:spPr>
        <p:txBody>
          <a:bodyPr wrap="none" rtlCol="0">
            <a:spAutoFit/>
          </a:bodyPr>
          <a:lstStyle/>
          <a:p>
            <a:r>
              <a:rPr lang="sv-SE" sz="1200"/>
              <a:t>Öhmm.... vem var det som avbröt? </a:t>
            </a:r>
            <a:endParaRPr lang="LID4096" sz="1200"/>
          </a:p>
        </p:txBody>
      </p:sp>
    </p:spTree>
    <p:extLst>
      <p:ext uri="{BB962C8B-B14F-4D97-AF65-F5344CB8AC3E}">
        <p14:creationId xmlns:p14="http://schemas.microsoft.com/office/powerpoint/2010/main" val="80688700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74A6BC-1608-CCFE-4EB9-9D9BA0582B8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435B713-D2C5-6CDB-06C3-C894F5D455B5}"/>
              </a:ext>
            </a:extLst>
          </p:cNvPr>
          <p:cNvSpPr>
            <a:spLocks noGrp="1"/>
          </p:cNvSpPr>
          <p:nvPr>
            <p:ph type="title"/>
          </p:nvPr>
        </p:nvSpPr>
        <p:spPr/>
        <p:txBody>
          <a:bodyPr/>
          <a:lstStyle/>
          <a:p>
            <a:r>
              <a:rPr lang="sv-SE"/>
              <a:t>Skriv en interrupt hanterare</a:t>
            </a:r>
            <a:endParaRPr lang="LID4096"/>
          </a:p>
        </p:txBody>
      </p:sp>
      <p:pic>
        <p:nvPicPr>
          <p:cNvPr id="8" name="Picture 7">
            <a:extLst>
              <a:ext uri="{FF2B5EF4-FFF2-40B4-BE49-F238E27FC236}">
                <a16:creationId xmlns:a16="http://schemas.microsoft.com/office/drawing/2014/main" id="{0B0D7CCC-2E53-1019-3ACC-32E437CDE7D7}"/>
              </a:ext>
            </a:extLst>
          </p:cNvPr>
          <p:cNvPicPr>
            <a:picLocks noChangeAspect="1"/>
          </p:cNvPicPr>
          <p:nvPr/>
        </p:nvPicPr>
        <p:blipFill>
          <a:blip r:embed="rId3"/>
          <a:stretch>
            <a:fillRect/>
          </a:stretch>
        </p:blipFill>
        <p:spPr>
          <a:xfrm>
            <a:off x="0" y="1690688"/>
            <a:ext cx="4482092" cy="5143975"/>
          </a:xfrm>
          <a:prstGeom prst="rect">
            <a:avLst/>
          </a:prstGeom>
        </p:spPr>
      </p:pic>
      <p:pic>
        <p:nvPicPr>
          <p:cNvPr id="10" name="Picture 9">
            <a:extLst>
              <a:ext uri="{FF2B5EF4-FFF2-40B4-BE49-F238E27FC236}">
                <a16:creationId xmlns:a16="http://schemas.microsoft.com/office/drawing/2014/main" id="{EFA7314A-0E05-CD70-C9B2-A99E2F3DF2E4}"/>
              </a:ext>
            </a:extLst>
          </p:cNvPr>
          <p:cNvPicPr>
            <a:picLocks noChangeAspect="1"/>
          </p:cNvPicPr>
          <p:nvPr/>
        </p:nvPicPr>
        <p:blipFill>
          <a:blip r:embed="rId4"/>
          <a:stretch>
            <a:fillRect/>
          </a:stretch>
        </p:blipFill>
        <p:spPr>
          <a:xfrm>
            <a:off x="4695232" y="1847792"/>
            <a:ext cx="7211018" cy="1033606"/>
          </a:xfrm>
          <a:prstGeom prst="rect">
            <a:avLst/>
          </a:prstGeom>
          <a:ln>
            <a:solidFill>
              <a:schemeClr val="tx1"/>
            </a:solidFill>
          </a:ln>
          <a:effectLst>
            <a:outerShdw blurRad="50800" dist="38100" dir="2700000" algn="tl" rotWithShape="0">
              <a:prstClr val="black">
                <a:alpha val="40000"/>
              </a:prstClr>
            </a:outerShdw>
          </a:effectLst>
        </p:spPr>
      </p:pic>
      <p:grpSp>
        <p:nvGrpSpPr>
          <p:cNvPr id="11" name="Group 10">
            <a:extLst>
              <a:ext uri="{FF2B5EF4-FFF2-40B4-BE49-F238E27FC236}">
                <a16:creationId xmlns:a16="http://schemas.microsoft.com/office/drawing/2014/main" id="{BA09BC0E-A314-259B-F449-FDB55136A26D}"/>
              </a:ext>
            </a:extLst>
          </p:cNvPr>
          <p:cNvGrpSpPr/>
          <p:nvPr/>
        </p:nvGrpSpPr>
        <p:grpSpPr>
          <a:xfrm>
            <a:off x="2780880" y="3857625"/>
            <a:ext cx="6405982" cy="2514873"/>
            <a:chOff x="1437175" y="3130475"/>
            <a:chExt cx="15058165" cy="5949659"/>
          </a:xfrm>
        </p:grpSpPr>
        <p:cxnSp>
          <p:nvCxnSpPr>
            <p:cNvPr id="12" name="Straight Arrow Connector 11">
              <a:extLst>
                <a:ext uri="{FF2B5EF4-FFF2-40B4-BE49-F238E27FC236}">
                  <a16:creationId xmlns:a16="http://schemas.microsoft.com/office/drawing/2014/main" id="{D906EF8E-605A-1FCB-A5A5-867696E33F5C}"/>
                </a:ext>
              </a:extLst>
            </p:cNvPr>
            <p:cNvCxnSpPr/>
            <p:nvPr/>
          </p:nvCxnSpPr>
          <p:spPr>
            <a:xfrm flipH="1">
              <a:off x="4362226" y="3130475"/>
              <a:ext cx="4351468" cy="0"/>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13" name="Straight Arrow Connector 12">
              <a:extLst>
                <a:ext uri="{FF2B5EF4-FFF2-40B4-BE49-F238E27FC236}">
                  <a16:creationId xmlns:a16="http://schemas.microsoft.com/office/drawing/2014/main" id="{B0AC429E-BFC9-4935-C4B0-DE9A4B86D750}"/>
                </a:ext>
              </a:extLst>
            </p:cNvPr>
            <p:cNvCxnSpPr/>
            <p:nvPr/>
          </p:nvCxnSpPr>
          <p:spPr>
            <a:xfrm flipH="1">
              <a:off x="4665233" y="4982583"/>
              <a:ext cx="4351468" cy="0"/>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14" name="Straight Arrow Connector 13">
              <a:extLst>
                <a:ext uri="{FF2B5EF4-FFF2-40B4-BE49-F238E27FC236}">
                  <a16:creationId xmlns:a16="http://schemas.microsoft.com/office/drawing/2014/main" id="{8595656B-E325-702C-0E8D-7BE6F89A329F}"/>
                </a:ext>
              </a:extLst>
            </p:cNvPr>
            <p:cNvCxnSpPr/>
            <p:nvPr/>
          </p:nvCxnSpPr>
          <p:spPr>
            <a:xfrm flipH="1">
              <a:off x="4419600" y="6592644"/>
              <a:ext cx="4351468" cy="0"/>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15" name="Straight Connector 14">
              <a:extLst>
                <a:ext uri="{FF2B5EF4-FFF2-40B4-BE49-F238E27FC236}">
                  <a16:creationId xmlns:a16="http://schemas.microsoft.com/office/drawing/2014/main" id="{329AD4D4-A888-9AEE-3738-81F7CE7E2047}"/>
                </a:ext>
              </a:extLst>
            </p:cNvPr>
            <p:cNvCxnSpPr/>
            <p:nvPr/>
          </p:nvCxnSpPr>
          <p:spPr>
            <a:xfrm>
              <a:off x="8713694" y="3130475"/>
              <a:ext cx="303007" cy="1852108"/>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6" name="Straight Connector 15">
              <a:extLst>
                <a:ext uri="{FF2B5EF4-FFF2-40B4-BE49-F238E27FC236}">
                  <a16:creationId xmlns:a16="http://schemas.microsoft.com/office/drawing/2014/main" id="{165A3668-C2F1-5965-D6AB-820400E724EA}"/>
                </a:ext>
              </a:extLst>
            </p:cNvPr>
            <p:cNvCxnSpPr>
              <a:cxnSpLocks/>
            </p:cNvCxnSpPr>
            <p:nvPr/>
          </p:nvCxnSpPr>
          <p:spPr>
            <a:xfrm flipH="1">
              <a:off x="8771068" y="4982583"/>
              <a:ext cx="245633" cy="1610061"/>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7" name="Straight Connector 16">
              <a:extLst>
                <a:ext uri="{FF2B5EF4-FFF2-40B4-BE49-F238E27FC236}">
                  <a16:creationId xmlns:a16="http://schemas.microsoft.com/office/drawing/2014/main" id="{67AB9B11-BFED-33F3-CBAE-BB4DB38FFC14}"/>
                </a:ext>
              </a:extLst>
            </p:cNvPr>
            <p:cNvCxnSpPr>
              <a:cxnSpLocks/>
            </p:cNvCxnSpPr>
            <p:nvPr/>
          </p:nvCxnSpPr>
          <p:spPr>
            <a:xfrm flipH="1">
              <a:off x="9016701" y="4982582"/>
              <a:ext cx="458435" cy="0"/>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sp>
          <p:nvSpPr>
            <p:cNvPr id="18" name="TextBox 17">
              <a:extLst>
                <a:ext uri="{FF2B5EF4-FFF2-40B4-BE49-F238E27FC236}">
                  <a16:creationId xmlns:a16="http://schemas.microsoft.com/office/drawing/2014/main" id="{CE526D2A-D605-979E-E907-86A18774D736}"/>
                </a:ext>
              </a:extLst>
            </p:cNvPr>
            <p:cNvSpPr txBox="1"/>
            <p:nvPr/>
          </p:nvSpPr>
          <p:spPr>
            <a:xfrm>
              <a:off x="9475134" y="4258531"/>
              <a:ext cx="7020206" cy="1529083"/>
            </a:xfrm>
            <a:prstGeom prst="rect">
              <a:avLst/>
            </a:prstGeom>
            <a:solidFill>
              <a:schemeClr val="bg1"/>
            </a:solidFill>
            <a:ln>
              <a:solidFill>
                <a:schemeClr val="tx1"/>
              </a:solidFill>
            </a:ln>
            <a:effectLst>
              <a:outerShdw blurRad="50800" dist="38100" dir="2700000" algn="tl" rotWithShape="0">
                <a:prstClr val="black">
                  <a:alpha val="40000"/>
                </a:prstClr>
              </a:outerShdw>
            </a:effectLst>
          </p:spPr>
          <p:txBody>
            <a:bodyPr wrap="square" rtlCol="0">
              <a:spAutoFit/>
            </a:bodyPr>
            <a:lstStyle/>
            <a:p>
              <a:r>
                <a:rPr lang="sv-SE" sz="1200" dirty="0"/>
                <a:t>Säg åt timern att vi har tagit hand om</a:t>
              </a:r>
            </a:p>
            <a:p>
              <a:r>
                <a:rPr lang="sv-SE" sz="1200" dirty="0" err="1"/>
                <a:t>interruptet</a:t>
              </a:r>
              <a:r>
                <a:rPr lang="sv-SE" sz="1200" dirty="0"/>
                <a:t>, så det är fritt fram att skicka </a:t>
              </a:r>
            </a:p>
            <a:p>
              <a:r>
                <a:rPr lang="sv-SE" sz="1200" dirty="0"/>
                <a:t>ett nytt</a:t>
              </a:r>
              <a:endParaRPr lang="LID4096" sz="1200" dirty="0"/>
            </a:p>
          </p:txBody>
        </p:sp>
        <p:sp>
          <p:nvSpPr>
            <p:cNvPr id="19" name="TextBox 18">
              <a:extLst>
                <a:ext uri="{FF2B5EF4-FFF2-40B4-BE49-F238E27FC236}">
                  <a16:creationId xmlns:a16="http://schemas.microsoft.com/office/drawing/2014/main" id="{16D39585-D256-0845-892E-9C0A408E8836}"/>
                </a:ext>
              </a:extLst>
            </p:cNvPr>
            <p:cNvSpPr txBox="1"/>
            <p:nvPr/>
          </p:nvSpPr>
          <p:spPr>
            <a:xfrm>
              <a:off x="1437175" y="7987932"/>
              <a:ext cx="7020206" cy="1092202"/>
            </a:xfrm>
            <a:prstGeom prst="rect">
              <a:avLst/>
            </a:prstGeom>
            <a:solidFill>
              <a:schemeClr val="bg1"/>
            </a:solidFill>
            <a:ln>
              <a:solidFill>
                <a:schemeClr val="tx1"/>
              </a:solidFill>
            </a:ln>
            <a:effectLst>
              <a:outerShdw blurRad="50800" dist="38100" dir="2700000" algn="tl" rotWithShape="0">
                <a:prstClr val="black">
                  <a:alpha val="40000"/>
                </a:prstClr>
              </a:outerShdw>
            </a:effectLst>
          </p:spPr>
          <p:txBody>
            <a:bodyPr wrap="square" rtlCol="0">
              <a:spAutoFit/>
            </a:bodyPr>
            <a:lstStyle/>
            <a:p>
              <a:r>
                <a:rPr lang="sv-SE" sz="1200"/>
                <a:t>Detta är ganska mycket kod, när allt vi ville göra var att flippa en bit.</a:t>
              </a:r>
              <a:endParaRPr lang="LID4096" sz="1200"/>
            </a:p>
          </p:txBody>
        </p:sp>
      </p:grpSp>
    </p:spTree>
    <p:extLst>
      <p:ext uri="{BB962C8B-B14F-4D97-AF65-F5344CB8AC3E}">
        <p14:creationId xmlns:p14="http://schemas.microsoft.com/office/powerpoint/2010/main" val="128246015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5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222910633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0E59086-43C0-F389-1A84-B1919E40F746}"/>
              </a:ext>
            </a:extLst>
          </p:cNvPr>
          <p:cNvSpPr>
            <a:spLocks noGrp="1"/>
          </p:cNvSpPr>
          <p:nvPr>
            <p:ph type="title"/>
          </p:nvPr>
        </p:nvSpPr>
        <p:spPr/>
        <p:txBody>
          <a:bodyPr/>
          <a:lstStyle/>
          <a:p>
            <a:r>
              <a:rPr lang="sv-SE"/>
              <a:t>Vectored Interrupt Handling</a:t>
            </a:r>
            <a:endParaRPr lang="LID4096"/>
          </a:p>
        </p:txBody>
      </p:sp>
      <p:pic>
        <p:nvPicPr>
          <p:cNvPr id="12" name="Picture 11">
            <a:extLst>
              <a:ext uri="{FF2B5EF4-FFF2-40B4-BE49-F238E27FC236}">
                <a16:creationId xmlns:a16="http://schemas.microsoft.com/office/drawing/2014/main" id="{A775A33D-B8CC-ED86-ECB7-F3A88DAE7A8E}"/>
              </a:ext>
            </a:extLst>
          </p:cNvPr>
          <p:cNvPicPr>
            <a:picLocks noChangeAspect="1"/>
          </p:cNvPicPr>
          <p:nvPr/>
        </p:nvPicPr>
        <p:blipFill>
          <a:blip r:embed="rId3"/>
          <a:stretch>
            <a:fillRect/>
          </a:stretch>
        </p:blipFill>
        <p:spPr>
          <a:xfrm>
            <a:off x="2804472" y="3536632"/>
            <a:ext cx="5596066" cy="1037354"/>
          </a:xfrm>
          <a:prstGeom prst="rect">
            <a:avLst/>
          </a:prstGeom>
        </p:spPr>
      </p:pic>
      <p:sp>
        <p:nvSpPr>
          <p:cNvPr id="14" name="Rectangle 13">
            <a:extLst>
              <a:ext uri="{FF2B5EF4-FFF2-40B4-BE49-F238E27FC236}">
                <a16:creationId xmlns:a16="http://schemas.microsoft.com/office/drawing/2014/main" id="{362E98A0-EB29-9F0B-C326-EAE12786A36F}"/>
              </a:ext>
            </a:extLst>
          </p:cNvPr>
          <p:cNvSpPr/>
          <p:nvPr/>
        </p:nvSpPr>
        <p:spPr>
          <a:xfrm>
            <a:off x="2843662" y="3990221"/>
            <a:ext cx="5525644" cy="144037"/>
          </a:xfrm>
          <a:prstGeom prst="rect">
            <a:avLst/>
          </a:prstGeom>
          <a:solidFill>
            <a:schemeClr val="accent2">
              <a:lumMod val="75000"/>
              <a:alpha val="33000"/>
            </a:schemeClr>
          </a:solidFill>
          <a:ln>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grpSp>
        <p:nvGrpSpPr>
          <p:cNvPr id="26" name="Group 25">
            <a:extLst>
              <a:ext uri="{FF2B5EF4-FFF2-40B4-BE49-F238E27FC236}">
                <a16:creationId xmlns:a16="http://schemas.microsoft.com/office/drawing/2014/main" id="{58399B08-331C-9F25-8CD6-EDD08D34E5F9}"/>
              </a:ext>
            </a:extLst>
          </p:cNvPr>
          <p:cNvGrpSpPr/>
          <p:nvPr/>
        </p:nvGrpSpPr>
        <p:grpSpPr>
          <a:xfrm>
            <a:off x="422905" y="2344759"/>
            <a:ext cx="10951152" cy="2650313"/>
            <a:chOff x="422905" y="2344759"/>
            <a:chExt cx="10951152" cy="2650313"/>
          </a:xfrm>
        </p:grpSpPr>
        <p:pic>
          <p:nvPicPr>
            <p:cNvPr id="13" name="Picture 12">
              <a:extLst>
                <a:ext uri="{FF2B5EF4-FFF2-40B4-BE49-F238E27FC236}">
                  <a16:creationId xmlns:a16="http://schemas.microsoft.com/office/drawing/2014/main" id="{5EF2E08F-75CE-7004-58FA-42A1A22E31CA}"/>
                </a:ext>
              </a:extLst>
            </p:cNvPr>
            <p:cNvPicPr>
              <a:picLocks noChangeAspect="1"/>
            </p:cNvPicPr>
            <p:nvPr/>
          </p:nvPicPr>
          <p:blipFill>
            <a:blip r:embed="rId4"/>
            <a:stretch>
              <a:fillRect/>
            </a:stretch>
          </p:blipFill>
          <p:spPr>
            <a:xfrm>
              <a:off x="422905" y="3115546"/>
              <a:ext cx="1954823" cy="1879526"/>
            </a:xfrm>
            <a:prstGeom prst="rect">
              <a:avLst/>
            </a:prstGeom>
          </p:spPr>
        </p:pic>
        <p:sp>
          <p:nvSpPr>
            <p:cNvPr id="16" name="TextBox 15">
              <a:extLst>
                <a:ext uri="{FF2B5EF4-FFF2-40B4-BE49-F238E27FC236}">
                  <a16:creationId xmlns:a16="http://schemas.microsoft.com/office/drawing/2014/main" id="{38638005-336D-8A5A-549A-F0BE61E0EBFF}"/>
                </a:ext>
              </a:extLst>
            </p:cNvPr>
            <p:cNvSpPr txBox="1"/>
            <p:nvPr/>
          </p:nvSpPr>
          <p:spPr>
            <a:xfrm>
              <a:off x="8524946" y="2367958"/>
              <a:ext cx="2849111" cy="1363578"/>
            </a:xfrm>
            <a:prstGeom prst="rect">
              <a:avLst/>
            </a:prstGeom>
            <a:solidFill>
              <a:schemeClr val="tx1">
                <a:lumMod val="85000"/>
                <a:lumOff val="15000"/>
              </a:schemeClr>
            </a:solidFill>
          </p:spPr>
          <p:txBody>
            <a:bodyPr wrap="square">
              <a:spAutoFit/>
            </a:bodyPr>
            <a:lstStyle/>
            <a:p>
              <a:pPr>
                <a:lnSpc>
                  <a:spcPts val="1425"/>
                </a:lnSpc>
                <a:buNone/>
              </a:pPr>
              <a:r>
                <a:rPr lang="en-GB" sz="1000" b="0">
                  <a:solidFill>
                    <a:srgbClr val="DCDCAA"/>
                  </a:solidFill>
                  <a:effectLst/>
                  <a:latin typeface="Consolas" panose="020B0609020204030204" pitchFamily="49" charset="0"/>
                </a:rPr>
                <a:t>__attribute__</a:t>
              </a:r>
              <a:r>
                <a:rPr lang="en-GB" sz="1000" b="0">
                  <a:solidFill>
                    <a:srgbClr val="CCCCCC"/>
                  </a:solidFill>
                  <a:effectLst/>
                  <a:latin typeface="Consolas" panose="020B0609020204030204" pitchFamily="49" charset="0"/>
                </a:rPr>
                <a:t>((</a:t>
              </a:r>
              <a:r>
                <a:rPr lang="en-GB" sz="1000" b="0">
                  <a:solidFill>
                    <a:srgbClr val="DCDCAA"/>
                  </a:solidFill>
                  <a:effectLst/>
                  <a:latin typeface="Consolas" panose="020B0609020204030204" pitchFamily="49" charset="0"/>
                </a:rPr>
                <a:t>interrupt</a:t>
              </a:r>
              <a:r>
                <a:rPr lang="en-GB" sz="1000" b="0">
                  <a:solidFill>
                    <a:srgbClr val="CCCCCC"/>
                  </a:solidFill>
                  <a:effectLst/>
                  <a:latin typeface="Consolas" panose="020B0609020204030204" pitchFamily="49" charset="0"/>
                </a:rPr>
                <a:t>(</a:t>
              </a:r>
              <a:r>
                <a:rPr lang="en-GB" sz="1000" b="0">
                  <a:solidFill>
                    <a:srgbClr val="CE9178"/>
                  </a:solidFill>
                  <a:effectLst/>
                  <a:latin typeface="Consolas" panose="020B0609020204030204" pitchFamily="49" charset="0"/>
                </a:rPr>
                <a:t>"machine"</a:t>
              </a:r>
              <a:r>
                <a:rPr lang="en-GB" sz="1000" b="0">
                  <a:solidFill>
                    <a:srgbClr val="CCCCCC"/>
                  </a:solidFill>
                  <a:effectLst/>
                  <a:latin typeface="Consolas" panose="020B0609020204030204" pitchFamily="49" charset="0"/>
                </a:rPr>
                <a:t>)))</a:t>
              </a:r>
            </a:p>
            <a:p>
              <a:pPr>
                <a:lnSpc>
                  <a:spcPts val="1425"/>
                </a:lnSpc>
                <a:buNone/>
              </a:pPr>
              <a:r>
                <a:rPr lang="en-GB" sz="1000" b="0">
                  <a:solidFill>
                    <a:srgbClr val="569CD6"/>
                  </a:solidFill>
                  <a:effectLst/>
                  <a:latin typeface="Consolas" panose="020B0609020204030204" pitchFamily="49" charset="0"/>
                </a:rPr>
                <a:t>void</a:t>
              </a:r>
              <a:r>
                <a:rPr lang="en-GB" sz="1000" b="0">
                  <a:solidFill>
                    <a:srgbClr val="CCCCCC"/>
                  </a:solidFill>
                  <a:effectLst/>
                  <a:latin typeface="Consolas" panose="020B0609020204030204" pitchFamily="49" charset="0"/>
                </a:rPr>
                <a:t> </a:t>
              </a:r>
              <a:r>
                <a:rPr lang="en-GB" sz="1000" b="0">
                  <a:solidFill>
                    <a:srgbClr val="DCDCAA"/>
                  </a:solidFill>
                  <a:effectLst/>
                  <a:latin typeface="Consolas" panose="020B0609020204030204" pitchFamily="49" charset="0"/>
                </a:rPr>
                <a:t>Interrupt_Handler</a:t>
              </a:r>
              <a:r>
                <a:rPr lang="en-GB" sz="1000" b="0">
                  <a:solidFill>
                    <a:srgbClr val="CCCCCC"/>
                  </a:solidFill>
                  <a:effectLst/>
                  <a:latin typeface="Consolas" panose="020B0609020204030204" pitchFamily="49" charset="0"/>
                </a:rPr>
                <a:t>(</a:t>
              </a:r>
              <a:r>
                <a:rPr lang="en-GB" sz="1000" b="0">
                  <a:solidFill>
                    <a:srgbClr val="569CD6"/>
                  </a:solidFill>
                  <a:effectLst/>
                  <a:latin typeface="Consolas" panose="020B0609020204030204" pitchFamily="49" charset="0"/>
                </a:rPr>
                <a:t>void</a:t>
              </a:r>
              <a:r>
                <a:rPr lang="en-GB" sz="1000" b="0">
                  <a:solidFill>
                    <a:srgbClr val="CCCCCC"/>
                  </a:solidFill>
                  <a:effectLst/>
                  <a:latin typeface="Consolas" panose="020B0609020204030204" pitchFamily="49" charset="0"/>
                </a:rPr>
                <a:t>)</a:t>
              </a:r>
            </a:p>
            <a:p>
              <a:pPr>
                <a:lnSpc>
                  <a:spcPts val="1425"/>
                </a:lnSpc>
                <a:buNone/>
              </a:pPr>
              <a:r>
                <a:rPr lang="en-GB" sz="1000" b="0">
                  <a:solidFill>
                    <a:srgbClr val="CCCCCC"/>
                  </a:solidFill>
                  <a:effectLst/>
                  <a:latin typeface="Consolas" panose="020B0609020204030204" pitchFamily="49" charset="0"/>
                </a:rPr>
                <a:t>{</a:t>
              </a:r>
            </a:p>
            <a:p>
              <a:pPr>
                <a:lnSpc>
                  <a:spcPts val="1425"/>
                </a:lnSpc>
                <a:buNone/>
              </a:pPr>
              <a:r>
                <a:rPr lang="en-GB" sz="1000" b="0">
                  <a:solidFill>
                    <a:srgbClr val="CCCCCC"/>
                  </a:solidFill>
                  <a:effectLst/>
                  <a:latin typeface="Consolas" panose="020B0609020204030204" pitchFamily="49" charset="0"/>
                </a:rPr>
                <a:t>    ...</a:t>
              </a:r>
            </a:p>
            <a:p>
              <a:pPr>
                <a:lnSpc>
                  <a:spcPts val="1425"/>
                </a:lnSpc>
                <a:buNone/>
              </a:pPr>
              <a:r>
                <a:rPr lang="en-GB" sz="1000" b="0">
                  <a:solidFill>
                    <a:srgbClr val="CCCCCC"/>
                  </a:solidFill>
                  <a:effectLst/>
                  <a:latin typeface="Consolas" panose="020B0609020204030204" pitchFamily="49" charset="0"/>
                </a:rPr>
                <a:t>}</a:t>
              </a:r>
            </a:p>
            <a:p>
              <a:pPr>
                <a:lnSpc>
                  <a:spcPts val="1425"/>
                </a:lnSpc>
                <a:buNone/>
              </a:pPr>
              <a:br>
                <a:rPr lang="en-GB" sz="1000" b="0">
                  <a:solidFill>
                    <a:srgbClr val="CCCCCC"/>
                  </a:solidFill>
                  <a:effectLst/>
                  <a:latin typeface="Consolas" panose="020B0609020204030204" pitchFamily="49" charset="0"/>
                </a:rPr>
              </a:br>
              <a:endParaRPr lang="en-GB" sz="1000" b="0">
                <a:solidFill>
                  <a:srgbClr val="CCCCCC"/>
                </a:solidFill>
                <a:effectLst/>
                <a:latin typeface="Consolas" panose="020B0609020204030204" pitchFamily="49" charset="0"/>
              </a:endParaRPr>
            </a:p>
          </p:txBody>
        </p:sp>
        <p:sp>
          <p:nvSpPr>
            <p:cNvPr id="17" name="Freeform: Shape 16">
              <a:extLst>
                <a:ext uri="{FF2B5EF4-FFF2-40B4-BE49-F238E27FC236}">
                  <a16:creationId xmlns:a16="http://schemas.microsoft.com/office/drawing/2014/main" id="{FEE97D96-5BDB-46FC-48B8-A5F857BC011B}"/>
                </a:ext>
              </a:extLst>
            </p:cNvPr>
            <p:cNvSpPr/>
            <p:nvPr/>
          </p:nvSpPr>
          <p:spPr>
            <a:xfrm>
              <a:off x="6430117" y="2716360"/>
              <a:ext cx="2051109" cy="1275051"/>
            </a:xfrm>
            <a:custGeom>
              <a:avLst/>
              <a:gdLst>
                <a:gd name="csX0" fmla="*/ 0 w 1199626"/>
                <a:gd name="csY0" fmla="*/ 1082180 h 1082180"/>
                <a:gd name="csX1" fmla="*/ 322976 w 1199626"/>
                <a:gd name="csY1" fmla="*/ 209725 h 1082180"/>
                <a:gd name="csX2" fmla="*/ 1199626 w 1199626"/>
                <a:gd name="csY2" fmla="*/ 0 h 1082180"/>
                <a:gd name="csX0" fmla="*/ 0 w 2051109"/>
                <a:gd name="csY0" fmla="*/ 1270932 h 1270932"/>
                <a:gd name="csX1" fmla="*/ 322976 w 2051109"/>
                <a:gd name="csY1" fmla="*/ 398477 h 1270932"/>
                <a:gd name="csX2" fmla="*/ 2051109 w 2051109"/>
                <a:gd name="csY2" fmla="*/ 0 h 1270932"/>
                <a:gd name="csX0" fmla="*/ 0 w 2051109"/>
                <a:gd name="csY0" fmla="*/ 1275051 h 1275051"/>
                <a:gd name="csX1" fmla="*/ 322976 w 2051109"/>
                <a:gd name="csY1" fmla="*/ 402596 h 1275051"/>
                <a:gd name="csX2" fmla="*/ 2051109 w 2051109"/>
                <a:gd name="csY2" fmla="*/ 4119 h 1275051"/>
              </a:gdLst>
              <a:ahLst/>
              <a:cxnLst>
                <a:cxn ang="0">
                  <a:pos x="csX0" y="csY0"/>
                </a:cxn>
                <a:cxn ang="0">
                  <a:pos x="csX1" y="csY1"/>
                </a:cxn>
                <a:cxn ang="0">
                  <a:pos x="csX2" y="csY2"/>
                </a:cxn>
              </a:cxnLst>
              <a:rect l="l" t="t" r="r" b="b"/>
              <a:pathLst>
                <a:path w="2051109" h="1275051">
                  <a:moveTo>
                    <a:pt x="0" y="1275051"/>
                  </a:moveTo>
                  <a:cubicBezTo>
                    <a:pt x="61519" y="929005"/>
                    <a:pt x="123038" y="582959"/>
                    <a:pt x="322976" y="402596"/>
                  </a:cubicBezTo>
                  <a:cubicBezTo>
                    <a:pt x="522914" y="222233"/>
                    <a:pt x="1276525" y="-35729"/>
                    <a:pt x="2051109" y="4119"/>
                  </a:cubicBezTo>
                </a:path>
              </a:pathLst>
            </a:custGeom>
            <a:noFill/>
            <a:ln w="63500">
              <a:solidFill>
                <a:schemeClr val="accent2">
                  <a:lumMod val="75000"/>
                </a:schemeClr>
              </a:solidFill>
              <a:tailEnd type="triangle"/>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18" name="TextBox 17">
              <a:extLst>
                <a:ext uri="{FF2B5EF4-FFF2-40B4-BE49-F238E27FC236}">
                  <a16:creationId xmlns:a16="http://schemas.microsoft.com/office/drawing/2014/main" id="{F0E3A691-8422-C541-02FC-A4F7FE0C6AFE}"/>
                </a:ext>
              </a:extLst>
            </p:cNvPr>
            <p:cNvSpPr txBox="1"/>
            <p:nvPr/>
          </p:nvSpPr>
          <p:spPr>
            <a:xfrm>
              <a:off x="6022695" y="2497772"/>
              <a:ext cx="1704313" cy="646331"/>
            </a:xfrm>
            <a:prstGeom prst="rect">
              <a:avLst/>
            </a:prstGeom>
            <a:solidFill>
              <a:schemeClr val="bg1"/>
            </a:solidFill>
            <a:ln w="25400">
              <a:solidFill>
                <a:schemeClr val="accent2">
                  <a:lumMod val="75000"/>
                </a:schemeClr>
              </a:solidFill>
            </a:ln>
          </p:spPr>
          <p:txBody>
            <a:bodyPr wrap="none" rtlCol="0">
              <a:spAutoFit/>
            </a:bodyPr>
            <a:lstStyle/>
            <a:p>
              <a:r>
                <a:rPr lang="en-GB" b="1">
                  <a:latin typeface="+mj-lt"/>
                </a:rPr>
                <a:t>mode 0: </a:t>
              </a:r>
            </a:p>
            <a:p>
              <a:r>
                <a:rPr lang="en-GB">
                  <a:latin typeface="Consolas" panose="020B0609020204030204" pitchFamily="49" charset="0"/>
                </a:rPr>
                <a:t>pc = address</a:t>
              </a:r>
              <a:endParaRPr lang="LID4096">
                <a:latin typeface="Consolas" panose="020B0609020204030204" pitchFamily="49" charset="0"/>
              </a:endParaRPr>
            </a:p>
          </p:txBody>
        </p:sp>
        <p:sp>
          <p:nvSpPr>
            <p:cNvPr id="21" name="Freeform: Shape 20">
              <a:extLst>
                <a:ext uri="{FF2B5EF4-FFF2-40B4-BE49-F238E27FC236}">
                  <a16:creationId xmlns:a16="http://schemas.microsoft.com/office/drawing/2014/main" id="{3C72B1BC-CDFE-98A5-9C51-54BD65450379}"/>
                </a:ext>
              </a:extLst>
            </p:cNvPr>
            <p:cNvSpPr/>
            <p:nvPr/>
          </p:nvSpPr>
          <p:spPr>
            <a:xfrm>
              <a:off x="1388334" y="2738151"/>
              <a:ext cx="1858297" cy="804449"/>
            </a:xfrm>
            <a:custGeom>
              <a:avLst/>
              <a:gdLst>
                <a:gd name="csX0" fmla="*/ 0 w 1832994"/>
                <a:gd name="csY0" fmla="*/ 0 h 427838"/>
                <a:gd name="csX1" fmla="*/ 1832994 w 1832994"/>
                <a:gd name="csY1" fmla="*/ 427838 h 427838"/>
                <a:gd name="csX0" fmla="*/ 0 w 1858161"/>
                <a:gd name="csY0" fmla="*/ 0 h 423644"/>
                <a:gd name="csX1" fmla="*/ 1858161 w 1858161"/>
                <a:gd name="csY1" fmla="*/ 423644 h 423644"/>
                <a:gd name="csX0" fmla="*/ 0 w 1858356"/>
                <a:gd name="csY0" fmla="*/ 0 h 423644"/>
                <a:gd name="csX1" fmla="*/ 1858161 w 1858356"/>
                <a:gd name="csY1" fmla="*/ 423644 h 423644"/>
                <a:gd name="csX0" fmla="*/ 0 w 1858297"/>
                <a:gd name="csY0" fmla="*/ 380805 h 804449"/>
                <a:gd name="csX1" fmla="*/ 1858161 w 1858297"/>
                <a:gd name="csY1" fmla="*/ 804449 h 804449"/>
              </a:gdLst>
              <a:ahLst/>
              <a:cxnLst>
                <a:cxn ang="0">
                  <a:pos x="csX0" y="csY0"/>
                </a:cxn>
                <a:cxn ang="0">
                  <a:pos x="csX1" y="csY1"/>
                </a:cxn>
              </a:cxnLst>
              <a:rect l="l" t="t" r="r" b="b"/>
              <a:pathLst>
                <a:path w="1858297" h="804449">
                  <a:moveTo>
                    <a:pt x="0" y="380805"/>
                  </a:moveTo>
                  <a:cubicBezTo>
                    <a:pt x="74103" y="-430130"/>
                    <a:pt x="1876338" y="218618"/>
                    <a:pt x="1858161" y="804449"/>
                  </a:cubicBezTo>
                </a:path>
              </a:pathLst>
            </a:custGeom>
            <a:noFill/>
            <a:ln w="63500">
              <a:tailEnd type="triangle"/>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22" name="TextBox 21">
              <a:extLst>
                <a:ext uri="{FF2B5EF4-FFF2-40B4-BE49-F238E27FC236}">
                  <a16:creationId xmlns:a16="http://schemas.microsoft.com/office/drawing/2014/main" id="{3C7FCD14-CBB5-A50A-777E-94D2585B6645}"/>
                </a:ext>
              </a:extLst>
            </p:cNvPr>
            <p:cNvSpPr txBox="1"/>
            <p:nvPr/>
          </p:nvSpPr>
          <p:spPr>
            <a:xfrm>
              <a:off x="1681697" y="2344759"/>
              <a:ext cx="3927807" cy="646331"/>
            </a:xfrm>
            <a:prstGeom prst="rect">
              <a:avLst/>
            </a:prstGeom>
            <a:solidFill>
              <a:schemeClr val="bg1"/>
            </a:solidFill>
            <a:ln w="25400">
              <a:solidFill>
                <a:schemeClr val="tx1"/>
              </a:solidFill>
            </a:ln>
          </p:spPr>
          <p:txBody>
            <a:bodyPr wrap="none" rtlCol="0">
              <a:spAutoFit/>
            </a:bodyPr>
            <a:lstStyle/>
            <a:p>
              <a:r>
                <a:rPr lang="en-GB">
                  <a:latin typeface="+mj-lt"/>
                </a:rPr>
                <a:t>When an interrupt occurs, the processor</a:t>
              </a:r>
              <a:br>
                <a:rPr lang="en-GB">
                  <a:latin typeface="+mj-lt"/>
                </a:rPr>
              </a:br>
              <a:r>
                <a:rPr lang="en-GB">
                  <a:latin typeface="+mj-lt"/>
                </a:rPr>
                <a:t>checks </a:t>
              </a:r>
              <a:r>
                <a:rPr lang="en-GB" b="1">
                  <a:latin typeface="Consolas" panose="020B0609020204030204" pitchFamily="49" charset="0"/>
                </a:rPr>
                <a:t>mtvec</a:t>
              </a:r>
              <a:r>
                <a:rPr lang="en-GB">
                  <a:latin typeface="+mj-lt"/>
                </a:rPr>
                <a:t> to see where to jump</a:t>
              </a:r>
              <a:endParaRPr lang="LID4096">
                <a:latin typeface="+mj-lt"/>
              </a:endParaRPr>
            </a:p>
          </p:txBody>
        </p:sp>
      </p:grpSp>
    </p:spTree>
    <p:extLst>
      <p:ext uri="{BB962C8B-B14F-4D97-AF65-F5344CB8AC3E}">
        <p14:creationId xmlns:p14="http://schemas.microsoft.com/office/powerpoint/2010/main" val="105396555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26"/>
                                        </p:tgtEl>
                                        <p:attrNameLst>
                                          <p:attrName>style.visibility</p:attrName>
                                        </p:attrNameLst>
                                      </p:cBhvr>
                                      <p:to>
                                        <p:strVal val="visible"/>
                                      </p:to>
                                    </p:set>
                                    <p:animEffect transition="in" filter="wipe(left)">
                                      <p:cBhvr>
                                        <p:cTn id="7" dur="5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9805A7-E985-FA83-E4D2-F0E33E7D3E2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3677DE9-C573-6DA9-9192-860917FD739B}"/>
              </a:ext>
            </a:extLst>
          </p:cNvPr>
          <p:cNvSpPr>
            <a:spLocks noGrp="1"/>
          </p:cNvSpPr>
          <p:nvPr>
            <p:ph type="title"/>
          </p:nvPr>
        </p:nvSpPr>
        <p:spPr/>
        <p:txBody>
          <a:bodyPr/>
          <a:lstStyle/>
          <a:p>
            <a:r>
              <a:rPr lang="sv-SE"/>
              <a:t>Vectored Interrupt Handling</a:t>
            </a:r>
            <a:endParaRPr lang="LID4096"/>
          </a:p>
        </p:txBody>
      </p:sp>
      <p:pic>
        <p:nvPicPr>
          <p:cNvPr id="12" name="Picture 11">
            <a:extLst>
              <a:ext uri="{FF2B5EF4-FFF2-40B4-BE49-F238E27FC236}">
                <a16:creationId xmlns:a16="http://schemas.microsoft.com/office/drawing/2014/main" id="{A505ED32-9BF3-9B43-45DC-11B16EAC66ED}"/>
              </a:ext>
            </a:extLst>
          </p:cNvPr>
          <p:cNvPicPr>
            <a:picLocks noChangeAspect="1"/>
          </p:cNvPicPr>
          <p:nvPr/>
        </p:nvPicPr>
        <p:blipFill>
          <a:blip r:embed="rId3"/>
          <a:stretch>
            <a:fillRect/>
          </a:stretch>
        </p:blipFill>
        <p:spPr>
          <a:xfrm>
            <a:off x="2804472" y="3536632"/>
            <a:ext cx="5596066" cy="1037354"/>
          </a:xfrm>
          <a:prstGeom prst="rect">
            <a:avLst/>
          </a:prstGeom>
        </p:spPr>
      </p:pic>
      <p:pic>
        <p:nvPicPr>
          <p:cNvPr id="13" name="Picture 12">
            <a:extLst>
              <a:ext uri="{FF2B5EF4-FFF2-40B4-BE49-F238E27FC236}">
                <a16:creationId xmlns:a16="http://schemas.microsoft.com/office/drawing/2014/main" id="{A5772C5D-B588-C86F-A1D9-BF8F4166A902}"/>
              </a:ext>
            </a:extLst>
          </p:cNvPr>
          <p:cNvPicPr>
            <a:picLocks noChangeAspect="1"/>
          </p:cNvPicPr>
          <p:nvPr/>
        </p:nvPicPr>
        <p:blipFill>
          <a:blip r:embed="rId4"/>
          <a:stretch>
            <a:fillRect/>
          </a:stretch>
        </p:blipFill>
        <p:spPr>
          <a:xfrm>
            <a:off x="422905" y="3115546"/>
            <a:ext cx="1954823" cy="1879526"/>
          </a:xfrm>
          <a:prstGeom prst="rect">
            <a:avLst/>
          </a:prstGeom>
        </p:spPr>
      </p:pic>
      <p:sp>
        <p:nvSpPr>
          <p:cNvPr id="14" name="Rectangle 13">
            <a:extLst>
              <a:ext uri="{FF2B5EF4-FFF2-40B4-BE49-F238E27FC236}">
                <a16:creationId xmlns:a16="http://schemas.microsoft.com/office/drawing/2014/main" id="{1717C53B-6CC1-8B93-229B-C408F600E8B9}"/>
              </a:ext>
            </a:extLst>
          </p:cNvPr>
          <p:cNvSpPr/>
          <p:nvPr/>
        </p:nvSpPr>
        <p:spPr>
          <a:xfrm>
            <a:off x="2843662" y="3990221"/>
            <a:ext cx="5525644" cy="144037"/>
          </a:xfrm>
          <a:prstGeom prst="rect">
            <a:avLst/>
          </a:prstGeom>
          <a:solidFill>
            <a:schemeClr val="accent2">
              <a:lumMod val="75000"/>
              <a:alpha val="33000"/>
            </a:schemeClr>
          </a:solidFill>
          <a:ln>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15" name="Rectangle 14">
            <a:extLst>
              <a:ext uri="{FF2B5EF4-FFF2-40B4-BE49-F238E27FC236}">
                <a16:creationId xmlns:a16="http://schemas.microsoft.com/office/drawing/2014/main" id="{E8A0F73A-05F2-AB0C-185C-647A12554CAD}"/>
              </a:ext>
            </a:extLst>
          </p:cNvPr>
          <p:cNvSpPr/>
          <p:nvPr/>
        </p:nvSpPr>
        <p:spPr>
          <a:xfrm>
            <a:off x="2845069" y="4142621"/>
            <a:ext cx="5525644" cy="144037"/>
          </a:xfrm>
          <a:prstGeom prst="rect">
            <a:avLst/>
          </a:prstGeom>
          <a:solidFill>
            <a:schemeClr val="accent6">
              <a:lumMod val="75000"/>
              <a:alpha val="33000"/>
            </a:schemeClr>
          </a:solidFill>
          <a:ln>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16" name="TextBox 15">
            <a:extLst>
              <a:ext uri="{FF2B5EF4-FFF2-40B4-BE49-F238E27FC236}">
                <a16:creationId xmlns:a16="http://schemas.microsoft.com/office/drawing/2014/main" id="{0228971A-245A-B7B0-D598-DE0BF6ACE49E}"/>
              </a:ext>
            </a:extLst>
          </p:cNvPr>
          <p:cNvSpPr txBox="1"/>
          <p:nvPr/>
        </p:nvSpPr>
        <p:spPr>
          <a:xfrm>
            <a:off x="8524946" y="2367958"/>
            <a:ext cx="2849111" cy="1363578"/>
          </a:xfrm>
          <a:prstGeom prst="rect">
            <a:avLst/>
          </a:prstGeom>
          <a:solidFill>
            <a:schemeClr val="tx1">
              <a:lumMod val="85000"/>
              <a:lumOff val="15000"/>
            </a:schemeClr>
          </a:solidFill>
        </p:spPr>
        <p:txBody>
          <a:bodyPr wrap="square">
            <a:spAutoFit/>
          </a:bodyPr>
          <a:lstStyle/>
          <a:p>
            <a:pPr>
              <a:lnSpc>
                <a:spcPts val="1425"/>
              </a:lnSpc>
              <a:buNone/>
            </a:pPr>
            <a:r>
              <a:rPr lang="en-GB" sz="1000" b="0">
                <a:solidFill>
                  <a:srgbClr val="DCDCAA"/>
                </a:solidFill>
                <a:effectLst/>
                <a:latin typeface="Consolas" panose="020B0609020204030204" pitchFamily="49" charset="0"/>
              </a:rPr>
              <a:t>__attribute__</a:t>
            </a:r>
            <a:r>
              <a:rPr lang="en-GB" sz="1000" b="0">
                <a:solidFill>
                  <a:srgbClr val="CCCCCC"/>
                </a:solidFill>
                <a:effectLst/>
                <a:latin typeface="Consolas" panose="020B0609020204030204" pitchFamily="49" charset="0"/>
              </a:rPr>
              <a:t>((</a:t>
            </a:r>
            <a:r>
              <a:rPr lang="en-GB" sz="1000" b="0">
                <a:solidFill>
                  <a:srgbClr val="DCDCAA"/>
                </a:solidFill>
                <a:effectLst/>
                <a:latin typeface="Consolas" panose="020B0609020204030204" pitchFamily="49" charset="0"/>
              </a:rPr>
              <a:t>interrupt</a:t>
            </a:r>
            <a:r>
              <a:rPr lang="en-GB" sz="1000" b="0">
                <a:solidFill>
                  <a:srgbClr val="CCCCCC"/>
                </a:solidFill>
                <a:effectLst/>
                <a:latin typeface="Consolas" panose="020B0609020204030204" pitchFamily="49" charset="0"/>
              </a:rPr>
              <a:t>(</a:t>
            </a:r>
            <a:r>
              <a:rPr lang="en-GB" sz="1000" b="0">
                <a:solidFill>
                  <a:srgbClr val="CE9178"/>
                </a:solidFill>
                <a:effectLst/>
                <a:latin typeface="Consolas" panose="020B0609020204030204" pitchFamily="49" charset="0"/>
              </a:rPr>
              <a:t>"machine"</a:t>
            </a:r>
            <a:r>
              <a:rPr lang="en-GB" sz="1000" b="0">
                <a:solidFill>
                  <a:srgbClr val="CCCCCC"/>
                </a:solidFill>
                <a:effectLst/>
                <a:latin typeface="Consolas" panose="020B0609020204030204" pitchFamily="49" charset="0"/>
              </a:rPr>
              <a:t>)))</a:t>
            </a:r>
          </a:p>
          <a:p>
            <a:pPr>
              <a:lnSpc>
                <a:spcPts val="1425"/>
              </a:lnSpc>
              <a:buNone/>
            </a:pPr>
            <a:r>
              <a:rPr lang="en-GB" sz="1000" b="0">
                <a:solidFill>
                  <a:srgbClr val="569CD6"/>
                </a:solidFill>
                <a:effectLst/>
                <a:latin typeface="Consolas" panose="020B0609020204030204" pitchFamily="49" charset="0"/>
              </a:rPr>
              <a:t>void</a:t>
            </a:r>
            <a:r>
              <a:rPr lang="en-GB" sz="1000" b="0">
                <a:solidFill>
                  <a:srgbClr val="CCCCCC"/>
                </a:solidFill>
                <a:effectLst/>
                <a:latin typeface="Consolas" panose="020B0609020204030204" pitchFamily="49" charset="0"/>
              </a:rPr>
              <a:t> </a:t>
            </a:r>
            <a:r>
              <a:rPr lang="en-GB" sz="1000" b="0">
                <a:solidFill>
                  <a:srgbClr val="DCDCAA"/>
                </a:solidFill>
                <a:effectLst/>
                <a:latin typeface="Consolas" panose="020B0609020204030204" pitchFamily="49" charset="0"/>
              </a:rPr>
              <a:t>Interrupt_Handler</a:t>
            </a:r>
            <a:r>
              <a:rPr lang="en-GB" sz="1000" b="0">
                <a:solidFill>
                  <a:srgbClr val="CCCCCC"/>
                </a:solidFill>
                <a:effectLst/>
                <a:latin typeface="Consolas" panose="020B0609020204030204" pitchFamily="49" charset="0"/>
              </a:rPr>
              <a:t>(</a:t>
            </a:r>
            <a:r>
              <a:rPr lang="en-GB" sz="1000" b="0">
                <a:solidFill>
                  <a:srgbClr val="569CD6"/>
                </a:solidFill>
                <a:effectLst/>
                <a:latin typeface="Consolas" panose="020B0609020204030204" pitchFamily="49" charset="0"/>
              </a:rPr>
              <a:t>void</a:t>
            </a:r>
            <a:r>
              <a:rPr lang="en-GB" sz="1000" b="0">
                <a:solidFill>
                  <a:srgbClr val="CCCCCC"/>
                </a:solidFill>
                <a:effectLst/>
                <a:latin typeface="Consolas" panose="020B0609020204030204" pitchFamily="49" charset="0"/>
              </a:rPr>
              <a:t>)</a:t>
            </a:r>
          </a:p>
          <a:p>
            <a:pPr>
              <a:lnSpc>
                <a:spcPts val="1425"/>
              </a:lnSpc>
              <a:buNone/>
            </a:pPr>
            <a:r>
              <a:rPr lang="en-GB" sz="1000" b="0">
                <a:solidFill>
                  <a:srgbClr val="CCCCCC"/>
                </a:solidFill>
                <a:effectLst/>
                <a:latin typeface="Consolas" panose="020B0609020204030204" pitchFamily="49" charset="0"/>
              </a:rPr>
              <a:t>{</a:t>
            </a:r>
          </a:p>
          <a:p>
            <a:pPr>
              <a:lnSpc>
                <a:spcPts val="1425"/>
              </a:lnSpc>
              <a:buNone/>
            </a:pPr>
            <a:r>
              <a:rPr lang="en-GB" sz="1000" b="0">
                <a:solidFill>
                  <a:srgbClr val="CCCCCC"/>
                </a:solidFill>
                <a:effectLst/>
                <a:latin typeface="Consolas" panose="020B0609020204030204" pitchFamily="49" charset="0"/>
              </a:rPr>
              <a:t>    ...</a:t>
            </a:r>
          </a:p>
          <a:p>
            <a:pPr>
              <a:lnSpc>
                <a:spcPts val="1425"/>
              </a:lnSpc>
              <a:buNone/>
            </a:pPr>
            <a:r>
              <a:rPr lang="en-GB" sz="1000" b="0">
                <a:solidFill>
                  <a:srgbClr val="CCCCCC"/>
                </a:solidFill>
                <a:effectLst/>
                <a:latin typeface="Consolas" panose="020B0609020204030204" pitchFamily="49" charset="0"/>
              </a:rPr>
              <a:t>}</a:t>
            </a:r>
          </a:p>
          <a:p>
            <a:pPr>
              <a:lnSpc>
                <a:spcPts val="1425"/>
              </a:lnSpc>
              <a:buNone/>
            </a:pPr>
            <a:br>
              <a:rPr lang="en-GB" sz="1000" b="0">
                <a:solidFill>
                  <a:srgbClr val="CCCCCC"/>
                </a:solidFill>
                <a:effectLst/>
                <a:latin typeface="Consolas" panose="020B0609020204030204" pitchFamily="49" charset="0"/>
              </a:rPr>
            </a:br>
            <a:endParaRPr lang="en-GB" sz="1000" b="0">
              <a:solidFill>
                <a:srgbClr val="CCCCCC"/>
              </a:solidFill>
              <a:effectLst/>
              <a:latin typeface="Consolas" panose="020B0609020204030204" pitchFamily="49" charset="0"/>
            </a:endParaRPr>
          </a:p>
        </p:txBody>
      </p:sp>
      <p:sp>
        <p:nvSpPr>
          <p:cNvPr id="17" name="Freeform: Shape 16">
            <a:extLst>
              <a:ext uri="{FF2B5EF4-FFF2-40B4-BE49-F238E27FC236}">
                <a16:creationId xmlns:a16="http://schemas.microsoft.com/office/drawing/2014/main" id="{4C78C2AD-C6B9-ADC7-D545-4A2BC3F6C357}"/>
              </a:ext>
            </a:extLst>
          </p:cNvPr>
          <p:cNvSpPr/>
          <p:nvPr/>
        </p:nvSpPr>
        <p:spPr>
          <a:xfrm>
            <a:off x="6430117" y="2716360"/>
            <a:ext cx="2051109" cy="1275051"/>
          </a:xfrm>
          <a:custGeom>
            <a:avLst/>
            <a:gdLst>
              <a:gd name="csX0" fmla="*/ 0 w 1199626"/>
              <a:gd name="csY0" fmla="*/ 1082180 h 1082180"/>
              <a:gd name="csX1" fmla="*/ 322976 w 1199626"/>
              <a:gd name="csY1" fmla="*/ 209725 h 1082180"/>
              <a:gd name="csX2" fmla="*/ 1199626 w 1199626"/>
              <a:gd name="csY2" fmla="*/ 0 h 1082180"/>
              <a:gd name="csX0" fmla="*/ 0 w 2051109"/>
              <a:gd name="csY0" fmla="*/ 1270932 h 1270932"/>
              <a:gd name="csX1" fmla="*/ 322976 w 2051109"/>
              <a:gd name="csY1" fmla="*/ 398477 h 1270932"/>
              <a:gd name="csX2" fmla="*/ 2051109 w 2051109"/>
              <a:gd name="csY2" fmla="*/ 0 h 1270932"/>
              <a:gd name="csX0" fmla="*/ 0 w 2051109"/>
              <a:gd name="csY0" fmla="*/ 1275051 h 1275051"/>
              <a:gd name="csX1" fmla="*/ 322976 w 2051109"/>
              <a:gd name="csY1" fmla="*/ 402596 h 1275051"/>
              <a:gd name="csX2" fmla="*/ 2051109 w 2051109"/>
              <a:gd name="csY2" fmla="*/ 4119 h 1275051"/>
            </a:gdLst>
            <a:ahLst/>
            <a:cxnLst>
              <a:cxn ang="0">
                <a:pos x="csX0" y="csY0"/>
              </a:cxn>
              <a:cxn ang="0">
                <a:pos x="csX1" y="csY1"/>
              </a:cxn>
              <a:cxn ang="0">
                <a:pos x="csX2" y="csY2"/>
              </a:cxn>
            </a:cxnLst>
            <a:rect l="l" t="t" r="r" b="b"/>
            <a:pathLst>
              <a:path w="2051109" h="1275051">
                <a:moveTo>
                  <a:pt x="0" y="1275051"/>
                </a:moveTo>
                <a:cubicBezTo>
                  <a:pt x="61519" y="929005"/>
                  <a:pt x="123038" y="582959"/>
                  <a:pt x="322976" y="402596"/>
                </a:cubicBezTo>
                <a:cubicBezTo>
                  <a:pt x="522914" y="222233"/>
                  <a:pt x="1276525" y="-35729"/>
                  <a:pt x="2051109" y="4119"/>
                </a:cubicBezTo>
              </a:path>
            </a:pathLst>
          </a:custGeom>
          <a:noFill/>
          <a:ln w="63500">
            <a:solidFill>
              <a:schemeClr val="accent2">
                <a:lumMod val="75000"/>
              </a:schemeClr>
            </a:solidFill>
            <a:tailEnd type="triangle"/>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18" name="TextBox 17">
            <a:extLst>
              <a:ext uri="{FF2B5EF4-FFF2-40B4-BE49-F238E27FC236}">
                <a16:creationId xmlns:a16="http://schemas.microsoft.com/office/drawing/2014/main" id="{ECA811DE-7C5F-F03F-5FB1-9269232EEDB9}"/>
              </a:ext>
            </a:extLst>
          </p:cNvPr>
          <p:cNvSpPr txBox="1"/>
          <p:nvPr/>
        </p:nvSpPr>
        <p:spPr>
          <a:xfrm>
            <a:off x="6022695" y="2497772"/>
            <a:ext cx="1704313" cy="646331"/>
          </a:xfrm>
          <a:prstGeom prst="rect">
            <a:avLst/>
          </a:prstGeom>
          <a:solidFill>
            <a:schemeClr val="bg1"/>
          </a:solidFill>
          <a:ln w="25400">
            <a:solidFill>
              <a:schemeClr val="accent2">
                <a:lumMod val="75000"/>
              </a:schemeClr>
            </a:solidFill>
          </a:ln>
        </p:spPr>
        <p:txBody>
          <a:bodyPr wrap="none" rtlCol="0">
            <a:spAutoFit/>
          </a:bodyPr>
          <a:lstStyle/>
          <a:p>
            <a:r>
              <a:rPr lang="en-GB" b="1">
                <a:latin typeface="+mj-lt"/>
              </a:rPr>
              <a:t>mode 0: </a:t>
            </a:r>
          </a:p>
          <a:p>
            <a:r>
              <a:rPr lang="en-GB">
                <a:latin typeface="Consolas" panose="020B0609020204030204" pitchFamily="49" charset="0"/>
              </a:rPr>
              <a:t>pc = address</a:t>
            </a:r>
            <a:endParaRPr lang="LID4096">
              <a:latin typeface="Consolas" panose="020B0609020204030204" pitchFamily="49" charset="0"/>
            </a:endParaRPr>
          </a:p>
        </p:txBody>
      </p:sp>
      <p:sp>
        <p:nvSpPr>
          <p:cNvPr id="21" name="Freeform: Shape 20">
            <a:extLst>
              <a:ext uri="{FF2B5EF4-FFF2-40B4-BE49-F238E27FC236}">
                <a16:creationId xmlns:a16="http://schemas.microsoft.com/office/drawing/2014/main" id="{4F8C41B8-03AA-510F-EF0C-E85F6CF353DA}"/>
              </a:ext>
            </a:extLst>
          </p:cNvPr>
          <p:cNvSpPr/>
          <p:nvPr/>
        </p:nvSpPr>
        <p:spPr>
          <a:xfrm>
            <a:off x="1388334" y="2738151"/>
            <a:ext cx="1858297" cy="804449"/>
          </a:xfrm>
          <a:custGeom>
            <a:avLst/>
            <a:gdLst>
              <a:gd name="csX0" fmla="*/ 0 w 1832994"/>
              <a:gd name="csY0" fmla="*/ 0 h 427838"/>
              <a:gd name="csX1" fmla="*/ 1832994 w 1832994"/>
              <a:gd name="csY1" fmla="*/ 427838 h 427838"/>
              <a:gd name="csX0" fmla="*/ 0 w 1858161"/>
              <a:gd name="csY0" fmla="*/ 0 h 423644"/>
              <a:gd name="csX1" fmla="*/ 1858161 w 1858161"/>
              <a:gd name="csY1" fmla="*/ 423644 h 423644"/>
              <a:gd name="csX0" fmla="*/ 0 w 1858356"/>
              <a:gd name="csY0" fmla="*/ 0 h 423644"/>
              <a:gd name="csX1" fmla="*/ 1858161 w 1858356"/>
              <a:gd name="csY1" fmla="*/ 423644 h 423644"/>
              <a:gd name="csX0" fmla="*/ 0 w 1858297"/>
              <a:gd name="csY0" fmla="*/ 380805 h 804449"/>
              <a:gd name="csX1" fmla="*/ 1858161 w 1858297"/>
              <a:gd name="csY1" fmla="*/ 804449 h 804449"/>
            </a:gdLst>
            <a:ahLst/>
            <a:cxnLst>
              <a:cxn ang="0">
                <a:pos x="csX0" y="csY0"/>
              </a:cxn>
              <a:cxn ang="0">
                <a:pos x="csX1" y="csY1"/>
              </a:cxn>
            </a:cxnLst>
            <a:rect l="l" t="t" r="r" b="b"/>
            <a:pathLst>
              <a:path w="1858297" h="804449">
                <a:moveTo>
                  <a:pt x="0" y="380805"/>
                </a:moveTo>
                <a:cubicBezTo>
                  <a:pt x="74103" y="-430130"/>
                  <a:pt x="1876338" y="218618"/>
                  <a:pt x="1858161" y="804449"/>
                </a:cubicBezTo>
              </a:path>
            </a:pathLst>
          </a:custGeom>
          <a:noFill/>
          <a:ln w="63500">
            <a:tailEnd type="triangle"/>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22" name="TextBox 21">
            <a:extLst>
              <a:ext uri="{FF2B5EF4-FFF2-40B4-BE49-F238E27FC236}">
                <a16:creationId xmlns:a16="http://schemas.microsoft.com/office/drawing/2014/main" id="{99A3266F-85FE-A419-530F-2BF4D38EB225}"/>
              </a:ext>
            </a:extLst>
          </p:cNvPr>
          <p:cNvSpPr txBox="1"/>
          <p:nvPr/>
        </p:nvSpPr>
        <p:spPr>
          <a:xfrm>
            <a:off x="1681697" y="2344759"/>
            <a:ext cx="3927807" cy="646331"/>
          </a:xfrm>
          <a:prstGeom prst="rect">
            <a:avLst/>
          </a:prstGeom>
          <a:solidFill>
            <a:schemeClr val="bg1"/>
          </a:solidFill>
          <a:ln w="25400">
            <a:solidFill>
              <a:schemeClr val="tx1"/>
            </a:solidFill>
          </a:ln>
        </p:spPr>
        <p:txBody>
          <a:bodyPr wrap="none" rtlCol="0">
            <a:spAutoFit/>
          </a:bodyPr>
          <a:lstStyle/>
          <a:p>
            <a:r>
              <a:rPr lang="en-GB">
                <a:latin typeface="+mj-lt"/>
              </a:rPr>
              <a:t>When an interrupt occurs, the processor</a:t>
            </a:r>
            <a:br>
              <a:rPr lang="en-GB">
                <a:latin typeface="+mj-lt"/>
              </a:rPr>
            </a:br>
            <a:r>
              <a:rPr lang="en-GB">
                <a:latin typeface="+mj-lt"/>
              </a:rPr>
              <a:t>checks </a:t>
            </a:r>
            <a:r>
              <a:rPr lang="en-GB" b="1">
                <a:latin typeface="Consolas" panose="020B0609020204030204" pitchFamily="49" charset="0"/>
              </a:rPr>
              <a:t>mtvec</a:t>
            </a:r>
            <a:r>
              <a:rPr lang="en-GB">
                <a:latin typeface="+mj-lt"/>
              </a:rPr>
              <a:t> to see where to jump</a:t>
            </a:r>
            <a:endParaRPr lang="LID4096">
              <a:latin typeface="+mj-lt"/>
            </a:endParaRPr>
          </a:p>
        </p:txBody>
      </p:sp>
      <p:grpSp>
        <p:nvGrpSpPr>
          <p:cNvPr id="3" name="Group 2">
            <a:extLst>
              <a:ext uri="{FF2B5EF4-FFF2-40B4-BE49-F238E27FC236}">
                <a16:creationId xmlns:a16="http://schemas.microsoft.com/office/drawing/2014/main" id="{06C09114-3605-B3DC-0E9A-CBC42B8CBF3C}"/>
              </a:ext>
            </a:extLst>
          </p:cNvPr>
          <p:cNvGrpSpPr/>
          <p:nvPr/>
        </p:nvGrpSpPr>
        <p:grpSpPr>
          <a:xfrm>
            <a:off x="2105592" y="4271863"/>
            <a:ext cx="9798369" cy="1893256"/>
            <a:chOff x="2105592" y="4271863"/>
            <a:chExt cx="9798369" cy="1893256"/>
          </a:xfrm>
        </p:grpSpPr>
        <p:sp>
          <p:nvSpPr>
            <p:cNvPr id="19" name="Freeform: Shape 18">
              <a:extLst>
                <a:ext uri="{FF2B5EF4-FFF2-40B4-BE49-F238E27FC236}">
                  <a16:creationId xmlns:a16="http://schemas.microsoft.com/office/drawing/2014/main" id="{D1DFCCEF-31C0-74A0-0986-354CF6ECC23B}"/>
                </a:ext>
              </a:extLst>
            </p:cNvPr>
            <p:cNvSpPr/>
            <p:nvPr/>
          </p:nvSpPr>
          <p:spPr>
            <a:xfrm>
              <a:off x="3512144" y="4271863"/>
              <a:ext cx="1707161" cy="1774751"/>
            </a:xfrm>
            <a:custGeom>
              <a:avLst/>
              <a:gdLst>
                <a:gd name="csX0" fmla="*/ 0 w 1199626"/>
                <a:gd name="csY0" fmla="*/ 1082180 h 1082180"/>
                <a:gd name="csX1" fmla="*/ 322976 w 1199626"/>
                <a:gd name="csY1" fmla="*/ 209725 h 1082180"/>
                <a:gd name="csX2" fmla="*/ 1199626 w 1199626"/>
                <a:gd name="csY2" fmla="*/ 0 h 1082180"/>
                <a:gd name="csX0" fmla="*/ 0 w 1421935"/>
                <a:gd name="csY0" fmla="*/ 56753 h 903857"/>
                <a:gd name="csX1" fmla="*/ 545285 w 1421935"/>
                <a:gd name="csY1" fmla="*/ 887263 h 903857"/>
                <a:gd name="csX2" fmla="*/ 1421935 w 1421935"/>
                <a:gd name="csY2" fmla="*/ 677538 h 903857"/>
                <a:gd name="csX0" fmla="*/ 0 w 1421935"/>
                <a:gd name="csY0" fmla="*/ 0 h 872637"/>
                <a:gd name="csX1" fmla="*/ 545285 w 1421935"/>
                <a:gd name="csY1" fmla="*/ 830510 h 872637"/>
                <a:gd name="csX2" fmla="*/ 1421935 w 1421935"/>
                <a:gd name="csY2" fmla="*/ 620785 h 872637"/>
                <a:gd name="csX0" fmla="*/ 0 w 1421935"/>
                <a:gd name="csY0" fmla="*/ 0 h 963973"/>
                <a:gd name="csX1" fmla="*/ 545285 w 1421935"/>
                <a:gd name="csY1" fmla="*/ 830510 h 963973"/>
                <a:gd name="csX2" fmla="*/ 1421935 w 1421935"/>
                <a:gd name="csY2" fmla="*/ 620785 h 963973"/>
                <a:gd name="csX0" fmla="*/ 0 w 1421935"/>
                <a:gd name="csY0" fmla="*/ 0 h 2100598"/>
                <a:gd name="csX1" fmla="*/ 692092 w 1421935"/>
                <a:gd name="csY1" fmla="*/ 2080470 h 2100598"/>
                <a:gd name="csX2" fmla="*/ 1421935 w 1421935"/>
                <a:gd name="csY2" fmla="*/ 620785 h 2100598"/>
                <a:gd name="csX0" fmla="*/ 0 w 1707161"/>
                <a:gd name="csY0" fmla="*/ 0 h 2100598"/>
                <a:gd name="csX1" fmla="*/ 692092 w 1707161"/>
                <a:gd name="csY1" fmla="*/ 2080470 h 2100598"/>
                <a:gd name="csX2" fmla="*/ 1707161 w 1707161"/>
                <a:gd name="csY2" fmla="*/ 1774272 h 2100598"/>
                <a:gd name="csX0" fmla="*/ 0 w 1707161"/>
                <a:gd name="csY0" fmla="*/ 0 h 1774818"/>
                <a:gd name="csX1" fmla="*/ 440423 w 1707161"/>
                <a:gd name="csY1" fmla="*/ 1681993 h 1774818"/>
                <a:gd name="csX2" fmla="*/ 1707161 w 1707161"/>
                <a:gd name="csY2" fmla="*/ 1774272 h 1774818"/>
                <a:gd name="csX0" fmla="*/ 0 w 1707161"/>
                <a:gd name="csY0" fmla="*/ 0 h 1775381"/>
                <a:gd name="csX1" fmla="*/ 440423 w 1707161"/>
                <a:gd name="csY1" fmla="*/ 1681993 h 1775381"/>
                <a:gd name="csX2" fmla="*/ 1707161 w 1707161"/>
                <a:gd name="csY2" fmla="*/ 1774272 h 1775381"/>
                <a:gd name="csX0" fmla="*/ 0 w 1707161"/>
                <a:gd name="csY0" fmla="*/ 0 h 1775381"/>
                <a:gd name="csX1" fmla="*/ 440423 w 1707161"/>
                <a:gd name="csY1" fmla="*/ 1681993 h 1775381"/>
                <a:gd name="csX2" fmla="*/ 1707161 w 1707161"/>
                <a:gd name="csY2" fmla="*/ 1774272 h 1775381"/>
                <a:gd name="csX0" fmla="*/ 0 w 1707161"/>
                <a:gd name="csY0" fmla="*/ 0 h 1775880"/>
                <a:gd name="csX1" fmla="*/ 440423 w 1707161"/>
                <a:gd name="csY1" fmla="*/ 1681993 h 1775880"/>
                <a:gd name="csX2" fmla="*/ 1707161 w 1707161"/>
                <a:gd name="csY2" fmla="*/ 1774272 h 1775880"/>
                <a:gd name="csX0" fmla="*/ 0 w 1707161"/>
                <a:gd name="csY0" fmla="*/ 0 h 1774751"/>
                <a:gd name="csX1" fmla="*/ 440423 w 1707161"/>
                <a:gd name="csY1" fmla="*/ 1681993 h 1774751"/>
                <a:gd name="csX2" fmla="*/ 1707161 w 1707161"/>
                <a:gd name="csY2" fmla="*/ 1774272 h 1774751"/>
              </a:gdLst>
              <a:ahLst/>
              <a:cxnLst>
                <a:cxn ang="0">
                  <a:pos x="csX0" y="csY0"/>
                </a:cxn>
                <a:cxn ang="0">
                  <a:pos x="csX1" y="csY1"/>
                </a:cxn>
                <a:cxn ang="0">
                  <a:pos x="csX2" y="csY2"/>
                </a:cxn>
              </a:cxnLst>
              <a:rect l="l" t="t" r="r" b="b"/>
              <a:pathLst>
                <a:path w="1707161" h="1774751">
                  <a:moveTo>
                    <a:pt x="0" y="0"/>
                  </a:moveTo>
                  <a:cubicBezTo>
                    <a:pt x="137020" y="1201723"/>
                    <a:pt x="60122" y="1652631"/>
                    <a:pt x="440423" y="1681993"/>
                  </a:cubicBezTo>
                  <a:cubicBezTo>
                    <a:pt x="1055616" y="1459686"/>
                    <a:pt x="1368805" y="1788953"/>
                    <a:pt x="1707161" y="1774272"/>
                  </a:cubicBezTo>
                </a:path>
              </a:pathLst>
            </a:custGeom>
            <a:noFill/>
            <a:ln w="63500">
              <a:solidFill>
                <a:schemeClr val="accent6">
                  <a:lumMod val="75000"/>
                </a:schemeClr>
              </a:solidFill>
              <a:tailEnd type="triangle"/>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20" name="TextBox 19">
              <a:extLst>
                <a:ext uri="{FF2B5EF4-FFF2-40B4-BE49-F238E27FC236}">
                  <a16:creationId xmlns:a16="http://schemas.microsoft.com/office/drawing/2014/main" id="{4F749C33-BC26-EFF4-944A-647D6ED9715F}"/>
                </a:ext>
              </a:extLst>
            </p:cNvPr>
            <p:cNvSpPr txBox="1"/>
            <p:nvPr/>
          </p:nvSpPr>
          <p:spPr>
            <a:xfrm>
              <a:off x="2105592" y="5032543"/>
              <a:ext cx="2999539" cy="646331"/>
            </a:xfrm>
            <a:prstGeom prst="rect">
              <a:avLst/>
            </a:prstGeom>
            <a:solidFill>
              <a:schemeClr val="bg1"/>
            </a:solidFill>
            <a:ln w="25400">
              <a:solidFill>
                <a:schemeClr val="accent6">
                  <a:lumMod val="75000"/>
                </a:schemeClr>
              </a:solidFill>
            </a:ln>
          </p:spPr>
          <p:txBody>
            <a:bodyPr wrap="none" rtlCol="0">
              <a:spAutoFit/>
            </a:bodyPr>
            <a:lstStyle/>
            <a:p>
              <a:r>
                <a:rPr lang="en-GB" b="1">
                  <a:latin typeface="+mj-lt"/>
                </a:rPr>
                <a:t>mode 1:</a:t>
              </a:r>
            </a:p>
            <a:p>
              <a:r>
                <a:rPr lang="en-GB">
                  <a:latin typeface="Consolas" panose="020B0609020204030204" pitchFamily="49" charset="0"/>
                </a:rPr>
                <a:t>pc = address</a:t>
              </a:r>
              <a:r>
                <a:rPr lang="en-GB"/>
                <a:t> + </a:t>
              </a:r>
              <a:r>
                <a:rPr lang="en-GB">
                  <a:latin typeface="Consolas" panose="020B0609020204030204" pitchFamily="49" charset="0"/>
                </a:rPr>
                <a:t>mcause</a:t>
              </a:r>
              <a:r>
                <a:rPr lang="en-GB"/>
                <a:t> x 4</a:t>
              </a:r>
              <a:endParaRPr lang="LID4096"/>
            </a:p>
          </p:txBody>
        </p:sp>
        <p:sp>
          <p:nvSpPr>
            <p:cNvPr id="23" name="TextBox 22">
              <a:extLst>
                <a:ext uri="{FF2B5EF4-FFF2-40B4-BE49-F238E27FC236}">
                  <a16:creationId xmlns:a16="http://schemas.microsoft.com/office/drawing/2014/main" id="{A463BFA2-180C-3D7E-836A-AD9BE934DCCE}"/>
                </a:ext>
              </a:extLst>
            </p:cNvPr>
            <p:cNvSpPr txBox="1"/>
            <p:nvPr/>
          </p:nvSpPr>
          <p:spPr>
            <a:xfrm>
              <a:off x="9054850" y="4609216"/>
              <a:ext cx="2849111" cy="1363578"/>
            </a:xfrm>
            <a:prstGeom prst="rect">
              <a:avLst/>
            </a:prstGeom>
            <a:solidFill>
              <a:schemeClr val="tx1">
                <a:lumMod val="85000"/>
                <a:lumOff val="15000"/>
              </a:schemeClr>
            </a:solidFill>
          </p:spPr>
          <p:txBody>
            <a:bodyPr wrap="square">
              <a:spAutoFit/>
            </a:bodyPr>
            <a:lstStyle/>
            <a:p>
              <a:pPr>
                <a:lnSpc>
                  <a:spcPts val="1425"/>
                </a:lnSpc>
                <a:buNone/>
              </a:pPr>
              <a:r>
                <a:rPr lang="en-GB" sz="1000" b="0">
                  <a:solidFill>
                    <a:srgbClr val="DCDCAA"/>
                  </a:solidFill>
                  <a:effectLst/>
                  <a:latin typeface="Consolas" panose="020B0609020204030204" pitchFamily="49" charset="0"/>
                </a:rPr>
                <a:t>__attribute__</a:t>
              </a:r>
              <a:r>
                <a:rPr lang="en-GB" sz="1000" b="0">
                  <a:solidFill>
                    <a:srgbClr val="CCCCCC"/>
                  </a:solidFill>
                  <a:effectLst/>
                  <a:latin typeface="Consolas" panose="020B0609020204030204" pitchFamily="49" charset="0"/>
                </a:rPr>
                <a:t>((</a:t>
              </a:r>
              <a:r>
                <a:rPr lang="en-GB" sz="1000" b="0">
                  <a:solidFill>
                    <a:srgbClr val="DCDCAA"/>
                  </a:solidFill>
                  <a:effectLst/>
                  <a:latin typeface="Consolas" panose="020B0609020204030204" pitchFamily="49" charset="0"/>
                </a:rPr>
                <a:t>interrupt</a:t>
              </a:r>
              <a:r>
                <a:rPr lang="en-GB" sz="1000" b="0">
                  <a:solidFill>
                    <a:srgbClr val="CCCCCC"/>
                  </a:solidFill>
                  <a:effectLst/>
                  <a:latin typeface="Consolas" panose="020B0609020204030204" pitchFamily="49" charset="0"/>
                </a:rPr>
                <a:t>(</a:t>
              </a:r>
              <a:r>
                <a:rPr lang="en-GB" sz="1000" b="0">
                  <a:solidFill>
                    <a:srgbClr val="CE9178"/>
                  </a:solidFill>
                  <a:effectLst/>
                  <a:latin typeface="Consolas" panose="020B0609020204030204" pitchFamily="49" charset="0"/>
                </a:rPr>
                <a:t>"machine"</a:t>
              </a:r>
              <a:r>
                <a:rPr lang="en-GB" sz="1000" b="0">
                  <a:solidFill>
                    <a:srgbClr val="CCCCCC"/>
                  </a:solidFill>
                  <a:effectLst/>
                  <a:latin typeface="Consolas" panose="020B0609020204030204" pitchFamily="49" charset="0"/>
                </a:rPr>
                <a:t>)))</a:t>
              </a:r>
            </a:p>
            <a:p>
              <a:pPr>
                <a:lnSpc>
                  <a:spcPts val="1425"/>
                </a:lnSpc>
                <a:buNone/>
              </a:pPr>
              <a:r>
                <a:rPr lang="en-GB" sz="1000" b="0">
                  <a:solidFill>
                    <a:srgbClr val="569CD6"/>
                  </a:solidFill>
                  <a:effectLst/>
                  <a:latin typeface="Consolas" panose="020B0609020204030204" pitchFamily="49" charset="0"/>
                </a:rPr>
                <a:t>void</a:t>
              </a:r>
              <a:r>
                <a:rPr lang="en-GB" sz="1000" b="0">
                  <a:solidFill>
                    <a:srgbClr val="CCCCCC"/>
                  </a:solidFill>
                  <a:effectLst/>
                  <a:latin typeface="Consolas" panose="020B0609020204030204" pitchFamily="49" charset="0"/>
                </a:rPr>
                <a:t> </a:t>
              </a:r>
              <a:r>
                <a:rPr lang="en-GB" sz="1000" b="0">
                  <a:solidFill>
                    <a:srgbClr val="DCDCAA"/>
                  </a:solidFill>
                  <a:effectLst/>
                  <a:latin typeface="Consolas" panose="020B0609020204030204" pitchFamily="49" charset="0"/>
                </a:rPr>
                <a:t>SysTick_Handler</a:t>
              </a:r>
              <a:r>
                <a:rPr lang="en-GB" sz="1000" b="0">
                  <a:solidFill>
                    <a:srgbClr val="CCCCCC"/>
                  </a:solidFill>
                  <a:effectLst/>
                  <a:latin typeface="Consolas" panose="020B0609020204030204" pitchFamily="49" charset="0"/>
                </a:rPr>
                <a:t>(</a:t>
              </a:r>
              <a:r>
                <a:rPr lang="en-GB" sz="1000" b="0">
                  <a:solidFill>
                    <a:srgbClr val="569CD6"/>
                  </a:solidFill>
                  <a:effectLst/>
                  <a:latin typeface="Consolas" panose="020B0609020204030204" pitchFamily="49" charset="0"/>
                </a:rPr>
                <a:t>void</a:t>
              </a:r>
              <a:r>
                <a:rPr lang="en-GB" sz="1000" b="0">
                  <a:solidFill>
                    <a:srgbClr val="CCCCCC"/>
                  </a:solidFill>
                  <a:effectLst/>
                  <a:latin typeface="Consolas" panose="020B0609020204030204" pitchFamily="49" charset="0"/>
                </a:rPr>
                <a:t>)</a:t>
              </a:r>
            </a:p>
            <a:p>
              <a:pPr>
                <a:lnSpc>
                  <a:spcPts val="1425"/>
                </a:lnSpc>
                <a:buNone/>
              </a:pPr>
              <a:r>
                <a:rPr lang="en-GB" sz="1000" b="0">
                  <a:solidFill>
                    <a:srgbClr val="CCCCCC"/>
                  </a:solidFill>
                  <a:effectLst/>
                  <a:latin typeface="Consolas" panose="020B0609020204030204" pitchFamily="49" charset="0"/>
                </a:rPr>
                <a:t>{</a:t>
              </a:r>
            </a:p>
            <a:p>
              <a:pPr>
                <a:lnSpc>
                  <a:spcPts val="1425"/>
                </a:lnSpc>
                <a:buNone/>
              </a:pPr>
              <a:r>
                <a:rPr lang="en-GB" sz="1000" b="0">
                  <a:solidFill>
                    <a:srgbClr val="CCCCCC"/>
                  </a:solidFill>
                  <a:effectLst/>
                  <a:latin typeface="Consolas" panose="020B0609020204030204" pitchFamily="49" charset="0"/>
                </a:rPr>
                <a:t>    ...</a:t>
              </a:r>
            </a:p>
            <a:p>
              <a:pPr>
                <a:lnSpc>
                  <a:spcPts val="1425"/>
                </a:lnSpc>
                <a:buNone/>
              </a:pPr>
              <a:r>
                <a:rPr lang="en-GB" sz="1000" b="0">
                  <a:solidFill>
                    <a:srgbClr val="CCCCCC"/>
                  </a:solidFill>
                  <a:effectLst/>
                  <a:latin typeface="Consolas" panose="020B0609020204030204" pitchFamily="49" charset="0"/>
                </a:rPr>
                <a:t>}</a:t>
              </a:r>
            </a:p>
            <a:p>
              <a:pPr>
                <a:lnSpc>
                  <a:spcPts val="1425"/>
                </a:lnSpc>
                <a:buNone/>
              </a:pPr>
              <a:br>
                <a:rPr lang="en-GB" sz="1000" b="0">
                  <a:solidFill>
                    <a:srgbClr val="CCCCCC"/>
                  </a:solidFill>
                  <a:effectLst/>
                  <a:latin typeface="Consolas" panose="020B0609020204030204" pitchFamily="49" charset="0"/>
                </a:rPr>
              </a:br>
              <a:endParaRPr lang="en-GB" sz="1000" b="0">
                <a:solidFill>
                  <a:srgbClr val="CCCCCC"/>
                </a:solidFill>
                <a:effectLst/>
                <a:latin typeface="Consolas" panose="020B0609020204030204" pitchFamily="49" charset="0"/>
              </a:endParaRPr>
            </a:p>
          </p:txBody>
        </p:sp>
        <p:pic>
          <p:nvPicPr>
            <p:cNvPr id="24" name="Picture 23">
              <a:extLst>
                <a:ext uri="{FF2B5EF4-FFF2-40B4-BE49-F238E27FC236}">
                  <a16:creationId xmlns:a16="http://schemas.microsoft.com/office/drawing/2014/main" id="{061AB58D-AF1B-BE72-D0A3-98EB958805C1}"/>
                </a:ext>
              </a:extLst>
            </p:cNvPr>
            <p:cNvPicPr>
              <a:picLocks noChangeAspect="1"/>
            </p:cNvPicPr>
            <p:nvPr/>
          </p:nvPicPr>
          <p:blipFill>
            <a:blip r:embed="rId5"/>
            <a:stretch>
              <a:fillRect/>
            </a:stretch>
          </p:blipFill>
          <p:spPr>
            <a:xfrm>
              <a:off x="5245150" y="4995072"/>
              <a:ext cx="2901194" cy="1170047"/>
            </a:xfrm>
            <a:prstGeom prst="rect">
              <a:avLst/>
            </a:prstGeom>
          </p:spPr>
        </p:pic>
        <p:sp>
          <p:nvSpPr>
            <p:cNvPr id="25" name="Freeform: Shape 24">
              <a:extLst>
                <a:ext uri="{FF2B5EF4-FFF2-40B4-BE49-F238E27FC236}">
                  <a16:creationId xmlns:a16="http://schemas.microsoft.com/office/drawing/2014/main" id="{9E65B2F1-4E61-374C-2F51-F70668BC6558}"/>
                </a:ext>
              </a:extLst>
            </p:cNvPr>
            <p:cNvSpPr/>
            <p:nvPr/>
          </p:nvSpPr>
          <p:spPr>
            <a:xfrm>
              <a:off x="8070165" y="4939306"/>
              <a:ext cx="973123" cy="1166132"/>
            </a:xfrm>
            <a:custGeom>
              <a:avLst/>
              <a:gdLst>
                <a:gd name="csX0" fmla="*/ 0 w 973123"/>
                <a:gd name="csY0" fmla="*/ 1166070 h 1166070"/>
                <a:gd name="csX1" fmla="*/ 478172 w 973123"/>
                <a:gd name="csY1" fmla="*/ 562062 h 1166070"/>
                <a:gd name="csX2" fmla="*/ 973123 w 973123"/>
                <a:gd name="csY2" fmla="*/ 0 h 1166070"/>
                <a:gd name="csX0" fmla="*/ 0 w 973123"/>
                <a:gd name="csY0" fmla="*/ 1166070 h 1166070"/>
                <a:gd name="csX1" fmla="*/ 478172 w 973123"/>
                <a:gd name="csY1" fmla="*/ 562062 h 1166070"/>
                <a:gd name="csX2" fmla="*/ 973123 w 973123"/>
                <a:gd name="csY2" fmla="*/ 0 h 1166070"/>
                <a:gd name="csX0" fmla="*/ 0 w 973123"/>
                <a:gd name="csY0" fmla="*/ 1166070 h 1166070"/>
                <a:gd name="csX1" fmla="*/ 478172 w 973123"/>
                <a:gd name="csY1" fmla="*/ 562062 h 1166070"/>
                <a:gd name="csX2" fmla="*/ 973123 w 973123"/>
                <a:gd name="csY2" fmla="*/ 0 h 1166070"/>
                <a:gd name="csX0" fmla="*/ 0 w 973123"/>
                <a:gd name="csY0" fmla="*/ 1166070 h 1166070"/>
                <a:gd name="csX1" fmla="*/ 973123 w 973123"/>
                <a:gd name="csY1" fmla="*/ 0 h 1166070"/>
                <a:gd name="csX0" fmla="*/ 0 w 973123"/>
                <a:gd name="csY0" fmla="*/ 1166070 h 1166070"/>
                <a:gd name="csX1" fmla="*/ 973123 w 973123"/>
                <a:gd name="csY1" fmla="*/ 0 h 1166070"/>
                <a:gd name="csX0" fmla="*/ 0 w 973123"/>
                <a:gd name="csY0" fmla="*/ 1166132 h 1166132"/>
                <a:gd name="csX1" fmla="*/ 973123 w 973123"/>
                <a:gd name="csY1" fmla="*/ 62 h 1166132"/>
              </a:gdLst>
              <a:ahLst/>
              <a:cxnLst>
                <a:cxn ang="0">
                  <a:pos x="csX0" y="csY0"/>
                </a:cxn>
                <a:cxn ang="0">
                  <a:pos x="csX1" y="csY1"/>
                </a:cxn>
              </a:cxnLst>
              <a:rect l="l" t="t" r="r" b="b"/>
              <a:pathLst>
                <a:path w="973123" h="1166132">
                  <a:moveTo>
                    <a:pt x="0" y="1166132"/>
                  </a:moveTo>
                  <a:cubicBezTo>
                    <a:pt x="399875" y="1142363"/>
                    <a:pt x="409663" y="-9725"/>
                    <a:pt x="973123" y="62"/>
                  </a:cubicBezTo>
                </a:path>
              </a:pathLst>
            </a:custGeom>
            <a:noFill/>
            <a:ln w="63500">
              <a:solidFill>
                <a:schemeClr val="accent6">
                  <a:lumMod val="75000"/>
                </a:schemeClr>
              </a:solidFill>
              <a:tailEnd type="triangle"/>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grpSp>
    </p:spTree>
    <p:extLst>
      <p:ext uri="{BB962C8B-B14F-4D97-AF65-F5344CB8AC3E}">
        <p14:creationId xmlns:p14="http://schemas.microsoft.com/office/powerpoint/2010/main" val="397751326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left)">
                                      <p:cBhvr>
                                        <p:cTn id="7"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84468131-2775-8ADD-8915-977D618E1016}"/>
              </a:ext>
            </a:extLst>
          </p:cNvPr>
          <p:cNvPicPr>
            <a:picLocks noChangeAspect="1"/>
          </p:cNvPicPr>
          <p:nvPr/>
        </p:nvPicPr>
        <p:blipFill>
          <a:blip r:embed="rId3"/>
          <a:stretch>
            <a:fillRect/>
          </a:stretch>
        </p:blipFill>
        <p:spPr>
          <a:xfrm>
            <a:off x="1428180" y="2252429"/>
            <a:ext cx="9648729" cy="3929296"/>
          </a:xfrm>
          <a:prstGeom prst="rect">
            <a:avLst/>
          </a:prstGeom>
          <a:ln>
            <a:solidFill>
              <a:schemeClr val="tx1"/>
            </a:solidFill>
          </a:ln>
        </p:spPr>
      </p:pic>
      <p:sp>
        <p:nvSpPr>
          <p:cNvPr id="2" name="Title 1">
            <a:extLst>
              <a:ext uri="{FF2B5EF4-FFF2-40B4-BE49-F238E27FC236}">
                <a16:creationId xmlns:a16="http://schemas.microsoft.com/office/drawing/2014/main" id="{F5EB8041-3E63-3D1D-C268-09112BFBEB90}"/>
              </a:ext>
            </a:extLst>
          </p:cNvPr>
          <p:cNvSpPr>
            <a:spLocks noGrp="1"/>
          </p:cNvSpPr>
          <p:nvPr>
            <p:ph type="title"/>
          </p:nvPr>
        </p:nvSpPr>
        <p:spPr/>
        <p:txBody>
          <a:bodyPr/>
          <a:lstStyle/>
          <a:p>
            <a:r>
              <a:rPr lang="sv-SE"/>
              <a:t>Vector Table</a:t>
            </a:r>
            <a:endParaRPr lang="LID4096"/>
          </a:p>
        </p:txBody>
      </p:sp>
      <p:grpSp>
        <p:nvGrpSpPr>
          <p:cNvPr id="12" name="Group 11">
            <a:extLst>
              <a:ext uri="{FF2B5EF4-FFF2-40B4-BE49-F238E27FC236}">
                <a16:creationId xmlns:a16="http://schemas.microsoft.com/office/drawing/2014/main" id="{97B9457A-FAC1-7581-056B-A62F7F0E82FC}"/>
              </a:ext>
            </a:extLst>
          </p:cNvPr>
          <p:cNvGrpSpPr/>
          <p:nvPr/>
        </p:nvGrpSpPr>
        <p:grpSpPr>
          <a:xfrm>
            <a:off x="9344025" y="2085858"/>
            <a:ext cx="2590799" cy="4262438"/>
            <a:chOff x="9039225" y="1952625"/>
            <a:chExt cx="2590799" cy="4262438"/>
          </a:xfrm>
        </p:grpSpPr>
        <p:sp>
          <p:nvSpPr>
            <p:cNvPr id="11" name="Rectangle 10">
              <a:extLst>
                <a:ext uri="{FF2B5EF4-FFF2-40B4-BE49-F238E27FC236}">
                  <a16:creationId xmlns:a16="http://schemas.microsoft.com/office/drawing/2014/main" id="{AB1327E3-DF45-F693-9EE5-F5DB897A98D5}"/>
                </a:ext>
              </a:extLst>
            </p:cNvPr>
            <p:cNvSpPr/>
            <p:nvPr/>
          </p:nvSpPr>
          <p:spPr>
            <a:xfrm>
              <a:off x="9039225" y="1952625"/>
              <a:ext cx="2590799" cy="4262438"/>
            </a:xfrm>
            <a:prstGeom prst="rect">
              <a:avLst/>
            </a:prstGeom>
            <a:solidFill>
              <a:schemeClr val="bg1"/>
            </a:solidFill>
            <a:ln w="6350"/>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grpSp>
          <p:nvGrpSpPr>
            <p:cNvPr id="6" name="Group 5">
              <a:extLst>
                <a:ext uri="{FF2B5EF4-FFF2-40B4-BE49-F238E27FC236}">
                  <a16:creationId xmlns:a16="http://schemas.microsoft.com/office/drawing/2014/main" id="{0B2C2178-2874-0C75-F8DC-2E3B0FB20765}"/>
                </a:ext>
              </a:extLst>
            </p:cNvPr>
            <p:cNvGrpSpPr/>
            <p:nvPr/>
          </p:nvGrpSpPr>
          <p:grpSpPr>
            <a:xfrm>
              <a:off x="9078355" y="1990492"/>
              <a:ext cx="2512537" cy="4130935"/>
              <a:chOff x="645407" y="1807285"/>
              <a:chExt cx="2512537" cy="4130935"/>
            </a:xfrm>
            <a:noFill/>
          </p:grpSpPr>
          <p:pic>
            <p:nvPicPr>
              <p:cNvPr id="7" name="Picture 6">
                <a:extLst>
                  <a:ext uri="{FF2B5EF4-FFF2-40B4-BE49-F238E27FC236}">
                    <a16:creationId xmlns:a16="http://schemas.microsoft.com/office/drawing/2014/main" id="{9A408803-4FDD-EF8F-65B1-AA642827BABA}"/>
                  </a:ext>
                </a:extLst>
              </p:cNvPr>
              <p:cNvPicPr>
                <a:picLocks noChangeAspect="1"/>
              </p:cNvPicPr>
              <p:nvPr/>
            </p:nvPicPr>
            <p:blipFill>
              <a:blip r:embed="rId4"/>
              <a:stretch>
                <a:fillRect/>
              </a:stretch>
            </p:blipFill>
            <p:spPr>
              <a:xfrm>
                <a:off x="645407" y="4087229"/>
                <a:ext cx="2512537" cy="1850991"/>
              </a:xfrm>
              <a:prstGeom prst="rect">
                <a:avLst/>
              </a:prstGeom>
              <a:grpFill/>
            </p:spPr>
          </p:pic>
          <p:pic>
            <p:nvPicPr>
              <p:cNvPr id="8" name="Picture 7">
                <a:extLst>
                  <a:ext uri="{FF2B5EF4-FFF2-40B4-BE49-F238E27FC236}">
                    <a16:creationId xmlns:a16="http://schemas.microsoft.com/office/drawing/2014/main" id="{55331399-587B-ADA2-6A54-A02BE10369B6}"/>
                  </a:ext>
                </a:extLst>
              </p:cNvPr>
              <p:cNvPicPr>
                <a:picLocks noChangeAspect="1"/>
              </p:cNvPicPr>
              <p:nvPr/>
            </p:nvPicPr>
            <p:blipFill>
              <a:blip r:embed="rId5"/>
              <a:stretch>
                <a:fillRect/>
              </a:stretch>
            </p:blipFill>
            <p:spPr>
              <a:xfrm>
                <a:off x="645407" y="1807285"/>
                <a:ext cx="2512537" cy="2065765"/>
              </a:xfrm>
              <a:prstGeom prst="rect">
                <a:avLst/>
              </a:prstGeom>
              <a:grpFill/>
            </p:spPr>
          </p:pic>
          <p:sp>
            <p:nvSpPr>
              <p:cNvPr id="9" name="Freeform: Shape 8">
                <a:extLst>
                  <a:ext uri="{FF2B5EF4-FFF2-40B4-BE49-F238E27FC236}">
                    <a16:creationId xmlns:a16="http://schemas.microsoft.com/office/drawing/2014/main" id="{99D16DC4-0DE4-A0E6-543A-64B467336C9D}"/>
                  </a:ext>
                </a:extLst>
              </p:cNvPr>
              <p:cNvSpPr/>
              <p:nvPr/>
            </p:nvSpPr>
            <p:spPr>
              <a:xfrm>
                <a:off x="671513" y="3890963"/>
                <a:ext cx="2486025" cy="128587"/>
              </a:xfrm>
              <a:custGeom>
                <a:avLst/>
                <a:gdLst>
                  <a:gd name="csX0" fmla="*/ 0 w 2486025"/>
                  <a:gd name="csY0" fmla="*/ 123825 h 128587"/>
                  <a:gd name="csX1" fmla="*/ 209550 w 2486025"/>
                  <a:gd name="csY1" fmla="*/ 42862 h 128587"/>
                  <a:gd name="csX2" fmla="*/ 200025 w 2486025"/>
                  <a:gd name="csY2" fmla="*/ 128587 h 128587"/>
                  <a:gd name="csX3" fmla="*/ 466725 w 2486025"/>
                  <a:gd name="csY3" fmla="*/ 47625 h 128587"/>
                  <a:gd name="csX4" fmla="*/ 461962 w 2486025"/>
                  <a:gd name="csY4" fmla="*/ 123825 h 128587"/>
                  <a:gd name="csX5" fmla="*/ 714375 w 2486025"/>
                  <a:gd name="csY5" fmla="*/ 33337 h 128587"/>
                  <a:gd name="csX6" fmla="*/ 723900 w 2486025"/>
                  <a:gd name="csY6" fmla="*/ 95250 h 128587"/>
                  <a:gd name="csX7" fmla="*/ 933450 w 2486025"/>
                  <a:gd name="csY7" fmla="*/ 19050 h 128587"/>
                  <a:gd name="csX8" fmla="*/ 933450 w 2486025"/>
                  <a:gd name="csY8" fmla="*/ 104775 h 128587"/>
                  <a:gd name="csX9" fmla="*/ 1200150 w 2486025"/>
                  <a:gd name="csY9" fmla="*/ 28575 h 128587"/>
                  <a:gd name="csX10" fmla="*/ 1204912 w 2486025"/>
                  <a:gd name="csY10" fmla="*/ 95250 h 128587"/>
                  <a:gd name="csX11" fmla="*/ 1533525 w 2486025"/>
                  <a:gd name="csY11" fmla="*/ 23812 h 128587"/>
                  <a:gd name="csX12" fmla="*/ 1547812 w 2486025"/>
                  <a:gd name="csY12" fmla="*/ 80962 h 128587"/>
                  <a:gd name="csX13" fmla="*/ 1824037 w 2486025"/>
                  <a:gd name="csY13" fmla="*/ 0 h 128587"/>
                  <a:gd name="csX14" fmla="*/ 1814512 w 2486025"/>
                  <a:gd name="csY14" fmla="*/ 61912 h 128587"/>
                  <a:gd name="csX15" fmla="*/ 2128837 w 2486025"/>
                  <a:gd name="csY15" fmla="*/ 14287 h 128587"/>
                  <a:gd name="csX16" fmla="*/ 2124075 w 2486025"/>
                  <a:gd name="csY16" fmla="*/ 95250 h 128587"/>
                  <a:gd name="csX17" fmla="*/ 2486025 w 2486025"/>
                  <a:gd name="csY17" fmla="*/ 28575 h 12858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Lst>
                <a:rect l="l" t="t" r="r" b="b"/>
                <a:pathLst>
                  <a:path w="2486025" h="128587">
                    <a:moveTo>
                      <a:pt x="0" y="123825"/>
                    </a:moveTo>
                    <a:lnTo>
                      <a:pt x="209550" y="42862"/>
                    </a:lnTo>
                    <a:lnTo>
                      <a:pt x="200025" y="128587"/>
                    </a:lnTo>
                    <a:lnTo>
                      <a:pt x="466725" y="47625"/>
                    </a:lnTo>
                    <a:lnTo>
                      <a:pt x="461962" y="123825"/>
                    </a:lnTo>
                    <a:lnTo>
                      <a:pt x="714375" y="33337"/>
                    </a:lnTo>
                    <a:lnTo>
                      <a:pt x="723900" y="95250"/>
                    </a:lnTo>
                    <a:lnTo>
                      <a:pt x="933450" y="19050"/>
                    </a:lnTo>
                    <a:lnTo>
                      <a:pt x="933450" y="104775"/>
                    </a:lnTo>
                    <a:lnTo>
                      <a:pt x="1200150" y="28575"/>
                    </a:lnTo>
                    <a:lnTo>
                      <a:pt x="1204912" y="95250"/>
                    </a:lnTo>
                    <a:lnTo>
                      <a:pt x="1533525" y="23812"/>
                    </a:lnTo>
                    <a:lnTo>
                      <a:pt x="1547812" y="80962"/>
                    </a:lnTo>
                    <a:lnTo>
                      <a:pt x="1824037" y="0"/>
                    </a:lnTo>
                    <a:lnTo>
                      <a:pt x="1814512" y="61912"/>
                    </a:lnTo>
                    <a:lnTo>
                      <a:pt x="2128837" y="14287"/>
                    </a:lnTo>
                    <a:lnTo>
                      <a:pt x="2124075" y="95250"/>
                    </a:lnTo>
                    <a:lnTo>
                      <a:pt x="2486025" y="28575"/>
                    </a:lnTo>
                  </a:path>
                </a:pathLst>
              </a:custGeom>
              <a:grpFill/>
              <a:ln w="6350">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10" name="Freeform: Shape 9">
                <a:extLst>
                  <a:ext uri="{FF2B5EF4-FFF2-40B4-BE49-F238E27FC236}">
                    <a16:creationId xmlns:a16="http://schemas.microsoft.com/office/drawing/2014/main" id="{A293E6F7-3868-AB1F-E4E3-54FCED3C325B}"/>
                  </a:ext>
                </a:extLst>
              </p:cNvPr>
              <p:cNvSpPr/>
              <p:nvPr/>
            </p:nvSpPr>
            <p:spPr>
              <a:xfrm>
                <a:off x="645407" y="3924802"/>
                <a:ext cx="2486025" cy="128587"/>
              </a:xfrm>
              <a:custGeom>
                <a:avLst/>
                <a:gdLst>
                  <a:gd name="csX0" fmla="*/ 0 w 2486025"/>
                  <a:gd name="csY0" fmla="*/ 123825 h 128587"/>
                  <a:gd name="csX1" fmla="*/ 209550 w 2486025"/>
                  <a:gd name="csY1" fmla="*/ 42862 h 128587"/>
                  <a:gd name="csX2" fmla="*/ 200025 w 2486025"/>
                  <a:gd name="csY2" fmla="*/ 128587 h 128587"/>
                  <a:gd name="csX3" fmla="*/ 466725 w 2486025"/>
                  <a:gd name="csY3" fmla="*/ 47625 h 128587"/>
                  <a:gd name="csX4" fmla="*/ 461962 w 2486025"/>
                  <a:gd name="csY4" fmla="*/ 123825 h 128587"/>
                  <a:gd name="csX5" fmla="*/ 714375 w 2486025"/>
                  <a:gd name="csY5" fmla="*/ 33337 h 128587"/>
                  <a:gd name="csX6" fmla="*/ 723900 w 2486025"/>
                  <a:gd name="csY6" fmla="*/ 95250 h 128587"/>
                  <a:gd name="csX7" fmla="*/ 933450 w 2486025"/>
                  <a:gd name="csY7" fmla="*/ 19050 h 128587"/>
                  <a:gd name="csX8" fmla="*/ 933450 w 2486025"/>
                  <a:gd name="csY8" fmla="*/ 104775 h 128587"/>
                  <a:gd name="csX9" fmla="*/ 1200150 w 2486025"/>
                  <a:gd name="csY9" fmla="*/ 28575 h 128587"/>
                  <a:gd name="csX10" fmla="*/ 1204912 w 2486025"/>
                  <a:gd name="csY10" fmla="*/ 95250 h 128587"/>
                  <a:gd name="csX11" fmla="*/ 1533525 w 2486025"/>
                  <a:gd name="csY11" fmla="*/ 23812 h 128587"/>
                  <a:gd name="csX12" fmla="*/ 1547812 w 2486025"/>
                  <a:gd name="csY12" fmla="*/ 80962 h 128587"/>
                  <a:gd name="csX13" fmla="*/ 1824037 w 2486025"/>
                  <a:gd name="csY13" fmla="*/ 0 h 128587"/>
                  <a:gd name="csX14" fmla="*/ 1814512 w 2486025"/>
                  <a:gd name="csY14" fmla="*/ 61912 h 128587"/>
                  <a:gd name="csX15" fmla="*/ 2128837 w 2486025"/>
                  <a:gd name="csY15" fmla="*/ 14287 h 128587"/>
                  <a:gd name="csX16" fmla="*/ 2124075 w 2486025"/>
                  <a:gd name="csY16" fmla="*/ 95250 h 128587"/>
                  <a:gd name="csX17" fmla="*/ 2486025 w 2486025"/>
                  <a:gd name="csY17" fmla="*/ 28575 h 12858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Lst>
                <a:rect l="l" t="t" r="r" b="b"/>
                <a:pathLst>
                  <a:path w="2486025" h="128587">
                    <a:moveTo>
                      <a:pt x="0" y="123825"/>
                    </a:moveTo>
                    <a:lnTo>
                      <a:pt x="209550" y="42862"/>
                    </a:lnTo>
                    <a:lnTo>
                      <a:pt x="200025" y="128587"/>
                    </a:lnTo>
                    <a:lnTo>
                      <a:pt x="466725" y="47625"/>
                    </a:lnTo>
                    <a:lnTo>
                      <a:pt x="461962" y="123825"/>
                    </a:lnTo>
                    <a:lnTo>
                      <a:pt x="714375" y="33337"/>
                    </a:lnTo>
                    <a:lnTo>
                      <a:pt x="723900" y="95250"/>
                    </a:lnTo>
                    <a:lnTo>
                      <a:pt x="933450" y="19050"/>
                    </a:lnTo>
                    <a:lnTo>
                      <a:pt x="933450" y="104775"/>
                    </a:lnTo>
                    <a:lnTo>
                      <a:pt x="1200150" y="28575"/>
                    </a:lnTo>
                    <a:lnTo>
                      <a:pt x="1204912" y="95250"/>
                    </a:lnTo>
                    <a:lnTo>
                      <a:pt x="1533525" y="23812"/>
                    </a:lnTo>
                    <a:lnTo>
                      <a:pt x="1547812" y="80962"/>
                    </a:lnTo>
                    <a:lnTo>
                      <a:pt x="1824037" y="0"/>
                    </a:lnTo>
                    <a:lnTo>
                      <a:pt x="1814512" y="61912"/>
                    </a:lnTo>
                    <a:lnTo>
                      <a:pt x="2128837" y="14287"/>
                    </a:lnTo>
                    <a:lnTo>
                      <a:pt x="2124075" y="95250"/>
                    </a:lnTo>
                    <a:lnTo>
                      <a:pt x="2486025" y="28575"/>
                    </a:lnTo>
                  </a:path>
                </a:pathLst>
              </a:custGeom>
              <a:grpFill/>
              <a:ln w="6350">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grpSp>
      </p:grpSp>
      <p:pic>
        <p:nvPicPr>
          <p:cNvPr id="14" name="Picture 13">
            <a:extLst>
              <a:ext uri="{FF2B5EF4-FFF2-40B4-BE49-F238E27FC236}">
                <a16:creationId xmlns:a16="http://schemas.microsoft.com/office/drawing/2014/main" id="{2E4D91E4-0FAD-764A-40EA-4FC2B34BC939}"/>
              </a:ext>
            </a:extLst>
          </p:cNvPr>
          <p:cNvPicPr>
            <a:picLocks noChangeAspect="1"/>
          </p:cNvPicPr>
          <p:nvPr/>
        </p:nvPicPr>
        <p:blipFill>
          <a:blip r:embed="rId6"/>
          <a:stretch>
            <a:fillRect/>
          </a:stretch>
        </p:blipFill>
        <p:spPr>
          <a:xfrm>
            <a:off x="4504942" y="1908658"/>
            <a:ext cx="5487166" cy="1247949"/>
          </a:xfrm>
          <a:prstGeom prst="rect">
            <a:avLst/>
          </a:prstGeom>
          <a:ln>
            <a:solidFill>
              <a:schemeClr val="accent1">
                <a:shade val="15000"/>
              </a:schemeClr>
            </a:solidFill>
          </a:ln>
          <a:effectLst>
            <a:outerShdw blurRad="50800" dist="38100" dir="2700000" algn="tl" rotWithShape="0">
              <a:prstClr val="black">
                <a:alpha val="40000"/>
              </a:prstClr>
            </a:outerShdw>
          </a:effectLst>
        </p:spPr>
      </p:pic>
    </p:spTree>
    <p:extLst>
      <p:ext uri="{BB962C8B-B14F-4D97-AF65-F5344CB8AC3E}">
        <p14:creationId xmlns:p14="http://schemas.microsoft.com/office/powerpoint/2010/main" val="15197545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4"/>
                                        </p:tgtEl>
                                        <p:attrNameLst>
                                          <p:attrName>style.visibility</p:attrName>
                                        </p:attrNameLst>
                                      </p:cBhvr>
                                      <p:to>
                                        <p:strVal val="visible"/>
                                      </p:to>
                                    </p:set>
                                    <p:animEffect transition="in" filter="fade">
                                      <p:cBhvr>
                                        <p:cTn id="7" dur="5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034B64B-A15E-D16C-FE62-9EC49ED2925C}"/>
              </a:ext>
            </a:extLst>
          </p:cNvPr>
          <p:cNvSpPr>
            <a:spLocks noGrp="1"/>
          </p:cNvSpPr>
          <p:nvPr>
            <p:ph type="title"/>
          </p:nvPr>
        </p:nvSpPr>
        <p:spPr/>
        <p:txBody>
          <a:bodyPr/>
          <a:lstStyle/>
          <a:p>
            <a:r>
              <a:rPr lang="sv-SE"/>
              <a:t>Exempel? </a:t>
            </a:r>
            <a:endParaRPr lang="LID4096"/>
          </a:p>
        </p:txBody>
      </p:sp>
      <p:pic>
        <p:nvPicPr>
          <p:cNvPr id="5" name="Picture 4">
            <a:extLst>
              <a:ext uri="{FF2B5EF4-FFF2-40B4-BE49-F238E27FC236}">
                <a16:creationId xmlns:a16="http://schemas.microsoft.com/office/drawing/2014/main" id="{6F618F7E-5350-3F1F-4FF9-D162C98D6223}"/>
              </a:ext>
            </a:extLst>
          </p:cNvPr>
          <p:cNvPicPr>
            <a:picLocks noChangeAspect="1"/>
          </p:cNvPicPr>
          <p:nvPr/>
        </p:nvPicPr>
        <p:blipFill>
          <a:blip r:embed="rId3"/>
          <a:stretch>
            <a:fillRect/>
          </a:stretch>
        </p:blipFill>
        <p:spPr>
          <a:xfrm>
            <a:off x="4147865" y="1890398"/>
            <a:ext cx="3896269" cy="4505954"/>
          </a:xfrm>
          <a:prstGeom prst="rect">
            <a:avLst/>
          </a:prstGeom>
        </p:spPr>
      </p:pic>
    </p:spTree>
    <p:extLst>
      <p:ext uri="{BB962C8B-B14F-4D97-AF65-F5344CB8AC3E}">
        <p14:creationId xmlns:p14="http://schemas.microsoft.com/office/powerpoint/2010/main" val="357896012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116570698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3B1E085-772C-2D65-70F4-F32411F54A88}"/>
              </a:ext>
            </a:extLst>
          </p:cNvPr>
          <p:cNvSpPr>
            <a:spLocks noGrp="1"/>
          </p:cNvSpPr>
          <p:nvPr>
            <p:ph type="title"/>
          </p:nvPr>
        </p:nvSpPr>
        <p:spPr/>
        <p:txBody>
          <a:bodyPr/>
          <a:lstStyle/>
          <a:p>
            <a:r>
              <a:rPr lang="sv-SE"/>
              <a:t>Avbryta interrupthanteraren </a:t>
            </a:r>
            <a:r>
              <a:rPr lang="sv-SE" sz="2800"/>
              <a:t>(nästlade avbrott)</a:t>
            </a:r>
            <a:r>
              <a:rPr lang="sv-SE"/>
              <a:t>? </a:t>
            </a:r>
            <a:endParaRPr lang="LID4096"/>
          </a:p>
        </p:txBody>
      </p:sp>
      <p:sp>
        <p:nvSpPr>
          <p:cNvPr id="7" name="Content Placeholder 6">
            <a:extLst>
              <a:ext uri="{FF2B5EF4-FFF2-40B4-BE49-F238E27FC236}">
                <a16:creationId xmlns:a16="http://schemas.microsoft.com/office/drawing/2014/main" id="{1331D2D7-0DD7-3821-66A5-424A3880107E}"/>
              </a:ext>
            </a:extLst>
          </p:cNvPr>
          <p:cNvSpPr>
            <a:spLocks noGrp="1"/>
          </p:cNvSpPr>
          <p:nvPr>
            <p:ph idx="1"/>
          </p:nvPr>
        </p:nvSpPr>
        <p:spPr>
          <a:xfrm>
            <a:off x="838200" y="1825625"/>
            <a:ext cx="7067550" cy="4351338"/>
          </a:xfrm>
        </p:spPr>
        <p:txBody>
          <a:bodyPr/>
          <a:lstStyle/>
          <a:p>
            <a:r>
              <a:rPr lang="sv-SE"/>
              <a:t>Kan ett avbrott (t.ex. systick) avbryta sig självt? </a:t>
            </a:r>
          </a:p>
          <a:p>
            <a:pPr lvl="1"/>
            <a:r>
              <a:rPr lang="sv-SE" sz="2000"/>
              <a:t>Nope. När processorn börjar ta hand om ett avbrott med IRQ </a:t>
            </a:r>
            <a:r>
              <a:rPr lang="sv-SE" sz="2000" i="1"/>
              <a:t>x</a:t>
            </a:r>
            <a:r>
              <a:rPr lang="sv-SE" sz="2000"/>
              <a:t> så sätter den bit </a:t>
            </a:r>
            <a:r>
              <a:rPr lang="sv-SE" sz="2000" i="1"/>
              <a:t>x</a:t>
            </a:r>
            <a:r>
              <a:rPr lang="sv-SE" sz="2000"/>
              <a:t> i </a:t>
            </a:r>
            <a:r>
              <a:rPr lang="sv-SE" sz="2000" b="1">
                <a:solidFill>
                  <a:schemeClr val="accent1">
                    <a:lumMod val="60000"/>
                    <a:lumOff val="40000"/>
                  </a:schemeClr>
                </a:solidFill>
              </a:rPr>
              <a:t>IACTR</a:t>
            </a:r>
          </a:p>
          <a:p>
            <a:pPr lvl="1"/>
            <a:r>
              <a:rPr lang="sv-SE" sz="2000"/>
              <a:t>Om</a:t>
            </a:r>
            <a:r>
              <a:rPr lang="sv-SE" sz="2000" b="1"/>
              <a:t> </a:t>
            </a:r>
            <a:r>
              <a:rPr lang="sv-SE" sz="2000"/>
              <a:t>det kommer ett avbrott till med IRQ x och processorn ser att det aktivt hanteras just nu så sätts istället en bit i </a:t>
            </a:r>
            <a:r>
              <a:rPr lang="sv-SE" sz="2000" b="1">
                <a:solidFill>
                  <a:schemeClr val="accent6">
                    <a:lumMod val="75000"/>
                  </a:schemeClr>
                </a:solidFill>
              </a:rPr>
              <a:t>IPR</a:t>
            </a:r>
          </a:p>
          <a:p>
            <a:pPr lvl="1"/>
            <a:r>
              <a:rPr lang="sv-SE" sz="2000"/>
              <a:t>När interupthanteraren returnerar så clearas IACTR, men om IPR är satt sätts den omeddelbart igen och nästa interrupt hanteras direkt.</a:t>
            </a:r>
          </a:p>
          <a:p>
            <a:pPr lvl="2"/>
            <a:r>
              <a:rPr lang="sv-SE" sz="1400"/>
              <a:t> Om systick interrupts händer för ofta kan huvudprogrammet </a:t>
            </a:r>
            <a:r>
              <a:rPr lang="sv-SE" sz="1400" i="1"/>
              <a:t>svältas</a:t>
            </a:r>
            <a:r>
              <a:rPr lang="sv-SE" sz="1400"/>
              <a:t>. </a:t>
            </a:r>
          </a:p>
          <a:p>
            <a:pPr lvl="2"/>
            <a:r>
              <a:rPr lang="sv-SE" sz="1400"/>
              <a:t>(Om det kommer ett nytt interrupt medans pending biten är satt så ignoreras det)</a:t>
            </a:r>
            <a:endParaRPr lang="LID4096" sz="1400"/>
          </a:p>
        </p:txBody>
      </p:sp>
      <p:pic>
        <p:nvPicPr>
          <p:cNvPr id="5" name="Picture 4">
            <a:extLst>
              <a:ext uri="{FF2B5EF4-FFF2-40B4-BE49-F238E27FC236}">
                <a16:creationId xmlns:a16="http://schemas.microsoft.com/office/drawing/2014/main" id="{BD206EEE-1976-33F5-B60D-EBE40EC34A2C}"/>
              </a:ext>
            </a:extLst>
          </p:cNvPr>
          <p:cNvPicPr>
            <a:picLocks noChangeAspect="1"/>
          </p:cNvPicPr>
          <p:nvPr/>
        </p:nvPicPr>
        <p:blipFill>
          <a:blip r:embed="rId2"/>
          <a:stretch>
            <a:fillRect/>
          </a:stretch>
        </p:blipFill>
        <p:spPr>
          <a:xfrm>
            <a:off x="8136576" y="1690688"/>
            <a:ext cx="4055424" cy="5167312"/>
          </a:xfrm>
          <a:prstGeom prst="rect">
            <a:avLst/>
          </a:prstGeom>
          <a:ln>
            <a:solidFill>
              <a:schemeClr val="tx1"/>
            </a:solidFill>
          </a:ln>
        </p:spPr>
      </p:pic>
      <p:sp>
        <p:nvSpPr>
          <p:cNvPr id="8" name="Rectangle 7">
            <a:extLst>
              <a:ext uri="{FF2B5EF4-FFF2-40B4-BE49-F238E27FC236}">
                <a16:creationId xmlns:a16="http://schemas.microsoft.com/office/drawing/2014/main" id="{8FC431B5-1ADC-4721-58EB-E9274CE83139}"/>
              </a:ext>
            </a:extLst>
          </p:cNvPr>
          <p:cNvSpPr/>
          <p:nvPr/>
        </p:nvSpPr>
        <p:spPr>
          <a:xfrm>
            <a:off x="8198119" y="5938838"/>
            <a:ext cx="3927206" cy="338545"/>
          </a:xfrm>
          <a:prstGeom prst="rect">
            <a:avLst/>
          </a:prstGeom>
          <a:solidFill>
            <a:schemeClr val="tx2">
              <a:lumMod val="75000"/>
              <a:lumOff val="25000"/>
              <a:alpha val="33000"/>
            </a:schemeClr>
          </a:solidFill>
          <a:ln>
            <a:solidFill>
              <a:schemeClr val="tx2">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9" name="Rectangle 8">
            <a:extLst>
              <a:ext uri="{FF2B5EF4-FFF2-40B4-BE49-F238E27FC236}">
                <a16:creationId xmlns:a16="http://schemas.microsoft.com/office/drawing/2014/main" id="{516E85D5-48BF-DB0B-E874-90C61680D93C}"/>
              </a:ext>
            </a:extLst>
          </p:cNvPr>
          <p:cNvSpPr/>
          <p:nvPr/>
        </p:nvSpPr>
        <p:spPr>
          <a:xfrm>
            <a:off x="8198119" y="2457451"/>
            <a:ext cx="3927206" cy="338545"/>
          </a:xfrm>
          <a:prstGeom prst="rect">
            <a:avLst/>
          </a:prstGeom>
          <a:solidFill>
            <a:schemeClr val="accent6">
              <a:lumMod val="60000"/>
              <a:lumOff val="40000"/>
              <a:alpha val="33000"/>
            </a:schemeClr>
          </a:solidFill>
          <a:ln>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Tree>
    <p:extLst>
      <p:ext uri="{BB962C8B-B14F-4D97-AF65-F5344CB8AC3E}">
        <p14:creationId xmlns:p14="http://schemas.microsoft.com/office/powerpoint/2010/main" val="49299543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xEl>
                                              <p:pRg st="1" end="1"/>
                                            </p:txEl>
                                          </p:spTgt>
                                        </p:tgtEl>
                                        <p:attrNameLst>
                                          <p:attrName>style.visibility</p:attrName>
                                        </p:attrNameLst>
                                      </p:cBhvr>
                                      <p:to>
                                        <p:strVal val="visible"/>
                                      </p:to>
                                    </p:set>
                                    <p:animEffect transition="in" filter="fade">
                                      <p:cBhvr>
                                        <p:cTn id="7" dur="500"/>
                                        <p:tgtEl>
                                          <p:spTgt spid="7">
                                            <p:txEl>
                                              <p:pRg st="1" end="1"/>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7">
                                            <p:txEl>
                                              <p:pRg st="2" end="2"/>
                                            </p:txEl>
                                          </p:spTgt>
                                        </p:tgtEl>
                                        <p:attrNameLst>
                                          <p:attrName>style.visibility</p:attrName>
                                        </p:attrNameLst>
                                      </p:cBhvr>
                                      <p:to>
                                        <p:strVal val="visible"/>
                                      </p:to>
                                    </p:set>
                                    <p:animEffect transition="in" filter="fade">
                                      <p:cBhvr>
                                        <p:cTn id="12" dur="500"/>
                                        <p:tgtEl>
                                          <p:spTgt spid="7">
                                            <p:txEl>
                                              <p:pRg st="2" end="2"/>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7">
                                            <p:txEl>
                                              <p:pRg st="3" end="3"/>
                                            </p:txEl>
                                          </p:spTgt>
                                        </p:tgtEl>
                                        <p:attrNameLst>
                                          <p:attrName>style.visibility</p:attrName>
                                        </p:attrNameLst>
                                      </p:cBhvr>
                                      <p:to>
                                        <p:strVal val="visible"/>
                                      </p:to>
                                    </p:set>
                                    <p:animEffect transition="in" filter="fade">
                                      <p:cBhvr>
                                        <p:cTn id="17" dur="500"/>
                                        <p:tgtEl>
                                          <p:spTgt spid="7">
                                            <p:txEl>
                                              <p:pRg st="3" end="3"/>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7">
                                            <p:txEl>
                                              <p:pRg st="4" end="4"/>
                                            </p:txEl>
                                          </p:spTgt>
                                        </p:tgtEl>
                                        <p:attrNameLst>
                                          <p:attrName>style.visibility</p:attrName>
                                        </p:attrNameLst>
                                      </p:cBhvr>
                                      <p:to>
                                        <p:strVal val="visible"/>
                                      </p:to>
                                    </p:set>
                                    <p:animEffect transition="in" filter="fade">
                                      <p:cBhvr>
                                        <p:cTn id="22" dur="500"/>
                                        <p:tgtEl>
                                          <p:spTgt spid="7">
                                            <p:txEl>
                                              <p:pRg st="4" end="4"/>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7">
                                            <p:txEl>
                                              <p:pRg st="5" end="5"/>
                                            </p:txEl>
                                          </p:spTgt>
                                        </p:tgtEl>
                                        <p:attrNameLst>
                                          <p:attrName>style.visibility</p:attrName>
                                        </p:attrNameLst>
                                      </p:cBhvr>
                                      <p:to>
                                        <p:strVal val="visible"/>
                                      </p:to>
                                    </p:set>
                                    <p:animEffect transition="in" filter="fade">
                                      <p:cBhvr>
                                        <p:cTn id="27" dur="500"/>
                                        <p:tgtEl>
                                          <p:spTgt spid="7">
                                            <p:txEl>
                                              <p:pRg st="5" end="5"/>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8"/>
                                        </p:tgtEl>
                                        <p:attrNameLst>
                                          <p:attrName>style.visibility</p:attrName>
                                        </p:attrNameLst>
                                      </p:cBhvr>
                                      <p:to>
                                        <p:strVal val="visible"/>
                                      </p:to>
                                    </p:set>
                                    <p:animEffect transition="in" filter="fade">
                                      <p:cBhvr>
                                        <p:cTn id="32" dur="500"/>
                                        <p:tgtEl>
                                          <p:spTgt spid="8"/>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9"/>
                                        </p:tgtEl>
                                        <p:attrNameLst>
                                          <p:attrName>style.visibility</p:attrName>
                                        </p:attrNameLst>
                                      </p:cBhvr>
                                      <p:to>
                                        <p:strVal val="visible"/>
                                      </p:to>
                                    </p:set>
                                    <p:animEffect transition="in" filter="fade">
                                      <p:cBhvr>
                                        <p:cTn id="37"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9" grpId="0" animBg="1"/>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2CD1F6-09A1-D6FD-9369-226C9A75B61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A3570A3-4222-4946-9BF4-31C61D57CE55}"/>
              </a:ext>
            </a:extLst>
          </p:cNvPr>
          <p:cNvSpPr>
            <a:spLocks noGrp="1"/>
          </p:cNvSpPr>
          <p:nvPr>
            <p:ph type="title"/>
          </p:nvPr>
        </p:nvSpPr>
        <p:spPr/>
        <p:txBody>
          <a:bodyPr/>
          <a:lstStyle/>
          <a:p>
            <a:r>
              <a:rPr lang="sv-SE"/>
              <a:t>Avbryta interrupthanteraren </a:t>
            </a:r>
            <a:r>
              <a:rPr lang="sv-SE" sz="2800"/>
              <a:t>(nästlade avbrott)</a:t>
            </a:r>
            <a:r>
              <a:rPr lang="sv-SE"/>
              <a:t>? </a:t>
            </a:r>
            <a:endParaRPr lang="LID4096"/>
          </a:p>
        </p:txBody>
      </p:sp>
      <p:sp>
        <p:nvSpPr>
          <p:cNvPr id="7" name="Content Placeholder 6">
            <a:extLst>
              <a:ext uri="{FF2B5EF4-FFF2-40B4-BE49-F238E27FC236}">
                <a16:creationId xmlns:a16="http://schemas.microsoft.com/office/drawing/2014/main" id="{0D81E5B8-E3A6-F2CA-42E0-981F2AC122FC}"/>
              </a:ext>
            </a:extLst>
          </p:cNvPr>
          <p:cNvSpPr>
            <a:spLocks noGrp="1"/>
          </p:cNvSpPr>
          <p:nvPr>
            <p:ph idx="1"/>
          </p:nvPr>
        </p:nvSpPr>
        <p:spPr>
          <a:xfrm>
            <a:off x="838200" y="1825625"/>
            <a:ext cx="7067550" cy="4351338"/>
          </a:xfrm>
        </p:spPr>
        <p:txBody>
          <a:bodyPr/>
          <a:lstStyle/>
          <a:p>
            <a:r>
              <a:rPr lang="sv-SE"/>
              <a:t>Kan ett </a:t>
            </a:r>
            <a:r>
              <a:rPr lang="sv-SE" b="1"/>
              <a:t>Fault</a:t>
            </a:r>
            <a:r>
              <a:rPr lang="sv-SE"/>
              <a:t> (t.ex. unaligned memory access) avbryta ett interrupt? </a:t>
            </a:r>
          </a:p>
          <a:p>
            <a:pPr lvl="1"/>
            <a:r>
              <a:rPr lang="sv-SE"/>
              <a:t>Yep. Alltid. På så vis kan processorn skyddas mot felaktiga interrupthanterare. </a:t>
            </a:r>
          </a:p>
          <a:p>
            <a:pPr lvl="1"/>
            <a:r>
              <a:rPr lang="sv-SE" sz="2000"/>
              <a:t>(mcause, mepc, etc sparas på en hårdvarustack)</a:t>
            </a:r>
          </a:p>
        </p:txBody>
      </p:sp>
      <p:pic>
        <p:nvPicPr>
          <p:cNvPr id="5" name="Picture 4">
            <a:extLst>
              <a:ext uri="{FF2B5EF4-FFF2-40B4-BE49-F238E27FC236}">
                <a16:creationId xmlns:a16="http://schemas.microsoft.com/office/drawing/2014/main" id="{6647857B-39F9-A5B8-B520-B8088FB28D97}"/>
              </a:ext>
            </a:extLst>
          </p:cNvPr>
          <p:cNvPicPr>
            <a:picLocks noChangeAspect="1"/>
          </p:cNvPicPr>
          <p:nvPr/>
        </p:nvPicPr>
        <p:blipFill>
          <a:blip r:embed="rId2"/>
          <a:stretch>
            <a:fillRect/>
          </a:stretch>
        </p:blipFill>
        <p:spPr>
          <a:xfrm>
            <a:off x="8136576" y="1690688"/>
            <a:ext cx="4055424" cy="5167312"/>
          </a:xfrm>
          <a:prstGeom prst="rect">
            <a:avLst/>
          </a:prstGeom>
          <a:ln>
            <a:solidFill>
              <a:schemeClr val="tx1"/>
            </a:solidFill>
          </a:ln>
        </p:spPr>
      </p:pic>
    </p:spTree>
    <p:extLst>
      <p:ext uri="{BB962C8B-B14F-4D97-AF65-F5344CB8AC3E}">
        <p14:creationId xmlns:p14="http://schemas.microsoft.com/office/powerpoint/2010/main" val="388099769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C59E38-39F6-EE93-3F78-FDA822DE0FA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B414DB9-5CEF-AB60-FC4C-F969F679B6A5}"/>
              </a:ext>
            </a:extLst>
          </p:cNvPr>
          <p:cNvSpPr>
            <a:spLocks noGrp="1"/>
          </p:cNvSpPr>
          <p:nvPr>
            <p:ph type="title"/>
          </p:nvPr>
        </p:nvSpPr>
        <p:spPr/>
        <p:txBody>
          <a:bodyPr/>
          <a:lstStyle/>
          <a:p>
            <a:r>
              <a:rPr lang="sv-SE"/>
              <a:t>Avbryta interrupthanteraren </a:t>
            </a:r>
            <a:r>
              <a:rPr lang="sv-SE" sz="2800"/>
              <a:t>(nästlade avbrott)</a:t>
            </a:r>
            <a:r>
              <a:rPr lang="sv-SE"/>
              <a:t>? </a:t>
            </a:r>
            <a:endParaRPr lang="LID4096"/>
          </a:p>
        </p:txBody>
      </p:sp>
      <p:sp>
        <p:nvSpPr>
          <p:cNvPr id="7" name="Content Placeholder 6">
            <a:extLst>
              <a:ext uri="{FF2B5EF4-FFF2-40B4-BE49-F238E27FC236}">
                <a16:creationId xmlns:a16="http://schemas.microsoft.com/office/drawing/2014/main" id="{0209B220-B728-CC8E-E36F-F5FB6F5A1479}"/>
              </a:ext>
            </a:extLst>
          </p:cNvPr>
          <p:cNvSpPr>
            <a:spLocks noGrp="1"/>
          </p:cNvSpPr>
          <p:nvPr>
            <p:ph idx="1"/>
          </p:nvPr>
        </p:nvSpPr>
        <p:spPr>
          <a:xfrm>
            <a:off x="838200" y="1825625"/>
            <a:ext cx="7067550" cy="4351338"/>
          </a:xfrm>
        </p:spPr>
        <p:txBody>
          <a:bodyPr/>
          <a:lstStyle/>
          <a:p>
            <a:r>
              <a:rPr lang="sv-SE"/>
              <a:t>Kan t.ex. Timer6 avbryta en Systick interrupthanterare? </a:t>
            </a:r>
          </a:p>
          <a:p>
            <a:pPr lvl="1"/>
            <a:r>
              <a:rPr lang="sv-SE"/>
              <a:t>Ja, </a:t>
            </a:r>
            <a:r>
              <a:rPr lang="sv-SE" i="1"/>
              <a:t>om</a:t>
            </a:r>
            <a:r>
              <a:rPr lang="sv-SE"/>
              <a:t> Timer6 har givits högre prioritet än systick i </a:t>
            </a:r>
            <a:r>
              <a:rPr lang="sv-SE" b="1">
                <a:solidFill>
                  <a:schemeClr val="accent2">
                    <a:lumMod val="75000"/>
                  </a:schemeClr>
                </a:solidFill>
              </a:rPr>
              <a:t>IPRIOR </a:t>
            </a:r>
            <a:r>
              <a:rPr lang="sv-SE"/>
              <a:t>registrena.</a:t>
            </a:r>
          </a:p>
          <a:p>
            <a:pPr lvl="1"/>
            <a:r>
              <a:rPr lang="sv-SE"/>
              <a:t>Timer6’s interrupthanterare kör då klart och sedan återupptas Systickhanteraren där den avbröts.</a:t>
            </a:r>
          </a:p>
        </p:txBody>
      </p:sp>
      <p:pic>
        <p:nvPicPr>
          <p:cNvPr id="5" name="Picture 4">
            <a:extLst>
              <a:ext uri="{FF2B5EF4-FFF2-40B4-BE49-F238E27FC236}">
                <a16:creationId xmlns:a16="http://schemas.microsoft.com/office/drawing/2014/main" id="{FA7585E6-06C4-501A-9E68-68AE76D38AE3}"/>
              </a:ext>
            </a:extLst>
          </p:cNvPr>
          <p:cNvPicPr>
            <a:picLocks noChangeAspect="1"/>
          </p:cNvPicPr>
          <p:nvPr/>
        </p:nvPicPr>
        <p:blipFill>
          <a:blip r:embed="rId3"/>
          <a:stretch>
            <a:fillRect/>
          </a:stretch>
        </p:blipFill>
        <p:spPr>
          <a:xfrm>
            <a:off x="8136576" y="1690688"/>
            <a:ext cx="4055424" cy="5167312"/>
          </a:xfrm>
          <a:prstGeom prst="rect">
            <a:avLst/>
          </a:prstGeom>
          <a:ln>
            <a:solidFill>
              <a:schemeClr val="tx1"/>
            </a:solidFill>
          </a:ln>
        </p:spPr>
      </p:pic>
      <p:sp>
        <p:nvSpPr>
          <p:cNvPr id="3" name="Rectangle 2">
            <a:extLst>
              <a:ext uri="{FF2B5EF4-FFF2-40B4-BE49-F238E27FC236}">
                <a16:creationId xmlns:a16="http://schemas.microsoft.com/office/drawing/2014/main" id="{759481A3-902A-D36C-79FE-B1F6DABFC055}"/>
              </a:ext>
            </a:extLst>
          </p:cNvPr>
          <p:cNvSpPr/>
          <p:nvPr/>
        </p:nvSpPr>
        <p:spPr>
          <a:xfrm>
            <a:off x="8200685" y="6281738"/>
            <a:ext cx="3927206" cy="338545"/>
          </a:xfrm>
          <a:prstGeom prst="rect">
            <a:avLst/>
          </a:prstGeom>
          <a:solidFill>
            <a:schemeClr val="accent2">
              <a:lumMod val="60000"/>
              <a:lumOff val="40000"/>
              <a:alpha val="33000"/>
            </a:schemeClr>
          </a:solidFill>
          <a:ln>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Tree>
    <p:extLst>
      <p:ext uri="{BB962C8B-B14F-4D97-AF65-F5344CB8AC3E}">
        <p14:creationId xmlns:p14="http://schemas.microsoft.com/office/powerpoint/2010/main" val="25319275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194719086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2A5FEB-F6C9-3C42-41B9-217B8C84DD75}"/>
              </a:ext>
            </a:extLst>
          </p:cNvPr>
          <p:cNvSpPr>
            <a:spLocks noGrp="1"/>
          </p:cNvSpPr>
          <p:nvPr>
            <p:ph type="title"/>
          </p:nvPr>
        </p:nvSpPr>
        <p:spPr/>
        <p:txBody>
          <a:bodyPr/>
          <a:lstStyle/>
          <a:p>
            <a:r>
              <a:rPr lang="en-US" dirty="0" err="1"/>
              <a:t>Avbrott</a:t>
            </a:r>
            <a:r>
              <a:rPr lang="en-US" dirty="0"/>
              <a:t> </a:t>
            </a:r>
            <a:r>
              <a:rPr lang="en-US" dirty="0" err="1"/>
              <a:t>fr</a:t>
            </a:r>
            <a:r>
              <a:rPr lang="sv-SE" dirty="0"/>
              <a:t>ån </a:t>
            </a:r>
            <a:r>
              <a:rPr lang="en-US" dirty="0"/>
              <a:t>GPIO</a:t>
            </a:r>
            <a:endParaRPr lang="LID4096" dirty="0"/>
          </a:p>
        </p:txBody>
      </p:sp>
      <p:pic>
        <p:nvPicPr>
          <p:cNvPr id="4" name="Picture 3">
            <a:extLst>
              <a:ext uri="{FF2B5EF4-FFF2-40B4-BE49-F238E27FC236}">
                <a16:creationId xmlns:a16="http://schemas.microsoft.com/office/drawing/2014/main" id="{1B022914-E309-8A40-D6B2-4FEC921D98A3}"/>
              </a:ext>
            </a:extLst>
          </p:cNvPr>
          <p:cNvPicPr>
            <a:picLocks noChangeAspect="1"/>
          </p:cNvPicPr>
          <p:nvPr/>
        </p:nvPicPr>
        <p:blipFill>
          <a:blip r:embed="rId2"/>
          <a:stretch>
            <a:fillRect/>
          </a:stretch>
        </p:blipFill>
        <p:spPr>
          <a:xfrm rot="10800000">
            <a:off x="7555634" y="2891395"/>
            <a:ext cx="2583575" cy="2493188"/>
          </a:xfrm>
          <a:prstGeom prst="rect">
            <a:avLst/>
          </a:prstGeom>
          <a:ln w="50800">
            <a:solidFill>
              <a:schemeClr val="tx1"/>
            </a:solidFill>
          </a:ln>
        </p:spPr>
      </p:pic>
      <p:sp>
        <p:nvSpPr>
          <p:cNvPr id="5" name="TextBox 4">
            <a:extLst>
              <a:ext uri="{FF2B5EF4-FFF2-40B4-BE49-F238E27FC236}">
                <a16:creationId xmlns:a16="http://schemas.microsoft.com/office/drawing/2014/main" id="{0F8BA6D9-A152-49D3-961B-24A23812B168}"/>
              </a:ext>
            </a:extLst>
          </p:cNvPr>
          <p:cNvSpPr txBox="1"/>
          <p:nvPr/>
        </p:nvSpPr>
        <p:spPr>
          <a:xfrm>
            <a:off x="8021313" y="3292677"/>
            <a:ext cx="1005108" cy="845848"/>
          </a:xfrm>
          <a:prstGeom prst="rect">
            <a:avLst/>
          </a:prstGeom>
          <a:solidFill>
            <a:schemeClr val="accent2">
              <a:lumMod val="40000"/>
              <a:lumOff val="60000"/>
            </a:schemeClr>
          </a:solidFill>
          <a:ln>
            <a:solidFill>
              <a:schemeClr val="accent2">
                <a:lumMod val="75000"/>
              </a:schemeClr>
            </a:solidFill>
          </a:ln>
        </p:spPr>
        <p:txBody>
          <a:bodyPr wrap="square" rtlCol="0">
            <a:noAutofit/>
          </a:bodyPr>
          <a:lstStyle/>
          <a:p>
            <a:pPr algn="ctr"/>
            <a:r>
              <a:rPr lang="en-US" sz="1600"/>
              <a:t>CPU</a:t>
            </a:r>
          </a:p>
          <a:p>
            <a:pPr algn="ctr"/>
            <a:r>
              <a:rPr lang="en-US" sz="500"/>
              <a:t>Qingke V4</a:t>
            </a:r>
            <a:endParaRPr lang="LID4096" sz="1400" dirty="0"/>
          </a:p>
        </p:txBody>
      </p:sp>
      <p:sp>
        <p:nvSpPr>
          <p:cNvPr id="6" name="TextBox 5">
            <a:extLst>
              <a:ext uri="{FF2B5EF4-FFF2-40B4-BE49-F238E27FC236}">
                <a16:creationId xmlns:a16="http://schemas.microsoft.com/office/drawing/2014/main" id="{7ED5DD31-4BF1-4FD2-6E67-7D6F9FEC23A9}"/>
              </a:ext>
            </a:extLst>
          </p:cNvPr>
          <p:cNvSpPr txBox="1"/>
          <p:nvPr/>
        </p:nvSpPr>
        <p:spPr>
          <a:xfrm>
            <a:off x="9028230" y="4651215"/>
            <a:ext cx="673132" cy="323165"/>
          </a:xfrm>
          <a:prstGeom prst="rect">
            <a:avLst/>
          </a:prstGeom>
          <a:solidFill>
            <a:schemeClr val="accent6">
              <a:lumMod val="40000"/>
              <a:lumOff val="60000"/>
            </a:schemeClr>
          </a:solidFill>
          <a:ln>
            <a:solidFill>
              <a:schemeClr val="accent6">
                <a:lumMod val="75000"/>
              </a:schemeClr>
            </a:solidFill>
          </a:ln>
        </p:spPr>
        <p:txBody>
          <a:bodyPr wrap="square" rtlCol="0">
            <a:spAutoFit/>
          </a:bodyPr>
          <a:lstStyle/>
          <a:p>
            <a:pPr algn="ctr"/>
            <a:r>
              <a:rPr lang="en-US" sz="1000" dirty="0"/>
              <a:t>EXTI</a:t>
            </a:r>
            <a:br>
              <a:rPr lang="en-US" sz="1000" dirty="0"/>
            </a:br>
            <a:r>
              <a:rPr lang="en-US" sz="500" dirty="0"/>
              <a:t>(GPIO Interrupts)</a:t>
            </a:r>
            <a:endParaRPr lang="LID4096" sz="1600" dirty="0"/>
          </a:p>
        </p:txBody>
      </p:sp>
      <p:sp>
        <p:nvSpPr>
          <p:cNvPr id="7" name="TextBox 6">
            <a:extLst>
              <a:ext uri="{FF2B5EF4-FFF2-40B4-BE49-F238E27FC236}">
                <a16:creationId xmlns:a16="http://schemas.microsoft.com/office/drawing/2014/main" id="{91982D34-646B-2B5B-6E36-B5386043DDA8}"/>
              </a:ext>
            </a:extLst>
          </p:cNvPr>
          <p:cNvSpPr txBox="1"/>
          <p:nvPr/>
        </p:nvSpPr>
        <p:spPr>
          <a:xfrm>
            <a:off x="8481137" y="3840700"/>
            <a:ext cx="487960" cy="246221"/>
          </a:xfrm>
          <a:prstGeom prst="rect">
            <a:avLst/>
          </a:prstGeom>
          <a:solidFill>
            <a:schemeClr val="accent1">
              <a:lumMod val="60000"/>
              <a:lumOff val="40000"/>
            </a:schemeClr>
          </a:solidFill>
          <a:ln>
            <a:solidFill>
              <a:schemeClr val="tx2">
                <a:lumMod val="75000"/>
                <a:lumOff val="25000"/>
              </a:schemeClr>
            </a:solidFill>
          </a:ln>
        </p:spPr>
        <p:txBody>
          <a:bodyPr wrap="square" rtlCol="0">
            <a:spAutoFit/>
          </a:bodyPr>
          <a:lstStyle/>
          <a:p>
            <a:pPr algn="ctr"/>
            <a:r>
              <a:rPr lang="en-US" sz="1000"/>
              <a:t>PFIC</a:t>
            </a:r>
            <a:endParaRPr lang="LID4096" sz="1600" dirty="0"/>
          </a:p>
        </p:txBody>
      </p:sp>
      <p:sp>
        <p:nvSpPr>
          <p:cNvPr id="8" name="TextBox 7">
            <a:extLst>
              <a:ext uri="{FF2B5EF4-FFF2-40B4-BE49-F238E27FC236}">
                <a16:creationId xmlns:a16="http://schemas.microsoft.com/office/drawing/2014/main" id="{D5626098-402D-9CAC-5F56-724270A1D574}"/>
              </a:ext>
            </a:extLst>
          </p:cNvPr>
          <p:cNvSpPr txBox="1"/>
          <p:nvPr/>
        </p:nvSpPr>
        <p:spPr>
          <a:xfrm rot="16200000">
            <a:off x="7945581" y="3774719"/>
            <a:ext cx="439738" cy="184666"/>
          </a:xfrm>
          <a:prstGeom prst="rect">
            <a:avLst/>
          </a:prstGeom>
          <a:solidFill>
            <a:schemeClr val="bg1"/>
          </a:solidFill>
          <a:ln>
            <a:solidFill>
              <a:schemeClr val="tx1"/>
            </a:solidFill>
          </a:ln>
        </p:spPr>
        <p:txBody>
          <a:bodyPr wrap="square" rtlCol="0">
            <a:spAutoFit/>
          </a:bodyPr>
          <a:lstStyle/>
          <a:p>
            <a:pPr algn="ctr"/>
            <a:r>
              <a:rPr lang="sv-SE" sz="600"/>
              <a:t>SysTick</a:t>
            </a:r>
            <a:endParaRPr lang="LID4096" sz="600" dirty="0"/>
          </a:p>
        </p:txBody>
      </p:sp>
      <p:sp>
        <p:nvSpPr>
          <p:cNvPr id="9" name="TextBox 8">
            <a:extLst>
              <a:ext uri="{FF2B5EF4-FFF2-40B4-BE49-F238E27FC236}">
                <a16:creationId xmlns:a16="http://schemas.microsoft.com/office/drawing/2014/main" id="{AECD6D5A-9344-113C-CD06-0A1FBA88D0DA}"/>
              </a:ext>
            </a:extLst>
          </p:cNvPr>
          <p:cNvSpPr txBox="1"/>
          <p:nvPr/>
        </p:nvSpPr>
        <p:spPr>
          <a:xfrm rot="16200000">
            <a:off x="9367176" y="4184410"/>
            <a:ext cx="422150" cy="246221"/>
          </a:xfrm>
          <a:prstGeom prst="rect">
            <a:avLst/>
          </a:prstGeom>
          <a:solidFill>
            <a:schemeClr val="accent6">
              <a:lumMod val="40000"/>
              <a:lumOff val="60000"/>
            </a:schemeClr>
          </a:solidFill>
          <a:ln>
            <a:solidFill>
              <a:schemeClr val="accent6">
                <a:lumMod val="75000"/>
              </a:schemeClr>
            </a:solidFill>
          </a:ln>
        </p:spPr>
        <p:txBody>
          <a:bodyPr wrap="square" rtlCol="0">
            <a:spAutoFit/>
          </a:bodyPr>
          <a:lstStyle/>
          <a:p>
            <a:pPr algn="ctr"/>
            <a:r>
              <a:rPr lang="en-US" sz="1000"/>
              <a:t>USB</a:t>
            </a:r>
            <a:endParaRPr lang="LID4096" sz="1600" dirty="0"/>
          </a:p>
        </p:txBody>
      </p:sp>
      <p:sp>
        <p:nvSpPr>
          <p:cNvPr id="10" name="TextBox 9">
            <a:extLst>
              <a:ext uri="{FF2B5EF4-FFF2-40B4-BE49-F238E27FC236}">
                <a16:creationId xmlns:a16="http://schemas.microsoft.com/office/drawing/2014/main" id="{F44865E4-6419-844E-ABAA-70C0599757F8}"/>
              </a:ext>
            </a:extLst>
          </p:cNvPr>
          <p:cNvSpPr txBox="1"/>
          <p:nvPr/>
        </p:nvSpPr>
        <p:spPr>
          <a:xfrm rot="16200000">
            <a:off x="9367176" y="3571921"/>
            <a:ext cx="422150" cy="246221"/>
          </a:xfrm>
          <a:prstGeom prst="rect">
            <a:avLst/>
          </a:prstGeom>
          <a:solidFill>
            <a:schemeClr val="accent6">
              <a:lumMod val="40000"/>
              <a:lumOff val="60000"/>
            </a:schemeClr>
          </a:solidFill>
          <a:ln>
            <a:solidFill>
              <a:schemeClr val="accent6">
                <a:lumMod val="75000"/>
              </a:schemeClr>
            </a:solidFill>
          </a:ln>
        </p:spPr>
        <p:txBody>
          <a:bodyPr wrap="square" rtlCol="0">
            <a:spAutoFit/>
          </a:bodyPr>
          <a:lstStyle/>
          <a:p>
            <a:pPr algn="ctr"/>
            <a:r>
              <a:rPr lang="en-US" sz="1000"/>
              <a:t>ETH</a:t>
            </a:r>
            <a:endParaRPr lang="LID4096" sz="1600" dirty="0"/>
          </a:p>
        </p:txBody>
      </p:sp>
      <p:sp>
        <p:nvSpPr>
          <p:cNvPr id="11" name="TextBox 10">
            <a:extLst>
              <a:ext uri="{FF2B5EF4-FFF2-40B4-BE49-F238E27FC236}">
                <a16:creationId xmlns:a16="http://schemas.microsoft.com/office/drawing/2014/main" id="{FDDC7C4F-19AA-BDDF-BEC6-376CC83430D6}"/>
              </a:ext>
            </a:extLst>
          </p:cNvPr>
          <p:cNvSpPr txBox="1"/>
          <p:nvPr/>
        </p:nvSpPr>
        <p:spPr>
          <a:xfrm>
            <a:off x="8021313" y="4311380"/>
            <a:ext cx="439738" cy="184666"/>
          </a:xfrm>
          <a:prstGeom prst="rect">
            <a:avLst/>
          </a:prstGeom>
          <a:solidFill>
            <a:schemeClr val="bg1"/>
          </a:solidFill>
          <a:ln>
            <a:solidFill>
              <a:schemeClr val="tx1"/>
            </a:solidFill>
          </a:ln>
        </p:spPr>
        <p:txBody>
          <a:bodyPr wrap="square" rtlCol="0">
            <a:spAutoFit/>
          </a:bodyPr>
          <a:lstStyle/>
          <a:p>
            <a:pPr algn="ctr"/>
            <a:r>
              <a:rPr lang="sv-SE" sz="600"/>
              <a:t>TIMER6</a:t>
            </a:r>
            <a:endParaRPr lang="LID4096" sz="600" dirty="0"/>
          </a:p>
        </p:txBody>
      </p:sp>
      <p:sp>
        <p:nvSpPr>
          <p:cNvPr id="12" name="TextBox 11">
            <a:extLst>
              <a:ext uri="{FF2B5EF4-FFF2-40B4-BE49-F238E27FC236}">
                <a16:creationId xmlns:a16="http://schemas.microsoft.com/office/drawing/2014/main" id="{C560F2BE-1FFD-14E2-A170-E69197D354DE}"/>
              </a:ext>
            </a:extLst>
          </p:cNvPr>
          <p:cNvSpPr txBox="1"/>
          <p:nvPr/>
        </p:nvSpPr>
        <p:spPr>
          <a:xfrm>
            <a:off x="8021313" y="4558882"/>
            <a:ext cx="439738" cy="184666"/>
          </a:xfrm>
          <a:prstGeom prst="rect">
            <a:avLst/>
          </a:prstGeom>
          <a:solidFill>
            <a:schemeClr val="bg1"/>
          </a:solidFill>
          <a:ln>
            <a:solidFill>
              <a:schemeClr val="tx1"/>
            </a:solidFill>
          </a:ln>
        </p:spPr>
        <p:txBody>
          <a:bodyPr wrap="square" rtlCol="0">
            <a:spAutoFit/>
          </a:bodyPr>
          <a:lstStyle/>
          <a:p>
            <a:pPr algn="ctr"/>
            <a:r>
              <a:rPr lang="sv-SE" sz="600"/>
              <a:t>TIMER7</a:t>
            </a:r>
            <a:endParaRPr lang="LID4096" sz="600" dirty="0"/>
          </a:p>
        </p:txBody>
      </p:sp>
      <p:cxnSp>
        <p:nvCxnSpPr>
          <p:cNvPr id="13" name="Connector: Elbow 12">
            <a:extLst>
              <a:ext uri="{FF2B5EF4-FFF2-40B4-BE49-F238E27FC236}">
                <a16:creationId xmlns:a16="http://schemas.microsoft.com/office/drawing/2014/main" id="{3F53CF1B-5AB3-32E1-42A9-8B47D905CB30}"/>
              </a:ext>
            </a:extLst>
          </p:cNvPr>
          <p:cNvCxnSpPr>
            <a:stCxn id="11" idx="3"/>
          </p:cNvCxnSpPr>
          <p:nvPr/>
        </p:nvCxnSpPr>
        <p:spPr>
          <a:xfrm flipV="1">
            <a:off x="8461051" y="4058501"/>
            <a:ext cx="108258" cy="345212"/>
          </a:xfrm>
          <a:prstGeom prst="bentConnector2">
            <a:avLst/>
          </a:prstGeom>
          <a:ln w="12700">
            <a:solidFill>
              <a:schemeClr val="tx1"/>
            </a:solidFill>
            <a:headEnd type="none" w="med" len="sm"/>
            <a:tailEnd type="triangle" w="med" len="sm"/>
          </a:ln>
        </p:spPr>
        <p:style>
          <a:lnRef idx="2">
            <a:schemeClr val="accent1"/>
          </a:lnRef>
          <a:fillRef idx="0">
            <a:schemeClr val="accent1"/>
          </a:fillRef>
          <a:effectRef idx="1">
            <a:schemeClr val="accent1"/>
          </a:effectRef>
          <a:fontRef idx="minor">
            <a:schemeClr val="tx1"/>
          </a:fontRef>
        </p:style>
      </p:cxnSp>
      <p:cxnSp>
        <p:nvCxnSpPr>
          <p:cNvPr id="14" name="Connector: Elbow 13">
            <a:extLst>
              <a:ext uri="{FF2B5EF4-FFF2-40B4-BE49-F238E27FC236}">
                <a16:creationId xmlns:a16="http://schemas.microsoft.com/office/drawing/2014/main" id="{481D6205-BD48-94E6-D6E0-3576392A2FE2}"/>
              </a:ext>
            </a:extLst>
          </p:cNvPr>
          <p:cNvCxnSpPr>
            <a:cxnSpLocks/>
            <a:stCxn id="12" idx="3"/>
          </p:cNvCxnSpPr>
          <p:nvPr/>
        </p:nvCxnSpPr>
        <p:spPr>
          <a:xfrm flipV="1">
            <a:off x="8461051" y="4058501"/>
            <a:ext cx="179696" cy="592714"/>
          </a:xfrm>
          <a:prstGeom prst="bentConnector2">
            <a:avLst/>
          </a:prstGeom>
          <a:ln w="12700">
            <a:solidFill>
              <a:schemeClr val="tx1"/>
            </a:solidFill>
            <a:tailEnd type="triangle" w="med" len="sm"/>
          </a:ln>
        </p:spPr>
        <p:style>
          <a:lnRef idx="2">
            <a:schemeClr val="accent1"/>
          </a:lnRef>
          <a:fillRef idx="0">
            <a:schemeClr val="accent1"/>
          </a:fillRef>
          <a:effectRef idx="1">
            <a:schemeClr val="accent1"/>
          </a:effectRef>
          <a:fontRef idx="minor">
            <a:schemeClr val="tx1"/>
          </a:fontRef>
        </p:style>
      </p:cxnSp>
      <p:cxnSp>
        <p:nvCxnSpPr>
          <p:cNvPr id="15" name="Connector: Elbow 14">
            <a:extLst>
              <a:ext uri="{FF2B5EF4-FFF2-40B4-BE49-F238E27FC236}">
                <a16:creationId xmlns:a16="http://schemas.microsoft.com/office/drawing/2014/main" id="{0CE8391D-0EA7-8BB8-A2CC-AE090585B3ED}"/>
              </a:ext>
            </a:extLst>
          </p:cNvPr>
          <p:cNvCxnSpPr>
            <a:cxnSpLocks/>
            <a:stCxn id="6" idx="1"/>
          </p:cNvCxnSpPr>
          <p:nvPr/>
        </p:nvCxnSpPr>
        <p:spPr>
          <a:xfrm rot="10800000">
            <a:off x="8716948" y="4060884"/>
            <a:ext cx="311283" cy="751915"/>
          </a:xfrm>
          <a:prstGeom prst="bentConnector2">
            <a:avLst/>
          </a:prstGeom>
          <a:ln w="12700">
            <a:solidFill>
              <a:schemeClr val="tx1"/>
            </a:solidFill>
            <a:tailEnd type="triangle" w="med" len="sm"/>
          </a:ln>
        </p:spPr>
        <p:style>
          <a:lnRef idx="2">
            <a:schemeClr val="accent1"/>
          </a:lnRef>
          <a:fillRef idx="0">
            <a:schemeClr val="accent1"/>
          </a:fillRef>
          <a:effectRef idx="1">
            <a:schemeClr val="accent1"/>
          </a:effectRef>
          <a:fontRef idx="minor">
            <a:schemeClr val="tx1"/>
          </a:fontRef>
        </p:style>
      </p:cxnSp>
      <p:cxnSp>
        <p:nvCxnSpPr>
          <p:cNvPr id="16" name="Connector: Elbow 15">
            <a:extLst>
              <a:ext uri="{FF2B5EF4-FFF2-40B4-BE49-F238E27FC236}">
                <a16:creationId xmlns:a16="http://schemas.microsoft.com/office/drawing/2014/main" id="{E7B71868-AB4F-E53F-17C1-044C6882279A}"/>
              </a:ext>
            </a:extLst>
          </p:cNvPr>
          <p:cNvCxnSpPr>
            <a:cxnSpLocks/>
            <a:stCxn id="9" idx="0"/>
          </p:cNvCxnSpPr>
          <p:nvPr/>
        </p:nvCxnSpPr>
        <p:spPr>
          <a:xfrm rot="10800000">
            <a:off x="8969359" y="4027545"/>
            <a:ext cx="485782" cy="279976"/>
          </a:xfrm>
          <a:prstGeom prst="bentConnector3">
            <a:avLst>
              <a:gd name="adj1" fmla="val 50000"/>
            </a:avLst>
          </a:prstGeom>
          <a:ln w="12700">
            <a:solidFill>
              <a:schemeClr val="tx1"/>
            </a:solidFill>
            <a:tailEnd type="triangle" w="med" len="sm"/>
          </a:ln>
        </p:spPr>
        <p:style>
          <a:lnRef idx="2">
            <a:schemeClr val="accent1"/>
          </a:lnRef>
          <a:fillRef idx="0">
            <a:schemeClr val="accent1"/>
          </a:fillRef>
          <a:effectRef idx="1">
            <a:schemeClr val="accent1"/>
          </a:effectRef>
          <a:fontRef idx="minor">
            <a:schemeClr val="tx1"/>
          </a:fontRef>
        </p:style>
      </p:cxnSp>
      <p:cxnSp>
        <p:nvCxnSpPr>
          <p:cNvPr id="17" name="Connector: Elbow 16">
            <a:extLst>
              <a:ext uri="{FF2B5EF4-FFF2-40B4-BE49-F238E27FC236}">
                <a16:creationId xmlns:a16="http://schemas.microsoft.com/office/drawing/2014/main" id="{92E9D538-FC12-3689-B98F-4D9564644E58}"/>
              </a:ext>
            </a:extLst>
          </p:cNvPr>
          <p:cNvCxnSpPr>
            <a:cxnSpLocks/>
            <a:stCxn id="10" idx="0"/>
            <a:endCxn id="7" idx="3"/>
          </p:cNvCxnSpPr>
          <p:nvPr/>
        </p:nvCxnSpPr>
        <p:spPr>
          <a:xfrm rot="10800000" flipV="1">
            <a:off x="8969097" y="3695031"/>
            <a:ext cx="486044" cy="268779"/>
          </a:xfrm>
          <a:prstGeom prst="bentConnector3">
            <a:avLst>
              <a:gd name="adj1" fmla="val 50000"/>
            </a:avLst>
          </a:prstGeom>
          <a:ln w="12700">
            <a:solidFill>
              <a:schemeClr val="tx1"/>
            </a:solidFill>
            <a:tailEnd type="triangle" w="med" len="sm"/>
          </a:ln>
        </p:spPr>
        <p:style>
          <a:lnRef idx="2">
            <a:schemeClr val="accent1"/>
          </a:lnRef>
          <a:fillRef idx="0">
            <a:schemeClr val="accent1"/>
          </a:fillRef>
          <a:effectRef idx="1">
            <a:schemeClr val="accent1"/>
          </a:effectRef>
          <a:fontRef idx="minor">
            <a:schemeClr val="tx1"/>
          </a:fontRef>
        </p:style>
      </p:cxnSp>
      <p:cxnSp>
        <p:nvCxnSpPr>
          <p:cNvPr id="18" name="Connector: Elbow 17">
            <a:extLst>
              <a:ext uri="{FF2B5EF4-FFF2-40B4-BE49-F238E27FC236}">
                <a16:creationId xmlns:a16="http://schemas.microsoft.com/office/drawing/2014/main" id="{9D36CA67-E90A-63ED-2623-FC9C16401382}"/>
              </a:ext>
            </a:extLst>
          </p:cNvPr>
          <p:cNvCxnSpPr>
            <a:cxnSpLocks/>
            <a:stCxn id="8" idx="2"/>
            <a:endCxn id="7" idx="1"/>
          </p:cNvCxnSpPr>
          <p:nvPr/>
        </p:nvCxnSpPr>
        <p:spPr>
          <a:xfrm>
            <a:off x="8257783" y="3867052"/>
            <a:ext cx="223354" cy="96759"/>
          </a:xfrm>
          <a:prstGeom prst="bentConnector3">
            <a:avLst>
              <a:gd name="adj1" fmla="val 50000"/>
            </a:avLst>
          </a:prstGeom>
          <a:ln w="12700">
            <a:solidFill>
              <a:schemeClr val="tx1"/>
            </a:solidFill>
            <a:headEnd type="none" w="med" len="sm"/>
            <a:tailEnd type="triangle" w="med" len="sm"/>
          </a:ln>
        </p:spPr>
        <p:style>
          <a:lnRef idx="2">
            <a:schemeClr val="accent1"/>
          </a:lnRef>
          <a:fillRef idx="0">
            <a:schemeClr val="accent1"/>
          </a:fillRef>
          <a:effectRef idx="1">
            <a:schemeClr val="accent1"/>
          </a:effectRef>
          <a:fontRef idx="minor">
            <a:schemeClr val="tx1"/>
          </a:fontRef>
        </p:style>
      </p:cxnSp>
      <p:pic>
        <p:nvPicPr>
          <p:cNvPr id="19" name="Picture 18" descr="A close-up of a circuit board&#10;&#10;AI-generated content may be incorrect.">
            <a:extLst>
              <a:ext uri="{FF2B5EF4-FFF2-40B4-BE49-F238E27FC236}">
                <a16:creationId xmlns:a16="http://schemas.microsoft.com/office/drawing/2014/main" id="{055723CA-D5E5-9927-FB1F-74AF55439D84}"/>
              </a:ext>
            </a:extLst>
          </p:cNvPr>
          <p:cNvPicPr>
            <a:picLocks noChangeAspect="1"/>
          </p:cNvPicPr>
          <p:nvPr/>
        </p:nvPicPr>
        <p:blipFill>
          <a:blip r:embed="rId3">
            <a:extLst>
              <a:ext uri="{BEBA8EAE-BF5A-486C-A8C5-ECC9F3942E4B}">
                <a14:imgProps xmlns:a14="http://schemas.microsoft.com/office/drawing/2010/main">
                  <a14:imgLayer r:embed="rId4">
                    <a14:imgEffect>
                      <a14:saturation sat="66000"/>
                    </a14:imgEffect>
                    <a14:imgEffect>
                      <a14:brightnessContrast bright="33000" contrast="-20000"/>
                    </a14:imgEffect>
                  </a14:imgLayer>
                </a14:imgProps>
              </a:ext>
              <a:ext uri="{28A0092B-C50C-407E-A947-70E740481C1C}">
                <a14:useLocalDpi xmlns:a14="http://schemas.microsoft.com/office/drawing/2010/main" val="0"/>
              </a:ext>
            </a:extLst>
          </a:blip>
          <a:stretch>
            <a:fillRect/>
          </a:stretch>
        </p:blipFill>
        <p:spPr>
          <a:xfrm>
            <a:off x="1700300" y="2832242"/>
            <a:ext cx="5236475" cy="2633477"/>
          </a:xfrm>
          <a:prstGeom prst="rect">
            <a:avLst/>
          </a:prstGeom>
        </p:spPr>
      </p:pic>
      <p:sp>
        <p:nvSpPr>
          <p:cNvPr id="20" name="Rectangle 19">
            <a:extLst>
              <a:ext uri="{FF2B5EF4-FFF2-40B4-BE49-F238E27FC236}">
                <a16:creationId xmlns:a16="http://schemas.microsoft.com/office/drawing/2014/main" id="{C703E412-C492-B916-111D-FD3C6948B022}"/>
              </a:ext>
            </a:extLst>
          </p:cNvPr>
          <p:cNvSpPr/>
          <p:nvPr/>
        </p:nvSpPr>
        <p:spPr>
          <a:xfrm>
            <a:off x="4921706" y="3878158"/>
            <a:ext cx="802567" cy="82888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cxnSp>
        <p:nvCxnSpPr>
          <p:cNvPr id="21" name="Straight Connector 20">
            <a:extLst>
              <a:ext uri="{FF2B5EF4-FFF2-40B4-BE49-F238E27FC236}">
                <a16:creationId xmlns:a16="http://schemas.microsoft.com/office/drawing/2014/main" id="{2A9E75EC-77C0-5CB1-3733-24DE44B78301}"/>
              </a:ext>
            </a:extLst>
          </p:cNvPr>
          <p:cNvCxnSpPr/>
          <p:nvPr/>
        </p:nvCxnSpPr>
        <p:spPr>
          <a:xfrm flipV="1">
            <a:off x="4921706" y="2891395"/>
            <a:ext cx="2690572" cy="986763"/>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8EE9B5E5-4194-141C-3E65-18FE51270A9A}"/>
              </a:ext>
            </a:extLst>
          </p:cNvPr>
          <p:cNvCxnSpPr>
            <a:cxnSpLocks/>
          </p:cNvCxnSpPr>
          <p:nvPr/>
        </p:nvCxnSpPr>
        <p:spPr>
          <a:xfrm>
            <a:off x="4921706" y="4707038"/>
            <a:ext cx="2690572" cy="677545"/>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sp>
        <p:nvSpPr>
          <p:cNvPr id="23" name="Right Brace 22">
            <a:extLst>
              <a:ext uri="{FF2B5EF4-FFF2-40B4-BE49-F238E27FC236}">
                <a16:creationId xmlns:a16="http://schemas.microsoft.com/office/drawing/2014/main" id="{B94C6562-F017-4E80-0B08-9D8E6A943933}"/>
              </a:ext>
            </a:extLst>
          </p:cNvPr>
          <p:cNvSpPr/>
          <p:nvPr/>
        </p:nvSpPr>
        <p:spPr>
          <a:xfrm rot="5400000">
            <a:off x="2724515" y="5200420"/>
            <a:ext cx="78941" cy="776253"/>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LID4096"/>
          </a:p>
        </p:txBody>
      </p:sp>
      <p:sp>
        <p:nvSpPr>
          <p:cNvPr id="24" name="TextBox 23">
            <a:extLst>
              <a:ext uri="{FF2B5EF4-FFF2-40B4-BE49-F238E27FC236}">
                <a16:creationId xmlns:a16="http://schemas.microsoft.com/office/drawing/2014/main" id="{EC41FCDA-825B-9697-0EF5-38C3EA72013C}"/>
              </a:ext>
            </a:extLst>
          </p:cNvPr>
          <p:cNvSpPr txBox="1"/>
          <p:nvPr/>
        </p:nvSpPr>
        <p:spPr>
          <a:xfrm>
            <a:off x="2375859" y="5588546"/>
            <a:ext cx="795411" cy="246221"/>
          </a:xfrm>
          <a:prstGeom prst="rect">
            <a:avLst/>
          </a:prstGeom>
          <a:noFill/>
        </p:spPr>
        <p:txBody>
          <a:bodyPr wrap="none" rtlCol="0">
            <a:spAutoFit/>
          </a:bodyPr>
          <a:lstStyle/>
          <a:p>
            <a:r>
              <a:rPr lang="en-US" sz="1000" dirty="0"/>
              <a:t>Upper Byte</a:t>
            </a:r>
            <a:endParaRPr lang="LID4096" sz="1000" dirty="0"/>
          </a:p>
        </p:txBody>
      </p:sp>
      <p:sp>
        <p:nvSpPr>
          <p:cNvPr id="25" name="Right Brace 24">
            <a:extLst>
              <a:ext uri="{FF2B5EF4-FFF2-40B4-BE49-F238E27FC236}">
                <a16:creationId xmlns:a16="http://schemas.microsoft.com/office/drawing/2014/main" id="{61A11F2D-E3DB-602A-229F-A8BF812ACFB2}"/>
              </a:ext>
            </a:extLst>
          </p:cNvPr>
          <p:cNvSpPr/>
          <p:nvPr/>
        </p:nvSpPr>
        <p:spPr>
          <a:xfrm rot="5400000">
            <a:off x="3811050" y="5200420"/>
            <a:ext cx="78941" cy="776253"/>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LID4096"/>
          </a:p>
        </p:txBody>
      </p:sp>
      <p:sp>
        <p:nvSpPr>
          <p:cNvPr id="26" name="TextBox 25">
            <a:extLst>
              <a:ext uri="{FF2B5EF4-FFF2-40B4-BE49-F238E27FC236}">
                <a16:creationId xmlns:a16="http://schemas.microsoft.com/office/drawing/2014/main" id="{E4C94806-3C63-DF0F-03D2-CD5062F4F70A}"/>
              </a:ext>
            </a:extLst>
          </p:cNvPr>
          <p:cNvSpPr txBox="1"/>
          <p:nvPr/>
        </p:nvSpPr>
        <p:spPr>
          <a:xfrm>
            <a:off x="3462394" y="5588546"/>
            <a:ext cx="792205" cy="246221"/>
          </a:xfrm>
          <a:prstGeom prst="rect">
            <a:avLst/>
          </a:prstGeom>
          <a:noFill/>
        </p:spPr>
        <p:txBody>
          <a:bodyPr wrap="none" rtlCol="0">
            <a:spAutoFit/>
          </a:bodyPr>
          <a:lstStyle/>
          <a:p>
            <a:r>
              <a:rPr lang="en-US" sz="1000" dirty="0"/>
              <a:t>Lower Byte</a:t>
            </a:r>
            <a:endParaRPr lang="LID4096" sz="1000" dirty="0"/>
          </a:p>
        </p:txBody>
      </p:sp>
      <p:sp>
        <p:nvSpPr>
          <p:cNvPr id="27" name="Right Brace 26">
            <a:extLst>
              <a:ext uri="{FF2B5EF4-FFF2-40B4-BE49-F238E27FC236}">
                <a16:creationId xmlns:a16="http://schemas.microsoft.com/office/drawing/2014/main" id="{4FEB0B31-D627-211D-6E3B-274D99FE1EF7}"/>
              </a:ext>
            </a:extLst>
          </p:cNvPr>
          <p:cNvSpPr/>
          <p:nvPr/>
        </p:nvSpPr>
        <p:spPr>
          <a:xfrm rot="5400000">
            <a:off x="3271125" y="4890764"/>
            <a:ext cx="78941" cy="1888005"/>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LID4096"/>
          </a:p>
        </p:txBody>
      </p:sp>
      <p:sp>
        <p:nvSpPr>
          <p:cNvPr id="28" name="TextBox 27">
            <a:extLst>
              <a:ext uri="{FF2B5EF4-FFF2-40B4-BE49-F238E27FC236}">
                <a16:creationId xmlns:a16="http://schemas.microsoft.com/office/drawing/2014/main" id="{47775337-1556-5BCB-117B-4F3A30AFA8EB}"/>
              </a:ext>
            </a:extLst>
          </p:cNvPr>
          <p:cNvSpPr txBox="1"/>
          <p:nvPr/>
        </p:nvSpPr>
        <p:spPr>
          <a:xfrm>
            <a:off x="2773564" y="5874237"/>
            <a:ext cx="1119730" cy="307777"/>
          </a:xfrm>
          <a:prstGeom prst="rect">
            <a:avLst/>
          </a:prstGeom>
          <a:noFill/>
        </p:spPr>
        <p:txBody>
          <a:bodyPr wrap="none" rtlCol="0">
            <a:spAutoFit/>
          </a:bodyPr>
          <a:lstStyle/>
          <a:p>
            <a:r>
              <a:rPr lang="en-US" sz="1400" b="1" dirty="0"/>
              <a:t>GPIO Port E</a:t>
            </a:r>
            <a:endParaRPr lang="LID4096" sz="1400" b="1" dirty="0"/>
          </a:p>
        </p:txBody>
      </p:sp>
      <p:sp>
        <p:nvSpPr>
          <p:cNvPr id="35" name="Right Brace 34">
            <a:extLst>
              <a:ext uri="{FF2B5EF4-FFF2-40B4-BE49-F238E27FC236}">
                <a16:creationId xmlns:a16="http://schemas.microsoft.com/office/drawing/2014/main" id="{50E7DCDC-CD33-B1BC-30D5-E558C15AB3EC}"/>
              </a:ext>
            </a:extLst>
          </p:cNvPr>
          <p:cNvSpPr/>
          <p:nvPr/>
        </p:nvSpPr>
        <p:spPr>
          <a:xfrm rot="16200000">
            <a:off x="4871879" y="1378883"/>
            <a:ext cx="147597" cy="2680180"/>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LID4096"/>
          </a:p>
        </p:txBody>
      </p:sp>
      <p:sp>
        <p:nvSpPr>
          <p:cNvPr id="36" name="TextBox 35">
            <a:extLst>
              <a:ext uri="{FF2B5EF4-FFF2-40B4-BE49-F238E27FC236}">
                <a16:creationId xmlns:a16="http://schemas.microsoft.com/office/drawing/2014/main" id="{8365C449-A421-726A-5BB1-75EE89114636}"/>
              </a:ext>
            </a:extLst>
          </p:cNvPr>
          <p:cNvSpPr txBox="1"/>
          <p:nvPr/>
        </p:nvSpPr>
        <p:spPr>
          <a:xfrm>
            <a:off x="3961701" y="2337397"/>
            <a:ext cx="1904945" cy="307777"/>
          </a:xfrm>
          <a:prstGeom prst="rect">
            <a:avLst/>
          </a:prstGeom>
          <a:noFill/>
        </p:spPr>
        <p:txBody>
          <a:bodyPr wrap="none" rtlCol="0">
            <a:spAutoFit/>
          </a:bodyPr>
          <a:lstStyle/>
          <a:p>
            <a:r>
              <a:rPr lang="en-US" sz="1400" b="1"/>
              <a:t>GPIO </a:t>
            </a:r>
            <a:r>
              <a:rPr lang="en-US" sz="1400" b="1" dirty="0"/>
              <a:t>Pins (</a:t>
            </a:r>
            <a:r>
              <a:rPr lang="en-US" sz="1400" b="1"/>
              <a:t>Ports A-C)</a:t>
            </a:r>
            <a:endParaRPr lang="LID4096" sz="1400" b="1" dirty="0"/>
          </a:p>
        </p:txBody>
      </p:sp>
      <p:sp>
        <p:nvSpPr>
          <p:cNvPr id="37" name="Freeform: Shape 36">
            <a:extLst>
              <a:ext uri="{FF2B5EF4-FFF2-40B4-BE49-F238E27FC236}">
                <a16:creationId xmlns:a16="http://schemas.microsoft.com/office/drawing/2014/main" id="{37C084F9-C79A-2AA4-EEE3-11D7839AF841}"/>
              </a:ext>
            </a:extLst>
          </p:cNvPr>
          <p:cNvSpPr/>
          <p:nvPr/>
        </p:nvSpPr>
        <p:spPr>
          <a:xfrm>
            <a:off x="3709204" y="4539758"/>
            <a:ext cx="1268464" cy="561299"/>
          </a:xfrm>
          <a:custGeom>
            <a:avLst/>
            <a:gdLst>
              <a:gd name="connsiteX0" fmla="*/ 2317750 w 2317750"/>
              <a:gd name="connsiteY0" fmla="*/ 0 h 723900"/>
              <a:gd name="connsiteX1" fmla="*/ 1022350 w 2317750"/>
              <a:gd name="connsiteY1" fmla="*/ 15875 h 723900"/>
              <a:gd name="connsiteX2" fmla="*/ 549275 w 2317750"/>
              <a:gd name="connsiteY2" fmla="*/ 482600 h 723900"/>
              <a:gd name="connsiteX3" fmla="*/ 228600 w 2317750"/>
              <a:gd name="connsiteY3" fmla="*/ 482600 h 723900"/>
              <a:gd name="connsiteX4" fmla="*/ 0 w 2317750"/>
              <a:gd name="connsiteY4" fmla="*/ 723900 h 7239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17750" h="723900">
                <a:moveTo>
                  <a:pt x="2317750" y="0"/>
                </a:moveTo>
                <a:lnTo>
                  <a:pt x="1022350" y="15875"/>
                </a:lnTo>
                <a:lnTo>
                  <a:pt x="549275" y="482600"/>
                </a:lnTo>
                <a:lnTo>
                  <a:pt x="228600" y="482600"/>
                </a:lnTo>
                <a:lnTo>
                  <a:pt x="0" y="723900"/>
                </a:lnTo>
              </a:path>
            </a:pathLst>
          </a:custGeom>
          <a:noFill/>
          <a:ln w="25400">
            <a:solidFill>
              <a:srgbClr val="92D050"/>
            </a:solidFill>
            <a:prstDash val="sysDot"/>
            <a:headEnd type="triangle"/>
          </a:ln>
          <a:effectLst>
            <a:glow rad="63500">
              <a:schemeClr val="accent6">
                <a:satMod val="175000"/>
                <a:alpha val="40000"/>
              </a:schemeClr>
            </a:glo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cxnSp>
        <p:nvCxnSpPr>
          <p:cNvPr id="48" name="Straight Arrow Connector 47">
            <a:extLst>
              <a:ext uri="{FF2B5EF4-FFF2-40B4-BE49-F238E27FC236}">
                <a16:creationId xmlns:a16="http://schemas.microsoft.com/office/drawing/2014/main" id="{029A43E5-7AC8-AFE4-7829-F6FA913D0441}"/>
              </a:ext>
            </a:extLst>
          </p:cNvPr>
          <p:cNvCxnSpPr>
            <a:cxnSpLocks/>
          </p:cNvCxnSpPr>
          <p:nvPr/>
        </p:nvCxnSpPr>
        <p:spPr>
          <a:xfrm>
            <a:off x="7921269" y="4888509"/>
            <a:ext cx="1105152" cy="0"/>
          </a:xfrm>
          <a:prstGeom prst="straightConnector1">
            <a:avLst/>
          </a:prstGeom>
          <a:ln w="25400">
            <a:solidFill>
              <a:srgbClr val="92D050"/>
            </a:solidFill>
            <a:prstDash val="sysDash"/>
            <a:tailEnd type="triangle"/>
          </a:ln>
          <a:effectLst>
            <a:glow rad="63500">
              <a:schemeClr val="accent6">
                <a:satMod val="175000"/>
                <a:alpha val="40000"/>
              </a:schemeClr>
            </a:glow>
          </a:effectLst>
        </p:spPr>
        <p:style>
          <a:lnRef idx="2">
            <a:schemeClr val="accent1"/>
          </a:lnRef>
          <a:fillRef idx="0">
            <a:schemeClr val="accent1"/>
          </a:fillRef>
          <a:effectRef idx="1">
            <a:schemeClr val="accent1"/>
          </a:effectRef>
          <a:fontRef idx="minor">
            <a:schemeClr val="tx1"/>
          </a:fontRef>
        </p:style>
      </p:cxnSp>
      <p:cxnSp>
        <p:nvCxnSpPr>
          <p:cNvPr id="50" name="Connector: Elbow 49">
            <a:extLst>
              <a:ext uri="{FF2B5EF4-FFF2-40B4-BE49-F238E27FC236}">
                <a16:creationId xmlns:a16="http://schemas.microsoft.com/office/drawing/2014/main" id="{B002FB85-D916-C234-9292-0D6BF1615C2A}"/>
              </a:ext>
            </a:extLst>
          </p:cNvPr>
          <p:cNvCxnSpPr>
            <a:cxnSpLocks/>
          </p:cNvCxnSpPr>
          <p:nvPr/>
        </p:nvCxnSpPr>
        <p:spPr>
          <a:xfrm rot="10800000">
            <a:off x="8719211" y="4060822"/>
            <a:ext cx="311283" cy="751915"/>
          </a:xfrm>
          <a:prstGeom prst="bentConnector2">
            <a:avLst/>
          </a:prstGeom>
          <a:ln w="25400">
            <a:solidFill>
              <a:srgbClr val="92D050"/>
            </a:solidFill>
            <a:prstDash val="sysDot"/>
            <a:tailEnd type="triangle" w="med" len="sm"/>
          </a:ln>
          <a:effectLst>
            <a:glow rad="63500">
              <a:schemeClr val="accent6">
                <a:satMod val="175000"/>
                <a:alpha val="40000"/>
              </a:schemeClr>
            </a:glow>
          </a:effectLst>
        </p:spPr>
        <p:style>
          <a:lnRef idx="2">
            <a:schemeClr val="accent1"/>
          </a:lnRef>
          <a:fillRef idx="0">
            <a:schemeClr val="accent1"/>
          </a:fillRef>
          <a:effectRef idx="1">
            <a:schemeClr val="accent1"/>
          </a:effectRef>
          <a:fontRef idx="minor">
            <a:schemeClr val="tx1"/>
          </a:fontRef>
        </p:style>
      </p:cxnSp>
      <p:grpSp>
        <p:nvGrpSpPr>
          <p:cNvPr id="70" name="Group 69">
            <a:extLst>
              <a:ext uri="{FF2B5EF4-FFF2-40B4-BE49-F238E27FC236}">
                <a16:creationId xmlns:a16="http://schemas.microsoft.com/office/drawing/2014/main" id="{079292FD-6261-89AB-8BBA-4F56E8138606}"/>
              </a:ext>
            </a:extLst>
          </p:cNvPr>
          <p:cNvGrpSpPr/>
          <p:nvPr/>
        </p:nvGrpSpPr>
        <p:grpSpPr>
          <a:xfrm>
            <a:off x="3501989" y="5101057"/>
            <a:ext cx="2044024" cy="1599086"/>
            <a:chOff x="3166980" y="1392353"/>
            <a:chExt cx="5678825" cy="4442670"/>
          </a:xfrm>
        </p:grpSpPr>
        <p:sp>
          <p:nvSpPr>
            <p:cNvPr id="51" name="Freeform: Shape 50">
              <a:extLst>
                <a:ext uri="{FF2B5EF4-FFF2-40B4-BE49-F238E27FC236}">
                  <a16:creationId xmlns:a16="http://schemas.microsoft.com/office/drawing/2014/main" id="{D30C71DC-928B-6E51-F9F7-8BFB7995DAD2}"/>
                </a:ext>
              </a:extLst>
            </p:cNvPr>
            <p:cNvSpPr/>
            <p:nvPr/>
          </p:nvSpPr>
          <p:spPr>
            <a:xfrm flipH="1">
              <a:off x="8228595" y="5020754"/>
              <a:ext cx="617210" cy="410586"/>
            </a:xfrm>
            <a:custGeom>
              <a:avLst/>
              <a:gdLst>
                <a:gd name="connsiteX0" fmla="*/ 0 w 321468"/>
                <a:gd name="connsiteY0" fmla="*/ 200025 h 200025"/>
                <a:gd name="connsiteX1" fmla="*/ 0 w 321468"/>
                <a:gd name="connsiteY1" fmla="*/ 0 h 200025"/>
                <a:gd name="connsiteX2" fmla="*/ 321468 w 321468"/>
                <a:gd name="connsiteY2" fmla="*/ 0 h 200025"/>
                <a:gd name="connsiteX3" fmla="*/ 321468 w 321468"/>
                <a:gd name="connsiteY3" fmla="*/ 61913 h 200025"/>
                <a:gd name="connsiteX4" fmla="*/ 71437 w 321468"/>
                <a:gd name="connsiteY4" fmla="*/ 61913 h 200025"/>
                <a:gd name="connsiteX5" fmla="*/ 71437 w 321468"/>
                <a:gd name="connsiteY5" fmla="*/ 192882 h 200025"/>
                <a:gd name="connsiteX6" fmla="*/ 0 w 321468"/>
                <a:gd name="connsiteY6" fmla="*/ 200025 h 2000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21468" h="200025">
                  <a:moveTo>
                    <a:pt x="0" y="200025"/>
                  </a:moveTo>
                  <a:lnTo>
                    <a:pt x="0" y="0"/>
                  </a:lnTo>
                  <a:lnTo>
                    <a:pt x="321468" y="0"/>
                  </a:lnTo>
                  <a:lnTo>
                    <a:pt x="321468" y="61913"/>
                  </a:lnTo>
                  <a:lnTo>
                    <a:pt x="71437" y="61913"/>
                  </a:lnTo>
                  <a:lnTo>
                    <a:pt x="71437" y="192882"/>
                  </a:lnTo>
                  <a:lnTo>
                    <a:pt x="0" y="200025"/>
                  </a:lnTo>
                  <a:close/>
                </a:path>
              </a:pathLst>
            </a:custGeom>
            <a:solidFill>
              <a:sysClr val="window" lastClr="FFFFFF">
                <a:lumMod val="75000"/>
              </a:sysClr>
            </a:solidFill>
            <a:ln w="38100" cap="flat" cmpd="sng" algn="ctr">
              <a:solidFill>
                <a:srgbClr val="4472C4">
                  <a:shade val="15000"/>
                </a:srgbClr>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prstClr val="white"/>
                </a:solidFill>
                <a:effectLst/>
                <a:uLnTx/>
                <a:uFillTx/>
                <a:latin typeface="Calibri" panose="020F0502020204030204"/>
                <a:ea typeface="+mn-ea"/>
                <a:cs typeface="+mn-cs"/>
              </a:endParaRPr>
            </a:p>
          </p:txBody>
        </p:sp>
        <p:sp>
          <p:nvSpPr>
            <p:cNvPr id="52" name="Freeform: Shape 51">
              <a:extLst>
                <a:ext uri="{FF2B5EF4-FFF2-40B4-BE49-F238E27FC236}">
                  <a16:creationId xmlns:a16="http://schemas.microsoft.com/office/drawing/2014/main" id="{42211029-75E7-DB39-797E-DBE44C99B802}"/>
                </a:ext>
              </a:extLst>
            </p:cNvPr>
            <p:cNvSpPr/>
            <p:nvPr/>
          </p:nvSpPr>
          <p:spPr>
            <a:xfrm>
              <a:off x="7282167" y="5023187"/>
              <a:ext cx="659869" cy="410586"/>
            </a:xfrm>
            <a:custGeom>
              <a:avLst/>
              <a:gdLst>
                <a:gd name="connsiteX0" fmla="*/ 0 w 321468"/>
                <a:gd name="connsiteY0" fmla="*/ 200025 h 200025"/>
                <a:gd name="connsiteX1" fmla="*/ 0 w 321468"/>
                <a:gd name="connsiteY1" fmla="*/ 0 h 200025"/>
                <a:gd name="connsiteX2" fmla="*/ 321468 w 321468"/>
                <a:gd name="connsiteY2" fmla="*/ 0 h 200025"/>
                <a:gd name="connsiteX3" fmla="*/ 321468 w 321468"/>
                <a:gd name="connsiteY3" fmla="*/ 61913 h 200025"/>
                <a:gd name="connsiteX4" fmla="*/ 71437 w 321468"/>
                <a:gd name="connsiteY4" fmla="*/ 61913 h 200025"/>
                <a:gd name="connsiteX5" fmla="*/ 71437 w 321468"/>
                <a:gd name="connsiteY5" fmla="*/ 192882 h 200025"/>
                <a:gd name="connsiteX6" fmla="*/ 0 w 321468"/>
                <a:gd name="connsiteY6" fmla="*/ 200025 h 2000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21468" h="200025">
                  <a:moveTo>
                    <a:pt x="0" y="200025"/>
                  </a:moveTo>
                  <a:lnTo>
                    <a:pt x="0" y="0"/>
                  </a:lnTo>
                  <a:lnTo>
                    <a:pt x="321468" y="0"/>
                  </a:lnTo>
                  <a:lnTo>
                    <a:pt x="321468" y="61913"/>
                  </a:lnTo>
                  <a:lnTo>
                    <a:pt x="71437" y="61913"/>
                  </a:lnTo>
                  <a:lnTo>
                    <a:pt x="71437" y="192882"/>
                  </a:lnTo>
                  <a:lnTo>
                    <a:pt x="0" y="200025"/>
                  </a:lnTo>
                  <a:close/>
                </a:path>
              </a:pathLst>
            </a:custGeom>
            <a:solidFill>
              <a:sysClr val="window" lastClr="FFFFFF">
                <a:lumMod val="75000"/>
              </a:sysClr>
            </a:solidFill>
            <a:ln w="38100" cap="flat" cmpd="sng" algn="ctr">
              <a:solidFill>
                <a:srgbClr val="4472C4">
                  <a:shade val="15000"/>
                </a:srgbClr>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prstClr val="white"/>
                </a:solidFill>
                <a:effectLst/>
                <a:uLnTx/>
                <a:uFillTx/>
                <a:latin typeface="Calibri" panose="020F0502020204030204"/>
                <a:ea typeface="+mn-ea"/>
                <a:cs typeface="+mn-cs"/>
              </a:endParaRPr>
            </a:p>
          </p:txBody>
        </p:sp>
        <p:sp>
          <p:nvSpPr>
            <p:cNvPr id="53" name="Rectangle 52">
              <a:extLst>
                <a:ext uri="{FF2B5EF4-FFF2-40B4-BE49-F238E27FC236}">
                  <a16:creationId xmlns:a16="http://schemas.microsoft.com/office/drawing/2014/main" id="{F779AF19-C7F7-BB2A-3742-674509AE3DA7}"/>
                </a:ext>
              </a:extLst>
            </p:cNvPr>
            <p:cNvSpPr/>
            <p:nvPr/>
          </p:nvSpPr>
          <p:spPr>
            <a:xfrm>
              <a:off x="8038392" y="4540257"/>
              <a:ext cx="93846" cy="565768"/>
            </a:xfrm>
            <a:prstGeom prst="rect">
              <a:avLst/>
            </a:prstGeom>
            <a:solidFill>
              <a:sysClr val="windowText" lastClr="000000">
                <a:lumMod val="65000"/>
                <a:lumOff val="35000"/>
              </a:sysClr>
            </a:solidFill>
            <a:ln w="38100" cap="flat" cmpd="sng" algn="ctr">
              <a:solidFill>
                <a:sysClr val="windowText" lastClr="000000">
                  <a:lumMod val="75000"/>
                  <a:lumOff val="25000"/>
                </a:sysClr>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prstClr val="white"/>
                </a:solidFill>
                <a:effectLst/>
                <a:uLnTx/>
                <a:uFillTx/>
                <a:latin typeface="Calibri" panose="020F0502020204030204"/>
                <a:ea typeface="+mn-ea"/>
                <a:cs typeface="+mn-cs"/>
              </a:endParaRPr>
            </a:p>
          </p:txBody>
        </p:sp>
        <p:sp>
          <p:nvSpPr>
            <p:cNvPr id="54" name="Rectangle: Rounded Corners 53">
              <a:extLst>
                <a:ext uri="{FF2B5EF4-FFF2-40B4-BE49-F238E27FC236}">
                  <a16:creationId xmlns:a16="http://schemas.microsoft.com/office/drawing/2014/main" id="{18A551F5-22D7-0E95-D4E9-88D115AD7404}"/>
                </a:ext>
              </a:extLst>
            </p:cNvPr>
            <p:cNvSpPr/>
            <p:nvPr/>
          </p:nvSpPr>
          <p:spPr>
            <a:xfrm>
              <a:off x="7710872" y="3655879"/>
              <a:ext cx="748889" cy="891084"/>
            </a:xfrm>
            <a:prstGeom prst="roundRect">
              <a:avLst/>
            </a:prstGeom>
            <a:solidFill>
              <a:schemeClr val="bg1">
                <a:lumMod val="85000"/>
              </a:schemeClr>
            </a:solidFill>
            <a:ln w="38100" cap="flat" cmpd="sng" algn="ctr">
              <a:solidFill>
                <a:srgbClr val="4472C4">
                  <a:shade val="15000"/>
                </a:srgbClr>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prstClr val="white"/>
                </a:solidFill>
                <a:effectLst/>
                <a:uLnTx/>
                <a:uFillTx/>
                <a:latin typeface="Calibri" panose="020F0502020204030204"/>
                <a:ea typeface="+mn-ea"/>
                <a:cs typeface="+mn-cs"/>
              </a:endParaRPr>
            </a:p>
          </p:txBody>
        </p:sp>
        <p:grpSp>
          <p:nvGrpSpPr>
            <p:cNvPr id="55" name="Group 54">
              <a:extLst>
                <a:ext uri="{FF2B5EF4-FFF2-40B4-BE49-F238E27FC236}">
                  <a16:creationId xmlns:a16="http://schemas.microsoft.com/office/drawing/2014/main" id="{7BBF6CBF-FCAA-95BC-F37D-A2799679701D}"/>
                </a:ext>
              </a:extLst>
            </p:cNvPr>
            <p:cNvGrpSpPr/>
            <p:nvPr/>
          </p:nvGrpSpPr>
          <p:grpSpPr>
            <a:xfrm>
              <a:off x="7762047" y="4546963"/>
              <a:ext cx="631874" cy="503488"/>
              <a:chOff x="5198211" y="3413816"/>
              <a:chExt cx="307830" cy="260468"/>
            </a:xfrm>
          </p:grpSpPr>
          <p:sp>
            <p:nvSpPr>
              <p:cNvPr id="56" name="Freeform: Shape 55">
                <a:extLst>
                  <a:ext uri="{FF2B5EF4-FFF2-40B4-BE49-F238E27FC236}">
                    <a16:creationId xmlns:a16="http://schemas.microsoft.com/office/drawing/2014/main" id="{93343F6E-A38E-C338-E106-6E3693135586}"/>
                  </a:ext>
                </a:extLst>
              </p:cNvPr>
              <p:cNvSpPr/>
              <p:nvPr/>
            </p:nvSpPr>
            <p:spPr>
              <a:xfrm>
                <a:off x="5198211" y="3413816"/>
                <a:ext cx="300686" cy="117593"/>
              </a:xfrm>
              <a:custGeom>
                <a:avLst/>
                <a:gdLst>
                  <a:gd name="connsiteX0" fmla="*/ 157594 w 310623"/>
                  <a:gd name="connsiteY0" fmla="*/ 3666 h 63205"/>
                  <a:gd name="connsiteX1" fmla="*/ 76632 w 310623"/>
                  <a:gd name="connsiteY1" fmla="*/ 3666 h 63205"/>
                  <a:gd name="connsiteX2" fmla="*/ 2813 w 310623"/>
                  <a:gd name="connsiteY2" fmla="*/ 41766 h 63205"/>
                  <a:gd name="connsiteX3" fmla="*/ 179026 w 310623"/>
                  <a:gd name="connsiteY3" fmla="*/ 63197 h 63205"/>
                  <a:gd name="connsiteX4" fmla="*/ 309994 w 310623"/>
                  <a:gd name="connsiteY4" fmla="*/ 44147 h 63205"/>
                  <a:gd name="connsiteX5" fmla="*/ 219507 w 310623"/>
                  <a:gd name="connsiteY5" fmla="*/ 25097 h 63205"/>
                  <a:gd name="connsiteX0" fmla="*/ 159989 w 310637"/>
                  <a:gd name="connsiteY0" fmla="*/ 666 h 74492"/>
                  <a:gd name="connsiteX1" fmla="*/ 76646 w 310637"/>
                  <a:gd name="connsiteY1" fmla="*/ 14953 h 74492"/>
                  <a:gd name="connsiteX2" fmla="*/ 2827 w 310637"/>
                  <a:gd name="connsiteY2" fmla="*/ 53053 h 74492"/>
                  <a:gd name="connsiteX3" fmla="*/ 179040 w 310637"/>
                  <a:gd name="connsiteY3" fmla="*/ 74484 h 74492"/>
                  <a:gd name="connsiteX4" fmla="*/ 310008 w 310637"/>
                  <a:gd name="connsiteY4" fmla="*/ 55434 h 74492"/>
                  <a:gd name="connsiteX5" fmla="*/ 219521 w 310637"/>
                  <a:gd name="connsiteY5" fmla="*/ 36384 h 74492"/>
                  <a:gd name="connsiteX0" fmla="*/ 159989 w 310297"/>
                  <a:gd name="connsiteY0" fmla="*/ 666 h 74492"/>
                  <a:gd name="connsiteX1" fmla="*/ 76646 w 310297"/>
                  <a:gd name="connsiteY1" fmla="*/ 14953 h 74492"/>
                  <a:gd name="connsiteX2" fmla="*/ 2827 w 310297"/>
                  <a:gd name="connsiteY2" fmla="*/ 53053 h 74492"/>
                  <a:gd name="connsiteX3" fmla="*/ 179040 w 310297"/>
                  <a:gd name="connsiteY3" fmla="*/ 74484 h 74492"/>
                  <a:gd name="connsiteX4" fmla="*/ 310008 w 310297"/>
                  <a:gd name="connsiteY4" fmla="*/ 55434 h 74492"/>
                  <a:gd name="connsiteX5" fmla="*/ 155228 w 310297"/>
                  <a:gd name="connsiteY5" fmla="*/ 31621 h 74492"/>
                  <a:gd name="connsiteX0" fmla="*/ 159989 w 310598"/>
                  <a:gd name="connsiteY0" fmla="*/ 666 h 74492"/>
                  <a:gd name="connsiteX1" fmla="*/ 76646 w 310598"/>
                  <a:gd name="connsiteY1" fmla="*/ 14953 h 74492"/>
                  <a:gd name="connsiteX2" fmla="*/ 2827 w 310598"/>
                  <a:gd name="connsiteY2" fmla="*/ 53053 h 74492"/>
                  <a:gd name="connsiteX3" fmla="*/ 179040 w 310598"/>
                  <a:gd name="connsiteY3" fmla="*/ 74484 h 74492"/>
                  <a:gd name="connsiteX4" fmla="*/ 310008 w 310598"/>
                  <a:gd name="connsiteY4" fmla="*/ 55434 h 74492"/>
                  <a:gd name="connsiteX5" fmla="*/ 155228 w 310598"/>
                  <a:gd name="connsiteY5" fmla="*/ 31621 h 74492"/>
                  <a:gd name="connsiteX0" fmla="*/ 162970 w 313579"/>
                  <a:gd name="connsiteY0" fmla="*/ 830 h 74656"/>
                  <a:gd name="connsiteX1" fmla="*/ 53433 w 313579"/>
                  <a:gd name="connsiteY1" fmla="*/ 12736 h 74656"/>
                  <a:gd name="connsiteX2" fmla="*/ 5808 w 313579"/>
                  <a:gd name="connsiteY2" fmla="*/ 53217 h 74656"/>
                  <a:gd name="connsiteX3" fmla="*/ 182021 w 313579"/>
                  <a:gd name="connsiteY3" fmla="*/ 74648 h 74656"/>
                  <a:gd name="connsiteX4" fmla="*/ 312989 w 313579"/>
                  <a:gd name="connsiteY4" fmla="*/ 55598 h 74656"/>
                  <a:gd name="connsiteX5" fmla="*/ 158209 w 313579"/>
                  <a:gd name="connsiteY5" fmla="*/ 31785 h 74656"/>
                  <a:gd name="connsiteX0" fmla="*/ 145931 w 296540"/>
                  <a:gd name="connsiteY0" fmla="*/ 1014 h 75464"/>
                  <a:gd name="connsiteX1" fmla="*/ 36394 w 296540"/>
                  <a:gd name="connsiteY1" fmla="*/ 12920 h 75464"/>
                  <a:gd name="connsiteX2" fmla="*/ 7819 w 296540"/>
                  <a:gd name="connsiteY2" fmla="*/ 65307 h 75464"/>
                  <a:gd name="connsiteX3" fmla="*/ 164982 w 296540"/>
                  <a:gd name="connsiteY3" fmla="*/ 74832 h 75464"/>
                  <a:gd name="connsiteX4" fmla="*/ 295950 w 296540"/>
                  <a:gd name="connsiteY4" fmla="*/ 55782 h 75464"/>
                  <a:gd name="connsiteX5" fmla="*/ 141170 w 296540"/>
                  <a:gd name="connsiteY5" fmla="*/ 31969 h 75464"/>
                  <a:gd name="connsiteX0" fmla="*/ 150077 w 300686"/>
                  <a:gd name="connsiteY0" fmla="*/ 897 h 74731"/>
                  <a:gd name="connsiteX1" fmla="*/ 40540 w 300686"/>
                  <a:gd name="connsiteY1" fmla="*/ 12803 h 74731"/>
                  <a:gd name="connsiteX2" fmla="*/ 7202 w 300686"/>
                  <a:gd name="connsiteY2" fmla="*/ 58047 h 74731"/>
                  <a:gd name="connsiteX3" fmla="*/ 169128 w 300686"/>
                  <a:gd name="connsiteY3" fmla="*/ 74715 h 74731"/>
                  <a:gd name="connsiteX4" fmla="*/ 300096 w 300686"/>
                  <a:gd name="connsiteY4" fmla="*/ 55665 h 74731"/>
                  <a:gd name="connsiteX5" fmla="*/ 145316 w 300686"/>
                  <a:gd name="connsiteY5" fmla="*/ 31852 h 747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00686" h="74731">
                    <a:moveTo>
                      <a:pt x="150077" y="897"/>
                    </a:moveTo>
                    <a:cubicBezTo>
                      <a:pt x="122494" y="-2278"/>
                      <a:pt x="64353" y="3278"/>
                      <a:pt x="40540" y="12803"/>
                    </a:cubicBezTo>
                    <a:cubicBezTo>
                      <a:pt x="16728" y="22328"/>
                      <a:pt x="-14229" y="47728"/>
                      <a:pt x="7202" y="58047"/>
                    </a:cubicBezTo>
                    <a:cubicBezTo>
                      <a:pt x="28633" y="68366"/>
                      <a:pt x="120312" y="75112"/>
                      <a:pt x="169128" y="74715"/>
                    </a:cubicBezTo>
                    <a:cubicBezTo>
                      <a:pt x="217944" y="74318"/>
                      <a:pt x="293349" y="62015"/>
                      <a:pt x="300096" y="55665"/>
                    </a:cubicBezTo>
                    <a:cubicBezTo>
                      <a:pt x="306843" y="49315"/>
                      <a:pt x="255845" y="23915"/>
                      <a:pt x="145316" y="31852"/>
                    </a:cubicBezTo>
                  </a:path>
                </a:pathLst>
              </a:custGeom>
              <a:noFill/>
              <a:ln w="38100" cap="flat" cmpd="sng" algn="ctr">
                <a:solidFill>
                  <a:srgbClr val="4472C4">
                    <a:shade val="15000"/>
                  </a:srgbClr>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prstClr val="white"/>
                  </a:solidFill>
                  <a:effectLst/>
                  <a:uLnTx/>
                  <a:uFillTx/>
                  <a:latin typeface="Calibri" panose="020F0502020204030204"/>
                  <a:ea typeface="+mn-ea"/>
                  <a:cs typeface="+mn-cs"/>
                </a:endParaRPr>
              </a:p>
            </p:txBody>
          </p:sp>
          <p:sp>
            <p:nvSpPr>
              <p:cNvPr id="57" name="Freeform: Shape 56">
                <a:extLst>
                  <a:ext uri="{FF2B5EF4-FFF2-40B4-BE49-F238E27FC236}">
                    <a16:creationId xmlns:a16="http://schemas.microsoft.com/office/drawing/2014/main" id="{894530A5-5A2E-D66D-5B60-C2CD8C3698B0}"/>
                  </a:ext>
                </a:extLst>
              </p:cNvPr>
              <p:cNvSpPr/>
              <p:nvPr/>
            </p:nvSpPr>
            <p:spPr>
              <a:xfrm>
                <a:off x="5205355" y="3461441"/>
                <a:ext cx="300686" cy="117593"/>
              </a:xfrm>
              <a:custGeom>
                <a:avLst/>
                <a:gdLst>
                  <a:gd name="connsiteX0" fmla="*/ 157594 w 310623"/>
                  <a:gd name="connsiteY0" fmla="*/ 3666 h 63205"/>
                  <a:gd name="connsiteX1" fmla="*/ 76632 w 310623"/>
                  <a:gd name="connsiteY1" fmla="*/ 3666 h 63205"/>
                  <a:gd name="connsiteX2" fmla="*/ 2813 w 310623"/>
                  <a:gd name="connsiteY2" fmla="*/ 41766 h 63205"/>
                  <a:gd name="connsiteX3" fmla="*/ 179026 w 310623"/>
                  <a:gd name="connsiteY3" fmla="*/ 63197 h 63205"/>
                  <a:gd name="connsiteX4" fmla="*/ 309994 w 310623"/>
                  <a:gd name="connsiteY4" fmla="*/ 44147 h 63205"/>
                  <a:gd name="connsiteX5" fmla="*/ 219507 w 310623"/>
                  <a:gd name="connsiteY5" fmla="*/ 25097 h 63205"/>
                  <a:gd name="connsiteX0" fmla="*/ 159989 w 310637"/>
                  <a:gd name="connsiteY0" fmla="*/ 666 h 74492"/>
                  <a:gd name="connsiteX1" fmla="*/ 76646 w 310637"/>
                  <a:gd name="connsiteY1" fmla="*/ 14953 h 74492"/>
                  <a:gd name="connsiteX2" fmla="*/ 2827 w 310637"/>
                  <a:gd name="connsiteY2" fmla="*/ 53053 h 74492"/>
                  <a:gd name="connsiteX3" fmla="*/ 179040 w 310637"/>
                  <a:gd name="connsiteY3" fmla="*/ 74484 h 74492"/>
                  <a:gd name="connsiteX4" fmla="*/ 310008 w 310637"/>
                  <a:gd name="connsiteY4" fmla="*/ 55434 h 74492"/>
                  <a:gd name="connsiteX5" fmla="*/ 219521 w 310637"/>
                  <a:gd name="connsiteY5" fmla="*/ 36384 h 74492"/>
                  <a:gd name="connsiteX0" fmla="*/ 159989 w 310297"/>
                  <a:gd name="connsiteY0" fmla="*/ 666 h 74492"/>
                  <a:gd name="connsiteX1" fmla="*/ 76646 w 310297"/>
                  <a:gd name="connsiteY1" fmla="*/ 14953 h 74492"/>
                  <a:gd name="connsiteX2" fmla="*/ 2827 w 310297"/>
                  <a:gd name="connsiteY2" fmla="*/ 53053 h 74492"/>
                  <a:gd name="connsiteX3" fmla="*/ 179040 w 310297"/>
                  <a:gd name="connsiteY3" fmla="*/ 74484 h 74492"/>
                  <a:gd name="connsiteX4" fmla="*/ 310008 w 310297"/>
                  <a:gd name="connsiteY4" fmla="*/ 55434 h 74492"/>
                  <a:gd name="connsiteX5" fmla="*/ 155228 w 310297"/>
                  <a:gd name="connsiteY5" fmla="*/ 31621 h 74492"/>
                  <a:gd name="connsiteX0" fmla="*/ 159989 w 310598"/>
                  <a:gd name="connsiteY0" fmla="*/ 666 h 74492"/>
                  <a:gd name="connsiteX1" fmla="*/ 76646 w 310598"/>
                  <a:gd name="connsiteY1" fmla="*/ 14953 h 74492"/>
                  <a:gd name="connsiteX2" fmla="*/ 2827 w 310598"/>
                  <a:gd name="connsiteY2" fmla="*/ 53053 h 74492"/>
                  <a:gd name="connsiteX3" fmla="*/ 179040 w 310598"/>
                  <a:gd name="connsiteY3" fmla="*/ 74484 h 74492"/>
                  <a:gd name="connsiteX4" fmla="*/ 310008 w 310598"/>
                  <a:gd name="connsiteY4" fmla="*/ 55434 h 74492"/>
                  <a:gd name="connsiteX5" fmla="*/ 155228 w 310598"/>
                  <a:gd name="connsiteY5" fmla="*/ 31621 h 74492"/>
                  <a:gd name="connsiteX0" fmla="*/ 162970 w 313579"/>
                  <a:gd name="connsiteY0" fmla="*/ 830 h 74656"/>
                  <a:gd name="connsiteX1" fmla="*/ 53433 w 313579"/>
                  <a:gd name="connsiteY1" fmla="*/ 12736 h 74656"/>
                  <a:gd name="connsiteX2" fmla="*/ 5808 w 313579"/>
                  <a:gd name="connsiteY2" fmla="*/ 53217 h 74656"/>
                  <a:gd name="connsiteX3" fmla="*/ 182021 w 313579"/>
                  <a:gd name="connsiteY3" fmla="*/ 74648 h 74656"/>
                  <a:gd name="connsiteX4" fmla="*/ 312989 w 313579"/>
                  <a:gd name="connsiteY4" fmla="*/ 55598 h 74656"/>
                  <a:gd name="connsiteX5" fmla="*/ 158209 w 313579"/>
                  <a:gd name="connsiteY5" fmla="*/ 31785 h 74656"/>
                  <a:gd name="connsiteX0" fmla="*/ 145931 w 296540"/>
                  <a:gd name="connsiteY0" fmla="*/ 1014 h 75464"/>
                  <a:gd name="connsiteX1" fmla="*/ 36394 w 296540"/>
                  <a:gd name="connsiteY1" fmla="*/ 12920 h 75464"/>
                  <a:gd name="connsiteX2" fmla="*/ 7819 w 296540"/>
                  <a:gd name="connsiteY2" fmla="*/ 65307 h 75464"/>
                  <a:gd name="connsiteX3" fmla="*/ 164982 w 296540"/>
                  <a:gd name="connsiteY3" fmla="*/ 74832 h 75464"/>
                  <a:gd name="connsiteX4" fmla="*/ 295950 w 296540"/>
                  <a:gd name="connsiteY4" fmla="*/ 55782 h 75464"/>
                  <a:gd name="connsiteX5" fmla="*/ 141170 w 296540"/>
                  <a:gd name="connsiteY5" fmla="*/ 31969 h 75464"/>
                  <a:gd name="connsiteX0" fmla="*/ 150077 w 300686"/>
                  <a:gd name="connsiteY0" fmla="*/ 897 h 74731"/>
                  <a:gd name="connsiteX1" fmla="*/ 40540 w 300686"/>
                  <a:gd name="connsiteY1" fmla="*/ 12803 h 74731"/>
                  <a:gd name="connsiteX2" fmla="*/ 7202 w 300686"/>
                  <a:gd name="connsiteY2" fmla="*/ 58047 h 74731"/>
                  <a:gd name="connsiteX3" fmla="*/ 169128 w 300686"/>
                  <a:gd name="connsiteY3" fmla="*/ 74715 h 74731"/>
                  <a:gd name="connsiteX4" fmla="*/ 300096 w 300686"/>
                  <a:gd name="connsiteY4" fmla="*/ 55665 h 74731"/>
                  <a:gd name="connsiteX5" fmla="*/ 145316 w 300686"/>
                  <a:gd name="connsiteY5" fmla="*/ 31852 h 747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00686" h="74731">
                    <a:moveTo>
                      <a:pt x="150077" y="897"/>
                    </a:moveTo>
                    <a:cubicBezTo>
                      <a:pt x="122494" y="-2278"/>
                      <a:pt x="64353" y="3278"/>
                      <a:pt x="40540" y="12803"/>
                    </a:cubicBezTo>
                    <a:cubicBezTo>
                      <a:pt x="16728" y="22328"/>
                      <a:pt x="-14229" y="47728"/>
                      <a:pt x="7202" y="58047"/>
                    </a:cubicBezTo>
                    <a:cubicBezTo>
                      <a:pt x="28633" y="68366"/>
                      <a:pt x="120312" y="75112"/>
                      <a:pt x="169128" y="74715"/>
                    </a:cubicBezTo>
                    <a:cubicBezTo>
                      <a:pt x="217944" y="74318"/>
                      <a:pt x="293349" y="62015"/>
                      <a:pt x="300096" y="55665"/>
                    </a:cubicBezTo>
                    <a:cubicBezTo>
                      <a:pt x="306843" y="49315"/>
                      <a:pt x="255845" y="23915"/>
                      <a:pt x="145316" y="31852"/>
                    </a:cubicBezTo>
                  </a:path>
                </a:pathLst>
              </a:custGeom>
              <a:noFill/>
              <a:ln w="38100" cap="flat" cmpd="sng" algn="ctr">
                <a:solidFill>
                  <a:srgbClr val="4472C4">
                    <a:shade val="15000"/>
                  </a:srgbClr>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prstClr val="white"/>
                  </a:solidFill>
                  <a:effectLst/>
                  <a:uLnTx/>
                  <a:uFillTx/>
                  <a:latin typeface="Calibri" panose="020F0502020204030204"/>
                  <a:ea typeface="+mn-ea"/>
                  <a:cs typeface="+mn-cs"/>
                </a:endParaRPr>
              </a:p>
            </p:txBody>
          </p:sp>
          <p:sp>
            <p:nvSpPr>
              <p:cNvPr id="58" name="Freeform: Shape 57">
                <a:extLst>
                  <a:ext uri="{FF2B5EF4-FFF2-40B4-BE49-F238E27FC236}">
                    <a16:creationId xmlns:a16="http://schemas.microsoft.com/office/drawing/2014/main" id="{C825BCAC-5B11-28DC-655C-DF9883D4C376}"/>
                  </a:ext>
                </a:extLst>
              </p:cNvPr>
              <p:cNvSpPr/>
              <p:nvPr/>
            </p:nvSpPr>
            <p:spPr>
              <a:xfrm>
                <a:off x="5202974" y="3509066"/>
                <a:ext cx="300686" cy="117593"/>
              </a:xfrm>
              <a:custGeom>
                <a:avLst/>
                <a:gdLst>
                  <a:gd name="connsiteX0" fmla="*/ 157594 w 310623"/>
                  <a:gd name="connsiteY0" fmla="*/ 3666 h 63205"/>
                  <a:gd name="connsiteX1" fmla="*/ 76632 w 310623"/>
                  <a:gd name="connsiteY1" fmla="*/ 3666 h 63205"/>
                  <a:gd name="connsiteX2" fmla="*/ 2813 w 310623"/>
                  <a:gd name="connsiteY2" fmla="*/ 41766 h 63205"/>
                  <a:gd name="connsiteX3" fmla="*/ 179026 w 310623"/>
                  <a:gd name="connsiteY3" fmla="*/ 63197 h 63205"/>
                  <a:gd name="connsiteX4" fmla="*/ 309994 w 310623"/>
                  <a:gd name="connsiteY4" fmla="*/ 44147 h 63205"/>
                  <a:gd name="connsiteX5" fmla="*/ 219507 w 310623"/>
                  <a:gd name="connsiteY5" fmla="*/ 25097 h 63205"/>
                  <a:gd name="connsiteX0" fmla="*/ 159989 w 310637"/>
                  <a:gd name="connsiteY0" fmla="*/ 666 h 74492"/>
                  <a:gd name="connsiteX1" fmla="*/ 76646 w 310637"/>
                  <a:gd name="connsiteY1" fmla="*/ 14953 h 74492"/>
                  <a:gd name="connsiteX2" fmla="*/ 2827 w 310637"/>
                  <a:gd name="connsiteY2" fmla="*/ 53053 h 74492"/>
                  <a:gd name="connsiteX3" fmla="*/ 179040 w 310637"/>
                  <a:gd name="connsiteY3" fmla="*/ 74484 h 74492"/>
                  <a:gd name="connsiteX4" fmla="*/ 310008 w 310637"/>
                  <a:gd name="connsiteY4" fmla="*/ 55434 h 74492"/>
                  <a:gd name="connsiteX5" fmla="*/ 219521 w 310637"/>
                  <a:gd name="connsiteY5" fmla="*/ 36384 h 74492"/>
                  <a:gd name="connsiteX0" fmla="*/ 159989 w 310297"/>
                  <a:gd name="connsiteY0" fmla="*/ 666 h 74492"/>
                  <a:gd name="connsiteX1" fmla="*/ 76646 w 310297"/>
                  <a:gd name="connsiteY1" fmla="*/ 14953 h 74492"/>
                  <a:gd name="connsiteX2" fmla="*/ 2827 w 310297"/>
                  <a:gd name="connsiteY2" fmla="*/ 53053 h 74492"/>
                  <a:gd name="connsiteX3" fmla="*/ 179040 w 310297"/>
                  <a:gd name="connsiteY3" fmla="*/ 74484 h 74492"/>
                  <a:gd name="connsiteX4" fmla="*/ 310008 w 310297"/>
                  <a:gd name="connsiteY4" fmla="*/ 55434 h 74492"/>
                  <a:gd name="connsiteX5" fmla="*/ 155228 w 310297"/>
                  <a:gd name="connsiteY5" fmla="*/ 31621 h 74492"/>
                  <a:gd name="connsiteX0" fmla="*/ 159989 w 310598"/>
                  <a:gd name="connsiteY0" fmla="*/ 666 h 74492"/>
                  <a:gd name="connsiteX1" fmla="*/ 76646 w 310598"/>
                  <a:gd name="connsiteY1" fmla="*/ 14953 h 74492"/>
                  <a:gd name="connsiteX2" fmla="*/ 2827 w 310598"/>
                  <a:gd name="connsiteY2" fmla="*/ 53053 h 74492"/>
                  <a:gd name="connsiteX3" fmla="*/ 179040 w 310598"/>
                  <a:gd name="connsiteY3" fmla="*/ 74484 h 74492"/>
                  <a:gd name="connsiteX4" fmla="*/ 310008 w 310598"/>
                  <a:gd name="connsiteY4" fmla="*/ 55434 h 74492"/>
                  <a:gd name="connsiteX5" fmla="*/ 155228 w 310598"/>
                  <a:gd name="connsiteY5" fmla="*/ 31621 h 74492"/>
                  <a:gd name="connsiteX0" fmla="*/ 162970 w 313579"/>
                  <a:gd name="connsiteY0" fmla="*/ 830 h 74656"/>
                  <a:gd name="connsiteX1" fmla="*/ 53433 w 313579"/>
                  <a:gd name="connsiteY1" fmla="*/ 12736 h 74656"/>
                  <a:gd name="connsiteX2" fmla="*/ 5808 w 313579"/>
                  <a:gd name="connsiteY2" fmla="*/ 53217 h 74656"/>
                  <a:gd name="connsiteX3" fmla="*/ 182021 w 313579"/>
                  <a:gd name="connsiteY3" fmla="*/ 74648 h 74656"/>
                  <a:gd name="connsiteX4" fmla="*/ 312989 w 313579"/>
                  <a:gd name="connsiteY4" fmla="*/ 55598 h 74656"/>
                  <a:gd name="connsiteX5" fmla="*/ 158209 w 313579"/>
                  <a:gd name="connsiteY5" fmla="*/ 31785 h 74656"/>
                  <a:gd name="connsiteX0" fmla="*/ 145931 w 296540"/>
                  <a:gd name="connsiteY0" fmla="*/ 1014 h 75464"/>
                  <a:gd name="connsiteX1" fmla="*/ 36394 w 296540"/>
                  <a:gd name="connsiteY1" fmla="*/ 12920 h 75464"/>
                  <a:gd name="connsiteX2" fmla="*/ 7819 w 296540"/>
                  <a:gd name="connsiteY2" fmla="*/ 65307 h 75464"/>
                  <a:gd name="connsiteX3" fmla="*/ 164982 w 296540"/>
                  <a:gd name="connsiteY3" fmla="*/ 74832 h 75464"/>
                  <a:gd name="connsiteX4" fmla="*/ 295950 w 296540"/>
                  <a:gd name="connsiteY4" fmla="*/ 55782 h 75464"/>
                  <a:gd name="connsiteX5" fmla="*/ 141170 w 296540"/>
                  <a:gd name="connsiteY5" fmla="*/ 31969 h 75464"/>
                  <a:gd name="connsiteX0" fmla="*/ 150077 w 300686"/>
                  <a:gd name="connsiteY0" fmla="*/ 897 h 74731"/>
                  <a:gd name="connsiteX1" fmla="*/ 40540 w 300686"/>
                  <a:gd name="connsiteY1" fmla="*/ 12803 h 74731"/>
                  <a:gd name="connsiteX2" fmla="*/ 7202 w 300686"/>
                  <a:gd name="connsiteY2" fmla="*/ 58047 h 74731"/>
                  <a:gd name="connsiteX3" fmla="*/ 169128 w 300686"/>
                  <a:gd name="connsiteY3" fmla="*/ 74715 h 74731"/>
                  <a:gd name="connsiteX4" fmla="*/ 300096 w 300686"/>
                  <a:gd name="connsiteY4" fmla="*/ 55665 h 74731"/>
                  <a:gd name="connsiteX5" fmla="*/ 145316 w 300686"/>
                  <a:gd name="connsiteY5" fmla="*/ 31852 h 747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00686" h="74731">
                    <a:moveTo>
                      <a:pt x="150077" y="897"/>
                    </a:moveTo>
                    <a:cubicBezTo>
                      <a:pt x="122494" y="-2278"/>
                      <a:pt x="64353" y="3278"/>
                      <a:pt x="40540" y="12803"/>
                    </a:cubicBezTo>
                    <a:cubicBezTo>
                      <a:pt x="16728" y="22328"/>
                      <a:pt x="-14229" y="47728"/>
                      <a:pt x="7202" y="58047"/>
                    </a:cubicBezTo>
                    <a:cubicBezTo>
                      <a:pt x="28633" y="68366"/>
                      <a:pt x="120312" y="75112"/>
                      <a:pt x="169128" y="74715"/>
                    </a:cubicBezTo>
                    <a:cubicBezTo>
                      <a:pt x="217944" y="74318"/>
                      <a:pt x="293349" y="62015"/>
                      <a:pt x="300096" y="55665"/>
                    </a:cubicBezTo>
                    <a:cubicBezTo>
                      <a:pt x="306843" y="49315"/>
                      <a:pt x="255845" y="23915"/>
                      <a:pt x="145316" y="31852"/>
                    </a:cubicBezTo>
                  </a:path>
                </a:pathLst>
              </a:custGeom>
              <a:noFill/>
              <a:ln w="38100" cap="flat" cmpd="sng" algn="ctr">
                <a:solidFill>
                  <a:srgbClr val="4472C4">
                    <a:shade val="15000"/>
                  </a:srgbClr>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prstClr val="white"/>
                  </a:solidFill>
                  <a:effectLst/>
                  <a:uLnTx/>
                  <a:uFillTx/>
                  <a:latin typeface="Calibri" panose="020F0502020204030204"/>
                  <a:ea typeface="+mn-ea"/>
                  <a:cs typeface="+mn-cs"/>
                </a:endParaRPr>
              </a:p>
            </p:txBody>
          </p:sp>
          <p:sp>
            <p:nvSpPr>
              <p:cNvPr id="59" name="Freeform: Shape 58">
                <a:extLst>
                  <a:ext uri="{FF2B5EF4-FFF2-40B4-BE49-F238E27FC236}">
                    <a16:creationId xmlns:a16="http://schemas.microsoft.com/office/drawing/2014/main" id="{74DDC678-CFA1-180B-171F-BBB21BB63747}"/>
                  </a:ext>
                </a:extLst>
              </p:cNvPr>
              <p:cNvSpPr/>
              <p:nvPr/>
            </p:nvSpPr>
            <p:spPr>
              <a:xfrm>
                <a:off x="5200593" y="3556691"/>
                <a:ext cx="300686" cy="117593"/>
              </a:xfrm>
              <a:custGeom>
                <a:avLst/>
                <a:gdLst>
                  <a:gd name="connsiteX0" fmla="*/ 157594 w 310623"/>
                  <a:gd name="connsiteY0" fmla="*/ 3666 h 63205"/>
                  <a:gd name="connsiteX1" fmla="*/ 76632 w 310623"/>
                  <a:gd name="connsiteY1" fmla="*/ 3666 h 63205"/>
                  <a:gd name="connsiteX2" fmla="*/ 2813 w 310623"/>
                  <a:gd name="connsiteY2" fmla="*/ 41766 h 63205"/>
                  <a:gd name="connsiteX3" fmla="*/ 179026 w 310623"/>
                  <a:gd name="connsiteY3" fmla="*/ 63197 h 63205"/>
                  <a:gd name="connsiteX4" fmla="*/ 309994 w 310623"/>
                  <a:gd name="connsiteY4" fmla="*/ 44147 h 63205"/>
                  <a:gd name="connsiteX5" fmla="*/ 219507 w 310623"/>
                  <a:gd name="connsiteY5" fmla="*/ 25097 h 63205"/>
                  <a:gd name="connsiteX0" fmla="*/ 159989 w 310637"/>
                  <a:gd name="connsiteY0" fmla="*/ 666 h 74492"/>
                  <a:gd name="connsiteX1" fmla="*/ 76646 w 310637"/>
                  <a:gd name="connsiteY1" fmla="*/ 14953 h 74492"/>
                  <a:gd name="connsiteX2" fmla="*/ 2827 w 310637"/>
                  <a:gd name="connsiteY2" fmla="*/ 53053 h 74492"/>
                  <a:gd name="connsiteX3" fmla="*/ 179040 w 310637"/>
                  <a:gd name="connsiteY3" fmla="*/ 74484 h 74492"/>
                  <a:gd name="connsiteX4" fmla="*/ 310008 w 310637"/>
                  <a:gd name="connsiteY4" fmla="*/ 55434 h 74492"/>
                  <a:gd name="connsiteX5" fmla="*/ 219521 w 310637"/>
                  <a:gd name="connsiteY5" fmla="*/ 36384 h 74492"/>
                  <a:gd name="connsiteX0" fmla="*/ 159989 w 310297"/>
                  <a:gd name="connsiteY0" fmla="*/ 666 h 74492"/>
                  <a:gd name="connsiteX1" fmla="*/ 76646 w 310297"/>
                  <a:gd name="connsiteY1" fmla="*/ 14953 h 74492"/>
                  <a:gd name="connsiteX2" fmla="*/ 2827 w 310297"/>
                  <a:gd name="connsiteY2" fmla="*/ 53053 h 74492"/>
                  <a:gd name="connsiteX3" fmla="*/ 179040 w 310297"/>
                  <a:gd name="connsiteY3" fmla="*/ 74484 h 74492"/>
                  <a:gd name="connsiteX4" fmla="*/ 310008 w 310297"/>
                  <a:gd name="connsiteY4" fmla="*/ 55434 h 74492"/>
                  <a:gd name="connsiteX5" fmla="*/ 155228 w 310297"/>
                  <a:gd name="connsiteY5" fmla="*/ 31621 h 74492"/>
                  <a:gd name="connsiteX0" fmla="*/ 159989 w 310598"/>
                  <a:gd name="connsiteY0" fmla="*/ 666 h 74492"/>
                  <a:gd name="connsiteX1" fmla="*/ 76646 w 310598"/>
                  <a:gd name="connsiteY1" fmla="*/ 14953 h 74492"/>
                  <a:gd name="connsiteX2" fmla="*/ 2827 w 310598"/>
                  <a:gd name="connsiteY2" fmla="*/ 53053 h 74492"/>
                  <a:gd name="connsiteX3" fmla="*/ 179040 w 310598"/>
                  <a:gd name="connsiteY3" fmla="*/ 74484 h 74492"/>
                  <a:gd name="connsiteX4" fmla="*/ 310008 w 310598"/>
                  <a:gd name="connsiteY4" fmla="*/ 55434 h 74492"/>
                  <a:gd name="connsiteX5" fmla="*/ 155228 w 310598"/>
                  <a:gd name="connsiteY5" fmla="*/ 31621 h 74492"/>
                  <a:gd name="connsiteX0" fmla="*/ 162970 w 313579"/>
                  <a:gd name="connsiteY0" fmla="*/ 830 h 74656"/>
                  <a:gd name="connsiteX1" fmla="*/ 53433 w 313579"/>
                  <a:gd name="connsiteY1" fmla="*/ 12736 h 74656"/>
                  <a:gd name="connsiteX2" fmla="*/ 5808 w 313579"/>
                  <a:gd name="connsiteY2" fmla="*/ 53217 h 74656"/>
                  <a:gd name="connsiteX3" fmla="*/ 182021 w 313579"/>
                  <a:gd name="connsiteY3" fmla="*/ 74648 h 74656"/>
                  <a:gd name="connsiteX4" fmla="*/ 312989 w 313579"/>
                  <a:gd name="connsiteY4" fmla="*/ 55598 h 74656"/>
                  <a:gd name="connsiteX5" fmla="*/ 158209 w 313579"/>
                  <a:gd name="connsiteY5" fmla="*/ 31785 h 74656"/>
                  <a:gd name="connsiteX0" fmla="*/ 145931 w 296540"/>
                  <a:gd name="connsiteY0" fmla="*/ 1014 h 75464"/>
                  <a:gd name="connsiteX1" fmla="*/ 36394 w 296540"/>
                  <a:gd name="connsiteY1" fmla="*/ 12920 h 75464"/>
                  <a:gd name="connsiteX2" fmla="*/ 7819 w 296540"/>
                  <a:gd name="connsiteY2" fmla="*/ 65307 h 75464"/>
                  <a:gd name="connsiteX3" fmla="*/ 164982 w 296540"/>
                  <a:gd name="connsiteY3" fmla="*/ 74832 h 75464"/>
                  <a:gd name="connsiteX4" fmla="*/ 295950 w 296540"/>
                  <a:gd name="connsiteY4" fmla="*/ 55782 h 75464"/>
                  <a:gd name="connsiteX5" fmla="*/ 141170 w 296540"/>
                  <a:gd name="connsiteY5" fmla="*/ 31969 h 75464"/>
                  <a:gd name="connsiteX0" fmla="*/ 150077 w 300686"/>
                  <a:gd name="connsiteY0" fmla="*/ 897 h 74731"/>
                  <a:gd name="connsiteX1" fmla="*/ 40540 w 300686"/>
                  <a:gd name="connsiteY1" fmla="*/ 12803 h 74731"/>
                  <a:gd name="connsiteX2" fmla="*/ 7202 w 300686"/>
                  <a:gd name="connsiteY2" fmla="*/ 58047 h 74731"/>
                  <a:gd name="connsiteX3" fmla="*/ 169128 w 300686"/>
                  <a:gd name="connsiteY3" fmla="*/ 74715 h 74731"/>
                  <a:gd name="connsiteX4" fmla="*/ 300096 w 300686"/>
                  <a:gd name="connsiteY4" fmla="*/ 55665 h 74731"/>
                  <a:gd name="connsiteX5" fmla="*/ 145316 w 300686"/>
                  <a:gd name="connsiteY5" fmla="*/ 31852 h 747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00686" h="74731">
                    <a:moveTo>
                      <a:pt x="150077" y="897"/>
                    </a:moveTo>
                    <a:cubicBezTo>
                      <a:pt x="122494" y="-2278"/>
                      <a:pt x="64353" y="3278"/>
                      <a:pt x="40540" y="12803"/>
                    </a:cubicBezTo>
                    <a:cubicBezTo>
                      <a:pt x="16728" y="22328"/>
                      <a:pt x="-14229" y="47728"/>
                      <a:pt x="7202" y="58047"/>
                    </a:cubicBezTo>
                    <a:cubicBezTo>
                      <a:pt x="28633" y="68366"/>
                      <a:pt x="120312" y="75112"/>
                      <a:pt x="169128" y="74715"/>
                    </a:cubicBezTo>
                    <a:cubicBezTo>
                      <a:pt x="217944" y="74318"/>
                      <a:pt x="293349" y="62015"/>
                      <a:pt x="300096" y="55665"/>
                    </a:cubicBezTo>
                    <a:cubicBezTo>
                      <a:pt x="306843" y="49315"/>
                      <a:pt x="255845" y="23915"/>
                      <a:pt x="145316" y="31852"/>
                    </a:cubicBezTo>
                  </a:path>
                </a:pathLst>
              </a:custGeom>
              <a:noFill/>
              <a:ln w="38100" cap="flat" cmpd="sng" algn="ctr">
                <a:solidFill>
                  <a:srgbClr val="4472C4">
                    <a:shade val="15000"/>
                  </a:srgbClr>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prstClr val="white"/>
                  </a:solidFill>
                  <a:effectLst/>
                  <a:uLnTx/>
                  <a:uFillTx/>
                  <a:latin typeface="Calibri" panose="020F0502020204030204"/>
                  <a:ea typeface="+mn-ea"/>
                  <a:cs typeface="+mn-cs"/>
                </a:endParaRPr>
              </a:p>
            </p:txBody>
          </p:sp>
        </p:grpSp>
        <p:cxnSp>
          <p:nvCxnSpPr>
            <p:cNvPr id="60" name="Straight Connector 59">
              <a:extLst>
                <a:ext uri="{FF2B5EF4-FFF2-40B4-BE49-F238E27FC236}">
                  <a16:creationId xmlns:a16="http://schemas.microsoft.com/office/drawing/2014/main" id="{44B7B16C-8080-E5F5-154C-920F07BD7559}"/>
                </a:ext>
              </a:extLst>
            </p:cNvPr>
            <p:cNvCxnSpPr>
              <a:cxnSpLocks/>
            </p:cNvCxnSpPr>
            <p:nvPr/>
          </p:nvCxnSpPr>
          <p:spPr>
            <a:xfrm flipH="1">
              <a:off x="7859925" y="5524548"/>
              <a:ext cx="268837" cy="112423"/>
            </a:xfrm>
            <a:prstGeom prst="line">
              <a:avLst/>
            </a:prstGeom>
            <a:noFill/>
            <a:ln w="38100" cap="flat" cmpd="sng" algn="ctr">
              <a:solidFill>
                <a:sysClr val="window" lastClr="FFFFFF"/>
              </a:solidFill>
              <a:prstDash val="solid"/>
              <a:miter lim="800000"/>
            </a:ln>
            <a:effectLst/>
          </p:spPr>
        </p:cxnSp>
        <p:cxnSp>
          <p:nvCxnSpPr>
            <p:cNvPr id="61" name="Straight Connector 60">
              <a:extLst>
                <a:ext uri="{FF2B5EF4-FFF2-40B4-BE49-F238E27FC236}">
                  <a16:creationId xmlns:a16="http://schemas.microsoft.com/office/drawing/2014/main" id="{AE91E432-6774-9717-5F6A-E66459A50F45}"/>
                </a:ext>
              </a:extLst>
            </p:cNvPr>
            <p:cNvCxnSpPr>
              <a:cxnSpLocks/>
            </p:cNvCxnSpPr>
            <p:nvPr/>
          </p:nvCxnSpPr>
          <p:spPr>
            <a:xfrm flipH="1">
              <a:off x="7903973" y="5529435"/>
              <a:ext cx="381202" cy="147409"/>
            </a:xfrm>
            <a:prstGeom prst="line">
              <a:avLst/>
            </a:prstGeom>
            <a:noFill/>
            <a:ln w="38100" cap="flat" cmpd="sng" algn="ctr">
              <a:solidFill>
                <a:sysClr val="window" lastClr="FFFFFF"/>
              </a:solidFill>
              <a:prstDash val="solid"/>
              <a:miter lim="800000"/>
            </a:ln>
            <a:effectLst/>
          </p:spPr>
        </p:cxnSp>
        <p:sp>
          <p:nvSpPr>
            <p:cNvPr id="62" name="Freeform: Shape 61">
              <a:extLst>
                <a:ext uri="{FF2B5EF4-FFF2-40B4-BE49-F238E27FC236}">
                  <a16:creationId xmlns:a16="http://schemas.microsoft.com/office/drawing/2014/main" id="{3F4A2134-0B96-60F7-D6F0-4493F2F5C994}"/>
                </a:ext>
              </a:extLst>
            </p:cNvPr>
            <p:cNvSpPr/>
            <p:nvPr/>
          </p:nvSpPr>
          <p:spPr>
            <a:xfrm>
              <a:off x="7807971" y="3741890"/>
              <a:ext cx="140598" cy="381299"/>
            </a:xfrm>
            <a:custGeom>
              <a:avLst/>
              <a:gdLst>
                <a:gd name="connsiteX0" fmla="*/ 140598 w 140598"/>
                <a:gd name="connsiteY0" fmla="*/ 3794 h 381299"/>
                <a:gd name="connsiteX1" fmla="*/ 18957 w 140598"/>
                <a:gd name="connsiteY1" fmla="*/ 54128 h 381299"/>
                <a:gd name="connsiteX2" fmla="*/ 2179 w 140598"/>
                <a:gd name="connsiteY2" fmla="*/ 381299 h 381299"/>
              </a:gdLst>
              <a:ahLst/>
              <a:cxnLst>
                <a:cxn ang="0">
                  <a:pos x="connsiteX0" y="connsiteY0"/>
                </a:cxn>
                <a:cxn ang="0">
                  <a:pos x="connsiteX1" y="connsiteY1"/>
                </a:cxn>
                <a:cxn ang="0">
                  <a:pos x="connsiteX2" y="connsiteY2"/>
                </a:cxn>
              </a:cxnLst>
              <a:rect l="l" t="t" r="r" b="b"/>
              <a:pathLst>
                <a:path w="140598" h="381299">
                  <a:moveTo>
                    <a:pt x="140598" y="3794"/>
                  </a:moveTo>
                  <a:cubicBezTo>
                    <a:pt x="91312" y="-2498"/>
                    <a:pt x="42027" y="-8789"/>
                    <a:pt x="18957" y="54128"/>
                  </a:cubicBezTo>
                  <a:cubicBezTo>
                    <a:pt x="-4113" y="117045"/>
                    <a:pt x="-967" y="249172"/>
                    <a:pt x="2179" y="381299"/>
                  </a:cubicBezTo>
                </a:path>
              </a:pathLst>
            </a:custGeom>
            <a:noFill/>
            <a:ln w="38100" cap="rnd">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63" name="Freeform: Shape 62">
              <a:extLst>
                <a:ext uri="{FF2B5EF4-FFF2-40B4-BE49-F238E27FC236}">
                  <a16:creationId xmlns:a16="http://schemas.microsoft.com/office/drawing/2014/main" id="{E290C3E6-5FC8-079B-5EAD-DE1E644BA47F}"/>
                </a:ext>
              </a:extLst>
            </p:cNvPr>
            <p:cNvSpPr/>
            <p:nvPr/>
          </p:nvSpPr>
          <p:spPr>
            <a:xfrm>
              <a:off x="3166980" y="1654543"/>
              <a:ext cx="4764125" cy="4077727"/>
            </a:xfrm>
            <a:custGeom>
              <a:avLst/>
              <a:gdLst>
                <a:gd name="connsiteX0" fmla="*/ 0 w 5180202"/>
                <a:gd name="connsiteY0" fmla="*/ 0 h 850096"/>
                <a:gd name="connsiteX1" fmla="*/ 1249960 w 5180202"/>
                <a:gd name="connsiteY1" fmla="*/ 826315 h 850096"/>
                <a:gd name="connsiteX2" fmla="*/ 5180202 w 5180202"/>
                <a:gd name="connsiteY2" fmla="*/ 545284 h 850096"/>
                <a:gd name="connsiteX0" fmla="*/ 0 w 5415094"/>
                <a:gd name="connsiteY0" fmla="*/ 0 h 1936470"/>
                <a:gd name="connsiteX1" fmla="*/ 1484852 w 5415094"/>
                <a:gd name="connsiteY1" fmla="*/ 1912689 h 1936470"/>
                <a:gd name="connsiteX2" fmla="*/ 5415094 w 5415094"/>
                <a:gd name="connsiteY2" fmla="*/ 1631658 h 1936470"/>
                <a:gd name="connsiteX0" fmla="*/ 3044 w 5418138"/>
                <a:gd name="connsiteY0" fmla="*/ 0 h 1936470"/>
                <a:gd name="connsiteX1" fmla="*/ 1487896 w 5418138"/>
                <a:gd name="connsiteY1" fmla="*/ 1912689 h 1936470"/>
                <a:gd name="connsiteX2" fmla="*/ 5418138 w 5418138"/>
                <a:gd name="connsiteY2" fmla="*/ 1631658 h 1936470"/>
                <a:gd name="connsiteX0" fmla="*/ 2804 w 5480816"/>
                <a:gd name="connsiteY0" fmla="*/ 0 h 1978415"/>
                <a:gd name="connsiteX1" fmla="*/ 1550574 w 5480816"/>
                <a:gd name="connsiteY1" fmla="*/ 1954634 h 1978415"/>
                <a:gd name="connsiteX2" fmla="*/ 5480816 w 5480816"/>
                <a:gd name="connsiteY2" fmla="*/ 1673603 h 1978415"/>
                <a:gd name="csX0" fmla="*/ 80742 w 4554970"/>
                <a:gd name="csY0" fmla="*/ 0 h 4382536"/>
                <a:gd name="csX1" fmla="*/ 624728 w 4554970"/>
                <a:gd name="csY1" fmla="*/ 4358755 h 4382536"/>
                <a:gd name="csX2" fmla="*/ 4554970 w 4554970"/>
                <a:gd name="csY2" fmla="*/ 4077724 h 4382536"/>
                <a:gd name="csX0" fmla="*/ 835792 w 5310020"/>
                <a:gd name="csY0" fmla="*/ 0 h 4382536"/>
                <a:gd name="csX1" fmla="*/ 1379778 w 5310020"/>
                <a:gd name="csY1" fmla="*/ 4358755 h 4382536"/>
                <a:gd name="csX2" fmla="*/ 5310020 w 5310020"/>
                <a:gd name="csY2" fmla="*/ 4077724 h 4382536"/>
                <a:gd name="csX0" fmla="*/ 0 w 4474228"/>
                <a:gd name="csY0" fmla="*/ 0 h 4077725"/>
                <a:gd name="csX1" fmla="*/ 4474228 w 4474228"/>
                <a:gd name="csY1" fmla="*/ 4077724 h 4077725"/>
                <a:gd name="csX0" fmla="*/ 0 w 4474228"/>
                <a:gd name="csY0" fmla="*/ 0 h 4077725"/>
                <a:gd name="csX1" fmla="*/ 4474228 w 4474228"/>
                <a:gd name="csY1" fmla="*/ 4077724 h 4077725"/>
                <a:gd name="csX0" fmla="*/ 289897 w 4764125"/>
                <a:gd name="csY0" fmla="*/ 0 h 4077725"/>
                <a:gd name="csX1" fmla="*/ 4764125 w 4764125"/>
                <a:gd name="csY1" fmla="*/ 4077724 h 4077725"/>
              </a:gdLst>
              <a:ahLst/>
              <a:cxnLst>
                <a:cxn ang="0">
                  <a:pos x="csX0" y="csY0"/>
                </a:cxn>
                <a:cxn ang="0">
                  <a:pos x="csX1" y="csY1"/>
                </a:cxn>
              </a:cxnLst>
              <a:rect l="l" t="t" r="r" b="b"/>
              <a:pathLst>
                <a:path w="4764125" h="4077725">
                  <a:moveTo>
                    <a:pt x="289897" y="0"/>
                  </a:moveTo>
                  <a:cubicBezTo>
                    <a:pt x="-362577" y="2387810"/>
                    <a:pt x="-308681" y="4069251"/>
                    <a:pt x="4764125" y="4077724"/>
                  </a:cubicBezTo>
                </a:path>
              </a:pathLst>
            </a:custGeom>
            <a:noFill/>
            <a:ln w="38100">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64" name="Freeform: Shape 63">
              <a:extLst>
                <a:ext uri="{FF2B5EF4-FFF2-40B4-BE49-F238E27FC236}">
                  <a16:creationId xmlns:a16="http://schemas.microsoft.com/office/drawing/2014/main" id="{6062849F-ADF5-9B5E-1292-F8403D0EAB16}"/>
                </a:ext>
              </a:extLst>
            </p:cNvPr>
            <p:cNvSpPr/>
            <p:nvPr/>
          </p:nvSpPr>
          <p:spPr>
            <a:xfrm>
              <a:off x="3714805" y="1392353"/>
              <a:ext cx="4342136" cy="4258251"/>
            </a:xfrm>
            <a:custGeom>
              <a:avLst/>
              <a:gdLst>
                <a:gd name="connsiteX0" fmla="*/ 0 w 5549318"/>
                <a:gd name="connsiteY0" fmla="*/ 178006 h 1556019"/>
                <a:gd name="connsiteX1" fmla="*/ 973123 w 5549318"/>
                <a:gd name="connsiteY1" fmla="*/ 6032 h 1556019"/>
                <a:gd name="connsiteX2" fmla="*/ 2063692 w 5549318"/>
                <a:gd name="connsiteY2" fmla="*/ 370953 h 1556019"/>
                <a:gd name="connsiteX3" fmla="*/ 4467138 w 5549318"/>
                <a:gd name="connsiteY3" fmla="*/ 1524439 h 1556019"/>
                <a:gd name="connsiteX4" fmla="*/ 5549318 w 5549318"/>
                <a:gd name="connsiteY4" fmla="*/ 1117573 h 1556019"/>
                <a:gd name="csX0" fmla="*/ 0 w 5549318"/>
                <a:gd name="csY0" fmla="*/ 1 h 1378014"/>
                <a:gd name="csX1" fmla="*/ 2063692 w 5549318"/>
                <a:gd name="csY1" fmla="*/ 192948 h 1378014"/>
                <a:gd name="csX2" fmla="*/ 4467138 w 5549318"/>
                <a:gd name="csY2" fmla="*/ 1346434 h 1378014"/>
                <a:gd name="csX3" fmla="*/ 5549318 w 5549318"/>
                <a:gd name="csY3" fmla="*/ 939568 h 1378014"/>
                <a:gd name="csX0" fmla="*/ 0 w 4592512"/>
                <a:gd name="csY0" fmla="*/ 0 h 4204562"/>
                <a:gd name="csX1" fmla="*/ 1106886 w 4592512"/>
                <a:gd name="csY1" fmla="*/ 3019496 h 4204562"/>
                <a:gd name="csX2" fmla="*/ 3510332 w 4592512"/>
                <a:gd name="csY2" fmla="*/ 4172982 h 4204562"/>
                <a:gd name="csX3" fmla="*/ 4592512 w 4592512"/>
                <a:gd name="csY3" fmla="*/ 3766116 h 4204562"/>
                <a:gd name="csX0" fmla="*/ 0 w 4592512"/>
                <a:gd name="csY0" fmla="*/ 0 h 4204562"/>
                <a:gd name="csX1" fmla="*/ 530183 w 4592512"/>
                <a:gd name="csY1" fmla="*/ 2982789 h 4204562"/>
                <a:gd name="csX2" fmla="*/ 3510332 w 4592512"/>
                <a:gd name="csY2" fmla="*/ 4172982 h 4204562"/>
                <a:gd name="csX3" fmla="*/ 4592512 w 4592512"/>
                <a:gd name="csY3" fmla="*/ 3766116 h 4204562"/>
              </a:gdLst>
              <a:ahLst/>
              <a:cxnLst>
                <a:cxn ang="0">
                  <a:pos x="csX0" y="csY0"/>
                </a:cxn>
                <a:cxn ang="0">
                  <a:pos x="csX1" y="csY1"/>
                </a:cxn>
                <a:cxn ang="0">
                  <a:pos x="csX2" y="csY2"/>
                </a:cxn>
                <a:cxn ang="0">
                  <a:pos x="csX3" y="csY3"/>
                </a:cxn>
              </a:cxnLst>
              <a:rect l="l" t="t" r="r" b="b"/>
              <a:pathLst>
                <a:path w="4592512" h="4204562">
                  <a:moveTo>
                    <a:pt x="0" y="0"/>
                  </a:moveTo>
                  <a:cubicBezTo>
                    <a:pt x="429936" y="40197"/>
                    <a:pt x="-54872" y="2287292"/>
                    <a:pt x="530183" y="2982789"/>
                  </a:cubicBezTo>
                  <a:cubicBezTo>
                    <a:pt x="1115238" y="3678286"/>
                    <a:pt x="2929394" y="4048545"/>
                    <a:pt x="3510332" y="4172982"/>
                  </a:cubicBezTo>
                  <a:cubicBezTo>
                    <a:pt x="4091270" y="4297419"/>
                    <a:pt x="4341891" y="4031767"/>
                    <a:pt x="4592512" y="3766116"/>
                  </a:cubicBezTo>
                </a:path>
              </a:pathLst>
            </a:custGeom>
            <a:noFill/>
            <a:ln w="38100">
              <a:solidFill>
                <a:schemeClr val="accent3">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67" name="Rectangle: Rounded Corners 66">
              <a:extLst>
                <a:ext uri="{FF2B5EF4-FFF2-40B4-BE49-F238E27FC236}">
                  <a16:creationId xmlns:a16="http://schemas.microsoft.com/office/drawing/2014/main" id="{3D83E73F-4597-74B1-8969-F7EBD1862810}"/>
                </a:ext>
              </a:extLst>
            </p:cNvPr>
            <p:cNvSpPr/>
            <p:nvPr/>
          </p:nvSpPr>
          <p:spPr>
            <a:xfrm>
              <a:off x="7996787" y="5106025"/>
              <a:ext cx="185740" cy="325316"/>
            </a:xfrm>
            <a:prstGeom prst="roundRect">
              <a:avLst/>
            </a:prstGeom>
            <a:solidFill>
              <a:srgbClr val="FFC000">
                <a:lumMod val="40000"/>
                <a:lumOff val="60000"/>
              </a:srgbClr>
            </a:solidFill>
            <a:ln w="38100" cap="flat" cmpd="sng" algn="ctr">
              <a:solidFill>
                <a:srgbClr val="FFC000"/>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prstClr val="white"/>
                </a:solidFill>
                <a:effectLst/>
                <a:uLnTx/>
                <a:uFillTx/>
                <a:latin typeface="Calibri" panose="020F0502020204030204"/>
                <a:ea typeface="+mn-ea"/>
                <a:cs typeface="+mn-cs"/>
              </a:endParaRPr>
            </a:p>
          </p:txBody>
        </p:sp>
        <p:cxnSp>
          <p:nvCxnSpPr>
            <p:cNvPr id="68" name="Straight Connector 67">
              <a:extLst>
                <a:ext uri="{FF2B5EF4-FFF2-40B4-BE49-F238E27FC236}">
                  <a16:creationId xmlns:a16="http://schemas.microsoft.com/office/drawing/2014/main" id="{DA984F29-8FA9-663F-2E49-F94CC6426714}"/>
                </a:ext>
              </a:extLst>
            </p:cNvPr>
            <p:cNvCxnSpPr>
              <a:cxnSpLocks/>
            </p:cNvCxnSpPr>
            <p:nvPr/>
          </p:nvCxnSpPr>
          <p:spPr>
            <a:xfrm>
              <a:off x="8045665" y="5153066"/>
              <a:ext cx="0" cy="175965"/>
            </a:xfrm>
            <a:prstGeom prst="line">
              <a:avLst/>
            </a:prstGeom>
            <a:noFill/>
            <a:ln w="38100" cap="flat" cmpd="sng" algn="ctr">
              <a:solidFill>
                <a:sysClr val="window" lastClr="FFFFFF"/>
              </a:solidFill>
              <a:prstDash val="solid"/>
              <a:miter lim="800000"/>
            </a:ln>
            <a:effectLst/>
          </p:spPr>
        </p:cxnSp>
        <p:sp>
          <p:nvSpPr>
            <p:cNvPr id="69" name="Freeform: Shape 68">
              <a:extLst>
                <a:ext uri="{FF2B5EF4-FFF2-40B4-BE49-F238E27FC236}">
                  <a16:creationId xmlns:a16="http://schemas.microsoft.com/office/drawing/2014/main" id="{A0821B34-F690-0AC8-E794-5222E332F6C3}"/>
                </a:ext>
              </a:extLst>
            </p:cNvPr>
            <p:cNvSpPr/>
            <p:nvPr/>
          </p:nvSpPr>
          <p:spPr>
            <a:xfrm>
              <a:off x="7710872" y="5590628"/>
              <a:ext cx="816282" cy="244395"/>
            </a:xfrm>
            <a:custGeom>
              <a:avLst/>
              <a:gdLst>
                <a:gd name="connsiteX0" fmla="*/ 328612 w 397668"/>
                <a:gd name="connsiteY0" fmla="*/ 2381 h 119062"/>
                <a:gd name="connsiteX1" fmla="*/ 66675 w 397668"/>
                <a:gd name="connsiteY1" fmla="*/ 0 h 119062"/>
                <a:gd name="connsiteX2" fmla="*/ 0 w 397668"/>
                <a:gd name="connsiteY2" fmla="*/ 119062 h 119062"/>
                <a:gd name="connsiteX3" fmla="*/ 397668 w 397668"/>
                <a:gd name="connsiteY3" fmla="*/ 119062 h 119062"/>
                <a:gd name="connsiteX4" fmla="*/ 328612 w 397668"/>
                <a:gd name="connsiteY4" fmla="*/ 2381 h 11906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97668" h="119062">
                  <a:moveTo>
                    <a:pt x="328612" y="2381"/>
                  </a:moveTo>
                  <a:lnTo>
                    <a:pt x="66675" y="0"/>
                  </a:lnTo>
                  <a:lnTo>
                    <a:pt x="0" y="119062"/>
                  </a:lnTo>
                  <a:lnTo>
                    <a:pt x="397668" y="119062"/>
                  </a:lnTo>
                  <a:lnTo>
                    <a:pt x="328612" y="2381"/>
                  </a:lnTo>
                  <a:close/>
                </a:path>
              </a:pathLst>
            </a:custGeom>
            <a:solidFill>
              <a:srgbClr val="FFC000">
                <a:lumMod val="40000"/>
                <a:lumOff val="60000"/>
              </a:srgbClr>
            </a:solidFill>
            <a:ln w="38100" cap="flat" cmpd="sng" algn="ctr">
              <a:solidFill>
                <a:srgbClr val="FFC000"/>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prstClr val="white"/>
                </a:solidFill>
                <a:effectLst/>
                <a:uLnTx/>
                <a:uFillTx/>
                <a:latin typeface="Calibri" panose="020F0502020204030204"/>
                <a:ea typeface="+mn-ea"/>
                <a:cs typeface="+mn-cs"/>
              </a:endParaRPr>
            </a:p>
          </p:txBody>
        </p:sp>
      </p:grpSp>
    </p:spTree>
    <p:extLst>
      <p:ext uri="{BB962C8B-B14F-4D97-AF65-F5344CB8AC3E}">
        <p14:creationId xmlns:p14="http://schemas.microsoft.com/office/powerpoint/2010/main" val="14738510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7"/>
                                        </p:tgtEl>
                                        <p:attrNameLst>
                                          <p:attrName>style.visibility</p:attrName>
                                        </p:attrNameLst>
                                      </p:cBhvr>
                                      <p:to>
                                        <p:strVal val="visible"/>
                                      </p:to>
                                    </p:set>
                                    <p:animEffect transition="in" filter="wipe(left)">
                                      <p:cBhvr>
                                        <p:cTn id="7" dur="500"/>
                                        <p:tgtEl>
                                          <p:spTgt spid="37"/>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48"/>
                                        </p:tgtEl>
                                        <p:attrNameLst>
                                          <p:attrName>style.visibility</p:attrName>
                                        </p:attrNameLst>
                                      </p:cBhvr>
                                      <p:to>
                                        <p:strVal val="visible"/>
                                      </p:to>
                                    </p:set>
                                    <p:animEffect transition="in" filter="wipe(left)">
                                      <p:cBhvr>
                                        <p:cTn id="12" dur="500"/>
                                        <p:tgtEl>
                                          <p:spTgt spid="48"/>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4" fill="hold" nodeType="clickEffect">
                                  <p:stCondLst>
                                    <p:cond delay="0"/>
                                  </p:stCondLst>
                                  <p:childTnLst>
                                    <p:set>
                                      <p:cBhvr>
                                        <p:cTn id="16" dur="1" fill="hold">
                                          <p:stCondLst>
                                            <p:cond delay="0"/>
                                          </p:stCondLst>
                                        </p:cTn>
                                        <p:tgtEl>
                                          <p:spTgt spid="50"/>
                                        </p:tgtEl>
                                        <p:attrNameLst>
                                          <p:attrName>style.visibility</p:attrName>
                                        </p:attrNameLst>
                                      </p:cBhvr>
                                      <p:to>
                                        <p:strVal val="visible"/>
                                      </p:to>
                                    </p:set>
                                    <p:animEffect transition="in" filter="wipe(down)">
                                      <p:cBhvr>
                                        <p:cTn id="17" dur="500"/>
                                        <p:tgtEl>
                                          <p:spTgt spid="5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7" grpId="0" animBg="1"/>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6" name="Rectangle 135">
            <a:extLst>
              <a:ext uri="{FF2B5EF4-FFF2-40B4-BE49-F238E27FC236}">
                <a16:creationId xmlns:a16="http://schemas.microsoft.com/office/drawing/2014/main" id="{99FA8A21-6907-AD2E-C27A-56825E5BF1EE}"/>
              </a:ext>
            </a:extLst>
          </p:cNvPr>
          <p:cNvSpPr/>
          <p:nvPr/>
        </p:nvSpPr>
        <p:spPr>
          <a:xfrm>
            <a:off x="4545237" y="0"/>
            <a:ext cx="7646763" cy="182434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2" name="Title 1">
            <a:extLst>
              <a:ext uri="{FF2B5EF4-FFF2-40B4-BE49-F238E27FC236}">
                <a16:creationId xmlns:a16="http://schemas.microsoft.com/office/drawing/2014/main" id="{B9CD1B4F-9B9A-7E72-9F45-024DEB9BB66E}"/>
              </a:ext>
            </a:extLst>
          </p:cNvPr>
          <p:cNvSpPr>
            <a:spLocks noGrp="1"/>
          </p:cNvSpPr>
          <p:nvPr>
            <p:ph type="title"/>
          </p:nvPr>
        </p:nvSpPr>
        <p:spPr/>
        <p:txBody>
          <a:bodyPr/>
          <a:lstStyle/>
          <a:p>
            <a:r>
              <a:rPr lang="sv-SE" dirty="0"/>
              <a:t>AFIO_EXTICR</a:t>
            </a:r>
            <a:endParaRPr lang="LID4096" dirty="0"/>
          </a:p>
        </p:txBody>
      </p:sp>
      <p:cxnSp>
        <p:nvCxnSpPr>
          <p:cNvPr id="4" name="Straight Arrow Connector 3">
            <a:extLst>
              <a:ext uri="{FF2B5EF4-FFF2-40B4-BE49-F238E27FC236}">
                <a16:creationId xmlns:a16="http://schemas.microsoft.com/office/drawing/2014/main" id="{D98F524C-4DAE-50B3-A61D-F42846203403}"/>
              </a:ext>
            </a:extLst>
          </p:cNvPr>
          <p:cNvCxnSpPr/>
          <p:nvPr/>
        </p:nvCxnSpPr>
        <p:spPr>
          <a:xfrm flipH="1">
            <a:off x="6560866" y="3560881"/>
            <a:ext cx="835635" cy="0"/>
          </a:xfrm>
          <a:prstGeom prst="straightConnector1">
            <a:avLst/>
          </a:prstGeom>
          <a:ln w="38100">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5" name="Straight Arrow Connector 4">
            <a:extLst>
              <a:ext uri="{FF2B5EF4-FFF2-40B4-BE49-F238E27FC236}">
                <a16:creationId xmlns:a16="http://schemas.microsoft.com/office/drawing/2014/main" id="{6EE2BFB7-020C-439E-D6F1-F0BDB44603C8}"/>
              </a:ext>
            </a:extLst>
          </p:cNvPr>
          <p:cNvCxnSpPr/>
          <p:nvPr/>
        </p:nvCxnSpPr>
        <p:spPr>
          <a:xfrm flipH="1">
            <a:off x="6560866" y="3712953"/>
            <a:ext cx="835635" cy="0"/>
          </a:xfrm>
          <a:prstGeom prst="straightConnector1">
            <a:avLst/>
          </a:prstGeom>
          <a:ln w="38100">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6" name="Straight Arrow Connector 5">
            <a:extLst>
              <a:ext uri="{FF2B5EF4-FFF2-40B4-BE49-F238E27FC236}">
                <a16:creationId xmlns:a16="http://schemas.microsoft.com/office/drawing/2014/main" id="{76C5005F-BA98-A2EA-A306-61B398BE784D}"/>
              </a:ext>
            </a:extLst>
          </p:cNvPr>
          <p:cNvCxnSpPr/>
          <p:nvPr/>
        </p:nvCxnSpPr>
        <p:spPr>
          <a:xfrm flipH="1">
            <a:off x="6560866" y="3865025"/>
            <a:ext cx="835635" cy="0"/>
          </a:xfrm>
          <a:prstGeom prst="straightConnector1">
            <a:avLst/>
          </a:prstGeom>
          <a:ln w="38100">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 name="Straight Arrow Connector 6">
            <a:extLst>
              <a:ext uri="{FF2B5EF4-FFF2-40B4-BE49-F238E27FC236}">
                <a16:creationId xmlns:a16="http://schemas.microsoft.com/office/drawing/2014/main" id="{974E0CA1-3B70-D6C2-5BC9-F21FFB7B2633}"/>
              </a:ext>
            </a:extLst>
          </p:cNvPr>
          <p:cNvCxnSpPr/>
          <p:nvPr/>
        </p:nvCxnSpPr>
        <p:spPr>
          <a:xfrm flipH="1">
            <a:off x="6560866" y="4029679"/>
            <a:ext cx="835635" cy="0"/>
          </a:xfrm>
          <a:prstGeom prst="straightConnector1">
            <a:avLst/>
          </a:prstGeom>
          <a:ln w="38100">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8" name="Straight Arrow Connector 7">
            <a:extLst>
              <a:ext uri="{FF2B5EF4-FFF2-40B4-BE49-F238E27FC236}">
                <a16:creationId xmlns:a16="http://schemas.microsoft.com/office/drawing/2014/main" id="{F7714D07-F94A-C0EC-C7A1-D73161ED25E8}"/>
              </a:ext>
            </a:extLst>
          </p:cNvPr>
          <p:cNvCxnSpPr/>
          <p:nvPr/>
        </p:nvCxnSpPr>
        <p:spPr>
          <a:xfrm flipH="1">
            <a:off x="6560866" y="4194333"/>
            <a:ext cx="835635" cy="0"/>
          </a:xfrm>
          <a:prstGeom prst="straightConnector1">
            <a:avLst/>
          </a:prstGeom>
          <a:ln w="38100">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9" name="Straight Arrow Connector 8">
            <a:extLst>
              <a:ext uri="{FF2B5EF4-FFF2-40B4-BE49-F238E27FC236}">
                <a16:creationId xmlns:a16="http://schemas.microsoft.com/office/drawing/2014/main" id="{88B019D1-147C-A281-28C0-AEB3B1411D58}"/>
              </a:ext>
            </a:extLst>
          </p:cNvPr>
          <p:cNvCxnSpPr/>
          <p:nvPr/>
        </p:nvCxnSpPr>
        <p:spPr>
          <a:xfrm flipH="1">
            <a:off x="6560866" y="4358987"/>
            <a:ext cx="835635" cy="0"/>
          </a:xfrm>
          <a:prstGeom prst="straightConnector1">
            <a:avLst/>
          </a:prstGeom>
          <a:ln w="38100">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10" name="Straight Arrow Connector 9">
            <a:extLst>
              <a:ext uri="{FF2B5EF4-FFF2-40B4-BE49-F238E27FC236}">
                <a16:creationId xmlns:a16="http://schemas.microsoft.com/office/drawing/2014/main" id="{D9E3900D-F733-BFBA-EEB5-73DEA01272AD}"/>
              </a:ext>
            </a:extLst>
          </p:cNvPr>
          <p:cNvCxnSpPr/>
          <p:nvPr/>
        </p:nvCxnSpPr>
        <p:spPr>
          <a:xfrm flipH="1">
            <a:off x="6560866" y="4515253"/>
            <a:ext cx="835635" cy="0"/>
          </a:xfrm>
          <a:prstGeom prst="straightConnector1">
            <a:avLst/>
          </a:prstGeom>
          <a:ln w="38100">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22" name="Rectangle 21">
            <a:extLst>
              <a:ext uri="{FF2B5EF4-FFF2-40B4-BE49-F238E27FC236}">
                <a16:creationId xmlns:a16="http://schemas.microsoft.com/office/drawing/2014/main" id="{D7287D8C-FF2C-DF13-FFF2-FA293F052645}"/>
              </a:ext>
            </a:extLst>
          </p:cNvPr>
          <p:cNvSpPr/>
          <p:nvPr/>
        </p:nvSpPr>
        <p:spPr>
          <a:xfrm>
            <a:off x="10824545" y="5970889"/>
            <a:ext cx="863289" cy="639391"/>
          </a:xfrm>
          <a:prstGeom prst="rect">
            <a:avLst/>
          </a:prstGeom>
          <a:solidFill>
            <a:schemeClr val="bg1">
              <a:lumMod val="85000"/>
            </a:schemeClr>
          </a:solidFill>
          <a:ln w="12700"/>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23" name="Rectangle 22">
            <a:extLst>
              <a:ext uri="{FF2B5EF4-FFF2-40B4-BE49-F238E27FC236}">
                <a16:creationId xmlns:a16="http://schemas.microsoft.com/office/drawing/2014/main" id="{47FEEA11-8E23-E031-1EC6-7DAD8DC2A9CF}"/>
              </a:ext>
            </a:extLst>
          </p:cNvPr>
          <p:cNvSpPr/>
          <p:nvPr/>
        </p:nvSpPr>
        <p:spPr>
          <a:xfrm>
            <a:off x="10830863" y="2326231"/>
            <a:ext cx="863289" cy="1731698"/>
          </a:xfrm>
          <a:prstGeom prst="rect">
            <a:avLst/>
          </a:prstGeom>
          <a:solidFill>
            <a:schemeClr val="bg1">
              <a:lumMod val="85000"/>
            </a:schemeClr>
          </a:solidFill>
          <a:ln w="127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24" name="TextBox 23">
            <a:extLst>
              <a:ext uri="{FF2B5EF4-FFF2-40B4-BE49-F238E27FC236}">
                <a16:creationId xmlns:a16="http://schemas.microsoft.com/office/drawing/2014/main" id="{96276176-49BC-F419-1168-97FD3DF03879}"/>
              </a:ext>
            </a:extLst>
          </p:cNvPr>
          <p:cNvSpPr txBox="1"/>
          <p:nvPr/>
        </p:nvSpPr>
        <p:spPr>
          <a:xfrm>
            <a:off x="11296286" y="2619342"/>
            <a:ext cx="397866" cy="215444"/>
          </a:xfrm>
          <a:prstGeom prst="rect">
            <a:avLst/>
          </a:prstGeom>
          <a:noFill/>
          <a:ln>
            <a:noFill/>
          </a:ln>
        </p:spPr>
        <p:txBody>
          <a:bodyPr wrap="none" rtlCol="0">
            <a:spAutoFit/>
          </a:bodyPr>
          <a:lstStyle/>
          <a:p>
            <a:r>
              <a:rPr lang="en-GB" sz="800">
                <a:solidFill>
                  <a:schemeClr val="accent2">
                    <a:lumMod val="75000"/>
                  </a:schemeClr>
                </a:solidFill>
              </a:rPr>
              <a:t>pin 0</a:t>
            </a:r>
          </a:p>
        </p:txBody>
      </p:sp>
      <p:cxnSp>
        <p:nvCxnSpPr>
          <p:cNvPr id="25" name="Straight Connector 24">
            <a:extLst>
              <a:ext uri="{FF2B5EF4-FFF2-40B4-BE49-F238E27FC236}">
                <a16:creationId xmlns:a16="http://schemas.microsoft.com/office/drawing/2014/main" id="{B46E1DED-5169-B13F-D87C-FE68063FCDE9}"/>
              </a:ext>
            </a:extLst>
          </p:cNvPr>
          <p:cNvCxnSpPr>
            <a:cxnSpLocks/>
          </p:cNvCxnSpPr>
          <p:nvPr/>
        </p:nvCxnSpPr>
        <p:spPr>
          <a:xfrm>
            <a:off x="10901174" y="2727066"/>
            <a:ext cx="355269" cy="3727"/>
          </a:xfrm>
          <a:prstGeom prst="line">
            <a:avLst/>
          </a:prstGeom>
          <a:ln>
            <a:solidFill>
              <a:schemeClr val="accent2">
                <a:lumMod val="75000"/>
              </a:schemeClr>
            </a:solidFill>
            <a:prstDash val="dash"/>
          </a:ln>
          <a:effectLst/>
        </p:spPr>
        <p:style>
          <a:lnRef idx="1">
            <a:schemeClr val="accent1"/>
          </a:lnRef>
          <a:fillRef idx="0">
            <a:schemeClr val="accent1"/>
          </a:fillRef>
          <a:effectRef idx="0">
            <a:schemeClr val="accent1"/>
          </a:effectRef>
          <a:fontRef idx="minor">
            <a:schemeClr val="tx1"/>
          </a:fontRef>
        </p:style>
      </p:cxnSp>
      <p:sp>
        <p:nvSpPr>
          <p:cNvPr id="26" name="Oval 25">
            <a:extLst>
              <a:ext uri="{FF2B5EF4-FFF2-40B4-BE49-F238E27FC236}">
                <a16:creationId xmlns:a16="http://schemas.microsoft.com/office/drawing/2014/main" id="{40A4BF04-730C-3688-D35D-8747D843688E}"/>
              </a:ext>
            </a:extLst>
          </p:cNvPr>
          <p:cNvSpPr/>
          <p:nvPr/>
        </p:nvSpPr>
        <p:spPr>
          <a:xfrm>
            <a:off x="11256443" y="2682348"/>
            <a:ext cx="79686" cy="89433"/>
          </a:xfrm>
          <a:prstGeom prst="ellipse">
            <a:avLst/>
          </a:prstGeom>
          <a:noFill/>
          <a:ln>
            <a:solidFill>
              <a:schemeClr val="accent2">
                <a:lumMod val="75000"/>
              </a:schemeClr>
            </a:solid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u="sng"/>
          </a:p>
        </p:txBody>
      </p:sp>
      <p:sp>
        <p:nvSpPr>
          <p:cNvPr id="27" name="TextBox 26">
            <a:extLst>
              <a:ext uri="{FF2B5EF4-FFF2-40B4-BE49-F238E27FC236}">
                <a16:creationId xmlns:a16="http://schemas.microsoft.com/office/drawing/2014/main" id="{F2725692-F754-13A3-510A-296CD0EA417D}"/>
              </a:ext>
            </a:extLst>
          </p:cNvPr>
          <p:cNvSpPr txBox="1"/>
          <p:nvPr/>
        </p:nvSpPr>
        <p:spPr>
          <a:xfrm>
            <a:off x="11296286" y="2758567"/>
            <a:ext cx="397866" cy="215444"/>
          </a:xfrm>
          <a:prstGeom prst="rect">
            <a:avLst/>
          </a:prstGeom>
          <a:noFill/>
        </p:spPr>
        <p:txBody>
          <a:bodyPr wrap="none" rtlCol="0">
            <a:spAutoFit/>
          </a:bodyPr>
          <a:lstStyle/>
          <a:p>
            <a:r>
              <a:rPr lang="en-GB" sz="800">
                <a:solidFill>
                  <a:schemeClr val="accent6">
                    <a:lumMod val="75000"/>
                  </a:schemeClr>
                </a:solidFill>
              </a:rPr>
              <a:t>pin 1</a:t>
            </a:r>
          </a:p>
        </p:txBody>
      </p:sp>
      <p:cxnSp>
        <p:nvCxnSpPr>
          <p:cNvPr id="28" name="Straight Connector 27">
            <a:extLst>
              <a:ext uri="{FF2B5EF4-FFF2-40B4-BE49-F238E27FC236}">
                <a16:creationId xmlns:a16="http://schemas.microsoft.com/office/drawing/2014/main" id="{7D64EED3-8C30-E88F-C0F8-8E60FE1F5900}"/>
              </a:ext>
            </a:extLst>
          </p:cNvPr>
          <p:cNvCxnSpPr>
            <a:cxnSpLocks/>
          </p:cNvCxnSpPr>
          <p:nvPr/>
        </p:nvCxnSpPr>
        <p:spPr>
          <a:xfrm>
            <a:off x="10901174" y="2866291"/>
            <a:ext cx="355269" cy="3727"/>
          </a:xfrm>
          <a:prstGeom prst="line">
            <a:avLst/>
          </a:prstGeom>
          <a:ln>
            <a:solidFill>
              <a:schemeClr val="accent6">
                <a:lumMod val="75000"/>
              </a:schemeClr>
            </a:solidFill>
            <a:prstDash val="dash"/>
          </a:ln>
          <a:effectLst/>
        </p:spPr>
        <p:style>
          <a:lnRef idx="1">
            <a:schemeClr val="accent1"/>
          </a:lnRef>
          <a:fillRef idx="0">
            <a:schemeClr val="accent1"/>
          </a:fillRef>
          <a:effectRef idx="0">
            <a:schemeClr val="accent1"/>
          </a:effectRef>
          <a:fontRef idx="minor">
            <a:schemeClr val="tx1"/>
          </a:fontRef>
        </p:style>
      </p:cxnSp>
      <p:sp>
        <p:nvSpPr>
          <p:cNvPr id="29" name="Oval 28">
            <a:extLst>
              <a:ext uri="{FF2B5EF4-FFF2-40B4-BE49-F238E27FC236}">
                <a16:creationId xmlns:a16="http://schemas.microsoft.com/office/drawing/2014/main" id="{993054A2-67F5-E212-DF59-B724427F7689}"/>
              </a:ext>
            </a:extLst>
          </p:cNvPr>
          <p:cNvSpPr/>
          <p:nvPr/>
        </p:nvSpPr>
        <p:spPr>
          <a:xfrm>
            <a:off x="11256443" y="2821573"/>
            <a:ext cx="79686" cy="89433"/>
          </a:xfrm>
          <a:prstGeom prst="ellipse">
            <a:avLst/>
          </a:prstGeom>
          <a:noFill/>
          <a:ln>
            <a:solidFill>
              <a:schemeClr val="accent6">
                <a:lumMod val="75000"/>
              </a:schemeClr>
            </a:solid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u="sng"/>
          </a:p>
        </p:txBody>
      </p:sp>
      <p:sp>
        <p:nvSpPr>
          <p:cNvPr id="30" name="TextBox 29">
            <a:extLst>
              <a:ext uri="{FF2B5EF4-FFF2-40B4-BE49-F238E27FC236}">
                <a16:creationId xmlns:a16="http://schemas.microsoft.com/office/drawing/2014/main" id="{BE8D89AD-452B-81E3-EBAA-905E8ACBDA2A}"/>
              </a:ext>
            </a:extLst>
          </p:cNvPr>
          <p:cNvSpPr txBox="1"/>
          <p:nvPr/>
        </p:nvSpPr>
        <p:spPr>
          <a:xfrm>
            <a:off x="11296286" y="2897792"/>
            <a:ext cx="397866" cy="215444"/>
          </a:xfrm>
          <a:prstGeom prst="rect">
            <a:avLst/>
          </a:prstGeom>
          <a:noFill/>
        </p:spPr>
        <p:txBody>
          <a:bodyPr wrap="none" rtlCol="0">
            <a:spAutoFit/>
          </a:bodyPr>
          <a:lstStyle/>
          <a:p>
            <a:r>
              <a:rPr lang="en-GB" sz="800"/>
              <a:t>pin 2</a:t>
            </a:r>
          </a:p>
        </p:txBody>
      </p:sp>
      <p:cxnSp>
        <p:nvCxnSpPr>
          <p:cNvPr id="31" name="Straight Connector 30">
            <a:extLst>
              <a:ext uri="{FF2B5EF4-FFF2-40B4-BE49-F238E27FC236}">
                <a16:creationId xmlns:a16="http://schemas.microsoft.com/office/drawing/2014/main" id="{109CAA38-5498-85D6-A391-9694D1E148B4}"/>
              </a:ext>
            </a:extLst>
          </p:cNvPr>
          <p:cNvCxnSpPr>
            <a:cxnSpLocks/>
          </p:cNvCxnSpPr>
          <p:nvPr/>
        </p:nvCxnSpPr>
        <p:spPr>
          <a:xfrm>
            <a:off x="10901174" y="3005516"/>
            <a:ext cx="355269" cy="3727"/>
          </a:xfrm>
          <a:prstGeom prst="line">
            <a:avLst/>
          </a:prstGeom>
          <a:ln>
            <a:solidFill>
              <a:schemeClr val="tx1"/>
            </a:solidFill>
            <a:prstDash val="dash"/>
          </a:ln>
          <a:effectLst/>
        </p:spPr>
        <p:style>
          <a:lnRef idx="1">
            <a:schemeClr val="accent1"/>
          </a:lnRef>
          <a:fillRef idx="0">
            <a:schemeClr val="accent1"/>
          </a:fillRef>
          <a:effectRef idx="0">
            <a:schemeClr val="accent1"/>
          </a:effectRef>
          <a:fontRef idx="minor">
            <a:schemeClr val="tx1"/>
          </a:fontRef>
        </p:style>
      </p:cxnSp>
      <p:sp>
        <p:nvSpPr>
          <p:cNvPr id="32" name="Oval 31">
            <a:extLst>
              <a:ext uri="{FF2B5EF4-FFF2-40B4-BE49-F238E27FC236}">
                <a16:creationId xmlns:a16="http://schemas.microsoft.com/office/drawing/2014/main" id="{701B476C-1393-D048-72E7-893D38610BD5}"/>
              </a:ext>
            </a:extLst>
          </p:cNvPr>
          <p:cNvSpPr/>
          <p:nvPr/>
        </p:nvSpPr>
        <p:spPr>
          <a:xfrm>
            <a:off x="11256443" y="2960798"/>
            <a:ext cx="79686" cy="89433"/>
          </a:xfrm>
          <a:prstGeom prst="ellipse">
            <a:avLst/>
          </a:prstGeom>
          <a:noFill/>
          <a:ln>
            <a:solidFill>
              <a:schemeClr val="tx1"/>
            </a:solid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u="sng"/>
          </a:p>
        </p:txBody>
      </p:sp>
      <p:sp>
        <p:nvSpPr>
          <p:cNvPr id="33" name="TextBox 32">
            <a:extLst>
              <a:ext uri="{FF2B5EF4-FFF2-40B4-BE49-F238E27FC236}">
                <a16:creationId xmlns:a16="http://schemas.microsoft.com/office/drawing/2014/main" id="{D5B5E881-815C-06AF-FD9D-EFFC9CAAD3BB}"/>
              </a:ext>
            </a:extLst>
          </p:cNvPr>
          <p:cNvSpPr txBox="1"/>
          <p:nvPr/>
        </p:nvSpPr>
        <p:spPr>
          <a:xfrm>
            <a:off x="11296286" y="3037017"/>
            <a:ext cx="397866" cy="215444"/>
          </a:xfrm>
          <a:prstGeom prst="rect">
            <a:avLst/>
          </a:prstGeom>
          <a:noFill/>
        </p:spPr>
        <p:txBody>
          <a:bodyPr wrap="none" rtlCol="0">
            <a:spAutoFit/>
          </a:bodyPr>
          <a:lstStyle/>
          <a:p>
            <a:r>
              <a:rPr lang="en-GB" sz="800"/>
              <a:t>pin 3</a:t>
            </a:r>
          </a:p>
        </p:txBody>
      </p:sp>
      <p:cxnSp>
        <p:nvCxnSpPr>
          <p:cNvPr id="34" name="Straight Connector 33">
            <a:extLst>
              <a:ext uri="{FF2B5EF4-FFF2-40B4-BE49-F238E27FC236}">
                <a16:creationId xmlns:a16="http://schemas.microsoft.com/office/drawing/2014/main" id="{2B44DEB4-04D2-96D8-0AB3-101BF5713748}"/>
              </a:ext>
            </a:extLst>
          </p:cNvPr>
          <p:cNvCxnSpPr>
            <a:cxnSpLocks/>
          </p:cNvCxnSpPr>
          <p:nvPr/>
        </p:nvCxnSpPr>
        <p:spPr>
          <a:xfrm>
            <a:off x="10901174" y="3144741"/>
            <a:ext cx="355269" cy="3727"/>
          </a:xfrm>
          <a:prstGeom prst="line">
            <a:avLst/>
          </a:prstGeom>
          <a:ln>
            <a:solidFill>
              <a:schemeClr val="tx1"/>
            </a:solidFill>
            <a:prstDash val="dash"/>
          </a:ln>
          <a:effectLst/>
        </p:spPr>
        <p:style>
          <a:lnRef idx="1">
            <a:schemeClr val="accent1"/>
          </a:lnRef>
          <a:fillRef idx="0">
            <a:schemeClr val="accent1"/>
          </a:fillRef>
          <a:effectRef idx="0">
            <a:schemeClr val="accent1"/>
          </a:effectRef>
          <a:fontRef idx="minor">
            <a:schemeClr val="tx1"/>
          </a:fontRef>
        </p:style>
      </p:cxnSp>
      <p:sp>
        <p:nvSpPr>
          <p:cNvPr id="35" name="Oval 34">
            <a:extLst>
              <a:ext uri="{FF2B5EF4-FFF2-40B4-BE49-F238E27FC236}">
                <a16:creationId xmlns:a16="http://schemas.microsoft.com/office/drawing/2014/main" id="{50678BC4-641A-5F58-7D84-330DFE6D9C71}"/>
              </a:ext>
            </a:extLst>
          </p:cNvPr>
          <p:cNvSpPr/>
          <p:nvPr/>
        </p:nvSpPr>
        <p:spPr>
          <a:xfrm>
            <a:off x="11256443" y="3100023"/>
            <a:ext cx="79686" cy="89433"/>
          </a:xfrm>
          <a:prstGeom prst="ellipse">
            <a:avLst/>
          </a:prstGeom>
          <a:noFill/>
          <a:ln>
            <a:solidFill>
              <a:schemeClr val="tx1"/>
            </a:solid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u="sng"/>
          </a:p>
        </p:txBody>
      </p:sp>
      <p:sp>
        <p:nvSpPr>
          <p:cNvPr id="36" name="TextBox 35">
            <a:extLst>
              <a:ext uri="{FF2B5EF4-FFF2-40B4-BE49-F238E27FC236}">
                <a16:creationId xmlns:a16="http://schemas.microsoft.com/office/drawing/2014/main" id="{3F0FD08E-D556-F685-23A4-AE0C3397CA0A}"/>
              </a:ext>
            </a:extLst>
          </p:cNvPr>
          <p:cNvSpPr txBox="1"/>
          <p:nvPr/>
        </p:nvSpPr>
        <p:spPr>
          <a:xfrm>
            <a:off x="11296286" y="3176242"/>
            <a:ext cx="397866" cy="215444"/>
          </a:xfrm>
          <a:prstGeom prst="rect">
            <a:avLst/>
          </a:prstGeom>
          <a:noFill/>
        </p:spPr>
        <p:txBody>
          <a:bodyPr wrap="none" rtlCol="0">
            <a:spAutoFit/>
          </a:bodyPr>
          <a:lstStyle/>
          <a:p>
            <a:r>
              <a:rPr lang="en-GB" sz="800"/>
              <a:t>pin 4</a:t>
            </a:r>
          </a:p>
        </p:txBody>
      </p:sp>
      <p:cxnSp>
        <p:nvCxnSpPr>
          <p:cNvPr id="37" name="Straight Connector 36">
            <a:extLst>
              <a:ext uri="{FF2B5EF4-FFF2-40B4-BE49-F238E27FC236}">
                <a16:creationId xmlns:a16="http://schemas.microsoft.com/office/drawing/2014/main" id="{1C326A27-1A83-1691-C6B8-2290AED8B99A}"/>
              </a:ext>
            </a:extLst>
          </p:cNvPr>
          <p:cNvCxnSpPr>
            <a:cxnSpLocks/>
          </p:cNvCxnSpPr>
          <p:nvPr/>
        </p:nvCxnSpPr>
        <p:spPr>
          <a:xfrm>
            <a:off x="10901174" y="3283966"/>
            <a:ext cx="355269" cy="3727"/>
          </a:xfrm>
          <a:prstGeom prst="line">
            <a:avLst/>
          </a:prstGeom>
          <a:ln>
            <a:solidFill>
              <a:schemeClr val="tx1"/>
            </a:solidFill>
            <a:prstDash val="dash"/>
          </a:ln>
          <a:effectLst/>
        </p:spPr>
        <p:style>
          <a:lnRef idx="1">
            <a:schemeClr val="accent1"/>
          </a:lnRef>
          <a:fillRef idx="0">
            <a:schemeClr val="accent1"/>
          </a:fillRef>
          <a:effectRef idx="0">
            <a:schemeClr val="accent1"/>
          </a:effectRef>
          <a:fontRef idx="minor">
            <a:schemeClr val="tx1"/>
          </a:fontRef>
        </p:style>
      </p:cxnSp>
      <p:sp>
        <p:nvSpPr>
          <p:cNvPr id="38" name="Oval 37">
            <a:extLst>
              <a:ext uri="{FF2B5EF4-FFF2-40B4-BE49-F238E27FC236}">
                <a16:creationId xmlns:a16="http://schemas.microsoft.com/office/drawing/2014/main" id="{795A8D3F-7F1A-E3D7-334A-48440239167E}"/>
              </a:ext>
            </a:extLst>
          </p:cNvPr>
          <p:cNvSpPr/>
          <p:nvPr/>
        </p:nvSpPr>
        <p:spPr>
          <a:xfrm>
            <a:off x="11256443" y="3239248"/>
            <a:ext cx="79686" cy="89433"/>
          </a:xfrm>
          <a:prstGeom prst="ellipse">
            <a:avLst/>
          </a:prstGeom>
          <a:noFill/>
          <a:ln>
            <a:solidFill>
              <a:schemeClr val="tx1"/>
            </a:solid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u="sng"/>
          </a:p>
        </p:txBody>
      </p:sp>
      <p:sp>
        <p:nvSpPr>
          <p:cNvPr id="39" name="TextBox 38">
            <a:extLst>
              <a:ext uri="{FF2B5EF4-FFF2-40B4-BE49-F238E27FC236}">
                <a16:creationId xmlns:a16="http://schemas.microsoft.com/office/drawing/2014/main" id="{E0504374-E797-2FAF-FC2E-9ADCE4A5561B}"/>
              </a:ext>
            </a:extLst>
          </p:cNvPr>
          <p:cNvSpPr txBox="1"/>
          <p:nvPr/>
        </p:nvSpPr>
        <p:spPr>
          <a:xfrm>
            <a:off x="11296286" y="3315467"/>
            <a:ext cx="397866" cy="215444"/>
          </a:xfrm>
          <a:prstGeom prst="rect">
            <a:avLst/>
          </a:prstGeom>
          <a:noFill/>
        </p:spPr>
        <p:txBody>
          <a:bodyPr wrap="none" rtlCol="0">
            <a:spAutoFit/>
          </a:bodyPr>
          <a:lstStyle/>
          <a:p>
            <a:r>
              <a:rPr lang="en-GB" sz="800"/>
              <a:t>pin 5</a:t>
            </a:r>
          </a:p>
        </p:txBody>
      </p:sp>
      <p:cxnSp>
        <p:nvCxnSpPr>
          <p:cNvPr id="40" name="Straight Connector 39">
            <a:extLst>
              <a:ext uri="{FF2B5EF4-FFF2-40B4-BE49-F238E27FC236}">
                <a16:creationId xmlns:a16="http://schemas.microsoft.com/office/drawing/2014/main" id="{7E58C164-E7DB-9E7A-05D3-B3EC1BDC2D2D}"/>
              </a:ext>
            </a:extLst>
          </p:cNvPr>
          <p:cNvCxnSpPr>
            <a:cxnSpLocks/>
          </p:cNvCxnSpPr>
          <p:nvPr/>
        </p:nvCxnSpPr>
        <p:spPr>
          <a:xfrm>
            <a:off x="10901174" y="3423191"/>
            <a:ext cx="355269" cy="3727"/>
          </a:xfrm>
          <a:prstGeom prst="line">
            <a:avLst/>
          </a:prstGeom>
          <a:ln>
            <a:solidFill>
              <a:schemeClr val="tx1"/>
            </a:solidFill>
            <a:prstDash val="dash"/>
          </a:ln>
          <a:effectLst/>
        </p:spPr>
        <p:style>
          <a:lnRef idx="1">
            <a:schemeClr val="accent1"/>
          </a:lnRef>
          <a:fillRef idx="0">
            <a:schemeClr val="accent1"/>
          </a:fillRef>
          <a:effectRef idx="0">
            <a:schemeClr val="accent1"/>
          </a:effectRef>
          <a:fontRef idx="minor">
            <a:schemeClr val="tx1"/>
          </a:fontRef>
        </p:style>
      </p:cxnSp>
      <p:sp>
        <p:nvSpPr>
          <p:cNvPr id="41" name="Oval 40">
            <a:extLst>
              <a:ext uri="{FF2B5EF4-FFF2-40B4-BE49-F238E27FC236}">
                <a16:creationId xmlns:a16="http://schemas.microsoft.com/office/drawing/2014/main" id="{F132EA0B-2A27-4082-DBCE-843AAC809422}"/>
              </a:ext>
            </a:extLst>
          </p:cNvPr>
          <p:cNvSpPr/>
          <p:nvPr/>
        </p:nvSpPr>
        <p:spPr>
          <a:xfrm>
            <a:off x="11256443" y="3378473"/>
            <a:ext cx="79686" cy="89433"/>
          </a:xfrm>
          <a:prstGeom prst="ellipse">
            <a:avLst/>
          </a:prstGeom>
          <a:noFill/>
          <a:ln>
            <a:solidFill>
              <a:schemeClr val="tx1"/>
            </a:solid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u="sng"/>
          </a:p>
        </p:txBody>
      </p:sp>
      <p:sp>
        <p:nvSpPr>
          <p:cNvPr id="42" name="TextBox 41">
            <a:extLst>
              <a:ext uri="{FF2B5EF4-FFF2-40B4-BE49-F238E27FC236}">
                <a16:creationId xmlns:a16="http://schemas.microsoft.com/office/drawing/2014/main" id="{6F958F3C-C1E7-EFE4-8AC4-F754AC58D57F}"/>
              </a:ext>
            </a:extLst>
          </p:cNvPr>
          <p:cNvSpPr txBox="1"/>
          <p:nvPr/>
        </p:nvSpPr>
        <p:spPr>
          <a:xfrm>
            <a:off x="11296286" y="3454692"/>
            <a:ext cx="397866" cy="215444"/>
          </a:xfrm>
          <a:prstGeom prst="rect">
            <a:avLst/>
          </a:prstGeom>
          <a:noFill/>
        </p:spPr>
        <p:txBody>
          <a:bodyPr wrap="none" rtlCol="0">
            <a:spAutoFit/>
          </a:bodyPr>
          <a:lstStyle/>
          <a:p>
            <a:r>
              <a:rPr lang="en-GB" sz="800"/>
              <a:t>pin 6</a:t>
            </a:r>
          </a:p>
        </p:txBody>
      </p:sp>
      <p:cxnSp>
        <p:nvCxnSpPr>
          <p:cNvPr id="43" name="Straight Connector 42">
            <a:extLst>
              <a:ext uri="{FF2B5EF4-FFF2-40B4-BE49-F238E27FC236}">
                <a16:creationId xmlns:a16="http://schemas.microsoft.com/office/drawing/2014/main" id="{6ABC715D-2115-4BE2-2B11-386580995EBD}"/>
              </a:ext>
            </a:extLst>
          </p:cNvPr>
          <p:cNvCxnSpPr>
            <a:cxnSpLocks/>
          </p:cNvCxnSpPr>
          <p:nvPr/>
        </p:nvCxnSpPr>
        <p:spPr>
          <a:xfrm>
            <a:off x="10901174" y="3562416"/>
            <a:ext cx="355269" cy="3727"/>
          </a:xfrm>
          <a:prstGeom prst="line">
            <a:avLst/>
          </a:prstGeom>
          <a:ln>
            <a:solidFill>
              <a:schemeClr val="tx1"/>
            </a:solidFill>
            <a:prstDash val="dash"/>
          </a:ln>
          <a:effectLst/>
        </p:spPr>
        <p:style>
          <a:lnRef idx="1">
            <a:schemeClr val="accent1"/>
          </a:lnRef>
          <a:fillRef idx="0">
            <a:schemeClr val="accent1"/>
          </a:fillRef>
          <a:effectRef idx="0">
            <a:schemeClr val="accent1"/>
          </a:effectRef>
          <a:fontRef idx="minor">
            <a:schemeClr val="tx1"/>
          </a:fontRef>
        </p:style>
      </p:cxnSp>
      <p:sp>
        <p:nvSpPr>
          <p:cNvPr id="44" name="Oval 43">
            <a:extLst>
              <a:ext uri="{FF2B5EF4-FFF2-40B4-BE49-F238E27FC236}">
                <a16:creationId xmlns:a16="http://schemas.microsoft.com/office/drawing/2014/main" id="{C1AD0020-5E47-2749-B77C-CDB2C3D6D800}"/>
              </a:ext>
            </a:extLst>
          </p:cNvPr>
          <p:cNvSpPr/>
          <p:nvPr/>
        </p:nvSpPr>
        <p:spPr>
          <a:xfrm>
            <a:off x="11256443" y="3517698"/>
            <a:ext cx="79686" cy="89433"/>
          </a:xfrm>
          <a:prstGeom prst="ellipse">
            <a:avLst/>
          </a:prstGeom>
          <a:noFill/>
          <a:ln>
            <a:solidFill>
              <a:schemeClr val="tx1"/>
            </a:solid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u="sng"/>
          </a:p>
        </p:txBody>
      </p:sp>
      <p:sp>
        <p:nvSpPr>
          <p:cNvPr id="45" name="TextBox 44">
            <a:extLst>
              <a:ext uri="{FF2B5EF4-FFF2-40B4-BE49-F238E27FC236}">
                <a16:creationId xmlns:a16="http://schemas.microsoft.com/office/drawing/2014/main" id="{56C249D9-134B-C904-4D93-DCBFB7F2DD19}"/>
              </a:ext>
            </a:extLst>
          </p:cNvPr>
          <p:cNvSpPr txBox="1"/>
          <p:nvPr/>
        </p:nvSpPr>
        <p:spPr>
          <a:xfrm>
            <a:off x="11296286" y="3593917"/>
            <a:ext cx="397866" cy="215444"/>
          </a:xfrm>
          <a:prstGeom prst="rect">
            <a:avLst/>
          </a:prstGeom>
          <a:noFill/>
        </p:spPr>
        <p:txBody>
          <a:bodyPr wrap="none" rtlCol="0">
            <a:spAutoFit/>
          </a:bodyPr>
          <a:lstStyle/>
          <a:p>
            <a:r>
              <a:rPr lang="en-GB" sz="800"/>
              <a:t>pin 7</a:t>
            </a:r>
          </a:p>
        </p:txBody>
      </p:sp>
      <p:cxnSp>
        <p:nvCxnSpPr>
          <p:cNvPr id="46" name="Straight Connector 45">
            <a:extLst>
              <a:ext uri="{FF2B5EF4-FFF2-40B4-BE49-F238E27FC236}">
                <a16:creationId xmlns:a16="http://schemas.microsoft.com/office/drawing/2014/main" id="{73A6207D-D8C0-6A9C-708A-A28FB0BB7A88}"/>
              </a:ext>
            </a:extLst>
          </p:cNvPr>
          <p:cNvCxnSpPr>
            <a:cxnSpLocks/>
          </p:cNvCxnSpPr>
          <p:nvPr/>
        </p:nvCxnSpPr>
        <p:spPr>
          <a:xfrm>
            <a:off x="10901174" y="3701641"/>
            <a:ext cx="355269" cy="3727"/>
          </a:xfrm>
          <a:prstGeom prst="line">
            <a:avLst/>
          </a:prstGeom>
          <a:ln>
            <a:solidFill>
              <a:schemeClr val="tx1"/>
            </a:solidFill>
            <a:prstDash val="dash"/>
          </a:ln>
          <a:effectLst/>
        </p:spPr>
        <p:style>
          <a:lnRef idx="1">
            <a:schemeClr val="accent1"/>
          </a:lnRef>
          <a:fillRef idx="0">
            <a:schemeClr val="accent1"/>
          </a:fillRef>
          <a:effectRef idx="0">
            <a:schemeClr val="accent1"/>
          </a:effectRef>
          <a:fontRef idx="minor">
            <a:schemeClr val="tx1"/>
          </a:fontRef>
        </p:style>
      </p:cxnSp>
      <p:sp>
        <p:nvSpPr>
          <p:cNvPr id="47" name="Oval 46">
            <a:extLst>
              <a:ext uri="{FF2B5EF4-FFF2-40B4-BE49-F238E27FC236}">
                <a16:creationId xmlns:a16="http://schemas.microsoft.com/office/drawing/2014/main" id="{C22A75A7-505D-DB2C-D73B-40D0B1077746}"/>
              </a:ext>
            </a:extLst>
          </p:cNvPr>
          <p:cNvSpPr/>
          <p:nvPr/>
        </p:nvSpPr>
        <p:spPr>
          <a:xfrm>
            <a:off x="11256443" y="3656923"/>
            <a:ext cx="79686" cy="89433"/>
          </a:xfrm>
          <a:prstGeom prst="ellipse">
            <a:avLst/>
          </a:prstGeom>
          <a:noFill/>
          <a:ln>
            <a:solidFill>
              <a:schemeClr val="tx1"/>
            </a:solid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u="sng"/>
          </a:p>
        </p:txBody>
      </p:sp>
      <p:sp>
        <p:nvSpPr>
          <p:cNvPr id="48" name="TextBox 47">
            <a:extLst>
              <a:ext uri="{FF2B5EF4-FFF2-40B4-BE49-F238E27FC236}">
                <a16:creationId xmlns:a16="http://schemas.microsoft.com/office/drawing/2014/main" id="{7AA84912-5295-47D0-59F1-15C586287025}"/>
              </a:ext>
            </a:extLst>
          </p:cNvPr>
          <p:cNvSpPr txBox="1"/>
          <p:nvPr/>
        </p:nvSpPr>
        <p:spPr>
          <a:xfrm rot="5400000">
            <a:off x="11145211" y="3719205"/>
            <a:ext cx="381836" cy="369332"/>
          </a:xfrm>
          <a:prstGeom prst="rect">
            <a:avLst/>
          </a:prstGeom>
          <a:noFill/>
        </p:spPr>
        <p:txBody>
          <a:bodyPr wrap="none" rtlCol="0">
            <a:spAutoFit/>
          </a:bodyPr>
          <a:lstStyle/>
          <a:p>
            <a:r>
              <a:rPr lang="en-GB"/>
              <a:t>...</a:t>
            </a:r>
            <a:endParaRPr lang="LID4096"/>
          </a:p>
        </p:txBody>
      </p:sp>
      <p:sp>
        <p:nvSpPr>
          <p:cNvPr id="49" name="TextBox 48">
            <a:extLst>
              <a:ext uri="{FF2B5EF4-FFF2-40B4-BE49-F238E27FC236}">
                <a16:creationId xmlns:a16="http://schemas.microsoft.com/office/drawing/2014/main" id="{8B2E1A9A-E37E-370A-62AC-48BA36BBB914}"/>
              </a:ext>
            </a:extLst>
          </p:cNvPr>
          <p:cNvSpPr txBox="1"/>
          <p:nvPr/>
        </p:nvSpPr>
        <p:spPr>
          <a:xfrm>
            <a:off x="10878042" y="2326231"/>
            <a:ext cx="793166" cy="369332"/>
          </a:xfrm>
          <a:prstGeom prst="rect">
            <a:avLst/>
          </a:prstGeom>
          <a:noFill/>
        </p:spPr>
        <p:txBody>
          <a:bodyPr wrap="none" rtlCol="0">
            <a:spAutoFit/>
          </a:bodyPr>
          <a:lstStyle/>
          <a:p>
            <a:r>
              <a:rPr lang="en-GB"/>
              <a:t>Port D</a:t>
            </a:r>
            <a:endParaRPr lang="LID4096"/>
          </a:p>
        </p:txBody>
      </p:sp>
      <p:sp>
        <p:nvSpPr>
          <p:cNvPr id="50" name="Rectangle 49">
            <a:extLst>
              <a:ext uri="{FF2B5EF4-FFF2-40B4-BE49-F238E27FC236}">
                <a16:creationId xmlns:a16="http://schemas.microsoft.com/office/drawing/2014/main" id="{D0676AF9-E34E-DC41-E6B2-AA4B9B6BFA3C}"/>
              </a:ext>
            </a:extLst>
          </p:cNvPr>
          <p:cNvSpPr/>
          <p:nvPr/>
        </p:nvSpPr>
        <p:spPr>
          <a:xfrm>
            <a:off x="10830863" y="4150819"/>
            <a:ext cx="863289" cy="1731698"/>
          </a:xfrm>
          <a:prstGeom prst="rect">
            <a:avLst/>
          </a:prstGeom>
          <a:solidFill>
            <a:schemeClr val="bg1">
              <a:lumMod val="85000"/>
            </a:schemeClr>
          </a:solidFill>
          <a:ln w="127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51" name="TextBox 50">
            <a:extLst>
              <a:ext uri="{FF2B5EF4-FFF2-40B4-BE49-F238E27FC236}">
                <a16:creationId xmlns:a16="http://schemas.microsoft.com/office/drawing/2014/main" id="{B96A4549-153D-253F-C642-57EA3BC65598}"/>
              </a:ext>
            </a:extLst>
          </p:cNvPr>
          <p:cNvSpPr txBox="1"/>
          <p:nvPr/>
        </p:nvSpPr>
        <p:spPr>
          <a:xfrm>
            <a:off x="11296286" y="4443930"/>
            <a:ext cx="397866" cy="215444"/>
          </a:xfrm>
          <a:prstGeom prst="rect">
            <a:avLst/>
          </a:prstGeom>
          <a:noFill/>
        </p:spPr>
        <p:txBody>
          <a:bodyPr wrap="none" rtlCol="0">
            <a:spAutoFit/>
          </a:bodyPr>
          <a:lstStyle/>
          <a:p>
            <a:r>
              <a:rPr lang="en-GB" sz="800">
                <a:solidFill>
                  <a:schemeClr val="accent2">
                    <a:lumMod val="75000"/>
                  </a:schemeClr>
                </a:solidFill>
              </a:rPr>
              <a:t>pin 0</a:t>
            </a:r>
          </a:p>
        </p:txBody>
      </p:sp>
      <p:cxnSp>
        <p:nvCxnSpPr>
          <p:cNvPr id="52" name="Straight Connector 51">
            <a:extLst>
              <a:ext uri="{FF2B5EF4-FFF2-40B4-BE49-F238E27FC236}">
                <a16:creationId xmlns:a16="http://schemas.microsoft.com/office/drawing/2014/main" id="{60D40215-D9B3-AC95-C2CE-350EFD3A6E59}"/>
              </a:ext>
            </a:extLst>
          </p:cNvPr>
          <p:cNvCxnSpPr>
            <a:cxnSpLocks/>
          </p:cNvCxnSpPr>
          <p:nvPr/>
        </p:nvCxnSpPr>
        <p:spPr>
          <a:xfrm>
            <a:off x="10901174" y="4551654"/>
            <a:ext cx="355269" cy="3727"/>
          </a:xfrm>
          <a:prstGeom prst="line">
            <a:avLst/>
          </a:prstGeom>
          <a:ln>
            <a:solidFill>
              <a:schemeClr val="accent2">
                <a:lumMod val="75000"/>
              </a:schemeClr>
            </a:solidFill>
            <a:prstDash val="dash"/>
          </a:ln>
          <a:effectLst/>
        </p:spPr>
        <p:style>
          <a:lnRef idx="1">
            <a:schemeClr val="accent1"/>
          </a:lnRef>
          <a:fillRef idx="0">
            <a:schemeClr val="accent1"/>
          </a:fillRef>
          <a:effectRef idx="0">
            <a:schemeClr val="accent1"/>
          </a:effectRef>
          <a:fontRef idx="minor">
            <a:schemeClr val="tx1"/>
          </a:fontRef>
        </p:style>
      </p:cxnSp>
      <p:sp>
        <p:nvSpPr>
          <p:cNvPr id="53" name="Oval 52">
            <a:extLst>
              <a:ext uri="{FF2B5EF4-FFF2-40B4-BE49-F238E27FC236}">
                <a16:creationId xmlns:a16="http://schemas.microsoft.com/office/drawing/2014/main" id="{E0E0099F-8D73-7123-E9E7-1D12B600BA77}"/>
              </a:ext>
            </a:extLst>
          </p:cNvPr>
          <p:cNvSpPr/>
          <p:nvPr/>
        </p:nvSpPr>
        <p:spPr>
          <a:xfrm>
            <a:off x="11256443" y="4506936"/>
            <a:ext cx="79686" cy="89433"/>
          </a:xfrm>
          <a:prstGeom prst="ellipse">
            <a:avLst/>
          </a:prstGeom>
          <a:noFill/>
          <a:ln>
            <a:solidFill>
              <a:schemeClr val="accent2">
                <a:lumMod val="75000"/>
              </a:schemeClr>
            </a:solid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u="sng"/>
          </a:p>
        </p:txBody>
      </p:sp>
      <p:sp>
        <p:nvSpPr>
          <p:cNvPr id="54" name="TextBox 53">
            <a:extLst>
              <a:ext uri="{FF2B5EF4-FFF2-40B4-BE49-F238E27FC236}">
                <a16:creationId xmlns:a16="http://schemas.microsoft.com/office/drawing/2014/main" id="{B2671EBF-8E52-87BF-946E-8F3562ED8F96}"/>
              </a:ext>
            </a:extLst>
          </p:cNvPr>
          <p:cNvSpPr txBox="1"/>
          <p:nvPr/>
        </p:nvSpPr>
        <p:spPr>
          <a:xfrm>
            <a:off x="11296286" y="4583155"/>
            <a:ext cx="397866" cy="215444"/>
          </a:xfrm>
          <a:prstGeom prst="rect">
            <a:avLst/>
          </a:prstGeom>
          <a:noFill/>
        </p:spPr>
        <p:txBody>
          <a:bodyPr wrap="none" rtlCol="0">
            <a:spAutoFit/>
          </a:bodyPr>
          <a:lstStyle/>
          <a:p>
            <a:r>
              <a:rPr lang="en-GB" sz="800">
                <a:solidFill>
                  <a:schemeClr val="accent6">
                    <a:lumMod val="75000"/>
                  </a:schemeClr>
                </a:solidFill>
              </a:rPr>
              <a:t>pin 1</a:t>
            </a:r>
          </a:p>
        </p:txBody>
      </p:sp>
      <p:cxnSp>
        <p:nvCxnSpPr>
          <p:cNvPr id="55" name="Straight Connector 54">
            <a:extLst>
              <a:ext uri="{FF2B5EF4-FFF2-40B4-BE49-F238E27FC236}">
                <a16:creationId xmlns:a16="http://schemas.microsoft.com/office/drawing/2014/main" id="{EEF2C828-1B68-DCB2-0EAA-50E92CB1C715}"/>
              </a:ext>
            </a:extLst>
          </p:cNvPr>
          <p:cNvCxnSpPr>
            <a:cxnSpLocks/>
          </p:cNvCxnSpPr>
          <p:nvPr/>
        </p:nvCxnSpPr>
        <p:spPr>
          <a:xfrm>
            <a:off x="10901174" y="4690879"/>
            <a:ext cx="355269" cy="3727"/>
          </a:xfrm>
          <a:prstGeom prst="line">
            <a:avLst/>
          </a:prstGeom>
          <a:ln>
            <a:solidFill>
              <a:schemeClr val="accent6">
                <a:lumMod val="75000"/>
              </a:schemeClr>
            </a:solidFill>
            <a:prstDash val="dash"/>
          </a:ln>
          <a:effectLst/>
        </p:spPr>
        <p:style>
          <a:lnRef idx="1">
            <a:schemeClr val="accent1"/>
          </a:lnRef>
          <a:fillRef idx="0">
            <a:schemeClr val="accent1"/>
          </a:fillRef>
          <a:effectRef idx="0">
            <a:schemeClr val="accent1"/>
          </a:effectRef>
          <a:fontRef idx="minor">
            <a:schemeClr val="tx1"/>
          </a:fontRef>
        </p:style>
      </p:cxnSp>
      <p:sp>
        <p:nvSpPr>
          <p:cNvPr id="56" name="Oval 55">
            <a:extLst>
              <a:ext uri="{FF2B5EF4-FFF2-40B4-BE49-F238E27FC236}">
                <a16:creationId xmlns:a16="http://schemas.microsoft.com/office/drawing/2014/main" id="{C540A3A4-6CB1-7B2F-15B4-15D7580B6468}"/>
              </a:ext>
            </a:extLst>
          </p:cNvPr>
          <p:cNvSpPr/>
          <p:nvPr/>
        </p:nvSpPr>
        <p:spPr>
          <a:xfrm>
            <a:off x="11256443" y="4646161"/>
            <a:ext cx="79686" cy="89433"/>
          </a:xfrm>
          <a:prstGeom prst="ellipse">
            <a:avLst/>
          </a:prstGeom>
          <a:noFill/>
          <a:ln>
            <a:solidFill>
              <a:schemeClr val="accent6">
                <a:lumMod val="75000"/>
              </a:schemeClr>
            </a:solid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u="sng"/>
          </a:p>
        </p:txBody>
      </p:sp>
      <p:sp>
        <p:nvSpPr>
          <p:cNvPr id="57" name="TextBox 56">
            <a:extLst>
              <a:ext uri="{FF2B5EF4-FFF2-40B4-BE49-F238E27FC236}">
                <a16:creationId xmlns:a16="http://schemas.microsoft.com/office/drawing/2014/main" id="{C723428B-22F3-2DD3-7897-646AAB3BCE43}"/>
              </a:ext>
            </a:extLst>
          </p:cNvPr>
          <p:cNvSpPr txBox="1"/>
          <p:nvPr/>
        </p:nvSpPr>
        <p:spPr>
          <a:xfrm>
            <a:off x="11296286" y="4722380"/>
            <a:ext cx="397866" cy="215444"/>
          </a:xfrm>
          <a:prstGeom prst="rect">
            <a:avLst/>
          </a:prstGeom>
          <a:noFill/>
        </p:spPr>
        <p:txBody>
          <a:bodyPr wrap="none" rtlCol="0">
            <a:spAutoFit/>
          </a:bodyPr>
          <a:lstStyle/>
          <a:p>
            <a:r>
              <a:rPr lang="en-GB" sz="800"/>
              <a:t>pin 2</a:t>
            </a:r>
          </a:p>
        </p:txBody>
      </p:sp>
      <p:cxnSp>
        <p:nvCxnSpPr>
          <p:cNvPr id="58" name="Straight Connector 57">
            <a:extLst>
              <a:ext uri="{FF2B5EF4-FFF2-40B4-BE49-F238E27FC236}">
                <a16:creationId xmlns:a16="http://schemas.microsoft.com/office/drawing/2014/main" id="{42CA3344-2DEA-E5B7-2A11-DE04C1159FD7}"/>
              </a:ext>
            </a:extLst>
          </p:cNvPr>
          <p:cNvCxnSpPr>
            <a:cxnSpLocks/>
          </p:cNvCxnSpPr>
          <p:nvPr/>
        </p:nvCxnSpPr>
        <p:spPr>
          <a:xfrm>
            <a:off x="10901174" y="4830104"/>
            <a:ext cx="355269" cy="3727"/>
          </a:xfrm>
          <a:prstGeom prst="line">
            <a:avLst/>
          </a:prstGeom>
          <a:ln>
            <a:solidFill>
              <a:schemeClr val="tx1"/>
            </a:solidFill>
            <a:prstDash val="dash"/>
          </a:ln>
          <a:effectLst/>
        </p:spPr>
        <p:style>
          <a:lnRef idx="1">
            <a:schemeClr val="accent1"/>
          </a:lnRef>
          <a:fillRef idx="0">
            <a:schemeClr val="accent1"/>
          </a:fillRef>
          <a:effectRef idx="0">
            <a:schemeClr val="accent1"/>
          </a:effectRef>
          <a:fontRef idx="minor">
            <a:schemeClr val="tx1"/>
          </a:fontRef>
        </p:style>
      </p:cxnSp>
      <p:sp>
        <p:nvSpPr>
          <p:cNvPr id="59" name="Oval 58">
            <a:extLst>
              <a:ext uri="{FF2B5EF4-FFF2-40B4-BE49-F238E27FC236}">
                <a16:creationId xmlns:a16="http://schemas.microsoft.com/office/drawing/2014/main" id="{033A796B-EAA2-8D3B-BE68-8EDB0D79D625}"/>
              </a:ext>
            </a:extLst>
          </p:cNvPr>
          <p:cNvSpPr/>
          <p:nvPr/>
        </p:nvSpPr>
        <p:spPr>
          <a:xfrm>
            <a:off x="11256443" y="4785386"/>
            <a:ext cx="79686" cy="89433"/>
          </a:xfrm>
          <a:prstGeom prst="ellipse">
            <a:avLst/>
          </a:prstGeom>
          <a:noFill/>
          <a:ln>
            <a:solidFill>
              <a:schemeClr val="tx1"/>
            </a:solid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u="sng"/>
          </a:p>
        </p:txBody>
      </p:sp>
      <p:sp>
        <p:nvSpPr>
          <p:cNvPr id="60" name="TextBox 59">
            <a:extLst>
              <a:ext uri="{FF2B5EF4-FFF2-40B4-BE49-F238E27FC236}">
                <a16:creationId xmlns:a16="http://schemas.microsoft.com/office/drawing/2014/main" id="{E01F8234-FA57-B14D-C4EF-C1E4FF6CF4D3}"/>
              </a:ext>
            </a:extLst>
          </p:cNvPr>
          <p:cNvSpPr txBox="1"/>
          <p:nvPr/>
        </p:nvSpPr>
        <p:spPr>
          <a:xfrm>
            <a:off x="11296286" y="4861605"/>
            <a:ext cx="397866" cy="215444"/>
          </a:xfrm>
          <a:prstGeom prst="rect">
            <a:avLst/>
          </a:prstGeom>
          <a:noFill/>
        </p:spPr>
        <p:txBody>
          <a:bodyPr wrap="none" rtlCol="0">
            <a:spAutoFit/>
          </a:bodyPr>
          <a:lstStyle/>
          <a:p>
            <a:r>
              <a:rPr lang="en-GB" sz="800"/>
              <a:t>pin 3</a:t>
            </a:r>
          </a:p>
        </p:txBody>
      </p:sp>
      <p:cxnSp>
        <p:nvCxnSpPr>
          <p:cNvPr id="61" name="Straight Connector 60">
            <a:extLst>
              <a:ext uri="{FF2B5EF4-FFF2-40B4-BE49-F238E27FC236}">
                <a16:creationId xmlns:a16="http://schemas.microsoft.com/office/drawing/2014/main" id="{079092B9-73E2-0DC2-53CB-0A1ED7DB10CD}"/>
              </a:ext>
            </a:extLst>
          </p:cNvPr>
          <p:cNvCxnSpPr>
            <a:cxnSpLocks/>
          </p:cNvCxnSpPr>
          <p:nvPr/>
        </p:nvCxnSpPr>
        <p:spPr>
          <a:xfrm>
            <a:off x="10901174" y="4969329"/>
            <a:ext cx="355269" cy="3727"/>
          </a:xfrm>
          <a:prstGeom prst="line">
            <a:avLst/>
          </a:prstGeom>
          <a:ln>
            <a:solidFill>
              <a:schemeClr val="tx1"/>
            </a:solidFill>
            <a:prstDash val="dash"/>
          </a:ln>
          <a:effectLst/>
        </p:spPr>
        <p:style>
          <a:lnRef idx="1">
            <a:schemeClr val="accent1"/>
          </a:lnRef>
          <a:fillRef idx="0">
            <a:schemeClr val="accent1"/>
          </a:fillRef>
          <a:effectRef idx="0">
            <a:schemeClr val="accent1"/>
          </a:effectRef>
          <a:fontRef idx="minor">
            <a:schemeClr val="tx1"/>
          </a:fontRef>
        </p:style>
      </p:cxnSp>
      <p:sp>
        <p:nvSpPr>
          <p:cNvPr id="62" name="Oval 61">
            <a:extLst>
              <a:ext uri="{FF2B5EF4-FFF2-40B4-BE49-F238E27FC236}">
                <a16:creationId xmlns:a16="http://schemas.microsoft.com/office/drawing/2014/main" id="{EBA15F00-5C06-305B-E7E0-2CFBA8BB65AF}"/>
              </a:ext>
            </a:extLst>
          </p:cNvPr>
          <p:cNvSpPr/>
          <p:nvPr/>
        </p:nvSpPr>
        <p:spPr>
          <a:xfrm>
            <a:off x="11256443" y="4924611"/>
            <a:ext cx="79686" cy="89433"/>
          </a:xfrm>
          <a:prstGeom prst="ellipse">
            <a:avLst/>
          </a:prstGeom>
          <a:noFill/>
          <a:ln>
            <a:solidFill>
              <a:schemeClr val="tx1"/>
            </a:solid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u="sng"/>
          </a:p>
        </p:txBody>
      </p:sp>
      <p:sp>
        <p:nvSpPr>
          <p:cNvPr id="63" name="TextBox 62">
            <a:extLst>
              <a:ext uri="{FF2B5EF4-FFF2-40B4-BE49-F238E27FC236}">
                <a16:creationId xmlns:a16="http://schemas.microsoft.com/office/drawing/2014/main" id="{3C22D763-28B4-02EB-E2A9-D6C35639AA54}"/>
              </a:ext>
            </a:extLst>
          </p:cNvPr>
          <p:cNvSpPr txBox="1"/>
          <p:nvPr/>
        </p:nvSpPr>
        <p:spPr>
          <a:xfrm>
            <a:off x="11296286" y="5000830"/>
            <a:ext cx="397866" cy="215444"/>
          </a:xfrm>
          <a:prstGeom prst="rect">
            <a:avLst/>
          </a:prstGeom>
          <a:noFill/>
        </p:spPr>
        <p:txBody>
          <a:bodyPr wrap="none" rtlCol="0">
            <a:spAutoFit/>
          </a:bodyPr>
          <a:lstStyle/>
          <a:p>
            <a:r>
              <a:rPr lang="en-GB" sz="800"/>
              <a:t>pin 4</a:t>
            </a:r>
          </a:p>
        </p:txBody>
      </p:sp>
      <p:cxnSp>
        <p:nvCxnSpPr>
          <p:cNvPr id="64" name="Straight Connector 63">
            <a:extLst>
              <a:ext uri="{FF2B5EF4-FFF2-40B4-BE49-F238E27FC236}">
                <a16:creationId xmlns:a16="http://schemas.microsoft.com/office/drawing/2014/main" id="{85C9D598-7042-15F2-34FA-B0B8144F04B0}"/>
              </a:ext>
            </a:extLst>
          </p:cNvPr>
          <p:cNvCxnSpPr>
            <a:cxnSpLocks/>
          </p:cNvCxnSpPr>
          <p:nvPr/>
        </p:nvCxnSpPr>
        <p:spPr>
          <a:xfrm>
            <a:off x="10901174" y="5108554"/>
            <a:ext cx="355269" cy="3727"/>
          </a:xfrm>
          <a:prstGeom prst="line">
            <a:avLst/>
          </a:prstGeom>
          <a:ln>
            <a:solidFill>
              <a:schemeClr val="tx1"/>
            </a:solidFill>
            <a:prstDash val="dash"/>
          </a:ln>
          <a:effectLst/>
        </p:spPr>
        <p:style>
          <a:lnRef idx="1">
            <a:schemeClr val="accent1"/>
          </a:lnRef>
          <a:fillRef idx="0">
            <a:schemeClr val="accent1"/>
          </a:fillRef>
          <a:effectRef idx="0">
            <a:schemeClr val="accent1"/>
          </a:effectRef>
          <a:fontRef idx="minor">
            <a:schemeClr val="tx1"/>
          </a:fontRef>
        </p:style>
      </p:cxnSp>
      <p:sp>
        <p:nvSpPr>
          <p:cNvPr id="65" name="Oval 64">
            <a:extLst>
              <a:ext uri="{FF2B5EF4-FFF2-40B4-BE49-F238E27FC236}">
                <a16:creationId xmlns:a16="http://schemas.microsoft.com/office/drawing/2014/main" id="{09401516-7C95-DCBA-41BA-B3FF24A51268}"/>
              </a:ext>
            </a:extLst>
          </p:cNvPr>
          <p:cNvSpPr/>
          <p:nvPr/>
        </p:nvSpPr>
        <p:spPr>
          <a:xfrm>
            <a:off x="11256443" y="5063836"/>
            <a:ext cx="79686" cy="89433"/>
          </a:xfrm>
          <a:prstGeom prst="ellipse">
            <a:avLst/>
          </a:prstGeom>
          <a:noFill/>
          <a:ln>
            <a:solidFill>
              <a:schemeClr val="tx1"/>
            </a:solid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u="sng"/>
          </a:p>
        </p:txBody>
      </p:sp>
      <p:sp>
        <p:nvSpPr>
          <p:cNvPr id="66" name="TextBox 65">
            <a:extLst>
              <a:ext uri="{FF2B5EF4-FFF2-40B4-BE49-F238E27FC236}">
                <a16:creationId xmlns:a16="http://schemas.microsoft.com/office/drawing/2014/main" id="{07F5466D-36B0-C42A-BFEC-F1FB34C9E378}"/>
              </a:ext>
            </a:extLst>
          </p:cNvPr>
          <p:cNvSpPr txBox="1"/>
          <p:nvPr/>
        </p:nvSpPr>
        <p:spPr>
          <a:xfrm>
            <a:off x="11296286" y="5140055"/>
            <a:ext cx="397866" cy="215444"/>
          </a:xfrm>
          <a:prstGeom prst="rect">
            <a:avLst/>
          </a:prstGeom>
          <a:noFill/>
        </p:spPr>
        <p:txBody>
          <a:bodyPr wrap="none" rtlCol="0">
            <a:spAutoFit/>
          </a:bodyPr>
          <a:lstStyle/>
          <a:p>
            <a:r>
              <a:rPr lang="en-GB" sz="800"/>
              <a:t>pin 5</a:t>
            </a:r>
          </a:p>
        </p:txBody>
      </p:sp>
      <p:cxnSp>
        <p:nvCxnSpPr>
          <p:cNvPr id="67" name="Straight Connector 66">
            <a:extLst>
              <a:ext uri="{FF2B5EF4-FFF2-40B4-BE49-F238E27FC236}">
                <a16:creationId xmlns:a16="http://schemas.microsoft.com/office/drawing/2014/main" id="{EDF2C3F0-542E-74AF-8028-6CEF7BB6AB36}"/>
              </a:ext>
            </a:extLst>
          </p:cNvPr>
          <p:cNvCxnSpPr>
            <a:cxnSpLocks/>
          </p:cNvCxnSpPr>
          <p:nvPr/>
        </p:nvCxnSpPr>
        <p:spPr>
          <a:xfrm>
            <a:off x="10901174" y="5247779"/>
            <a:ext cx="355269" cy="3727"/>
          </a:xfrm>
          <a:prstGeom prst="line">
            <a:avLst/>
          </a:prstGeom>
          <a:ln>
            <a:solidFill>
              <a:schemeClr val="tx1"/>
            </a:solidFill>
            <a:prstDash val="dash"/>
          </a:ln>
          <a:effectLst/>
        </p:spPr>
        <p:style>
          <a:lnRef idx="1">
            <a:schemeClr val="accent1"/>
          </a:lnRef>
          <a:fillRef idx="0">
            <a:schemeClr val="accent1"/>
          </a:fillRef>
          <a:effectRef idx="0">
            <a:schemeClr val="accent1"/>
          </a:effectRef>
          <a:fontRef idx="minor">
            <a:schemeClr val="tx1"/>
          </a:fontRef>
        </p:style>
      </p:cxnSp>
      <p:sp>
        <p:nvSpPr>
          <p:cNvPr id="68" name="Oval 67">
            <a:extLst>
              <a:ext uri="{FF2B5EF4-FFF2-40B4-BE49-F238E27FC236}">
                <a16:creationId xmlns:a16="http://schemas.microsoft.com/office/drawing/2014/main" id="{67EE4A69-BF3B-F4B0-2EBA-35FE33B8F34E}"/>
              </a:ext>
            </a:extLst>
          </p:cNvPr>
          <p:cNvSpPr/>
          <p:nvPr/>
        </p:nvSpPr>
        <p:spPr>
          <a:xfrm>
            <a:off x="11256443" y="5203061"/>
            <a:ext cx="79686" cy="89433"/>
          </a:xfrm>
          <a:prstGeom prst="ellipse">
            <a:avLst/>
          </a:prstGeom>
          <a:noFill/>
          <a:ln>
            <a:solidFill>
              <a:schemeClr val="tx1"/>
            </a:solid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u="sng"/>
          </a:p>
        </p:txBody>
      </p:sp>
      <p:sp>
        <p:nvSpPr>
          <p:cNvPr id="69" name="TextBox 68">
            <a:extLst>
              <a:ext uri="{FF2B5EF4-FFF2-40B4-BE49-F238E27FC236}">
                <a16:creationId xmlns:a16="http://schemas.microsoft.com/office/drawing/2014/main" id="{14093F5A-F71B-B422-FF1D-65CDD715498E}"/>
              </a:ext>
            </a:extLst>
          </p:cNvPr>
          <p:cNvSpPr txBox="1"/>
          <p:nvPr/>
        </p:nvSpPr>
        <p:spPr>
          <a:xfrm>
            <a:off x="11296286" y="5279280"/>
            <a:ext cx="397866" cy="215444"/>
          </a:xfrm>
          <a:prstGeom prst="rect">
            <a:avLst/>
          </a:prstGeom>
          <a:noFill/>
        </p:spPr>
        <p:txBody>
          <a:bodyPr wrap="none" rtlCol="0">
            <a:spAutoFit/>
          </a:bodyPr>
          <a:lstStyle/>
          <a:p>
            <a:r>
              <a:rPr lang="en-GB" sz="800"/>
              <a:t>pin 6</a:t>
            </a:r>
          </a:p>
        </p:txBody>
      </p:sp>
      <p:cxnSp>
        <p:nvCxnSpPr>
          <p:cNvPr id="70" name="Straight Connector 69">
            <a:extLst>
              <a:ext uri="{FF2B5EF4-FFF2-40B4-BE49-F238E27FC236}">
                <a16:creationId xmlns:a16="http://schemas.microsoft.com/office/drawing/2014/main" id="{FECBEACB-C91D-39EE-6CF1-4C215B136587}"/>
              </a:ext>
            </a:extLst>
          </p:cNvPr>
          <p:cNvCxnSpPr>
            <a:cxnSpLocks/>
          </p:cNvCxnSpPr>
          <p:nvPr/>
        </p:nvCxnSpPr>
        <p:spPr>
          <a:xfrm>
            <a:off x="10901174" y="5387004"/>
            <a:ext cx="355269" cy="3727"/>
          </a:xfrm>
          <a:prstGeom prst="line">
            <a:avLst/>
          </a:prstGeom>
          <a:ln>
            <a:solidFill>
              <a:schemeClr val="tx1"/>
            </a:solidFill>
            <a:prstDash val="dash"/>
          </a:ln>
          <a:effectLst/>
        </p:spPr>
        <p:style>
          <a:lnRef idx="1">
            <a:schemeClr val="accent1"/>
          </a:lnRef>
          <a:fillRef idx="0">
            <a:schemeClr val="accent1"/>
          </a:fillRef>
          <a:effectRef idx="0">
            <a:schemeClr val="accent1"/>
          </a:effectRef>
          <a:fontRef idx="minor">
            <a:schemeClr val="tx1"/>
          </a:fontRef>
        </p:style>
      </p:cxnSp>
      <p:sp>
        <p:nvSpPr>
          <p:cNvPr id="71" name="Oval 70">
            <a:extLst>
              <a:ext uri="{FF2B5EF4-FFF2-40B4-BE49-F238E27FC236}">
                <a16:creationId xmlns:a16="http://schemas.microsoft.com/office/drawing/2014/main" id="{A49E31F0-AAD9-FDB4-973B-AD23900E49A1}"/>
              </a:ext>
            </a:extLst>
          </p:cNvPr>
          <p:cNvSpPr/>
          <p:nvPr/>
        </p:nvSpPr>
        <p:spPr>
          <a:xfrm>
            <a:off x="11256443" y="5342286"/>
            <a:ext cx="79686" cy="89433"/>
          </a:xfrm>
          <a:prstGeom prst="ellipse">
            <a:avLst/>
          </a:prstGeom>
          <a:noFill/>
          <a:ln>
            <a:solidFill>
              <a:schemeClr val="tx1"/>
            </a:solid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u="sng"/>
          </a:p>
        </p:txBody>
      </p:sp>
      <p:sp>
        <p:nvSpPr>
          <p:cNvPr id="72" name="TextBox 71">
            <a:extLst>
              <a:ext uri="{FF2B5EF4-FFF2-40B4-BE49-F238E27FC236}">
                <a16:creationId xmlns:a16="http://schemas.microsoft.com/office/drawing/2014/main" id="{F8E02BFC-C668-0F1B-6C10-303CD5BA98A7}"/>
              </a:ext>
            </a:extLst>
          </p:cNvPr>
          <p:cNvSpPr txBox="1"/>
          <p:nvPr/>
        </p:nvSpPr>
        <p:spPr>
          <a:xfrm>
            <a:off x="11296286" y="5418505"/>
            <a:ext cx="397866" cy="215444"/>
          </a:xfrm>
          <a:prstGeom prst="rect">
            <a:avLst/>
          </a:prstGeom>
          <a:noFill/>
        </p:spPr>
        <p:txBody>
          <a:bodyPr wrap="none" rtlCol="0">
            <a:spAutoFit/>
          </a:bodyPr>
          <a:lstStyle/>
          <a:p>
            <a:r>
              <a:rPr lang="en-GB" sz="800"/>
              <a:t>pin 7</a:t>
            </a:r>
          </a:p>
        </p:txBody>
      </p:sp>
      <p:cxnSp>
        <p:nvCxnSpPr>
          <p:cNvPr id="73" name="Straight Connector 72">
            <a:extLst>
              <a:ext uri="{FF2B5EF4-FFF2-40B4-BE49-F238E27FC236}">
                <a16:creationId xmlns:a16="http://schemas.microsoft.com/office/drawing/2014/main" id="{9DB01020-10B6-C7D4-49B6-67CB5887D622}"/>
              </a:ext>
            </a:extLst>
          </p:cNvPr>
          <p:cNvCxnSpPr>
            <a:cxnSpLocks/>
          </p:cNvCxnSpPr>
          <p:nvPr/>
        </p:nvCxnSpPr>
        <p:spPr>
          <a:xfrm>
            <a:off x="10901174" y="5526229"/>
            <a:ext cx="355269" cy="3727"/>
          </a:xfrm>
          <a:prstGeom prst="line">
            <a:avLst/>
          </a:prstGeom>
          <a:ln>
            <a:solidFill>
              <a:schemeClr val="tx1"/>
            </a:solidFill>
            <a:prstDash val="dash"/>
          </a:ln>
          <a:effectLst/>
        </p:spPr>
        <p:style>
          <a:lnRef idx="1">
            <a:schemeClr val="accent1"/>
          </a:lnRef>
          <a:fillRef idx="0">
            <a:schemeClr val="accent1"/>
          </a:fillRef>
          <a:effectRef idx="0">
            <a:schemeClr val="accent1"/>
          </a:effectRef>
          <a:fontRef idx="minor">
            <a:schemeClr val="tx1"/>
          </a:fontRef>
        </p:style>
      </p:cxnSp>
      <p:sp>
        <p:nvSpPr>
          <p:cNvPr id="74" name="Oval 73">
            <a:extLst>
              <a:ext uri="{FF2B5EF4-FFF2-40B4-BE49-F238E27FC236}">
                <a16:creationId xmlns:a16="http://schemas.microsoft.com/office/drawing/2014/main" id="{C4655CE7-6299-3DDE-4F2E-14440ECFF2BE}"/>
              </a:ext>
            </a:extLst>
          </p:cNvPr>
          <p:cNvSpPr/>
          <p:nvPr/>
        </p:nvSpPr>
        <p:spPr>
          <a:xfrm>
            <a:off x="11256443" y="5481511"/>
            <a:ext cx="79686" cy="89433"/>
          </a:xfrm>
          <a:prstGeom prst="ellipse">
            <a:avLst/>
          </a:prstGeom>
          <a:noFill/>
          <a:ln>
            <a:solidFill>
              <a:schemeClr val="tx1"/>
            </a:solid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u="sng"/>
          </a:p>
        </p:txBody>
      </p:sp>
      <p:sp>
        <p:nvSpPr>
          <p:cNvPr id="75" name="TextBox 74">
            <a:extLst>
              <a:ext uri="{FF2B5EF4-FFF2-40B4-BE49-F238E27FC236}">
                <a16:creationId xmlns:a16="http://schemas.microsoft.com/office/drawing/2014/main" id="{6A88EB6C-F665-00E5-A83A-0A9FCFC16D16}"/>
              </a:ext>
            </a:extLst>
          </p:cNvPr>
          <p:cNvSpPr txBox="1"/>
          <p:nvPr/>
        </p:nvSpPr>
        <p:spPr>
          <a:xfrm rot="5400000">
            <a:off x="11145211" y="5543793"/>
            <a:ext cx="381836" cy="369332"/>
          </a:xfrm>
          <a:prstGeom prst="rect">
            <a:avLst/>
          </a:prstGeom>
          <a:noFill/>
        </p:spPr>
        <p:txBody>
          <a:bodyPr wrap="none" rtlCol="0">
            <a:spAutoFit/>
          </a:bodyPr>
          <a:lstStyle/>
          <a:p>
            <a:r>
              <a:rPr lang="en-GB"/>
              <a:t>...</a:t>
            </a:r>
            <a:endParaRPr lang="LID4096"/>
          </a:p>
        </p:txBody>
      </p:sp>
      <p:sp>
        <p:nvSpPr>
          <p:cNvPr id="76" name="TextBox 75">
            <a:extLst>
              <a:ext uri="{FF2B5EF4-FFF2-40B4-BE49-F238E27FC236}">
                <a16:creationId xmlns:a16="http://schemas.microsoft.com/office/drawing/2014/main" id="{DB808CC8-7D4D-A7F3-708C-F670961F5DB7}"/>
              </a:ext>
            </a:extLst>
          </p:cNvPr>
          <p:cNvSpPr txBox="1"/>
          <p:nvPr/>
        </p:nvSpPr>
        <p:spPr>
          <a:xfrm>
            <a:off x="10878042" y="4150819"/>
            <a:ext cx="762709" cy="369332"/>
          </a:xfrm>
          <a:prstGeom prst="rect">
            <a:avLst/>
          </a:prstGeom>
          <a:noFill/>
        </p:spPr>
        <p:txBody>
          <a:bodyPr wrap="none" rtlCol="0">
            <a:spAutoFit/>
          </a:bodyPr>
          <a:lstStyle/>
          <a:p>
            <a:r>
              <a:rPr lang="en-GB"/>
              <a:t>Port E</a:t>
            </a:r>
            <a:endParaRPr lang="LID4096"/>
          </a:p>
        </p:txBody>
      </p:sp>
      <p:sp>
        <p:nvSpPr>
          <p:cNvPr id="79" name="TextBox 78">
            <a:extLst>
              <a:ext uri="{FF2B5EF4-FFF2-40B4-BE49-F238E27FC236}">
                <a16:creationId xmlns:a16="http://schemas.microsoft.com/office/drawing/2014/main" id="{9C17E197-B886-D02A-92B0-754F3025A571}"/>
              </a:ext>
            </a:extLst>
          </p:cNvPr>
          <p:cNvSpPr txBox="1"/>
          <p:nvPr/>
        </p:nvSpPr>
        <p:spPr>
          <a:xfrm>
            <a:off x="10878042" y="5990962"/>
            <a:ext cx="756297" cy="369332"/>
          </a:xfrm>
          <a:prstGeom prst="rect">
            <a:avLst/>
          </a:prstGeom>
          <a:noFill/>
        </p:spPr>
        <p:txBody>
          <a:bodyPr wrap="none" rtlCol="0">
            <a:spAutoFit/>
          </a:bodyPr>
          <a:lstStyle/>
          <a:p>
            <a:r>
              <a:rPr lang="en-GB"/>
              <a:t>Port F</a:t>
            </a:r>
            <a:endParaRPr lang="LID4096"/>
          </a:p>
        </p:txBody>
      </p:sp>
      <p:sp>
        <p:nvSpPr>
          <p:cNvPr id="81" name="Rectangle 80">
            <a:extLst>
              <a:ext uri="{FF2B5EF4-FFF2-40B4-BE49-F238E27FC236}">
                <a16:creationId xmlns:a16="http://schemas.microsoft.com/office/drawing/2014/main" id="{5D82986E-C558-1B1C-BB86-E47001682729}"/>
              </a:ext>
            </a:extLst>
          </p:cNvPr>
          <p:cNvSpPr/>
          <p:nvPr/>
        </p:nvSpPr>
        <p:spPr>
          <a:xfrm>
            <a:off x="10830863" y="1921712"/>
            <a:ext cx="863289" cy="318796"/>
          </a:xfrm>
          <a:prstGeom prst="rect">
            <a:avLst/>
          </a:prstGeom>
          <a:solidFill>
            <a:schemeClr val="bg1">
              <a:lumMod val="85000"/>
            </a:schemeClr>
          </a:solidFill>
          <a:ln w="12700"/>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82" name="TextBox 81">
            <a:extLst>
              <a:ext uri="{FF2B5EF4-FFF2-40B4-BE49-F238E27FC236}">
                <a16:creationId xmlns:a16="http://schemas.microsoft.com/office/drawing/2014/main" id="{8A09E6B4-68D9-990A-038B-859ECADE9937}"/>
              </a:ext>
            </a:extLst>
          </p:cNvPr>
          <p:cNvSpPr txBox="1"/>
          <p:nvPr/>
        </p:nvSpPr>
        <p:spPr>
          <a:xfrm rot="5400000">
            <a:off x="11145211" y="1901784"/>
            <a:ext cx="381836" cy="369332"/>
          </a:xfrm>
          <a:prstGeom prst="rect">
            <a:avLst/>
          </a:prstGeom>
          <a:noFill/>
        </p:spPr>
        <p:txBody>
          <a:bodyPr wrap="none" rtlCol="0">
            <a:spAutoFit/>
          </a:bodyPr>
          <a:lstStyle/>
          <a:p>
            <a:r>
              <a:rPr lang="en-GB"/>
              <a:t>...</a:t>
            </a:r>
            <a:endParaRPr lang="LID4096"/>
          </a:p>
        </p:txBody>
      </p:sp>
      <p:sp>
        <p:nvSpPr>
          <p:cNvPr id="83" name="TextBox 82">
            <a:extLst>
              <a:ext uri="{FF2B5EF4-FFF2-40B4-BE49-F238E27FC236}">
                <a16:creationId xmlns:a16="http://schemas.microsoft.com/office/drawing/2014/main" id="{14AD9FD8-8A2E-3451-4216-FABFFFF4CA61}"/>
              </a:ext>
            </a:extLst>
          </p:cNvPr>
          <p:cNvSpPr txBox="1"/>
          <p:nvPr/>
        </p:nvSpPr>
        <p:spPr>
          <a:xfrm>
            <a:off x="11296286" y="6269843"/>
            <a:ext cx="397866" cy="215444"/>
          </a:xfrm>
          <a:prstGeom prst="rect">
            <a:avLst/>
          </a:prstGeom>
          <a:noFill/>
        </p:spPr>
        <p:txBody>
          <a:bodyPr wrap="none" rtlCol="0">
            <a:spAutoFit/>
          </a:bodyPr>
          <a:lstStyle/>
          <a:p>
            <a:r>
              <a:rPr lang="en-GB" sz="800">
                <a:solidFill>
                  <a:schemeClr val="accent2">
                    <a:lumMod val="75000"/>
                  </a:schemeClr>
                </a:solidFill>
              </a:rPr>
              <a:t>pin 0</a:t>
            </a:r>
          </a:p>
        </p:txBody>
      </p:sp>
      <p:cxnSp>
        <p:nvCxnSpPr>
          <p:cNvPr id="84" name="Straight Connector 83">
            <a:extLst>
              <a:ext uri="{FF2B5EF4-FFF2-40B4-BE49-F238E27FC236}">
                <a16:creationId xmlns:a16="http://schemas.microsoft.com/office/drawing/2014/main" id="{AFAB9331-9A2E-8229-E30B-6BF62581D29E}"/>
              </a:ext>
            </a:extLst>
          </p:cNvPr>
          <p:cNvCxnSpPr>
            <a:cxnSpLocks/>
          </p:cNvCxnSpPr>
          <p:nvPr/>
        </p:nvCxnSpPr>
        <p:spPr>
          <a:xfrm>
            <a:off x="10901174" y="6377567"/>
            <a:ext cx="355269" cy="3727"/>
          </a:xfrm>
          <a:prstGeom prst="line">
            <a:avLst/>
          </a:prstGeom>
          <a:ln>
            <a:solidFill>
              <a:schemeClr val="accent2">
                <a:lumMod val="75000"/>
              </a:schemeClr>
            </a:solidFill>
            <a:prstDash val="dash"/>
          </a:ln>
          <a:effectLst/>
        </p:spPr>
        <p:style>
          <a:lnRef idx="1">
            <a:schemeClr val="accent1"/>
          </a:lnRef>
          <a:fillRef idx="0">
            <a:schemeClr val="accent1"/>
          </a:fillRef>
          <a:effectRef idx="0">
            <a:schemeClr val="accent1"/>
          </a:effectRef>
          <a:fontRef idx="minor">
            <a:schemeClr val="tx1"/>
          </a:fontRef>
        </p:style>
      </p:cxnSp>
      <p:sp>
        <p:nvSpPr>
          <p:cNvPr id="85" name="Oval 84">
            <a:extLst>
              <a:ext uri="{FF2B5EF4-FFF2-40B4-BE49-F238E27FC236}">
                <a16:creationId xmlns:a16="http://schemas.microsoft.com/office/drawing/2014/main" id="{C059E42B-9FE2-CF9C-73F4-3B64E0F1C397}"/>
              </a:ext>
            </a:extLst>
          </p:cNvPr>
          <p:cNvSpPr/>
          <p:nvPr/>
        </p:nvSpPr>
        <p:spPr>
          <a:xfrm>
            <a:off x="11256443" y="6332849"/>
            <a:ext cx="79686" cy="89433"/>
          </a:xfrm>
          <a:prstGeom prst="ellipse">
            <a:avLst/>
          </a:prstGeom>
          <a:noFill/>
          <a:ln>
            <a:solidFill>
              <a:schemeClr val="accent2">
                <a:lumMod val="75000"/>
              </a:schemeClr>
            </a:solid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u="sng"/>
          </a:p>
        </p:txBody>
      </p:sp>
      <p:sp>
        <p:nvSpPr>
          <p:cNvPr id="121" name="Rectangle 120">
            <a:extLst>
              <a:ext uri="{FF2B5EF4-FFF2-40B4-BE49-F238E27FC236}">
                <a16:creationId xmlns:a16="http://schemas.microsoft.com/office/drawing/2014/main" id="{80E8F5DB-670D-1846-1F5E-FCF91A4E8133}"/>
              </a:ext>
            </a:extLst>
          </p:cNvPr>
          <p:cNvSpPr/>
          <p:nvPr/>
        </p:nvSpPr>
        <p:spPr>
          <a:xfrm>
            <a:off x="10802122" y="6420385"/>
            <a:ext cx="908134" cy="215444"/>
          </a:xfrm>
          <a:prstGeom prst="rect">
            <a:avLst/>
          </a:prstGeom>
          <a:gradFill>
            <a:gsLst>
              <a:gs pos="78900">
                <a:schemeClr val="bg1"/>
              </a:gs>
              <a:gs pos="0">
                <a:schemeClr val="accent1">
                  <a:lumMod val="5000"/>
                  <a:lumOff val="95000"/>
                  <a:alpha val="0"/>
                </a:schemeClr>
              </a:gs>
              <a:gs pos="100000">
                <a:schemeClr val="bg1"/>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122" name="Rectangle 121">
            <a:extLst>
              <a:ext uri="{FF2B5EF4-FFF2-40B4-BE49-F238E27FC236}">
                <a16:creationId xmlns:a16="http://schemas.microsoft.com/office/drawing/2014/main" id="{7B4299E4-9101-6F34-92F9-9FB43EE297EF}"/>
              </a:ext>
            </a:extLst>
          </p:cNvPr>
          <p:cNvSpPr/>
          <p:nvPr/>
        </p:nvSpPr>
        <p:spPr>
          <a:xfrm rot="10800000">
            <a:off x="10820558" y="1885826"/>
            <a:ext cx="908134" cy="215444"/>
          </a:xfrm>
          <a:prstGeom prst="rect">
            <a:avLst/>
          </a:prstGeom>
          <a:gradFill>
            <a:gsLst>
              <a:gs pos="78900">
                <a:schemeClr val="bg1"/>
              </a:gs>
              <a:gs pos="0">
                <a:schemeClr val="accent1">
                  <a:lumMod val="5000"/>
                  <a:lumOff val="95000"/>
                  <a:alpha val="0"/>
                </a:schemeClr>
              </a:gs>
              <a:gs pos="100000">
                <a:schemeClr val="bg1"/>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123" name="Rectangle 122">
            <a:extLst>
              <a:ext uri="{FF2B5EF4-FFF2-40B4-BE49-F238E27FC236}">
                <a16:creationId xmlns:a16="http://schemas.microsoft.com/office/drawing/2014/main" id="{CA009D67-FB61-C6A4-9630-CB400D27049A}"/>
              </a:ext>
            </a:extLst>
          </p:cNvPr>
          <p:cNvSpPr/>
          <p:nvPr/>
        </p:nvSpPr>
        <p:spPr>
          <a:xfrm rot="5400000">
            <a:off x="5819793" y="216258"/>
            <a:ext cx="1239500" cy="3109219"/>
          </a:xfrm>
          <a:prstGeom prst="rect">
            <a:avLst/>
          </a:prstGeom>
          <a:gradFill>
            <a:gsLst>
              <a:gs pos="78900">
                <a:schemeClr val="bg1"/>
              </a:gs>
              <a:gs pos="0">
                <a:schemeClr val="accent1">
                  <a:lumMod val="5000"/>
                  <a:lumOff val="95000"/>
                  <a:alpha val="0"/>
                </a:schemeClr>
              </a:gs>
              <a:gs pos="100000">
                <a:schemeClr val="bg1"/>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124" name="TextBox 123">
            <a:extLst>
              <a:ext uri="{FF2B5EF4-FFF2-40B4-BE49-F238E27FC236}">
                <a16:creationId xmlns:a16="http://schemas.microsoft.com/office/drawing/2014/main" id="{23DCA0F8-2546-EF6C-F250-29691EF3121B}"/>
              </a:ext>
            </a:extLst>
          </p:cNvPr>
          <p:cNvSpPr txBox="1"/>
          <p:nvPr/>
        </p:nvSpPr>
        <p:spPr>
          <a:xfrm>
            <a:off x="7345238" y="3059155"/>
            <a:ext cx="1236729" cy="3064563"/>
          </a:xfrm>
          <a:prstGeom prst="rect">
            <a:avLst/>
          </a:prstGeom>
          <a:solidFill>
            <a:schemeClr val="accent6">
              <a:lumMod val="40000"/>
              <a:lumOff val="60000"/>
            </a:schemeClr>
          </a:solidFill>
          <a:ln>
            <a:solidFill>
              <a:schemeClr val="accent6">
                <a:lumMod val="75000"/>
              </a:schemeClr>
            </a:solidFill>
          </a:ln>
        </p:spPr>
        <p:txBody>
          <a:bodyPr wrap="square" rtlCol="0">
            <a:noAutofit/>
          </a:bodyPr>
          <a:lstStyle/>
          <a:p>
            <a:pPr algn="ctr"/>
            <a:r>
              <a:rPr lang="en-US"/>
              <a:t>EXTI</a:t>
            </a:r>
            <a:br>
              <a:rPr lang="en-US"/>
            </a:br>
            <a:endParaRPr lang="en-US" sz="1050"/>
          </a:p>
        </p:txBody>
      </p:sp>
      <p:sp>
        <p:nvSpPr>
          <p:cNvPr id="125" name="TextBox 124">
            <a:extLst>
              <a:ext uri="{FF2B5EF4-FFF2-40B4-BE49-F238E27FC236}">
                <a16:creationId xmlns:a16="http://schemas.microsoft.com/office/drawing/2014/main" id="{C3B88C81-6732-F432-55CF-296A68BCC5D7}"/>
              </a:ext>
            </a:extLst>
          </p:cNvPr>
          <p:cNvSpPr txBox="1"/>
          <p:nvPr/>
        </p:nvSpPr>
        <p:spPr>
          <a:xfrm>
            <a:off x="7982968" y="3435239"/>
            <a:ext cx="593327" cy="2677656"/>
          </a:xfrm>
          <a:prstGeom prst="rect">
            <a:avLst/>
          </a:prstGeom>
          <a:noFill/>
        </p:spPr>
        <p:txBody>
          <a:bodyPr wrap="square">
            <a:spAutoFit/>
          </a:bodyPr>
          <a:lstStyle/>
          <a:p>
            <a:pPr algn="r"/>
            <a:r>
              <a:rPr lang="en-US" sz="1050"/>
              <a:t>EXTI0</a:t>
            </a:r>
            <a:br>
              <a:rPr lang="en-US" sz="1050"/>
            </a:br>
            <a:r>
              <a:rPr lang="en-US" sz="1050"/>
              <a:t>EXTI1</a:t>
            </a:r>
            <a:br>
              <a:rPr lang="en-US" sz="1050"/>
            </a:br>
            <a:r>
              <a:rPr lang="en-US" sz="1050"/>
              <a:t>EXTI2</a:t>
            </a:r>
            <a:br>
              <a:rPr lang="en-US" sz="1050"/>
            </a:br>
            <a:r>
              <a:rPr lang="en-US" sz="1050"/>
              <a:t>EXTI3</a:t>
            </a:r>
            <a:br>
              <a:rPr lang="en-US" sz="1050"/>
            </a:br>
            <a:r>
              <a:rPr lang="en-US" sz="1050"/>
              <a:t>EXTI4</a:t>
            </a:r>
          </a:p>
          <a:p>
            <a:pPr algn="r"/>
            <a:r>
              <a:rPr lang="en-US" sz="1050"/>
              <a:t>EXTI5</a:t>
            </a:r>
            <a:br>
              <a:rPr lang="en-US" sz="1050"/>
            </a:br>
            <a:r>
              <a:rPr lang="en-US" sz="1050"/>
              <a:t>EXTI6</a:t>
            </a:r>
            <a:br>
              <a:rPr lang="en-US" sz="1050"/>
            </a:br>
            <a:r>
              <a:rPr lang="en-US" sz="1050"/>
              <a:t>EXTI7</a:t>
            </a:r>
            <a:br>
              <a:rPr lang="en-US" sz="1050"/>
            </a:br>
            <a:r>
              <a:rPr lang="en-US" sz="1050"/>
              <a:t>EXTI8</a:t>
            </a:r>
            <a:br>
              <a:rPr lang="en-US" sz="1050"/>
            </a:br>
            <a:r>
              <a:rPr lang="en-US" sz="1050"/>
              <a:t>EXTI9</a:t>
            </a:r>
            <a:br>
              <a:rPr lang="en-US" sz="1050"/>
            </a:br>
            <a:r>
              <a:rPr lang="en-US" sz="1050"/>
              <a:t>EXTI10</a:t>
            </a:r>
            <a:br>
              <a:rPr lang="en-US" sz="1050"/>
            </a:br>
            <a:r>
              <a:rPr lang="en-US" sz="1050"/>
              <a:t>EXTI11</a:t>
            </a:r>
            <a:br>
              <a:rPr lang="en-US" sz="1050"/>
            </a:br>
            <a:r>
              <a:rPr lang="en-US" sz="1050"/>
              <a:t>EXTI12</a:t>
            </a:r>
            <a:br>
              <a:rPr lang="en-US" sz="1050"/>
            </a:br>
            <a:r>
              <a:rPr lang="en-US" sz="1050"/>
              <a:t>EXTI13</a:t>
            </a:r>
            <a:br>
              <a:rPr lang="en-US" sz="1050"/>
            </a:br>
            <a:r>
              <a:rPr lang="en-US" sz="1050"/>
              <a:t>EXTI14</a:t>
            </a:r>
            <a:br>
              <a:rPr lang="en-US" sz="1050"/>
            </a:br>
            <a:r>
              <a:rPr lang="en-US" sz="1050"/>
              <a:t>EXTI15</a:t>
            </a:r>
            <a:endParaRPr lang="LID4096" sz="3600" dirty="0"/>
          </a:p>
        </p:txBody>
      </p:sp>
      <p:cxnSp>
        <p:nvCxnSpPr>
          <p:cNvPr id="127" name="Straight Arrow Connector 126">
            <a:extLst>
              <a:ext uri="{FF2B5EF4-FFF2-40B4-BE49-F238E27FC236}">
                <a16:creationId xmlns:a16="http://schemas.microsoft.com/office/drawing/2014/main" id="{2C485B81-5CB7-C4C8-0555-B94EFD61945D}"/>
              </a:ext>
            </a:extLst>
          </p:cNvPr>
          <p:cNvCxnSpPr/>
          <p:nvPr/>
        </p:nvCxnSpPr>
        <p:spPr>
          <a:xfrm flipH="1">
            <a:off x="8582613" y="3871274"/>
            <a:ext cx="531213" cy="0"/>
          </a:xfrm>
          <a:prstGeom prst="straightConnector1">
            <a:avLst/>
          </a:prstGeom>
          <a:ln w="50800">
            <a:solidFill>
              <a:schemeClr val="bg2">
                <a:lumMod val="90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128" name="Straight Arrow Connector 127">
            <a:extLst>
              <a:ext uri="{FF2B5EF4-FFF2-40B4-BE49-F238E27FC236}">
                <a16:creationId xmlns:a16="http://schemas.microsoft.com/office/drawing/2014/main" id="{2094F033-1EA8-60A1-7BB3-C114DAC77596}"/>
              </a:ext>
            </a:extLst>
          </p:cNvPr>
          <p:cNvCxnSpPr/>
          <p:nvPr/>
        </p:nvCxnSpPr>
        <p:spPr>
          <a:xfrm flipH="1">
            <a:off x="8582613" y="4025771"/>
            <a:ext cx="531213" cy="0"/>
          </a:xfrm>
          <a:prstGeom prst="straightConnector1">
            <a:avLst/>
          </a:prstGeom>
          <a:ln w="50800">
            <a:solidFill>
              <a:schemeClr val="bg2">
                <a:lumMod val="90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129" name="Straight Arrow Connector 128">
            <a:extLst>
              <a:ext uri="{FF2B5EF4-FFF2-40B4-BE49-F238E27FC236}">
                <a16:creationId xmlns:a16="http://schemas.microsoft.com/office/drawing/2014/main" id="{E81984CA-C4F6-4DEE-F6D1-4E8B51BA9FD9}"/>
              </a:ext>
            </a:extLst>
          </p:cNvPr>
          <p:cNvCxnSpPr/>
          <p:nvPr/>
        </p:nvCxnSpPr>
        <p:spPr>
          <a:xfrm flipH="1">
            <a:off x="8579442" y="4201242"/>
            <a:ext cx="531213" cy="0"/>
          </a:xfrm>
          <a:prstGeom prst="straightConnector1">
            <a:avLst/>
          </a:prstGeom>
          <a:ln w="50800">
            <a:solidFill>
              <a:schemeClr val="bg2">
                <a:lumMod val="90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130" name="Straight Arrow Connector 129">
            <a:extLst>
              <a:ext uri="{FF2B5EF4-FFF2-40B4-BE49-F238E27FC236}">
                <a16:creationId xmlns:a16="http://schemas.microsoft.com/office/drawing/2014/main" id="{0C96A6DC-39FE-D6B2-3AD6-BF1C2D91A745}"/>
              </a:ext>
            </a:extLst>
          </p:cNvPr>
          <p:cNvCxnSpPr/>
          <p:nvPr/>
        </p:nvCxnSpPr>
        <p:spPr>
          <a:xfrm flipH="1">
            <a:off x="8579442" y="4362729"/>
            <a:ext cx="531213" cy="0"/>
          </a:xfrm>
          <a:prstGeom prst="straightConnector1">
            <a:avLst/>
          </a:prstGeom>
          <a:ln w="50800">
            <a:solidFill>
              <a:schemeClr val="bg2">
                <a:lumMod val="90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131" name="Straight Arrow Connector 130">
            <a:extLst>
              <a:ext uri="{FF2B5EF4-FFF2-40B4-BE49-F238E27FC236}">
                <a16:creationId xmlns:a16="http://schemas.microsoft.com/office/drawing/2014/main" id="{3632095A-A9FC-085C-CBAC-6BACAB658B0C}"/>
              </a:ext>
            </a:extLst>
          </p:cNvPr>
          <p:cNvCxnSpPr/>
          <p:nvPr/>
        </p:nvCxnSpPr>
        <p:spPr>
          <a:xfrm flipH="1">
            <a:off x="8579442" y="4521023"/>
            <a:ext cx="531213" cy="0"/>
          </a:xfrm>
          <a:prstGeom prst="straightConnector1">
            <a:avLst/>
          </a:prstGeom>
          <a:ln w="50800">
            <a:solidFill>
              <a:schemeClr val="bg2">
                <a:lumMod val="90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132" name="Straight Arrow Connector 131">
            <a:extLst>
              <a:ext uri="{FF2B5EF4-FFF2-40B4-BE49-F238E27FC236}">
                <a16:creationId xmlns:a16="http://schemas.microsoft.com/office/drawing/2014/main" id="{CC23F20A-4854-68AE-E981-E78241F1A1E0}"/>
              </a:ext>
            </a:extLst>
          </p:cNvPr>
          <p:cNvCxnSpPr/>
          <p:nvPr/>
        </p:nvCxnSpPr>
        <p:spPr>
          <a:xfrm flipH="1">
            <a:off x="8579442" y="4684587"/>
            <a:ext cx="531213" cy="0"/>
          </a:xfrm>
          <a:prstGeom prst="straightConnector1">
            <a:avLst/>
          </a:prstGeom>
          <a:ln w="50800">
            <a:solidFill>
              <a:schemeClr val="bg2">
                <a:lumMod val="9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133" name="Rectangle 132">
            <a:extLst>
              <a:ext uri="{FF2B5EF4-FFF2-40B4-BE49-F238E27FC236}">
                <a16:creationId xmlns:a16="http://schemas.microsoft.com/office/drawing/2014/main" id="{E3178896-C25C-190A-1E70-9BF38A986B44}"/>
              </a:ext>
            </a:extLst>
          </p:cNvPr>
          <p:cNvSpPr/>
          <p:nvPr/>
        </p:nvSpPr>
        <p:spPr>
          <a:xfrm>
            <a:off x="8591001" y="4150818"/>
            <a:ext cx="908134" cy="647781"/>
          </a:xfrm>
          <a:prstGeom prst="rect">
            <a:avLst/>
          </a:prstGeom>
          <a:gradFill>
            <a:gsLst>
              <a:gs pos="78900">
                <a:schemeClr val="bg1"/>
              </a:gs>
              <a:gs pos="0">
                <a:schemeClr val="accent1">
                  <a:lumMod val="5000"/>
                  <a:lumOff val="95000"/>
                  <a:alpha val="0"/>
                </a:schemeClr>
              </a:gs>
              <a:gs pos="100000">
                <a:schemeClr val="bg1"/>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134" name="TextBox 133">
            <a:extLst>
              <a:ext uri="{FF2B5EF4-FFF2-40B4-BE49-F238E27FC236}">
                <a16:creationId xmlns:a16="http://schemas.microsoft.com/office/drawing/2014/main" id="{47A73D42-438A-BCD8-3EFA-010C2BD5A618}"/>
              </a:ext>
            </a:extLst>
          </p:cNvPr>
          <p:cNvSpPr txBox="1"/>
          <p:nvPr/>
        </p:nvSpPr>
        <p:spPr>
          <a:xfrm>
            <a:off x="7336800" y="3435239"/>
            <a:ext cx="849594" cy="1223412"/>
          </a:xfrm>
          <a:prstGeom prst="rect">
            <a:avLst/>
          </a:prstGeom>
          <a:noFill/>
        </p:spPr>
        <p:txBody>
          <a:bodyPr wrap="square">
            <a:spAutoFit/>
          </a:bodyPr>
          <a:lstStyle/>
          <a:p>
            <a:r>
              <a:rPr lang="en-US" sz="1050"/>
              <a:t>EXTI0</a:t>
            </a:r>
            <a:br>
              <a:rPr lang="en-US" sz="1050"/>
            </a:br>
            <a:r>
              <a:rPr lang="en-US" sz="1050"/>
              <a:t>EXTI1</a:t>
            </a:r>
            <a:br>
              <a:rPr lang="en-US" sz="1050"/>
            </a:br>
            <a:r>
              <a:rPr lang="en-US" sz="1050"/>
              <a:t>EXTI2</a:t>
            </a:r>
            <a:br>
              <a:rPr lang="en-US" sz="1050"/>
            </a:br>
            <a:r>
              <a:rPr lang="en-US" sz="1050"/>
              <a:t>EXTI3</a:t>
            </a:r>
            <a:br>
              <a:rPr lang="en-US" sz="1050"/>
            </a:br>
            <a:r>
              <a:rPr lang="en-US" sz="1050"/>
              <a:t>EXTI4</a:t>
            </a:r>
          </a:p>
          <a:p>
            <a:r>
              <a:rPr lang="en-US" sz="1050"/>
              <a:t>EXTI5_9</a:t>
            </a:r>
            <a:br>
              <a:rPr lang="en-US" sz="1050"/>
            </a:br>
            <a:r>
              <a:rPr lang="en-US" sz="1050"/>
              <a:t>EXTI10_15</a:t>
            </a:r>
          </a:p>
        </p:txBody>
      </p:sp>
      <p:sp>
        <p:nvSpPr>
          <p:cNvPr id="135" name="TextBox 134">
            <a:extLst>
              <a:ext uri="{FF2B5EF4-FFF2-40B4-BE49-F238E27FC236}">
                <a16:creationId xmlns:a16="http://schemas.microsoft.com/office/drawing/2014/main" id="{513432C6-0AED-DC43-A6DF-FA232E5DF78B}"/>
              </a:ext>
            </a:extLst>
          </p:cNvPr>
          <p:cNvSpPr txBox="1"/>
          <p:nvPr/>
        </p:nvSpPr>
        <p:spPr>
          <a:xfrm>
            <a:off x="4025651" y="3050231"/>
            <a:ext cx="2535215" cy="1761580"/>
          </a:xfrm>
          <a:prstGeom prst="rect">
            <a:avLst/>
          </a:prstGeom>
          <a:solidFill>
            <a:schemeClr val="accent1">
              <a:lumMod val="60000"/>
              <a:lumOff val="40000"/>
            </a:schemeClr>
          </a:solidFill>
          <a:ln>
            <a:solidFill>
              <a:schemeClr val="tx2">
                <a:lumMod val="75000"/>
                <a:lumOff val="25000"/>
              </a:schemeClr>
            </a:solidFill>
          </a:ln>
        </p:spPr>
        <p:txBody>
          <a:bodyPr wrap="square" rtlCol="0">
            <a:noAutofit/>
          </a:bodyPr>
          <a:lstStyle/>
          <a:p>
            <a:pPr algn="ctr"/>
            <a:endParaRPr lang="en-US" sz="3600"/>
          </a:p>
          <a:p>
            <a:pPr algn="ctr"/>
            <a:r>
              <a:rPr lang="en-US" sz="3600"/>
              <a:t>PFIC</a:t>
            </a:r>
            <a:endParaRPr lang="LID4096" sz="6000" dirty="0"/>
          </a:p>
        </p:txBody>
      </p:sp>
      <p:cxnSp>
        <p:nvCxnSpPr>
          <p:cNvPr id="139" name="Straight Arrow Connector 138">
            <a:extLst>
              <a:ext uri="{FF2B5EF4-FFF2-40B4-BE49-F238E27FC236}">
                <a16:creationId xmlns:a16="http://schemas.microsoft.com/office/drawing/2014/main" id="{FA9EF79E-B293-8655-9C20-C41A7564F2D6}"/>
              </a:ext>
            </a:extLst>
          </p:cNvPr>
          <p:cNvCxnSpPr/>
          <p:nvPr/>
        </p:nvCxnSpPr>
        <p:spPr>
          <a:xfrm flipH="1">
            <a:off x="8582613" y="3701641"/>
            <a:ext cx="531213" cy="0"/>
          </a:xfrm>
          <a:prstGeom prst="straightConnector1">
            <a:avLst/>
          </a:prstGeom>
          <a:ln w="50800">
            <a:solidFill>
              <a:schemeClr val="bg2">
                <a:lumMod val="90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140" name="Straight Arrow Connector 139">
            <a:extLst>
              <a:ext uri="{FF2B5EF4-FFF2-40B4-BE49-F238E27FC236}">
                <a16:creationId xmlns:a16="http://schemas.microsoft.com/office/drawing/2014/main" id="{4394C91B-EB04-9E7F-956B-EFCB5F31F7FF}"/>
              </a:ext>
            </a:extLst>
          </p:cNvPr>
          <p:cNvCxnSpPr/>
          <p:nvPr/>
        </p:nvCxnSpPr>
        <p:spPr>
          <a:xfrm flipH="1">
            <a:off x="8582613" y="3532008"/>
            <a:ext cx="531213" cy="0"/>
          </a:xfrm>
          <a:prstGeom prst="straightConnector1">
            <a:avLst/>
          </a:prstGeom>
          <a:ln w="50800">
            <a:solidFill>
              <a:schemeClr val="bg2">
                <a:lumMod val="9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141" name="TextBox 140">
            <a:extLst>
              <a:ext uri="{FF2B5EF4-FFF2-40B4-BE49-F238E27FC236}">
                <a16:creationId xmlns:a16="http://schemas.microsoft.com/office/drawing/2014/main" id="{5F0C2E23-FAF4-4FCB-505F-68A2261A692E}"/>
              </a:ext>
            </a:extLst>
          </p:cNvPr>
          <p:cNvSpPr txBox="1"/>
          <p:nvPr/>
        </p:nvSpPr>
        <p:spPr>
          <a:xfrm>
            <a:off x="9214025" y="3610272"/>
            <a:ext cx="1452013" cy="830997"/>
          </a:xfrm>
          <a:prstGeom prst="rect">
            <a:avLst/>
          </a:prstGeom>
          <a:solidFill>
            <a:schemeClr val="bg1"/>
          </a:solidFill>
          <a:ln>
            <a:solidFill>
              <a:schemeClr val="tx1"/>
            </a:solidFill>
          </a:ln>
          <a:effectLst>
            <a:outerShdw blurRad="50800" dist="38100" dir="2700000" algn="tl" rotWithShape="0">
              <a:prstClr val="black">
                <a:alpha val="40000"/>
              </a:prstClr>
            </a:outerShdw>
          </a:effectLst>
        </p:spPr>
        <p:txBody>
          <a:bodyPr wrap="square" rtlCol="0">
            <a:spAutoFit/>
          </a:bodyPr>
          <a:lstStyle/>
          <a:p>
            <a:r>
              <a:rPr lang="sv-SE" sz="1200" dirty="0"/>
              <a:t>16 inputs. Ett per</a:t>
            </a:r>
            <a:br>
              <a:rPr lang="sv-SE" sz="1200" dirty="0"/>
            </a:br>
            <a:r>
              <a:rPr lang="sv-SE" sz="1200" i="1" dirty="0"/>
              <a:t>pinne. </a:t>
            </a:r>
            <a:r>
              <a:rPr lang="sv-SE" sz="1200" dirty="0"/>
              <a:t>Varje pinne måste väljas från en av portarna. </a:t>
            </a:r>
            <a:endParaRPr lang="LID4096" sz="1200" dirty="0"/>
          </a:p>
        </p:txBody>
      </p:sp>
    </p:spTree>
    <p:extLst>
      <p:ext uri="{BB962C8B-B14F-4D97-AF65-F5344CB8AC3E}">
        <p14:creationId xmlns:p14="http://schemas.microsoft.com/office/powerpoint/2010/main" val="3626911429"/>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DC4ACB9-5D89-A019-9E5B-29629F16B3D8}"/>
            </a:ext>
          </a:extLst>
        </p:cNvPr>
        <p:cNvGrpSpPr/>
        <p:nvPr/>
      </p:nvGrpSpPr>
      <p:grpSpPr>
        <a:xfrm>
          <a:off x="0" y="0"/>
          <a:ext cx="0" cy="0"/>
          <a:chOff x="0" y="0"/>
          <a:chExt cx="0" cy="0"/>
        </a:xfrm>
      </p:grpSpPr>
      <p:sp>
        <p:nvSpPr>
          <p:cNvPr id="136" name="Rectangle 135">
            <a:extLst>
              <a:ext uri="{FF2B5EF4-FFF2-40B4-BE49-F238E27FC236}">
                <a16:creationId xmlns:a16="http://schemas.microsoft.com/office/drawing/2014/main" id="{7A53215E-985B-6914-84DF-A508D9878004}"/>
              </a:ext>
            </a:extLst>
          </p:cNvPr>
          <p:cNvSpPr/>
          <p:nvPr/>
        </p:nvSpPr>
        <p:spPr>
          <a:xfrm>
            <a:off x="4545237" y="0"/>
            <a:ext cx="7646763" cy="182434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2" name="Title 1">
            <a:extLst>
              <a:ext uri="{FF2B5EF4-FFF2-40B4-BE49-F238E27FC236}">
                <a16:creationId xmlns:a16="http://schemas.microsoft.com/office/drawing/2014/main" id="{D4CF499F-F4CE-A700-22FA-CB2050304ED4}"/>
              </a:ext>
            </a:extLst>
          </p:cNvPr>
          <p:cNvSpPr>
            <a:spLocks noGrp="1"/>
          </p:cNvSpPr>
          <p:nvPr>
            <p:ph type="title"/>
          </p:nvPr>
        </p:nvSpPr>
        <p:spPr/>
        <p:txBody>
          <a:bodyPr/>
          <a:lstStyle/>
          <a:p>
            <a:r>
              <a:rPr lang="sv-SE" dirty="0" err="1"/>
              <a:t>Routing</a:t>
            </a:r>
            <a:br>
              <a:rPr lang="sv-SE" dirty="0"/>
            </a:br>
            <a:r>
              <a:rPr lang="sv-SE" sz="2800" dirty="0"/>
              <a:t>AFIO_EXTICR</a:t>
            </a:r>
            <a:endParaRPr lang="LID4096" sz="2800" dirty="0"/>
          </a:p>
        </p:txBody>
      </p:sp>
      <p:cxnSp>
        <p:nvCxnSpPr>
          <p:cNvPr id="4" name="Straight Arrow Connector 3">
            <a:extLst>
              <a:ext uri="{FF2B5EF4-FFF2-40B4-BE49-F238E27FC236}">
                <a16:creationId xmlns:a16="http://schemas.microsoft.com/office/drawing/2014/main" id="{5C6C7CE8-98C5-1CBE-0AD8-BFBF4DF8436F}"/>
              </a:ext>
            </a:extLst>
          </p:cNvPr>
          <p:cNvCxnSpPr/>
          <p:nvPr/>
        </p:nvCxnSpPr>
        <p:spPr>
          <a:xfrm flipH="1">
            <a:off x="6560866" y="3560881"/>
            <a:ext cx="835635" cy="0"/>
          </a:xfrm>
          <a:prstGeom prst="straightConnector1">
            <a:avLst/>
          </a:prstGeom>
          <a:ln w="38100">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5" name="Straight Arrow Connector 4">
            <a:extLst>
              <a:ext uri="{FF2B5EF4-FFF2-40B4-BE49-F238E27FC236}">
                <a16:creationId xmlns:a16="http://schemas.microsoft.com/office/drawing/2014/main" id="{BF63DE74-F504-BE36-D880-DCB2B4AA1FA4}"/>
              </a:ext>
            </a:extLst>
          </p:cNvPr>
          <p:cNvCxnSpPr/>
          <p:nvPr/>
        </p:nvCxnSpPr>
        <p:spPr>
          <a:xfrm flipH="1">
            <a:off x="6560866" y="3712953"/>
            <a:ext cx="835635" cy="0"/>
          </a:xfrm>
          <a:prstGeom prst="straightConnector1">
            <a:avLst/>
          </a:prstGeom>
          <a:ln w="38100">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6" name="Straight Arrow Connector 5">
            <a:extLst>
              <a:ext uri="{FF2B5EF4-FFF2-40B4-BE49-F238E27FC236}">
                <a16:creationId xmlns:a16="http://schemas.microsoft.com/office/drawing/2014/main" id="{C43EA05B-8A24-EB49-96EE-787BB99399F4}"/>
              </a:ext>
            </a:extLst>
          </p:cNvPr>
          <p:cNvCxnSpPr/>
          <p:nvPr/>
        </p:nvCxnSpPr>
        <p:spPr>
          <a:xfrm flipH="1">
            <a:off x="6560866" y="3865025"/>
            <a:ext cx="835635" cy="0"/>
          </a:xfrm>
          <a:prstGeom prst="straightConnector1">
            <a:avLst/>
          </a:prstGeom>
          <a:ln w="38100">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 name="Straight Arrow Connector 6">
            <a:extLst>
              <a:ext uri="{FF2B5EF4-FFF2-40B4-BE49-F238E27FC236}">
                <a16:creationId xmlns:a16="http://schemas.microsoft.com/office/drawing/2014/main" id="{00511EF0-A9DB-05BB-0580-E6FF1AFD9789}"/>
              </a:ext>
            </a:extLst>
          </p:cNvPr>
          <p:cNvCxnSpPr/>
          <p:nvPr/>
        </p:nvCxnSpPr>
        <p:spPr>
          <a:xfrm flipH="1">
            <a:off x="6560866" y="4029679"/>
            <a:ext cx="835635" cy="0"/>
          </a:xfrm>
          <a:prstGeom prst="straightConnector1">
            <a:avLst/>
          </a:prstGeom>
          <a:ln w="38100">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8" name="Straight Arrow Connector 7">
            <a:extLst>
              <a:ext uri="{FF2B5EF4-FFF2-40B4-BE49-F238E27FC236}">
                <a16:creationId xmlns:a16="http://schemas.microsoft.com/office/drawing/2014/main" id="{F2E92562-05E8-D5BA-66A9-2CCDBCBCE19B}"/>
              </a:ext>
            </a:extLst>
          </p:cNvPr>
          <p:cNvCxnSpPr/>
          <p:nvPr/>
        </p:nvCxnSpPr>
        <p:spPr>
          <a:xfrm flipH="1">
            <a:off x="6560866" y="4194333"/>
            <a:ext cx="835635" cy="0"/>
          </a:xfrm>
          <a:prstGeom prst="straightConnector1">
            <a:avLst/>
          </a:prstGeom>
          <a:ln w="38100">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9" name="Straight Arrow Connector 8">
            <a:extLst>
              <a:ext uri="{FF2B5EF4-FFF2-40B4-BE49-F238E27FC236}">
                <a16:creationId xmlns:a16="http://schemas.microsoft.com/office/drawing/2014/main" id="{65A87343-F59D-65C9-5D06-E713654F9705}"/>
              </a:ext>
            </a:extLst>
          </p:cNvPr>
          <p:cNvCxnSpPr/>
          <p:nvPr/>
        </p:nvCxnSpPr>
        <p:spPr>
          <a:xfrm flipH="1">
            <a:off x="6560866" y="4358987"/>
            <a:ext cx="835635" cy="0"/>
          </a:xfrm>
          <a:prstGeom prst="straightConnector1">
            <a:avLst/>
          </a:prstGeom>
          <a:ln w="38100">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10" name="Straight Arrow Connector 9">
            <a:extLst>
              <a:ext uri="{FF2B5EF4-FFF2-40B4-BE49-F238E27FC236}">
                <a16:creationId xmlns:a16="http://schemas.microsoft.com/office/drawing/2014/main" id="{35BF18ED-25F3-8B44-9E7C-1A0A916EAA4F}"/>
              </a:ext>
            </a:extLst>
          </p:cNvPr>
          <p:cNvCxnSpPr/>
          <p:nvPr/>
        </p:nvCxnSpPr>
        <p:spPr>
          <a:xfrm flipH="1">
            <a:off x="6560866" y="4515253"/>
            <a:ext cx="835635" cy="0"/>
          </a:xfrm>
          <a:prstGeom prst="straightConnector1">
            <a:avLst/>
          </a:prstGeom>
          <a:ln w="38100">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12" name="Arrow: Down 11">
            <a:extLst>
              <a:ext uri="{FF2B5EF4-FFF2-40B4-BE49-F238E27FC236}">
                <a16:creationId xmlns:a16="http://schemas.microsoft.com/office/drawing/2014/main" id="{089C4193-1216-7DD9-DA09-7E6EB36C1EB8}"/>
              </a:ext>
            </a:extLst>
          </p:cNvPr>
          <p:cNvSpPr/>
          <p:nvPr/>
        </p:nvSpPr>
        <p:spPr>
          <a:xfrm>
            <a:off x="7396501" y="1652537"/>
            <a:ext cx="268777" cy="413962"/>
          </a:xfrm>
          <a:prstGeom prst="downArrow">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13" name="TextBox 12">
            <a:extLst>
              <a:ext uri="{FF2B5EF4-FFF2-40B4-BE49-F238E27FC236}">
                <a16:creationId xmlns:a16="http://schemas.microsoft.com/office/drawing/2014/main" id="{FDE85BF0-5317-AEB5-CFCB-8577055C29EB}"/>
              </a:ext>
            </a:extLst>
          </p:cNvPr>
          <p:cNvSpPr txBox="1"/>
          <p:nvPr/>
        </p:nvSpPr>
        <p:spPr>
          <a:xfrm rot="5400000">
            <a:off x="7390249" y="2065504"/>
            <a:ext cx="381836" cy="369332"/>
          </a:xfrm>
          <a:prstGeom prst="rect">
            <a:avLst/>
          </a:prstGeom>
          <a:noFill/>
        </p:spPr>
        <p:txBody>
          <a:bodyPr wrap="none" rtlCol="0">
            <a:spAutoFit/>
          </a:bodyPr>
          <a:lstStyle/>
          <a:p>
            <a:r>
              <a:rPr lang="en-GB"/>
              <a:t>...</a:t>
            </a:r>
            <a:endParaRPr lang="LID4096"/>
          </a:p>
        </p:txBody>
      </p:sp>
      <p:sp>
        <p:nvSpPr>
          <p:cNvPr id="14" name="Arrow: Down 13">
            <a:extLst>
              <a:ext uri="{FF2B5EF4-FFF2-40B4-BE49-F238E27FC236}">
                <a16:creationId xmlns:a16="http://schemas.microsoft.com/office/drawing/2014/main" id="{BD83BA88-1D5E-D9BB-F261-EC8F7259BBD8}"/>
              </a:ext>
            </a:extLst>
          </p:cNvPr>
          <p:cNvSpPr/>
          <p:nvPr/>
        </p:nvSpPr>
        <p:spPr>
          <a:xfrm>
            <a:off x="6745844" y="1652537"/>
            <a:ext cx="268777" cy="413962"/>
          </a:xfrm>
          <a:prstGeom prst="downArrow">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15" name="TextBox 14">
            <a:extLst>
              <a:ext uri="{FF2B5EF4-FFF2-40B4-BE49-F238E27FC236}">
                <a16:creationId xmlns:a16="http://schemas.microsoft.com/office/drawing/2014/main" id="{B4632AD8-05CA-760B-C2EC-92FEF5661825}"/>
              </a:ext>
            </a:extLst>
          </p:cNvPr>
          <p:cNvSpPr txBox="1"/>
          <p:nvPr/>
        </p:nvSpPr>
        <p:spPr>
          <a:xfrm rot="5400000">
            <a:off x="6739592" y="2065504"/>
            <a:ext cx="381836" cy="369332"/>
          </a:xfrm>
          <a:prstGeom prst="rect">
            <a:avLst/>
          </a:prstGeom>
          <a:noFill/>
        </p:spPr>
        <p:txBody>
          <a:bodyPr wrap="none" rtlCol="0">
            <a:spAutoFit/>
          </a:bodyPr>
          <a:lstStyle/>
          <a:p>
            <a:r>
              <a:rPr lang="en-GB"/>
              <a:t>...</a:t>
            </a:r>
            <a:endParaRPr lang="LID4096"/>
          </a:p>
        </p:txBody>
      </p:sp>
      <p:sp>
        <p:nvSpPr>
          <p:cNvPr id="16" name="Arrow: Down 15">
            <a:extLst>
              <a:ext uri="{FF2B5EF4-FFF2-40B4-BE49-F238E27FC236}">
                <a16:creationId xmlns:a16="http://schemas.microsoft.com/office/drawing/2014/main" id="{E395B11F-F7DD-3518-D82B-93D582653F04}"/>
              </a:ext>
            </a:extLst>
          </p:cNvPr>
          <p:cNvSpPr/>
          <p:nvPr/>
        </p:nvSpPr>
        <p:spPr>
          <a:xfrm>
            <a:off x="6156844" y="1667148"/>
            <a:ext cx="268777" cy="413962"/>
          </a:xfrm>
          <a:prstGeom prst="downArrow">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17" name="TextBox 16">
            <a:extLst>
              <a:ext uri="{FF2B5EF4-FFF2-40B4-BE49-F238E27FC236}">
                <a16:creationId xmlns:a16="http://schemas.microsoft.com/office/drawing/2014/main" id="{E370471D-10A5-5B6B-066C-74638F5A44B3}"/>
              </a:ext>
            </a:extLst>
          </p:cNvPr>
          <p:cNvSpPr txBox="1"/>
          <p:nvPr/>
        </p:nvSpPr>
        <p:spPr>
          <a:xfrm rot="5400000">
            <a:off x="6150592" y="2080115"/>
            <a:ext cx="381836" cy="369332"/>
          </a:xfrm>
          <a:prstGeom prst="rect">
            <a:avLst/>
          </a:prstGeom>
          <a:noFill/>
        </p:spPr>
        <p:txBody>
          <a:bodyPr wrap="none" rtlCol="0">
            <a:spAutoFit/>
          </a:bodyPr>
          <a:lstStyle/>
          <a:p>
            <a:r>
              <a:rPr lang="en-GB"/>
              <a:t>...</a:t>
            </a:r>
            <a:endParaRPr lang="LID4096"/>
          </a:p>
        </p:txBody>
      </p:sp>
      <p:sp>
        <p:nvSpPr>
          <p:cNvPr id="18" name="Arrow: Down 17">
            <a:extLst>
              <a:ext uri="{FF2B5EF4-FFF2-40B4-BE49-F238E27FC236}">
                <a16:creationId xmlns:a16="http://schemas.microsoft.com/office/drawing/2014/main" id="{6295C73E-E97E-AF95-A132-EC0A5EA29697}"/>
              </a:ext>
            </a:extLst>
          </p:cNvPr>
          <p:cNvSpPr/>
          <p:nvPr/>
        </p:nvSpPr>
        <p:spPr>
          <a:xfrm>
            <a:off x="5567844" y="1681759"/>
            <a:ext cx="268777" cy="413962"/>
          </a:xfrm>
          <a:prstGeom prst="downArrow">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19" name="TextBox 18">
            <a:extLst>
              <a:ext uri="{FF2B5EF4-FFF2-40B4-BE49-F238E27FC236}">
                <a16:creationId xmlns:a16="http://schemas.microsoft.com/office/drawing/2014/main" id="{8931E74F-8136-1025-A3A4-07DDD0A571EF}"/>
              </a:ext>
            </a:extLst>
          </p:cNvPr>
          <p:cNvSpPr txBox="1"/>
          <p:nvPr/>
        </p:nvSpPr>
        <p:spPr>
          <a:xfrm rot="5400000">
            <a:off x="5561592" y="2094726"/>
            <a:ext cx="381836" cy="369332"/>
          </a:xfrm>
          <a:prstGeom prst="rect">
            <a:avLst/>
          </a:prstGeom>
          <a:noFill/>
        </p:spPr>
        <p:txBody>
          <a:bodyPr wrap="none" rtlCol="0">
            <a:spAutoFit/>
          </a:bodyPr>
          <a:lstStyle/>
          <a:p>
            <a:r>
              <a:rPr lang="en-GB"/>
              <a:t>...</a:t>
            </a:r>
            <a:endParaRPr lang="LID4096"/>
          </a:p>
        </p:txBody>
      </p:sp>
      <p:sp>
        <p:nvSpPr>
          <p:cNvPr id="20" name="Arrow: Down 19">
            <a:extLst>
              <a:ext uri="{FF2B5EF4-FFF2-40B4-BE49-F238E27FC236}">
                <a16:creationId xmlns:a16="http://schemas.microsoft.com/office/drawing/2014/main" id="{DB97C4E7-D189-B036-E409-C917ECE50DDD}"/>
              </a:ext>
            </a:extLst>
          </p:cNvPr>
          <p:cNvSpPr/>
          <p:nvPr/>
        </p:nvSpPr>
        <p:spPr>
          <a:xfrm>
            <a:off x="8212267" y="1667148"/>
            <a:ext cx="268777" cy="413962"/>
          </a:xfrm>
          <a:prstGeom prst="downArrow">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21" name="Arrow: Down 20">
            <a:extLst>
              <a:ext uri="{FF2B5EF4-FFF2-40B4-BE49-F238E27FC236}">
                <a16:creationId xmlns:a16="http://schemas.microsoft.com/office/drawing/2014/main" id="{3FDC191C-AA5C-0DC7-2AA4-4175E58EB8EB}"/>
              </a:ext>
            </a:extLst>
          </p:cNvPr>
          <p:cNvSpPr/>
          <p:nvPr/>
        </p:nvSpPr>
        <p:spPr>
          <a:xfrm>
            <a:off x="8845049" y="1645290"/>
            <a:ext cx="268777" cy="413962"/>
          </a:xfrm>
          <a:prstGeom prst="downArrow">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22" name="Rectangle 21">
            <a:extLst>
              <a:ext uri="{FF2B5EF4-FFF2-40B4-BE49-F238E27FC236}">
                <a16:creationId xmlns:a16="http://schemas.microsoft.com/office/drawing/2014/main" id="{B4C1ED03-4D00-2296-599D-88CCC51490C5}"/>
              </a:ext>
            </a:extLst>
          </p:cNvPr>
          <p:cNvSpPr/>
          <p:nvPr/>
        </p:nvSpPr>
        <p:spPr>
          <a:xfrm>
            <a:off x="10824545" y="5970889"/>
            <a:ext cx="863289" cy="639391"/>
          </a:xfrm>
          <a:prstGeom prst="rect">
            <a:avLst/>
          </a:prstGeom>
          <a:solidFill>
            <a:schemeClr val="bg1">
              <a:lumMod val="85000"/>
            </a:schemeClr>
          </a:solidFill>
          <a:ln w="12700"/>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23" name="Rectangle 22">
            <a:extLst>
              <a:ext uri="{FF2B5EF4-FFF2-40B4-BE49-F238E27FC236}">
                <a16:creationId xmlns:a16="http://schemas.microsoft.com/office/drawing/2014/main" id="{4D321C63-1174-98F7-4084-7AE5110802A6}"/>
              </a:ext>
            </a:extLst>
          </p:cNvPr>
          <p:cNvSpPr/>
          <p:nvPr/>
        </p:nvSpPr>
        <p:spPr>
          <a:xfrm>
            <a:off x="10830863" y="2326231"/>
            <a:ext cx="863289" cy="1731698"/>
          </a:xfrm>
          <a:prstGeom prst="rect">
            <a:avLst/>
          </a:prstGeom>
          <a:solidFill>
            <a:schemeClr val="bg1">
              <a:lumMod val="85000"/>
            </a:schemeClr>
          </a:solidFill>
          <a:ln w="127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24" name="TextBox 23">
            <a:extLst>
              <a:ext uri="{FF2B5EF4-FFF2-40B4-BE49-F238E27FC236}">
                <a16:creationId xmlns:a16="http://schemas.microsoft.com/office/drawing/2014/main" id="{C38DE613-62CE-0CB3-73DC-24B07FA78032}"/>
              </a:ext>
            </a:extLst>
          </p:cNvPr>
          <p:cNvSpPr txBox="1"/>
          <p:nvPr/>
        </p:nvSpPr>
        <p:spPr>
          <a:xfrm>
            <a:off x="11296286" y="2619342"/>
            <a:ext cx="397866" cy="215444"/>
          </a:xfrm>
          <a:prstGeom prst="rect">
            <a:avLst/>
          </a:prstGeom>
          <a:noFill/>
          <a:ln>
            <a:noFill/>
          </a:ln>
        </p:spPr>
        <p:txBody>
          <a:bodyPr wrap="none" rtlCol="0">
            <a:spAutoFit/>
          </a:bodyPr>
          <a:lstStyle/>
          <a:p>
            <a:r>
              <a:rPr lang="en-GB" sz="800">
                <a:solidFill>
                  <a:schemeClr val="accent2">
                    <a:lumMod val="75000"/>
                  </a:schemeClr>
                </a:solidFill>
              </a:rPr>
              <a:t>pin 0</a:t>
            </a:r>
          </a:p>
        </p:txBody>
      </p:sp>
      <p:cxnSp>
        <p:nvCxnSpPr>
          <p:cNvPr id="25" name="Straight Connector 24">
            <a:extLst>
              <a:ext uri="{FF2B5EF4-FFF2-40B4-BE49-F238E27FC236}">
                <a16:creationId xmlns:a16="http://schemas.microsoft.com/office/drawing/2014/main" id="{12AD1CD3-F40D-7675-3EB8-3B7E8A48F6E5}"/>
              </a:ext>
            </a:extLst>
          </p:cNvPr>
          <p:cNvCxnSpPr>
            <a:cxnSpLocks/>
          </p:cNvCxnSpPr>
          <p:nvPr/>
        </p:nvCxnSpPr>
        <p:spPr>
          <a:xfrm>
            <a:off x="10901174" y="2727066"/>
            <a:ext cx="355269" cy="3727"/>
          </a:xfrm>
          <a:prstGeom prst="line">
            <a:avLst/>
          </a:prstGeom>
          <a:ln>
            <a:solidFill>
              <a:schemeClr val="accent2">
                <a:lumMod val="75000"/>
              </a:schemeClr>
            </a:solidFill>
            <a:prstDash val="dash"/>
          </a:ln>
          <a:effectLst/>
        </p:spPr>
        <p:style>
          <a:lnRef idx="1">
            <a:schemeClr val="accent1"/>
          </a:lnRef>
          <a:fillRef idx="0">
            <a:schemeClr val="accent1"/>
          </a:fillRef>
          <a:effectRef idx="0">
            <a:schemeClr val="accent1"/>
          </a:effectRef>
          <a:fontRef idx="minor">
            <a:schemeClr val="tx1"/>
          </a:fontRef>
        </p:style>
      </p:cxnSp>
      <p:sp>
        <p:nvSpPr>
          <p:cNvPr id="26" name="Oval 25">
            <a:extLst>
              <a:ext uri="{FF2B5EF4-FFF2-40B4-BE49-F238E27FC236}">
                <a16:creationId xmlns:a16="http://schemas.microsoft.com/office/drawing/2014/main" id="{84C7DB21-A2E3-D273-6988-2C66EB65F4A2}"/>
              </a:ext>
            </a:extLst>
          </p:cNvPr>
          <p:cNvSpPr/>
          <p:nvPr/>
        </p:nvSpPr>
        <p:spPr>
          <a:xfrm>
            <a:off x="11256443" y="2682348"/>
            <a:ext cx="79686" cy="89433"/>
          </a:xfrm>
          <a:prstGeom prst="ellipse">
            <a:avLst/>
          </a:prstGeom>
          <a:noFill/>
          <a:ln>
            <a:solidFill>
              <a:schemeClr val="accent2">
                <a:lumMod val="75000"/>
              </a:schemeClr>
            </a:solid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u="sng"/>
          </a:p>
        </p:txBody>
      </p:sp>
      <p:sp>
        <p:nvSpPr>
          <p:cNvPr id="27" name="TextBox 26">
            <a:extLst>
              <a:ext uri="{FF2B5EF4-FFF2-40B4-BE49-F238E27FC236}">
                <a16:creationId xmlns:a16="http://schemas.microsoft.com/office/drawing/2014/main" id="{FB638AB8-9AB5-A5BD-E35C-8DAD49E1C03A}"/>
              </a:ext>
            </a:extLst>
          </p:cNvPr>
          <p:cNvSpPr txBox="1"/>
          <p:nvPr/>
        </p:nvSpPr>
        <p:spPr>
          <a:xfrm>
            <a:off x="11296286" y="2758567"/>
            <a:ext cx="397866" cy="215444"/>
          </a:xfrm>
          <a:prstGeom prst="rect">
            <a:avLst/>
          </a:prstGeom>
          <a:noFill/>
        </p:spPr>
        <p:txBody>
          <a:bodyPr wrap="none" rtlCol="0">
            <a:spAutoFit/>
          </a:bodyPr>
          <a:lstStyle/>
          <a:p>
            <a:r>
              <a:rPr lang="en-GB" sz="800">
                <a:solidFill>
                  <a:schemeClr val="accent6">
                    <a:lumMod val="75000"/>
                  </a:schemeClr>
                </a:solidFill>
              </a:rPr>
              <a:t>pin 1</a:t>
            </a:r>
          </a:p>
        </p:txBody>
      </p:sp>
      <p:cxnSp>
        <p:nvCxnSpPr>
          <p:cNvPr id="28" name="Straight Connector 27">
            <a:extLst>
              <a:ext uri="{FF2B5EF4-FFF2-40B4-BE49-F238E27FC236}">
                <a16:creationId xmlns:a16="http://schemas.microsoft.com/office/drawing/2014/main" id="{6D3E7751-D868-A5D9-E429-146364CB7CBD}"/>
              </a:ext>
            </a:extLst>
          </p:cNvPr>
          <p:cNvCxnSpPr>
            <a:cxnSpLocks/>
          </p:cNvCxnSpPr>
          <p:nvPr/>
        </p:nvCxnSpPr>
        <p:spPr>
          <a:xfrm>
            <a:off x="10901174" y="2866291"/>
            <a:ext cx="355269" cy="3727"/>
          </a:xfrm>
          <a:prstGeom prst="line">
            <a:avLst/>
          </a:prstGeom>
          <a:ln>
            <a:solidFill>
              <a:schemeClr val="accent6">
                <a:lumMod val="75000"/>
              </a:schemeClr>
            </a:solidFill>
            <a:prstDash val="dash"/>
          </a:ln>
          <a:effectLst/>
        </p:spPr>
        <p:style>
          <a:lnRef idx="1">
            <a:schemeClr val="accent1"/>
          </a:lnRef>
          <a:fillRef idx="0">
            <a:schemeClr val="accent1"/>
          </a:fillRef>
          <a:effectRef idx="0">
            <a:schemeClr val="accent1"/>
          </a:effectRef>
          <a:fontRef idx="minor">
            <a:schemeClr val="tx1"/>
          </a:fontRef>
        </p:style>
      </p:cxnSp>
      <p:sp>
        <p:nvSpPr>
          <p:cNvPr id="29" name="Oval 28">
            <a:extLst>
              <a:ext uri="{FF2B5EF4-FFF2-40B4-BE49-F238E27FC236}">
                <a16:creationId xmlns:a16="http://schemas.microsoft.com/office/drawing/2014/main" id="{1F733381-814D-23D0-9115-1048FC593CD6}"/>
              </a:ext>
            </a:extLst>
          </p:cNvPr>
          <p:cNvSpPr/>
          <p:nvPr/>
        </p:nvSpPr>
        <p:spPr>
          <a:xfrm>
            <a:off x="11256443" y="2821573"/>
            <a:ext cx="79686" cy="89433"/>
          </a:xfrm>
          <a:prstGeom prst="ellipse">
            <a:avLst/>
          </a:prstGeom>
          <a:noFill/>
          <a:ln>
            <a:solidFill>
              <a:schemeClr val="accent6">
                <a:lumMod val="75000"/>
              </a:schemeClr>
            </a:solid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u="sng"/>
          </a:p>
        </p:txBody>
      </p:sp>
      <p:sp>
        <p:nvSpPr>
          <p:cNvPr id="30" name="TextBox 29">
            <a:extLst>
              <a:ext uri="{FF2B5EF4-FFF2-40B4-BE49-F238E27FC236}">
                <a16:creationId xmlns:a16="http://schemas.microsoft.com/office/drawing/2014/main" id="{2E5FE653-CA69-C45D-EC5F-E107CB16BBE0}"/>
              </a:ext>
            </a:extLst>
          </p:cNvPr>
          <p:cNvSpPr txBox="1"/>
          <p:nvPr/>
        </p:nvSpPr>
        <p:spPr>
          <a:xfrm>
            <a:off x="11296286" y="2897792"/>
            <a:ext cx="397866" cy="215444"/>
          </a:xfrm>
          <a:prstGeom prst="rect">
            <a:avLst/>
          </a:prstGeom>
          <a:noFill/>
        </p:spPr>
        <p:txBody>
          <a:bodyPr wrap="none" rtlCol="0">
            <a:spAutoFit/>
          </a:bodyPr>
          <a:lstStyle/>
          <a:p>
            <a:r>
              <a:rPr lang="en-GB" sz="800"/>
              <a:t>pin 2</a:t>
            </a:r>
          </a:p>
        </p:txBody>
      </p:sp>
      <p:cxnSp>
        <p:nvCxnSpPr>
          <p:cNvPr id="31" name="Straight Connector 30">
            <a:extLst>
              <a:ext uri="{FF2B5EF4-FFF2-40B4-BE49-F238E27FC236}">
                <a16:creationId xmlns:a16="http://schemas.microsoft.com/office/drawing/2014/main" id="{54166EED-418F-BC2C-9ACF-78E1F8E4202A}"/>
              </a:ext>
            </a:extLst>
          </p:cNvPr>
          <p:cNvCxnSpPr>
            <a:cxnSpLocks/>
          </p:cNvCxnSpPr>
          <p:nvPr/>
        </p:nvCxnSpPr>
        <p:spPr>
          <a:xfrm>
            <a:off x="10901174" y="3005516"/>
            <a:ext cx="355269" cy="3727"/>
          </a:xfrm>
          <a:prstGeom prst="line">
            <a:avLst/>
          </a:prstGeom>
          <a:ln>
            <a:solidFill>
              <a:schemeClr val="tx1"/>
            </a:solidFill>
            <a:prstDash val="dash"/>
          </a:ln>
          <a:effectLst/>
        </p:spPr>
        <p:style>
          <a:lnRef idx="1">
            <a:schemeClr val="accent1"/>
          </a:lnRef>
          <a:fillRef idx="0">
            <a:schemeClr val="accent1"/>
          </a:fillRef>
          <a:effectRef idx="0">
            <a:schemeClr val="accent1"/>
          </a:effectRef>
          <a:fontRef idx="minor">
            <a:schemeClr val="tx1"/>
          </a:fontRef>
        </p:style>
      </p:cxnSp>
      <p:sp>
        <p:nvSpPr>
          <p:cNvPr id="32" name="Oval 31">
            <a:extLst>
              <a:ext uri="{FF2B5EF4-FFF2-40B4-BE49-F238E27FC236}">
                <a16:creationId xmlns:a16="http://schemas.microsoft.com/office/drawing/2014/main" id="{61C0226E-41FF-2A7F-96AB-96F92C85B161}"/>
              </a:ext>
            </a:extLst>
          </p:cNvPr>
          <p:cNvSpPr/>
          <p:nvPr/>
        </p:nvSpPr>
        <p:spPr>
          <a:xfrm>
            <a:off x="11256443" y="2960798"/>
            <a:ext cx="79686" cy="89433"/>
          </a:xfrm>
          <a:prstGeom prst="ellipse">
            <a:avLst/>
          </a:prstGeom>
          <a:noFill/>
          <a:ln>
            <a:solidFill>
              <a:schemeClr val="tx1"/>
            </a:solid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u="sng"/>
          </a:p>
        </p:txBody>
      </p:sp>
      <p:sp>
        <p:nvSpPr>
          <p:cNvPr id="33" name="TextBox 32">
            <a:extLst>
              <a:ext uri="{FF2B5EF4-FFF2-40B4-BE49-F238E27FC236}">
                <a16:creationId xmlns:a16="http://schemas.microsoft.com/office/drawing/2014/main" id="{736944AD-26F2-55F8-4493-C101F97384EE}"/>
              </a:ext>
            </a:extLst>
          </p:cNvPr>
          <p:cNvSpPr txBox="1"/>
          <p:nvPr/>
        </p:nvSpPr>
        <p:spPr>
          <a:xfrm>
            <a:off x="11296286" y="3037017"/>
            <a:ext cx="397866" cy="215444"/>
          </a:xfrm>
          <a:prstGeom prst="rect">
            <a:avLst/>
          </a:prstGeom>
          <a:noFill/>
        </p:spPr>
        <p:txBody>
          <a:bodyPr wrap="none" rtlCol="0">
            <a:spAutoFit/>
          </a:bodyPr>
          <a:lstStyle/>
          <a:p>
            <a:r>
              <a:rPr lang="en-GB" sz="800"/>
              <a:t>pin 3</a:t>
            </a:r>
          </a:p>
        </p:txBody>
      </p:sp>
      <p:cxnSp>
        <p:nvCxnSpPr>
          <p:cNvPr id="34" name="Straight Connector 33">
            <a:extLst>
              <a:ext uri="{FF2B5EF4-FFF2-40B4-BE49-F238E27FC236}">
                <a16:creationId xmlns:a16="http://schemas.microsoft.com/office/drawing/2014/main" id="{B933E582-BAE2-34AA-314C-654430678CE5}"/>
              </a:ext>
            </a:extLst>
          </p:cNvPr>
          <p:cNvCxnSpPr>
            <a:cxnSpLocks/>
          </p:cNvCxnSpPr>
          <p:nvPr/>
        </p:nvCxnSpPr>
        <p:spPr>
          <a:xfrm>
            <a:off x="10901174" y="3144741"/>
            <a:ext cx="355269" cy="3727"/>
          </a:xfrm>
          <a:prstGeom prst="line">
            <a:avLst/>
          </a:prstGeom>
          <a:ln>
            <a:solidFill>
              <a:schemeClr val="tx1"/>
            </a:solidFill>
            <a:prstDash val="dash"/>
          </a:ln>
          <a:effectLst/>
        </p:spPr>
        <p:style>
          <a:lnRef idx="1">
            <a:schemeClr val="accent1"/>
          </a:lnRef>
          <a:fillRef idx="0">
            <a:schemeClr val="accent1"/>
          </a:fillRef>
          <a:effectRef idx="0">
            <a:schemeClr val="accent1"/>
          </a:effectRef>
          <a:fontRef idx="minor">
            <a:schemeClr val="tx1"/>
          </a:fontRef>
        </p:style>
      </p:cxnSp>
      <p:sp>
        <p:nvSpPr>
          <p:cNvPr id="35" name="Oval 34">
            <a:extLst>
              <a:ext uri="{FF2B5EF4-FFF2-40B4-BE49-F238E27FC236}">
                <a16:creationId xmlns:a16="http://schemas.microsoft.com/office/drawing/2014/main" id="{7E4D9B38-B888-3C62-3213-E414B29786EC}"/>
              </a:ext>
            </a:extLst>
          </p:cNvPr>
          <p:cNvSpPr/>
          <p:nvPr/>
        </p:nvSpPr>
        <p:spPr>
          <a:xfrm>
            <a:off x="11256443" y="3100023"/>
            <a:ext cx="79686" cy="89433"/>
          </a:xfrm>
          <a:prstGeom prst="ellipse">
            <a:avLst/>
          </a:prstGeom>
          <a:noFill/>
          <a:ln>
            <a:solidFill>
              <a:schemeClr val="tx1"/>
            </a:solid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u="sng"/>
          </a:p>
        </p:txBody>
      </p:sp>
      <p:sp>
        <p:nvSpPr>
          <p:cNvPr id="36" name="TextBox 35">
            <a:extLst>
              <a:ext uri="{FF2B5EF4-FFF2-40B4-BE49-F238E27FC236}">
                <a16:creationId xmlns:a16="http://schemas.microsoft.com/office/drawing/2014/main" id="{BB2D8F18-59B5-6C2E-CA78-E1D0AA7759DA}"/>
              </a:ext>
            </a:extLst>
          </p:cNvPr>
          <p:cNvSpPr txBox="1"/>
          <p:nvPr/>
        </p:nvSpPr>
        <p:spPr>
          <a:xfrm>
            <a:off x="11296286" y="3176242"/>
            <a:ext cx="397866" cy="215444"/>
          </a:xfrm>
          <a:prstGeom prst="rect">
            <a:avLst/>
          </a:prstGeom>
          <a:noFill/>
        </p:spPr>
        <p:txBody>
          <a:bodyPr wrap="none" rtlCol="0">
            <a:spAutoFit/>
          </a:bodyPr>
          <a:lstStyle/>
          <a:p>
            <a:r>
              <a:rPr lang="en-GB" sz="800"/>
              <a:t>pin 4</a:t>
            </a:r>
          </a:p>
        </p:txBody>
      </p:sp>
      <p:cxnSp>
        <p:nvCxnSpPr>
          <p:cNvPr id="37" name="Straight Connector 36">
            <a:extLst>
              <a:ext uri="{FF2B5EF4-FFF2-40B4-BE49-F238E27FC236}">
                <a16:creationId xmlns:a16="http://schemas.microsoft.com/office/drawing/2014/main" id="{A10EC928-3102-F86D-838F-3AFB589FFBA8}"/>
              </a:ext>
            </a:extLst>
          </p:cNvPr>
          <p:cNvCxnSpPr>
            <a:cxnSpLocks/>
          </p:cNvCxnSpPr>
          <p:nvPr/>
        </p:nvCxnSpPr>
        <p:spPr>
          <a:xfrm>
            <a:off x="10901174" y="3283966"/>
            <a:ext cx="355269" cy="3727"/>
          </a:xfrm>
          <a:prstGeom prst="line">
            <a:avLst/>
          </a:prstGeom>
          <a:ln>
            <a:solidFill>
              <a:schemeClr val="tx1"/>
            </a:solidFill>
            <a:prstDash val="dash"/>
          </a:ln>
          <a:effectLst/>
        </p:spPr>
        <p:style>
          <a:lnRef idx="1">
            <a:schemeClr val="accent1"/>
          </a:lnRef>
          <a:fillRef idx="0">
            <a:schemeClr val="accent1"/>
          </a:fillRef>
          <a:effectRef idx="0">
            <a:schemeClr val="accent1"/>
          </a:effectRef>
          <a:fontRef idx="minor">
            <a:schemeClr val="tx1"/>
          </a:fontRef>
        </p:style>
      </p:cxnSp>
      <p:sp>
        <p:nvSpPr>
          <p:cNvPr id="38" name="Oval 37">
            <a:extLst>
              <a:ext uri="{FF2B5EF4-FFF2-40B4-BE49-F238E27FC236}">
                <a16:creationId xmlns:a16="http://schemas.microsoft.com/office/drawing/2014/main" id="{A2BEB356-BDC1-9DCA-03DB-B355F427D55C}"/>
              </a:ext>
            </a:extLst>
          </p:cNvPr>
          <p:cNvSpPr/>
          <p:nvPr/>
        </p:nvSpPr>
        <p:spPr>
          <a:xfrm>
            <a:off x="11256443" y="3239248"/>
            <a:ext cx="79686" cy="89433"/>
          </a:xfrm>
          <a:prstGeom prst="ellipse">
            <a:avLst/>
          </a:prstGeom>
          <a:noFill/>
          <a:ln>
            <a:solidFill>
              <a:schemeClr val="tx1"/>
            </a:solid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u="sng"/>
          </a:p>
        </p:txBody>
      </p:sp>
      <p:sp>
        <p:nvSpPr>
          <p:cNvPr id="39" name="TextBox 38">
            <a:extLst>
              <a:ext uri="{FF2B5EF4-FFF2-40B4-BE49-F238E27FC236}">
                <a16:creationId xmlns:a16="http://schemas.microsoft.com/office/drawing/2014/main" id="{66A3356F-D73D-BFA6-0789-09CD13B90546}"/>
              </a:ext>
            </a:extLst>
          </p:cNvPr>
          <p:cNvSpPr txBox="1"/>
          <p:nvPr/>
        </p:nvSpPr>
        <p:spPr>
          <a:xfrm>
            <a:off x="11296286" y="3315467"/>
            <a:ext cx="397866" cy="215444"/>
          </a:xfrm>
          <a:prstGeom prst="rect">
            <a:avLst/>
          </a:prstGeom>
          <a:noFill/>
        </p:spPr>
        <p:txBody>
          <a:bodyPr wrap="none" rtlCol="0">
            <a:spAutoFit/>
          </a:bodyPr>
          <a:lstStyle/>
          <a:p>
            <a:r>
              <a:rPr lang="en-GB" sz="800"/>
              <a:t>pin 5</a:t>
            </a:r>
          </a:p>
        </p:txBody>
      </p:sp>
      <p:cxnSp>
        <p:nvCxnSpPr>
          <p:cNvPr id="40" name="Straight Connector 39">
            <a:extLst>
              <a:ext uri="{FF2B5EF4-FFF2-40B4-BE49-F238E27FC236}">
                <a16:creationId xmlns:a16="http://schemas.microsoft.com/office/drawing/2014/main" id="{FE10662E-6C01-F793-5C0D-E3ECAEC370C9}"/>
              </a:ext>
            </a:extLst>
          </p:cNvPr>
          <p:cNvCxnSpPr>
            <a:cxnSpLocks/>
          </p:cNvCxnSpPr>
          <p:nvPr/>
        </p:nvCxnSpPr>
        <p:spPr>
          <a:xfrm>
            <a:off x="10901174" y="3423191"/>
            <a:ext cx="355269" cy="3727"/>
          </a:xfrm>
          <a:prstGeom prst="line">
            <a:avLst/>
          </a:prstGeom>
          <a:ln>
            <a:solidFill>
              <a:schemeClr val="tx1"/>
            </a:solidFill>
            <a:prstDash val="dash"/>
          </a:ln>
          <a:effectLst/>
        </p:spPr>
        <p:style>
          <a:lnRef idx="1">
            <a:schemeClr val="accent1"/>
          </a:lnRef>
          <a:fillRef idx="0">
            <a:schemeClr val="accent1"/>
          </a:fillRef>
          <a:effectRef idx="0">
            <a:schemeClr val="accent1"/>
          </a:effectRef>
          <a:fontRef idx="minor">
            <a:schemeClr val="tx1"/>
          </a:fontRef>
        </p:style>
      </p:cxnSp>
      <p:sp>
        <p:nvSpPr>
          <p:cNvPr id="41" name="Oval 40">
            <a:extLst>
              <a:ext uri="{FF2B5EF4-FFF2-40B4-BE49-F238E27FC236}">
                <a16:creationId xmlns:a16="http://schemas.microsoft.com/office/drawing/2014/main" id="{9A1246BD-1A74-CCF0-A9C5-D517E674F255}"/>
              </a:ext>
            </a:extLst>
          </p:cNvPr>
          <p:cNvSpPr/>
          <p:nvPr/>
        </p:nvSpPr>
        <p:spPr>
          <a:xfrm>
            <a:off x="11256443" y="3378473"/>
            <a:ext cx="79686" cy="89433"/>
          </a:xfrm>
          <a:prstGeom prst="ellipse">
            <a:avLst/>
          </a:prstGeom>
          <a:noFill/>
          <a:ln>
            <a:solidFill>
              <a:schemeClr val="tx1"/>
            </a:solid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u="sng"/>
          </a:p>
        </p:txBody>
      </p:sp>
      <p:sp>
        <p:nvSpPr>
          <p:cNvPr id="42" name="TextBox 41">
            <a:extLst>
              <a:ext uri="{FF2B5EF4-FFF2-40B4-BE49-F238E27FC236}">
                <a16:creationId xmlns:a16="http://schemas.microsoft.com/office/drawing/2014/main" id="{A3DD557B-A0F4-5DC4-BFDF-CFC06BA3B3A9}"/>
              </a:ext>
            </a:extLst>
          </p:cNvPr>
          <p:cNvSpPr txBox="1"/>
          <p:nvPr/>
        </p:nvSpPr>
        <p:spPr>
          <a:xfrm>
            <a:off x="11296286" y="3454692"/>
            <a:ext cx="397866" cy="215444"/>
          </a:xfrm>
          <a:prstGeom prst="rect">
            <a:avLst/>
          </a:prstGeom>
          <a:noFill/>
        </p:spPr>
        <p:txBody>
          <a:bodyPr wrap="none" rtlCol="0">
            <a:spAutoFit/>
          </a:bodyPr>
          <a:lstStyle/>
          <a:p>
            <a:r>
              <a:rPr lang="en-GB" sz="800"/>
              <a:t>pin 6</a:t>
            </a:r>
          </a:p>
        </p:txBody>
      </p:sp>
      <p:cxnSp>
        <p:nvCxnSpPr>
          <p:cNvPr id="43" name="Straight Connector 42">
            <a:extLst>
              <a:ext uri="{FF2B5EF4-FFF2-40B4-BE49-F238E27FC236}">
                <a16:creationId xmlns:a16="http://schemas.microsoft.com/office/drawing/2014/main" id="{5EECFEF8-F4C2-A830-0CB5-7627FF1C2ACB}"/>
              </a:ext>
            </a:extLst>
          </p:cNvPr>
          <p:cNvCxnSpPr>
            <a:cxnSpLocks/>
          </p:cNvCxnSpPr>
          <p:nvPr/>
        </p:nvCxnSpPr>
        <p:spPr>
          <a:xfrm>
            <a:off x="10901174" y="3562416"/>
            <a:ext cx="355269" cy="3727"/>
          </a:xfrm>
          <a:prstGeom prst="line">
            <a:avLst/>
          </a:prstGeom>
          <a:ln>
            <a:solidFill>
              <a:schemeClr val="tx1"/>
            </a:solidFill>
            <a:prstDash val="dash"/>
          </a:ln>
          <a:effectLst/>
        </p:spPr>
        <p:style>
          <a:lnRef idx="1">
            <a:schemeClr val="accent1"/>
          </a:lnRef>
          <a:fillRef idx="0">
            <a:schemeClr val="accent1"/>
          </a:fillRef>
          <a:effectRef idx="0">
            <a:schemeClr val="accent1"/>
          </a:effectRef>
          <a:fontRef idx="minor">
            <a:schemeClr val="tx1"/>
          </a:fontRef>
        </p:style>
      </p:cxnSp>
      <p:sp>
        <p:nvSpPr>
          <p:cNvPr id="44" name="Oval 43">
            <a:extLst>
              <a:ext uri="{FF2B5EF4-FFF2-40B4-BE49-F238E27FC236}">
                <a16:creationId xmlns:a16="http://schemas.microsoft.com/office/drawing/2014/main" id="{B2787101-06A6-BCCA-710E-C92EC32DDD1C}"/>
              </a:ext>
            </a:extLst>
          </p:cNvPr>
          <p:cNvSpPr/>
          <p:nvPr/>
        </p:nvSpPr>
        <p:spPr>
          <a:xfrm>
            <a:off x="11256443" y="3517698"/>
            <a:ext cx="79686" cy="89433"/>
          </a:xfrm>
          <a:prstGeom prst="ellipse">
            <a:avLst/>
          </a:prstGeom>
          <a:noFill/>
          <a:ln>
            <a:solidFill>
              <a:schemeClr val="tx1"/>
            </a:solid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u="sng"/>
          </a:p>
        </p:txBody>
      </p:sp>
      <p:sp>
        <p:nvSpPr>
          <p:cNvPr id="45" name="TextBox 44">
            <a:extLst>
              <a:ext uri="{FF2B5EF4-FFF2-40B4-BE49-F238E27FC236}">
                <a16:creationId xmlns:a16="http://schemas.microsoft.com/office/drawing/2014/main" id="{00AD2381-007E-6FAE-5265-780A1E1E85C5}"/>
              </a:ext>
            </a:extLst>
          </p:cNvPr>
          <p:cNvSpPr txBox="1"/>
          <p:nvPr/>
        </p:nvSpPr>
        <p:spPr>
          <a:xfrm>
            <a:off x="11296286" y="3593917"/>
            <a:ext cx="397866" cy="215444"/>
          </a:xfrm>
          <a:prstGeom prst="rect">
            <a:avLst/>
          </a:prstGeom>
          <a:noFill/>
        </p:spPr>
        <p:txBody>
          <a:bodyPr wrap="none" rtlCol="0">
            <a:spAutoFit/>
          </a:bodyPr>
          <a:lstStyle/>
          <a:p>
            <a:r>
              <a:rPr lang="en-GB" sz="800"/>
              <a:t>pin 7</a:t>
            </a:r>
          </a:p>
        </p:txBody>
      </p:sp>
      <p:cxnSp>
        <p:nvCxnSpPr>
          <p:cNvPr id="46" name="Straight Connector 45">
            <a:extLst>
              <a:ext uri="{FF2B5EF4-FFF2-40B4-BE49-F238E27FC236}">
                <a16:creationId xmlns:a16="http://schemas.microsoft.com/office/drawing/2014/main" id="{F31CC111-7C0C-C8F9-3557-258083E00943}"/>
              </a:ext>
            </a:extLst>
          </p:cNvPr>
          <p:cNvCxnSpPr>
            <a:cxnSpLocks/>
          </p:cNvCxnSpPr>
          <p:nvPr/>
        </p:nvCxnSpPr>
        <p:spPr>
          <a:xfrm>
            <a:off x="10901174" y="3701641"/>
            <a:ext cx="355269" cy="3727"/>
          </a:xfrm>
          <a:prstGeom prst="line">
            <a:avLst/>
          </a:prstGeom>
          <a:ln>
            <a:solidFill>
              <a:schemeClr val="tx1"/>
            </a:solidFill>
            <a:prstDash val="dash"/>
          </a:ln>
          <a:effectLst/>
        </p:spPr>
        <p:style>
          <a:lnRef idx="1">
            <a:schemeClr val="accent1"/>
          </a:lnRef>
          <a:fillRef idx="0">
            <a:schemeClr val="accent1"/>
          </a:fillRef>
          <a:effectRef idx="0">
            <a:schemeClr val="accent1"/>
          </a:effectRef>
          <a:fontRef idx="minor">
            <a:schemeClr val="tx1"/>
          </a:fontRef>
        </p:style>
      </p:cxnSp>
      <p:sp>
        <p:nvSpPr>
          <p:cNvPr id="47" name="Oval 46">
            <a:extLst>
              <a:ext uri="{FF2B5EF4-FFF2-40B4-BE49-F238E27FC236}">
                <a16:creationId xmlns:a16="http://schemas.microsoft.com/office/drawing/2014/main" id="{0ABBD1E5-F1B1-EBC7-163A-8F021F104B03}"/>
              </a:ext>
            </a:extLst>
          </p:cNvPr>
          <p:cNvSpPr/>
          <p:nvPr/>
        </p:nvSpPr>
        <p:spPr>
          <a:xfrm>
            <a:off x="11256443" y="3656923"/>
            <a:ext cx="79686" cy="89433"/>
          </a:xfrm>
          <a:prstGeom prst="ellipse">
            <a:avLst/>
          </a:prstGeom>
          <a:noFill/>
          <a:ln>
            <a:solidFill>
              <a:schemeClr val="tx1"/>
            </a:solid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u="sng"/>
          </a:p>
        </p:txBody>
      </p:sp>
      <p:sp>
        <p:nvSpPr>
          <p:cNvPr id="48" name="TextBox 47">
            <a:extLst>
              <a:ext uri="{FF2B5EF4-FFF2-40B4-BE49-F238E27FC236}">
                <a16:creationId xmlns:a16="http://schemas.microsoft.com/office/drawing/2014/main" id="{58543156-F7D5-E504-01C5-B5EC5AC0193E}"/>
              </a:ext>
            </a:extLst>
          </p:cNvPr>
          <p:cNvSpPr txBox="1"/>
          <p:nvPr/>
        </p:nvSpPr>
        <p:spPr>
          <a:xfrm rot="5400000">
            <a:off x="11145211" y="3719205"/>
            <a:ext cx="381836" cy="369332"/>
          </a:xfrm>
          <a:prstGeom prst="rect">
            <a:avLst/>
          </a:prstGeom>
          <a:noFill/>
        </p:spPr>
        <p:txBody>
          <a:bodyPr wrap="none" rtlCol="0">
            <a:spAutoFit/>
          </a:bodyPr>
          <a:lstStyle/>
          <a:p>
            <a:r>
              <a:rPr lang="en-GB"/>
              <a:t>...</a:t>
            </a:r>
            <a:endParaRPr lang="LID4096"/>
          </a:p>
        </p:txBody>
      </p:sp>
      <p:sp>
        <p:nvSpPr>
          <p:cNvPr id="49" name="TextBox 48">
            <a:extLst>
              <a:ext uri="{FF2B5EF4-FFF2-40B4-BE49-F238E27FC236}">
                <a16:creationId xmlns:a16="http://schemas.microsoft.com/office/drawing/2014/main" id="{216292A8-C858-C1DC-08A8-F6A4F4F1A602}"/>
              </a:ext>
            </a:extLst>
          </p:cNvPr>
          <p:cNvSpPr txBox="1"/>
          <p:nvPr/>
        </p:nvSpPr>
        <p:spPr>
          <a:xfrm>
            <a:off x="10878042" y="2326231"/>
            <a:ext cx="793166" cy="369332"/>
          </a:xfrm>
          <a:prstGeom prst="rect">
            <a:avLst/>
          </a:prstGeom>
          <a:noFill/>
        </p:spPr>
        <p:txBody>
          <a:bodyPr wrap="none" rtlCol="0">
            <a:spAutoFit/>
          </a:bodyPr>
          <a:lstStyle/>
          <a:p>
            <a:r>
              <a:rPr lang="en-GB"/>
              <a:t>Port D</a:t>
            </a:r>
            <a:endParaRPr lang="LID4096"/>
          </a:p>
        </p:txBody>
      </p:sp>
      <p:sp>
        <p:nvSpPr>
          <p:cNvPr id="50" name="Rectangle 49">
            <a:extLst>
              <a:ext uri="{FF2B5EF4-FFF2-40B4-BE49-F238E27FC236}">
                <a16:creationId xmlns:a16="http://schemas.microsoft.com/office/drawing/2014/main" id="{23605128-3140-3099-5221-8F03B6083065}"/>
              </a:ext>
            </a:extLst>
          </p:cNvPr>
          <p:cNvSpPr/>
          <p:nvPr/>
        </p:nvSpPr>
        <p:spPr>
          <a:xfrm>
            <a:off x="10830863" y="4150819"/>
            <a:ext cx="863289" cy="1731698"/>
          </a:xfrm>
          <a:prstGeom prst="rect">
            <a:avLst/>
          </a:prstGeom>
          <a:solidFill>
            <a:schemeClr val="bg1">
              <a:lumMod val="85000"/>
            </a:schemeClr>
          </a:solidFill>
          <a:ln w="127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51" name="TextBox 50">
            <a:extLst>
              <a:ext uri="{FF2B5EF4-FFF2-40B4-BE49-F238E27FC236}">
                <a16:creationId xmlns:a16="http://schemas.microsoft.com/office/drawing/2014/main" id="{27E766A8-1E1A-4322-D77D-1C3F071FBFC3}"/>
              </a:ext>
            </a:extLst>
          </p:cNvPr>
          <p:cNvSpPr txBox="1"/>
          <p:nvPr/>
        </p:nvSpPr>
        <p:spPr>
          <a:xfrm>
            <a:off x="11296286" y="4443930"/>
            <a:ext cx="397866" cy="215444"/>
          </a:xfrm>
          <a:prstGeom prst="rect">
            <a:avLst/>
          </a:prstGeom>
          <a:noFill/>
        </p:spPr>
        <p:txBody>
          <a:bodyPr wrap="none" rtlCol="0">
            <a:spAutoFit/>
          </a:bodyPr>
          <a:lstStyle/>
          <a:p>
            <a:r>
              <a:rPr lang="en-GB" sz="800">
                <a:solidFill>
                  <a:schemeClr val="accent2">
                    <a:lumMod val="75000"/>
                  </a:schemeClr>
                </a:solidFill>
              </a:rPr>
              <a:t>pin 0</a:t>
            </a:r>
          </a:p>
        </p:txBody>
      </p:sp>
      <p:cxnSp>
        <p:nvCxnSpPr>
          <p:cNvPr id="52" name="Straight Connector 51">
            <a:extLst>
              <a:ext uri="{FF2B5EF4-FFF2-40B4-BE49-F238E27FC236}">
                <a16:creationId xmlns:a16="http://schemas.microsoft.com/office/drawing/2014/main" id="{87033952-CAD4-06DB-FD9C-4EA86350C4D8}"/>
              </a:ext>
            </a:extLst>
          </p:cNvPr>
          <p:cNvCxnSpPr>
            <a:cxnSpLocks/>
          </p:cNvCxnSpPr>
          <p:nvPr/>
        </p:nvCxnSpPr>
        <p:spPr>
          <a:xfrm>
            <a:off x="10901174" y="4551654"/>
            <a:ext cx="355269" cy="3727"/>
          </a:xfrm>
          <a:prstGeom prst="line">
            <a:avLst/>
          </a:prstGeom>
          <a:ln>
            <a:solidFill>
              <a:schemeClr val="accent2">
                <a:lumMod val="75000"/>
              </a:schemeClr>
            </a:solidFill>
            <a:prstDash val="dash"/>
          </a:ln>
          <a:effectLst/>
        </p:spPr>
        <p:style>
          <a:lnRef idx="1">
            <a:schemeClr val="accent1"/>
          </a:lnRef>
          <a:fillRef idx="0">
            <a:schemeClr val="accent1"/>
          </a:fillRef>
          <a:effectRef idx="0">
            <a:schemeClr val="accent1"/>
          </a:effectRef>
          <a:fontRef idx="minor">
            <a:schemeClr val="tx1"/>
          </a:fontRef>
        </p:style>
      </p:cxnSp>
      <p:sp>
        <p:nvSpPr>
          <p:cNvPr id="53" name="Oval 52">
            <a:extLst>
              <a:ext uri="{FF2B5EF4-FFF2-40B4-BE49-F238E27FC236}">
                <a16:creationId xmlns:a16="http://schemas.microsoft.com/office/drawing/2014/main" id="{515B3498-0211-4C8A-FC37-F96D97177C9F}"/>
              </a:ext>
            </a:extLst>
          </p:cNvPr>
          <p:cNvSpPr/>
          <p:nvPr/>
        </p:nvSpPr>
        <p:spPr>
          <a:xfrm>
            <a:off x="11256443" y="4506936"/>
            <a:ext cx="79686" cy="89433"/>
          </a:xfrm>
          <a:prstGeom prst="ellipse">
            <a:avLst/>
          </a:prstGeom>
          <a:noFill/>
          <a:ln>
            <a:solidFill>
              <a:schemeClr val="accent2">
                <a:lumMod val="75000"/>
              </a:schemeClr>
            </a:solid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u="sng"/>
          </a:p>
        </p:txBody>
      </p:sp>
      <p:sp>
        <p:nvSpPr>
          <p:cNvPr id="54" name="TextBox 53">
            <a:extLst>
              <a:ext uri="{FF2B5EF4-FFF2-40B4-BE49-F238E27FC236}">
                <a16:creationId xmlns:a16="http://schemas.microsoft.com/office/drawing/2014/main" id="{E7A2E0F5-C996-EF62-B9C1-9EBAD568B30B}"/>
              </a:ext>
            </a:extLst>
          </p:cNvPr>
          <p:cNvSpPr txBox="1"/>
          <p:nvPr/>
        </p:nvSpPr>
        <p:spPr>
          <a:xfrm>
            <a:off x="11296286" y="4583155"/>
            <a:ext cx="397866" cy="215444"/>
          </a:xfrm>
          <a:prstGeom prst="rect">
            <a:avLst/>
          </a:prstGeom>
          <a:noFill/>
        </p:spPr>
        <p:txBody>
          <a:bodyPr wrap="none" rtlCol="0">
            <a:spAutoFit/>
          </a:bodyPr>
          <a:lstStyle/>
          <a:p>
            <a:r>
              <a:rPr lang="en-GB" sz="800">
                <a:solidFill>
                  <a:schemeClr val="accent6">
                    <a:lumMod val="75000"/>
                  </a:schemeClr>
                </a:solidFill>
              </a:rPr>
              <a:t>pin 1</a:t>
            </a:r>
          </a:p>
        </p:txBody>
      </p:sp>
      <p:cxnSp>
        <p:nvCxnSpPr>
          <p:cNvPr id="55" name="Straight Connector 54">
            <a:extLst>
              <a:ext uri="{FF2B5EF4-FFF2-40B4-BE49-F238E27FC236}">
                <a16:creationId xmlns:a16="http://schemas.microsoft.com/office/drawing/2014/main" id="{DCE50AD0-5022-5F19-DE4E-A9DB91BD109D}"/>
              </a:ext>
            </a:extLst>
          </p:cNvPr>
          <p:cNvCxnSpPr>
            <a:cxnSpLocks/>
          </p:cNvCxnSpPr>
          <p:nvPr/>
        </p:nvCxnSpPr>
        <p:spPr>
          <a:xfrm>
            <a:off x="10901174" y="4690879"/>
            <a:ext cx="355269" cy="3727"/>
          </a:xfrm>
          <a:prstGeom prst="line">
            <a:avLst/>
          </a:prstGeom>
          <a:ln>
            <a:solidFill>
              <a:schemeClr val="accent6">
                <a:lumMod val="75000"/>
              </a:schemeClr>
            </a:solidFill>
            <a:prstDash val="dash"/>
          </a:ln>
          <a:effectLst/>
        </p:spPr>
        <p:style>
          <a:lnRef idx="1">
            <a:schemeClr val="accent1"/>
          </a:lnRef>
          <a:fillRef idx="0">
            <a:schemeClr val="accent1"/>
          </a:fillRef>
          <a:effectRef idx="0">
            <a:schemeClr val="accent1"/>
          </a:effectRef>
          <a:fontRef idx="minor">
            <a:schemeClr val="tx1"/>
          </a:fontRef>
        </p:style>
      </p:cxnSp>
      <p:sp>
        <p:nvSpPr>
          <p:cNvPr id="56" name="Oval 55">
            <a:extLst>
              <a:ext uri="{FF2B5EF4-FFF2-40B4-BE49-F238E27FC236}">
                <a16:creationId xmlns:a16="http://schemas.microsoft.com/office/drawing/2014/main" id="{2814F74B-8D7E-8E0C-FFA8-5996661244AB}"/>
              </a:ext>
            </a:extLst>
          </p:cNvPr>
          <p:cNvSpPr/>
          <p:nvPr/>
        </p:nvSpPr>
        <p:spPr>
          <a:xfrm>
            <a:off x="11256443" y="4646161"/>
            <a:ext cx="79686" cy="89433"/>
          </a:xfrm>
          <a:prstGeom prst="ellipse">
            <a:avLst/>
          </a:prstGeom>
          <a:noFill/>
          <a:ln>
            <a:solidFill>
              <a:schemeClr val="accent6">
                <a:lumMod val="75000"/>
              </a:schemeClr>
            </a:solid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u="sng"/>
          </a:p>
        </p:txBody>
      </p:sp>
      <p:sp>
        <p:nvSpPr>
          <p:cNvPr id="57" name="TextBox 56">
            <a:extLst>
              <a:ext uri="{FF2B5EF4-FFF2-40B4-BE49-F238E27FC236}">
                <a16:creationId xmlns:a16="http://schemas.microsoft.com/office/drawing/2014/main" id="{E79DF881-537A-5CA5-F4C6-4D36233BC862}"/>
              </a:ext>
            </a:extLst>
          </p:cNvPr>
          <p:cNvSpPr txBox="1"/>
          <p:nvPr/>
        </p:nvSpPr>
        <p:spPr>
          <a:xfrm>
            <a:off x="11296286" y="4722380"/>
            <a:ext cx="397866" cy="215444"/>
          </a:xfrm>
          <a:prstGeom prst="rect">
            <a:avLst/>
          </a:prstGeom>
          <a:noFill/>
        </p:spPr>
        <p:txBody>
          <a:bodyPr wrap="none" rtlCol="0">
            <a:spAutoFit/>
          </a:bodyPr>
          <a:lstStyle/>
          <a:p>
            <a:r>
              <a:rPr lang="en-GB" sz="800"/>
              <a:t>pin 2</a:t>
            </a:r>
          </a:p>
        </p:txBody>
      </p:sp>
      <p:cxnSp>
        <p:nvCxnSpPr>
          <p:cNvPr id="58" name="Straight Connector 57">
            <a:extLst>
              <a:ext uri="{FF2B5EF4-FFF2-40B4-BE49-F238E27FC236}">
                <a16:creationId xmlns:a16="http://schemas.microsoft.com/office/drawing/2014/main" id="{98858DCE-B659-4508-5D23-C6933ABE3B38}"/>
              </a:ext>
            </a:extLst>
          </p:cNvPr>
          <p:cNvCxnSpPr>
            <a:cxnSpLocks/>
          </p:cNvCxnSpPr>
          <p:nvPr/>
        </p:nvCxnSpPr>
        <p:spPr>
          <a:xfrm>
            <a:off x="10901174" y="4830104"/>
            <a:ext cx="355269" cy="3727"/>
          </a:xfrm>
          <a:prstGeom prst="line">
            <a:avLst/>
          </a:prstGeom>
          <a:ln>
            <a:solidFill>
              <a:schemeClr val="tx1"/>
            </a:solidFill>
            <a:prstDash val="dash"/>
          </a:ln>
          <a:effectLst/>
        </p:spPr>
        <p:style>
          <a:lnRef idx="1">
            <a:schemeClr val="accent1"/>
          </a:lnRef>
          <a:fillRef idx="0">
            <a:schemeClr val="accent1"/>
          </a:fillRef>
          <a:effectRef idx="0">
            <a:schemeClr val="accent1"/>
          </a:effectRef>
          <a:fontRef idx="minor">
            <a:schemeClr val="tx1"/>
          </a:fontRef>
        </p:style>
      </p:cxnSp>
      <p:sp>
        <p:nvSpPr>
          <p:cNvPr id="59" name="Oval 58">
            <a:extLst>
              <a:ext uri="{FF2B5EF4-FFF2-40B4-BE49-F238E27FC236}">
                <a16:creationId xmlns:a16="http://schemas.microsoft.com/office/drawing/2014/main" id="{F2868BE0-EF4B-11AA-A8A8-14D9D9718FB7}"/>
              </a:ext>
            </a:extLst>
          </p:cNvPr>
          <p:cNvSpPr/>
          <p:nvPr/>
        </p:nvSpPr>
        <p:spPr>
          <a:xfrm>
            <a:off x="11256443" y="4785386"/>
            <a:ext cx="79686" cy="89433"/>
          </a:xfrm>
          <a:prstGeom prst="ellipse">
            <a:avLst/>
          </a:prstGeom>
          <a:noFill/>
          <a:ln>
            <a:solidFill>
              <a:schemeClr val="tx1"/>
            </a:solid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u="sng"/>
          </a:p>
        </p:txBody>
      </p:sp>
      <p:sp>
        <p:nvSpPr>
          <p:cNvPr id="60" name="TextBox 59">
            <a:extLst>
              <a:ext uri="{FF2B5EF4-FFF2-40B4-BE49-F238E27FC236}">
                <a16:creationId xmlns:a16="http://schemas.microsoft.com/office/drawing/2014/main" id="{2D200B6C-66C2-251D-0AD1-8127927FA670}"/>
              </a:ext>
            </a:extLst>
          </p:cNvPr>
          <p:cNvSpPr txBox="1"/>
          <p:nvPr/>
        </p:nvSpPr>
        <p:spPr>
          <a:xfrm>
            <a:off x="11296286" y="4861605"/>
            <a:ext cx="397866" cy="215444"/>
          </a:xfrm>
          <a:prstGeom prst="rect">
            <a:avLst/>
          </a:prstGeom>
          <a:noFill/>
        </p:spPr>
        <p:txBody>
          <a:bodyPr wrap="none" rtlCol="0">
            <a:spAutoFit/>
          </a:bodyPr>
          <a:lstStyle/>
          <a:p>
            <a:r>
              <a:rPr lang="en-GB" sz="800"/>
              <a:t>pin 3</a:t>
            </a:r>
          </a:p>
        </p:txBody>
      </p:sp>
      <p:cxnSp>
        <p:nvCxnSpPr>
          <p:cNvPr id="61" name="Straight Connector 60">
            <a:extLst>
              <a:ext uri="{FF2B5EF4-FFF2-40B4-BE49-F238E27FC236}">
                <a16:creationId xmlns:a16="http://schemas.microsoft.com/office/drawing/2014/main" id="{5C1101B6-68F4-0DE8-55A1-867508DC06E6}"/>
              </a:ext>
            </a:extLst>
          </p:cNvPr>
          <p:cNvCxnSpPr>
            <a:cxnSpLocks/>
          </p:cNvCxnSpPr>
          <p:nvPr/>
        </p:nvCxnSpPr>
        <p:spPr>
          <a:xfrm>
            <a:off x="10901174" y="4969329"/>
            <a:ext cx="355269" cy="3727"/>
          </a:xfrm>
          <a:prstGeom prst="line">
            <a:avLst/>
          </a:prstGeom>
          <a:ln>
            <a:solidFill>
              <a:schemeClr val="tx1"/>
            </a:solidFill>
            <a:prstDash val="dash"/>
          </a:ln>
          <a:effectLst/>
        </p:spPr>
        <p:style>
          <a:lnRef idx="1">
            <a:schemeClr val="accent1"/>
          </a:lnRef>
          <a:fillRef idx="0">
            <a:schemeClr val="accent1"/>
          </a:fillRef>
          <a:effectRef idx="0">
            <a:schemeClr val="accent1"/>
          </a:effectRef>
          <a:fontRef idx="minor">
            <a:schemeClr val="tx1"/>
          </a:fontRef>
        </p:style>
      </p:cxnSp>
      <p:sp>
        <p:nvSpPr>
          <p:cNvPr id="62" name="Oval 61">
            <a:extLst>
              <a:ext uri="{FF2B5EF4-FFF2-40B4-BE49-F238E27FC236}">
                <a16:creationId xmlns:a16="http://schemas.microsoft.com/office/drawing/2014/main" id="{2A46A61F-BE7E-95DF-FCEA-C322AB8885F6}"/>
              </a:ext>
            </a:extLst>
          </p:cNvPr>
          <p:cNvSpPr/>
          <p:nvPr/>
        </p:nvSpPr>
        <p:spPr>
          <a:xfrm>
            <a:off x="11256443" y="4924611"/>
            <a:ext cx="79686" cy="89433"/>
          </a:xfrm>
          <a:prstGeom prst="ellipse">
            <a:avLst/>
          </a:prstGeom>
          <a:noFill/>
          <a:ln>
            <a:solidFill>
              <a:schemeClr val="tx1"/>
            </a:solid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u="sng"/>
          </a:p>
        </p:txBody>
      </p:sp>
      <p:sp>
        <p:nvSpPr>
          <p:cNvPr id="63" name="TextBox 62">
            <a:extLst>
              <a:ext uri="{FF2B5EF4-FFF2-40B4-BE49-F238E27FC236}">
                <a16:creationId xmlns:a16="http://schemas.microsoft.com/office/drawing/2014/main" id="{4F60F9F1-0E44-28B2-BB35-A4979ECCE8CF}"/>
              </a:ext>
            </a:extLst>
          </p:cNvPr>
          <p:cNvSpPr txBox="1"/>
          <p:nvPr/>
        </p:nvSpPr>
        <p:spPr>
          <a:xfrm>
            <a:off x="11296286" y="5000830"/>
            <a:ext cx="397866" cy="215444"/>
          </a:xfrm>
          <a:prstGeom prst="rect">
            <a:avLst/>
          </a:prstGeom>
          <a:noFill/>
        </p:spPr>
        <p:txBody>
          <a:bodyPr wrap="none" rtlCol="0">
            <a:spAutoFit/>
          </a:bodyPr>
          <a:lstStyle/>
          <a:p>
            <a:r>
              <a:rPr lang="en-GB" sz="800"/>
              <a:t>pin 4</a:t>
            </a:r>
          </a:p>
        </p:txBody>
      </p:sp>
      <p:cxnSp>
        <p:nvCxnSpPr>
          <p:cNvPr id="64" name="Straight Connector 63">
            <a:extLst>
              <a:ext uri="{FF2B5EF4-FFF2-40B4-BE49-F238E27FC236}">
                <a16:creationId xmlns:a16="http://schemas.microsoft.com/office/drawing/2014/main" id="{E45B9D5E-082D-DFBC-6EFE-D90C6E53A7FF}"/>
              </a:ext>
            </a:extLst>
          </p:cNvPr>
          <p:cNvCxnSpPr>
            <a:cxnSpLocks/>
          </p:cNvCxnSpPr>
          <p:nvPr/>
        </p:nvCxnSpPr>
        <p:spPr>
          <a:xfrm>
            <a:off x="10901174" y="5108554"/>
            <a:ext cx="355269" cy="3727"/>
          </a:xfrm>
          <a:prstGeom prst="line">
            <a:avLst/>
          </a:prstGeom>
          <a:ln>
            <a:solidFill>
              <a:schemeClr val="tx1"/>
            </a:solidFill>
            <a:prstDash val="dash"/>
          </a:ln>
          <a:effectLst/>
        </p:spPr>
        <p:style>
          <a:lnRef idx="1">
            <a:schemeClr val="accent1"/>
          </a:lnRef>
          <a:fillRef idx="0">
            <a:schemeClr val="accent1"/>
          </a:fillRef>
          <a:effectRef idx="0">
            <a:schemeClr val="accent1"/>
          </a:effectRef>
          <a:fontRef idx="minor">
            <a:schemeClr val="tx1"/>
          </a:fontRef>
        </p:style>
      </p:cxnSp>
      <p:sp>
        <p:nvSpPr>
          <p:cNvPr id="65" name="Oval 64">
            <a:extLst>
              <a:ext uri="{FF2B5EF4-FFF2-40B4-BE49-F238E27FC236}">
                <a16:creationId xmlns:a16="http://schemas.microsoft.com/office/drawing/2014/main" id="{C5EE0734-AF10-125D-55D9-C0F469768878}"/>
              </a:ext>
            </a:extLst>
          </p:cNvPr>
          <p:cNvSpPr/>
          <p:nvPr/>
        </p:nvSpPr>
        <p:spPr>
          <a:xfrm>
            <a:off x="11256443" y="5063836"/>
            <a:ext cx="79686" cy="89433"/>
          </a:xfrm>
          <a:prstGeom prst="ellipse">
            <a:avLst/>
          </a:prstGeom>
          <a:noFill/>
          <a:ln>
            <a:solidFill>
              <a:schemeClr val="tx1"/>
            </a:solid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u="sng"/>
          </a:p>
        </p:txBody>
      </p:sp>
      <p:sp>
        <p:nvSpPr>
          <p:cNvPr id="66" name="TextBox 65">
            <a:extLst>
              <a:ext uri="{FF2B5EF4-FFF2-40B4-BE49-F238E27FC236}">
                <a16:creationId xmlns:a16="http://schemas.microsoft.com/office/drawing/2014/main" id="{7E7A22B2-BA6B-4DCF-680E-21D1B144C1D4}"/>
              </a:ext>
            </a:extLst>
          </p:cNvPr>
          <p:cNvSpPr txBox="1"/>
          <p:nvPr/>
        </p:nvSpPr>
        <p:spPr>
          <a:xfrm>
            <a:off x="11296286" y="5140055"/>
            <a:ext cx="397866" cy="215444"/>
          </a:xfrm>
          <a:prstGeom prst="rect">
            <a:avLst/>
          </a:prstGeom>
          <a:noFill/>
        </p:spPr>
        <p:txBody>
          <a:bodyPr wrap="none" rtlCol="0">
            <a:spAutoFit/>
          </a:bodyPr>
          <a:lstStyle/>
          <a:p>
            <a:r>
              <a:rPr lang="en-GB" sz="800"/>
              <a:t>pin 5</a:t>
            </a:r>
          </a:p>
        </p:txBody>
      </p:sp>
      <p:cxnSp>
        <p:nvCxnSpPr>
          <p:cNvPr id="67" name="Straight Connector 66">
            <a:extLst>
              <a:ext uri="{FF2B5EF4-FFF2-40B4-BE49-F238E27FC236}">
                <a16:creationId xmlns:a16="http://schemas.microsoft.com/office/drawing/2014/main" id="{73A92128-585E-2CBC-6084-D9BC8F626235}"/>
              </a:ext>
            </a:extLst>
          </p:cNvPr>
          <p:cNvCxnSpPr>
            <a:cxnSpLocks/>
          </p:cNvCxnSpPr>
          <p:nvPr/>
        </p:nvCxnSpPr>
        <p:spPr>
          <a:xfrm>
            <a:off x="10901174" y="5247779"/>
            <a:ext cx="355269" cy="3727"/>
          </a:xfrm>
          <a:prstGeom prst="line">
            <a:avLst/>
          </a:prstGeom>
          <a:ln>
            <a:solidFill>
              <a:schemeClr val="tx1"/>
            </a:solidFill>
            <a:prstDash val="dash"/>
          </a:ln>
          <a:effectLst/>
        </p:spPr>
        <p:style>
          <a:lnRef idx="1">
            <a:schemeClr val="accent1"/>
          </a:lnRef>
          <a:fillRef idx="0">
            <a:schemeClr val="accent1"/>
          </a:fillRef>
          <a:effectRef idx="0">
            <a:schemeClr val="accent1"/>
          </a:effectRef>
          <a:fontRef idx="minor">
            <a:schemeClr val="tx1"/>
          </a:fontRef>
        </p:style>
      </p:cxnSp>
      <p:sp>
        <p:nvSpPr>
          <p:cNvPr id="68" name="Oval 67">
            <a:extLst>
              <a:ext uri="{FF2B5EF4-FFF2-40B4-BE49-F238E27FC236}">
                <a16:creationId xmlns:a16="http://schemas.microsoft.com/office/drawing/2014/main" id="{728639B9-2869-A51A-E277-4779B12FF3AB}"/>
              </a:ext>
            </a:extLst>
          </p:cNvPr>
          <p:cNvSpPr/>
          <p:nvPr/>
        </p:nvSpPr>
        <p:spPr>
          <a:xfrm>
            <a:off x="11256443" y="5203061"/>
            <a:ext cx="79686" cy="89433"/>
          </a:xfrm>
          <a:prstGeom prst="ellipse">
            <a:avLst/>
          </a:prstGeom>
          <a:noFill/>
          <a:ln>
            <a:solidFill>
              <a:schemeClr val="tx1"/>
            </a:solid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u="sng"/>
          </a:p>
        </p:txBody>
      </p:sp>
      <p:sp>
        <p:nvSpPr>
          <p:cNvPr id="69" name="TextBox 68">
            <a:extLst>
              <a:ext uri="{FF2B5EF4-FFF2-40B4-BE49-F238E27FC236}">
                <a16:creationId xmlns:a16="http://schemas.microsoft.com/office/drawing/2014/main" id="{B73F55E0-92E5-14F5-1AD7-D8C3815946CE}"/>
              </a:ext>
            </a:extLst>
          </p:cNvPr>
          <p:cNvSpPr txBox="1"/>
          <p:nvPr/>
        </p:nvSpPr>
        <p:spPr>
          <a:xfrm>
            <a:off x="11296286" y="5279280"/>
            <a:ext cx="397866" cy="215444"/>
          </a:xfrm>
          <a:prstGeom prst="rect">
            <a:avLst/>
          </a:prstGeom>
          <a:noFill/>
        </p:spPr>
        <p:txBody>
          <a:bodyPr wrap="none" rtlCol="0">
            <a:spAutoFit/>
          </a:bodyPr>
          <a:lstStyle/>
          <a:p>
            <a:r>
              <a:rPr lang="en-GB" sz="800"/>
              <a:t>pin 6</a:t>
            </a:r>
          </a:p>
        </p:txBody>
      </p:sp>
      <p:cxnSp>
        <p:nvCxnSpPr>
          <p:cNvPr id="70" name="Straight Connector 69">
            <a:extLst>
              <a:ext uri="{FF2B5EF4-FFF2-40B4-BE49-F238E27FC236}">
                <a16:creationId xmlns:a16="http://schemas.microsoft.com/office/drawing/2014/main" id="{97E63DC0-10B7-6E9A-A779-F4F0E4394B47}"/>
              </a:ext>
            </a:extLst>
          </p:cNvPr>
          <p:cNvCxnSpPr>
            <a:cxnSpLocks/>
          </p:cNvCxnSpPr>
          <p:nvPr/>
        </p:nvCxnSpPr>
        <p:spPr>
          <a:xfrm>
            <a:off x="10901174" y="5387004"/>
            <a:ext cx="355269" cy="3727"/>
          </a:xfrm>
          <a:prstGeom prst="line">
            <a:avLst/>
          </a:prstGeom>
          <a:ln>
            <a:solidFill>
              <a:schemeClr val="tx1"/>
            </a:solidFill>
            <a:prstDash val="dash"/>
          </a:ln>
          <a:effectLst/>
        </p:spPr>
        <p:style>
          <a:lnRef idx="1">
            <a:schemeClr val="accent1"/>
          </a:lnRef>
          <a:fillRef idx="0">
            <a:schemeClr val="accent1"/>
          </a:fillRef>
          <a:effectRef idx="0">
            <a:schemeClr val="accent1"/>
          </a:effectRef>
          <a:fontRef idx="minor">
            <a:schemeClr val="tx1"/>
          </a:fontRef>
        </p:style>
      </p:cxnSp>
      <p:sp>
        <p:nvSpPr>
          <p:cNvPr id="71" name="Oval 70">
            <a:extLst>
              <a:ext uri="{FF2B5EF4-FFF2-40B4-BE49-F238E27FC236}">
                <a16:creationId xmlns:a16="http://schemas.microsoft.com/office/drawing/2014/main" id="{D191B096-4F1B-5D98-3DF1-A6DF85505AFB}"/>
              </a:ext>
            </a:extLst>
          </p:cNvPr>
          <p:cNvSpPr/>
          <p:nvPr/>
        </p:nvSpPr>
        <p:spPr>
          <a:xfrm>
            <a:off x="11256443" y="5342286"/>
            <a:ext cx="79686" cy="89433"/>
          </a:xfrm>
          <a:prstGeom prst="ellipse">
            <a:avLst/>
          </a:prstGeom>
          <a:noFill/>
          <a:ln>
            <a:solidFill>
              <a:schemeClr val="tx1"/>
            </a:solid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u="sng"/>
          </a:p>
        </p:txBody>
      </p:sp>
      <p:sp>
        <p:nvSpPr>
          <p:cNvPr id="72" name="TextBox 71">
            <a:extLst>
              <a:ext uri="{FF2B5EF4-FFF2-40B4-BE49-F238E27FC236}">
                <a16:creationId xmlns:a16="http://schemas.microsoft.com/office/drawing/2014/main" id="{42A29AC6-F0E1-07AD-A1FC-83FCA4BA304F}"/>
              </a:ext>
            </a:extLst>
          </p:cNvPr>
          <p:cNvSpPr txBox="1"/>
          <p:nvPr/>
        </p:nvSpPr>
        <p:spPr>
          <a:xfrm>
            <a:off x="11296286" y="5418505"/>
            <a:ext cx="397866" cy="215444"/>
          </a:xfrm>
          <a:prstGeom prst="rect">
            <a:avLst/>
          </a:prstGeom>
          <a:noFill/>
        </p:spPr>
        <p:txBody>
          <a:bodyPr wrap="none" rtlCol="0">
            <a:spAutoFit/>
          </a:bodyPr>
          <a:lstStyle/>
          <a:p>
            <a:r>
              <a:rPr lang="en-GB" sz="800"/>
              <a:t>pin 7</a:t>
            </a:r>
          </a:p>
        </p:txBody>
      </p:sp>
      <p:cxnSp>
        <p:nvCxnSpPr>
          <p:cNvPr id="73" name="Straight Connector 72">
            <a:extLst>
              <a:ext uri="{FF2B5EF4-FFF2-40B4-BE49-F238E27FC236}">
                <a16:creationId xmlns:a16="http://schemas.microsoft.com/office/drawing/2014/main" id="{FFC7CA58-822C-B3F3-A742-F8AB56F9E5EC}"/>
              </a:ext>
            </a:extLst>
          </p:cNvPr>
          <p:cNvCxnSpPr>
            <a:cxnSpLocks/>
          </p:cNvCxnSpPr>
          <p:nvPr/>
        </p:nvCxnSpPr>
        <p:spPr>
          <a:xfrm>
            <a:off x="10901174" y="5526229"/>
            <a:ext cx="355269" cy="3727"/>
          </a:xfrm>
          <a:prstGeom prst="line">
            <a:avLst/>
          </a:prstGeom>
          <a:ln>
            <a:solidFill>
              <a:schemeClr val="tx1"/>
            </a:solidFill>
            <a:prstDash val="dash"/>
          </a:ln>
          <a:effectLst/>
        </p:spPr>
        <p:style>
          <a:lnRef idx="1">
            <a:schemeClr val="accent1"/>
          </a:lnRef>
          <a:fillRef idx="0">
            <a:schemeClr val="accent1"/>
          </a:fillRef>
          <a:effectRef idx="0">
            <a:schemeClr val="accent1"/>
          </a:effectRef>
          <a:fontRef idx="minor">
            <a:schemeClr val="tx1"/>
          </a:fontRef>
        </p:style>
      </p:cxnSp>
      <p:sp>
        <p:nvSpPr>
          <p:cNvPr id="74" name="Oval 73">
            <a:extLst>
              <a:ext uri="{FF2B5EF4-FFF2-40B4-BE49-F238E27FC236}">
                <a16:creationId xmlns:a16="http://schemas.microsoft.com/office/drawing/2014/main" id="{68AA674B-E27E-8533-6066-598A02EEDDAD}"/>
              </a:ext>
            </a:extLst>
          </p:cNvPr>
          <p:cNvSpPr/>
          <p:nvPr/>
        </p:nvSpPr>
        <p:spPr>
          <a:xfrm>
            <a:off x="11256443" y="5481511"/>
            <a:ext cx="79686" cy="89433"/>
          </a:xfrm>
          <a:prstGeom prst="ellipse">
            <a:avLst/>
          </a:prstGeom>
          <a:noFill/>
          <a:ln>
            <a:solidFill>
              <a:schemeClr val="tx1"/>
            </a:solid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u="sng"/>
          </a:p>
        </p:txBody>
      </p:sp>
      <p:sp>
        <p:nvSpPr>
          <p:cNvPr id="75" name="TextBox 74">
            <a:extLst>
              <a:ext uri="{FF2B5EF4-FFF2-40B4-BE49-F238E27FC236}">
                <a16:creationId xmlns:a16="http://schemas.microsoft.com/office/drawing/2014/main" id="{245903E9-29FE-C8D0-AE9D-26BD162566D1}"/>
              </a:ext>
            </a:extLst>
          </p:cNvPr>
          <p:cNvSpPr txBox="1"/>
          <p:nvPr/>
        </p:nvSpPr>
        <p:spPr>
          <a:xfrm rot="5400000">
            <a:off x="11145211" y="5543793"/>
            <a:ext cx="381836" cy="369332"/>
          </a:xfrm>
          <a:prstGeom prst="rect">
            <a:avLst/>
          </a:prstGeom>
          <a:noFill/>
        </p:spPr>
        <p:txBody>
          <a:bodyPr wrap="none" rtlCol="0">
            <a:spAutoFit/>
          </a:bodyPr>
          <a:lstStyle/>
          <a:p>
            <a:r>
              <a:rPr lang="en-GB"/>
              <a:t>...</a:t>
            </a:r>
            <a:endParaRPr lang="LID4096"/>
          </a:p>
        </p:txBody>
      </p:sp>
      <p:sp>
        <p:nvSpPr>
          <p:cNvPr id="76" name="TextBox 75">
            <a:extLst>
              <a:ext uri="{FF2B5EF4-FFF2-40B4-BE49-F238E27FC236}">
                <a16:creationId xmlns:a16="http://schemas.microsoft.com/office/drawing/2014/main" id="{27A72388-1D93-85AC-D6B3-EA3B48341B09}"/>
              </a:ext>
            </a:extLst>
          </p:cNvPr>
          <p:cNvSpPr txBox="1"/>
          <p:nvPr/>
        </p:nvSpPr>
        <p:spPr>
          <a:xfrm>
            <a:off x="10878042" y="4150819"/>
            <a:ext cx="762709" cy="369332"/>
          </a:xfrm>
          <a:prstGeom prst="rect">
            <a:avLst/>
          </a:prstGeom>
          <a:noFill/>
        </p:spPr>
        <p:txBody>
          <a:bodyPr wrap="none" rtlCol="0">
            <a:spAutoFit/>
          </a:bodyPr>
          <a:lstStyle/>
          <a:p>
            <a:r>
              <a:rPr lang="en-GB"/>
              <a:t>Port E</a:t>
            </a:r>
            <a:endParaRPr lang="LID4096"/>
          </a:p>
        </p:txBody>
      </p:sp>
      <p:sp>
        <p:nvSpPr>
          <p:cNvPr id="79" name="TextBox 78">
            <a:extLst>
              <a:ext uri="{FF2B5EF4-FFF2-40B4-BE49-F238E27FC236}">
                <a16:creationId xmlns:a16="http://schemas.microsoft.com/office/drawing/2014/main" id="{C102F895-4C9F-2C7B-BEDB-B70230066CFF}"/>
              </a:ext>
            </a:extLst>
          </p:cNvPr>
          <p:cNvSpPr txBox="1"/>
          <p:nvPr/>
        </p:nvSpPr>
        <p:spPr>
          <a:xfrm>
            <a:off x="10878042" y="5990962"/>
            <a:ext cx="756297" cy="369332"/>
          </a:xfrm>
          <a:prstGeom prst="rect">
            <a:avLst/>
          </a:prstGeom>
          <a:noFill/>
        </p:spPr>
        <p:txBody>
          <a:bodyPr wrap="none" rtlCol="0">
            <a:spAutoFit/>
          </a:bodyPr>
          <a:lstStyle/>
          <a:p>
            <a:r>
              <a:rPr lang="en-GB"/>
              <a:t>Port F</a:t>
            </a:r>
            <a:endParaRPr lang="LID4096"/>
          </a:p>
        </p:txBody>
      </p:sp>
      <p:sp>
        <p:nvSpPr>
          <p:cNvPr id="81" name="Rectangle 80">
            <a:extLst>
              <a:ext uri="{FF2B5EF4-FFF2-40B4-BE49-F238E27FC236}">
                <a16:creationId xmlns:a16="http://schemas.microsoft.com/office/drawing/2014/main" id="{81C43A10-9CD7-B6C4-544F-83C47B8C3F27}"/>
              </a:ext>
            </a:extLst>
          </p:cNvPr>
          <p:cNvSpPr/>
          <p:nvPr/>
        </p:nvSpPr>
        <p:spPr>
          <a:xfrm>
            <a:off x="10830863" y="1921712"/>
            <a:ext cx="863289" cy="318796"/>
          </a:xfrm>
          <a:prstGeom prst="rect">
            <a:avLst/>
          </a:prstGeom>
          <a:solidFill>
            <a:schemeClr val="bg1">
              <a:lumMod val="85000"/>
            </a:schemeClr>
          </a:solidFill>
          <a:ln w="12700"/>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82" name="TextBox 81">
            <a:extLst>
              <a:ext uri="{FF2B5EF4-FFF2-40B4-BE49-F238E27FC236}">
                <a16:creationId xmlns:a16="http://schemas.microsoft.com/office/drawing/2014/main" id="{FEC87696-C00F-A0B8-4AAD-1486CD1765CD}"/>
              </a:ext>
            </a:extLst>
          </p:cNvPr>
          <p:cNvSpPr txBox="1"/>
          <p:nvPr/>
        </p:nvSpPr>
        <p:spPr>
          <a:xfrm rot="5400000">
            <a:off x="11145211" y="1901784"/>
            <a:ext cx="381836" cy="369332"/>
          </a:xfrm>
          <a:prstGeom prst="rect">
            <a:avLst/>
          </a:prstGeom>
          <a:noFill/>
        </p:spPr>
        <p:txBody>
          <a:bodyPr wrap="none" rtlCol="0">
            <a:spAutoFit/>
          </a:bodyPr>
          <a:lstStyle/>
          <a:p>
            <a:r>
              <a:rPr lang="en-GB"/>
              <a:t>...</a:t>
            </a:r>
            <a:endParaRPr lang="LID4096"/>
          </a:p>
        </p:txBody>
      </p:sp>
      <p:sp>
        <p:nvSpPr>
          <p:cNvPr id="83" name="TextBox 82">
            <a:extLst>
              <a:ext uri="{FF2B5EF4-FFF2-40B4-BE49-F238E27FC236}">
                <a16:creationId xmlns:a16="http://schemas.microsoft.com/office/drawing/2014/main" id="{CB68D3F2-1600-B32D-2EB1-52811F8F611E}"/>
              </a:ext>
            </a:extLst>
          </p:cNvPr>
          <p:cNvSpPr txBox="1"/>
          <p:nvPr/>
        </p:nvSpPr>
        <p:spPr>
          <a:xfrm>
            <a:off x="11296286" y="6269843"/>
            <a:ext cx="397866" cy="215444"/>
          </a:xfrm>
          <a:prstGeom prst="rect">
            <a:avLst/>
          </a:prstGeom>
          <a:noFill/>
        </p:spPr>
        <p:txBody>
          <a:bodyPr wrap="none" rtlCol="0">
            <a:spAutoFit/>
          </a:bodyPr>
          <a:lstStyle/>
          <a:p>
            <a:r>
              <a:rPr lang="en-GB" sz="800">
                <a:solidFill>
                  <a:schemeClr val="accent2">
                    <a:lumMod val="75000"/>
                  </a:schemeClr>
                </a:solidFill>
              </a:rPr>
              <a:t>pin 0</a:t>
            </a:r>
          </a:p>
        </p:txBody>
      </p:sp>
      <p:cxnSp>
        <p:nvCxnSpPr>
          <p:cNvPr id="84" name="Straight Connector 83">
            <a:extLst>
              <a:ext uri="{FF2B5EF4-FFF2-40B4-BE49-F238E27FC236}">
                <a16:creationId xmlns:a16="http://schemas.microsoft.com/office/drawing/2014/main" id="{FAC87DB6-C993-D09A-0BA2-8175A75A5FAD}"/>
              </a:ext>
            </a:extLst>
          </p:cNvPr>
          <p:cNvCxnSpPr>
            <a:cxnSpLocks/>
          </p:cNvCxnSpPr>
          <p:nvPr/>
        </p:nvCxnSpPr>
        <p:spPr>
          <a:xfrm>
            <a:off x="10901174" y="6377567"/>
            <a:ext cx="355269" cy="3727"/>
          </a:xfrm>
          <a:prstGeom prst="line">
            <a:avLst/>
          </a:prstGeom>
          <a:ln>
            <a:solidFill>
              <a:schemeClr val="accent2">
                <a:lumMod val="75000"/>
              </a:schemeClr>
            </a:solidFill>
            <a:prstDash val="dash"/>
          </a:ln>
          <a:effectLst/>
        </p:spPr>
        <p:style>
          <a:lnRef idx="1">
            <a:schemeClr val="accent1"/>
          </a:lnRef>
          <a:fillRef idx="0">
            <a:schemeClr val="accent1"/>
          </a:fillRef>
          <a:effectRef idx="0">
            <a:schemeClr val="accent1"/>
          </a:effectRef>
          <a:fontRef idx="minor">
            <a:schemeClr val="tx1"/>
          </a:fontRef>
        </p:style>
      </p:cxnSp>
      <p:sp>
        <p:nvSpPr>
          <p:cNvPr id="85" name="Oval 84">
            <a:extLst>
              <a:ext uri="{FF2B5EF4-FFF2-40B4-BE49-F238E27FC236}">
                <a16:creationId xmlns:a16="http://schemas.microsoft.com/office/drawing/2014/main" id="{2A52D355-DC2F-035C-444D-A05D132AA368}"/>
              </a:ext>
            </a:extLst>
          </p:cNvPr>
          <p:cNvSpPr/>
          <p:nvPr/>
        </p:nvSpPr>
        <p:spPr>
          <a:xfrm>
            <a:off x="11256443" y="6332849"/>
            <a:ext cx="79686" cy="89433"/>
          </a:xfrm>
          <a:prstGeom prst="ellipse">
            <a:avLst/>
          </a:prstGeom>
          <a:noFill/>
          <a:ln>
            <a:solidFill>
              <a:schemeClr val="accent2">
                <a:lumMod val="75000"/>
              </a:schemeClr>
            </a:solid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u="sng"/>
          </a:p>
        </p:txBody>
      </p:sp>
      <p:sp>
        <p:nvSpPr>
          <p:cNvPr id="88" name="Arrow: Down 87">
            <a:extLst>
              <a:ext uri="{FF2B5EF4-FFF2-40B4-BE49-F238E27FC236}">
                <a16:creationId xmlns:a16="http://schemas.microsoft.com/office/drawing/2014/main" id="{5D09CFA5-67B8-E1AF-1921-296134903284}"/>
              </a:ext>
            </a:extLst>
          </p:cNvPr>
          <p:cNvSpPr/>
          <p:nvPr/>
        </p:nvSpPr>
        <p:spPr>
          <a:xfrm>
            <a:off x="10046492" y="1698526"/>
            <a:ext cx="268777" cy="367973"/>
          </a:xfrm>
          <a:prstGeom prst="downArrow">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89" name="Rectangle 88">
            <a:extLst>
              <a:ext uri="{FF2B5EF4-FFF2-40B4-BE49-F238E27FC236}">
                <a16:creationId xmlns:a16="http://schemas.microsoft.com/office/drawing/2014/main" id="{47337E38-F30E-61BC-7D66-EB193ECD43FC}"/>
              </a:ext>
            </a:extLst>
          </p:cNvPr>
          <p:cNvSpPr/>
          <p:nvPr/>
        </p:nvSpPr>
        <p:spPr>
          <a:xfrm>
            <a:off x="9878713" y="1388132"/>
            <a:ext cx="616590" cy="322976"/>
          </a:xfrm>
          <a:prstGeom prst="rect">
            <a:avLst/>
          </a:prstGeom>
          <a:solidFill>
            <a:schemeClr val="bg1">
              <a:lumMod val="8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90" name="TextBox 89">
            <a:extLst>
              <a:ext uri="{FF2B5EF4-FFF2-40B4-BE49-F238E27FC236}">
                <a16:creationId xmlns:a16="http://schemas.microsoft.com/office/drawing/2014/main" id="{CBD97697-26F8-2909-8132-2C391CC9551C}"/>
              </a:ext>
            </a:extLst>
          </p:cNvPr>
          <p:cNvSpPr txBox="1"/>
          <p:nvPr/>
        </p:nvSpPr>
        <p:spPr>
          <a:xfrm>
            <a:off x="9905804" y="1421527"/>
            <a:ext cx="550151" cy="276999"/>
          </a:xfrm>
          <a:prstGeom prst="rect">
            <a:avLst/>
          </a:prstGeom>
          <a:noFill/>
        </p:spPr>
        <p:txBody>
          <a:bodyPr wrap="none" rtlCol="0">
            <a:spAutoFit/>
          </a:bodyPr>
          <a:lstStyle/>
          <a:p>
            <a:r>
              <a:rPr lang="en-GB" sz="1200"/>
              <a:t>EXTI0</a:t>
            </a:r>
            <a:endParaRPr lang="LID4096" sz="1200"/>
          </a:p>
        </p:txBody>
      </p:sp>
      <p:sp>
        <p:nvSpPr>
          <p:cNvPr id="91" name="Arrow: Down 90">
            <a:extLst>
              <a:ext uri="{FF2B5EF4-FFF2-40B4-BE49-F238E27FC236}">
                <a16:creationId xmlns:a16="http://schemas.microsoft.com/office/drawing/2014/main" id="{1C81C529-D019-2CFE-F816-009EDC08F932}"/>
              </a:ext>
            </a:extLst>
          </p:cNvPr>
          <p:cNvSpPr/>
          <p:nvPr/>
        </p:nvSpPr>
        <p:spPr>
          <a:xfrm>
            <a:off x="9434049" y="1698525"/>
            <a:ext cx="268777" cy="1553935"/>
          </a:xfrm>
          <a:prstGeom prst="downArrow">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grpSp>
        <p:nvGrpSpPr>
          <p:cNvPr id="92" name="Group 91">
            <a:extLst>
              <a:ext uri="{FF2B5EF4-FFF2-40B4-BE49-F238E27FC236}">
                <a16:creationId xmlns:a16="http://schemas.microsoft.com/office/drawing/2014/main" id="{C6B6FCC2-73E2-222E-1310-49F80F091B05}"/>
              </a:ext>
            </a:extLst>
          </p:cNvPr>
          <p:cNvGrpSpPr/>
          <p:nvPr/>
        </p:nvGrpSpPr>
        <p:grpSpPr>
          <a:xfrm>
            <a:off x="9266270" y="1388132"/>
            <a:ext cx="616590" cy="322976"/>
            <a:chOff x="7566824" y="759203"/>
            <a:chExt cx="616590" cy="322976"/>
          </a:xfrm>
        </p:grpSpPr>
        <p:sp>
          <p:nvSpPr>
            <p:cNvPr id="93" name="Rectangle 92">
              <a:extLst>
                <a:ext uri="{FF2B5EF4-FFF2-40B4-BE49-F238E27FC236}">
                  <a16:creationId xmlns:a16="http://schemas.microsoft.com/office/drawing/2014/main" id="{E7F9FB3C-E17C-836D-0FB3-29EAF49F882F}"/>
                </a:ext>
              </a:extLst>
            </p:cNvPr>
            <p:cNvSpPr/>
            <p:nvPr/>
          </p:nvSpPr>
          <p:spPr>
            <a:xfrm>
              <a:off x="7566824" y="759203"/>
              <a:ext cx="616590" cy="322976"/>
            </a:xfrm>
            <a:prstGeom prst="rect">
              <a:avLst/>
            </a:prstGeom>
            <a:solidFill>
              <a:schemeClr val="accent6">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94" name="TextBox 93">
              <a:extLst>
                <a:ext uri="{FF2B5EF4-FFF2-40B4-BE49-F238E27FC236}">
                  <a16:creationId xmlns:a16="http://schemas.microsoft.com/office/drawing/2014/main" id="{C5824B3D-6889-9C97-86F2-BFCD0880CF5A}"/>
                </a:ext>
              </a:extLst>
            </p:cNvPr>
            <p:cNvSpPr txBox="1"/>
            <p:nvPr/>
          </p:nvSpPr>
          <p:spPr>
            <a:xfrm>
              <a:off x="7593915" y="792598"/>
              <a:ext cx="550151" cy="276999"/>
            </a:xfrm>
            <a:prstGeom prst="rect">
              <a:avLst/>
            </a:prstGeom>
            <a:noFill/>
          </p:spPr>
          <p:txBody>
            <a:bodyPr wrap="none" rtlCol="0">
              <a:spAutoFit/>
            </a:bodyPr>
            <a:lstStyle/>
            <a:p>
              <a:r>
                <a:rPr lang="en-GB" sz="1200"/>
                <a:t>EXTI1</a:t>
              </a:r>
              <a:endParaRPr lang="LID4096" sz="1200"/>
            </a:p>
          </p:txBody>
        </p:sp>
      </p:grpSp>
      <p:sp>
        <p:nvSpPr>
          <p:cNvPr id="95" name="Freeform: Shape 94">
            <a:extLst>
              <a:ext uri="{FF2B5EF4-FFF2-40B4-BE49-F238E27FC236}">
                <a16:creationId xmlns:a16="http://schemas.microsoft.com/office/drawing/2014/main" id="{BF5CA355-3C95-C0D1-BC0A-353D4A46E02F}"/>
              </a:ext>
            </a:extLst>
          </p:cNvPr>
          <p:cNvSpPr/>
          <p:nvPr/>
        </p:nvSpPr>
        <p:spPr>
          <a:xfrm>
            <a:off x="9363539" y="3126861"/>
            <a:ext cx="432137" cy="960539"/>
          </a:xfrm>
          <a:custGeom>
            <a:avLst/>
            <a:gdLst>
              <a:gd name="csX0" fmla="*/ 213919 w 213919"/>
              <a:gd name="csY0" fmla="*/ 0 h 960539"/>
              <a:gd name="csX1" fmla="*/ 0 w 213919"/>
              <a:gd name="csY1" fmla="*/ 213919 h 960539"/>
              <a:gd name="csX2" fmla="*/ 0 w 213919"/>
              <a:gd name="csY2" fmla="*/ 759203 h 960539"/>
              <a:gd name="csX3" fmla="*/ 201336 w 213919"/>
              <a:gd name="csY3" fmla="*/ 960539 h 960539"/>
              <a:gd name="csX4" fmla="*/ 213919 w 213919"/>
              <a:gd name="csY4" fmla="*/ 0 h 960539"/>
              <a:gd name="csX0" fmla="*/ 213919 w 215874"/>
              <a:gd name="csY0" fmla="*/ 0 h 960539"/>
              <a:gd name="csX1" fmla="*/ 0 w 215874"/>
              <a:gd name="csY1" fmla="*/ 213919 h 960539"/>
              <a:gd name="csX2" fmla="*/ 0 w 215874"/>
              <a:gd name="csY2" fmla="*/ 759203 h 960539"/>
              <a:gd name="csX3" fmla="*/ 215874 w 215874"/>
              <a:gd name="csY3" fmla="*/ 960539 h 960539"/>
              <a:gd name="csX4" fmla="*/ 213919 w 215874"/>
              <a:gd name="csY4" fmla="*/ 0 h 960539"/>
              <a:gd name="csX0" fmla="*/ 213919 w 213950"/>
              <a:gd name="csY0" fmla="*/ 0 h 960539"/>
              <a:gd name="csX1" fmla="*/ 0 w 213950"/>
              <a:gd name="csY1" fmla="*/ 213919 h 960539"/>
              <a:gd name="csX2" fmla="*/ 0 w 213950"/>
              <a:gd name="csY2" fmla="*/ 759203 h 960539"/>
              <a:gd name="csX3" fmla="*/ 205490 w 213950"/>
              <a:gd name="csY3" fmla="*/ 960539 h 960539"/>
              <a:gd name="csX4" fmla="*/ 213919 w 213950"/>
              <a:gd name="csY4" fmla="*/ 0 h 960539"/>
              <a:gd name="csX0" fmla="*/ 213919 w 213950"/>
              <a:gd name="csY0" fmla="*/ 0 h 960539"/>
              <a:gd name="csX1" fmla="*/ 0 w 213950"/>
              <a:gd name="csY1" fmla="*/ 213919 h 960539"/>
              <a:gd name="csX2" fmla="*/ 0 w 213950"/>
              <a:gd name="csY2" fmla="*/ 759203 h 960539"/>
              <a:gd name="csX3" fmla="*/ 205490 w 213950"/>
              <a:gd name="csY3" fmla="*/ 960539 h 960539"/>
              <a:gd name="csX4" fmla="*/ 213919 w 213950"/>
              <a:gd name="csY4" fmla="*/ 0 h 960539"/>
              <a:gd name="csX0" fmla="*/ 213919 w 213972"/>
              <a:gd name="csY0" fmla="*/ 0 h 960539"/>
              <a:gd name="csX1" fmla="*/ 0 w 213972"/>
              <a:gd name="csY1" fmla="*/ 213919 h 960539"/>
              <a:gd name="csX2" fmla="*/ 0 w 213972"/>
              <a:gd name="csY2" fmla="*/ 759203 h 960539"/>
              <a:gd name="csX3" fmla="*/ 209644 w 213972"/>
              <a:gd name="csY3" fmla="*/ 960539 h 960539"/>
              <a:gd name="csX4" fmla="*/ 213919 w 213972"/>
              <a:gd name="csY4" fmla="*/ 0 h 960539"/>
            </a:gdLst>
            <a:ahLst/>
            <a:cxnLst>
              <a:cxn ang="0">
                <a:pos x="csX0" y="csY0"/>
              </a:cxn>
              <a:cxn ang="0">
                <a:pos x="csX1" y="csY1"/>
              </a:cxn>
              <a:cxn ang="0">
                <a:pos x="csX2" y="csY2"/>
              </a:cxn>
              <a:cxn ang="0">
                <a:pos x="csX3" y="csY3"/>
              </a:cxn>
              <a:cxn ang="0">
                <a:pos x="csX4" y="csY4"/>
              </a:cxn>
            </a:cxnLst>
            <a:rect l="l" t="t" r="r" b="b"/>
            <a:pathLst>
              <a:path w="213972" h="960539">
                <a:moveTo>
                  <a:pt x="213919" y="0"/>
                </a:moveTo>
                <a:lnTo>
                  <a:pt x="0" y="213919"/>
                </a:lnTo>
                <a:lnTo>
                  <a:pt x="0" y="759203"/>
                </a:lnTo>
                <a:lnTo>
                  <a:pt x="209644" y="960539"/>
                </a:lnTo>
                <a:cubicBezTo>
                  <a:pt x="208992" y="640359"/>
                  <a:pt x="214571" y="320180"/>
                  <a:pt x="213919" y="0"/>
                </a:cubicBezTo>
                <a:close/>
              </a:path>
            </a:pathLst>
          </a:cu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97" name="Freeform: Shape 96">
            <a:extLst>
              <a:ext uri="{FF2B5EF4-FFF2-40B4-BE49-F238E27FC236}">
                <a16:creationId xmlns:a16="http://schemas.microsoft.com/office/drawing/2014/main" id="{E0127ECE-8852-0337-345D-DF259E6C9DCB}"/>
              </a:ext>
            </a:extLst>
          </p:cNvPr>
          <p:cNvSpPr/>
          <p:nvPr/>
        </p:nvSpPr>
        <p:spPr>
          <a:xfrm>
            <a:off x="9803211" y="2860401"/>
            <a:ext cx="1052818" cy="595618"/>
          </a:xfrm>
          <a:custGeom>
            <a:avLst/>
            <a:gdLst>
              <a:gd name="csX0" fmla="*/ 1052818 w 1052818"/>
              <a:gd name="csY0" fmla="*/ 0 h 595618"/>
              <a:gd name="csX1" fmla="*/ 952151 w 1052818"/>
              <a:gd name="csY1" fmla="*/ 0 h 595618"/>
              <a:gd name="csX2" fmla="*/ 952151 w 1052818"/>
              <a:gd name="csY2" fmla="*/ 595618 h 595618"/>
              <a:gd name="csX3" fmla="*/ 0 w 1052818"/>
              <a:gd name="csY3" fmla="*/ 595618 h 595618"/>
            </a:gdLst>
            <a:ahLst/>
            <a:cxnLst>
              <a:cxn ang="0">
                <a:pos x="csX0" y="csY0"/>
              </a:cxn>
              <a:cxn ang="0">
                <a:pos x="csX1" y="csY1"/>
              </a:cxn>
              <a:cxn ang="0">
                <a:pos x="csX2" y="csY2"/>
              </a:cxn>
              <a:cxn ang="0">
                <a:pos x="csX3" y="csY3"/>
              </a:cxn>
            </a:cxnLst>
            <a:rect l="l" t="t" r="r" b="b"/>
            <a:pathLst>
              <a:path w="1052818" h="595618">
                <a:moveTo>
                  <a:pt x="1052818" y="0"/>
                </a:moveTo>
                <a:lnTo>
                  <a:pt x="952151" y="0"/>
                </a:lnTo>
                <a:lnTo>
                  <a:pt x="952151" y="595618"/>
                </a:lnTo>
                <a:lnTo>
                  <a:pt x="0" y="595618"/>
                </a:lnTo>
              </a:path>
            </a:pathLst>
          </a:custGeom>
          <a:noFill/>
          <a:ln>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cxnSp>
        <p:nvCxnSpPr>
          <p:cNvPr id="98" name="Straight Connector 97">
            <a:extLst>
              <a:ext uri="{FF2B5EF4-FFF2-40B4-BE49-F238E27FC236}">
                <a16:creationId xmlns:a16="http://schemas.microsoft.com/office/drawing/2014/main" id="{082EE771-C906-BB2E-04DC-EBEB3E062256}"/>
              </a:ext>
            </a:extLst>
          </p:cNvPr>
          <p:cNvCxnSpPr/>
          <p:nvPr/>
        </p:nvCxnSpPr>
        <p:spPr>
          <a:xfrm>
            <a:off x="10612050" y="1810344"/>
            <a:ext cx="0" cy="527038"/>
          </a:xfrm>
          <a:prstGeom prst="line">
            <a:avLst/>
          </a:prstGeom>
          <a:ln>
            <a:solidFill>
              <a:schemeClr val="accent6">
                <a:lumMod val="75000"/>
              </a:schemeClr>
            </a:solidFill>
            <a:prstDash val="sysDash"/>
          </a:ln>
        </p:spPr>
        <p:style>
          <a:lnRef idx="2">
            <a:schemeClr val="accent1"/>
          </a:lnRef>
          <a:fillRef idx="0">
            <a:schemeClr val="accent1"/>
          </a:fillRef>
          <a:effectRef idx="1">
            <a:schemeClr val="accent1"/>
          </a:effectRef>
          <a:fontRef idx="minor">
            <a:schemeClr val="tx1"/>
          </a:fontRef>
        </p:style>
      </p:cxnSp>
      <p:sp>
        <p:nvSpPr>
          <p:cNvPr id="99" name="Freeform: Shape 98">
            <a:extLst>
              <a:ext uri="{FF2B5EF4-FFF2-40B4-BE49-F238E27FC236}">
                <a16:creationId xmlns:a16="http://schemas.microsoft.com/office/drawing/2014/main" id="{5C991B28-2D59-3B8C-F74C-1A1ACFFC5AF6}"/>
              </a:ext>
            </a:extLst>
          </p:cNvPr>
          <p:cNvSpPr/>
          <p:nvPr/>
        </p:nvSpPr>
        <p:spPr>
          <a:xfrm>
            <a:off x="9807406" y="2340283"/>
            <a:ext cx="805343" cy="1019263"/>
          </a:xfrm>
          <a:custGeom>
            <a:avLst/>
            <a:gdLst>
              <a:gd name="csX0" fmla="*/ 805343 w 805343"/>
              <a:gd name="csY0" fmla="*/ 0 h 1019263"/>
              <a:gd name="csX1" fmla="*/ 805343 w 805343"/>
              <a:gd name="csY1" fmla="*/ 1019263 h 1019263"/>
              <a:gd name="csX2" fmla="*/ 0 w 805343"/>
              <a:gd name="csY2" fmla="*/ 1019263 h 1019263"/>
              <a:gd name="csX3" fmla="*/ 0 w 805343"/>
              <a:gd name="csY3" fmla="*/ 1002485 h 1019263"/>
            </a:gdLst>
            <a:ahLst/>
            <a:cxnLst>
              <a:cxn ang="0">
                <a:pos x="csX0" y="csY0"/>
              </a:cxn>
              <a:cxn ang="0">
                <a:pos x="csX1" y="csY1"/>
              </a:cxn>
              <a:cxn ang="0">
                <a:pos x="csX2" y="csY2"/>
              </a:cxn>
              <a:cxn ang="0">
                <a:pos x="csX3" y="csY3"/>
              </a:cxn>
            </a:cxnLst>
            <a:rect l="l" t="t" r="r" b="b"/>
            <a:pathLst>
              <a:path w="805343" h="1019263">
                <a:moveTo>
                  <a:pt x="805343" y="0"/>
                </a:moveTo>
                <a:lnTo>
                  <a:pt x="805343" y="1019263"/>
                </a:lnTo>
                <a:lnTo>
                  <a:pt x="0" y="1019263"/>
                </a:lnTo>
                <a:lnTo>
                  <a:pt x="0" y="1002485"/>
                </a:lnTo>
              </a:path>
            </a:pathLst>
          </a:custGeom>
          <a:noFill/>
          <a:ln>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100" name="Freeform: Shape 99">
            <a:extLst>
              <a:ext uri="{FF2B5EF4-FFF2-40B4-BE49-F238E27FC236}">
                <a16:creationId xmlns:a16="http://schemas.microsoft.com/office/drawing/2014/main" id="{E4C7D6E0-9A56-4101-8927-E1570E948FEF}"/>
              </a:ext>
            </a:extLst>
          </p:cNvPr>
          <p:cNvSpPr/>
          <p:nvPr/>
        </p:nvSpPr>
        <p:spPr>
          <a:xfrm>
            <a:off x="9794822" y="3565076"/>
            <a:ext cx="1065402" cy="1124125"/>
          </a:xfrm>
          <a:custGeom>
            <a:avLst/>
            <a:gdLst>
              <a:gd name="csX0" fmla="*/ 1052818 w 1052818"/>
              <a:gd name="csY0" fmla="*/ 1124125 h 1124125"/>
              <a:gd name="csX1" fmla="*/ 637563 w 1052818"/>
              <a:gd name="csY1" fmla="*/ 1124125 h 1124125"/>
              <a:gd name="csX2" fmla="*/ 637563 w 1052818"/>
              <a:gd name="csY2" fmla="*/ 0 h 1124125"/>
              <a:gd name="csX3" fmla="*/ 0 w 1052818"/>
              <a:gd name="csY3" fmla="*/ 0 h 1124125"/>
            </a:gdLst>
            <a:ahLst/>
            <a:cxnLst>
              <a:cxn ang="0">
                <a:pos x="csX0" y="csY0"/>
              </a:cxn>
              <a:cxn ang="0">
                <a:pos x="csX1" y="csY1"/>
              </a:cxn>
              <a:cxn ang="0">
                <a:pos x="csX2" y="csY2"/>
              </a:cxn>
              <a:cxn ang="0">
                <a:pos x="csX3" y="csY3"/>
              </a:cxn>
            </a:cxnLst>
            <a:rect l="l" t="t" r="r" b="b"/>
            <a:pathLst>
              <a:path w="1052818" h="1124125">
                <a:moveTo>
                  <a:pt x="1052818" y="1124125"/>
                </a:moveTo>
                <a:lnTo>
                  <a:pt x="637563" y="1124125"/>
                </a:lnTo>
                <a:lnTo>
                  <a:pt x="637563" y="0"/>
                </a:lnTo>
                <a:lnTo>
                  <a:pt x="0" y="0"/>
                </a:lnTo>
              </a:path>
            </a:pathLst>
          </a:custGeom>
          <a:noFill/>
          <a:ln>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cxnSp>
        <p:nvCxnSpPr>
          <p:cNvPr id="101" name="Straight Connector 100">
            <a:extLst>
              <a:ext uri="{FF2B5EF4-FFF2-40B4-BE49-F238E27FC236}">
                <a16:creationId xmlns:a16="http://schemas.microsoft.com/office/drawing/2014/main" id="{0FD1FC7A-5EFE-3879-0CE2-3E90F7DC7DDD}"/>
              </a:ext>
            </a:extLst>
          </p:cNvPr>
          <p:cNvCxnSpPr/>
          <p:nvPr/>
        </p:nvCxnSpPr>
        <p:spPr>
          <a:xfrm>
            <a:off x="10315269" y="5990962"/>
            <a:ext cx="0" cy="527038"/>
          </a:xfrm>
          <a:prstGeom prst="line">
            <a:avLst/>
          </a:prstGeom>
          <a:ln>
            <a:solidFill>
              <a:schemeClr val="accent6">
                <a:lumMod val="75000"/>
              </a:schemeClr>
            </a:solidFill>
            <a:prstDash val="sysDash"/>
          </a:ln>
        </p:spPr>
        <p:style>
          <a:lnRef idx="2">
            <a:schemeClr val="accent1"/>
          </a:lnRef>
          <a:fillRef idx="0">
            <a:schemeClr val="accent1"/>
          </a:fillRef>
          <a:effectRef idx="1">
            <a:schemeClr val="accent1"/>
          </a:effectRef>
          <a:fontRef idx="minor">
            <a:schemeClr val="tx1"/>
          </a:fontRef>
        </p:style>
      </p:cxnSp>
      <p:sp>
        <p:nvSpPr>
          <p:cNvPr id="102" name="Freeform: Shape 101">
            <a:extLst>
              <a:ext uri="{FF2B5EF4-FFF2-40B4-BE49-F238E27FC236}">
                <a16:creationId xmlns:a16="http://schemas.microsoft.com/office/drawing/2014/main" id="{B54515E0-456A-2E31-91F8-14674702D5A4}"/>
              </a:ext>
            </a:extLst>
          </p:cNvPr>
          <p:cNvSpPr/>
          <p:nvPr/>
        </p:nvSpPr>
        <p:spPr>
          <a:xfrm>
            <a:off x="9794822" y="3690911"/>
            <a:ext cx="524312" cy="2294389"/>
          </a:xfrm>
          <a:custGeom>
            <a:avLst/>
            <a:gdLst>
              <a:gd name="csX0" fmla="*/ 524312 w 524312"/>
              <a:gd name="csY0" fmla="*/ 2294389 h 2294389"/>
              <a:gd name="csX1" fmla="*/ 524312 w 524312"/>
              <a:gd name="csY1" fmla="*/ 4194 h 2294389"/>
              <a:gd name="csX2" fmla="*/ 0 w 524312"/>
              <a:gd name="csY2" fmla="*/ 4194 h 2294389"/>
              <a:gd name="csX3" fmla="*/ 0 w 524312"/>
              <a:gd name="csY3" fmla="*/ 0 h 2294389"/>
            </a:gdLst>
            <a:ahLst/>
            <a:cxnLst>
              <a:cxn ang="0">
                <a:pos x="csX0" y="csY0"/>
              </a:cxn>
              <a:cxn ang="0">
                <a:pos x="csX1" y="csY1"/>
              </a:cxn>
              <a:cxn ang="0">
                <a:pos x="csX2" y="csY2"/>
              </a:cxn>
              <a:cxn ang="0">
                <a:pos x="csX3" y="csY3"/>
              </a:cxn>
            </a:cxnLst>
            <a:rect l="l" t="t" r="r" b="b"/>
            <a:pathLst>
              <a:path w="524312" h="2294389">
                <a:moveTo>
                  <a:pt x="524312" y="2294389"/>
                </a:moveTo>
                <a:lnTo>
                  <a:pt x="524312" y="4194"/>
                </a:lnTo>
                <a:lnTo>
                  <a:pt x="0" y="4194"/>
                </a:lnTo>
                <a:lnTo>
                  <a:pt x="0" y="0"/>
                </a:lnTo>
              </a:path>
            </a:pathLst>
          </a:custGeom>
          <a:noFill/>
          <a:ln>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103" name="Rectangle 102">
            <a:extLst>
              <a:ext uri="{FF2B5EF4-FFF2-40B4-BE49-F238E27FC236}">
                <a16:creationId xmlns:a16="http://schemas.microsoft.com/office/drawing/2014/main" id="{76450D68-2303-AAC4-EBFE-F98CAD16FA23}"/>
              </a:ext>
            </a:extLst>
          </p:cNvPr>
          <p:cNvSpPr/>
          <p:nvPr/>
        </p:nvSpPr>
        <p:spPr>
          <a:xfrm>
            <a:off x="8655272" y="1388132"/>
            <a:ext cx="616590" cy="322976"/>
          </a:xfrm>
          <a:prstGeom prst="rect">
            <a:avLst/>
          </a:prstGeom>
          <a:solidFill>
            <a:schemeClr val="bg1">
              <a:lumMod val="9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104" name="TextBox 103">
            <a:extLst>
              <a:ext uri="{FF2B5EF4-FFF2-40B4-BE49-F238E27FC236}">
                <a16:creationId xmlns:a16="http://schemas.microsoft.com/office/drawing/2014/main" id="{2E29B28B-C322-ADE8-A8AE-C9AF62B044C3}"/>
              </a:ext>
            </a:extLst>
          </p:cNvPr>
          <p:cNvSpPr txBox="1"/>
          <p:nvPr/>
        </p:nvSpPr>
        <p:spPr>
          <a:xfrm>
            <a:off x="8682363" y="1421527"/>
            <a:ext cx="550151" cy="276999"/>
          </a:xfrm>
          <a:prstGeom prst="rect">
            <a:avLst/>
          </a:prstGeom>
          <a:noFill/>
        </p:spPr>
        <p:txBody>
          <a:bodyPr wrap="none" rtlCol="0">
            <a:spAutoFit/>
          </a:bodyPr>
          <a:lstStyle/>
          <a:p>
            <a:r>
              <a:rPr lang="en-GB" sz="1200"/>
              <a:t>EXTI2</a:t>
            </a:r>
            <a:endParaRPr lang="LID4096" sz="1200"/>
          </a:p>
        </p:txBody>
      </p:sp>
      <p:sp>
        <p:nvSpPr>
          <p:cNvPr id="105" name="Rectangle 104">
            <a:extLst>
              <a:ext uri="{FF2B5EF4-FFF2-40B4-BE49-F238E27FC236}">
                <a16:creationId xmlns:a16="http://schemas.microsoft.com/office/drawing/2014/main" id="{5C443C93-56E4-4ADA-BA8F-08CD6FA75303}"/>
              </a:ext>
            </a:extLst>
          </p:cNvPr>
          <p:cNvSpPr/>
          <p:nvPr/>
        </p:nvSpPr>
        <p:spPr>
          <a:xfrm>
            <a:off x="8044274" y="1388132"/>
            <a:ext cx="616590" cy="322976"/>
          </a:xfrm>
          <a:prstGeom prst="rect">
            <a:avLst/>
          </a:prstGeom>
          <a:solidFill>
            <a:schemeClr val="bg1">
              <a:lumMod val="9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106" name="TextBox 105">
            <a:extLst>
              <a:ext uri="{FF2B5EF4-FFF2-40B4-BE49-F238E27FC236}">
                <a16:creationId xmlns:a16="http://schemas.microsoft.com/office/drawing/2014/main" id="{DEB66D68-86B4-A9D3-BB63-C88CCA00C628}"/>
              </a:ext>
            </a:extLst>
          </p:cNvPr>
          <p:cNvSpPr txBox="1"/>
          <p:nvPr/>
        </p:nvSpPr>
        <p:spPr>
          <a:xfrm>
            <a:off x="8071365" y="1421527"/>
            <a:ext cx="550151" cy="276999"/>
          </a:xfrm>
          <a:prstGeom prst="rect">
            <a:avLst/>
          </a:prstGeom>
          <a:noFill/>
        </p:spPr>
        <p:txBody>
          <a:bodyPr wrap="none" rtlCol="0">
            <a:spAutoFit/>
          </a:bodyPr>
          <a:lstStyle/>
          <a:p>
            <a:r>
              <a:rPr lang="en-GB" sz="1200"/>
              <a:t>EXTI3</a:t>
            </a:r>
            <a:endParaRPr lang="LID4096" sz="1200"/>
          </a:p>
        </p:txBody>
      </p:sp>
      <p:sp>
        <p:nvSpPr>
          <p:cNvPr id="107" name="TextBox 106">
            <a:extLst>
              <a:ext uri="{FF2B5EF4-FFF2-40B4-BE49-F238E27FC236}">
                <a16:creationId xmlns:a16="http://schemas.microsoft.com/office/drawing/2014/main" id="{3446FC4E-699B-F177-02C2-A4A164DC1FDD}"/>
              </a:ext>
            </a:extLst>
          </p:cNvPr>
          <p:cNvSpPr txBox="1"/>
          <p:nvPr/>
        </p:nvSpPr>
        <p:spPr>
          <a:xfrm rot="5400000">
            <a:off x="8845786" y="2055842"/>
            <a:ext cx="381836" cy="369332"/>
          </a:xfrm>
          <a:prstGeom prst="rect">
            <a:avLst/>
          </a:prstGeom>
          <a:noFill/>
        </p:spPr>
        <p:txBody>
          <a:bodyPr wrap="none" rtlCol="0">
            <a:spAutoFit/>
          </a:bodyPr>
          <a:lstStyle/>
          <a:p>
            <a:r>
              <a:rPr lang="en-GB"/>
              <a:t>...</a:t>
            </a:r>
            <a:endParaRPr lang="LID4096"/>
          </a:p>
        </p:txBody>
      </p:sp>
      <p:sp>
        <p:nvSpPr>
          <p:cNvPr id="108" name="TextBox 107">
            <a:extLst>
              <a:ext uri="{FF2B5EF4-FFF2-40B4-BE49-F238E27FC236}">
                <a16:creationId xmlns:a16="http://schemas.microsoft.com/office/drawing/2014/main" id="{78D7DD49-397A-B22D-1C7B-2A2E898B989D}"/>
              </a:ext>
            </a:extLst>
          </p:cNvPr>
          <p:cNvSpPr txBox="1"/>
          <p:nvPr/>
        </p:nvSpPr>
        <p:spPr>
          <a:xfrm rot="5400000">
            <a:off x="8206015" y="2080115"/>
            <a:ext cx="381836" cy="369332"/>
          </a:xfrm>
          <a:prstGeom prst="rect">
            <a:avLst/>
          </a:prstGeom>
          <a:noFill/>
        </p:spPr>
        <p:txBody>
          <a:bodyPr wrap="none" rtlCol="0">
            <a:spAutoFit/>
          </a:bodyPr>
          <a:lstStyle/>
          <a:p>
            <a:r>
              <a:rPr lang="en-GB"/>
              <a:t>...</a:t>
            </a:r>
            <a:endParaRPr lang="LID4096"/>
          </a:p>
        </p:txBody>
      </p:sp>
      <p:sp>
        <p:nvSpPr>
          <p:cNvPr id="109" name="Rectangle 108">
            <a:extLst>
              <a:ext uri="{FF2B5EF4-FFF2-40B4-BE49-F238E27FC236}">
                <a16:creationId xmlns:a16="http://schemas.microsoft.com/office/drawing/2014/main" id="{9A7E2A09-8256-2BFF-8F0F-8E1E9FB777EB}"/>
              </a:ext>
            </a:extLst>
          </p:cNvPr>
          <p:cNvSpPr/>
          <p:nvPr/>
        </p:nvSpPr>
        <p:spPr>
          <a:xfrm>
            <a:off x="8045718" y="1228742"/>
            <a:ext cx="2449585" cy="183836"/>
          </a:xfrm>
          <a:prstGeom prst="rect">
            <a:avLst/>
          </a:prstGeom>
          <a:solidFill>
            <a:schemeClr val="bg1">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110" name="TextBox 109">
            <a:extLst>
              <a:ext uri="{FF2B5EF4-FFF2-40B4-BE49-F238E27FC236}">
                <a16:creationId xmlns:a16="http://schemas.microsoft.com/office/drawing/2014/main" id="{B04F3B92-1942-88EA-1F07-138DE80115B9}"/>
              </a:ext>
            </a:extLst>
          </p:cNvPr>
          <p:cNvSpPr txBox="1"/>
          <p:nvPr/>
        </p:nvSpPr>
        <p:spPr>
          <a:xfrm>
            <a:off x="8763771" y="1192273"/>
            <a:ext cx="1031051" cy="246221"/>
          </a:xfrm>
          <a:prstGeom prst="rect">
            <a:avLst/>
          </a:prstGeom>
          <a:noFill/>
        </p:spPr>
        <p:txBody>
          <a:bodyPr wrap="none" rtlCol="0">
            <a:spAutoFit/>
          </a:bodyPr>
          <a:lstStyle/>
          <a:p>
            <a:r>
              <a:rPr lang="en-GB" sz="1000">
                <a:solidFill>
                  <a:schemeClr val="bg2"/>
                </a:solidFill>
                <a:latin typeface="Consolas" panose="020B0609020204030204" pitchFamily="49" charset="0"/>
              </a:rPr>
              <a:t>AFIO_EXTICR1</a:t>
            </a:r>
            <a:endParaRPr lang="LID4096" sz="1000">
              <a:solidFill>
                <a:schemeClr val="bg2"/>
              </a:solidFill>
              <a:latin typeface="Consolas" panose="020B0609020204030204" pitchFamily="49" charset="0"/>
            </a:endParaRPr>
          </a:p>
        </p:txBody>
      </p:sp>
      <p:sp>
        <p:nvSpPr>
          <p:cNvPr id="111" name="Rectangle 110">
            <a:extLst>
              <a:ext uri="{FF2B5EF4-FFF2-40B4-BE49-F238E27FC236}">
                <a16:creationId xmlns:a16="http://schemas.microsoft.com/office/drawing/2014/main" id="{F187D9C9-EFC5-899F-E8E6-146A8C63F669}"/>
              </a:ext>
            </a:extLst>
          </p:cNvPr>
          <p:cNvSpPr/>
          <p:nvPr/>
        </p:nvSpPr>
        <p:spPr>
          <a:xfrm>
            <a:off x="7231672" y="1388132"/>
            <a:ext cx="616590" cy="322976"/>
          </a:xfrm>
          <a:prstGeom prst="rect">
            <a:avLst/>
          </a:prstGeom>
          <a:solidFill>
            <a:schemeClr val="bg1">
              <a:lumMod val="9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112" name="TextBox 111">
            <a:extLst>
              <a:ext uri="{FF2B5EF4-FFF2-40B4-BE49-F238E27FC236}">
                <a16:creationId xmlns:a16="http://schemas.microsoft.com/office/drawing/2014/main" id="{1B1550FC-39CF-5232-3894-C8388EFFE310}"/>
              </a:ext>
            </a:extLst>
          </p:cNvPr>
          <p:cNvSpPr txBox="1"/>
          <p:nvPr/>
        </p:nvSpPr>
        <p:spPr>
          <a:xfrm>
            <a:off x="7258763" y="1421527"/>
            <a:ext cx="550151" cy="276999"/>
          </a:xfrm>
          <a:prstGeom prst="rect">
            <a:avLst/>
          </a:prstGeom>
          <a:noFill/>
        </p:spPr>
        <p:txBody>
          <a:bodyPr wrap="none" rtlCol="0">
            <a:spAutoFit/>
          </a:bodyPr>
          <a:lstStyle/>
          <a:p>
            <a:r>
              <a:rPr lang="en-GB" sz="1200"/>
              <a:t>EXTI4</a:t>
            </a:r>
            <a:endParaRPr lang="LID4096" sz="1200"/>
          </a:p>
        </p:txBody>
      </p:sp>
      <p:sp>
        <p:nvSpPr>
          <p:cNvPr id="113" name="Rectangle 112">
            <a:extLst>
              <a:ext uri="{FF2B5EF4-FFF2-40B4-BE49-F238E27FC236}">
                <a16:creationId xmlns:a16="http://schemas.microsoft.com/office/drawing/2014/main" id="{FA9F082B-011F-A540-BFF8-254FF32A959B}"/>
              </a:ext>
            </a:extLst>
          </p:cNvPr>
          <p:cNvSpPr/>
          <p:nvPr/>
        </p:nvSpPr>
        <p:spPr>
          <a:xfrm>
            <a:off x="6619229" y="1388132"/>
            <a:ext cx="616590" cy="322976"/>
          </a:xfrm>
          <a:prstGeom prst="rect">
            <a:avLst/>
          </a:prstGeom>
          <a:solidFill>
            <a:schemeClr val="bg1">
              <a:lumMod val="9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114" name="TextBox 113">
            <a:extLst>
              <a:ext uri="{FF2B5EF4-FFF2-40B4-BE49-F238E27FC236}">
                <a16:creationId xmlns:a16="http://schemas.microsoft.com/office/drawing/2014/main" id="{3C66D550-362A-42DF-92D8-791445BBBBEB}"/>
              </a:ext>
            </a:extLst>
          </p:cNvPr>
          <p:cNvSpPr txBox="1"/>
          <p:nvPr/>
        </p:nvSpPr>
        <p:spPr>
          <a:xfrm>
            <a:off x="6646320" y="1421527"/>
            <a:ext cx="550151" cy="276999"/>
          </a:xfrm>
          <a:prstGeom prst="rect">
            <a:avLst/>
          </a:prstGeom>
          <a:noFill/>
        </p:spPr>
        <p:txBody>
          <a:bodyPr wrap="none" rtlCol="0">
            <a:spAutoFit/>
          </a:bodyPr>
          <a:lstStyle/>
          <a:p>
            <a:r>
              <a:rPr lang="en-GB" sz="1200"/>
              <a:t>EXTI5</a:t>
            </a:r>
            <a:endParaRPr lang="LID4096" sz="1200"/>
          </a:p>
        </p:txBody>
      </p:sp>
      <p:sp>
        <p:nvSpPr>
          <p:cNvPr id="115" name="Rectangle 114">
            <a:extLst>
              <a:ext uri="{FF2B5EF4-FFF2-40B4-BE49-F238E27FC236}">
                <a16:creationId xmlns:a16="http://schemas.microsoft.com/office/drawing/2014/main" id="{CD7E1C73-7FDA-D5DE-55BA-293B91F43585}"/>
              </a:ext>
            </a:extLst>
          </p:cNvPr>
          <p:cNvSpPr/>
          <p:nvPr/>
        </p:nvSpPr>
        <p:spPr>
          <a:xfrm>
            <a:off x="6008231" y="1388132"/>
            <a:ext cx="616590" cy="322976"/>
          </a:xfrm>
          <a:prstGeom prst="rect">
            <a:avLst/>
          </a:prstGeom>
          <a:solidFill>
            <a:schemeClr val="bg1">
              <a:lumMod val="9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116" name="TextBox 115">
            <a:extLst>
              <a:ext uri="{FF2B5EF4-FFF2-40B4-BE49-F238E27FC236}">
                <a16:creationId xmlns:a16="http://schemas.microsoft.com/office/drawing/2014/main" id="{DB0A6B72-D080-49EE-777F-9B640134E3ED}"/>
              </a:ext>
            </a:extLst>
          </p:cNvPr>
          <p:cNvSpPr txBox="1"/>
          <p:nvPr/>
        </p:nvSpPr>
        <p:spPr>
          <a:xfrm>
            <a:off x="6035322" y="1421527"/>
            <a:ext cx="550151" cy="276999"/>
          </a:xfrm>
          <a:prstGeom prst="rect">
            <a:avLst/>
          </a:prstGeom>
          <a:noFill/>
        </p:spPr>
        <p:txBody>
          <a:bodyPr wrap="none" rtlCol="0">
            <a:spAutoFit/>
          </a:bodyPr>
          <a:lstStyle/>
          <a:p>
            <a:r>
              <a:rPr lang="en-GB" sz="1200"/>
              <a:t>EXTI6</a:t>
            </a:r>
            <a:endParaRPr lang="LID4096" sz="1200"/>
          </a:p>
        </p:txBody>
      </p:sp>
      <p:sp>
        <p:nvSpPr>
          <p:cNvPr id="117" name="Rectangle 116">
            <a:extLst>
              <a:ext uri="{FF2B5EF4-FFF2-40B4-BE49-F238E27FC236}">
                <a16:creationId xmlns:a16="http://schemas.microsoft.com/office/drawing/2014/main" id="{253ADE49-C015-A860-EA24-8DAB88687D16}"/>
              </a:ext>
            </a:extLst>
          </p:cNvPr>
          <p:cNvSpPr/>
          <p:nvPr/>
        </p:nvSpPr>
        <p:spPr>
          <a:xfrm>
            <a:off x="5397233" y="1388132"/>
            <a:ext cx="616590" cy="322976"/>
          </a:xfrm>
          <a:prstGeom prst="rect">
            <a:avLst/>
          </a:prstGeom>
          <a:solidFill>
            <a:schemeClr val="bg1">
              <a:lumMod val="9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118" name="TextBox 117">
            <a:extLst>
              <a:ext uri="{FF2B5EF4-FFF2-40B4-BE49-F238E27FC236}">
                <a16:creationId xmlns:a16="http://schemas.microsoft.com/office/drawing/2014/main" id="{A7410576-3F52-C31B-C10E-268BFBF91227}"/>
              </a:ext>
            </a:extLst>
          </p:cNvPr>
          <p:cNvSpPr txBox="1"/>
          <p:nvPr/>
        </p:nvSpPr>
        <p:spPr>
          <a:xfrm>
            <a:off x="5424324" y="1421527"/>
            <a:ext cx="550151" cy="276999"/>
          </a:xfrm>
          <a:prstGeom prst="rect">
            <a:avLst/>
          </a:prstGeom>
          <a:noFill/>
        </p:spPr>
        <p:txBody>
          <a:bodyPr wrap="none" rtlCol="0">
            <a:spAutoFit/>
          </a:bodyPr>
          <a:lstStyle/>
          <a:p>
            <a:r>
              <a:rPr lang="en-GB" sz="1200"/>
              <a:t>EXTI7</a:t>
            </a:r>
            <a:endParaRPr lang="LID4096" sz="1200"/>
          </a:p>
        </p:txBody>
      </p:sp>
      <p:sp>
        <p:nvSpPr>
          <p:cNvPr id="119" name="Rectangle 118">
            <a:extLst>
              <a:ext uri="{FF2B5EF4-FFF2-40B4-BE49-F238E27FC236}">
                <a16:creationId xmlns:a16="http://schemas.microsoft.com/office/drawing/2014/main" id="{1E7BC358-4863-612F-1E72-A1E9F79CA4DA}"/>
              </a:ext>
            </a:extLst>
          </p:cNvPr>
          <p:cNvSpPr/>
          <p:nvPr/>
        </p:nvSpPr>
        <p:spPr>
          <a:xfrm>
            <a:off x="5398677" y="1228742"/>
            <a:ext cx="2449585" cy="183836"/>
          </a:xfrm>
          <a:prstGeom prst="rect">
            <a:avLst/>
          </a:prstGeom>
          <a:solidFill>
            <a:schemeClr val="bg1">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120" name="TextBox 119">
            <a:extLst>
              <a:ext uri="{FF2B5EF4-FFF2-40B4-BE49-F238E27FC236}">
                <a16:creationId xmlns:a16="http://schemas.microsoft.com/office/drawing/2014/main" id="{0EE99CE9-C11F-2D6D-B35F-49155F14BA97}"/>
              </a:ext>
            </a:extLst>
          </p:cNvPr>
          <p:cNvSpPr txBox="1"/>
          <p:nvPr/>
        </p:nvSpPr>
        <p:spPr>
          <a:xfrm>
            <a:off x="6116730" y="1192273"/>
            <a:ext cx="1031051" cy="246221"/>
          </a:xfrm>
          <a:prstGeom prst="rect">
            <a:avLst/>
          </a:prstGeom>
          <a:noFill/>
        </p:spPr>
        <p:txBody>
          <a:bodyPr wrap="none" rtlCol="0">
            <a:spAutoFit/>
          </a:bodyPr>
          <a:lstStyle/>
          <a:p>
            <a:r>
              <a:rPr lang="en-GB" sz="1000">
                <a:solidFill>
                  <a:schemeClr val="bg2"/>
                </a:solidFill>
                <a:latin typeface="Consolas" panose="020B0609020204030204" pitchFamily="49" charset="0"/>
              </a:rPr>
              <a:t>AFIO_EXTICR2</a:t>
            </a:r>
            <a:endParaRPr lang="LID4096" sz="1000">
              <a:solidFill>
                <a:schemeClr val="bg2"/>
              </a:solidFill>
              <a:latin typeface="Consolas" panose="020B0609020204030204" pitchFamily="49" charset="0"/>
            </a:endParaRPr>
          </a:p>
        </p:txBody>
      </p:sp>
      <p:sp>
        <p:nvSpPr>
          <p:cNvPr id="121" name="Rectangle 120">
            <a:extLst>
              <a:ext uri="{FF2B5EF4-FFF2-40B4-BE49-F238E27FC236}">
                <a16:creationId xmlns:a16="http://schemas.microsoft.com/office/drawing/2014/main" id="{880129FD-7C66-31CA-6AAA-64C75317811E}"/>
              </a:ext>
            </a:extLst>
          </p:cNvPr>
          <p:cNvSpPr/>
          <p:nvPr/>
        </p:nvSpPr>
        <p:spPr>
          <a:xfrm>
            <a:off x="10802122" y="6420385"/>
            <a:ext cx="908134" cy="215444"/>
          </a:xfrm>
          <a:prstGeom prst="rect">
            <a:avLst/>
          </a:prstGeom>
          <a:gradFill>
            <a:gsLst>
              <a:gs pos="78900">
                <a:schemeClr val="bg1"/>
              </a:gs>
              <a:gs pos="0">
                <a:schemeClr val="accent1">
                  <a:lumMod val="5000"/>
                  <a:lumOff val="95000"/>
                  <a:alpha val="0"/>
                </a:schemeClr>
              </a:gs>
              <a:gs pos="100000">
                <a:schemeClr val="bg1"/>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122" name="Rectangle 121">
            <a:extLst>
              <a:ext uri="{FF2B5EF4-FFF2-40B4-BE49-F238E27FC236}">
                <a16:creationId xmlns:a16="http://schemas.microsoft.com/office/drawing/2014/main" id="{AAD4F581-94F2-553C-E52C-5892A3F2F83C}"/>
              </a:ext>
            </a:extLst>
          </p:cNvPr>
          <p:cNvSpPr/>
          <p:nvPr/>
        </p:nvSpPr>
        <p:spPr>
          <a:xfrm rot="10800000">
            <a:off x="10820558" y="1885826"/>
            <a:ext cx="908134" cy="215444"/>
          </a:xfrm>
          <a:prstGeom prst="rect">
            <a:avLst/>
          </a:prstGeom>
          <a:gradFill>
            <a:gsLst>
              <a:gs pos="78900">
                <a:schemeClr val="bg1"/>
              </a:gs>
              <a:gs pos="0">
                <a:schemeClr val="accent1">
                  <a:lumMod val="5000"/>
                  <a:lumOff val="95000"/>
                  <a:alpha val="0"/>
                </a:schemeClr>
              </a:gs>
              <a:gs pos="100000">
                <a:schemeClr val="bg1"/>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123" name="Rectangle 122">
            <a:extLst>
              <a:ext uri="{FF2B5EF4-FFF2-40B4-BE49-F238E27FC236}">
                <a16:creationId xmlns:a16="http://schemas.microsoft.com/office/drawing/2014/main" id="{C7878557-DA46-A83E-6025-BA48274C9B61}"/>
              </a:ext>
            </a:extLst>
          </p:cNvPr>
          <p:cNvSpPr/>
          <p:nvPr/>
        </p:nvSpPr>
        <p:spPr>
          <a:xfrm rot="5400000">
            <a:off x="5819793" y="216258"/>
            <a:ext cx="1239500" cy="3109219"/>
          </a:xfrm>
          <a:prstGeom prst="rect">
            <a:avLst/>
          </a:prstGeom>
          <a:gradFill>
            <a:gsLst>
              <a:gs pos="78900">
                <a:schemeClr val="bg1"/>
              </a:gs>
              <a:gs pos="0">
                <a:schemeClr val="accent1">
                  <a:lumMod val="5000"/>
                  <a:lumOff val="95000"/>
                  <a:alpha val="0"/>
                </a:schemeClr>
              </a:gs>
              <a:gs pos="100000">
                <a:schemeClr val="bg1"/>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124" name="TextBox 123">
            <a:extLst>
              <a:ext uri="{FF2B5EF4-FFF2-40B4-BE49-F238E27FC236}">
                <a16:creationId xmlns:a16="http://schemas.microsoft.com/office/drawing/2014/main" id="{898344FC-18EF-DEEA-1B1B-6F41D9797861}"/>
              </a:ext>
            </a:extLst>
          </p:cNvPr>
          <p:cNvSpPr txBox="1"/>
          <p:nvPr/>
        </p:nvSpPr>
        <p:spPr>
          <a:xfrm>
            <a:off x="7345238" y="3059155"/>
            <a:ext cx="1236729" cy="3064563"/>
          </a:xfrm>
          <a:prstGeom prst="rect">
            <a:avLst/>
          </a:prstGeom>
          <a:solidFill>
            <a:schemeClr val="accent6">
              <a:lumMod val="40000"/>
              <a:lumOff val="60000"/>
            </a:schemeClr>
          </a:solidFill>
          <a:ln>
            <a:solidFill>
              <a:schemeClr val="accent6">
                <a:lumMod val="75000"/>
              </a:schemeClr>
            </a:solidFill>
          </a:ln>
        </p:spPr>
        <p:txBody>
          <a:bodyPr wrap="square" rtlCol="0">
            <a:noAutofit/>
          </a:bodyPr>
          <a:lstStyle/>
          <a:p>
            <a:pPr algn="ctr"/>
            <a:r>
              <a:rPr lang="en-US"/>
              <a:t>EXTI</a:t>
            </a:r>
            <a:br>
              <a:rPr lang="en-US"/>
            </a:br>
            <a:endParaRPr lang="en-US" sz="1050"/>
          </a:p>
        </p:txBody>
      </p:sp>
      <p:sp>
        <p:nvSpPr>
          <p:cNvPr id="125" name="TextBox 124">
            <a:extLst>
              <a:ext uri="{FF2B5EF4-FFF2-40B4-BE49-F238E27FC236}">
                <a16:creationId xmlns:a16="http://schemas.microsoft.com/office/drawing/2014/main" id="{6D10E449-6EB6-9595-B3E1-980D8F5FA042}"/>
              </a:ext>
            </a:extLst>
          </p:cNvPr>
          <p:cNvSpPr txBox="1"/>
          <p:nvPr/>
        </p:nvSpPr>
        <p:spPr>
          <a:xfrm>
            <a:off x="7982968" y="3435239"/>
            <a:ext cx="593327" cy="2677656"/>
          </a:xfrm>
          <a:prstGeom prst="rect">
            <a:avLst/>
          </a:prstGeom>
          <a:noFill/>
        </p:spPr>
        <p:txBody>
          <a:bodyPr wrap="square">
            <a:spAutoFit/>
          </a:bodyPr>
          <a:lstStyle/>
          <a:p>
            <a:pPr algn="r"/>
            <a:r>
              <a:rPr lang="en-US" sz="1050"/>
              <a:t>EXTI0</a:t>
            </a:r>
            <a:br>
              <a:rPr lang="en-US" sz="1050"/>
            </a:br>
            <a:r>
              <a:rPr lang="en-US" sz="1050"/>
              <a:t>EXTI1</a:t>
            </a:r>
            <a:br>
              <a:rPr lang="en-US" sz="1050"/>
            </a:br>
            <a:r>
              <a:rPr lang="en-US" sz="1050"/>
              <a:t>EXTI2</a:t>
            </a:r>
            <a:br>
              <a:rPr lang="en-US" sz="1050"/>
            </a:br>
            <a:r>
              <a:rPr lang="en-US" sz="1050"/>
              <a:t>EXTI3</a:t>
            </a:r>
            <a:br>
              <a:rPr lang="en-US" sz="1050"/>
            </a:br>
            <a:r>
              <a:rPr lang="en-US" sz="1050"/>
              <a:t>EXTI4</a:t>
            </a:r>
          </a:p>
          <a:p>
            <a:pPr algn="r"/>
            <a:r>
              <a:rPr lang="en-US" sz="1050"/>
              <a:t>EXTI5</a:t>
            </a:r>
            <a:br>
              <a:rPr lang="en-US" sz="1050"/>
            </a:br>
            <a:r>
              <a:rPr lang="en-US" sz="1050"/>
              <a:t>EXTI6</a:t>
            </a:r>
            <a:br>
              <a:rPr lang="en-US" sz="1050"/>
            </a:br>
            <a:r>
              <a:rPr lang="en-US" sz="1050"/>
              <a:t>EXTI7</a:t>
            </a:r>
            <a:br>
              <a:rPr lang="en-US" sz="1050"/>
            </a:br>
            <a:r>
              <a:rPr lang="en-US" sz="1050"/>
              <a:t>EXTI8</a:t>
            </a:r>
            <a:br>
              <a:rPr lang="en-US" sz="1050"/>
            </a:br>
            <a:r>
              <a:rPr lang="en-US" sz="1050"/>
              <a:t>EXTI9</a:t>
            </a:r>
            <a:br>
              <a:rPr lang="en-US" sz="1050"/>
            </a:br>
            <a:r>
              <a:rPr lang="en-US" sz="1050"/>
              <a:t>EXTI10</a:t>
            </a:r>
            <a:br>
              <a:rPr lang="en-US" sz="1050"/>
            </a:br>
            <a:r>
              <a:rPr lang="en-US" sz="1050"/>
              <a:t>EXTI11</a:t>
            </a:r>
            <a:br>
              <a:rPr lang="en-US" sz="1050"/>
            </a:br>
            <a:r>
              <a:rPr lang="en-US" sz="1050"/>
              <a:t>EXTI12</a:t>
            </a:r>
            <a:br>
              <a:rPr lang="en-US" sz="1050"/>
            </a:br>
            <a:r>
              <a:rPr lang="en-US" sz="1050"/>
              <a:t>EXTI13</a:t>
            </a:r>
            <a:br>
              <a:rPr lang="en-US" sz="1050"/>
            </a:br>
            <a:r>
              <a:rPr lang="en-US" sz="1050"/>
              <a:t>EXTI14</a:t>
            </a:r>
            <a:br>
              <a:rPr lang="en-US" sz="1050"/>
            </a:br>
            <a:r>
              <a:rPr lang="en-US" sz="1050"/>
              <a:t>EXTI15</a:t>
            </a:r>
            <a:endParaRPr lang="LID4096" sz="3600" dirty="0"/>
          </a:p>
        </p:txBody>
      </p:sp>
      <p:sp>
        <p:nvSpPr>
          <p:cNvPr id="126" name="Freeform: Shape 125">
            <a:extLst>
              <a:ext uri="{FF2B5EF4-FFF2-40B4-BE49-F238E27FC236}">
                <a16:creationId xmlns:a16="http://schemas.microsoft.com/office/drawing/2014/main" id="{A3EDB008-AAEB-9BEE-2CB5-1D8DE3B3387E}"/>
              </a:ext>
            </a:extLst>
          </p:cNvPr>
          <p:cNvSpPr/>
          <p:nvPr/>
        </p:nvSpPr>
        <p:spPr>
          <a:xfrm>
            <a:off x="8591002" y="3615410"/>
            <a:ext cx="775982" cy="109057"/>
          </a:xfrm>
          <a:custGeom>
            <a:avLst/>
            <a:gdLst>
              <a:gd name="csX0" fmla="*/ 775982 w 775982"/>
              <a:gd name="csY0" fmla="*/ 0 h 109057"/>
              <a:gd name="csX1" fmla="*/ 515923 w 775982"/>
              <a:gd name="csY1" fmla="*/ 0 h 109057"/>
              <a:gd name="csX2" fmla="*/ 515923 w 775982"/>
              <a:gd name="csY2" fmla="*/ 109057 h 109057"/>
              <a:gd name="csX3" fmla="*/ 0 w 775982"/>
              <a:gd name="csY3" fmla="*/ 109057 h 109057"/>
            </a:gdLst>
            <a:ahLst/>
            <a:cxnLst>
              <a:cxn ang="0">
                <a:pos x="csX0" y="csY0"/>
              </a:cxn>
              <a:cxn ang="0">
                <a:pos x="csX1" y="csY1"/>
              </a:cxn>
              <a:cxn ang="0">
                <a:pos x="csX2" y="csY2"/>
              </a:cxn>
              <a:cxn ang="0">
                <a:pos x="csX3" y="csY3"/>
              </a:cxn>
            </a:cxnLst>
            <a:rect l="l" t="t" r="r" b="b"/>
            <a:pathLst>
              <a:path w="775982" h="109057">
                <a:moveTo>
                  <a:pt x="775982" y="0"/>
                </a:moveTo>
                <a:lnTo>
                  <a:pt x="515923" y="0"/>
                </a:lnTo>
                <a:lnTo>
                  <a:pt x="515923" y="109057"/>
                </a:lnTo>
                <a:lnTo>
                  <a:pt x="0" y="109057"/>
                </a:lnTo>
              </a:path>
            </a:pathLst>
          </a:custGeom>
          <a:noFill/>
          <a:ln w="50800">
            <a:solidFill>
              <a:schemeClr val="accent6">
                <a:lumMod val="75000"/>
              </a:schemeClr>
            </a:solidFill>
            <a:tailEnd type="triangle"/>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cxnSp>
        <p:nvCxnSpPr>
          <p:cNvPr id="127" name="Straight Arrow Connector 126">
            <a:extLst>
              <a:ext uri="{FF2B5EF4-FFF2-40B4-BE49-F238E27FC236}">
                <a16:creationId xmlns:a16="http://schemas.microsoft.com/office/drawing/2014/main" id="{E0A7FD6E-04D6-516B-8783-D26BE5229A62}"/>
              </a:ext>
            </a:extLst>
          </p:cNvPr>
          <p:cNvCxnSpPr/>
          <p:nvPr/>
        </p:nvCxnSpPr>
        <p:spPr>
          <a:xfrm flipH="1">
            <a:off x="8582613" y="3871274"/>
            <a:ext cx="531213" cy="0"/>
          </a:xfrm>
          <a:prstGeom prst="straightConnector1">
            <a:avLst/>
          </a:prstGeom>
          <a:ln w="50800">
            <a:solidFill>
              <a:schemeClr val="bg2">
                <a:lumMod val="90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128" name="Straight Arrow Connector 127">
            <a:extLst>
              <a:ext uri="{FF2B5EF4-FFF2-40B4-BE49-F238E27FC236}">
                <a16:creationId xmlns:a16="http://schemas.microsoft.com/office/drawing/2014/main" id="{6BD5A3E9-F3BD-1FE1-0D2E-958443416922}"/>
              </a:ext>
            </a:extLst>
          </p:cNvPr>
          <p:cNvCxnSpPr/>
          <p:nvPr/>
        </p:nvCxnSpPr>
        <p:spPr>
          <a:xfrm flipH="1">
            <a:off x="8582613" y="4025771"/>
            <a:ext cx="531213" cy="0"/>
          </a:xfrm>
          <a:prstGeom prst="straightConnector1">
            <a:avLst/>
          </a:prstGeom>
          <a:ln w="50800">
            <a:solidFill>
              <a:schemeClr val="bg2">
                <a:lumMod val="90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129" name="Straight Arrow Connector 128">
            <a:extLst>
              <a:ext uri="{FF2B5EF4-FFF2-40B4-BE49-F238E27FC236}">
                <a16:creationId xmlns:a16="http://schemas.microsoft.com/office/drawing/2014/main" id="{E27FDC56-E3F9-78FD-E35D-76B2CC823B48}"/>
              </a:ext>
            </a:extLst>
          </p:cNvPr>
          <p:cNvCxnSpPr/>
          <p:nvPr/>
        </p:nvCxnSpPr>
        <p:spPr>
          <a:xfrm flipH="1">
            <a:off x="8579442" y="4201242"/>
            <a:ext cx="531213" cy="0"/>
          </a:xfrm>
          <a:prstGeom prst="straightConnector1">
            <a:avLst/>
          </a:prstGeom>
          <a:ln w="50800">
            <a:solidFill>
              <a:schemeClr val="bg2">
                <a:lumMod val="90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130" name="Straight Arrow Connector 129">
            <a:extLst>
              <a:ext uri="{FF2B5EF4-FFF2-40B4-BE49-F238E27FC236}">
                <a16:creationId xmlns:a16="http://schemas.microsoft.com/office/drawing/2014/main" id="{6009A771-5D13-4B20-E53B-AC3449B56934}"/>
              </a:ext>
            </a:extLst>
          </p:cNvPr>
          <p:cNvCxnSpPr/>
          <p:nvPr/>
        </p:nvCxnSpPr>
        <p:spPr>
          <a:xfrm flipH="1">
            <a:off x="8579442" y="4362729"/>
            <a:ext cx="531213" cy="0"/>
          </a:xfrm>
          <a:prstGeom prst="straightConnector1">
            <a:avLst/>
          </a:prstGeom>
          <a:ln w="50800">
            <a:solidFill>
              <a:schemeClr val="bg2">
                <a:lumMod val="90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131" name="Straight Arrow Connector 130">
            <a:extLst>
              <a:ext uri="{FF2B5EF4-FFF2-40B4-BE49-F238E27FC236}">
                <a16:creationId xmlns:a16="http://schemas.microsoft.com/office/drawing/2014/main" id="{5CEC8DF9-9A10-9951-E53B-B5A52B26D1EF}"/>
              </a:ext>
            </a:extLst>
          </p:cNvPr>
          <p:cNvCxnSpPr/>
          <p:nvPr/>
        </p:nvCxnSpPr>
        <p:spPr>
          <a:xfrm flipH="1">
            <a:off x="8579442" y="4521023"/>
            <a:ext cx="531213" cy="0"/>
          </a:xfrm>
          <a:prstGeom prst="straightConnector1">
            <a:avLst/>
          </a:prstGeom>
          <a:ln w="50800">
            <a:solidFill>
              <a:schemeClr val="bg2">
                <a:lumMod val="90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132" name="Straight Arrow Connector 131">
            <a:extLst>
              <a:ext uri="{FF2B5EF4-FFF2-40B4-BE49-F238E27FC236}">
                <a16:creationId xmlns:a16="http://schemas.microsoft.com/office/drawing/2014/main" id="{84982BFB-FBD7-52FB-B847-6221579D7CDD}"/>
              </a:ext>
            </a:extLst>
          </p:cNvPr>
          <p:cNvCxnSpPr/>
          <p:nvPr/>
        </p:nvCxnSpPr>
        <p:spPr>
          <a:xfrm flipH="1">
            <a:off x="8579442" y="4684587"/>
            <a:ext cx="531213" cy="0"/>
          </a:xfrm>
          <a:prstGeom prst="straightConnector1">
            <a:avLst/>
          </a:prstGeom>
          <a:ln w="50800">
            <a:solidFill>
              <a:schemeClr val="bg2">
                <a:lumMod val="9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133" name="Rectangle 132">
            <a:extLst>
              <a:ext uri="{FF2B5EF4-FFF2-40B4-BE49-F238E27FC236}">
                <a16:creationId xmlns:a16="http://schemas.microsoft.com/office/drawing/2014/main" id="{92995CA7-4157-001A-2EBE-6BB7EC2D679F}"/>
              </a:ext>
            </a:extLst>
          </p:cNvPr>
          <p:cNvSpPr/>
          <p:nvPr/>
        </p:nvSpPr>
        <p:spPr>
          <a:xfrm>
            <a:off x="8591001" y="4150818"/>
            <a:ext cx="908134" cy="647781"/>
          </a:xfrm>
          <a:prstGeom prst="rect">
            <a:avLst/>
          </a:prstGeom>
          <a:gradFill>
            <a:gsLst>
              <a:gs pos="78900">
                <a:schemeClr val="bg1"/>
              </a:gs>
              <a:gs pos="0">
                <a:schemeClr val="accent1">
                  <a:lumMod val="5000"/>
                  <a:lumOff val="95000"/>
                  <a:alpha val="0"/>
                </a:schemeClr>
              </a:gs>
              <a:gs pos="100000">
                <a:schemeClr val="bg1"/>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134" name="TextBox 133">
            <a:extLst>
              <a:ext uri="{FF2B5EF4-FFF2-40B4-BE49-F238E27FC236}">
                <a16:creationId xmlns:a16="http://schemas.microsoft.com/office/drawing/2014/main" id="{18B50F7B-98B4-62EF-EAD1-5EFF2CDC4FCC}"/>
              </a:ext>
            </a:extLst>
          </p:cNvPr>
          <p:cNvSpPr txBox="1"/>
          <p:nvPr/>
        </p:nvSpPr>
        <p:spPr>
          <a:xfrm>
            <a:off x="7336800" y="3435239"/>
            <a:ext cx="849594" cy="1223412"/>
          </a:xfrm>
          <a:prstGeom prst="rect">
            <a:avLst/>
          </a:prstGeom>
          <a:noFill/>
        </p:spPr>
        <p:txBody>
          <a:bodyPr wrap="square">
            <a:spAutoFit/>
          </a:bodyPr>
          <a:lstStyle/>
          <a:p>
            <a:r>
              <a:rPr lang="en-US" sz="1050"/>
              <a:t>EXTI0</a:t>
            </a:r>
            <a:br>
              <a:rPr lang="en-US" sz="1050"/>
            </a:br>
            <a:r>
              <a:rPr lang="en-US" sz="1050"/>
              <a:t>EXTI1</a:t>
            </a:r>
            <a:br>
              <a:rPr lang="en-US" sz="1050"/>
            </a:br>
            <a:r>
              <a:rPr lang="en-US" sz="1050"/>
              <a:t>EXTI2</a:t>
            </a:r>
            <a:br>
              <a:rPr lang="en-US" sz="1050"/>
            </a:br>
            <a:r>
              <a:rPr lang="en-US" sz="1050"/>
              <a:t>EXTI3</a:t>
            </a:r>
            <a:br>
              <a:rPr lang="en-US" sz="1050"/>
            </a:br>
            <a:r>
              <a:rPr lang="en-US" sz="1050"/>
              <a:t>EXTI4</a:t>
            </a:r>
          </a:p>
          <a:p>
            <a:r>
              <a:rPr lang="en-US" sz="1050"/>
              <a:t>EXTI5_9</a:t>
            </a:r>
            <a:br>
              <a:rPr lang="en-US" sz="1050"/>
            </a:br>
            <a:r>
              <a:rPr lang="en-US" sz="1050"/>
              <a:t>EXTI10_15</a:t>
            </a:r>
          </a:p>
        </p:txBody>
      </p:sp>
      <p:sp>
        <p:nvSpPr>
          <p:cNvPr id="135" name="TextBox 134">
            <a:extLst>
              <a:ext uri="{FF2B5EF4-FFF2-40B4-BE49-F238E27FC236}">
                <a16:creationId xmlns:a16="http://schemas.microsoft.com/office/drawing/2014/main" id="{C285A6B2-25F8-E2B6-0B42-DDAA83F758DB}"/>
              </a:ext>
            </a:extLst>
          </p:cNvPr>
          <p:cNvSpPr txBox="1"/>
          <p:nvPr/>
        </p:nvSpPr>
        <p:spPr>
          <a:xfrm>
            <a:off x="4025651" y="3050231"/>
            <a:ext cx="2535215" cy="1761580"/>
          </a:xfrm>
          <a:prstGeom prst="rect">
            <a:avLst/>
          </a:prstGeom>
          <a:solidFill>
            <a:schemeClr val="accent1">
              <a:lumMod val="60000"/>
              <a:lumOff val="40000"/>
            </a:schemeClr>
          </a:solidFill>
          <a:ln>
            <a:solidFill>
              <a:schemeClr val="tx2">
                <a:lumMod val="75000"/>
                <a:lumOff val="25000"/>
              </a:schemeClr>
            </a:solidFill>
          </a:ln>
        </p:spPr>
        <p:txBody>
          <a:bodyPr wrap="square" rtlCol="0">
            <a:noAutofit/>
          </a:bodyPr>
          <a:lstStyle/>
          <a:p>
            <a:pPr algn="ctr"/>
            <a:endParaRPr lang="en-US" sz="3600"/>
          </a:p>
          <a:p>
            <a:pPr algn="ctr"/>
            <a:r>
              <a:rPr lang="en-US" sz="3600"/>
              <a:t>PFIC</a:t>
            </a:r>
            <a:endParaRPr lang="LID4096" sz="6000" dirty="0"/>
          </a:p>
        </p:txBody>
      </p:sp>
      <p:cxnSp>
        <p:nvCxnSpPr>
          <p:cNvPr id="3" name="Straight Arrow Connector 2">
            <a:extLst>
              <a:ext uri="{FF2B5EF4-FFF2-40B4-BE49-F238E27FC236}">
                <a16:creationId xmlns:a16="http://schemas.microsoft.com/office/drawing/2014/main" id="{F1B71CE8-9110-E09F-D631-B19A784EE888}"/>
              </a:ext>
            </a:extLst>
          </p:cNvPr>
          <p:cNvCxnSpPr/>
          <p:nvPr/>
        </p:nvCxnSpPr>
        <p:spPr>
          <a:xfrm flipH="1">
            <a:off x="8582613" y="3532008"/>
            <a:ext cx="531213" cy="0"/>
          </a:xfrm>
          <a:prstGeom prst="straightConnector1">
            <a:avLst/>
          </a:prstGeom>
          <a:ln w="50800">
            <a:solidFill>
              <a:schemeClr val="bg2">
                <a:lumMod val="90000"/>
              </a:schemeClr>
            </a:solidFill>
            <a:tailEnd type="triangle"/>
          </a:ln>
        </p:spPr>
        <p:style>
          <a:lnRef idx="2">
            <a:schemeClr val="accent1"/>
          </a:lnRef>
          <a:fillRef idx="0">
            <a:schemeClr val="accent1"/>
          </a:fillRef>
          <a:effectRef idx="1">
            <a:schemeClr val="accent1"/>
          </a:effectRef>
          <a:fontRef idx="minor">
            <a:schemeClr val="tx1"/>
          </a:fontRef>
        </p:style>
      </p:cxnSp>
      <p:pic>
        <p:nvPicPr>
          <p:cNvPr id="138" name="Picture 137">
            <a:extLst>
              <a:ext uri="{FF2B5EF4-FFF2-40B4-BE49-F238E27FC236}">
                <a16:creationId xmlns:a16="http://schemas.microsoft.com/office/drawing/2014/main" id="{BC387764-A324-D4EE-A6C7-1A3300D23BA6}"/>
              </a:ext>
            </a:extLst>
          </p:cNvPr>
          <p:cNvPicPr>
            <a:picLocks noChangeAspect="1"/>
          </p:cNvPicPr>
          <p:nvPr/>
        </p:nvPicPr>
        <p:blipFill>
          <a:blip r:embed="rId3"/>
          <a:stretch>
            <a:fillRect/>
          </a:stretch>
        </p:blipFill>
        <p:spPr>
          <a:xfrm>
            <a:off x="278232" y="5024147"/>
            <a:ext cx="3376395" cy="1532569"/>
          </a:xfrm>
          <a:prstGeom prst="rect">
            <a:avLst/>
          </a:prstGeom>
          <a:ln>
            <a:solidFill>
              <a:schemeClr val="tx1"/>
            </a:solidFill>
          </a:ln>
          <a:effectLst>
            <a:outerShdw blurRad="50800" dist="38100" dir="2700000" algn="tl" rotWithShape="0">
              <a:prstClr val="black">
                <a:alpha val="40000"/>
              </a:prstClr>
            </a:outerShdw>
          </a:effectLst>
        </p:spPr>
      </p:pic>
      <p:sp>
        <p:nvSpPr>
          <p:cNvPr id="139" name="TextBox 138">
            <a:extLst>
              <a:ext uri="{FF2B5EF4-FFF2-40B4-BE49-F238E27FC236}">
                <a16:creationId xmlns:a16="http://schemas.microsoft.com/office/drawing/2014/main" id="{A0274D24-0CAD-C37E-714C-EF35E0A00BDA}"/>
              </a:ext>
            </a:extLst>
          </p:cNvPr>
          <p:cNvSpPr txBox="1"/>
          <p:nvPr/>
        </p:nvSpPr>
        <p:spPr>
          <a:xfrm>
            <a:off x="7620648" y="1990576"/>
            <a:ext cx="1650335" cy="830997"/>
          </a:xfrm>
          <a:prstGeom prst="rect">
            <a:avLst/>
          </a:prstGeom>
          <a:solidFill>
            <a:schemeClr val="bg1"/>
          </a:solidFill>
          <a:ln>
            <a:solidFill>
              <a:schemeClr val="tx1"/>
            </a:solidFill>
          </a:ln>
          <a:effectLst>
            <a:outerShdw blurRad="50800" dist="38100" dir="2700000" algn="tl" rotWithShape="0">
              <a:prstClr val="black">
                <a:alpha val="40000"/>
              </a:prstClr>
            </a:outerShdw>
          </a:effectLst>
        </p:spPr>
        <p:txBody>
          <a:bodyPr wrap="square" rtlCol="0">
            <a:spAutoFit/>
          </a:bodyPr>
          <a:lstStyle/>
          <a:p>
            <a:r>
              <a:rPr lang="sv-SE" sz="1200" dirty="0"/>
              <a:t>Vi till fånga </a:t>
            </a:r>
            <a:r>
              <a:rPr lang="sv-SE" sz="1200" dirty="0" err="1"/>
              <a:t>interrupts</a:t>
            </a:r>
            <a:r>
              <a:rPr lang="sv-SE" sz="1200" dirty="0"/>
              <a:t> från pinne </a:t>
            </a:r>
            <a:r>
              <a:rPr lang="sv-SE" sz="1200" b="1" dirty="0">
                <a:solidFill>
                  <a:schemeClr val="accent5">
                    <a:lumMod val="60000"/>
                    <a:lumOff val="40000"/>
                  </a:schemeClr>
                </a:solidFill>
              </a:rPr>
              <a:t>1</a:t>
            </a:r>
            <a:r>
              <a:rPr lang="sv-SE" sz="1200" dirty="0"/>
              <a:t> på port </a:t>
            </a:r>
            <a:r>
              <a:rPr lang="sv-SE" sz="1200" b="1" dirty="0">
                <a:solidFill>
                  <a:srgbClr val="FFC000"/>
                </a:solidFill>
              </a:rPr>
              <a:t>D</a:t>
            </a:r>
            <a:r>
              <a:rPr lang="sv-SE" sz="1200" dirty="0"/>
              <a:t>, så vi stoppar (A=1, B=2, ...) </a:t>
            </a:r>
            <a:r>
              <a:rPr lang="sv-SE" sz="1200" b="1" dirty="0">
                <a:solidFill>
                  <a:srgbClr val="FFC000"/>
                </a:solidFill>
              </a:rPr>
              <a:t>4</a:t>
            </a:r>
            <a:r>
              <a:rPr lang="sv-SE" sz="1200" dirty="0"/>
              <a:t> i EXTI</a:t>
            </a:r>
            <a:r>
              <a:rPr lang="sv-SE" sz="1200" b="1" dirty="0">
                <a:solidFill>
                  <a:schemeClr val="accent5">
                    <a:lumMod val="60000"/>
                    <a:lumOff val="40000"/>
                  </a:schemeClr>
                </a:solidFill>
              </a:rPr>
              <a:t>1</a:t>
            </a:r>
            <a:r>
              <a:rPr lang="sv-SE" sz="1200" dirty="0"/>
              <a:t> </a:t>
            </a:r>
            <a:endParaRPr lang="LID4096" sz="1200" dirty="0"/>
          </a:p>
        </p:txBody>
      </p:sp>
      <p:pic>
        <p:nvPicPr>
          <p:cNvPr id="141" name="Picture 140">
            <a:extLst>
              <a:ext uri="{FF2B5EF4-FFF2-40B4-BE49-F238E27FC236}">
                <a16:creationId xmlns:a16="http://schemas.microsoft.com/office/drawing/2014/main" id="{11CFCCFC-C62A-4CF1-3BB0-863C229F40C6}"/>
              </a:ext>
            </a:extLst>
          </p:cNvPr>
          <p:cNvPicPr>
            <a:picLocks noChangeAspect="1"/>
          </p:cNvPicPr>
          <p:nvPr/>
        </p:nvPicPr>
        <p:blipFill>
          <a:blip r:embed="rId4"/>
          <a:stretch>
            <a:fillRect/>
          </a:stretch>
        </p:blipFill>
        <p:spPr>
          <a:xfrm>
            <a:off x="293204" y="2174387"/>
            <a:ext cx="4445423" cy="1538566"/>
          </a:xfrm>
          <a:prstGeom prst="rect">
            <a:avLst/>
          </a:prstGeom>
          <a:ln>
            <a:solidFill>
              <a:schemeClr val="tx1"/>
            </a:solidFill>
          </a:ln>
          <a:effectLst>
            <a:outerShdw blurRad="50800" dist="38100" dir="2700000" algn="tl" rotWithShape="0">
              <a:prstClr val="black">
                <a:alpha val="40000"/>
              </a:prstClr>
            </a:outerShdw>
          </a:effectLst>
        </p:spPr>
      </p:pic>
    </p:spTree>
    <p:extLst>
      <p:ext uri="{BB962C8B-B14F-4D97-AF65-F5344CB8AC3E}">
        <p14:creationId xmlns:p14="http://schemas.microsoft.com/office/powerpoint/2010/main" val="192137714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39"/>
                                        </p:tgtEl>
                                        <p:attrNameLst>
                                          <p:attrName>style.visibility</p:attrName>
                                        </p:attrNameLst>
                                      </p:cBhvr>
                                      <p:to>
                                        <p:strVal val="visible"/>
                                      </p:to>
                                    </p:set>
                                    <p:animEffect transition="in" filter="fade">
                                      <p:cBhvr>
                                        <p:cTn id="7" dur="500"/>
                                        <p:tgtEl>
                                          <p:spTgt spid="139"/>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41"/>
                                        </p:tgtEl>
                                        <p:attrNameLst>
                                          <p:attrName>style.visibility</p:attrName>
                                        </p:attrNameLst>
                                      </p:cBhvr>
                                      <p:to>
                                        <p:strVal val="visible"/>
                                      </p:to>
                                    </p:set>
                                    <p:animEffect transition="in" filter="fade">
                                      <p:cBhvr>
                                        <p:cTn id="12" dur="500"/>
                                        <p:tgtEl>
                                          <p:spTgt spid="14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9" grpId="0" animBg="1"/>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3DBBA4-E9D1-713B-141F-19F780DCB4B4}"/>
            </a:ext>
          </a:extLst>
        </p:cNvPr>
        <p:cNvGrpSpPr/>
        <p:nvPr/>
      </p:nvGrpSpPr>
      <p:grpSpPr>
        <a:xfrm>
          <a:off x="0" y="0"/>
          <a:ext cx="0" cy="0"/>
          <a:chOff x="0" y="0"/>
          <a:chExt cx="0" cy="0"/>
        </a:xfrm>
      </p:grpSpPr>
      <p:sp>
        <p:nvSpPr>
          <p:cNvPr id="136" name="Rectangle 135">
            <a:extLst>
              <a:ext uri="{FF2B5EF4-FFF2-40B4-BE49-F238E27FC236}">
                <a16:creationId xmlns:a16="http://schemas.microsoft.com/office/drawing/2014/main" id="{13A53779-2525-CF9D-5FE9-E708C06ACE79}"/>
              </a:ext>
            </a:extLst>
          </p:cNvPr>
          <p:cNvSpPr/>
          <p:nvPr/>
        </p:nvSpPr>
        <p:spPr>
          <a:xfrm>
            <a:off x="4545237" y="0"/>
            <a:ext cx="7646763" cy="182434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2" name="Title 1">
            <a:extLst>
              <a:ext uri="{FF2B5EF4-FFF2-40B4-BE49-F238E27FC236}">
                <a16:creationId xmlns:a16="http://schemas.microsoft.com/office/drawing/2014/main" id="{AB02899C-B27D-67FB-0B71-08C43BDEF462}"/>
              </a:ext>
            </a:extLst>
          </p:cNvPr>
          <p:cNvSpPr>
            <a:spLocks noGrp="1"/>
          </p:cNvSpPr>
          <p:nvPr>
            <p:ph type="title"/>
          </p:nvPr>
        </p:nvSpPr>
        <p:spPr/>
        <p:txBody>
          <a:bodyPr/>
          <a:lstStyle/>
          <a:p>
            <a:r>
              <a:rPr lang="sv-SE" dirty="0"/>
              <a:t>AFIO_EXTICR</a:t>
            </a:r>
            <a:endParaRPr lang="LID4096" dirty="0"/>
          </a:p>
        </p:txBody>
      </p:sp>
      <p:cxnSp>
        <p:nvCxnSpPr>
          <p:cNvPr id="4" name="Straight Arrow Connector 3">
            <a:extLst>
              <a:ext uri="{FF2B5EF4-FFF2-40B4-BE49-F238E27FC236}">
                <a16:creationId xmlns:a16="http://schemas.microsoft.com/office/drawing/2014/main" id="{92C26AB2-5BD9-2EDF-8959-C858791C553B}"/>
              </a:ext>
            </a:extLst>
          </p:cNvPr>
          <p:cNvCxnSpPr/>
          <p:nvPr/>
        </p:nvCxnSpPr>
        <p:spPr>
          <a:xfrm flipH="1">
            <a:off x="6560866" y="3560881"/>
            <a:ext cx="835635" cy="0"/>
          </a:xfrm>
          <a:prstGeom prst="straightConnector1">
            <a:avLst/>
          </a:prstGeom>
          <a:ln w="38100">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5" name="Straight Arrow Connector 4">
            <a:extLst>
              <a:ext uri="{FF2B5EF4-FFF2-40B4-BE49-F238E27FC236}">
                <a16:creationId xmlns:a16="http://schemas.microsoft.com/office/drawing/2014/main" id="{7DC7B5D1-424C-0B7D-5DDB-04B3094D78BC}"/>
              </a:ext>
            </a:extLst>
          </p:cNvPr>
          <p:cNvCxnSpPr/>
          <p:nvPr/>
        </p:nvCxnSpPr>
        <p:spPr>
          <a:xfrm flipH="1">
            <a:off x="6560866" y="3712953"/>
            <a:ext cx="835635" cy="0"/>
          </a:xfrm>
          <a:prstGeom prst="straightConnector1">
            <a:avLst/>
          </a:prstGeom>
          <a:ln w="38100">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6" name="Straight Arrow Connector 5">
            <a:extLst>
              <a:ext uri="{FF2B5EF4-FFF2-40B4-BE49-F238E27FC236}">
                <a16:creationId xmlns:a16="http://schemas.microsoft.com/office/drawing/2014/main" id="{3A1D30A3-B8AB-7667-EC72-C4AFD2427430}"/>
              </a:ext>
            </a:extLst>
          </p:cNvPr>
          <p:cNvCxnSpPr/>
          <p:nvPr/>
        </p:nvCxnSpPr>
        <p:spPr>
          <a:xfrm flipH="1">
            <a:off x="6560866" y="3865025"/>
            <a:ext cx="835635" cy="0"/>
          </a:xfrm>
          <a:prstGeom prst="straightConnector1">
            <a:avLst/>
          </a:prstGeom>
          <a:ln w="38100">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 name="Straight Arrow Connector 6">
            <a:extLst>
              <a:ext uri="{FF2B5EF4-FFF2-40B4-BE49-F238E27FC236}">
                <a16:creationId xmlns:a16="http://schemas.microsoft.com/office/drawing/2014/main" id="{0A8E9F4C-CB5E-B292-023B-4B8C2F6303BB}"/>
              </a:ext>
            </a:extLst>
          </p:cNvPr>
          <p:cNvCxnSpPr/>
          <p:nvPr/>
        </p:nvCxnSpPr>
        <p:spPr>
          <a:xfrm flipH="1">
            <a:off x="6560866" y="4029679"/>
            <a:ext cx="835635" cy="0"/>
          </a:xfrm>
          <a:prstGeom prst="straightConnector1">
            <a:avLst/>
          </a:prstGeom>
          <a:ln w="38100">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8" name="Straight Arrow Connector 7">
            <a:extLst>
              <a:ext uri="{FF2B5EF4-FFF2-40B4-BE49-F238E27FC236}">
                <a16:creationId xmlns:a16="http://schemas.microsoft.com/office/drawing/2014/main" id="{7CA52A26-6BF5-92B9-8B84-EAC4B07692C0}"/>
              </a:ext>
            </a:extLst>
          </p:cNvPr>
          <p:cNvCxnSpPr/>
          <p:nvPr/>
        </p:nvCxnSpPr>
        <p:spPr>
          <a:xfrm flipH="1">
            <a:off x="6560866" y="4194333"/>
            <a:ext cx="835635" cy="0"/>
          </a:xfrm>
          <a:prstGeom prst="straightConnector1">
            <a:avLst/>
          </a:prstGeom>
          <a:ln w="38100">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9" name="Straight Arrow Connector 8">
            <a:extLst>
              <a:ext uri="{FF2B5EF4-FFF2-40B4-BE49-F238E27FC236}">
                <a16:creationId xmlns:a16="http://schemas.microsoft.com/office/drawing/2014/main" id="{85E98994-17E5-08B5-3D24-181FE7C8B742}"/>
              </a:ext>
            </a:extLst>
          </p:cNvPr>
          <p:cNvCxnSpPr/>
          <p:nvPr/>
        </p:nvCxnSpPr>
        <p:spPr>
          <a:xfrm flipH="1">
            <a:off x="6560866" y="4358987"/>
            <a:ext cx="835635" cy="0"/>
          </a:xfrm>
          <a:prstGeom prst="straightConnector1">
            <a:avLst/>
          </a:prstGeom>
          <a:ln w="38100">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10" name="Straight Arrow Connector 9">
            <a:extLst>
              <a:ext uri="{FF2B5EF4-FFF2-40B4-BE49-F238E27FC236}">
                <a16:creationId xmlns:a16="http://schemas.microsoft.com/office/drawing/2014/main" id="{294FA620-677B-F3A8-0D70-A2227589C072}"/>
              </a:ext>
            </a:extLst>
          </p:cNvPr>
          <p:cNvCxnSpPr/>
          <p:nvPr/>
        </p:nvCxnSpPr>
        <p:spPr>
          <a:xfrm flipH="1">
            <a:off x="6560866" y="4515253"/>
            <a:ext cx="835635" cy="0"/>
          </a:xfrm>
          <a:prstGeom prst="straightConnector1">
            <a:avLst/>
          </a:prstGeom>
          <a:ln w="38100">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11" name="Freeform: Shape 10">
            <a:extLst>
              <a:ext uri="{FF2B5EF4-FFF2-40B4-BE49-F238E27FC236}">
                <a16:creationId xmlns:a16="http://schemas.microsoft.com/office/drawing/2014/main" id="{279E12B1-AFC4-0200-ECB2-5F7740EEC4CA}"/>
              </a:ext>
            </a:extLst>
          </p:cNvPr>
          <p:cNvSpPr/>
          <p:nvPr/>
        </p:nvSpPr>
        <p:spPr>
          <a:xfrm>
            <a:off x="8582613" y="2747149"/>
            <a:ext cx="1405156" cy="813732"/>
          </a:xfrm>
          <a:custGeom>
            <a:avLst/>
            <a:gdLst>
              <a:gd name="csX0" fmla="*/ 1405156 w 1405156"/>
              <a:gd name="csY0" fmla="*/ 0 h 813732"/>
              <a:gd name="csX1" fmla="*/ 608202 w 1405156"/>
              <a:gd name="csY1" fmla="*/ 0 h 813732"/>
              <a:gd name="csX2" fmla="*/ 457200 w 1405156"/>
              <a:gd name="csY2" fmla="*/ 0 h 813732"/>
              <a:gd name="csX3" fmla="*/ 339754 w 1405156"/>
              <a:gd name="csY3" fmla="*/ 0 h 813732"/>
              <a:gd name="csX4" fmla="*/ 339754 w 1405156"/>
              <a:gd name="csY4" fmla="*/ 813732 h 813732"/>
              <a:gd name="csX5" fmla="*/ 0 w 1405156"/>
              <a:gd name="csY5" fmla="*/ 813732 h 813732"/>
            </a:gdLst>
            <a:ahLst/>
            <a:cxnLst>
              <a:cxn ang="0">
                <a:pos x="csX0" y="csY0"/>
              </a:cxn>
              <a:cxn ang="0">
                <a:pos x="csX1" y="csY1"/>
              </a:cxn>
              <a:cxn ang="0">
                <a:pos x="csX2" y="csY2"/>
              </a:cxn>
              <a:cxn ang="0">
                <a:pos x="csX3" y="csY3"/>
              </a:cxn>
              <a:cxn ang="0">
                <a:pos x="csX4" y="csY4"/>
              </a:cxn>
              <a:cxn ang="0">
                <a:pos x="csX5" y="csY5"/>
              </a:cxn>
            </a:cxnLst>
            <a:rect l="l" t="t" r="r" b="b"/>
            <a:pathLst>
              <a:path w="1405156" h="813732">
                <a:moveTo>
                  <a:pt x="1405156" y="0"/>
                </a:moveTo>
                <a:lnTo>
                  <a:pt x="608202" y="0"/>
                </a:lnTo>
                <a:lnTo>
                  <a:pt x="457200" y="0"/>
                </a:lnTo>
                <a:lnTo>
                  <a:pt x="339754" y="0"/>
                </a:lnTo>
                <a:lnTo>
                  <a:pt x="339754" y="813732"/>
                </a:lnTo>
                <a:lnTo>
                  <a:pt x="0" y="813732"/>
                </a:lnTo>
              </a:path>
            </a:pathLst>
          </a:custGeom>
          <a:noFill/>
          <a:ln w="50800">
            <a:solidFill>
              <a:schemeClr val="accent2">
                <a:lumMod val="75000"/>
              </a:schemeClr>
            </a:solidFill>
            <a:tailEnd type="triangle"/>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12" name="Arrow: Down 11">
            <a:extLst>
              <a:ext uri="{FF2B5EF4-FFF2-40B4-BE49-F238E27FC236}">
                <a16:creationId xmlns:a16="http://schemas.microsoft.com/office/drawing/2014/main" id="{AFF786B1-7642-E7AE-4E25-65CC19557CFD}"/>
              </a:ext>
            </a:extLst>
          </p:cNvPr>
          <p:cNvSpPr/>
          <p:nvPr/>
        </p:nvSpPr>
        <p:spPr>
          <a:xfrm>
            <a:off x="7396501" y="1652537"/>
            <a:ext cx="268777" cy="413962"/>
          </a:xfrm>
          <a:prstGeom prst="downArrow">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13" name="TextBox 12">
            <a:extLst>
              <a:ext uri="{FF2B5EF4-FFF2-40B4-BE49-F238E27FC236}">
                <a16:creationId xmlns:a16="http://schemas.microsoft.com/office/drawing/2014/main" id="{5FBCBDA4-2D48-4E14-A2F2-CD123324775B}"/>
              </a:ext>
            </a:extLst>
          </p:cNvPr>
          <p:cNvSpPr txBox="1"/>
          <p:nvPr/>
        </p:nvSpPr>
        <p:spPr>
          <a:xfrm rot="5400000">
            <a:off x="7390249" y="2065504"/>
            <a:ext cx="381836" cy="369332"/>
          </a:xfrm>
          <a:prstGeom prst="rect">
            <a:avLst/>
          </a:prstGeom>
          <a:noFill/>
        </p:spPr>
        <p:txBody>
          <a:bodyPr wrap="none" rtlCol="0">
            <a:spAutoFit/>
          </a:bodyPr>
          <a:lstStyle/>
          <a:p>
            <a:r>
              <a:rPr lang="en-GB"/>
              <a:t>...</a:t>
            </a:r>
            <a:endParaRPr lang="LID4096"/>
          </a:p>
        </p:txBody>
      </p:sp>
      <p:sp>
        <p:nvSpPr>
          <p:cNvPr id="14" name="Arrow: Down 13">
            <a:extLst>
              <a:ext uri="{FF2B5EF4-FFF2-40B4-BE49-F238E27FC236}">
                <a16:creationId xmlns:a16="http://schemas.microsoft.com/office/drawing/2014/main" id="{11B952EA-37C4-4185-D2E8-4BE82BD9843A}"/>
              </a:ext>
            </a:extLst>
          </p:cNvPr>
          <p:cNvSpPr/>
          <p:nvPr/>
        </p:nvSpPr>
        <p:spPr>
          <a:xfrm>
            <a:off x="6745844" y="1652537"/>
            <a:ext cx="268777" cy="413962"/>
          </a:xfrm>
          <a:prstGeom prst="downArrow">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15" name="TextBox 14">
            <a:extLst>
              <a:ext uri="{FF2B5EF4-FFF2-40B4-BE49-F238E27FC236}">
                <a16:creationId xmlns:a16="http://schemas.microsoft.com/office/drawing/2014/main" id="{3599040F-7548-372B-F3A0-3A4FAC7A5AE4}"/>
              </a:ext>
            </a:extLst>
          </p:cNvPr>
          <p:cNvSpPr txBox="1"/>
          <p:nvPr/>
        </p:nvSpPr>
        <p:spPr>
          <a:xfrm rot="5400000">
            <a:off x="6739592" y="2065504"/>
            <a:ext cx="381836" cy="369332"/>
          </a:xfrm>
          <a:prstGeom prst="rect">
            <a:avLst/>
          </a:prstGeom>
          <a:noFill/>
        </p:spPr>
        <p:txBody>
          <a:bodyPr wrap="none" rtlCol="0">
            <a:spAutoFit/>
          </a:bodyPr>
          <a:lstStyle/>
          <a:p>
            <a:r>
              <a:rPr lang="en-GB"/>
              <a:t>...</a:t>
            </a:r>
            <a:endParaRPr lang="LID4096"/>
          </a:p>
        </p:txBody>
      </p:sp>
      <p:sp>
        <p:nvSpPr>
          <p:cNvPr id="16" name="Arrow: Down 15">
            <a:extLst>
              <a:ext uri="{FF2B5EF4-FFF2-40B4-BE49-F238E27FC236}">
                <a16:creationId xmlns:a16="http://schemas.microsoft.com/office/drawing/2014/main" id="{6013BEB0-B39F-5210-748A-501D35DF9B6A}"/>
              </a:ext>
            </a:extLst>
          </p:cNvPr>
          <p:cNvSpPr/>
          <p:nvPr/>
        </p:nvSpPr>
        <p:spPr>
          <a:xfrm>
            <a:off x="6156844" y="1667148"/>
            <a:ext cx="268777" cy="413962"/>
          </a:xfrm>
          <a:prstGeom prst="downArrow">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17" name="TextBox 16">
            <a:extLst>
              <a:ext uri="{FF2B5EF4-FFF2-40B4-BE49-F238E27FC236}">
                <a16:creationId xmlns:a16="http://schemas.microsoft.com/office/drawing/2014/main" id="{85DBE1ED-9DA7-B7A5-BB72-1A895F9B6F61}"/>
              </a:ext>
            </a:extLst>
          </p:cNvPr>
          <p:cNvSpPr txBox="1"/>
          <p:nvPr/>
        </p:nvSpPr>
        <p:spPr>
          <a:xfrm rot="5400000">
            <a:off x="6150592" y="2080115"/>
            <a:ext cx="381836" cy="369332"/>
          </a:xfrm>
          <a:prstGeom prst="rect">
            <a:avLst/>
          </a:prstGeom>
          <a:noFill/>
        </p:spPr>
        <p:txBody>
          <a:bodyPr wrap="none" rtlCol="0">
            <a:spAutoFit/>
          </a:bodyPr>
          <a:lstStyle/>
          <a:p>
            <a:r>
              <a:rPr lang="en-GB"/>
              <a:t>...</a:t>
            </a:r>
            <a:endParaRPr lang="LID4096"/>
          </a:p>
        </p:txBody>
      </p:sp>
      <p:sp>
        <p:nvSpPr>
          <p:cNvPr id="18" name="Arrow: Down 17">
            <a:extLst>
              <a:ext uri="{FF2B5EF4-FFF2-40B4-BE49-F238E27FC236}">
                <a16:creationId xmlns:a16="http://schemas.microsoft.com/office/drawing/2014/main" id="{3E4C03F8-AEC1-6F70-C861-4CCF5A6FFA2B}"/>
              </a:ext>
            </a:extLst>
          </p:cNvPr>
          <p:cNvSpPr/>
          <p:nvPr/>
        </p:nvSpPr>
        <p:spPr>
          <a:xfrm>
            <a:off x="5567844" y="1681759"/>
            <a:ext cx="268777" cy="413962"/>
          </a:xfrm>
          <a:prstGeom prst="downArrow">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19" name="TextBox 18">
            <a:extLst>
              <a:ext uri="{FF2B5EF4-FFF2-40B4-BE49-F238E27FC236}">
                <a16:creationId xmlns:a16="http://schemas.microsoft.com/office/drawing/2014/main" id="{B7491416-9F23-8D0F-1700-F8DA96AC39DF}"/>
              </a:ext>
            </a:extLst>
          </p:cNvPr>
          <p:cNvSpPr txBox="1"/>
          <p:nvPr/>
        </p:nvSpPr>
        <p:spPr>
          <a:xfrm rot="5400000">
            <a:off x="5561592" y="2094726"/>
            <a:ext cx="381836" cy="369332"/>
          </a:xfrm>
          <a:prstGeom prst="rect">
            <a:avLst/>
          </a:prstGeom>
          <a:noFill/>
        </p:spPr>
        <p:txBody>
          <a:bodyPr wrap="none" rtlCol="0">
            <a:spAutoFit/>
          </a:bodyPr>
          <a:lstStyle/>
          <a:p>
            <a:r>
              <a:rPr lang="en-GB"/>
              <a:t>...</a:t>
            </a:r>
            <a:endParaRPr lang="LID4096"/>
          </a:p>
        </p:txBody>
      </p:sp>
      <p:sp>
        <p:nvSpPr>
          <p:cNvPr id="20" name="Arrow: Down 19">
            <a:extLst>
              <a:ext uri="{FF2B5EF4-FFF2-40B4-BE49-F238E27FC236}">
                <a16:creationId xmlns:a16="http://schemas.microsoft.com/office/drawing/2014/main" id="{0449FF34-10B6-813B-08B8-211F691F0D12}"/>
              </a:ext>
            </a:extLst>
          </p:cNvPr>
          <p:cNvSpPr/>
          <p:nvPr/>
        </p:nvSpPr>
        <p:spPr>
          <a:xfrm>
            <a:off x="8212267" y="1667148"/>
            <a:ext cx="268777" cy="413962"/>
          </a:xfrm>
          <a:prstGeom prst="downArrow">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21" name="Arrow: Down 20">
            <a:extLst>
              <a:ext uri="{FF2B5EF4-FFF2-40B4-BE49-F238E27FC236}">
                <a16:creationId xmlns:a16="http://schemas.microsoft.com/office/drawing/2014/main" id="{B7323CA2-ECE4-079F-92C9-15E45F141E20}"/>
              </a:ext>
            </a:extLst>
          </p:cNvPr>
          <p:cNvSpPr/>
          <p:nvPr/>
        </p:nvSpPr>
        <p:spPr>
          <a:xfrm>
            <a:off x="8845049" y="1645290"/>
            <a:ext cx="268777" cy="413962"/>
          </a:xfrm>
          <a:prstGeom prst="downArrow">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22" name="Rectangle 21">
            <a:extLst>
              <a:ext uri="{FF2B5EF4-FFF2-40B4-BE49-F238E27FC236}">
                <a16:creationId xmlns:a16="http://schemas.microsoft.com/office/drawing/2014/main" id="{626E417E-7839-6FD4-B3FE-944FD6EDC5A3}"/>
              </a:ext>
            </a:extLst>
          </p:cNvPr>
          <p:cNvSpPr/>
          <p:nvPr/>
        </p:nvSpPr>
        <p:spPr>
          <a:xfrm>
            <a:off x="10824545" y="5970889"/>
            <a:ext cx="863289" cy="639391"/>
          </a:xfrm>
          <a:prstGeom prst="rect">
            <a:avLst/>
          </a:prstGeom>
          <a:solidFill>
            <a:schemeClr val="bg1">
              <a:lumMod val="85000"/>
            </a:schemeClr>
          </a:solidFill>
          <a:ln w="12700"/>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23" name="Rectangle 22">
            <a:extLst>
              <a:ext uri="{FF2B5EF4-FFF2-40B4-BE49-F238E27FC236}">
                <a16:creationId xmlns:a16="http://schemas.microsoft.com/office/drawing/2014/main" id="{6645BBA4-54AC-E2E3-354F-31A9392187E2}"/>
              </a:ext>
            </a:extLst>
          </p:cNvPr>
          <p:cNvSpPr/>
          <p:nvPr/>
        </p:nvSpPr>
        <p:spPr>
          <a:xfrm>
            <a:off x="10830863" y="2326231"/>
            <a:ext cx="863289" cy="1731698"/>
          </a:xfrm>
          <a:prstGeom prst="rect">
            <a:avLst/>
          </a:prstGeom>
          <a:solidFill>
            <a:schemeClr val="bg1">
              <a:lumMod val="85000"/>
            </a:schemeClr>
          </a:solidFill>
          <a:ln w="127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24" name="TextBox 23">
            <a:extLst>
              <a:ext uri="{FF2B5EF4-FFF2-40B4-BE49-F238E27FC236}">
                <a16:creationId xmlns:a16="http://schemas.microsoft.com/office/drawing/2014/main" id="{BF38399D-17B1-8D2B-1DCC-BDE810572D37}"/>
              </a:ext>
            </a:extLst>
          </p:cNvPr>
          <p:cNvSpPr txBox="1"/>
          <p:nvPr/>
        </p:nvSpPr>
        <p:spPr>
          <a:xfrm>
            <a:off x="11296286" y="2619342"/>
            <a:ext cx="397866" cy="215444"/>
          </a:xfrm>
          <a:prstGeom prst="rect">
            <a:avLst/>
          </a:prstGeom>
          <a:noFill/>
          <a:ln>
            <a:noFill/>
          </a:ln>
        </p:spPr>
        <p:txBody>
          <a:bodyPr wrap="none" rtlCol="0">
            <a:spAutoFit/>
          </a:bodyPr>
          <a:lstStyle/>
          <a:p>
            <a:r>
              <a:rPr lang="en-GB" sz="800">
                <a:solidFill>
                  <a:schemeClr val="accent2">
                    <a:lumMod val="75000"/>
                  </a:schemeClr>
                </a:solidFill>
              </a:rPr>
              <a:t>pin 0</a:t>
            </a:r>
          </a:p>
        </p:txBody>
      </p:sp>
      <p:cxnSp>
        <p:nvCxnSpPr>
          <p:cNvPr id="25" name="Straight Connector 24">
            <a:extLst>
              <a:ext uri="{FF2B5EF4-FFF2-40B4-BE49-F238E27FC236}">
                <a16:creationId xmlns:a16="http://schemas.microsoft.com/office/drawing/2014/main" id="{A70D740B-6445-605B-1126-3264759AAFD6}"/>
              </a:ext>
            </a:extLst>
          </p:cNvPr>
          <p:cNvCxnSpPr>
            <a:cxnSpLocks/>
          </p:cNvCxnSpPr>
          <p:nvPr/>
        </p:nvCxnSpPr>
        <p:spPr>
          <a:xfrm>
            <a:off x="10901174" y="2727066"/>
            <a:ext cx="355269" cy="3727"/>
          </a:xfrm>
          <a:prstGeom prst="line">
            <a:avLst/>
          </a:prstGeom>
          <a:ln>
            <a:solidFill>
              <a:schemeClr val="accent2">
                <a:lumMod val="75000"/>
              </a:schemeClr>
            </a:solidFill>
            <a:prstDash val="dash"/>
          </a:ln>
          <a:effectLst/>
        </p:spPr>
        <p:style>
          <a:lnRef idx="1">
            <a:schemeClr val="accent1"/>
          </a:lnRef>
          <a:fillRef idx="0">
            <a:schemeClr val="accent1"/>
          </a:fillRef>
          <a:effectRef idx="0">
            <a:schemeClr val="accent1"/>
          </a:effectRef>
          <a:fontRef idx="minor">
            <a:schemeClr val="tx1"/>
          </a:fontRef>
        </p:style>
      </p:cxnSp>
      <p:sp>
        <p:nvSpPr>
          <p:cNvPr id="26" name="Oval 25">
            <a:extLst>
              <a:ext uri="{FF2B5EF4-FFF2-40B4-BE49-F238E27FC236}">
                <a16:creationId xmlns:a16="http://schemas.microsoft.com/office/drawing/2014/main" id="{282635E6-4434-8509-88C3-B070D04F0076}"/>
              </a:ext>
            </a:extLst>
          </p:cNvPr>
          <p:cNvSpPr/>
          <p:nvPr/>
        </p:nvSpPr>
        <p:spPr>
          <a:xfrm>
            <a:off x="11256443" y="2682348"/>
            <a:ext cx="79686" cy="89433"/>
          </a:xfrm>
          <a:prstGeom prst="ellipse">
            <a:avLst/>
          </a:prstGeom>
          <a:noFill/>
          <a:ln>
            <a:solidFill>
              <a:schemeClr val="accent2">
                <a:lumMod val="75000"/>
              </a:schemeClr>
            </a:solid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u="sng"/>
          </a:p>
        </p:txBody>
      </p:sp>
      <p:sp>
        <p:nvSpPr>
          <p:cNvPr id="27" name="TextBox 26">
            <a:extLst>
              <a:ext uri="{FF2B5EF4-FFF2-40B4-BE49-F238E27FC236}">
                <a16:creationId xmlns:a16="http://schemas.microsoft.com/office/drawing/2014/main" id="{28294A8D-24BA-F078-E20D-4DE6794E0443}"/>
              </a:ext>
            </a:extLst>
          </p:cNvPr>
          <p:cNvSpPr txBox="1"/>
          <p:nvPr/>
        </p:nvSpPr>
        <p:spPr>
          <a:xfrm>
            <a:off x="11296286" y="2758567"/>
            <a:ext cx="397866" cy="215444"/>
          </a:xfrm>
          <a:prstGeom prst="rect">
            <a:avLst/>
          </a:prstGeom>
          <a:noFill/>
        </p:spPr>
        <p:txBody>
          <a:bodyPr wrap="none" rtlCol="0">
            <a:spAutoFit/>
          </a:bodyPr>
          <a:lstStyle/>
          <a:p>
            <a:r>
              <a:rPr lang="en-GB" sz="800">
                <a:solidFill>
                  <a:schemeClr val="accent6">
                    <a:lumMod val="75000"/>
                  </a:schemeClr>
                </a:solidFill>
              </a:rPr>
              <a:t>pin 1</a:t>
            </a:r>
          </a:p>
        </p:txBody>
      </p:sp>
      <p:cxnSp>
        <p:nvCxnSpPr>
          <p:cNvPr id="28" name="Straight Connector 27">
            <a:extLst>
              <a:ext uri="{FF2B5EF4-FFF2-40B4-BE49-F238E27FC236}">
                <a16:creationId xmlns:a16="http://schemas.microsoft.com/office/drawing/2014/main" id="{EFFAEB81-6DDF-CBFA-A7E3-57CCF95F386E}"/>
              </a:ext>
            </a:extLst>
          </p:cNvPr>
          <p:cNvCxnSpPr>
            <a:cxnSpLocks/>
          </p:cNvCxnSpPr>
          <p:nvPr/>
        </p:nvCxnSpPr>
        <p:spPr>
          <a:xfrm>
            <a:off x="10901174" y="2866291"/>
            <a:ext cx="355269" cy="3727"/>
          </a:xfrm>
          <a:prstGeom prst="line">
            <a:avLst/>
          </a:prstGeom>
          <a:ln>
            <a:solidFill>
              <a:schemeClr val="accent6">
                <a:lumMod val="75000"/>
              </a:schemeClr>
            </a:solidFill>
            <a:prstDash val="dash"/>
          </a:ln>
          <a:effectLst/>
        </p:spPr>
        <p:style>
          <a:lnRef idx="1">
            <a:schemeClr val="accent1"/>
          </a:lnRef>
          <a:fillRef idx="0">
            <a:schemeClr val="accent1"/>
          </a:fillRef>
          <a:effectRef idx="0">
            <a:schemeClr val="accent1"/>
          </a:effectRef>
          <a:fontRef idx="minor">
            <a:schemeClr val="tx1"/>
          </a:fontRef>
        </p:style>
      </p:cxnSp>
      <p:sp>
        <p:nvSpPr>
          <p:cNvPr id="29" name="Oval 28">
            <a:extLst>
              <a:ext uri="{FF2B5EF4-FFF2-40B4-BE49-F238E27FC236}">
                <a16:creationId xmlns:a16="http://schemas.microsoft.com/office/drawing/2014/main" id="{CAA6BF5B-BC3F-1E73-18A1-9459C65C8940}"/>
              </a:ext>
            </a:extLst>
          </p:cNvPr>
          <p:cNvSpPr/>
          <p:nvPr/>
        </p:nvSpPr>
        <p:spPr>
          <a:xfrm>
            <a:off x="11256443" y="2821573"/>
            <a:ext cx="79686" cy="89433"/>
          </a:xfrm>
          <a:prstGeom prst="ellipse">
            <a:avLst/>
          </a:prstGeom>
          <a:noFill/>
          <a:ln>
            <a:solidFill>
              <a:schemeClr val="accent6">
                <a:lumMod val="75000"/>
              </a:schemeClr>
            </a:solid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u="sng"/>
          </a:p>
        </p:txBody>
      </p:sp>
      <p:sp>
        <p:nvSpPr>
          <p:cNvPr id="30" name="TextBox 29">
            <a:extLst>
              <a:ext uri="{FF2B5EF4-FFF2-40B4-BE49-F238E27FC236}">
                <a16:creationId xmlns:a16="http://schemas.microsoft.com/office/drawing/2014/main" id="{1CCEE385-3729-310C-D0F9-C5393D0E2530}"/>
              </a:ext>
            </a:extLst>
          </p:cNvPr>
          <p:cNvSpPr txBox="1"/>
          <p:nvPr/>
        </p:nvSpPr>
        <p:spPr>
          <a:xfrm>
            <a:off x="11296286" y="2897792"/>
            <a:ext cx="397866" cy="215444"/>
          </a:xfrm>
          <a:prstGeom prst="rect">
            <a:avLst/>
          </a:prstGeom>
          <a:noFill/>
        </p:spPr>
        <p:txBody>
          <a:bodyPr wrap="none" rtlCol="0">
            <a:spAutoFit/>
          </a:bodyPr>
          <a:lstStyle/>
          <a:p>
            <a:r>
              <a:rPr lang="en-GB" sz="800"/>
              <a:t>pin 2</a:t>
            </a:r>
          </a:p>
        </p:txBody>
      </p:sp>
      <p:cxnSp>
        <p:nvCxnSpPr>
          <p:cNvPr id="31" name="Straight Connector 30">
            <a:extLst>
              <a:ext uri="{FF2B5EF4-FFF2-40B4-BE49-F238E27FC236}">
                <a16:creationId xmlns:a16="http://schemas.microsoft.com/office/drawing/2014/main" id="{44572E8A-CD43-89B2-C7C0-71C03CC12BCB}"/>
              </a:ext>
            </a:extLst>
          </p:cNvPr>
          <p:cNvCxnSpPr>
            <a:cxnSpLocks/>
          </p:cNvCxnSpPr>
          <p:nvPr/>
        </p:nvCxnSpPr>
        <p:spPr>
          <a:xfrm>
            <a:off x="10901174" y="3005516"/>
            <a:ext cx="355269" cy="3727"/>
          </a:xfrm>
          <a:prstGeom prst="line">
            <a:avLst/>
          </a:prstGeom>
          <a:ln>
            <a:solidFill>
              <a:schemeClr val="tx1"/>
            </a:solidFill>
            <a:prstDash val="dash"/>
          </a:ln>
          <a:effectLst/>
        </p:spPr>
        <p:style>
          <a:lnRef idx="1">
            <a:schemeClr val="accent1"/>
          </a:lnRef>
          <a:fillRef idx="0">
            <a:schemeClr val="accent1"/>
          </a:fillRef>
          <a:effectRef idx="0">
            <a:schemeClr val="accent1"/>
          </a:effectRef>
          <a:fontRef idx="minor">
            <a:schemeClr val="tx1"/>
          </a:fontRef>
        </p:style>
      </p:cxnSp>
      <p:sp>
        <p:nvSpPr>
          <p:cNvPr id="32" name="Oval 31">
            <a:extLst>
              <a:ext uri="{FF2B5EF4-FFF2-40B4-BE49-F238E27FC236}">
                <a16:creationId xmlns:a16="http://schemas.microsoft.com/office/drawing/2014/main" id="{A1F62475-9079-C3D4-D8C9-ED1AC22D9577}"/>
              </a:ext>
            </a:extLst>
          </p:cNvPr>
          <p:cNvSpPr/>
          <p:nvPr/>
        </p:nvSpPr>
        <p:spPr>
          <a:xfrm>
            <a:off x="11256443" y="2960798"/>
            <a:ext cx="79686" cy="89433"/>
          </a:xfrm>
          <a:prstGeom prst="ellipse">
            <a:avLst/>
          </a:prstGeom>
          <a:noFill/>
          <a:ln>
            <a:solidFill>
              <a:schemeClr val="tx1"/>
            </a:solid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u="sng"/>
          </a:p>
        </p:txBody>
      </p:sp>
      <p:sp>
        <p:nvSpPr>
          <p:cNvPr id="33" name="TextBox 32">
            <a:extLst>
              <a:ext uri="{FF2B5EF4-FFF2-40B4-BE49-F238E27FC236}">
                <a16:creationId xmlns:a16="http://schemas.microsoft.com/office/drawing/2014/main" id="{374034EF-07AB-4A61-7CFB-84EEB165663B}"/>
              </a:ext>
            </a:extLst>
          </p:cNvPr>
          <p:cNvSpPr txBox="1"/>
          <p:nvPr/>
        </p:nvSpPr>
        <p:spPr>
          <a:xfrm>
            <a:off x="11296286" y="3037017"/>
            <a:ext cx="397866" cy="215444"/>
          </a:xfrm>
          <a:prstGeom prst="rect">
            <a:avLst/>
          </a:prstGeom>
          <a:noFill/>
        </p:spPr>
        <p:txBody>
          <a:bodyPr wrap="none" rtlCol="0">
            <a:spAutoFit/>
          </a:bodyPr>
          <a:lstStyle/>
          <a:p>
            <a:r>
              <a:rPr lang="en-GB" sz="800"/>
              <a:t>pin 3</a:t>
            </a:r>
          </a:p>
        </p:txBody>
      </p:sp>
      <p:cxnSp>
        <p:nvCxnSpPr>
          <p:cNvPr id="34" name="Straight Connector 33">
            <a:extLst>
              <a:ext uri="{FF2B5EF4-FFF2-40B4-BE49-F238E27FC236}">
                <a16:creationId xmlns:a16="http://schemas.microsoft.com/office/drawing/2014/main" id="{1E7E5707-4F37-7961-FDE2-619BE6446144}"/>
              </a:ext>
            </a:extLst>
          </p:cNvPr>
          <p:cNvCxnSpPr>
            <a:cxnSpLocks/>
          </p:cNvCxnSpPr>
          <p:nvPr/>
        </p:nvCxnSpPr>
        <p:spPr>
          <a:xfrm>
            <a:off x="10901174" y="3144741"/>
            <a:ext cx="355269" cy="3727"/>
          </a:xfrm>
          <a:prstGeom prst="line">
            <a:avLst/>
          </a:prstGeom>
          <a:ln>
            <a:solidFill>
              <a:schemeClr val="tx1"/>
            </a:solidFill>
            <a:prstDash val="dash"/>
          </a:ln>
          <a:effectLst/>
        </p:spPr>
        <p:style>
          <a:lnRef idx="1">
            <a:schemeClr val="accent1"/>
          </a:lnRef>
          <a:fillRef idx="0">
            <a:schemeClr val="accent1"/>
          </a:fillRef>
          <a:effectRef idx="0">
            <a:schemeClr val="accent1"/>
          </a:effectRef>
          <a:fontRef idx="minor">
            <a:schemeClr val="tx1"/>
          </a:fontRef>
        </p:style>
      </p:cxnSp>
      <p:sp>
        <p:nvSpPr>
          <p:cNvPr id="35" name="Oval 34">
            <a:extLst>
              <a:ext uri="{FF2B5EF4-FFF2-40B4-BE49-F238E27FC236}">
                <a16:creationId xmlns:a16="http://schemas.microsoft.com/office/drawing/2014/main" id="{DAAD71E4-CF8F-7F1D-882F-57099BE0BF8F}"/>
              </a:ext>
            </a:extLst>
          </p:cNvPr>
          <p:cNvSpPr/>
          <p:nvPr/>
        </p:nvSpPr>
        <p:spPr>
          <a:xfrm>
            <a:off x="11256443" y="3100023"/>
            <a:ext cx="79686" cy="89433"/>
          </a:xfrm>
          <a:prstGeom prst="ellipse">
            <a:avLst/>
          </a:prstGeom>
          <a:noFill/>
          <a:ln>
            <a:solidFill>
              <a:schemeClr val="tx1"/>
            </a:solid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u="sng"/>
          </a:p>
        </p:txBody>
      </p:sp>
      <p:sp>
        <p:nvSpPr>
          <p:cNvPr id="36" name="TextBox 35">
            <a:extLst>
              <a:ext uri="{FF2B5EF4-FFF2-40B4-BE49-F238E27FC236}">
                <a16:creationId xmlns:a16="http://schemas.microsoft.com/office/drawing/2014/main" id="{3264E7CC-6651-DD60-36A7-E9C3A375C959}"/>
              </a:ext>
            </a:extLst>
          </p:cNvPr>
          <p:cNvSpPr txBox="1"/>
          <p:nvPr/>
        </p:nvSpPr>
        <p:spPr>
          <a:xfrm>
            <a:off x="11296286" y="3176242"/>
            <a:ext cx="397866" cy="215444"/>
          </a:xfrm>
          <a:prstGeom prst="rect">
            <a:avLst/>
          </a:prstGeom>
          <a:noFill/>
        </p:spPr>
        <p:txBody>
          <a:bodyPr wrap="none" rtlCol="0">
            <a:spAutoFit/>
          </a:bodyPr>
          <a:lstStyle/>
          <a:p>
            <a:r>
              <a:rPr lang="en-GB" sz="800"/>
              <a:t>pin 4</a:t>
            </a:r>
          </a:p>
        </p:txBody>
      </p:sp>
      <p:cxnSp>
        <p:nvCxnSpPr>
          <p:cNvPr id="37" name="Straight Connector 36">
            <a:extLst>
              <a:ext uri="{FF2B5EF4-FFF2-40B4-BE49-F238E27FC236}">
                <a16:creationId xmlns:a16="http://schemas.microsoft.com/office/drawing/2014/main" id="{610C514C-996E-67EF-E221-27106131ECA5}"/>
              </a:ext>
            </a:extLst>
          </p:cNvPr>
          <p:cNvCxnSpPr>
            <a:cxnSpLocks/>
          </p:cNvCxnSpPr>
          <p:nvPr/>
        </p:nvCxnSpPr>
        <p:spPr>
          <a:xfrm>
            <a:off x="10901174" y="3283966"/>
            <a:ext cx="355269" cy="3727"/>
          </a:xfrm>
          <a:prstGeom prst="line">
            <a:avLst/>
          </a:prstGeom>
          <a:ln>
            <a:solidFill>
              <a:schemeClr val="tx1"/>
            </a:solidFill>
            <a:prstDash val="dash"/>
          </a:ln>
          <a:effectLst/>
        </p:spPr>
        <p:style>
          <a:lnRef idx="1">
            <a:schemeClr val="accent1"/>
          </a:lnRef>
          <a:fillRef idx="0">
            <a:schemeClr val="accent1"/>
          </a:fillRef>
          <a:effectRef idx="0">
            <a:schemeClr val="accent1"/>
          </a:effectRef>
          <a:fontRef idx="minor">
            <a:schemeClr val="tx1"/>
          </a:fontRef>
        </p:style>
      </p:cxnSp>
      <p:sp>
        <p:nvSpPr>
          <p:cNvPr id="38" name="Oval 37">
            <a:extLst>
              <a:ext uri="{FF2B5EF4-FFF2-40B4-BE49-F238E27FC236}">
                <a16:creationId xmlns:a16="http://schemas.microsoft.com/office/drawing/2014/main" id="{937EB7A6-39D0-D947-B6D2-167D9E8534B6}"/>
              </a:ext>
            </a:extLst>
          </p:cNvPr>
          <p:cNvSpPr/>
          <p:nvPr/>
        </p:nvSpPr>
        <p:spPr>
          <a:xfrm>
            <a:off x="11256443" y="3239248"/>
            <a:ext cx="79686" cy="89433"/>
          </a:xfrm>
          <a:prstGeom prst="ellipse">
            <a:avLst/>
          </a:prstGeom>
          <a:noFill/>
          <a:ln>
            <a:solidFill>
              <a:schemeClr val="tx1"/>
            </a:solid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u="sng"/>
          </a:p>
        </p:txBody>
      </p:sp>
      <p:sp>
        <p:nvSpPr>
          <p:cNvPr id="39" name="TextBox 38">
            <a:extLst>
              <a:ext uri="{FF2B5EF4-FFF2-40B4-BE49-F238E27FC236}">
                <a16:creationId xmlns:a16="http://schemas.microsoft.com/office/drawing/2014/main" id="{C90F7EF4-B0DE-EADA-2928-D43D6BB2254C}"/>
              </a:ext>
            </a:extLst>
          </p:cNvPr>
          <p:cNvSpPr txBox="1"/>
          <p:nvPr/>
        </p:nvSpPr>
        <p:spPr>
          <a:xfrm>
            <a:off x="11296286" y="3315467"/>
            <a:ext cx="397866" cy="215444"/>
          </a:xfrm>
          <a:prstGeom prst="rect">
            <a:avLst/>
          </a:prstGeom>
          <a:noFill/>
        </p:spPr>
        <p:txBody>
          <a:bodyPr wrap="none" rtlCol="0">
            <a:spAutoFit/>
          </a:bodyPr>
          <a:lstStyle/>
          <a:p>
            <a:r>
              <a:rPr lang="en-GB" sz="800"/>
              <a:t>pin 5</a:t>
            </a:r>
          </a:p>
        </p:txBody>
      </p:sp>
      <p:cxnSp>
        <p:nvCxnSpPr>
          <p:cNvPr id="40" name="Straight Connector 39">
            <a:extLst>
              <a:ext uri="{FF2B5EF4-FFF2-40B4-BE49-F238E27FC236}">
                <a16:creationId xmlns:a16="http://schemas.microsoft.com/office/drawing/2014/main" id="{392B294D-FF2D-6A74-E707-AA3164D58DD4}"/>
              </a:ext>
            </a:extLst>
          </p:cNvPr>
          <p:cNvCxnSpPr>
            <a:cxnSpLocks/>
          </p:cNvCxnSpPr>
          <p:nvPr/>
        </p:nvCxnSpPr>
        <p:spPr>
          <a:xfrm>
            <a:off x="10901174" y="3423191"/>
            <a:ext cx="355269" cy="3727"/>
          </a:xfrm>
          <a:prstGeom prst="line">
            <a:avLst/>
          </a:prstGeom>
          <a:ln>
            <a:solidFill>
              <a:schemeClr val="tx1"/>
            </a:solidFill>
            <a:prstDash val="dash"/>
          </a:ln>
          <a:effectLst/>
        </p:spPr>
        <p:style>
          <a:lnRef idx="1">
            <a:schemeClr val="accent1"/>
          </a:lnRef>
          <a:fillRef idx="0">
            <a:schemeClr val="accent1"/>
          </a:fillRef>
          <a:effectRef idx="0">
            <a:schemeClr val="accent1"/>
          </a:effectRef>
          <a:fontRef idx="minor">
            <a:schemeClr val="tx1"/>
          </a:fontRef>
        </p:style>
      </p:cxnSp>
      <p:sp>
        <p:nvSpPr>
          <p:cNvPr id="41" name="Oval 40">
            <a:extLst>
              <a:ext uri="{FF2B5EF4-FFF2-40B4-BE49-F238E27FC236}">
                <a16:creationId xmlns:a16="http://schemas.microsoft.com/office/drawing/2014/main" id="{E48705FB-BD91-C7F5-00AA-67EDE9799C24}"/>
              </a:ext>
            </a:extLst>
          </p:cNvPr>
          <p:cNvSpPr/>
          <p:nvPr/>
        </p:nvSpPr>
        <p:spPr>
          <a:xfrm>
            <a:off x="11256443" y="3378473"/>
            <a:ext cx="79686" cy="89433"/>
          </a:xfrm>
          <a:prstGeom prst="ellipse">
            <a:avLst/>
          </a:prstGeom>
          <a:noFill/>
          <a:ln>
            <a:solidFill>
              <a:schemeClr val="tx1"/>
            </a:solid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u="sng"/>
          </a:p>
        </p:txBody>
      </p:sp>
      <p:sp>
        <p:nvSpPr>
          <p:cNvPr id="42" name="TextBox 41">
            <a:extLst>
              <a:ext uri="{FF2B5EF4-FFF2-40B4-BE49-F238E27FC236}">
                <a16:creationId xmlns:a16="http://schemas.microsoft.com/office/drawing/2014/main" id="{B602A260-D190-A113-D933-8BFB3E594BCB}"/>
              </a:ext>
            </a:extLst>
          </p:cNvPr>
          <p:cNvSpPr txBox="1"/>
          <p:nvPr/>
        </p:nvSpPr>
        <p:spPr>
          <a:xfrm>
            <a:off x="11296286" y="3454692"/>
            <a:ext cx="397866" cy="215444"/>
          </a:xfrm>
          <a:prstGeom prst="rect">
            <a:avLst/>
          </a:prstGeom>
          <a:noFill/>
        </p:spPr>
        <p:txBody>
          <a:bodyPr wrap="none" rtlCol="0">
            <a:spAutoFit/>
          </a:bodyPr>
          <a:lstStyle/>
          <a:p>
            <a:r>
              <a:rPr lang="en-GB" sz="800"/>
              <a:t>pin 6</a:t>
            </a:r>
          </a:p>
        </p:txBody>
      </p:sp>
      <p:cxnSp>
        <p:nvCxnSpPr>
          <p:cNvPr id="43" name="Straight Connector 42">
            <a:extLst>
              <a:ext uri="{FF2B5EF4-FFF2-40B4-BE49-F238E27FC236}">
                <a16:creationId xmlns:a16="http://schemas.microsoft.com/office/drawing/2014/main" id="{12D81B06-E592-EAB6-7614-9426C57D2E18}"/>
              </a:ext>
            </a:extLst>
          </p:cNvPr>
          <p:cNvCxnSpPr>
            <a:cxnSpLocks/>
          </p:cNvCxnSpPr>
          <p:nvPr/>
        </p:nvCxnSpPr>
        <p:spPr>
          <a:xfrm>
            <a:off x="10901174" y="3562416"/>
            <a:ext cx="355269" cy="3727"/>
          </a:xfrm>
          <a:prstGeom prst="line">
            <a:avLst/>
          </a:prstGeom>
          <a:ln>
            <a:solidFill>
              <a:schemeClr val="tx1"/>
            </a:solidFill>
            <a:prstDash val="dash"/>
          </a:ln>
          <a:effectLst/>
        </p:spPr>
        <p:style>
          <a:lnRef idx="1">
            <a:schemeClr val="accent1"/>
          </a:lnRef>
          <a:fillRef idx="0">
            <a:schemeClr val="accent1"/>
          </a:fillRef>
          <a:effectRef idx="0">
            <a:schemeClr val="accent1"/>
          </a:effectRef>
          <a:fontRef idx="minor">
            <a:schemeClr val="tx1"/>
          </a:fontRef>
        </p:style>
      </p:cxnSp>
      <p:sp>
        <p:nvSpPr>
          <p:cNvPr id="44" name="Oval 43">
            <a:extLst>
              <a:ext uri="{FF2B5EF4-FFF2-40B4-BE49-F238E27FC236}">
                <a16:creationId xmlns:a16="http://schemas.microsoft.com/office/drawing/2014/main" id="{992235A2-7E73-F993-04C0-295B2D57BD92}"/>
              </a:ext>
            </a:extLst>
          </p:cNvPr>
          <p:cNvSpPr/>
          <p:nvPr/>
        </p:nvSpPr>
        <p:spPr>
          <a:xfrm>
            <a:off x="11256443" y="3517698"/>
            <a:ext cx="79686" cy="89433"/>
          </a:xfrm>
          <a:prstGeom prst="ellipse">
            <a:avLst/>
          </a:prstGeom>
          <a:noFill/>
          <a:ln>
            <a:solidFill>
              <a:schemeClr val="tx1"/>
            </a:solid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u="sng"/>
          </a:p>
        </p:txBody>
      </p:sp>
      <p:sp>
        <p:nvSpPr>
          <p:cNvPr id="45" name="TextBox 44">
            <a:extLst>
              <a:ext uri="{FF2B5EF4-FFF2-40B4-BE49-F238E27FC236}">
                <a16:creationId xmlns:a16="http://schemas.microsoft.com/office/drawing/2014/main" id="{45A33E3E-FD65-4126-0DCC-A5879B5CA1E2}"/>
              </a:ext>
            </a:extLst>
          </p:cNvPr>
          <p:cNvSpPr txBox="1"/>
          <p:nvPr/>
        </p:nvSpPr>
        <p:spPr>
          <a:xfrm>
            <a:off x="11296286" y="3593917"/>
            <a:ext cx="397866" cy="215444"/>
          </a:xfrm>
          <a:prstGeom prst="rect">
            <a:avLst/>
          </a:prstGeom>
          <a:noFill/>
        </p:spPr>
        <p:txBody>
          <a:bodyPr wrap="none" rtlCol="0">
            <a:spAutoFit/>
          </a:bodyPr>
          <a:lstStyle/>
          <a:p>
            <a:r>
              <a:rPr lang="en-GB" sz="800"/>
              <a:t>pin 7</a:t>
            </a:r>
          </a:p>
        </p:txBody>
      </p:sp>
      <p:cxnSp>
        <p:nvCxnSpPr>
          <p:cNvPr id="46" name="Straight Connector 45">
            <a:extLst>
              <a:ext uri="{FF2B5EF4-FFF2-40B4-BE49-F238E27FC236}">
                <a16:creationId xmlns:a16="http://schemas.microsoft.com/office/drawing/2014/main" id="{939BC99A-8770-2A88-D04B-1A55F408DF58}"/>
              </a:ext>
            </a:extLst>
          </p:cNvPr>
          <p:cNvCxnSpPr>
            <a:cxnSpLocks/>
          </p:cNvCxnSpPr>
          <p:nvPr/>
        </p:nvCxnSpPr>
        <p:spPr>
          <a:xfrm>
            <a:off x="10901174" y="3701641"/>
            <a:ext cx="355269" cy="3727"/>
          </a:xfrm>
          <a:prstGeom prst="line">
            <a:avLst/>
          </a:prstGeom>
          <a:ln>
            <a:solidFill>
              <a:schemeClr val="tx1"/>
            </a:solidFill>
            <a:prstDash val="dash"/>
          </a:ln>
          <a:effectLst/>
        </p:spPr>
        <p:style>
          <a:lnRef idx="1">
            <a:schemeClr val="accent1"/>
          </a:lnRef>
          <a:fillRef idx="0">
            <a:schemeClr val="accent1"/>
          </a:fillRef>
          <a:effectRef idx="0">
            <a:schemeClr val="accent1"/>
          </a:effectRef>
          <a:fontRef idx="minor">
            <a:schemeClr val="tx1"/>
          </a:fontRef>
        </p:style>
      </p:cxnSp>
      <p:sp>
        <p:nvSpPr>
          <p:cNvPr id="47" name="Oval 46">
            <a:extLst>
              <a:ext uri="{FF2B5EF4-FFF2-40B4-BE49-F238E27FC236}">
                <a16:creationId xmlns:a16="http://schemas.microsoft.com/office/drawing/2014/main" id="{A380B273-EFD1-C894-8DC9-2DD21DA9E3A1}"/>
              </a:ext>
            </a:extLst>
          </p:cNvPr>
          <p:cNvSpPr/>
          <p:nvPr/>
        </p:nvSpPr>
        <p:spPr>
          <a:xfrm>
            <a:off x="11256443" y="3656923"/>
            <a:ext cx="79686" cy="89433"/>
          </a:xfrm>
          <a:prstGeom prst="ellipse">
            <a:avLst/>
          </a:prstGeom>
          <a:noFill/>
          <a:ln>
            <a:solidFill>
              <a:schemeClr val="tx1"/>
            </a:solid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u="sng"/>
          </a:p>
        </p:txBody>
      </p:sp>
      <p:sp>
        <p:nvSpPr>
          <p:cNvPr id="48" name="TextBox 47">
            <a:extLst>
              <a:ext uri="{FF2B5EF4-FFF2-40B4-BE49-F238E27FC236}">
                <a16:creationId xmlns:a16="http://schemas.microsoft.com/office/drawing/2014/main" id="{90D25026-00D4-963D-7485-5574842629B5}"/>
              </a:ext>
            </a:extLst>
          </p:cNvPr>
          <p:cNvSpPr txBox="1"/>
          <p:nvPr/>
        </p:nvSpPr>
        <p:spPr>
          <a:xfrm rot="5400000">
            <a:off x="11145211" y="3719205"/>
            <a:ext cx="381836" cy="369332"/>
          </a:xfrm>
          <a:prstGeom prst="rect">
            <a:avLst/>
          </a:prstGeom>
          <a:noFill/>
        </p:spPr>
        <p:txBody>
          <a:bodyPr wrap="none" rtlCol="0">
            <a:spAutoFit/>
          </a:bodyPr>
          <a:lstStyle/>
          <a:p>
            <a:r>
              <a:rPr lang="en-GB"/>
              <a:t>...</a:t>
            </a:r>
            <a:endParaRPr lang="LID4096"/>
          </a:p>
        </p:txBody>
      </p:sp>
      <p:sp>
        <p:nvSpPr>
          <p:cNvPr id="49" name="TextBox 48">
            <a:extLst>
              <a:ext uri="{FF2B5EF4-FFF2-40B4-BE49-F238E27FC236}">
                <a16:creationId xmlns:a16="http://schemas.microsoft.com/office/drawing/2014/main" id="{4A56FA7A-6803-86B8-3C56-B685FFB72677}"/>
              </a:ext>
            </a:extLst>
          </p:cNvPr>
          <p:cNvSpPr txBox="1"/>
          <p:nvPr/>
        </p:nvSpPr>
        <p:spPr>
          <a:xfrm>
            <a:off x="10878042" y="2326231"/>
            <a:ext cx="793166" cy="369332"/>
          </a:xfrm>
          <a:prstGeom prst="rect">
            <a:avLst/>
          </a:prstGeom>
          <a:noFill/>
        </p:spPr>
        <p:txBody>
          <a:bodyPr wrap="none" rtlCol="0">
            <a:spAutoFit/>
          </a:bodyPr>
          <a:lstStyle/>
          <a:p>
            <a:r>
              <a:rPr lang="en-GB"/>
              <a:t>Port D</a:t>
            </a:r>
            <a:endParaRPr lang="LID4096"/>
          </a:p>
        </p:txBody>
      </p:sp>
      <p:sp>
        <p:nvSpPr>
          <p:cNvPr id="50" name="Rectangle 49">
            <a:extLst>
              <a:ext uri="{FF2B5EF4-FFF2-40B4-BE49-F238E27FC236}">
                <a16:creationId xmlns:a16="http://schemas.microsoft.com/office/drawing/2014/main" id="{F373B90B-E6B0-1D8E-3005-A14E18730AF2}"/>
              </a:ext>
            </a:extLst>
          </p:cNvPr>
          <p:cNvSpPr/>
          <p:nvPr/>
        </p:nvSpPr>
        <p:spPr>
          <a:xfrm>
            <a:off x="10830863" y="4150819"/>
            <a:ext cx="863289" cy="1731698"/>
          </a:xfrm>
          <a:prstGeom prst="rect">
            <a:avLst/>
          </a:prstGeom>
          <a:solidFill>
            <a:schemeClr val="bg1">
              <a:lumMod val="85000"/>
            </a:schemeClr>
          </a:solidFill>
          <a:ln w="127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51" name="TextBox 50">
            <a:extLst>
              <a:ext uri="{FF2B5EF4-FFF2-40B4-BE49-F238E27FC236}">
                <a16:creationId xmlns:a16="http://schemas.microsoft.com/office/drawing/2014/main" id="{C00050C5-B4CF-3071-ADF1-CBA42E471F9E}"/>
              </a:ext>
            </a:extLst>
          </p:cNvPr>
          <p:cNvSpPr txBox="1"/>
          <p:nvPr/>
        </p:nvSpPr>
        <p:spPr>
          <a:xfrm>
            <a:off x="11296286" y="4443930"/>
            <a:ext cx="397866" cy="215444"/>
          </a:xfrm>
          <a:prstGeom prst="rect">
            <a:avLst/>
          </a:prstGeom>
          <a:noFill/>
        </p:spPr>
        <p:txBody>
          <a:bodyPr wrap="none" rtlCol="0">
            <a:spAutoFit/>
          </a:bodyPr>
          <a:lstStyle/>
          <a:p>
            <a:r>
              <a:rPr lang="en-GB" sz="800">
                <a:solidFill>
                  <a:schemeClr val="accent2">
                    <a:lumMod val="75000"/>
                  </a:schemeClr>
                </a:solidFill>
              </a:rPr>
              <a:t>pin 0</a:t>
            </a:r>
          </a:p>
        </p:txBody>
      </p:sp>
      <p:cxnSp>
        <p:nvCxnSpPr>
          <p:cNvPr id="52" name="Straight Connector 51">
            <a:extLst>
              <a:ext uri="{FF2B5EF4-FFF2-40B4-BE49-F238E27FC236}">
                <a16:creationId xmlns:a16="http://schemas.microsoft.com/office/drawing/2014/main" id="{0EA4E22C-4C47-4A07-CD66-6EEADF59F2B8}"/>
              </a:ext>
            </a:extLst>
          </p:cNvPr>
          <p:cNvCxnSpPr>
            <a:cxnSpLocks/>
          </p:cNvCxnSpPr>
          <p:nvPr/>
        </p:nvCxnSpPr>
        <p:spPr>
          <a:xfrm>
            <a:off x="10901174" y="4551654"/>
            <a:ext cx="355269" cy="3727"/>
          </a:xfrm>
          <a:prstGeom prst="line">
            <a:avLst/>
          </a:prstGeom>
          <a:ln>
            <a:solidFill>
              <a:schemeClr val="accent2">
                <a:lumMod val="75000"/>
              </a:schemeClr>
            </a:solidFill>
            <a:prstDash val="dash"/>
          </a:ln>
          <a:effectLst/>
        </p:spPr>
        <p:style>
          <a:lnRef idx="1">
            <a:schemeClr val="accent1"/>
          </a:lnRef>
          <a:fillRef idx="0">
            <a:schemeClr val="accent1"/>
          </a:fillRef>
          <a:effectRef idx="0">
            <a:schemeClr val="accent1"/>
          </a:effectRef>
          <a:fontRef idx="minor">
            <a:schemeClr val="tx1"/>
          </a:fontRef>
        </p:style>
      </p:cxnSp>
      <p:sp>
        <p:nvSpPr>
          <p:cNvPr id="53" name="Oval 52">
            <a:extLst>
              <a:ext uri="{FF2B5EF4-FFF2-40B4-BE49-F238E27FC236}">
                <a16:creationId xmlns:a16="http://schemas.microsoft.com/office/drawing/2014/main" id="{635115BC-0024-B3F9-D7A0-94264613D6CB}"/>
              </a:ext>
            </a:extLst>
          </p:cNvPr>
          <p:cNvSpPr/>
          <p:nvPr/>
        </p:nvSpPr>
        <p:spPr>
          <a:xfrm>
            <a:off x="11256443" y="4506936"/>
            <a:ext cx="79686" cy="89433"/>
          </a:xfrm>
          <a:prstGeom prst="ellipse">
            <a:avLst/>
          </a:prstGeom>
          <a:noFill/>
          <a:ln>
            <a:solidFill>
              <a:schemeClr val="accent2">
                <a:lumMod val="75000"/>
              </a:schemeClr>
            </a:solid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u="sng"/>
          </a:p>
        </p:txBody>
      </p:sp>
      <p:sp>
        <p:nvSpPr>
          <p:cNvPr id="54" name="TextBox 53">
            <a:extLst>
              <a:ext uri="{FF2B5EF4-FFF2-40B4-BE49-F238E27FC236}">
                <a16:creationId xmlns:a16="http://schemas.microsoft.com/office/drawing/2014/main" id="{26983FDB-3051-74DA-8730-79DBE41DD0EB}"/>
              </a:ext>
            </a:extLst>
          </p:cNvPr>
          <p:cNvSpPr txBox="1"/>
          <p:nvPr/>
        </p:nvSpPr>
        <p:spPr>
          <a:xfrm>
            <a:off x="11296286" y="4583155"/>
            <a:ext cx="397866" cy="215444"/>
          </a:xfrm>
          <a:prstGeom prst="rect">
            <a:avLst/>
          </a:prstGeom>
          <a:noFill/>
        </p:spPr>
        <p:txBody>
          <a:bodyPr wrap="none" rtlCol="0">
            <a:spAutoFit/>
          </a:bodyPr>
          <a:lstStyle/>
          <a:p>
            <a:r>
              <a:rPr lang="en-GB" sz="800">
                <a:solidFill>
                  <a:schemeClr val="accent6">
                    <a:lumMod val="75000"/>
                  </a:schemeClr>
                </a:solidFill>
              </a:rPr>
              <a:t>pin 1</a:t>
            </a:r>
          </a:p>
        </p:txBody>
      </p:sp>
      <p:cxnSp>
        <p:nvCxnSpPr>
          <p:cNvPr id="55" name="Straight Connector 54">
            <a:extLst>
              <a:ext uri="{FF2B5EF4-FFF2-40B4-BE49-F238E27FC236}">
                <a16:creationId xmlns:a16="http://schemas.microsoft.com/office/drawing/2014/main" id="{E09AD743-8630-1030-3836-0C31D862C97C}"/>
              </a:ext>
            </a:extLst>
          </p:cNvPr>
          <p:cNvCxnSpPr>
            <a:cxnSpLocks/>
          </p:cNvCxnSpPr>
          <p:nvPr/>
        </p:nvCxnSpPr>
        <p:spPr>
          <a:xfrm>
            <a:off x="10901174" y="4690879"/>
            <a:ext cx="355269" cy="3727"/>
          </a:xfrm>
          <a:prstGeom prst="line">
            <a:avLst/>
          </a:prstGeom>
          <a:ln>
            <a:solidFill>
              <a:schemeClr val="accent6">
                <a:lumMod val="75000"/>
              </a:schemeClr>
            </a:solidFill>
            <a:prstDash val="dash"/>
          </a:ln>
          <a:effectLst/>
        </p:spPr>
        <p:style>
          <a:lnRef idx="1">
            <a:schemeClr val="accent1"/>
          </a:lnRef>
          <a:fillRef idx="0">
            <a:schemeClr val="accent1"/>
          </a:fillRef>
          <a:effectRef idx="0">
            <a:schemeClr val="accent1"/>
          </a:effectRef>
          <a:fontRef idx="minor">
            <a:schemeClr val="tx1"/>
          </a:fontRef>
        </p:style>
      </p:cxnSp>
      <p:sp>
        <p:nvSpPr>
          <p:cNvPr id="56" name="Oval 55">
            <a:extLst>
              <a:ext uri="{FF2B5EF4-FFF2-40B4-BE49-F238E27FC236}">
                <a16:creationId xmlns:a16="http://schemas.microsoft.com/office/drawing/2014/main" id="{B953DF23-73FD-614F-E1AA-666DC94F1F6A}"/>
              </a:ext>
            </a:extLst>
          </p:cNvPr>
          <p:cNvSpPr/>
          <p:nvPr/>
        </p:nvSpPr>
        <p:spPr>
          <a:xfrm>
            <a:off x="11256443" y="4646161"/>
            <a:ext cx="79686" cy="89433"/>
          </a:xfrm>
          <a:prstGeom prst="ellipse">
            <a:avLst/>
          </a:prstGeom>
          <a:noFill/>
          <a:ln>
            <a:solidFill>
              <a:schemeClr val="accent6">
                <a:lumMod val="75000"/>
              </a:schemeClr>
            </a:solid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u="sng"/>
          </a:p>
        </p:txBody>
      </p:sp>
      <p:sp>
        <p:nvSpPr>
          <p:cNvPr id="57" name="TextBox 56">
            <a:extLst>
              <a:ext uri="{FF2B5EF4-FFF2-40B4-BE49-F238E27FC236}">
                <a16:creationId xmlns:a16="http://schemas.microsoft.com/office/drawing/2014/main" id="{9181D36E-1EC8-03F0-E14C-04DC8BB551CC}"/>
              </a:ext>
            </a:extLst>
          </p:cNvPr>
          <p:cNvSpPr txBox="1"/>
          <p:nvPr/>
        </p:nvSpPr>
        <p:spPr>
          <a:xfrm>
            <a:off x="11296286" y="4722380"/>
            <a:ext cx="397866" cy="215444"/>
          </a:xfrm>
          <a:prstGeom prst="rect">
            <a:avLst/>
          </a:prstGeom>
          <a:noFill/>
        </p:spPr>
        <p:txBody>
          <a:bodyPr wrap="none" rtlCol="0">
            <a:spAutoFit/>
          </a:bodyPr>
          <a:lstStyle/>
          <a:p>
            <a:r>
              <a:rPr lang="en-GB" sz="800"/>
              <a:t>pin 2</a:t>
            </a:r>
          </a:p>
        </p:txBody>
      </p:sp>
      <p:cxnSp>
        <p:nvCxnSpPr>
          <p:cNvPr id="58" name="Straight Connector 57">
            <a:extLst>
              <a:ext uri="{FF2B5EF4-FFF2-40B4-BE49-F238E27FC236}">
                <a16:creationId xmlns:a16="http://schemas.microsoft.com/office/drawing/2014/main" id="{2BF76B35-0ACA-29CF-6B87-457ECA433095}"/>
              </a:ext>
            </a:extLst>
          </p:cNvPr>
          <p:cNvCxnSpPr>
            <a:cxnSpLocks/>
          </p:cNvCxnSpPr>
          <p:nvPr/>
        </p:nvCxnSpPr>
        <p:spPr>
          <a:xfrm>
            <a:off x="10901174" y="4830104"/>
            <a:ext cx="355269" cy="3727"/>
          </a:xfrm>
          <a:prstGeom prst="line">
            <a:avLst/>
          </a:prstGeom>
          <a:ln>
            <a:solidFill>
              <a:schemeClr val="tx1"/>
            </a:solidFill>
            <a:prstDash val="dash"/>
          </a:ln>
          <a:effectLst/>
        </p:spPr>
        <p:style>
          <a:lnRef idx="1">
            <a:schemeClr val="accent1"/>
          </a:lnRef>
          <a:fillRef idx="0">
            <a:schemeClr val="accent1"/>
          </a:fillRef>
          <a:effectRef idx="0">
            <a:schemeClr val="accent1"/>
          </a:effectRef>
          <a:fontRef idx="minor">
            <a:schemeClr val="tx1"/>
          </a:fontRef>
        </p:style>
      </p:cxnSp>
      <p:sp>
        <p:nvSpPr>
          <p:cNvPr id="59" name="Oval 58">
            <a:extLst>
              <a:ext uri="{FF2B5EF4-FFF2-40B4-BE49-F238E27FC236}">
                <a16:creationId xmlns:a16="http://schemas.microsoft.com/office/drawing/2014/main" id="{AE9B9DEC-5493-F807-29D3-A90C2B4329E1}"/>
              </a:ext>
            </a:extLst>
          </p:cNvPr>
          <p:cNvSpPr/>
          <p:nvPr/>
        </p:nvSpPr>
        <p:spPr>
          <a:xfrm>
            <a:off x="11256443" y="4785386"/>
            <a:ext cx="79686" cy="89433"/>
          </a:xfrm>
          <a:prstGeom prst="ellipse">
            <a:avLst/>
          </a:prstGeom>
          <a:noFill/>
          <a:ln>
            <a:solidFill>
              <a:schemeClr val="tx1"/>
            </a:solid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u="sng"/>
          </a:p>
        </p:txBody>
      </p:sp>
      <p:sp>
        <p:nvSpPr>
          <p:cNvPr id="60" name="TextBox 59">
            <a:extLst>
              <a:ext uri="{FF2B5EF4-FFF2-40B4-BE49-F238E27FC236}">
                <a16:creationId xmlns:a16="http://schemas.microsoft.com/office/drawing/2014/main" id="{E514E77E-5DEB-797A-D20D-C0B436EE0924}"/>
              </a:ext>
            </a:extLst>
          </p:cNvPr>
          <p:cNvSpPr txBox="1"/>
          <p:nvPr/>
        </p:nvSpPr>
        <p:spPr>
          <a:xfrm>
            <a:off x="11296286" y="4861605"/>
            <a:ext cx="397866" cy="215444"/>
          </a:xfrm>
          <a:prstGeom prst="rect">
            <a:avLst/>
          </a:prstGeom>
          <a:noFill/>
        </p:spPr>
        <p:txBody>
          <a:bodyPr wrap="none" rtlCol="0">
            <a:spAutoFit/>
          </a:bodyPr>
          <a:lstStyle/>
          <a:p>
            <a:r>
              <a:rPr lang="en-GB" sz="800"/>
              <a:t>pin 3</a:t>
            </a:r>
          </a:p>
        </p:txBody>
      </p:sp>
      <p:cxnSp>
        <p:nvCxnSpPr>
          <p:cNvPr id="61" name="Straight Connector 60">
            <a:extLst>
              <a:ext uri="{FF2B5EF4-FFF2-40B4-BE49-F238E27FC236}">
                <a16:creationId xmlns:a16="http://schemas.microsoft.com/office/drawing/2014/main" id="{787B2FC3-2BBE-F17C-4E5E-7AAC5BD692A1}"/>
              </a:ext>
            </a:extLst>
          </p:cNvPr>
          <p:cNvCxnSpPr>
            <a:cxnSpLocks/>
          </p:cNvCxnSpPr>
          <p:nvPr/>
        </p:nvCxnSpPr>
        <p:spPr>
          <a:xfrm>
            <a:off x="10901174" y="4969329"/>
            <a:ext cx="355269" cy="3727"/>
          </a:xfrm>
          <a:prstGeom prst="line">
            <a:avLst/>
          </a:prstGeom>
          <a:ln>
            <a:solidFill>
              <a:schemeClr val="tx1"/>
            </a:solidFill>
            <a:prstDash val="dash"/>
          </a:ln>
          <a:effectLst/>
        </p:spPr>
        <p:style>
          <a:lnRef idx="1">
            <a:schemeClr val="accent1"/>
          </a:lnRef>
          <a:fillRef idx="0">
            <a:schemeClr val="accent1"/>
          </a:fillRef>
          <a:effectRef idx="0">
            <a:schemeClr val="accent1"/>
          </a:effectRef>
          <a:fontRef idx="minor">
            <a:schemeClr val="tx1"/>
          </a:fontRef>
        </p:style>
      </p:cxnSp>
      <p:sp>
        <p:nvSpPr>
          <p:cNvPr id="62" name="Oval 61">
            <a:extLst>
              <a:ext uri="{FF2B5EF4-FFF2-40B4-BE49-F238E27FC236}">
                <a16:creationId xmlns:a16="http://schemas.microsoft.com/office/drawing/2014/main" id="{D65CFA66-D345-F9EF-FF37-FFA3B1CCF0D7}"/>
              </a:ext>
            </a:extLst>
          </p:cNvPr>
          <p:cNvSpPr/>
          <p:nvPr/>
        </p:nvSpPr>
        <p:spPr>
          <a:xfrm>
            <a:off x="11256443" y="4924611"/>
            <a:ext cx="79686" cy="89433"/>
          </a:xfrm>
          <a:prstGeom prst="ellipse">
            <a:avLst/>
          </a:prstGeom>
          <a:noFill/>
          <a:ln>
            <a:solidFill>
              <a:schemeClr val="tx1"/>
            </a:solid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u="sng"/>
          </a:p>
        </p:txBody>
      </p:sp>
      <p:sp>
        <p:nvSpPr>
          <p:cNvPr id="63" name="TextBox 62">
            <a:extLst>
              <a:ext uri="{FF2B5EF4-FFF2-40B4-BE49-F238E27FC236}">
                <a16:creationId xmlns:a16="http://schemas.microsoft.com/office/drawing/2014/main" id="{72DF16D0-0054-3431-E4F0-A73D6084E75E}"/>
              </a:ext>
            </a:extLst>
          </p:cNvPr>
          <p:cNvSpPr txBox="1"/>
          <p:nvPr/>
        </p:nvSpPr>
        <p:spPr>
          <a:xfrm>
            <a:off x="11296286" y="5000830"/>
            <a:ext cx="397866" cy="215444"/>
          </a:xfrm>
          <a:prstGeom prst="rect">
            <a:avLst/>
          </a:prstGeom>
          <a:noFill/>
        </p:spPr>
        <p:txBody>
          <a:bodyPr wrap="none" rtlCol="0">
            <a:spAutoFit/>
          </a:bodyPr>
          <a:lstStyle/>
          <a:p>
            <a:r>
              <a:rPr lang="en-GB" sz="800"/>
              <a:t>pin 4</a:t>
            </a:r>
          </a:p>
        </p:txBody>
      </p:sp>
      <p:cxnSp>
        <p:nvCxnSpPr>
          <p:cNvPr id="64" name="Straight Connector 63">
            <a:extLst>
              <a:ext uri="{FF2B5EF4-FFF2-40B4-BE49-F238E27FC236}">
                <a16:creationId xmlns:a16="http://schemas.microsoft.com/office/drawing/2014/main" id="{063E5CE0-C50B-9C44-FA1E-49888CA9232F}"/>
              </a:ext>
            </a:extLst>
          </p:cNvPr>
          <p:cNvCxnSpPr>
            <a:cxnSpLocks/>
          </p:cNvCxnSpPr>
          <p:nvPr/>
        </p:nvCxnSpPr>
        <p:spPr>
          <a:xfrm>
            <a:off x="10901174" y="5108554"/>
            <a:ext cx="355269" cy="3727"/>
          </a:xfrm>
          <a:prstGeom prst="line">
            <a:avLst/>
          </a:prstGeom>
          <a:ln>
            <a:solidFill>
              <a:schemeClr val="tx1"/>
            </a:solidFill>
            <a:prstDash val="dash"/>
          </a:ln>
          <a:effectLst/>
        </p:spPr>
        <p:style>
          <a:lnRef idx="1">
            <a:schemeClr val="accent1"/>
          </a:lnRef>
          <a:fillRef idx="0">
            <a:schemeClr val="accent1"/>
          </a:fillRef>
          <a:effectRef idx="0">
            <a:schemeClr val="accent1"/>
          </a:effectRef>
          <a:fontRef idx="minor">
            <a:schemeClr val="tx1"/>
          </a:fontRef>
        </p:style>
      </p:cxnSp>
      <p:sp>
        <p:nvSpPr>
          <p:cNvPr id="65" name="Oval 64">
            <a:extLst>
              <a:ext uri="{FF2B5EF4-FFF2-40B4-BE49-F238E27FC236}">
                <a16:creationId xmlns:a16="http://schemas.microsoft.com/office/drawing/2014/main" id="{192F4CFC-4E6F-3123-2190-FA407F7B4919}"/>
              </a:ext>
            </a:extLst>
          </p:cNvPr>
          <p:cNvSpPr/>
          <p:nvPr/>
        </p:nvSpPr>
        <p:spPr>
          <a:xfrm>
            <a:off x="11256443" y="5063836"/>
            <a:ext cx="79686" cy="89433"/>
          </a:xfrm>
          <a:prstGeom prst="ellipse">
            <a:avLst/>
          </a:prstGeom>
          <a:noFill/>
          <a:ln>
            <a:solidFill>
              <a:schemeClr val="tx1"/>
            </a:solid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u="sng"/>
          </a:p>
        </p:txBody>
      </p:sp>
      <p:sp>
        <p:nvSpPr>
          <p:cNvPr id="66" name="TextBox 65">
            <a:extLst>
              <a:ext uri="{FF2B5EF4-FFF2-40B4-BE49-F238E27FC236}">
                <a16:creationId xmlns:a16="http://schemas.microsoft.com/office/drawing/2014/main" id="{F4FF0BB5-17B1-B9D7-6DDC-7E1CDBDC1BFC}"/>
              </a:ext>
            </a:extLst>
          </p:cNvPr>
          <p:cNvSpPr txBox="1"/>
          <p:nvPr/>
        </p:nvSpPr>
        <p:spPr>
          <a:xfrm>
            <a:off x="11296286" y="5140055"/>
            <a:ext cx="397866" cy="215444"/>
          </a:xfrm>
          <a:prstGeom prst="rect">
            <a:avLst/>
          </a:prstGeom>
          <a:noFill/>
        </p:spPr>
        <p:txBody>
          <a:bodyPr wrap="none" rtlCol="0">
            <a:spAutoFit/>
          </a:bodyPr>
          <a:lstStyle/>
          <a:p>
            <a:r>
              <a:rPr lang="en-GB" sz="800"/>
              <a:t>pin 5</a:t>
            </a:r>
          </a:p>
        </p:txBody>
      </p:sp>
      <p:cxnSp>
        <p:nvCxnSpPr>
          <p:cNvPr id="67" name="Straight Connector 66">
            <a:extLst>
              <a:ext uri="{FF2B5EF4-FFF2-40B4-BE49-F238E27FC236}">
                <a16:creationId xmlns:a16="http://schemas.microsoft.com/office/drawing/2014/main" id="{10B8E8EF-84A1-FE48-C96F-DDE523D4D84E}"/>
              </a:ext>
            </a:extLst>
          </p:cNvPr>
          <p:cNvCxnSpPr>
            <a:cxnSpLocks/>
          </p:cNvCxnSpPr>
          <p:nvPr/>
        </p:nvCxnSpPr>
        <p:spPr>
          <a:xfrm>
            <a:off x="10901174" y="5247779"/>
            <a:ext cx="355269" cy="3727"/>
          </a:xfrm>
          <a:prstGeom prst="line">
            <a:avLst/>
          </a:prstGeom>
          <a:ln>
            <a:solidFill>
              <a:schemeClr val="tx1"/>
            </a:solidFill>
            <a:prstDash val="dash"/>
          </a:ln>
          <a:effectLst/>
        </p:spPr>
        <p:style>
          <a:lnRef idx="1">
            <a:schemeClr val="accent1"/>
          </a:lnRef>
          <a:fillRef idx="0">
            <a:schemeClr val="accent1"/>
          </a:fillRef>
          <a:effectRef idx="0">
            <a:schemeClr val="accent1"/>
          </a:effectRef>
          <a:fontRef idx="minor">
            <a:schemeClr val="tx1"/>
          </a:fontRef>
        </p:style>
      </p:cxnSp>
      <p:sp>
        <p:nvSpPr>
          <p:cNvPr id="68" name="Oval 67">
            <a:extLst>
              <a:ext uri="{FF2B5EF4-FFF2-40B4-BE49-F238E27FC236}">
                <a16:creationId xmlns:a16="http://schemas.microsoft.com/office/drawing/2014/main" id="{6D0932B3-8208-3A50-BAD2-82CF4C8FA35D}"/>
              </a:ext>
            </a:extLst>
          </p:cNvPr>
          <p:cNvSpPr/>
          <p:nvPr/>
        </p:nvSpPr>
        <p:spPr>
          <a:xfrm>
            <a:off x="11256443" y="5203061"/>
            <a:ext cx="79686" cy="89433"/>
          </a:xfrm>
          <a:prstGeom prst="ellipse">
            <a:avLst/>
          </a:prstGeom>
          <a:noFill/>
          <a:ln>
            <a:solidFill>
              <a:schemeClr val="tx1"/>
            </a:solid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u="sng"/>
          </a:p>
        </p:txBody>
      </p:sp>
      <p:sp>
        <p:nvSpPr>
          <p:cNvPr id="69" name="TextBox 68">
            <a:extLst>
              <a:ext uri="{FF2B5EF4-FFF2-40B4-BE49-F238E27FC236}">
                <a16:creationId xmlns:a16="http://schemas.microsoft.com/office/drawing/2014/main" id="{FD70441B-E282-AFC7-4671-5B44FBFD9898}"/>
              </a:ext>
            </a:extLst>
          </p:cNvPr>
          <p:cNvSpPr txBox="1"/>
          <p:nvPr/>
        </p:nvSpPr>
        <p:spPr>
          <a:xfrm>
            <a:off x="11296286" y="5279280"/>
            <a:ext cx="397866" cy="215444"/>
          </a:xfrm>
          <a:prstGeom prst="rect">
            <a:avLst/>
          </a:prstGeom>
          <a:noFill/>
        </p:spPr>
        <p:txBody>
          <a:bodyPr wrap="none" rtlCol="0">
            <a:spAutoFit/>
          </a:bodyPr>
          <a:lstStyle/>
          <a:p>
            <a:r>
              <a:rPr lang="en-GB" sz="800"/>
              <a:t>pin 6</a:t>
            </a:r>
          </a:p>
        </p:txBody>
      </p:sp>
      <p:cxnSp>
        <p:nvCxnSpPr>
          <p:cNvPr id="70" name="Straight Connector 69">
            <a:extLst>
              <a:ext uri="{FF2B5EF4-FFF2-40B4-BE49-F238E27FC236}">
                <a16:creationId xmlns:a16="http://schemas.microsoft.com/office/drawing/2014/main" id="{8FC931C4-E6AB-4ED9-21DB-4838554DFEA1}"/>
              </a:ext>
            </a:extLst>
          </p:cNvPr>
          <p:cNvCxnSpPr>
            <a:cxnSpLocks/>
          </p:cNvCxnSpPr>
          <p:nvPr/>
        </p:nvCxnSpPr>
        <p:spPr>
          <a:xfrm>
            <a:off x="10901174" y="5387004"/>
            <a:ext cx="355269" cy="3727"/>
          </a:xfrm>
          <a:prstGeom prst="line">
            <a:avLst/>
          </a:prstGeom>
          <a:ln>
            <a:solidFill>
              <a:schemeClr val="tx1"/>
            </a:solidFill>
            <a:prstDash val="dash"/>
          </a:ln>
          <a:effectLst/>
        </p:spPr>
        <p:style>
          <a:lnRef idx="1">
            <a:schemeClr val="accent1"/>
          </a:lnRef>
          <a:fillRef idx="0">
            <a:schemeClr val="accent1"/>
          </a:fillRef>
          <a:effectRef idx="0">
            <a:schemeClr val="accent1"/>
          </a:effectRef>
          <a:fontRef idx="minor">
            <a:schemeClr val="tx1"/>
          </a:fontRef>
        </p:style>
      </p:cxnSp>
      <p:sp>
        <p:nvSpPr>
          <p:cNvPr id="71" name="Oval 70">
            <a:extLst>
              <a:ext uri="{FF2B5EF4-FFF2-40B4-BE49-F238E27FC236}">
                <a16:creationId xmlns:a16="http://schemas.microsoft.com/office/drawing/2014/main" id="{39B5BDFA-F9AD-844F-E184-5D80CF81C545}"/>
              </a:ext>
            </a:extLst>
          </p:cNvPr>
          <p:cNvSpPr/>
          <p:nvPr/>
        </p:nvSpPr>
        <p:spPr>
          <a:xfrm>
            <a:off x="11256443" y="5342286"/>
            <a:ext cx="79686" cy="89433"/>
          </a:xfrm>
          <a:prstGeom prst="ellipse">
            <a:avLst/>
          </a:prstGeom>
          <a:noFill/>
          <a:ln>
            <a:solidFill>
              <a:schemeClr val="tx1"/>
            </a:solid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u="sng"/>
          </a:p>
        </p:txBody>
      </p:sp>
      <p:sp>
        <p:nvSpPr>
          <p:cNvPr id="72" name="TextBox 71">
            <a:extLst>
              <a:ext uri="{FF2B5EF4-FFF2-40B4-BE49-F238E27FC236}">
                <a16:creationId xmlns:a16="http://schemas.microsoft.com/office/drawing/2014/main" id="{1B861D5F-61E9-C44F-24E8-E10EBDFE4170}"/>
              </a:ext>
            </a:extLst>
          </p:cNvPr>
          <p:cNvSpPr txBox="1"/>
          <p:nvPr/>
        </p:nvSpPr>
        <p:spPr>
          <a:xfrm>
            <a:off x="11296286" y="5418505"/>
            <a:ext cx="397866" cy="215444"/>
          </a:xfrm>
          <a:prstGeom prst="rect">
            <a:avLst/>
          </a:prstGeom>
          <a:noFill/>
        </p:spPr>
        <p:txBody>
          <a:bodyPr wrap="none" rtlCol="0">
            <a:spAutoFit/>
          </a:bodyPr>
          <a:lstStyle/>
          <a:p>
            <a:r>
              <a:rPr lang="en-GB" sz="800"/>
              <a:t>pin 7</a:t>
            </a:r>
          </a:p>
        </p:txBody>
      </p:sp>
      <p:cxnSp>
        <p:nvCxnSpPr>
          <p:cNvPr id="73" name="Straight Connector 72">
            <a:extLst>
              <a:ext uri="{FF2B5EF4-FFF2-40B4-BE49-F238E27FC236}">
                <a16:creationId xmlns:a16="http://schemas.microsoft.com/office/drawing/2014/main" id="{9C0C23CD-4276-8185-4B48-FA794E8C7615}"/>
              </a:ext>
            </a:extLst>
          </p:cNvPr>
          <p:cNvCxnSpPr>
            <a:cxnSpLocks/>
          </p:cNvCxnSpPr>
          <p:nvPr/>
        </p:nvCxnSpPr>
        <p:spPr>
          <a:xfrm>
            <a:off x="10901174" y="5526229"/>
            <a:ext cx="355269" cy="3727"/>
          </a:xfrm>
          <a:prstGeom prst="line">
            <a:avLst/>
          </a:prstGeom>
          <a:ln>
            <a:solidFill>
              <a:schemeClr val="tx1"/>
            </a:solidFill>
            <a:prstDash val="dash"/>
          </a:ln>
          <a:effectLst/>
        </p:spPr>
        <p:style>
          <a:lnRef idx="1">
            <a:schemeClr val="accent1"/>
          </a:lnRef>
          <a:fillRef idx="0">
            <a:schemeClr val="accent1"/>
          </a:fillRef>
          <a:effectRef idx="0">
            <a:schemeClr val="accent1"/>
          </a:effectRef>
          <a:fontRef idx="minor">
            <a:schemeClr val="tx1"/>
          </a:fontRef>
        </p:style>
      </p:cxnSp>
      <p:sp>
        <p:nvSpPr>
          <p:cNvPr id="74" name="Oval 73">
            <a:extLst>
              <a:ext uri="{FF2B5EF4-FFF2-40B4-BE49-F238E27FC236}">
                <a16:creationId xmlns:a16="http://schemas.microsoft.com/office/drawing/2014/main" id="{29D98FA5-9AE4-003C-909B-6F97445FD185}"/>
              </a:ext>
            </a:extLst>
          </p:cNvPr>
          <p:cNvSpPr/>
          <p:nvPr/>
        </p:nvSpPr>
        <p:spPr>
          <a:xfrm>
            <a:off x="11256443" y="5481511"/>
            <a:ext cx="79686" cy="89433"/>
          </a:xfrm>
          <a:prstGeom prst="ellipse">
            <a:avLst/>
          </a:prstGeom>
          <a:noFill/>
          <a:ln>
            <a:solidFill>
              <a:schemeClr val="tx1"/>
            </a:solid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u="sng"/>
          </a:p>
        </p:txBody>
      </p:sp>
      <p:sp>
        <p:nvSpPr>
          <p:cNvPr id="75" name="TextBox 74">
            <a:extLst>
              <a:ext uri="{FF2B5EF4-FFF2-40B4-BE49-F238E27FC236}">
                <a16:creationId xmlns:a16="http://schemas.microsoft.com/office/drawing/2014/main" id="{EA4314C7-30E3-6681-E63B-BB063B0E4316}"/>
              </a:ext>
            </a:extLst>
          </p:cNvPr>
          <p:cNvSpPr txBox="1"/>
          <p:nvPr/>
        </p:nvSpPr>
        <p:spPr>
          <a:xfrm rot="5400000">
            <a:off x="11145211" y="5543793"/>
            <a:ext cx="381836" cy="369332"/>
          </a:xfrm>
          <a:prstGeom prst="rect">
            <a:avLst/>
          </a:prstGeom>
          <a:noFill/>
        </p:spPr>
        <p:txBody>
          <a:bodyPr wrap="none" rtlCol="0">
            <a:spAutoFit/>
          </a:bodyPr>
          <a:lstStyle/>
          <a:p>
            <a:r>
              <a:rPr lang="en-GB"/>
              <a:t>...</a:t>
            </a:r>
            <a:endParaRPr lang="LID4096"/>
          </a:p>
        </p:txBody>
      </p:sp>
      <p:sp>
        <p:nvSpPr>
          <p:cNvPr id="76" name="TextBox 75">
            <a:extLst>
              <a:ext uri="{FF2B5EF4-FFF2-40B4-BE49-F238E27FC236}">
                <a16:creationId xmlns:a16="http://schemas.microsoft.com/office/drawing/2014/main" id="{7304EDD1-27E0-434C-1411-4BDD5B37A5F0}"/>
              </a:ext>
            </a:extLst>
          </p:cNvPr>
          <p:cNvSpPr txBox="1"/>
          <p:nvPr/>
        </p:nvSpPr>
        <p:spPr>
          <a:xfrm>
            <a:off x="10878042" y="4150819"/>
            <a:ext cx="762709" cy="369332"/>
          </a:xfrm>
          <a:prstGeom prst="rect">
            <a:avLst/>
          </a:prstGeom>
          <a:noFill/>
        </p:spPr>
        <p:txBody>
          <a:bodyPr wrap="none" rtlCol="0">
            <a:spAutoFit/>
          </a:bodyPr>
          <a:lstStyle/>
          <a:p>
            <a:r>
              <a:rPr lang="en-GB"/>
              <a:t>Port E</a:t>
            </a:r>
            <a:endParaRPr lang="LID4096"/>
          </a:p>
        </p:txBody>
      </p:sp>
      <p:sp>
        <p:nvSpPr>
          <p:cNvPr id="77" name="Freeform: Shape 76">
            <a:extLst>
              <a:ext uri="{FF2B5EF4-FFF2-40B4-BE49-F238E27FC236}">
                <a16:creationId xmlns:a16="http://schemas.microsoft.com/office/drawing/2014/main" id="{B1FE59C2-091E-F136-4079-FB9E9AB6FB19}"/>
              </a:ext>
            </a:extLst>
          </p:cNvPr>
          <p:cNvSpPr/>
          <p:nvPr/>
        </p:nvSpPr>
        <p:spPr>
          <a:xfrm>
            <a:off x="10394635" y="2810067"/>
            <a:ext cx="465589" cy="1744910"/>
          </a:xfrm>
          <a:custGeom>
            <a:avLst/>
            <a:gdLst>
              <a:gd name="csX0" fmla="*/ 465589 w 465589"/>
              <a:gd name="csY0" fmla="*/ 1744910 h 1744910"/>
              <a:gd name="csX1" fmla="*/ 268448 w 465589"/>
              <a:gd name="csY1" fmla="*/ 1744910 h 1744910"/>
              <a:gd name="csX2" fmla="*/ 268448 w 465589"/>
              <a:gd name="csY2" fmla="*/ 0 h 1744910"/>
              <a:gd name="csX3" fmla="*/ 0 w 465589"/>
              <a:gd name="csY3" fmla="*/ 0 h 1744910"/>
            </a:gdLst>
            <a:ahLst/>
            <a:cxnLst>
              <a:cxn ang="0">
                <a:pos x="csX0" y="csY0"/>
              </a:cxn>
              <a:cxn ang="0">
                <a:pos x="csX1" y="csY1"/>
              </a:cxn>
              <a:cxn ang="0">
                <a:pos x="csX2" y="csY2"/>
              </a:cxn>
              <a:cxn ang="0">
                <a:pos x="csX3" y="csY3"/>
              </a:cxn>
            </a:cxnLst>
            <a:rect l="l" t="t" r="r" b="b"/>
            <a:pathLst>
              <a:path w="465589" h="1744910">
                <a:moveTo>
                  <a:pt x="465589" y="1744910"/>
                </a:moveTo>
                <a:lnTo>
                  <a:pt x="268448" y="1744910"/>
                </a:lnTo>
                <a:lnTo>
                  <a:pt x="268448" y="0"/>
                </a:lnTo>
                <a:lnTo>
                  <a:pt x="0" y="0"/>
                </a:lnTo>
              </a:path>
            </a:pathLst>
          </a:custGeom>
          <a:noFill/>
          <a:ln>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cxnSp>
        <p:nvCxnSpPr>
          <p:cNvPr id="78" name="Straight Connector 77">
            <a:extLst>
              <a:ext uri="{FF2B5EF4-FFF2-40B4-BE49-F238E27FC236}">
                <a16:creationId xmlns:a16="http://schemas.microsoft.com/office/drawing/2014/main" id="{71DE4AA1-DE6F-12DE-2576-B23482A0D84A}"/>
              </a:ext>
            </a:extLst>
          </p:cNvPr>
          <p:cNvCxnSpPr/>
          <p:nvPr/>
        </p:nvCxnSpPr>
        <p:spPr>
          <a:xfrm flipH="1">
            <a:off x="10394635" y="2727064"/>
            <a:ext cx="465589" cy="0"/>
          </a:xfrm>
          <a:prstGeom prst="line">
            <a:avLst/>
          </a:prstGeom>
          <a:ln>
            <a:solidFill>
              <a:schemeClr val="accent2">
                <a:lumMod val="75000"/>
              </a:schemeClr>
            </a:solidFill>
          </a:ln>
        </p:spPr>
        <p:style>
          <a:lnRef idx="2">
            <a:schemeClr val="accent1"/>
          </a:lnRef>
          <a:fillRef idx="0">
            <a:schemeClr val="accent1"/>
          </a:fillRef>
          <a:effectRef idx="1">
            <a:schemeClr val="accent1"/>
          </a:effectRef>
          <a:fontRef idx="minor">
            <a:schemeClr val="tx1"/>
          </a:fontRef>
        </p:style>
      </p:cxnSp>
      <p:sp>
        <p:nvSpPr>
          <p:cNvPr id="79" name="TextBox 78">
            <a:extLst>
              <a:ext uri="{FF2B5EF4-FFF2-40B4-BE49-F238E27FC236}">
                <a16:creationId xmlns:a16="http://schemas.microsoft.com/office/drawing/2014/main" id="{640F95BC-7A1B-F08A-EC4B-8AAF3BACFF50}"/>
              </a:ext>
            </a:extLst>
          </p:cNvPr>
          <p:cNvSpPr txBox="1"/>
          <p:nvPr/>
        </p:nvSpPr>
        <p:spPr>
          <a:xfrm>
            <a:off x="10878042" y="5990962"/>
            <a:ext cx="756297" cy="369332"/>
          </a:xfrm>
          <a:prstGeom prst="rect">
            <a:avLst/>
          </a:prstGeom>
          <a:noFill/>
        </p:spPr>
        <p:txBody>
          <a:bodyPr wrap="none" rtlCol="0">
            <a:spAutoFit/>
          </a:bodyPr>
          <a:lstStyle/>
          <a:p>
            <a:r>
              <a:rPr lang="en-GB"/>
              <a:t>Port F</a:t>
            </a:r>
            <a:endParaRPr lang="LID4096"/>
          </a:p>
        </p:txBody>
      </p:sp>
      <p:sp>
        <p:nvSpPr>
          <p:cNvPr id="80" name="Freeform: Shape 79">
            <a:extLst>
              <a:ext uri="{FF2B5EF4-FFF2-40B4-BE49-F238E27FC236}">
                <a16:creationId xmlns:a16="http://schemas.microsoft.com/office/drawing/2014/main" id="{0B309658-B841-9F33-5AD7-65E6196C9AE0}"/>
              </a:ext>
            </a:extLst>
          </p:cNvPr>
          <p:cNvSpPr/>
          <p:nvPr/>
        </p:nvSpPr>
        <p:spPr>
          <a:xfrm>
            <a:off x="10315269" y="2893958"/>
            <a:ext cx="544955" cy="3483610"/>
          </a:xfrm>
          <a:custGeom>
            <a:avLst/>
            <a:gdLst>
              <a:gd name="csX0" fmla="*/ 453006 w 453006"/>
              <a:gd name="csY0" fmla="*/ 3632433 h 3632433"/>
              <a:gd name="csX1" fmla="*/ 192947 w 453006"/>
              <a:gd name="csY1" fmla="*/ 3632433 h 3632433"/>
              <a:gd name="csX2" fmla="*/ 192947 w 453006"/>
              <a:gd name="csY2" fmla="*/ 0 h 3632433"/>
              <a:gd name="csX3" fmla="*/ 0 w 453006"/>
              <a:gd name="csY3" fmla="*/ 0 h 3632433"/>
            </a:gdLst>
            <a:ahLst/>
            <a:cxnLst>
              <a:cxn ang="0">
                <a:pos x="csX0" y="csY0"/>
              </a:cxn>
              <a:cxn ang="0">
                <a:pos x="csX1" y="csY1"/>
              </a:cxn>
              <a:cxn ang="0">
                <a:pos x="csX2" y="csY2"/>
              </a:cxn>
              <a:cxn ang="0">
                <a:pos x="csX3" y="csY3"/>
              </a:cxn>
            </a:cxnLst>
            <a:rect l="l" t="t" r="r" b="b"/>
            <a:pathLst>
              <a:path w="453006" h="3632433">
                <a:moveTo>
                  <a:pt x="453006" y="3632433"/>
                </a:moveTo>
                <a:lnTo>
                  <a:pt x="192947" y="3632433"/>
                </a:lnTo>
                <a:lnTo>
                  <a:pt x="192947" y="0"/>
                </a:lnTo>
                <a:lnTo>
                  <a:pt x="0" y="0"/>
                </a:lnTo>
              </a:path>
            </a:pathLst>
          </a:custGeom>
          <a:noFill/>
          <a:ln>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81" name="Rectangle 80">
            <a:extLst>
              <a:ext uri="{FF2B5EF4-FFF2-40B4-BE49-F238E27FC236}">
                <a16:creationId xmlns:a16="http://schemas.microsoft.com/office/drawing/2014/main" id="{DCFD6DAD-042C-476B-AC98-259A74889FCE}"/>
              </a:ext>
            </a:extLst>
          </p:cNvPr>
          <p:cNvSpPr/>
          <p:nvPr/>
        </p:nvSpPr>
        <p:spPr>
          <a:xfrm>
            <a:off x="10830863" y="1921712"/>
            <a:ext cx="863289" cy="318796"/>
          </a:xfrm>
          <a:prstGeom prst="rect">
            <a:avLst/>
          </a:prstGeom>
          <a:solidFill>
            <a:schemeClr val="bg1">
              <a:lumMod val="85000"/>
            </a:schemeClr>
          </a:solidFill>
          <a:ln w="12700"/>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82" name="TextBox 81">
            <a:extLst>
              <a:ext uri="{FF2B5EF4-FFF2-40B4-BE49-F238E27FC236}">
                <a16:creationId xmlns:a16="http://schemas.microsoft.com/office/drawing/2014/main" id="{80D312C1-672E-3262-A50E-00E33864DD55}"/>
              </a:ext>
            </a:extLst>
          </p:cNvPr>
          <p:cNvSpPr txBox="1"/>
          <p:nvPr/>
        </p:nvSpPr>
        <p:spPr>
          <a:xfrm rot="5400000">
            <a:off x="11145211" y="1901784"/>
            <a:ext cx="381836" cy="369332"/>
          </a:xfrm>
          <a:prstGeom prst="rect">
            <a:avLst/>
          </a:prstGeom>
          <a:noFill/>
        </p:spPr>
        <p:txBody>
          <a:bodyPr wrap="none" rtlCol="0">
            <a:spAutoFit/>
          </a:bodyPr>
          <a:lstStyle/>
          <a:p>
            <a:r>
              <a:rPr lang="en-GB"/>
              <a:t>...</a:t>
            </a:r>
            <a:endParaRPr lang="LID4096"/>
          </a:p>
        </p:txBody>
      </p:sp>
      <p:sp>
        <p:nvSpPr>
          <p:cNvPr id="83" name="TextBox 82">
            <a:extLst>
              <a:ext uri="{FF2B5EF4-FFF2-40B4-BE49-F238E27FC236}">
                <a16:creationId xmlns:a16="http://schemas.microsoft.com/office/drawing/2014/main" id="{59A014C8-8FF6-FA83-AF1A-0CED8BE752C3}"/>
              </a:ext>
            </a:extLst>
          </p:cNvPr>
          <p:cNvSpPr txBox="1"/>
          <p:nvPr/>
        </p:nvSpPr>
        <p:spPr>
          <a:xfrm>
            <a:off x="11296286" y="6269843"/>
            <a:ext cx="397866" cy="215444"/>
          </a:xfrm>
          <a:prstGeom prst="rect">
            <a:avLst/>
          </a:prstGeom>
          <a:noFill/>
        </p:spPr>
        <p:txBody>
          <a:bodyPr wrap="none" rtlCol="0">
            <a:spAutoFit/>
          </a:bodyPr>
          <a:lstStyle/>
          <a:p>
            <a:r>
              <a:rPr lang="en-GB" sz="800">
                <a:solidFill>
                  <a:schemeClr val="accent2">
                    <a:lumMod val="75000"/>
                  </a:schemeClr>
                </a:solidFill>
              </a:rPr>
              <a:t>pin 0</a:t>
            </a:r>
          </a:p>
        </p:txBody>
      </p:sp>
      <p:cxnSp>
        <p:nvCxnSpPr>
          <p:cNvPr id="84" name="Straight Connector 83">
            <a:extLst>
              <a:ext uri="{FF2B5EF4-FFF2-40B4-BE49-F238E27FC236}">
                <a16:creationId xmlns:a16="http://schemas.microsoft.com/office/drawing/2014/main" id="{8CE68BEE-CAA5-8E54-A998-D57467962BC1}"/>
              </a:ext>
            </a:extLst>
          </p:cNvPr>
          <p:cNvCxnSpPr>
            <a:cxnSpLocks/>
          </p:cNvCxnSpPr>
          <p:nvPr/>
        </p:nvCxnSpPr>
        <p:spPr>
          <a:xfrm>
            <a:off x="10901174" y="6377567"/>
            <a:ext cx="355269" cy="3727"/>
          </a:xfrm>
          <a:prstGeom prst="line">
            <a:avLst/>
          </a:prstGeom>
          <a:ln>
            <a:solidFill>
              <a:schemeClr val="accent2">
                <a:lumMod val="75000"/>
              </a:schemeClr>
            </a:solidFill>
            <a:prstDash val="dash"/>
          </a:ln>
          <a:effectLst/>
        </p:spPr>
        <p:style>
          <a:lnRef idx="1">
            <a:schemeClr val="accent1"/>
          </a:lnRef>
          <a:fillRef idx="0">
            <a:schemeClr val="accent1"/>
          </a:fillRef>
          <a:effectRef idx="0">
            <a:schemeClr val="accent1"/>
          </a:effectRef>
          <a:fontRef idx="minor">
            <a:schemeClr val="tx1"/>
          </a:fontRef>
        </p:style>
      </p:cxnSp>
      <p:sp>
        <p:nvSpPr>
          <p:cNvPr id="85" name="Oval 84">
            <a:extLst>
              <a:ext uri="{FF2B5EF4-FFF2-40B4-BE49-F238E27FC236}">
                <a16:creationId xmlns:a16="http://schemas.microsoft.com/office/drawing/2014/main" id="{4337DE28-19FC-C2C6-88AC-49B9C93C0C45}"/>
              </a:ext>
            </a:extLst>
          </p:cNvPr>
          <p:cNvSpPr/>
          <p:nvPr/>
        </p:nvSpPr>
        <p:spPr>
          <a:xfrm>
            <a:off x="11256443" y="6332849"/>
            <a:ext cx="79686" cy="89433"/>
          </a:xfrm>
          <a:prstGeom prst="ellipse">
            <a:avLst/>
          </a:prstGeom>
          <a:noFill/>
          <a:ln>
            <a:solidFill>
              <a:schemeClr val="accent2">
                <a:lumMod val="75000"/>
              </a:schemeClr>
            </a:solid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u="sng"/>
          </a:p>
        </p:txBody>
      </p:sp>
      <p:cxnSp>
        <p:nvCxnSpPr>
          <p:cNvPr id="86" name="Straight Connector 85">
            <a:extLst>
              <a:ext uri="{FF2B5EF4-FFF2-40B4-BE49-F238E27FC236}">
                <a16:creationId xmlns:a16="http://schemas.microsoft.com/office/drawing/2014/main" id="{CEBCAEB7-BB43-49CD-1D99-CEB446812B1F}"/>
              </a:ext>
            </a:extLst>
          </p:cNvPr>
          <p:cNvCxnSpPr/>
          <p:nvPr/>
        </p:nvCxnSpPr>
        <p:spPr>
          <a:xfrm>
            <a:off x="10705028" y="1799193"/>
            <a:ext cx="0" cy="527038"/>
          </a:xfrm>
          <a:prstGeom prst="line">
            <a:avLst/>
          </a:prstGeom>
          <a:ln>
            <a:solidFill>
              <a:schemeClr val="accent2">
                <a:lumMod val="75000"/>
              </a:schemeClr>
            </a:solidFill>
            <a:prstDash val="sysDash"/>
          </a:ln>
        </p:spPr>
        <p:style>
          <a:lnRef idx="2">
            <a:schemeClr val="accent1"/>
          </a:lnRef>
          <a:fillRef idx="0">
            <a:schemeClr val="accent1"/>
          </a:fillRef>
          <a:effectRef idx="1">
            <a:schemeClr val="accent1"/>
          </a:effectRef>
          <a:fontRef idx="minor">
            <a:schemeClr val="tx1"/>
          </a:fontRef>
        </p:style>
      </p:cxnSp>
      <p:sp>
        <p:nvSpPr>
          <p:cNvPr id="87" name="Freeform: Shape 86">
            <a:extLst>
              <a:ext uri="{FF2B5EF4-FFF2-40B4-BE49-F238E27FC236}">
                <a16:creationId xmlns:a16="http://schemas.microsoft.com/office/drawing/2014/main" id="{B9AB3A5F-514C-C79E-69EE-EBE8006CBBFF}"/>
              </a:ext>
            </a:extLst>
          </p:cNvPr>
          <p:cNvSpPr/>
          <p:nvPr/>
        </p:nvSpPr>
        <p:spPr>
          <a:xfrm>
            <a:off x="10403024" y="2310922"/>
            <a:ext cx="297809" cy="322976"/>
          </a:xfrm>
          <a:custGeom>
            <a:avLst/>
            <a:gdLst>
              <a:gd name="csX0" fmla="*/ 297809 w 297809"/>
              <a:gd name="csY0" fmla="*/ 0 h 322976"/>
              <a:gd name="csX1" fmla="*/ 297809 w 297809"/>
              <a:gd name="csY1" fmla="*/ 322976 h 322976"/>
              <a:gd name="csX2" fmla="*/ 0 w 297809"/>
              <a:gd name="csY2" fmla="*/ 322976 h 322976"/>
            </a:gdLst>
            <a:ahLst/>
            <a:cxnLst>
              <a:cxn ang="0">
                <a:pos x="csX0" y="csY0"/>
              </a:cxn>
              <a:cxn ang="0">
                <a:pos x="csX1" y="csY1"/>
              </a:cxn>
              <a:cxn ang="0">
                <a:pos x="csX2" y="csY2"/>
              </a:cxn>
            </a:cxnLst>
            <a:rect l="l" t="t" r="r" b="b"/>
            <a:pathLst>
              <a:path w="297809" h="322976">
                <a:moveTo>
                  <a:pt x="297809" y="0"/>
                </a:moveTo>
                <a:lnTo>
                  <a:pt x="297809" y="322976"/>
                </a:lnTo>
                <a:lnTo>
                  <a:pt x="0" y="322976"/>
                </a:lnTo>
              </a:path>
            </a:pathLst>
          </a:custGeom>
          <a:noFill/>
          <a:ln>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88" name="Arrow: Down 87">
            <a:extLst>
              <a:ext uri="{FF2B5EF4-FFF2-40B4-BE49-F238E27FC236}">
                <a16:creationId xmlns:a16="http://schemas.microsoft.com/office/drawing/2014/main" id="{27DAC23A-F2F7-C0B1-6CB3-140A9FA2AE43}"/>
              </a:ext>
            </a:extLst>
          </p:cNvPr>
          <p:cNvSpPr/>
          <p:nvPr/>
        </p:nvSpPr>
        <p:spPr>
          <a:xfrm>
            <a:off x="10046492" y="1698526"/>
            <a:ext cx="268777" cy="692092"/>
          </a:xfrm>
          <a:prstGeom prst="downArrow">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89" name="Rectangle 88">
            <a:extLst>
              <a:ext uri="{FF2B5EF4-FFF2-40B4-BE49-F238E27FC236}">
                <a16:creationId xmlns:a16="http://schemas.microsoft.com/office/drawing/2014/main" id="{6FF7F03F-00D0-5AD0-E33B-21DC6C48061D}"/>
              </a:ext>
            </a:extLst>
          </p:cNvPr>
          <p:cNvSpPr/>
          <p:nvPr/>
        </p:nvSpPr>
        <p:spPr>
          <a:xfrm>
            <a:off x="9878713" y="1388132"/>
            <a:ext cx="616590" cy="322976"/>
          </a:xfrm>
          <a:prstGeom prst="rect">
            <a:avLst/>
          </a:prstGeom>
          <a:solidFill>
            <a:schemeClr val="accent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90" name="TextBox 89">
            <a:extLst>
              <a:ext uri="{FF2B5EF4-FFF2-40B4-BE49-F238E27FC236}">
                <a16:creationId xmlns:a16="http://schemas.microsoft.com/office/drawing/2014/main" id="{1679CEDF-2B05-1AEF-14B4-BABD7D574A6C}"/>
              </a:ext>
            </a:extLst>
          </p:cNvPr>
          <p:cNvSpPr txBox="1"/>
          <p:nvPr/>
        </p:nvSpPr>
        <p:spPr>
          <a:xfrm>
            <a:off x="9905804" y="1421527"/>
            <a:ext cx="550151" cy="276999"/>
          </a:xfrm>
          <a:prstGeom prst="rect">
            <a:avLst/>
          </a:prstGeom>
          <a:noFill/>
        </p:spPr>
        <p:txBody>
          <a:bodyPr wrap="none" rtlCol="0">
            <a:spAutoFit/>
          </a:bodyPr>
          <a:lstStyle/>
          <a:p>
            <a:r>
              <a:rPr lang="en-GB" sz="1200"/>
              <a:t>EXTI0</a:t>
            </a:r>
            <a:endParaRPr lang="LID4096" sz="1200"/>
          </a:p>
        </p:txBody>
      </p:sp>
      <p:sp>
        <p:nvSpPr>
          <p:cNvPr id="91" name="Arrow: Down 90">
            <a:extLst>
              <a:ext uri="{FF2B5EF4-FFF2-40B4-BE49-F238E27FC236}">
                <a16:creationId xmlns:a16="http://schemas.microsoft.com/office/drawing/2014/main" id="{86E8D504-A14B-5F7C-E3F7-86AC7A88F2AF}"/>
              </a:ext>
            </a:extLst>
          </p:cNvPr>
          <p:cNvSpPr/>
          <p:nvPr/>
        </p:nvSpPr>
        <p:spPr>
          <a:xfrm>
            <a:off x="9434049" y="1698525"/>
            <a:ext cx="268777" cy="1553935"/>
          </a:xfrm>
          <a:prstGeom prst="downArrow">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grpSp>
        <p:nvGrpSpPr>
          <p:cNvPr id="92" name="Group 91">
            <a:extLst>
              <a:ext uri="{FF2B5EF4-FFF2-40B4-BE49-F238E27FC236}">
                <a16:creationId xmlns:a16="http://schemas.microsoft.com/office/drawing/2014/main" id="{58F2D80B-A899-D82D-EED6-7998917F0279}"/>
              </a:ext>
            </a:extLst>
          </p:cNvPr>
          <p:cNvGrpSpPr/>
          <p:nvPr/>
        </p:nvGrpSpPr>
        <p:grpSpPr>
          <a:xfrm>
            <a:off x="9266270" y="1388132"/>
            <a:ext cx="616590" cy="322976"/>
            <a:chOff x="7566824" y="759203"/>
            <a:chExt cx="616590" cy="322976"/>
          </a:xfrm>
        </p:grpSpPr>
        <p:sp>
          <p:nvSpPr>
            <p:cNvPr id="93" name="Rectangle 92">
              <a:extLst>
                <a:ext uri="{FF2B5EF4-FFF2-40B4-BE49-F238E27FC236}">
                  <a16:creationId xmlns:a16="http://schemas.microsoft.com/office/drawing/2014/main" id="{16EF6114-AB59-235F-335F-EDB5690F8D0A}"/>
                </a:ext>
              </a:extLst>
            </p:cNvPr>
            <p:cNvSpPr/>
            <p:nvPr/>
          </p:nvSpPr>
          <p:spPr>
            <a:xfrm>
              <a:off x="7566824" y="759203"/>
              <a:ext cx="616590" cy="322976"/>
            </a:xfrm>
            <a:prstGeom prst="rect">
              <a:avLst/>
            </a:prstGeom>
            <a:solidFill>
              <a:schemeClr val="accent6">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94" name="TextBox 93">
              <a:extLst>
                <a:ext uri="{FF2B5EF4-FFF2-40B4-BE49-F238E27FC236}">
                  <a16:creationId xmlns:a16="http://schemas.microsoft.com/office/drawing/2014/main" id="{6D7E3DD2-4562-7473-C48A-C8B0E2721BC1}"/>
                </a:ext>
              </a:extLst>
            </p:cNvPr>
            <p:cNvSpPr txBox="1"/>
            <p:nvPr/>
          </p:nvSpPr>
          <p:spPr>
            <a:xfrm>
              <a:off x="7593915" y="792598"/>
              <a:ext cx="550151" cy="276999"/>
            </a:xfrm>
            <a:prstGeom prst="rect">
              <a:avLst/>
            </a:prstGeom>
            <a:noFill/>
          </p:spPr>
          <p:txBody>
            <a:bodyPr wrap="none" rtlCol="0">
              <a:spAutoFit/>
            </a:bodyPr>
            <a:lstStyle/>
            <a:p>
              <a:r>
                <a:rPr lang="en-GB" sz="1200"/>
                <a:t>EXTI1</a:t>
              </a:r>
              <a:endParaRPr lang="LID4096" sz="1200"/>
            </a:p>
          </p:txBody>
        </p:sp>
      </p:grpSp>
      <p:sp>
        <p:nvSpPr>
          <p:cNvPr id="95" name="Freeform: Shape 94">
            <a:extLst>
              <a:ext uri="{FF2B5EF4-FFF2-40B4-BE49-F238E27FC236}">
                <a16:creationId xmlns:a16="http://schemas.microsoft.com/office/drawing/2014/main" id="{1FCD0829-4015-F8AB-56EF-D5BBDC7B54F7}"/>
              </a:ext>
            </a:extLst>
          </p:cNvPr>
          <p:cNvSpPr/>
          <p:nvPr/>
        </p:nvSpPr>
        <p:spPr>
          <a:xfrm>
            <a:off x="9363539" y="3126861"/>
            <a:ext cx="432137" cy="960539"/>
          </a:xfrm>
          <a:custGeom>
            <a:avLst/>
            <a:gdLst>
              <a:gd name="csX0" fmla="*/ 213919 w 213919"/>
              <a:gd name="csY0" fmla="*/ 0 h 960539"/>
              <a:gd name="csX1" fmla="*/ 0 w 213919"/>
              <a:gd name="csY1" fmla="*/ 213919 h 960539"/>
              <a:gd name="csX2" fmla="*/ 0 w 213919"/>
              <a:gd name="csY2" fmla="*/ 759203 h 960539"/>
              <a:gd name="csX3" fmla="*/ 201336 w 213919"/>
              <a:gd name="csY3" fmla="*/ 960539 h 960539"/>
              <a:gd name="csX4" fmla="*/ 213919 w 213919"/>
              <a:gd name="csY4" fmla="*/ 0 h 960539"/>
              <a:gd name="csX0" fmla="*/ 213919 w 215874"/>
              <a:gd name="csY0" fmla="*/ 0 h 960539"/>
              <a:gd name="csX1" fmla="*/ 0 w 215874"/>
              <a:gd name="csY1" fmla="*/ 213919 h 960539"/>
              <a:gd name="csX2" fmla="*/ 0 w 215874"/>
              <a:gd name="csY2" fmla="*/ 759203 h 960539"/>
              <a:gd name="csX3" fmla="*/ 215874 w 215874"/>
              <a:gd name="csY3" fmla="*/ 960539 h 960539"/>
              <a:gd name="csX4" fmla="*/ 213919 w 215874"/>
              <a:gd name="csY4" fmla="*/ 0 h 960539"/>
              <a:gd name="csX0" fmla="*/ 213919 w 213950"/>
              <a:gd name="csY0" fmla="*/ 0 h 960539"/>
              <a:gd name="csX1" fmla="*/ 0 w 213950"/>
              <a:gd name="csY1" fmla="*/ 213919 h 960539"/>
              <a:gd name="csX2" fmla="*/ 0 w 213950"/>
              <a:gd name="csY2" fmla="*/ 759203 h 960539"/>
              <a:gd name="csX3" fmla="*/ 205490 w 213950"/>
              <a:gd name="csY3" fmla="*/ 960539 h 960539"/>
              <a:gd name="csX4" fmla="*/ 213919 w 213950"/>
              <a:gd name="csY4" fmla="*/ 0 h 960539"/>
              <a:gd name="csX0" fmla="*/ 213919 w 213950"/>
              <a:gd name="csY0" fmla="*/ 0 h 960539"/>
              <a:gd name="csX1" fmla="*/ 0 w 213950"/>
              <a:gd name="csY1" fmla="*/ 213919 h 960539"/>
              <a:gd name="csX2" fmla="*/ 0 w 213950"/>
              <a:gd name="csY2" fmla="*/ 759203 h 960539"/>
              <a:gd name="csX3" fmla="*/ 205490 w 213950"/>
              <a:gd name="csY3" fmla="*/ 960539 h 960539"/>
              <a:gd name="csX4" fmla="*/ 213919 w 213950"/>
              <a:gd name="csY4" fmla="*/ 0 h 960539"/>
              <a:gd name="csX0" fmla="*/ 213919 w 213972"/>
              <a:gd name="csY0" fmla="*/ 0 h 960539"/>
              <a:gd name="csX1" fmla="*/ 0 w 213972"/>
              <a:gd name="csY1" fmla="*/ 213919 h 960539"/>
              <a:gd name="csX2" fmla="*/ 0 w 213972"/>
              <a:gd name="csY2" fmla="*/ 759203 h 960539"/>
              <a:gd name="csX3" fmla="*/ 209644 w 213972"/>
              <a:gd name="csY3" fmla="*/ 960539 h 960539"/>
              <a:gd name="csX4" fmla="*/ 213919 w 213972"/>
              <a:gd name="csY4" fmla="*/ 0 h 960539"/>
            </a:gdLst>
            <a:ahLst/>
            <a:cxnLst>
              <a:cxn ang="0">
                <a:pos x="csX0" y="csY0"/>
              </a:cxn>
              <a:cxn ang="0">
                <a:pos x="csX1" y="csY1"/>
              </a:cxn>
              <a:cxn ang="0">
                <a:pos x="csX2" y="csY2"/>
              </a:cxn>
              <a:cxn ang="0">
                <a:pos x="csX3" y="csY3"/>
              </a:cxn>
              <a:cxn ang="0">
                <a:pos x="csX4" y="csY4"/>
              </a:cxn>
            </a:cxnLst>
            <a:rect l="l" t="t" r="r" b="b"/>
            <a:pathLst>
              <a:path w="213972" h="960539">
                <a:moveTo>
                  <a:pt x="213919" y="0"/>
                </a:moveTo>
                <a:lnTo>
                  <a:pt x="0" y="213919"/>
                </a:lnTo>
                <a:lnTo>
                  <a:pt x="0" y="759203"/>
                </a:lnTo>
                <a:lnTo>
                  <a:pt x="209644" y="960539"/>
                </a:lnTo>
                <a:cubicBezTo>
                  <a:pt x="208992" y="640359"/>
                  <a:pt x="214571" y="320180"/>
                  <a:pt x="213919" y="0"/>
                </a:cubicBezTo>
                <a:close/>
              </a:path>
            </a:pathLst>
          </a:cu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96" name="Freeform: Shape 95">
            <a:extLst>
              <a:ext uri="{FF2B5EF4-FFF2-40B4-BE49-F238E27FC236}">
                <a16:creationId xmlns:a16="http://schemas.microsoft.com/office/drawing/2014/main" id="{82EE810C-D15E-167E-FDD8-77BCC3701ECB}"/>
              </a:ext>
            </a:extLst>
          </p:cNvPr>
          <p:cNvSpPr/>
          <p:nvPr/>
        </p:nvSpPr>
        <p:spPr>
          <a:xfrm>
            <a:off x="9967933" y="2277368"/>
            <a:ext cx="432137" cy="960539"/>
          </a:xfrm>
          <a:custGeom>
            <a:avLst/>
            <a:gdLst>
              <a:gd name="csX0" fmla="*/ 213919 w 213919"/>
              <a:gd name="csY0" fmla="*/ 0 h 960539"/>
              <a:gd name="csX1" fmla="*/ 0 w 213919"/>
              <a:gd name="csY1" fmla="*/ 213919 h 960539"/>
              <a:gd name="csX2" fmla="*/ 0 w 213919"/>
              <a:gd name="csY2" fmla="*/ 759203 h 960539"/>
              <a:gd name="csX3" fmla="*/ 201336 w 213919"/>
              <a:gd name="csY3" fmla="*/ 960539 h 960539"/>
              <a:gd name="csX4" fmla="*/ 213919 w 213919"/>
              <a:gd name="csY4" fmla="*/ 0 h 960539"/>
              <a:gd name="csX0" fmla="*/ 213919 w 215874"/>
              <a:gd name="csY0" fmla="*/ 0 h 960539"/>
              <a:gd name="csX1" fmla="*/ 0 w 215874"/>
              <a:gd name="csY1" fmla="*/ 213919 h 960539"/>
              <a:gd name="csX2" fmla="*/ 0 w 215874"/>
              <a:gd name="csY2" fmla="*/ 759203 h 960539"/>
              <a:gd name="csX3" fmla="*/ 215874 w 215874"/>
              <a:gd name="csY3" fmla="*/ 960539 h 960539"/>
              <a:gd name="csX4" fmla="*/ 213919 w 215874"/>
              <a:gd name="csY4" fmla="*/ 0 h 960539"/>
              <a:gd name="csX0" fmla="*/ 213919 w 213950"/>
              <a:gd name="csY0" fmla="*/ 0 h 960539"/>
              <a:gd name="csX1" fmla="*/ 0 w 213950"/>
              <a:gd name="csY1" fmla="*/ 213919 h 960539"/>
              <a:gd name="csX2" fmla="*/ 0 w 213950"/>
              <a:gd name="csY2" fmla="*/ 759203 h 960539"/>
              <a:gd name="csX3" fmla="*/ 205490 w 213950"/>
              <a:gd name="csY3" fmla="*/ 960539 h 960539"/>
              <a:gd name="csX4" fmla="*/ 213919 w 213950"/>
              <a:gd name="csY4" fmla="*/ 0 h 960539"/>
              <a:gd name="csX0" fmla="*/ 213919 w 213950"/>
              <a:gd name="csY0" fmla="*/ 0 h 960539"/>
              <a:gd name="csX1" fmla="*/ 0 w 213950"/>
              <a:gd name="csY1" fmla="*/ 213919 h 960539"/>
              <a:gd name="csX2" fmla="*/ 0 w 213950"/>
              <a:gd name="csY2" fmla="*/ 759203 h 960539"/>
              <a:gd name="csX3" fmla="*/ 205490 w 213950"/>
              <a:gd name="csY3" fmla="*/ 960539 h 960539"/>
              <a:gd name="csX4" fmla="*/ 213919 w 213950"/>
              <a:gd name="csY4" fmla="*/ 0 h 960539"/>
              <a:gd name="csX0" fmla="*/ 213919 w 213972"/>
              <a:gd name="csY0" fmla="*/ 0 h 960539"/>
              <a:gd name="csX1" fmla="*/ 0 w 213972"/>
              <a:gd name="csY1" fmla="*/ 213919 h 960539"/>
              <a:gd name="csX2" fmla="*/ 0 w 213972"/>
              <a:gd name="csY2" fmla="*/ 759203 h 960539"/>
              <a:gd name="csX3" fmla="*/ 209644 w 213972"/>
              <a:gd name="csY3" fmla="*/ 960539 h 960539"/>
              <a:gd name="csX4" fmla="*/ 213919 w 213972"/>
              <a:gd name="csY4" fmla="*/ 0 h 960539"/>
            </a:gdLst>
            <a:ahLst/>
            <a:cxnLst>
              <a:cxn ang="0">
                <a:pos x="csX0" y="csY0"/>
              </a:cxn>
              <a:cxn ang="0">
                <a:pos x="csX1" y="csY1"/>
              </a:cxn>
              <a:cxn ang="0">
                <a:pos x="csX2" y="csY2"/>
              </a:cxn>
              <a:cxn ang="0">
                <a:pos x="csX3" y="csY3"/>
              </a:cxn>
              <a:cxn ang="0">
                <a:pos x="csX4" y="csY4"/>
              </a:cxn>
            </a:cxnLst>
            <a:rect l="l" t="t" r="r" b="b"/>
            <a:pathLst>
              <a:path w="213972" h="960539">
                <a:moveTo>
                  <a:pt x="213919" y="0"/>
                </a:moveTo>
                <a:lnTo>
                  <a:pt x="0" y="213919"/>
                </a:lnTo>
                <a:lnTo>
                  <a:pt x="0" y="759203"/>
                </a:lnTo>
                <a:lnTo>
                  <a:pt x="209644" y="960539"/>
                </a:lnTo>
                <a:cubicBezTo>
                  <a:pt x="208992" y="640359"/>
                  <a:pt x="214571" y="320180"/>
                  <a:pt x="213919" y="0"/>
                </a:cubicBezTo>
                <a:close/>
              </a:path>
            </a:pathLst>
          </a:cu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97" name="Freeform: Shape 96">
            <a:extLst>
              <a:ext uri="{FF2B5EF4-FFF2-40B4-BE49-F238E27FC236}">
                <a16:creationId xmlns:a16="http://schemas.microsoft.com/office/drawing/2014/main" id="{2F47A31B-7081-4311-332D-03BD4788D508}"/>
              </a:ext>
            </a:extLst>
          </p:cNvPr>
          <p:cNvSpPr/>
          <p:nvPr/>
        </p:nvSpPr>
        <p:spPr>
          <a:xfrm>
            <a:off x="9803211" y="2860401"/>
            <a:ext cx="1052818" cy="595618"/>
          </a:xfrm>
          <a:custGeom>
            <a:avLst/>
            <a:gdLst>
              <a:gd name="csX0" fmla="*/ 1052818 w 1052818"/>
              <a:gd name="csY0" fmla="*/ 0 h 595618"/>
              <a:gd name="csX1" fmla="*/ 952151 w 1052818"/>
              <a:gd name="csY1" fmla="*/ 0 h 595618"/>
              <a:gd name="csX2" fmla="*/ 952151 w 1052818"/>
              <a:gd name="csY2" fmla="*/ 595618 h 595618"/>
              <a:gd name="csX3" fmla="*/ 0 w 1052818"/>
              <a:gd name="csY3" fmla="*/ 595618 h 595618"/>
            </a:gdLst>
            <a:ahLst/>
            <a:cxnLst>
              <a:cxn ang="0">
                <a:pos x="csX0" y="csY0"/>
              </a:cxn>
              <a:cxn ang="0">
                <a:pos x="csX1" y="csY1"/>
              </a:cxn>
              <a:cxn ang="0">
                <a:pos x="csX2" y="csY2"/>
              </a:cxn>
              <a:cxn ang="0">
                <a:pos x="csX3" y="csY3"/>
              </a:cxn>
            </a:cxnLst>
            <a:rect l="l" t="t" r="r" b="b"/>
            <a:pathLst>
              <a:path w="1052818" h="595618">
                <a:moveTo>
                  <a:pt x="1052818" y="0"/>
                </a:moveTo>
                <a:lnTo>
                  <a:pt x="952151" y="0"/>
                </a:lnTo>
                <a:lnTo>
                  <a:pt x="952151" y="595618"/>
                </a:lnTo>
                <a:lnTo>
                  <a:pt x="0" y="595618"/>
                </a:lnTo>
              </a:path>
            </a:pathLst>
          </a:custGeom>
          <a:noFill/>
          <a:ln>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cxnSp>
        <p:nvCxnSpPr>
          <p:cNvPr id="98" name="Straight Connector 97">
            <a:extLst>
              <a:ext uri="{FF2B5EF4-FFF2-40B4-BE49-F238E27FC236}">
                <a16:creationId xmlns:a16="http://schemas.microsoft.com/office/drawing/2014/main" id="{DAE69432-A69C-2261-CC91-756280888DD4}"/>
              </a:ext>
            </a:extLst>
          </p:cNvPr>
          <p:cNvCxnSpPr/>
          <p:nvPr/>
        </p:nvCxnSpPr>
        <p:spPr>
          <a:xfrm>
            <a:off x="10612050" y="1810344"/>
            <a:ext cx="0" cy="527038"/>
          </a:xfrm>
          <a:prstGeom prst="line">
            <a:avLst/>
          </a:prstGeom>
          <a:ln>
            <a:solidFill>
              <a:schemeClr val="accent6">
                <a:lumMod val="75000"/>
              </a:schemeClr>
            </a:solidFill>
            <a:prstDash val="sysDash"/>
          </a:ln>
        </p:spPr>
        <p:style>
          <a:lnRef idx="2">
            <a:schemeClr val="accent1"/>
          </a:lnRef>
          <a:fillRef idx="0">
            <a:schemeClr val="accent1"/>
          </a:fillRef>
          <a:effectRef idx="1">
            <a:schemeClr val="accent1"/>
          </a:effectRef>
          <a:fontRef idx="minor">
            <a:schemeClr val="tx1"/>
          </a:fontRef>
        </p:style>
      </p:cxnSp>
      <p:sp>
        <p:nvSpPr>
          <p:cNvPr id="99" name="Freeform: Shape 98">
            <a:extLst>
              <a:ext uri="{FF2B5EF4-FFF2-40B4-BE49-F238E27FC236}">
                <a16:creationId xmlns:a16="http://schemas.microsoft.com/office/drawing/2014/main" id="{6FC76760-3B23-AFC0-F277-E94329BADF6B}"/>
              </a:ext>
            </a:extLst>
          </p:cNvPr>
          <p:cNvSpPr/>
          <p:nvPr/>
        </p:nvSpPr>
        <p:spPr>
          <a:xfrm>
            <a:off x="9807406" y="2340283"/>
            <a:ext cx="805343" cy="1019263"/>
          </a:xfrm>
          <a:custGeom>
            <a:avLst/>
            <a:gdLst>
              <a:gd name="csX0" fmla="*/ 805343 w 805343"/>
              <a:gd name="csY0" fmla="*/ 0 h 1019263"/>
              <a:gd name="csX1" fmla="*/ 805343 w 805343"/>
              <a:gd name="csY1" fmla="*/ 1019263 h 1019263"/>
              <a:gd name="csX2" fmla="*/ 0 w 805343"/>
              <a:gd name="csY2" fmla="*/ 1019263 h 1019263"/>
              <a:gd name="csX3" fmla="*/ 0 w 805343"/>
              <a:gd name="csY3" fmla="*/ 1002485 h 1019263"/>
            </a:gdLst>
            <a:ahLst/>
            <a:cxnLst>
              <a:cxn ang="0">
                <a:pos x="csX0" y="csY0"/>
              </a:cxn>
              <a:cxn ang="0">
                <a:pos x="csX1" y="csY1"/>
              </a:cxn>
              <a:cxn ang="0">
                <a:pos x="csX2" y="csY2"/>
              </a:cxn>
              <a:cxn ang="0">
                <a:pos x="csX3" y="csY3"/>
              </a:cxn>
            </a:cxnLst>
            <a:rect l="l" t="t" r="r" b="b"/>
            <a:pathLst>
              <a:path w="805343" h="1019263">
                <a:moveTo>
                  <a:pt x="805343" y="0"/>
                </a:moveTo>
                <a:lnTo>
                  <a:pt x="805343" y="1019263"/>
                </a:lnTo>
                <a:lnTo>
                  <a:pt x="0" y="1019263"/>
                </a:lnTo>
                <a:lnTo>
                  <a:pt x="0" y="1002485"/>
                </a:lnTo>
              </a:path>
            </a:pathLst>
          </a:custGeom>
          <a:noFill/>
          <a:ln>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100" name="Freeform: Shape 99">
            <a:extLst>
              <a:ext uri="{FF2B5EF4-FFF2-40B4-BE49-F238E27FC236}">
                <a16:creationId xmlns:a16="http://schemas.microsoft.com/office/drawing/2014/main" id="{AB09DDA7-408D-8C8F-3436-7A72354F278C}"/>
              </a:ext>
            </a:extLst>
          </p:cNvPr>
          <p:cNvSpPr/>
          <p:nvPr/>
        </p:nvSpPr>
        <p:spPr>
          <a:xfrm>
            <a:off x="9794822" y="3565076"/>
            <a:ext cx="1065402" cy="1124125"/>
          </a:xfrm>
          <a:custGeom>
            <a:avLst/>
            <a:gdLst>
              <a:gd name="csX0" fmla="*/ 1052818 w 1052818"/>
              <a:gd name="csY0" fmla="*/ 1124125 h 1124125"/>
              <a:gd name="csX1" fmla="*/ 637563 w 1052818"/>
              <a:gd name="csY1" fmla="*/ 1124125 h 1124125"/>
              <a:gd name="csX2" fmla="*/ 637563 w 1052818"/>
              <a:gd name="csY2" fmla="*/ 0 h 1124125"/>
              <a:gd name="csX3" fmla="*/ 0 w 1052818"/>
              <a:gd name="csY3" fmla="*/ 0 h 1124125"/>
            </a:gdLst>
            <a:ahLst/>
            <a:cxnLst>
              <a:cxn ang="0">
                <a:pos x="csX0" y="csY0"/>
              </a:cxn>
              <a:cxn ang="0">
                <a:pos x="csX1" y="csY1"/>
              </a:cxn>
              <a:cxn ang="0">
                <a:pos x="csX2" y="csY2"/>
              </a:cxn>
              <a:cxn ang="0">
                <a:pos x="csX3" y="csY3"/>
              </a:cxn>
            </a:cxnLst>
            <a:rect l="l" t="t" r="r" b="b"/>
            <a:pathLst>
              <a:path w="1052818" h="1124125">
                <a:moveTo>
                  <a:pt x="1052818" y="1124125"/>
                </a:moveTo>
                <a:lnTo>
                  <a:pt x="637563" y="1124125"/>
                </a:lnTo>
                <a:lnTo>
                  <a:pt x="637563" y="0"/>
                </a:lnTo>
                <a:lnTo>
                  <a:pt x="0" y="0"/>
                </a:lnTo>
              </a:path>
            </a:pathLst>
          </a:custGeom>
          <a:noFill/>
          <a:ln>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cxnSp>
        <p:nvCxnSpPr>
          <p:cNvPr id="101" name="Straight Connector 100">
            <a:extLst>
              <a:ext uri="{FF2B5EF4-FFF2-40B4-BE49-F238E27FC236}">
                <a16:creationId xmlns:a16="http://schemas.microsoft.com/office/drawing/2014/main" id="{54C3D7F1-06EB-F447-C7BA-8300E307F4CD}"/>
              </a:ext>
            </a:extLst>
          </p:cNvPr>
          <p:cNvCxnSpPr/>
          <p:nvPr/>
        </p:nvCxnSpPr>
        <p:spPr>
          <a:xfrm>
            <a:off x="10315269" y="5990962"/>
            <a:ext cx="0" cy="527038"/>
          </a:xfrm>
          <a:prstGeom prst="line">
            <a:avLst/>
          </a:prstGeom>
          <a:ln>
            <a:solidFill>
              <a:schemeClr val="accent6">
                <a:lumMod val="75000"/>
              </a:schemeClr>
            </a:solidFill>
            <a:prstDash val="sysDash"/>
          </a:ln>
        </p:spPr>
        <p:style>
          <a:lnRef idx="2">
            <a:schemeClr val="accent1"/>
          </a:lnRef>
          <a:fillRef idx="0">
            <a:schemeClr val="accent1"/>
          </a:fillRef>
          <a:effectRef idx="1">
            <a:schemeClr val="accent1"/>
          </a:effectRef>
          <a:fontRef idx="minor">
            <a:schemeClr val="tx1"/>
          </a:fontRef>
        </p:style>
      </p:cxnSp>
      <p:sp>
        <p:nvSpPr>
          <p:cNvPr id="102" name="Freeform: Shape 101">
            <a:extLst>
              <a:ext uri="{FF2B5EF4-FFF2-40B4-BE49-F238E27FC236}">
                <a16:creationId xmlns:a16="http://schemas.microsoft.com/office/drawing/2014/main" id="{515B519A-24EB-9F69-6C5E-FCA1D62276E6}"/>
              </a:ext>
            </a:extLst>
          </p:cNvPr>
          <p:cNvSpPr/>
          <p:nvPr/>
        </p:nvSpPr>
        <p:spPr>
          <a:xfrm>
            <a:off x="9794822" y="3690911"/>
            <a:ext cx="524312" cy="2294389"/>
          </a:xfrm>
          <a:custGeom>
            <a:avLst/>
            <a:gdLst>
              <a:gd name="csX0" fmla="*/ 524312 w 524312"/>
              <a:gd name="csY0" fmla="*/ 2294389 h 2294389"/>
              <a:gd name="csX1" fmla="*/ 524312 w 524312"/>
              <a:gd name="csY1" fmla="*/ 4194 h 2294389"/>
              <a:gd name="csX2" fmla="*/ 0 w 524312"/>
              <a:gd name="csY2" fmla="*/ 4194 h 2294389"/>
              <a:gd name="csX3" fmla="*/ 0 w 524312"/>
              <a:gd name="csY3" fmla="*/ 0 h 2294389"/>
            </a:gdLst>
            <a:ahLst/>
            <a:cxnLst>
              <a:cxn ang="0">
                <a:pos x="csX0" y="csY0"/>
              </a:cxn>
              <a:cxn ang="0">
                <a:pos x="csX1" y="csY1"/>
              </a:cxn>
              <a:cxn ang="0">
                <a:pos x="csX2" y="csY2"/>
              </a:cxn>
              <a:cxn ang="0">
                <a:pos x="csX3" y="csY3"/>
              </a:cxn>
            </a:cxnLst>
            <a:rect l="l" t="t" r="r" b="b"/>
            <a:pathLst>
              <a:path w="524312" h="2294389">
                <a:moveTo>
                  <a:pt x="524312" y="2294389"/>
                </a:moveTo>
                <a:lnTo>
                  <a:pt x="524312" y="4194"/>
                </a:lnTo>
                <a:lnTo>
                  <a:pt x="0" y="4194"/>
                </a:lnTo>
                <a:lnTo>
                  <a:pt x="0" y="0"/>
                </a:lnTo>
              </a:path>
            </a:pathLst>
          </a:custGeom>
          <a:noFill/>
          <a:ln>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103" name="Rectangle 102">
            <a:extLst>
              <a:ext uri="{FF2B5EF4-FFF2-40B4-BE49-F238E27FC236}">
                <a16:creationId xmlns:a16="http://schemas.microsoft.com/office/drawing/2014/main" id="{554905A6-09B4-0974-CB4D-0F365F7B9645}"/>
              </a:ext>
            </a:extLst>
          </p:cNvPr>
          <p:cNvSpPr/>
          <p:nvPr/>
        </p:nvSpPr>
        <p:spPr>
          <a:xfrm>
            <a:off x="8655272" y="1388132"/>
            <a:ext cx="616590" cy="322976"/>
          </a:xfrm>
          <a:prstGeom prst="rect">
            <a:avLst/>
          </a:prstGeom>
          <a:solidFill>
            <a:schemeClr val="bg1">
              <a:lumMod val="9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104" name="TextBox 103">
            <a:extLst>
              <a:ext uri="{FF2B5EF4-FFF2-40B4-BE49-F238E27FC236}">
                <a16:creationId xmlns:a16="http://schemas.microsoft.com/office/drawing/2014/main" id="{832F15E7-0721-ACD4-40B9-ACB55759187E}"/>
              </a:ext>
            </a:extLst>
          </p:cNvPr>
          <p:cNvSpPr txBox="1"/>
          <p:nvPr/>
        </p:nvSpPr>
        <p:spPr>
          <a:xfrm>
            <a:off x="8682363" y="1421527"/>
            <a:ext cx="550151" cy="276999"/>
          </a:xfrm>
          <a:prstGeom prst="rect">
            <a:avLst/>
          </a:prstGeom>
          <a:noFill/>
        </p:spPr>
        <p:txBody>
          <a:bodyPr wrap="none" rtlCol="0">
            <a:spAutoFit/>
          </a:bodyPr>
          <a:lstStyle/>
          <a:p>
            <a:r>
              <a:rPr lang="en-GB" sz="1200"/>
              <a:t>EXTI2</a:t>
            </a:r>
            <a:endParaRPr lang="LID4096" sz="1200"/>
          </a:p>
        </p:txBody>
      </p:sp>
      <p:sp>
        <p:nvSpPr>
          <p:cNvPr id="105" name="Rectangle 104">
            <a:extLst>
              <a:ext uri="{FF2B5EF4-FFF2-40B4-BE49-F238E27FC236}">
                <a16:creationId xmlns:a16="http://schemas.microsoft.com/office/drawing/2014/main" id="{28686450-885C-2926-C49E-86D2287180C5}"/>
              </a:ext>
            </a:extLst>
          </p:cNvPr>
          <p:cNvSpPr/>
          <p:nvPr/>
        </p:nvSpPr>
        <p:spPr>
          <a:xfrm>
            <a:off x="8044274" y="1388132"/>
            <a:ext cx="616590" cy="322976"/>
          </a:xfrm>
          <a:prstGeom prst="rect">
            <a:avLst/>
          </a:prstGeom>
          <a:solidFill>
            <a:schemeClr val="bg1">
              <a:lumMod val="9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106" name="TextBox 105">
            <a:extLst>
              <a:ext uri="{FF2B5EF4-FFF2-40B4-BE49-F238E27FC236}">
                <a16:creationId xmlns:a16="http://schemas.microsoft.com/office/drawing/2014/main" id="{84D25B0C-68BD-5412-20E8-4FFFAFF1DC88}"/>
              </a:ext>
            </a:extLst>
          </p:cNvPr>
          <p:cNvSpPr txBox="1"/>
          <p:nvPr/>
        </p:nvSpPr>
        <p:spPr>
          <a:xfrm>
            <a:off x="8071365" y="1421527"/>
            <a:ext cx="550151" cy="276999"/>
          </a:xfrm>
          <a:prstGeom prst="rect">
            <a:avLst/>
          </a:prstGeom>
          <a:noFill/>
        </p:spPr>
        <p:txBody>
          <a:bodyPr wrap="none" rtlCol="0">
            <a:spAutoFit/>
          </a:bodyPr>
          <a:lstStyle/>
          <a:p>
            <a:r>
              <a:rPr lang="en-GB" sz="1200"/>
              <a:t>EXTI3</a:t>
            </a:r>
            <a:endParaRPr lang="LID4096" sz="1200"/>
          </a:p>
        </p:txBody>
      </p:sp>
      <p:sp>
        <p:nvSpPr>
          <p:cNvPr id="107" name="TextBox 106">
            <a:extLst>
              <a:ext uri="{FF2B5EF4-FFF2-40B4-BE49-F238E27FC236}">
                <a16:creationId xmlns:a16="http://schemas.microsoft.com/office/drawing/2014/main" id="{B9983F29-7711-0059-00E7-11C9428D80A2}"/>
              </a:ext>
            </a:extLst>
          </p:cNvPr>
          <p:cNvSpPr txBox="1"/>
          <p:nvPr/>
        </p:nvSpPr>
        <p:spPr>
          <a:xfrm rot="5400000">
            <a:off x="8845786" y="2055842"/>
            <a:ext cx="381836" cy="369332"/>
          </a:xfrm>
          <a:prstGeom prst="rect">
            <a:avLst/>
          </a:prstGeom>
          <a:noFill/>
        </p:spPr>
        <p:txBody>
          <a:bodyPr wrap="none" rtlCol="0">
            <a:spAutoFit/>
          </a:bodyPr>
          <a:lstStyle/>
          <a:p>
            <a:r>
              <a:rPr lang="en-GB"/>
              <a:t>...</a:t>
            </a:r>
            <a:endParaRPr lang="LID4096"/>
          </a:p>
        </p:txBody>
      </p:sp>
      <p:sp>
        <p:nvSpPr>
          <p:cNvPr id="108" name="TextBox 107">
            <a:extLst>
              <a:ext uri="{FF2B5EF4-FFF2-40B4-BE49-F238E27FC236}">
                <a16:creationId xmlns:a16="http://schemas.microsoft.com/office/drawing/2014/main" id="{E5F64495-96CC-1CB9-68B0-1070F3A812DB}"/>
              </a:ext>
            </a:extLst>
          </p:cNvPr>
          <p:cNvSpPr txBox="1"/>
          <p:nvPr/>
        </p:nvSpPr>
        <p:spPr>
          <a:xfrm rot="5400000">
            <a:off x="8206015" y="2080115"/>
            <a:ext cx="381836" cy="369332"/>
          </a:xfrm>
          <a:prstGeom prst="rect">
            <a:avLst/>
          </a:prstGeom>
          <a:noFill/>
        </p:spPr>
        <p:txBody>
          <a:bodyPr wrap="none" rtlCol="0">
            <a:spAutoFit/>
          </a:bodyPr>
          <a:lstStyle/>
          <a:p>
            <a:r>
              <a:rPr lang="en-GB"/>
              <a:t>...</a:t>
            </a:r>
            <a:endParaRPr lang="LID4096"/>
          </a:p>
        </p:txBody>
      </p:sp>
      <p:sp>
        <p:nvSpPr>
          <p:cNvPr id="109" name="Rectangle 108">
            <a:extLst>
              <a:ext uri="{FF2B5EF4-FFF2-40B4-BE49-F238E27FC236}">
                <a16:creationId xmlns:a16="http://schemas.microsoft.com/office/drawing/2014/main" id="{16C06142-796E-3ABA-4112-4DDA791D1CE8}"/>
              </a:ext>
            </a:extLst>
          </p:cNvPr>
          <p:cNvSpPr/>
          <p:nvPr/>
        </p:nvSpPr>
        <p:spPr>
          <a:xfrm>
            <a:off x="8045718" y="1228742"/>
            <a:ext cx="2449585" cy="183836"/>
          </a:xfrm>
          <a:prstGeom prst="rect">
            <a:avLst/>
          </a:prstGeom>
          <a:solidFill>
            <a:schemeClr val="bg1">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110" name="TextBox 109">
            <a:extLst>
              <a:ext uri="{FF2B5EF4-FFF2-40B4-BE49-F238E27FC236}">
                <a16:creationId xmlns:a16="http://schemas.microsoft.com/office/drawing/2014/main" id="{FA27DE51-D254-B737-42FB-978B5704D3D7}"/>
              </a:ext>
            </a:extLst>
          </p:cNvPr>
          <p:cNvSpPr txBox="1"/>
          <p:nvPr/>
        </p:nvSpPr>
        <p:spPr>
          <a:xfrm>
            <a:off x="8763771" y="1192273"/>
            <a:ext cx="1031051" cy="246221"/>
          </a:xfrm>
          <a:prstGeom prst="rect">
            <a:avLst/>
          </a:prstGeom>
          <a:noFill/>
        </p:spPr>
        <p:txBody>
          <a:bodyPr wrap="none" rtlCol="0">
            <a:spAutoFit/>
          </a:bodyPr>
          <a:lstStyle/>
          <a:p>
            <a:r>
              <a:rPr lang="en-GB" sz="1000">
                <a:solidFill>
                  <a:schemeClr val="bg2"/>
                </a:solidFill>
                <a:latin typeface="Consolas" panose="020B0609020204030204" pitchFamily="49" charset="0"/>
              </a:rPr>
              <a:t>AFIO_EXTICR1</a:t>
            </a:r>
            <a:endParaRPr lang="LID4096" sz="1000">
              <a:solidFill>
                <a:schemeClr val="bg2"/>
              </a:solidFill>
              <a:latin typeface="Consolas" panose="020B0609020204030204" pitchFamily="49" charset="0"/>
            </a:endParaRPr>
          </a:p>
        </p:txBody>
      </p:sp>
      <p:sp>
        <p:nvSpPr>
          <p:cNvPr id="111" name="Rectangle 110">
            <a:extLst>
              <a:ext uri="{FF2B5EF4-FFF2-40B4-BE49-F238E27FC236}">
                <a16:creationId xmlns:a16="http://schemas.microsoft.com/office/drawing/2014/main" id="{6588B588-FC15-EA0F-6C29-7EEDB59F18DB}"/>
              </a:ext>
            </a:extLst>
          </p:cNvPr>
          <p:cNvSpPr/>
          <p:nvPr/>
        </p:nvSpPr>
        <p:spPr>
          <a:xfrm>
            <a:off x="7231672" y="1388132"/>
            <a:ext cx="616590" cy="322976"/>
          </a:xfrm>
          <a:prstGeom prst="rect">
            <a:avLst/>
          </a:prstGeom>
          <a:solidFill>
            <a:schemeClr val="bg1">
              <a:lumMod val="9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112" name="TextBox 111">
            <a:extLst>
              <a:ext uri="{FF2B5EF4-FFF2-40B4-BE49-F238E27FC236}">
                <a16:creationId xmlns:a16="http://schemas.microsoft.com/office/drawing/2014/main" id="{5F084A16-A905-98A9-0604-CC8845487B40}"/>
              </a:ext>
            </a:extLst>
          </p:cNvPr>
          <p:cNvSpPr txBox="1"/>
          <p:nvPr/>
        </p:nvSpPr>
        <p:spPr>
          <a:xfrm>
            <a:off x="7258763" y="1421527"/>
            <a:ext cx="550151" cy="276999"/>
          </a:xfrm>
          <a:prstGeom prst="rect">
            <a:avLst/>
          </a:prstGeom>
          <a:noFill/>
        </p:spPr>
        <p:txBody>
          <a:bodyPr wrap="none" rtlCol="0">
            <a:spAutoFit/>
          </a:bodyPr>
          <a:lstStyle/>
          <a:p>
            <a:r>
              <a:rPr lang="en-GB" sz="1200"/>
              <a:t>EXTI4</a:t>
            </a:r>
            <a:endParaRPr lang="LID4096" sz="1200"/>
          </a:p>
        </p:txBody>
      </p:sp>
      <p:sp>
        <p:nvSpPr>
          <p:cNvPr id="113" name="Rectangle 112">
            <a:extLst>
              <a:ext uri="{FF2B5EF4-FFF2-40B4-BE49-F238E27FC236}">
                <a16:creationId xmlns:a16="http://schemas.microsoft.com/office/drawing/2014/main" id="{4C0214BF-5954-C957-5520-9C57B249B190}"/>
              </a:ext>
            </a:extLst>
          </p:cNvPr>
          <p:cNvSpPr/>
          <p:nvPr/>
        </p:nvSpPr>
        <p:spPr>
          <a:xfrm>
            <a:off x="6619229" y="1388132"/>
            <a:ext cx="616590" cy="322976"/>
          </a:xfrm>
          <a:prstGeom prst="rect">
            <a:avLst/>
          </a:prstGeom>
          <a:solidFill>
            <a:schemeClr val="bg1">
              <a:lumMod val="9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114" name="TextBox 113">
            <a:extLst>
              <a:ext uri="{FF2B5EF4-FFF2-40B4-BE49-F238E27FC236}">
                <a16:creationId xmlns:a16="http://schemas.microsoft.com/office/drawing/2014/main" id="{596A682C-8AB0-58D3-A48E-BAE16E889E62}"/>
              </a:ext>
            </a:extLst>
          </p:cNvPr>
          <p:cNvSpPr txBox="1"/>
          <p:nvPr/>
        </p:nvSpPr>
        <p:spPr>
          <a:xfrm>
            <a:off x="6646320" y="1421527"/>
            <a:ext cx="550151" cy="276999"/>
          </a:xfrm>
          <a:prstGeom prst="rect">
            <a:avLst/>
          </a:prstGeom>
          <a:noFill/>
        </p:spPr>
        <p:txBody>
          <a:bodyPr wrap="none" rtlCol="0">
            <a:spAutoFit/>
          </a:bodyPr>
          <a:lstStyle/>
          <a:p>
            <a:r>
              <a:rPr lang="en-GB" sz="1200"/>
              <a:t>EXTI5</a:t>
            </a:r>
            <a:endParaRPr lang="LID4096" sz="1200"/>
          </a:p>
        </p:txBody>
      </p:sp>
      <p:sp>
        <p:nvSpPr>
          <p:cNvPr id="115" name="Rectangle 114">
            <a:extLst>
              <a:ext uri="{FF2B5EF4-FFF2-40B4-BE49-F238E27FC236}">
                <a16:creationId xmlns:a16="http://schemas.microsoft.com/office/drawing/2014/main" id="{68845A80-057F-BCE5-5C73-0BEC1DA1B3D0}"/>
              </a:ext>
            </a:extLst>
          </p:cNvPr>
          <p:cNvSpPr/>
          <p:nvPr/>
        </p:nvSpPr>
        <p:spPr>
          <a:xfrm>
            <a:off x="6008231" y="1388132"/>
            <a:ext cx="616590" cy="322976"/>
          </a:xfrm>
          <a:prstGeom prst="rect">
            <a:avLst/>
          </a:prstGeom>
          <a:solidFill>
            <a:schemeClr val="bg1">
              <a:lumMod val="9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116" name="TextBox 115">
            <a:extLst>
              <a:ext uri="{FF2B5EF4-FFF2-40B4-BE49-F238E27FC236}">
                <a16:creationId xmlns:a16="http://schemas.microsoft.com/office/drawing/2014/main" id="{BC145043-CAE3-0AB1-611C-1943331551B2}"/>
              </a:ext>
            </a:extLst>
          </p:cNvPr>
          <p:cNvSpPr txBox="1"/>
          <p:nvPr/>
        </p:nvSpPr>
        <p:spPr>
          <a:xfrm>
            <a:off x="6035322" y="1421527"/>
            <a:ext cx="550151" cy="276999"/>
          </a:xfrm>
          <a:prstGeom prst="rect">
            <a:avLst/>
          </a:prstGeom>
          <a:noFill/>
        </p:spPr>
        <p:txBody>
          <a:bodyPr wrap="none" rtlCol="0">
            <a:spAutoFit/>
          </a:bodyPr>
          <a:lstStyle/>
          <a:p>
            <a:r>
              <a:rPr lang="en-GB" sz="1200"/>
              <a:t>EXTI6</a:t>
            </a:r>
            <a:endParaRPr lang="LID4096" sz="1200"/>
          </a:p>
        </p:txBody>
      </p:sp>
      <p:sp>
        <p:nvSpPr>
          <p:cNvPr id="117" name="Rectangle 116">
            <a:extLst>
              <a:ext uri="{FF2B5EF4-FFF2-40B4-BE49-F238E27FC236}">
                <a16:creationId xmlns:a16="http://schemas.microsoft.com/office/drawing/2014/main" id="{A3A12CDD-EAAC-DBC7-CD8C-C7A4CF6FA7FA}"/>
              </a:ext>
            </a:extLst>
          </p:cNvPr>
          <p:cNvSpPr/>
          <p:nvPr/>
        </p:nvSpPr>
        <p:spPr>
          <a:xfrm>
            <a:off x="5397233" y="1388132"/>
            <a:ext cx="616590" cy="322976"/>
          </a:xfrm>
          <a:prstGeom prst="rect">
            <a:avLst/>
          </a:prstGeom>
          <a:solidFill>
            <a:schemeClr val="bg1">
              <a:lumMod val="9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118" name="TextBox 117">
            <a:extLst>
              <a:ext uri="{FF2B5EF4-FFF2-40B4-BE49-F238E27FC236}">
                <a16:creationId xmlns:a16="http://schemas.microsoft.com/office/drawing/2014/main" id="{76C70C5D-BB39-DA6D-A56E-8734913D67B9}"/>
              </a:ext>
            </a:extLst>
          </p:cNvPr>
          <p:cNvSpPr txBox="1"/>
          <p:nvPr/>
        </p:nvSpPr>
        <p:spPr>
          <a:xfrm>
            <a:off x="5424324" y="1421527"/>
            <a:ext cx="550151" cy="276999"/>
          </a:xfrm>
          <a:prstGeom prst="rect">
            <a:avLst/>
          </a:prstGeom>
          <a:noFill/>
        </p:spPr>
        <p:txBody>
          <a:bodyPr wrap="none" rtlCol="0">
            <a:spAutoFit/>
          </a:bodyPr>
          <a:lstStyle/>
          <a:p>
            <a:r>
              <a:rPr lang="en-GB" sz="1200"/>
              <a:t>EXTI7</a:t>
            </a:r>
            <a:endParaRPr lang="LID4096" sz="1200"/>
          </a:p>
        </p:txBody>
      </p:sp>
      <p:sp>
        <p:nvSpPr>
          <p:cNvPr id="119" name="Rectangle 118">
            <a:extLst>
              <a:ext uri="{FF2B5EF4-FFF2-40B4-BE49-F238E27FC236}">
                <a16:creationId xmlns:a16="http://schemas.microsoft.com/office/drawing/2014/main" id="{FAE18D3B-28CB-B7DD-B4E3-97FF3C4AAF07}"/>
              </a:ext>
            </a:extLst>
          </p:cNvPr>
          <p:cNvSpPr/>
          <p:nvPr/>
        </p:nvSpPr>
        <p:spPr>
          <a:xfrm>
            <a:off x="5398677" y="1228742"/>
            <a:ext cx="2449585" cy="183836"/>
          </a:xfrm>
          <a:prstGeom prst="rect">
            <a:avLst/>
          </a:prstGeom>
          <a:solidFill>
            <a:schemeClr val="bg1">
              <a:lumMod val="5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120" name="TextBox 119">
            <a:extLst>
              <a:ext uri="{FF2B5EF4-FFF2-40B4-BE49-F238E27FC236}">
                <a16:creationId xmlns:a16="http://schemas.microsoft.com/office/drawing/2014/main" id="{7A48EE5A-3AD6-B082-3406-077F080A895A}"/>
              </a:ext>
            </a:extLst>
          </p:cNvPr>
          <p:cNvSpPr txBox="1"/>
          <p:nvPr/>
        </p:nvSpPr>
        <p:spPr>
          <a:xfrm>
            <a:off x="6116730" y="1192273"/>
            <a:ext cx="1031051" cy="246221"/>
          </a:xfrm>
          <a:prstGeom prst="rect">
            <a:avLst/>
          </a:prstGeom>
          <a:noFill/>
        </p:spPr>
        <p:txBody>
          <a:bodyPr wrap="none" rtlCol="0">
            <a:spAutoFit/>
          </a:bodyPr>
          <a:lstStyle/>
          <a:p>
            <a:r>
              <a:rPr lang="en-GB" sz="1000">
                <a:solidFill>
                  <a:schemeClr val="bg2"/>
                </a:solidFill>
                <a:latin typeface="Consolas" panose="020B0609020204030204" pitchFamily="49" charset="0"/>
              </a:rPr>
              <a:t>AFIO_EXTICR2</a:t>
            </a:r>
            <a:endParaRPr lang="LID4096" sz="1000">
              <a:solidFill>
                <a:schemeClr val="bg2"/>
              </a:solidFill>
              <a:latin typeface="Consolas" panose="020B0609020204030204" pitchFamily="49" charset="0"/>
            </a:endParaRPr>
          </a:p>
        </p:txBody>
      </p:sp>
      <p:sp>
        <p:nvSpPr>
          <p:cNvPr id="121" name="Rectangle 120">
            <a:extLst>
              <a:ext uri="{FF2B5EF4-FFF2-40B4-BE49-F238E27FC236}">
                <a16:creationId xmlns:a16="http://schemas.microsoft.com/office/drawing/2014/main" id="{A7FDAF22-6FD8-5C05-07B9-3EEE9632039C}"/>
              </a:ext>
            </a:extLst>
          </p:cNvPr>
          <p:cNvSpPr/>
          <p:nvPr/>
        </p:nvSpPr>
        <p:spPr>
          <a:xfrm>
            <a:off x="10802122" y="6420385"/>
            <a:ext cx="908134" cy="215444"/>
          </a:xfrm>
          <a:prstGeom prst="rect">
            <a:avLst/>
          </a:prstGeom>
          <a:gradFill>
            <a:gsLst>
              <a:gs pos="78900">
                <a:schemeClr val="bg1"/>
              </a:gs>
              <a:gs pos="0">
                <a:schemeClr val="accent1">
                  <a:lumMod val="5000"/>
                  <a:lumOff val="95000"/>
                  <a:alpha val="0"/>
                </a:schemeClr>
              </a:gs>
              <a:gs pos="100000">
                <a:schemeClr val="bg1"/>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122" name="Rectangle 121">
            <a:extLst>
              <a:ext uri="{FF2B5EF4-FFF2-40B4-BE49-F238E27FC236}">
                <a16:creationId xmlns:a16="http://schemas.microsoft.com/office/drawing/2014/main" id="{6ECF6A32-CCA4-BF8A-1618-0DA816F3DFEA}"/>
              </a:ext>
            </a:extLst>
          </p:cNvPr>
          <p:cNvSpPr/>
          <p:nvPr/>
        </p:nvSpPr>
        <p:spPr>
          <a:xfrm rot="10800000">
            <a:off x="10820558" y="1885826"/>
            <a:ext cx="908134" cy="215444"/>
          </a:xfrm>
          <a:prstGeom prst="rect">
            <a:avLst/>
          </a:prstGeom>
          <a:gradFill>
            <a:gsLst>
              <a:gs pos="78900">
                <a:schemeClr val="bg1"/>
              </a:gs>
              <a:gs pos="0">
                <a:schemeClr val="accent1">
                  <a:lumMod val="5000"/>
                  <a:lumOff val="95000"/>
                  <a:alpha val="0"/>
                </a:schemeClr>
              </a:gs>
              <a:gs pos="100000">
                <a:schemeClr val="bg1"/>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123" name="Rectangle 122">
            <a:extLst>
              <a:ext uri="{FF2B5EF4-FFF2-40B4-BE49-F238E27FC236}">
                <a16:creationId xmlns:a16="http://schemas.microsoft.com/office/drawing/2014/main" id="{750D1512-682D-D0F7-1123-86EDEFA2FBE8}"/>
              </a:ext>
            </a:extLst>
          </p:cNvPr>
          <p:cNvSpPr/>
          <p:nvPr/>
        </p:nvSpPr>
        <p:spPr>
          <a:xfrm rot="5400000">
            <a:off x="5819793" y="216258"/>
            <a:ext cx="1239500" cy="3109219"/>
          </a:xfrm>
          <a:prstGeom prst="rect">
            <a:avLst/>
          </a:prstGeom>
          <a:gradFill>
            <a:gsLst>
              <a:gs pos="78900">
                <a:schemeClr val="bg1"/>
              </a:gs>
              <a:gs pos="0">
                <a:schemeClr val="accent1">
                  <a:lumMod val="5000"/>
                  <a:lumOff val="95000"/>
                  <a:alpha val="0"/>
                </a:schemeClr>
              </a:gs>
              <a:gs pos="100000">
                <a:schemeClr val="bg1"/>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124" name="TextBox 123">
            <a:extLst>
              <a:ext uri="{FF2B5EF4-FFF2-40B4-BE49-F238E27FC236}">
                <a16:creationId xmlns:a16="http://schemas.microsoft.com/office/drawing/2014/main" id="{466335D0-C4C3-0321-78C4-F0B9B70FEF6F}"/>
              </a:ext>
            </a:extLst>
          </p:cNvPr>
          <p:cNvSpPr txBox="1"/>
          <p:nvPr/>
        </p:nvSpPr>
        <p:spPr>
          <a:xfrm>
            <a:off x="7345238" y="3059155"/>
            <a:ext cx="1236729" cy="3064563"/>
          </a:xfrm>
          <a:prstGeom prst="rect">
            <a:avLst/>
          </a:prstGeom>
          <a:solidFill>
            <a:schemeClr val="accent6">
              <a:lumMod val="40000"/>
              <a:lumOff val="60000"/>
            </a:schemeClr>
          </a:solidFill>
          <a:ln>
            <a:solidFill>
              <a:schemeClr val="accent6">
                <a:lumMod val="75000"/>
              </a:schemeClr>
            </a:solidFill>
          </a:ln>
        </p:spPr>
        <p:txBody>
          <a:bodyPr wrap="square" rtlCol="0">
            <a:noAutofit/>
          </a:bodyPr>
          <a:lstStyle/>
          <a:p>
            <a:pPr algn="ctr"/>
            <a:r>
              <a:rPr lang="en-US"/>
              <a:t>EXTI</a:t>
            </a:r>
            <a:br>
              <a:rPr lang="en-US"/>
            </a:br>
            <a:endParaRPr lang="en-US" sz="1050"/>
          </a:p>
        </p:txBody>
      </p:sp>
      <p:sp>
        <p:nvSpPr>
          <p:cNvPr id="125" name="TextBox 124">
            <a:extLst>
              <a:ext uri="{FF2B5EF4-FFF2-40B4-BE49-F238E27FC236}">
                <a16:creationId xmlns:a16="http://schemas.microsoft.com/office/drawing/2014/main" id="{1A7E4A85-2B3E-749D-6411-C8A836009A13}"/>
              </a:ext>
            </a:extLst>
          </p:cNvPr>
          <p:cNvSpPr txBox="1"/>
          <p:nvPr/>
        </p:nvSpPr>
        <p:spPr>
          <a:xfrm>
            <a:off x="7982968" y="3435239"/>
            <a:ext cx="593327" cy="2677656"/>
          </a:xfrm>
          <a:prstGeom prst="rect">
            <a:avLst/>
          </a:prstGeom>
          <a:noFill/>
        </p:spPr>
        <p:txBody>
          <a:bodyPr wrap="square">
            <a:spAutoFit/>
          </a:bodyPr>
          <a:lstStyle/>
          <a:p>
            <a:pPr algn="r"/>
            <a:r>
              <a:rPr lang="en-US" sz="1050"/>
              <a:t>EXTI0</a:t>
            </a:r>
            <a:br>
              <a:rPr lang="en-US" sz="1050"/>
            </a:br>
            <a:r>
              <a:rPr lang="en-US" sz="1050"/>
              <a:t>EXTI1</a:t>
            </a:r>
            <a:br>
              <a:rPr lang="en-US" sz="1050"/>
            </a:br>
            <a:r>
              <a:rPr lang="en-US" sz="1050"/>
              <a:t>EXTI2</a:t>
            </a:r>
            <a:br>
              <a:rPr lang="en-US" sz="1050"/>
            </a:br>
            <a:r>
              <a:rPr lang="en-US" sz="1050"/>
              <a:t>EXTI3</a:t>
            </a:r>
            <a:br>
              <a:rPr lang="en-US" sz="1050"/>
            </a:br>
            <a:r>
              <a:rPr lang="en-US" sz="1050"/>
              <a:t>EXTI4</a:t>
            </a:r>
          </a:p>
          <a:p>
            <a:pPr algn="r"/>
            <a:r>
              <a:rPr lang="en-US" sz="1050"/>
              <a:t>EXTI5</a:t>
            </a:r>
            <a:br>
              <a:rPr lang="en-US" sz="1050"/>
            </a:br>
            <a:r>
              <a:rPr lang="en-US" sz="1050"/>
              <a:t>EXTI6</a:t>
            </a:r>
            <a:br>
              <a:rPr lang="en-US" sz="1050"/>
            </a:br>
            <a:r>
              <a:rPr lang="en-US" sz="1050"/>
              <a:t>EXTI7</a:t>
            </a:r>
            <a:br>
              <a:rPr lang="en-US" sz="1050"/>
            </a:br>
            <a:r>
              <a:rPr lang="en-US" sz="1050"/>
              <a:t>EXTI8</a:t>
            </a:r>
            <a:br>
              <a:rPr lang="en-US" sz="1050"/>
            </a:br>
            <a:r>
              <a:rPr lang="en-US" sz="1050"/>
              <a:t>EXTI9</a:t>
            </a:r>
            <a:br>
              <a:rPr lang="en-US" sz="1050"/>
            </a:br>
            <a:r>
              <a:rPr lang="en-US" sz="1050"/>
              <a:t>EXTI10</a:t>
            </a:r>
            <a:br>
              <a:rPr lang="en-US" sz="1050"/>
            </a:br>
            <a:r>
              <a:rPr lang="en-US" sz="1050"/>
              <a:t>EXTI11</a:t>
            </a:r>
            <a:br>
              <a:rPr lang="en-US" sz="1050"/>
            </a:br>
            <a:r>
              <a:rPr lang="en-US" sz="1050"/>
              <a:t>EXTI12</a:t>
            </a:r>
            <a:br>
              <a:rPr lang="en-US" sz="1050"/>
            </a:br>
            <a:r>
              <a:rPr lang="en-US" sz="1050"/>
              <a:t>EXTI13</a:t>
            </a:r>
            <a:br>
              <a:rPr lang="en-US" sz="1050"/>
            </a:br>
            <a:r>
              <a:rPr lang="en-US" sz="1050"/>
              <a:t>EXTI14</a:t>
            </a:r>
            <a:br>
              <a:rPr lang="en-US" sz="1050"/>
            </a:br>
            <a:r>
              <a:rPr lang="en-US" sz="1050"/>
              <a:t>EXTI15</a:t>
            </a:r>
            <a:endParaRPr lang="LID4096" sz="3600" dirty="0"/>
          </a:p>
        </p:txBody>
      </p:sp>
      <p:sp>
        <p:nvSpPr>
          <p:cNvPr id="126" name="Freeform: Shape 125">
            <a:extLst>
              <a:ext uri="{FF2B5EF4-FFF2-40B4-BE49-F238E27FC236}">
                <a16:creationId xmlns:a16="http://schemas.microsoft.com/office/drawing/2014/main" id="{545155FB-0244-E2D3-9BE0-11C93332C5DA}"/>
              </a:ext>
            </a:extLst>
          </p:cNvPr>
          <p:cNvSpPr/>
          <p:nvPr/>
        </p:nvSpPr>
        <p:spPr>
          <a:xfrm>
            <a:off x="8591002" y="3615410"/>
            <a:ext cx="775982" cy="109057"/>
          </a:xfrm>
          <a:custGeom>
            <a:avLst/>
            <a:gdLst>
              <a:gd name="csX0" fmla="*/ 775982 w 775982"/>
              <a:gd name="csY0" fmla="*/ 0 h 109057"/>
              <a:gd name="csX1" fmla="*/ 515923 w 775982"/>
              <a:gd name="csY1" fmla="*/ 0 h 109057"/>
              <a:gd name="csX2" fmla="*/ 515923 w 775982"/>
              <a:gd name="csY2" fmla="*/ 109057 h 109057"/>
              <a:gd name="csX3" fmla="*/ 0 w 775982"/>
              <a:gd name="csY3" fmla="*/ 109057 h 109057"/>
            </a:gdLst>
            <a:ahLst/>
            <a:cxnLst>
              <a:cxn ang="0">
                <a:pos x="csX0" y="csY0"/>
              </a:cxn>
              <a:cxn ang="0">
                <a:pos x="csX1" y="csY1"/>
              </a:cxn>
              <a:cxn ang="0">
                <a:pos x="csX2" y="csY2"/>
              </a:cxn>
              <a:cxn ang="0">
                <a:pos x="csX3" y="csY3"/>
              </a:cxn>
            </a:cxnLst>
            <a:rect l="l" t="t" r="r" b="b"/>
            <a:pathLst>
              <a:path w="775982" h="109057">
                <a:moveTo>
                  <a:pt x="775982" y="0"/>
                </a:moveTo>
                <a:lnTo>
                  <a:pt x="515923" y="0"/>
                </a:lnTo>
                <a:lnTo>
                  <a:pt x="515923" y="109057"/>
                </a:lnTo>
                <a:lnTo>
                  <a:pt x="0" y="109057"/>
                </a:lnTo>
              </a:path>
            </a:pathLst>
          </a:custGeom>
          <a:noFill/>
          <a:ln w="50800">
            <a:solidFill>
              <a:schemeClr val="accent6">
                <a:lumMod val="75000"/>
              </a:schemeClr>
            </a:solidFill>
            <a:tailEnd type="triangle"/>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cxnSp>
        <p:nvCxnSpPr>
          <p:cNvPr id="127" name="Straight Arrow Connector 126">
            <a:extLst>
              <a:ext uri="{FF2B5EF4-FFF2-40B4-BE49-F238E27FC236}">
                <a16:creationId xmlns:a16="http://schemas.microsoft.com/office/drawing/2014/main" id="{B6B73908-35E1-ADF2-E8E0-25822F680B47}"/>
              </a:ext>
            </a:extLst>
          </p:cNvPr>
          <p:cNvCxnSpPr/>
          <p:nvPr/>
        </p:nvCxnSpPr>
        <p:spPr>
          <a:xfrm flipH="1">
            <a:off x="8582613" y="3871274"/>
            <a:ext cx="531213" cy="0"/>
          </a:xfrm>
          <a:prstGeom prst="straightConnector1">
            <a:avLst/>
          </a:prstGeom>
          <a:ln w="50800">
            <a:solidFill>
              <a:schemeClr val="bg2">
                <a:lumMod val="90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128" name="Straight Arrow Connector 127">
            <a:extLst>
              <a:ext uri="{FF2B5EF4-FFF2-40B4-BE49-F238E27FC236}">
                <a16:creationId xmlns:a16="http://schemas.microsoft.com/office/drawing/2014/main" id="{344D78B9-8A0D-5F93-B3FC-4989B6F51029}"/>
              </a:ext>
            </a:extLst>
          </p:cNvPr>
          <p:cNvCxnSpPr/>
          <p:nvPr/>
        </p:nvCxnSpPr>
        <p:spPr>
          <a:xfrm flipH="1">
            <a:off x="8582613" y="4025771"/>
            <a:ext cx="531213" cy="0"/>
          </a:xfrm>
          <a:prstGeom prst="straightConnector1">
            <a:avLst/>
          </a:prstGeom>
          <a:ln w="50800">
            <a:solidFill>
              <a:schemeClr val="bg2">
                <a:lumMod val="90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129" name="Straight Arrow Connector 128">
            <a:extLst>
              <a:ext uri="{FF2B5EF4-FFF2-40B4-BE49-F238E27FC236}">
                <a16:creationId xmlns:a16="http://schemas.microsoft.com/office/drawing/2014/main" id="{E3411699-1CD6-D638-5056-F62C540249F8}"/>
              </a:ext>
            </a:extLst>
          </p:cNvPr>
          <p:cNvCxnSpPr/>
          <p:nvPr/>
        </p:nvCxnSpPr>
        <p:spPr>
          <a:xfrm flipH="1">
            <a:off x="8579442" y="4201242"/>
            <a:ext cx="531213" cy="0"/>
          </a:xfrm>
          <a:prstGeom prst="straightConnector1">
            <a:avLst/>
          </a:prstGeom>
          <a:ln w="50800">
            <a:solidFill>
              <a:schemeClr val="bg2">
                <a:lumMod val="90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130" name="Straight Arrow Connector 129">
            <a:extLst>
              <a:ext uri="{FF2B5EF4-FFF2-40B4-BE49-F238E27FC236}">
                <a16:creationId xmlns:a16="http://schemas.microsoft.com/office/drawing/2014/main" id="{7C2FCB8B-842D-D023-B990-EE4C51780001}"/>
              </a:ext>
            </a:extLst>
          </p:cNvPr>
          <p:cNvCxnSpPr/>
          <p:nvPr/>
        </p:nvCxnSpPr>
        <p:spPr>
          <a:xfrm flipH="1">
            <a:off x="8579442" y="4362729"/>
            <a:ext cx="531213" cy="0"/>
          </a:xfrm>
          <a:prstGeom prst="straightConnector1">
            <a:avLst/>
          </a:prstGeom>
          <a:ln w="50800">
            <a:solidFill>
              <a:schemeClr val="bg2">
                <a:lumMod val="90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131" name="Straight Arrow Connector 130">
            <a:extLst>
              <a:ext uri="{FF2B5EF4-FFF2-40B4-BE49-F238E27FC236}">
                <a16:creationId xmlns:a16="http://schemas.microsoft.com/office/drawing/2014/main" id="{F32FF355-BC03-73D3-0483-A4145091279C}"/>
              </a:ext>
            </a:extLst>
          </p:cNvPr>
          <p:cNvCxnSpPr/>
          <p:nvPr/>
        </p:nvCxnSpPr>
        <p:spPr>
          <a:xfrm flipH="1">
            <a:off x="8579442" y="4521023"/>
            <a:ext cx="531213" cy="0"/>
          </a:xfrm>
          <a:prstGeom prst="straightConnector1">
            <a:avLst/>
          </a:prstGeom>
          <a:ln w="50800">
            <a:solidFill>
              <a:schemeClr val="bg2">
                <a:lumMod val="90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132" name="Straight Arrow Connector 131">
            <a:extLst>
              <a:ext uri="{FF2B5EF4-FFF2-40B4-BE49-F238E27FC236}">
                <a16:creationId xmlns:a16="http://schemas.microsoft.com/office/drawing/2014/main" id="{4637A418-36A8-9E31-BA71-43EF45D842BB}"/>
              </a:ext>
            </a:extLst>
          </p:cNvPr>
          <p:cNvCxnSpPr/>
          <p:nvPr/>
        </p:nvCxnSpPr>
        <p:spPr>
          <a:xfrm flipH="1">
            <a:off x="8579442" y="4684587"/>
            <a:ext cx="531213" cy="0"/>
          </a:xfrm>
          <a:prstGeom prst="straightConnector1">
            <a:avLst/>
          </a:prstGeom>
          <a:ln w="50800">
            <a:solidFill>
              <a:schemeClr val="bg2">
                <a:lumMod val="9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133" name="Rectangle 132">
            <a:extLst>
              <a:ext uri="{FF2B5EF4-FFF2-40B4-BE49-F238E27FC236}">
                <a16:creationId xmlns:a16="http://schemas.microsoft.com/office/drawing/2014/main" id="{64BF7373-65AD-7D75-3AE0-6E2F61CD5F53}"/>
              </a:ext>
            </a:extLst>
          </p:cNvPr>
          <p:cNvSpPr/>
          <p:nvPr/>
        </p:nvSpPr>
        <p:spPr>
          <a:xfrm>
            <a:off x="8591001" y="4150818"/>
            <a:ext cx="908134" cy="647781"/>
          </a:xfrm>
          <a:prstGeom prst="rect">
            <a:avLst/>
          </a:prstGeom>
          <a:gradFill>
            <a:gsLst>
              <a:gs pos="78900">
                <a:schemeClr val="bg1"/>
              </a:gs>
              <a:gs pos="0">
                <a:schemeClr val="accent1">
                  <a:lumMod val="5000"/>
                  <a:lumOff val="95000"/>
                  <a:alpha val="0"/>
                </a:schemeClr>
              </a:gs>
              <a:gs pos="100000">
                <a:schemeClr val="bg1"/>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134" name="TextBox 133">
            <a:extLst>
              <a:ext uri="{FF2B5EF4-FFF2-40B4-BE49-F238E27FC236}">
                <a16:creationId xmlns:a16="http://schemas.microsoft.com/office/drawing/2014/main" id="{BBF3D4C7-6B83-985D-320D-0A9C60894E94}"/>
              </a:ext>
            </a:extLst>
          </p:cNvPr>
          <p:cNvSpPr txBox="1"/>
          <p:nvPr/>
        </p:nvSpPr>
        <p:spPr>
          <a:xfrm>
            <a:off x="7336800" y="3435239"/>
            <a:ext cx="849594" cy="1223412"/>
          </a:xfrm>
          <a:prstGeom prst="rect">
            <a:avLst/>
          </a:prstGeom>
          <a:noFill/>
        </p:spPr>
        <p:txBody>
          <a:bodyPr wrap="square">
            <a:spAutoFit/>
          </a:bodyPr>
          <a:lstStyle/>
          <a:p>
            <a:r>
              <a:rPr lang="en-US" sz="1050"/>
              <a:t>EXTI0</a:t>
            </a:r>
            <a:br>
              <a:rPr lang="en-US" sz="1050"/>
            </a:br>
            <a:r>
              <a:rPr lang="en-US" sz="1050"/>
              <a:t>EXTI1</a:t>
            </a:r>
            <a:br>
              <a:rPr lang="en-US" sz="1050"/>
            </a:br>
            <a:r>
              <a:rPr lang="en-US" sz="1050"/>
              <a:t>EXTI2</a:t>
            </a:r>
            <a:br>
              <a:rPr lang="en-US" sz="1050"/>
            </a:br>
            <a:r>
              <a:rPr lang="en-US" sz="1050"/>
              <a:t>EXTI3</a:t>
            </a:r>
            <a:br>
              <a:rPr lang="en-US" sz="1050"/>
            </a:br>
            <a:r>
              <a:rPr lang="en-US" sz="1050"/>
              <a:t>EXTI4</a:t>
            </a:r>
          </a:p>
          <a:p>
            <a:r>
              <a:rPr lang="en-US" sz="1050"/>
              <a:t>EXTI5_9</a:t>
            </a:r>
            <a:br>
              <a:rPr lang="en-US" sz="1050"/>
            </a:br>
            <a:r>
              <a:rPr lang="en-US" sz="1050"/>
              <a:t>EXTI10_15</a:t>
            </a:r>
          </a:p>
        </p:txBody>
      </p:sp>
      <p:sp>
        <p:nvSpPr>
          <p:cNvPr id="135" name="TextBox 134">
            <a:extLst>
              <a:ext uri="{FF2B5EF4-FFF2-40B4-BE49-F238E27FC236}">
                <a16:creationId xmlns:a16="http://schemas.microsoft.com/office/drawing/2014/main" id="{D66EB868-075D-2ED9-8ED2-8A98C1130C02}"/>
              </a:ext>
            </a:extLst>
          </p:cNvPr>
          <p:cNvSpPr txBox="1"/>
          <p:nvPr/>
        </p:nvSpPr>
        <p:spPr>
          <a:xfrm>
            <a:off x="4025651" y="3050231"/>
            <a:ext cx="2535215" cy="1761580"/>
          </a:xfrm>
          <a:prstGeom prst="rect">
            <a:avLst/>
          </a:prstGeom>
          <a:solidFill>
            <a:schemeClr val="accent1">
              <a:lumMod val="60000"/>
              <a:lumOff val="40000"/>
            </a:schemeClr>
          </a:solidFill>
          <a:ln>
            <a:solidFill>
              <a:schemeClr val="tx2">
                <a:lumMod val="75000"/>
                <a:lumOff val="25000"/>
              </a:schemeClr>
            </a:solidFill>
          </a:ln>
        </p:spPr>
        <p:txBody>
          <a:bodyPr wrap="square" rtlCol="0">
            <a:noAutofit/>
          </a:bodyPr>
          <a:lstStyle/>
          <a:p>
            <a:pPr algn="ctr"/>
            <a:endParaRPr lang="en-US" sz="3600"/>
          </a:p>
          <a:p>
            <a:pPr algn="ctr"/>
            <a:r>
              <a:rPr lang="en-US" sz="3600"/>
              <a:t>PFIC</a:t>
            </a:r>
            <a:endParaRPr lang="LID4096" sz="6000" dirty="0"/>
          </a:p>
        </p:txBody>
      </p:sp>
      <p:pic>
        <p:nvPicPr>
          <p:cNvPr id="3" name="Picture 2">
            <a:extLst>
              <a:ext uri="{FF2B5EF4-FFF2-40B4-BE49-F238E27FC236}">
                <a16:creationId xmlns:a16="http://schemas.microsoft.com/office/drawing/2014/main" id="{8E35E196-9FEE-DEBE-35DA-347D25C0A4FA}"/>
              </a:ext>
            </a:extLst>
          </p:cNvPr>
          <p:cNvPicPr>
            <a:picLocks noChangeAspect="1"/>
          </p:cNvPicPr>
          <p:nvPr/>
        </p:nvPicPr>
        <p:blipFill>
          <a:blip r:embed="rId3"/>
          <a:stretch>
            <a:fillRect/>
          </a:stretch>
        </p:blipFill>
        <p:spPr>
          <a:xfrm>
            <a:off x="278232" y="5024147"/>
            <a:ext cx="3376395" cy="1532569"/>
          </a:xfrm>
          <a:prstGeom prst="rect">
            <a:avLst/>
          </a:prstGeom>
          <a:ln>
            <a:solidFill>
              <a:schemeClr val="tx1"/>
            </a:solidFill>
          </a:ln>
          <a:effectLst>
            <a:outerShdw blurRad="50800" dist="38100" dir="2700000" algn="tl" rotWithShape="0">
              <a:prstClr val="black">
                <a:alpha val="40000"/>
              </a:prstClr>
            </a:outerShdw>
          </a:effectLst>
        </p:spPr>
      </p:pic>
    </p:spTree>
    <p:extLst>
      <p:ext uri="{BB962C8B-B14F-4D97-AF65-F5344CB8AC3E}">
        <p14:creationId xmlns:p14="http://schemas.microsoft.com/office/powerpoint/2010/main" val="3441655148"/>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888551825"/>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BE10C52-4CE3-1E2D-31BF-988016D56906}"/>
              </a:ext>
            </a:extLst>
          </p:cNvPr>
          <p:cNvSpPr>
            <a:spLocks noGrp="1"/>
          </p:cNvSpPr>
          <p:nvPr>
            <p:ph type="title"/>
          </p:nvPr>
        </p:nvSpPr>
        <p:spPr/>
        <p:txBody>
          <a:bodyPr/>
          <a:lstStyle/>
          <a:p>
            <a:r>
              <a:rPr lang="en-US" dirty="0"/>
              <a:t>N</a:t>
            </a:r>
            <a:r>
              <a:rPr lang="sv-SE" dirty="0"/>
              <a:t>är skall vi fyra av ett </a:t>
            </a:r>
            <a:r>
              <a:rPr lang="sv-SE" dirty="0" err="1"/>
              <a:t>interrupt</a:t>
            </a:r>
            <a:r>
              <a:rPr lang="sv-SE" dirty="0"/>
              <a:t>? </a:t>
            </a:r>
            <a:br>
              <a:rPr lang="sv-SE" dirty="0"/>
            </a:br>
            <a:r>
              <a:rPr lang="sv-SE" sz="3200" dirty="0"/>
              <a:t>EXTI</a:t>
            </a:r>
            <a:endParaRPr lang="LID4096" dirty="0"/>
          </a:p>
        </p:txBody>
      </p:sp>
      <p:sp>
        <p:nvSpPr>
          <p:cNvPr id="4" name="TextBox 3">
            <a:extLst>
              <a:ext uri="{FF2B5EF4-FFF2-40B4-BE49-F238E27FC236}">
                <a16:creationId xmlns:a16="http://schemas.microsoft.com/office/drawing/2014/main" id="{C58A0204-461A-A655-1E0E-A9DBB81A890A}"/>
              </a:ext>
            </a:extLst>
          </p:cNvPr>
          <p:cNvSpPr txBox="1"/>
          <p:nvPr/>
        </p:nvSpPr>
        <p:spPr>
          <a:xfrm>
            <a:off x="2292728" y="1974294"/>
            <a:ext cx="8286434" cy="2584448"/>
          </a:xfrm>
          <a:prstGeom prst="rect">
            <a:avLst/>
          </a:prstGeom>
          <a:solidFill>
            <a:schemeClr val="accent6">
              <a:lumMod val="40000"/>
              <a:lumOff val="60000"/>
            </a:schemeClr>
          </a:solidFill>
          <a:ln>
            <a:solidFill>
              <a:schemeClr val="accent6">
                <a:lumMod val="75000"/>
              </a:schemeClr>
            </a:solidFill>
          </a:ln>
        </p:spPr>
        <p:txBody>
          <a:bodyPr wrap="square" rtlCol="0">
            <a:noAutofit/>
          </a:bodyPr>
          <a:lstStyle/>
          <a:p>
            <a:pPr algn="ctr"/>
            <a:r>
              <a:rPr lang="en-US"/>
              <a:t>EXTI</a:t>
            </a:r>
            <a:br>
              <a:rPr lang="en-US"/>
            </a:br>
            <a:endParaRPr lang="en-US" sz="1050"/>
          </a:p>
        </p:txBody>
      </p:sp>
      <p:sp>
        <p:nvSpPr>
          <p:cNvPr id="5" name="TextBox 4">
            <a:extLst>
              <a:ext uri="{FF2B5EF4-FFF2-40B4-BE49-F238E27FC236}">
                <a16:creationId xmlns:a16="http://schemas.microsoft.com/office/drawing/2014/main" id="{020B0A5D-1919-D9B7-5ECC-0B62331FA4A3}"/>
              </a:ext>
            </a:extLst>
          </p:cNvPr>
          <p:cNvSpPr txBox="1"/>
          <p:nvPr/>
        </p:nvSpPr>
        <p:spPr>
          <a:xfrm>
            <a:off x="9985835" y="3280885"/>
            <a:ext cx="593327" cy="1223412"/>
          </a:xfrm>
          <a:prstGeom prst="rect">
            <a:avLst/>
          </a:prstGeom>
          <a:noFill/>
        </p:spPr>
        <p:txBody>
          <a:bodyPr wrap="square">
            <a:spAutoFit/>
          </a:bodyPr>
          <a:lstStyle/>
          <a:p>
            <a:pPr algn="r"/>
            <a:r>
              <a:rPr lang="en-US" sz="1050"/>
              <a:t>EXTI0</a:t>
            </a:r>
            <a:br>
              <a:rPr lang="en-US" sz="1050"/>
            </a:br>
            <a:r>
              <a:rPr lang="en-US" sz="1050" b="1"/>
              <a:t>EXTI1</a:t>
            </a:r>
            <a:br>
              <a:rPr lang="en-US" sz="1050" b="1"/>
            </a:br>
            <a:r>
              <a:rPr lang="en-US" sz="1050"/>
              <a:t>EXTI2</a:t>
            </a:r>
            <a:br>
              <a:rPr lang="en-US" sz="1050"/>
            </a:br>
            <a:r>
              <a:rPr lang="en-US" sz="1050"/>
              <a:t>EXTI3</a:t>
            </a:r>
            <a:br>
              <a:rPr lang="en-US" sz="1050"/>
            </a:br>
            <a:r>
              <a:rPr lang="en-US" sz="1050"/>
              <a:t>EXTI4</a:t>
            </a:r>
          </a:p>
          <a:p>
            <a:pPr algn="r"/>
            <a:r>
              <a:rPr lang="en-US" sz="1050"/>
              <a:t>EXTI5</a:t>
            </a:r>
          </a:p>
          <a:p>
            <a:pPr algn="ctr"/>
            <a:r>
              <a:rPr lang="en-US" sz="1050"/>
              <a:t>...</a:t>
            </a:r>
            <a:endParaRPr lang="LID4096" sz="3600" dirty="0"/>
          </a:p>
        </p:txBody>
      </p:sp>
      <p:cxnSp>
        <p:nvCxnSpPr>
          <p:cNvPr id="6" name="Straight Arrow Connector 5">
            <a:extLst>
              <a:ext uri="{FF2B5EF4-FFF2-40B4-BE49-F238E27FC236}">
                <a16:creationId xmlns:a16="http://schemas.microsoft.com/office/drawing/2014/main" id="{C09A549B-1EC9-ABA2-CF5F-C6192D8CCD5B}"/>
              </a:ext>
            </a:extLst>
          </p:cNvPr>
          <p:cNvCxnSpPr/>
          <p:nvPr/>
        </p:nvCxnSpPr>
        <p:spPr>
          <a:xfrm flipH="1">
            <a:off x="10679040" y="3415557"/>
            <a:ext cx="531213" cy="0"/>
          </a:xfrm>
          <a:prstGeom prst="straightConnector1">
            <a:avLst/>
          </a:prstGeom>
          <a:ln w="50800">
            <a:solidFill>
              <a:schemeClr val="bg2">
                <a:lumMod val="90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7" name="Straight Arrow Connector 6">
            <a:extLst>
              <a:ext uri="{FF2B5EF4-FFF2-40B4-BE49-F238E27FC236}">
                <a16:creationId xmlns:a16="http://schemas.microsoft.com/office/drawing/2014/main" id="{64F3DA8D-C072-E50D-0EBC-1088778AAA47}"/>
              </a:ext>
            </a:extLst>
          </p:cNvPr>
          <p:cNvCxnSpPr/>
          <p:nvPr/>
        </p:nvCxnSpPr>
        <p:spPr>
          <a:xfrm flipH="1">
            <a:off x="10679040" y="3570054"/>
            <a:ext cx="531213" cy="0"/>
          </a:xfrm>
          <a:prstGeom prst="straightConnector1">
            <a:avLst/>
          </a:prstGeom>
          <a:ln w="50800">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8" name="Straight Arrow Connector 7">
            <a:extLst>
              <a:ext uri="{FF2B5EF4-FFF2-40B4-BE49-F238E27FC236}">
                <a16:creationId xmlns:a16="http://schemas.microsoft.com/office/drawing/2014/main" id="{DFA58A58-882E-2E04-8C17-FFBC71911ABF}"/>
              </a:ext>
            </a:extLst>
          </p:cNvPr>
          <p:cNvCxnSpPr/>
          <p:nvPr/>
        </p:nvCxnSpPr>
        <p:spPr>
          <a:xfrm flipH="1">
            <a:off x="10675869" y="3745525"/>
            <a:ext cx="531213" cy="0"/>
          </a:xfrm>
          <a:prstGeom prst="straightConnector1">
            <a:avLst/>
          </a:prstGeom>
          <a:ln w="50800">
            <a:solidFill>
              <a:schemeClr val="bg2">
                <a:lumMod val="90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9" name="Straight Arrow Connector 8">
            <a:extLst>
              <a:ext uri="{FF2B5EF4-FFF2-40B4-BE49-F238E27FC236}">
                <a16:creationId xmlns:a16="http://schemas.microsoft.com/office/drawing/2014/main" id="{295B38B6-309F-E0F1-FDF7-9C7CB750CB33}"/>
              </a:ext>
            </a:extLst>
          </p:cNvPr>
          <p:cNvCxnSpPr/>
          <p:nvPr/>
        </p:nvCxnSpPr>
        <p:spPr>
          <a:xfrm flipH="1">
            <a:off x="10675869" y="3907012"/>
            <a:ext cx="531213" cy="0"/>
          </a:xfrm>
          <a:prstGeom prst="straightConnector1">
            <a:avLst/>
          </a:prstGeom>
          <a:ln w="50800">
            <a:solidFill>
              <a:schemeClr val="bg2">
                <a:lumMod val="90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10" name="Straight Arrow Connector 9">
            <a:extLst>
              <a:ext uri="{FF2B5EF4-FFF2-40B4-BE49-F238E27FC236}">
                <a16:creationId xmlns:a16="http://schemas.microsoft.com/office/drawing/2014/main" id="{FE488E5D-17A3-B66D-CCF2-B4CA619082E9}"/>
              </a:ext>
            </a:extLst>
          </p:cNvPr>
          <p:cNvCxnSpPr/>
          <p:nvPr/>
        </p:nvCxnSpPr>
        <p:spPr>
          <a:xfrm flipH="1">
            <a:off x="10675869" y="4065306"/>
            <a:ext cx="531213" cy="0"/>
          </a:xfrm>
          <a:prstGeom prst="straightConnector1">
            <a:avLst/>
          </a:prstGeom>
          <a:ln w="50800">
            <a:solidFill>
              <a:schemeClr val="bg2">
                <a:lumMod val="90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11" name="Straight Arrow Connector 10">
            <a:extLst>
              <a:ext uri="{FF2B5EF4-FFF2-40B4-BE49-F238E27FC236}">
                <a16:creationId xmlns:a16="http://schemas.microsoft.com/office/drawing/2014/main" id="{75A9DAC9-9658-FEBC-73FF-D45F63132E73}"/>
              </a:ext>
            </a:extLst>
          </p:cNvPr>
          <p:cNvCxnSpPr/>
          <p:nvPr/>
        </p:nvCxnSpPr>
        <p:spPr>
          <a:xfrm flipH="1">
            <a:off x="10675869" y="4228870"/>
            <a:ext cx="531213" cy="0"/>
          </a:xfrm>
          <a:prstGeom prst="straightConnector1">
            <a:avLst/>
          </a:prstGeom>
          <a:ln w="50800">
            <a:solidFill>
              <a:schemeClr val="bg2">
                <a:lumMod val="9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12" name="Rectangle 11">
            <a:extLst>
              <a:ext uri="{FF2B5EF4-FFF2-40B4-BE49-F238E27FC236}">
                <a16:creationId xmlns:a16="http://schemas.microsoft.com/office/drawing/2014/main" id="{005B0882-62B8-32D2-B25A-3FA43A138223}"/>
              </a:ext>
            </a:extLst>
          </p:cNvPr>
          <p:cNvSpPr/>
          <p:nvPr/>
        </p:nvSpPr>
        <p:spPr>
          <a:xfrm>
            <a:off x="10687428" y="3695101"/>
            <a:ext cx="908134" cy="647781"/>
          </a:xfrm>
          <a:prstGeom prst="rect">
            <a:avLst/>
          </a:prstGeom>
          <a:gradFill>
            <a:gsLst>
              <a:gs pos="78900">
                <a:schemeClr val="bg1"/>
              </a:gs>
              <a:gs pos="0">
                <a:schemeClr val="accent1">
                  <a:lumMod val="5000"/>
                  <a:lumOff val="95000"/>
                  <a:alpha val="0"/>
                </a:schemeClr>
              </a:gs>
              <a:gs pos="100000">
                <a:schemeClr val="bg1"/>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13" name="TextBox 12">
            <a:extLst>
              <a:ext uri="{FF2B5EF4-FFF2-40B4-BE49-F238E27FC236}">
                <a16:creationId xmlns:a16="http://schemas.microsoft.com/office/drawing/2014/main" id="{4155BD40-C628-1068-48C8-0179BCA152D9}"/>
              </a:ext>
            </a:extLst>
          </p:cNvPr>
          <p:cNvSpPr txBox="1"/>
          <p:nvPr/>
        </p:nvSpPr>
        <p:spPr>
          <a:xfrm>
            <a:off x="2281169" y="3114769"/>
            <a:ext cx="849594" cy="1223412"/>
          </a:xfrm>
          <a:prstGeom prst="rect">
            <a:avLst/>
          </a:prstGeom>
          <a:noFill/>
        </p:spPr>
        <p:txBody>
          <a:bodyPr wrap="square">
            <a:spAutoFit/>
          </a:bodyPr>
          <a:lstStyle/>
          <a:p>
            <a:r>
              <a:rPr lang="en-US" sz="1050"/>
              <a:t>EXTI0</a:t>
            </a:r>
            <a:br>
              <a:rPr lang="en-US" sz="1050"/>
            </a:br>
            <a:r>
              <a:rPr lang="en-US" sz="1050" b="1"/>
              <a:t>EXTI1</a:t>
            </a:r>
            <a:br>
              <a:rPr lang="en-US" sz="1050"/>
            </a:br>
            <a:r>
              <a:rPr lang="en-US" sz="1050"/>
              <a:t>EXTI2</a:t>
            </a:r>
            <a:br>
              <a:rPr lang="en-US" sz="1050"/>
            </a:br>
            <a:r>
              <a:rPr lang="en-US" sz="1050"/>
              <a:t>EXTI3</a:t>
            </a:r>
            <a:br>
              <a:rPr lang="en-US" sz="1050"/>
            </a:br>
            <a:r>
              <a:rPr lang="en-US" sz="1050"/>
              <a:t>EXTI4</a:t>
            </a:r>
          </a:p>
          <a:p>
            <a:r>
              <a:rPr lang="en-US" sz="1050"/>
              <a:t>EXTI5_9</a:t>
            </a:r>
            <a:br>
              <a:rPr lang="en-US" sz="1050"/>
            </a:br>
            <a:r>
              <a:rPr lang="en-US" sz="1050"/>
              <a:t>EXTI10_15</a:t>
            </a:r>
          </a:p>
        </p:txBody>
      </p:sp>
      <p:sp>
        <p:nvSpPr>
          <p:cNvPr id="14" name="TextBox 13">
            <a:extLst>
              <a:ext uri="{FF2B5EF4-FFF2-40B4-BE49-F238E27FC236}">
                <a16:creationId xmlns:a16="http://schemas.microsoft.com/office/drawing/2014/main" id="{72679A2A-BE2F-366C-7072-39D7A7FED962}"/>
              </a:ext>
            </a:extLst>
          </p:cNvPr>
          <p:cNvSpPr txBox="1"/>
          <p:nvPr/>
        </p:nvSpPr>
        <p:spPr>
          <a:xfrm rot="16200000">
            <a:off x="188771" y="2956314"/>
            <a:ext cx="2584447" cy="620410"/>
          </a:xfrm>
          <a:prstGeom prst="rect">
            <a:avLst/>
          </a:prstGeom>
          <a:solidFill>
            <a:schemeClr val="accent1">
              <a:lumMod val="60000"/>
              <a:lumOff val="40000"/>
            </a:schemeClr>
          </a:solidFill>
          <a:ln>
            <a:solidFill>
              <a:schemeClr val="tx2">
                <a:lumMod val="75000"/>
                <a:lumOff val="25000"/>
              </a:schemeClr>
            </a:solidFill>
          </a:ln>
        </p:spPr>
        <p:txBody>
          <a:bodyPr wrap="square" rtlCol="0">
            <a:noAutofit/>
          </a:bodyPr>
          <a:lstStyle/>
          <a:p>
            <a:pPr algn="ctr"/>
            <a:r>
              <a:rPr lang="en-US" sz="3600"/>
              <a:t>PFIC</a:t>
            </a:r>
            <a:endParaRPr lang="LID4096" sz="6000" dirty="0"/>
          </a:p>
        </p:txBody>
      </p:sp>
      <p:sp>
        <p:nvSpPr>
          <p:cNvPr id="15" name="TextBox 14">
            <a:extLst>
              <a:ext uri="{FF2B5EF4-FFF2-40B4-BE49-F238E27FC236}">
                <a16:creationId xmlns:a16="http://schemas.microsoft.com/office/drawing/2014/main" id="{D0C53D76-DCC4-F0C7-2475-6C115B8211D0}"/>
              </a:ext>
            </a:extLst>
          </p:cNvPr>
          <p:cNvSpPr txBox="1"/>
          <p:nvPr/>
        </p:nvSpPr>
        <p:spPr>
          <a:xfrm>
            <a:off x="7828729" y="3412504"/>
            <a:ext cx="1676228" cy="276999"/>
          </a:xfrm>
          <a:prstGeom prst="rect">
            <a:avLst/>
          </a:prstGeom>
          <a:solidFill>
            <a:schemeClr val="bg1"/>
          </a:solidFill>
          <a:ln>
            <a:solidFill>
              <a:schemeClr val="tx1"/>
            </a:solidFill>
          </a:ln>
        </p:spPr>
        <p:txBody>
          <a:bodyPr wrap="none" rtlCol="0">
            <a:spAutoFit/>
          </a:bodyPr>
          <a:lstStyle/>
          <a:p>
            <a:r>
              <a:rPr lang="en-GB" sz="1200"/>
              <a:t>Edge Detection Circuit</a:t>
            </a:r>
            <a:endParaRPr lang="LID4096" sz="1200"/>
          </a:p>
        </p:txBody>
      </p:sp>
      <p:sp>
        <p:nvSpPr>
          <p:cNvPr id="16" name="TextBox 15">
            <a:extLst>
              <a:ext uri="{FF2B5EF4-FFF2-40B4-BE49-F238E27FC236}">
                <a16:creationId xmlns:a16="http://schemas.microsoft.com/office/drawing/2014/main" id="{F394F068-9FC5-C999-2789-5213ED7FAAAB}"/>
              </a:ext>
            </a:extLst>
          </p:cNvPr>
          <p:cNvSpPr txBox="1"/>
          <p:nvPr/>
        </p:nvSpPr>
        <p:spPr>
          <a:xfrm>
            <a:off x="8714848" y="2433626"/>
            <a:ext cx="889987" cy="246221"/>
          </a:xfrm>
          <a:prstGeom prst="rect">
            <a:avLst/>
          </a:prstGeom>
          <a:solidFill>
            <a:schemeClr val="tx1">
              <a:lumMod val="50000"/>
              <a:lumOff val="50000"/>
            </a:schemeClr>
          </a:solidFill>
          <a:ln>
            <a:solidFill>
              <a:schemeClr val="tx1"/>
            </a:solidFill>
          </a:ln>
        </p:spPr>
        <p:txBody>
          <a:bodyPr wrap="none" rtlCol="0">
            <a:spAutoFit/>
          </a:bodyPr>
          <a:lstStyle/>
          <a:p>
            <a:r>
              <a:rPr lang="en-GB" sz="1000">
                <a:solidFill>
                  <a:schemeClr val="bg2"/>
                </a:solidFill>
                <a:latin typeface="Consolas" panose="020B0609020204030204" pitchFamily="49" charset="0"/>
              </a:rPr>
              <a:t>EXTI_FTENR</a:t>
            </a:r>
            <a:endParaRPr lang="LID4096" sz="1000">
              <a:solidFill>
                <a:schemeClr val="bg2"/>
              </a:solidFill>
              <a:latin typeface="Consolas" panose="020B0609020204030204" pitchFamily="49" charset="0"/>
            </a:endParaRPr>
          </a:p>
        </p:txBody>
      </p:sp>
      <p:sp>
        <p:nvSpPr>
          <p:cNvPr id="17" name="TextBox 16">
            <a:extLst>
              <a:ext uri="{FF2B5EF4-FFF2-40B4-BE49-F238E27FC236}">
                <a16:creationId xmlns:a16="http://schemas.microsoft.com/office/drawing/2014/main" id="{5B1E722D-F550-0ABF-B4C0-F4E3CE5EAA22}"/>
              </a:ext>
            </a:extLst>
          </p:cNvPr>
          <p:cNvSpPr txBox="1"/>
          <p:nvPr/>
        </p:nvSpPr>
        <p:spPr>
          <a:xfrm>
            <a:off x="8714848" y="2679847"/>
            <a:ext cx="889987" cy="338554"/>
          </a:xfrm>
          <a:prstGeom prst="rect">
            <a:avLst/>
          </a:prstGeom>
          <a:solidFill>
            <a:schemeClr val="bg1"/>
          </a:solidFill>
          <a:ln>
            <a:solidFill>
              <a:schemeClr val="tx1"/>
            </a:solidFill>
          </a:ln>
        </p:spPr>
        <p:txBody>
          <a:bodyPr wrap="square" rtlCol="0">
            <a:spAutoFit/>
          </a:bodyPr>
          <a:lstStyle/>
          <a:p>
            <a:pPr algn="ctr"/>
            <a:r>
              <a:rPr lang="en-GB" sz="800" i="1"/>
              <a:t>Falling trigger enable register</a:t>
            </a:r>
            <a:endParaRPr lang="LID4096" sz="800" i="1"/>
          </a:p>
        </p:txBody>
      </p:sp>
      <p:sp>
        <p:nvSpPr>
          <p:cNvPr id="18" name="TextBox 17">
            <a:extLst>
              <a:ext uri="{FF2B5EF4-FFF2-40B4-BE49-F238E27FC236}">
                <a16:creationId xmlns:a16="http://schemas.microsoft.com/office/drawing/2014/main" id="{C0B27AC2-BB55-91CD-55A5-67CC3E939DB4}"/>
              </a:ext>
            </a:extLst>
          </p:cNvPr>
          <p:cNvSpPr txBox="1"/>
          <p:nvPr/>
        </p:nvSpPr>
        <p:spPr>
          <a:xfrm>
            <a:off x="7694768" y="2430145"/>
            <a:ext cx="889987" cy="246221"/>
          </a:xfrm>
          <a:prstGeom prst="rect">
            <a:avLst/>
          </a:prstGeom>
          <a:solidFill>
            <a:schemeClr val="tx1">
              <a:lumMod val="50000"/>
              <a:lumOff val="50000"/>
            </a:schemeClr>
          </a:solidFill>
          <a:ln>
            <a:solidFill>
              <a:schemeClr val="tx1"/>
            </a:solidFill>
          </a:ln>
        </p:spPr>
        <p:txBody>
          <a:bodyPr wrap="none" rtlCol="0">
            <a:spAutoFit/>
          </a:bodyPr>
          <a:lstStyle/>
          <a:p>
            <a:r>
              <a:rPr lang="en-GB" sz="1000">
                <a:solidFill>
                  <a:schemeClr val="bg2"/>
                </a:solidFill>
                <a:latin typeface="Consolas" panose="020B0609020204030204" pitchFamily="49" charset="0"/>
              </a:rPr>
              <a:t>EXTI_RTENR</a:t>
            </a:r>
            <a:endParaRPr lang="LID4096" sz="1000">
              <a:solidFill>
                <a:schemeClr val="bg2"/>
              </a:solidFill>
              <a:latin typeface="Consolas" panose="020B0609020204030204" pitchFamily="49" charset="0"/>
            </a:endParaRPr>
          </a:p>
        </p:txBody>
      </p:sp>
      <p:sp>
        <p:nvSpPr>
          <p:cNvPr id="19" name="TextBox 18">
            <a:extLst>
              <a:ext uri="{FF2B5EF4-FFF2-40B4-BE49-F238E27FC236}">
                <a16:creationId xmlns:a16="http://schemas.microsoft.com/office/drawing/2014/main" id="{2E419F12-6290-D0A7-5DC3-48A68277CCB7}"/>
              </a:ext>
            </a:extLst>
          </p:cNvPr>
          <p:cNvSpPr txBox="1"/>
          <p:nvPr/>
        </p:nvSpPr>
        <p:spPr>
          <a:xfrm>
            <a:off x="7694768" y="2676366"/>
            <a:ext cx="889987" cy="338554"/>
          </a:xfrm>
          <a:prstGeom prst="rect">
            <a:avLst/>
          </a:prstGeom>
          <a:solidFill>
            <a:schemeClr val="bg1"/>
          </a:solidFill>
          <a:ln>
            <a:solidFill>
              <a:schemeClr val="tx1"/>
            </a:solidFill>
          </a:ln>
        </p:spPr>
        <p:txBody>
          <a:bodyPr wrap="square" rtlCol="0">
            <a:spAutoFit/>
          </a:bodyPr>
          <a:lstStyle/>
          <a:p>
            <a:pPr algn="ctr"/>
            <a:r>
              <a:rPr lang="en-GB" sz="800" i="1"/>
              <a:t>Rising trigger enable register</a:t>
            </a:r>
            <a:endParaRPr lang="LID4096" sz="800" i="1"/>
          </a:p>
        </p:txBody>
      </p:sp>
      <p:sp>
        <p:nvSpPr>
          <p:cNvPr id="20" name="TextBox 19">
            <a:extLst>
              <a:ext uri="{FF2B5EF4-FFF2-40B4-BE49-F238E27FC236}">
                <a16:creationId xmlns:a16="http://schemas.microsoft.com/office/drawing/2014/main" id="{99DD3557-B4D6-CFFC-34DC-BCF61031EE28}"/>
              </a:ext>
            </a:extLst>
          </p:cNvPr>
          <p:cNvSpPr txBox="1"/>
          <p:nvPr/>
        </p:nvSpPr>
        <p:spPr>
          <a:xfrm>
            <a:off x="6513668" y="2428521"/>
            <a:ext cx="960519" cy="246221"/>
          </a:xfrm>
          <a:prstGeom prst="rect">
            <a:avLst/>
          </a:prstGeom>
          <a:solidFill>
            <a:schemeClr val="tx1">
              <a:lumMod val="50000"/>
              <a:lumOff val="50000"/>
            </a:schemeClr>
          </a:solidFill>
          <a:ln>
            <a:solidFill>
              <a:schemeClr val="tx1"/>
            </a:solidFill>
          </a:ln>
        </p:spPr>
        <p:txBody>
          <a:bodyPr wrap="none" rtlCol="0">
            <a:spAutoFit/>
          </a:bodyPr>
          <a:lstStyle/>
          <a:p>
            <a:r>
              <a:rPr lang="en-GB" sz="1000">
                <a:solidFill>
                  <a:schemeClr val="bg2"/>
                </a:solidFill>
                <a:latin typeface="Consolas" panose="020B0609020204030204" pitchFamily="49" charset="0"/>
              </a:rPr>
              <a:t>EXTI_SWIEVR</a:t>
            </a:r>
            <a:endParaRPr lang="LID4096" sz="1000">
              <a:solidFill>
                <a:schemeClr val="bg2"/>
              </a:solidFill>
              <a:latin typeface="Consolas" panose="020B0609020204030204" pitchFamily="49" charset="0"/>
            </a:endParaRPr>
          </a:p>
        </p:txBody>
      </p:sp>
      <p:sp>
        <p:nvSpPr>
          <p:cNvPr id="21" name="TextBox 20">
            <a:extLst>
              <a:ext uri="{FF2B5EF4-FFF2-40B4-BE49-F238E27FC236}">
                <a16:creationId xmlns:a16="http://schemas.microsoft.com/office/drawing/2014/main" id="{2DF87D7D-BF13-0D4B-E0B9-D2DC10BD21DD}"/>
              </a:ext>
            </a:extLst>
          </p:cNvPr>
          <p:cNvSpPr txBox="1"/>
          <p:nvPr/>
        </p:nvSpPr>
        <p:spPr>
          <a:xfrm>
            <a:off x="6513668" y="2674742"/>
            <a:ext cx="960519" cy="461665"/>
          </a:xfrm>
          <a:prstGeom prst="rect">
            <a:avLst/>
          </a:prstGeom>
          <a:solidFill>
            <a:schemeClr val="bg1"/>
          </a:solidFill>
          <a:ln>
            <a:solidFill>
              <a:schemeClr val="tx1"/>
            </a:solidFill>
          </a:ln>
        </p:spPr>
        <p:txBody>
          <a:bodyPr wrap="square" rtlCol="0">
            <a:spAutoFit/>
          </a:bodyPr>
          <a:lstStyle/>
          <a:p>
            <a:pPr algn="ctr"/>
            <a:r>
              <a:rPr lang="en-GB" sz="800" i="1" dirty="0"/>
              <a:t>Software Interrupt Event Register</a:t>
            </a:r>
            <a:endParaRPr lang="LID4096" sz="800" i="1" dirty="0"/>
          </a:p>
        </p:txBody>
      </p:sp>
      <p:sp>
        <p:nvSpPr>
          <p:cNvPr id="22" name="TextBox 21">
            <a:extLst>
              <a:ext uri="{FF2B5EF4-FFF2-40B4-BE49-F238E27FC236}">
                <a16:creationId xmlns:a16="http://schemas.microsoft.com/office/drawing/2014/main" id="{E91BD466-F811-7FA4-F339-FF299D9FB685}"/>
              </a:ext>
            </a:extLst>
          </p:cNvPr>
          <p:cNvSpPr txBox="1"/>
          <p:nvPr/>
        </p:nvSpPr>
        <p:spPr>
          <a:xfrm>
            <a:off x="5087107" y="2427014"/>
            <a:ext cx="960519" cy="246221"/>
          </a:xfrm>
          <a:prstGeom prst="rect">
            <a:avLst/>
          </a:prstGeom>
          <a:solidFill>
            <a:schemeClr val="tx1">
              <a:lumMod val="50000"/>
              <a:lumOff val="50000"/>
            </a:schemeClr>
          </a:solidFill>
          <a:ln>
            <a:solidFill>
              <a:schemeClr val="tx1"/>
            </a:solidFill>
          </a:ln>
        </p:spPr>
        <p:txBody>
          <a:bodyPr wrap="none" rtlCol="0">
            <a:spAutoFit/>
          </a:bodyPr>
          <a:lstStyle/>
          <a:p>
            <a:r>
              <a:rPr lang="en-GB" sz="1000">
                <a:solidFill>
                  <a:schemeClr val="bg2"/>
                </a:solidFill>
                <a:latin typeface="Consolas" panose="020B0609020204030204" pitchFamily="49" charset="0"/>
              </a:rPr>
              <a:t>EXTI_INTENR</a:t>
            </a:r>
            <a:endParaRPr lang="LID4096" sz="1000">
              <a:solidFill>
                <a:schemeClr val="bg2"/>
              </a:solidFill>
              <a:latin typeface="Consolas" panose="020B0609020204030204" pitchFamily="49" charset="0"/>
            </a:endParaRPr>
          </a:p>
        </p:txBody>
      </p:sp>
      <p:sp>
        <p:nvSpPr>
          <p:cNvPr id="23" name="TextBox 22">
            <a:extLst>
              <a:ext uri="{FF2B5EF4-FFF2-40B4-BE49-F238E27FC236}">
                <a16:creationId xmlns:a16="http://schemas.microsoft.com/office/drawing/2014/main" id="{123061B0-2E42-AB86-8316-E912CC417DE9}"/>
              </a:ext>
            </a:extLst>
          </p:cNvPr>
          <p:cNvSpPr txBox="1"/>
          <p:nvPr/>
        </p:nvSpPr>
        <p:spPr>
          <a:xfrm>
            <a:off x="5087107" y="2673235"/>
            <a:ext cx="960519" cy="338554"/>
          </a:xfrm>
          <a:prstGeom prst="rect">
            <a:avLst/>
          </a:prstGeom>
          <a:solidFill>
            <a:schemeClr val="bg1"/>
          </a:solidFill>
          <a:ln>
            <a:solidFill>
              <a:schemeClr val="tx1"/>
            </a:solidFill>
          </a:ln>
        </p:spPr>
        <p:txBody>
          <a:bodyPr wrap="square" rtlCol="0">
            <a:spAutoFit/>
          </a:bodyPr>
          <a:lstStyle/>
          <a:p>
            <a:pPr algn="ctr"/>
            <a:r>
              <a:rPr lang="en-GB" sz="800" i="1"/>
              <a:t>Interrupt Enable Register</a:t>
            </a:r>
            <a:endParaRPr lang="LID4096" sz="800" i="1"/>
          </a:p>
        </p:txBody>
      </p:sp>
      <p:sp>
        <p:nvSpPr>
          <p:cNvPr id="24" name="TextBox 23">
            <a:extLst>
              <a:ext uri="{FF2B5EF4-FFF2-40B4-BE49-F238E27FC236}">
                <a16:creationId xmlns:a16="http://schemas.microsoft.com/office/drawing/2014/main" id="{6959A318-6E61-29BE-EB07-B66A0BCE986E}"/>
              </a:ext>
            </a:extLst>
          </p:cNvPr>
          <p:cNvSpPr txBox="1"/>
          <p:nvPr/>
        </p:nvSpPr>
        <p:spPr>
          <a:xfrm>
            <a:off x="3345376" y="3110922"/>
            <a:ext cx="889987" cy="246221"/>
          </a:xfrm>
          <a:prstGeom prst="rect">
            <a:avLst/>
          </a:prstGeom>
          <a:solidFill>
            <a:schemeClr val="tx1">
              <a:lumMod val="50000"/>
              <a:lumOff val="50000"/>
            </a:schemeClr>
          </a:solidFill>
          <a:ln>
            <a:solidFill>
              <a:schemeClr val="tx1"/>
            </a:solidFill>
          </a:ln>
        </p:spPr>
        <p:txBody>
          <a:bodyPr wrap="none" rtlCol="0">
            <a:spAutoFit/>
          </a:bodyPr>
          <a:lstStyle/>
          <a:p>
            <a:r>
              <a:rPr lang="en-GB" sz="1000">
                <a:solidFill>
                  <a:schemeClr val="bg2"/>
                </a:solidFill>
                <a:latin typeface="Consolas" panose="020B0609020204030204" pitchFamily="49" charset="0"/>
              </a:rPr>
              <a:t>EXTI_INTFR</a:t>
            </a:r>
            <a:endParaRPr lang="LID4096" sz="1000">
              <a:solidFill>
                <a:schemeClr val="bg2"/>
              </a:solidFill>
              <a:latin typeface="Consolas" panose="020B0609020204030204" pitchFamily="49" charset="0"/>
            </a:endParaRPr>
          </a:p>
        </p:txBody>
      </p:sp>
      <p:cxnSp>
        <p:nvCxnSpPr>
          <p:cNvPr id="25" name="Straight Connector 24">
            <a:extLst>
              <a:ext uri="{FF2B5EF4-FFF2-40B4-BE49-F238E27FC236}">
                <a16:creationId xmlns:a16="http://schemas.microsoft.com/office/drawing/2014/main" id="{230EE3A7-4C6F-5838-CDD5-B3646B653407}"/>
              </a:ext>
            </a:extLst>
          </p:cNvPr>
          <p:cNvCxnSpPr>
            <a:cxnSpLocks/>
          </p:cNvCxnSpPr>
          <p:nvPr/>
        </p:nvCxnSpPr>
        <p:spPr>
          <a:xfrm flipH="1">
            <a:off x="9504957" y="3553247"/>
            <a:ext cx="547155" cy="0"/>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6" name="Straight Connector 25">
            <a:extLst>
              <a:ext uri="{FF2B5EF4-FFF2-40B4-BE49-F238E27FC236}">
                <a16:creationId xmlns:a16="http://schemas.microsoft.com/office/drawing/2014/main" id="{9EE986D7-2734-D264-BE9B-3192C7648639}"/>
              </a:ext>
            </a:extLst>
          </p:cNvPr>
          <p:cNvCxnSpPr>
            <a:cxnSpLocks/>
          </p:cNvCxnSpPr>
          <p:nvPr/>
        </p:nvCxnSpPr>
        <p:spPr>
          <a:xfrm flipV="1">
            <a:off x="9131362" y="3018401"/>
            <a:ext cx="0" cy="394103"/>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72D5FB52-2072-C59B-BA5A-A803948EFD58}"/>
              </a:ext>
            </a:extLst>
          </p:cNvPr>
          <p:cNvCxnSpPr>
            <a:cxnSpLocks/>
          </p:cNvCxnSpPr>
          <p:nvPr/>
        </p:nvCxnSpPr>
        <p:spPr>
          <a:xfrm flipV="1">
            <a:off x="8160867" y="3009166"/>
            <a:ext cx="0" cy="394103"/>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8" name="Straight Connector 27">
            <a:extLst>
              <a:ext uri="{FF2B5EF4-FFF2-40B4-BE49-F238E27FC236}">
                <a16:creationId xmlns:a16="http://schemas.microsoft.com/office/drawing/2014/main" id="{3944351C-C74B-AD49-A8DF-758C01ECF805}"/>
              </a:ext>
            </a:extLst>
          </p:cNvPr>
          <p:cNvCxnSpPr>
            <a:cxnSpLocks/>
          </p:cNvCxnSpPr>
          <p:nvPr/>
        </p:nvCxnSpPr>
        <p:spPr>
          <a:xfrm flipH="1">
            <a:off x="6583563" y="3593873"/>
            <a:ext cx="1245166" cy="0"/>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9" name="Connector: Elbow 28">
            <a:extLst>
              <a:ext uri="{FF2B5EF4-FFF2-40B4-BE49-F238E27FC236}">
                <a16:creationId xmlns:a16="http://schemas.microsoft.com/office/drawing/2014/main" id="{08BF4A76-B9EC-3EA4-A8B2-FFE4F9B7D0C5}"/>
              </a:ext>
            </a:extLst>
          </p:cNvPr>
          <p:cNvCxnSpPr>
            <a:stCxn id="21" idx="2"/>
          </p:cNvCxnSpPr>
          <p:nvPr/>
        </p:nvCxnSpPr>
        <p:spPr>
          <a:xfrm rot="5400000">
            <a:off x="6614154" y="3105817"/>
            <a:ext cx="349185" cy="410365"/>
          </a:xfrm>
          <a:prstGeom prst="bentConnector2">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30" name="Connector: Elbow 29">
            <a:extLst>
              <a:ext uri="{FF2B5EF4-FFF2-40B4-BE49-F238E27FC236}">
                <a16:creationId xmlns:a16="http://schemas.microsoft.com/office/drawing/2014/main" id="{C50BF422-6275-8700-1FA2-59BD28CFD82D}"/>
              </a:ext>
            </a:extLst>
          </p:cNvPr>
          <p:cNvCxnSpPr>
            <a:stCxn id="23" idx="2"/>
            <a:endCxn id="32" idx="3"/>
          </p:cNvCxnSpPr>
          <p:nvPr/>
        </p:nvCxnSpPr>
        <p:spPr>
          <a:xfrm rot="5400000">
            <a:off x="5327338" y="3139340"/>
            <a:ext cx="367580" cy="112479"/>
          </a:xfrm>
          <a:prstGeom prst="bentConnector2">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31" name="Straight Connector 30">
            <a:extLst>
              <a:ext uri="{FF2B5EF4-FFF2-40B4-BE49-F238E27FC236}">
                <a16:creationId xmlns:a16="http://schemas.microsoft.com/office/drawing/2014/main" id="{5C75663D-2B9C-0469-E831-027176595422}"/>
              </a:ext>
            </a:extLst>
          </p:cNvPr>
          <p:cNvCxnSpPr>
            <a:cxnSpLocks/>
          </p:cNvCxnSpPr>
          <p:nvPr/>
        </p:nvCxnSpPr>
        <p:spPr>
          <a:xfrm flipH="1">
            <a:off x="5181663" y="3492273"/>
            <a:ext cx="1008288" cy="0"/>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sp>
        <p:nvSpPr>
          <p:cNvPr id="32" name="TextBox 31">
            <a:extLst>
              <a:ext uri="{FF2B5EF4-FFF2-40B4-BE49-F238E27FC236}">
                <a16:creationId xmlns:a16="http://schemas.microsoft.com/office/drawing/2014/main" id="{DD2C1174-C0BD-C308-E678-F327585D39BA}"/>
              </a:ext>
            </a:extLst>
          </p:cNvPr>
          <p:cNvSpPr txBox="1"/>
          <p:nvPr/>
        </p:nvSpPr>
        <p:spPr>
          <a:xfrm>
            <a:off x="5114730" y="3194703"/>
            <a:ext cx="340158" cy="369332"/>
          </a:xfrm>
          <a:prstGeom prst="rect">
            <a:avLst/>
          </a:prstGeom>
          <a:solidFill>
            <a:schemeClr val="bg1"/>
          </a:solidFill>
          <a:ln>
            <a:solidFill>
              <a:schemeClr val="tx1"/>
            </a:solidFill>
          </a:ln>
        </p:spPr>
        <p:txBody>
          <a:bodyPr wrap="none" rtlCol="0">
            <a:spAutoFit/>
          </a:bodyPr>
          <a:lstStyle/>
          <a:p>
            <a:r>
              <a:rPr lang="en-GB" b="1"/>
              <a:t>&amp;</a:t>
            </a:r>
            <a:endParaRPr lang="LID4096"/>
          </a:p>
        </p:txBody>
      </p:sp>
      <p:sp>
        <p:nvSpPr>
          <p:cNvPr id="33" name="TextBox 32">
            <a:extLst>
              <a:ext uri="{FF2B5EF4-FFF2-40B4-BE49-F238E27FC236}">
                <a16:creationId xmlns:a16="http://schemas.microsoft.com/office/drawing/2014/main" id="{E857FDBB-AABE-1308-EA49-4E98FA7421C0}"/>
              </a:ext>
            </a:extLst>
          </p:cNvPr>
          <p:cNvSpPr txBox="1"/>
          <p:nvPr/>
        </p:nvSpPr>
        <p:spPr>
          <a:xfrm>
            <a:off x="6152035" y="3357143"/>
            <a:ext cx="431528" cy="369332"/>
          </a:xfrm>
          <a:prstGeom prst="rect">
            <a:avLst/>
          </a:prstGeom>
          <a:solidFill>
            <a:schemeClr val="bg1"/>
          </a:solidFill>
          <a:ln>
            <a:solidFill>
              <a:schemeClr val="tx1"/>
            </a:solidFill>
          </a:ln>
        </p:spPr>
        <p:txBody>
          <a:bodyPr wrap="none" rtlCol="0">
            <a:spAutoFit/>
          </a:bodyPr>
          <a:lstStyle/>
          <a:p>
            <a:r>
              <a:rPr lang="en-SE" b="1"/>
              <a:t>≥</a:t>
            </a:r>
            <a:r>
              <a:rPr lang="en-GB"/>
              <a:t>1</a:t>
            </a:r>
            <a:endParaRPr lang="LID4096"/>
          </a:p>
        </p:txBody>
      </p:sp>
      <p:cxnSp>
        <p:nvCxnSpPr>
          <p:cNvPr id="34" name="Straight Arrow Connector 33">
            <a:extLst>
              <a:ext uri="{FF2B5EF4-FFF2-40B4-BE49-F238E27FC236}">
                <a16:creationId xmlns:a16="http://schemas.microsoft.com/office/drawing/2014/main" id="{882126B4-0A69-1415-28D5-382490FA9E3E}"/>
              </a:ext>
            </a:extLst>
          </p:cNvPr>
          <p:cNvCxnSpPr/>
          <p:nvPr/>
        </p:nvCxnSpPr>
        <p:spPr>
          <a:xfrm flipH="1">
            <a:off x="1761515" y="3396507"/>
            <a:ext cx="531213" cy="0"/>
          </a:xfrm>
          <a:prstGeom prst="straightConnector1">
            <a:avLst/>
          </a:prstGeom>
          <a:ln w="50800">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35" name="Straight Connector 34">
            <a:extLst>
              <a:ext uri="{FF2B5EF4-FFF2-40B4-BE49-F238E27FC236}">
                <a16:creationId xmlns:a16="http://schemas.microsoft.com/office/drawing/2014/main" id="{8EFBEDB8-9631-E6A7-86AA-985B522D374C}"/>
              </a:ext>
            </a:extLst>
          </p:cNvPr>
          <p:cNvCxnSpPr>
            <a:cxnSpLocks/>
          </p:cNvCxnSpPr>
          <p:nvPr/>
        </p:nvCxnSpPr>
        <p:spPr>
          <a:xfrm flipH="1">
            <a:off x="4859675" y="3299474"/>
            <a:ext cx="255055" cy="0"/>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sp>
        <p:nvSpPr>
          <p:cNvPr id="36" name="TextBox 35">
            <a:extLst>
              <a:ext uri="{FF2B5EF4-FFF2-40B4-BE49-F238E27FC236}">
                <a16:creationId xmlns:a16="http://schemas.microsoft.com/office/drawing/2014/main" id="{E1D978BE-4B97-F074-2F63-48A76B649A03}"/>
              </a:ext>
            </a:extLst>
          </p:cNvPr>
          <p:cNvSpPr txBox="1"/>
          <p:nvPr/>
        </p:nvSpPr>
        <p:spPr>
          <a:xfrm>
            <a:off x="4470283" y="3194703"/>
            <a:ext cx="431528" cy="369332"/>
          </a:xfrm>
          <a:prstGeom prst="rect">
            <a:avLst/>
          </a:prstGeom>
          <a:solidFill>
            <a:schemeClr val="bg1"/>
          </a:solidFill>
          <a:ln>
            <a:solidFill>
              <a:schemeClr val="tx1"/>
            </a:solidFill>
          </a:ln>
        </p:spPr>
        <p:txBody>
          <a:bodyPr wrap="none" rtlCol="0">
            <a:spAutoFit/>
          </a:bodyPr>
          <a:lstStyle/>
          <a:p>
            <a:r>
              <a:rPr lang="en-SE" b="1"/>
              <a:t>≥</a:t>
            </a:r>
            <a:r>
              <a:rPr lang="en-GB"/>
              <a:t>1</a:t>
            </a:r>
            <a:endParaRPr lang="LID4096"/>
          </a:p>
        </p:txBody>
      </p:sp>
      <p:sp>
        <p:nvSpPr>
          <p:cNvPr id="37" name="Freeform: Shape 36">
            <a:extLst>
              <a:ext uri="{FF2B5EF4-FFF2-40B4-BE49-F238E27FC236}">
                <a16:creationId xmlns:a16="http://schemas.microsoft.com/office/drawing/2014/main" id="{0398090F-6397-5EB4-6B7F-62D96A30ED5E}"/>
              </a:ext>
            </a:extLst>
          </p:cNvPr>
          <p:cNvSpPr/>
          <p:nvPr/>
        </p:nvSpPr>
        <p:spPr>
          <a:xfrm>
            <a:off x="2762312" y="3396692"/>
            <a:ext cx="577850" cy="0"/>
          </a:xfrm>
          <a:custGeom>
            <a:avLst/>
            <a:gdLst>
              <a:gd name="csX0" fmla="*/ 577850 w 577850"/>
              <a:gd name="csY0" fmla="*/ 0 h 0"/>
              <a:gd name="csX1" fmla="*/ 0 w 577850"/>
              <a:gd name="csY1" fmla="*/ 0 h 0"/>
            </a:gdLst>
            <a:ahLst/>
            <a:cxnLst>
              <a:cxn ang="0">
                <a:pos x="csX0" y="csY0"/>
              </a:cxn>
              <a:cxn ang="0">
                <a:pos x="csX1" y="csY1"/>
              </a:cxn>
            </a:cxnLst>
            <a:rect l="l" t="t" r="r" b="b"/>
            <a:pathLst>
              <a:path w="577850">
                <a:moveTo>
                  <a:pt x="577850" y="0"/>
                </a:moveTo>
                <a:lnTo>
                  <a:pt x="0" y="0"/>
                </a:lnTo>
              </a:path>
            </a:pathLst>
          </a:custGeom>
          <a:noFill/>
          <a:ln>
            <a:solidFill>
              <a:schemeClr val="tx1"/>
            </a:solidFill>
            <a:tailEnd type="triangle"/>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38" name="Freeform: Shape 37">
            <a:extLst>
              <a:ext uri="{FF2B5EF4-FFF2-40B4-BE49-F238E27FC236}">
                <a16:creationId xmlns:a16="http://schemas.microsoft.com/office/drawing/2014/main" id="{F741F997-3D6C-4E54-C5AB-DD1BE880819D}"/>
              </a:ext>
            </a:extLst>
          </p:cNvPr>
          <p:cNvSpPr/>
          <p:nvPr/>
        </p:nvSpPr>
        <p:spPr>
          <a:xfrm>
            <a:off x="3200462" y="3403042"/>
            <a:ext cx="1835150" cy="488950"/>
          </a:xfrm>
          <a:custGeom>
            <a:avLst/>
            <a:gdLst>
              <a:gd name="csX0" fmla="*/ 0 w 1835150"/>
              <a:gd name="csY0" fmla="*/ 0 h 488950"/>
              <a:gd name="csX1" fmla="*/ 0 w 1835150"/>
              <a:gd name="csY1" fmla="*/ 488950 h 488950"/>
              <a:gd name="csX2" fmla="*/ 1835150 w 1835150"/>
              <a:gd name="csY2" fmla="*/ 488950 h 488950"/>
              <a:gd name="csX3" fmla="*/ 1835150 w 1835150"/>
              <a:gd name="csY3" fmla="*/ 82550 h 488950"/>
              <a:gd name="csX4" fmla="*/ 1708150 w 1835150"/>
              <a:gd name="csY4" fmla="*/ 82550 h 488950"/>
            </a:gdLst>
            <a:ahLst/>
            <a:cxnLst>
              <a:cxn ang="0">
                <a:pos x="csX0" y="csY0"/>
              </a:cxn>
              <a:cxn ang="0">
                <a:pos x="csX1" y="csY1"/>
              </a:cxn>
              <a:cxn ang="0">
                <a:pos x="csX2" y="csY2"/>
              </a:cxn>
              <a:cxn ang="0">
                <a:pos x="csX3" y="csY3"/>
              </a:cxn>
              <a:cxn ang="0">
                <a:pos x="csX4" y="csY4"/>
              </a:cxn>
            </a:cxnLst>
            <a:rect l="l" t="t" r="r" b="b"/>
            <a:pathLst>
              <a:path w="1835150" h="488950">
                <a:moveTo>
                  <a:pt x="0" y="0"/>
                </a:moveTo>
                <a:lnTo>
                  <a:pt x="0" y="488950"/>
                </a:lnTo>
                <a:lnTo>
                  <a:pt x="1835150" y="488950"/>
                </a:lnTo>
                <a:lnTo>
                  <a:pt x="1835150" y="82550"/>
                </a:lnTo>
                <a:lnTo>
                  <a:pt x="1708150" y="82550"/>
                </a:lnTo>
              </a:path>
            </a:pathLst>
          </a:custGeom>
          <a:noFill/>
          <a:ln>
            <a:tailEnd type="triangle"/>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cxnSp>
        <p:nvCxnSpPr>
          <p:cNvPr id="39" name="Straight Arrow Connector 38">
            <a:extLst>
              <a:ext uri="{FF2B5EF4-FFF2-40B4-BE49-F238E27FC236}">
                <a16:creationId xmlns:a16="http://schemas.microsoft.com/office/drawing/2014/main" id="{9E690E20-E287-EF14-4F57-8EE785E57F69}"/>
              </a:ext>
            </a:extLst>
          </p:cNvPr>
          <p:cNvCxnSpPr>
            <a:cxnSpLocks/>
            <a:stCxn id="36" idx="1"/>
          </p:cNvCxnSpPr>
          <p:nvPr/>
        </p:nvCxnSpPr>
        <p:spPr>
          <a:xfrm flipH="1">
            <a:off x="4235363" y="3379369"/>
            <a:ext cx="234920" cy="0"/>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40" name="TextBox 39">
            <a:extLst>
              <a:ext uri="{FF2B5EF4-FFF2-40B4-BE49-F238E27FC236}">
                <a16:creationId xmlns:a16="http://schemas.microsoft.com/office/drawing/2014/main" id="{6FEC0FCB-F1EF-F38B-3E84-04896681CB56}"/>
              </a:ext>
            </a:extLst>
          </p:cNvPr>
          <p:cNvSpPr txBox="1"/>
          <p:nvPr/>
        </p:nvSpPr>
        <p:spPr>
          <a:xfrm>
            <a:off x="3345376" y="3357143"/>
            <a:ext cx="889987" cy="338554"/>
          </a:xfrm>
          <a:prstGeom prst="rect">
            <a:avLst/>
          </a:prstGeom>
          <a:solidFill>
            <a:schemeClr val="bg1"/>
          </a:solidFill>
          <a:ln>
            <a:solidFill>
              <a:schemeClr val="tx1"/>
            </a:solidFill>
          </a:ln>
        </p:spPr>
        <p:txBody>
          <a:bodyPr wrap="square" rtlCol="0">
            <a:spAutoFit/>
          </a:bodyPr>
          <a:lstStyle/>
          <a:p>
            <a:pPr algn="ctr"/>
            <a:r>
              <a:rPr lang="en-GB" sz="800" i="1"/>
              <a:t>Interrupt Flag Register</a:t>
            </a:r>
            <a:endParaRPr lang="LID4096" sz="800" i="1"/>
          </a:p>
        </p:txBody>
      </p:sp>
      <p:sp>
        <p:nvSpPr>
          <p:cNvPr id="41" name="TextBox 40">
            <a:extLst>
              <a:ext uri="{FF2B5EF4-FFF2-40B4-BE49-F238E27FC236}">
                <a16:creationId xmlns:a16="http://schemas.microsoft.com/office/drawing/2014/main" id="{44BFD08A-6A80-7BD5-9D63-7E9DF7010063}"/>
              </a:ext>
            </a:extLst>
          </p:cNvPr>
          <p:cNvSpPr txBox="1"/>
          <p:nvPr/>
        </p:nvSpPr>
        <p:spPr>
          <a:xfrm>
            <a:off x="3345376" y="2649258"/>
            <a:ext cx="889987" cy="338554"/>
          </a:xfrm>
          <a:prstGeom prst="rect">
            <a:avLst/>
          </a:prstGeom>
          <a:noFill/>
          <a:ln>
            <a:noFill/>
          </a:ln>
        </p:spPr>
        <p:txBody>
          <a:bodyPr wrap="square" rtlCol="0">
            <a:spAutoFit/>
          </a:bodyPr>
          <a:lstStyle/>
          <a:p>
            <a:pPr algn="ctr"/>
            <a:r>
              <a:rPr lang="en-GB" sz="800" i="1" dirty="0"/>
              <a:t>Only reset from software</a:t>
            </a:r>
            <a:endParaRPr lang="LID4096" sz="800" i="1" dirty="0"/>
          </a:p>
        </p:txBody>
      </p:sp>
      <p:cxnSp>
        <p:nvCxnSpPr>
          <p:cNvPr id="42" name="Straight Arrow Connector 41">
            <a:extLst>
              <a:ext uri="{FF2B5EF4-FFF2-40B4-BE49-F238E27FC236}">
                <a16:creationId xmlns:a16="http://schemas.microsoft.com/office/drawing/2014/main" id="{ACB660B3-5B91-4085-44F1-73D2D637813E}"/>
              </a:ext>
            </a:extLst>
          </p:cNvPr>
          <p:cNvCxnSpPr>
            <a:cxnSpLocks/>
          </p:cNvCxnSpPr>
          <p:nvPr/>
        </p:nvCxnSpPr>
        <p:spPr>
          <a:xfrm>
            <a:off x="3792649" y="2953919"/>
            <a:ext cx="0" cy="152400"/>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grpSp>
        <p:nvGrpSpPr>
          <p:cNvPr id="51" name="Group 50">
            <a:extLst>
              <a:ext uri="{FF2B5EF4-FFF2-40B4-BE49-F238E27FC236}">
                <a16:creationId xmlns:a16="http://schemas.microsoft.com/office/drawing/2014/main" id="{E7B6E226-2060-0BF4-69EE-FEB1E91A8E1C}"/>
              </a:ext>
            </a:extLst>
          </p:cNvPr>
          <p:cNvGrpSpPr/>
          <p:nvPr/>
        </p:nvGrpSpPr>
        <p:grpSpPr>
          <a:xfrm>
            <a:off x="7142444" y="3717874"/>
            <a:ext cx="889987" cy="473454"/>
            <a:chOff x="7142444" y="3717874"/>
            <a:chExt cx="889987" cy="473454"/>
          </a:xfrm>
        </p:grpSpPr>
        <p:sp>
          <p:nvSpPr>
            <p:cNvPr id="43" name="Freeform: Shape 42">
              <a:extLst>
                <a:ext uri="{FF2B5EF4-FFF2-40B4-BE49-F238E27FC236}">
                  <a16:creationId xmlns:a16="http://schemas.microsoft.com/office/drawing/2014/main" id="{36048FA8-A646-B79D-2D7A-B19AF0CF0EAA}"/>
                </a:ext>
              </a:extLst>
            </p:cNvPr>
            <p:cNvSpPr/>
            <p:nvPr/>
          </p:nvSpPr>
          <p:spPr>
            <a:xfrm>
              <a:off x="7474187" y="3717874"/>
              <a:ext cx="226503" cy="247475"/>
            </a:xfrm>
            <a:custGeom>
              <a:avLst/>
              <a:gdLst>
                <a:gd name="csX0" fmla="*/ 0 w 226503"/>
                <a:gd name="csY0" fmla="*/ 247475 h 247475"/>
                <a:gd name="csX1" fmla="*/ 83890 w 226503"/>
                <a:gd name="csY1" fmla="*/ 247475 h 247475"/>
                <a:gd name="csX2" fmla="*/ 83890 w 226503"/>
                <a:gd name="csY2" fmla="*/ 0 h 247475"/>
                <a:gd name="csX3" fmla="*/ 146808 w 226503"/>
                <a:gd name="csY3" fmla="*/ 0 h 247475"/>
                <a:gd name="csX4" fmla="*/ 146808 w 226503"/>
                <a:gd name="csY4" fmla="*/ 247475 h 247475"/>
                <a:gd name="csX5" fmla="*/ 226503 w 226503"/>
                <a:gd name="csY5" fmla="*/ 247475 h 247475"/>
              </a:gdLst>
              <a:ahLst/>
              <a:cxnLst>
                <a:cxn ang="0">
                  <a:pos x="csX0" y="csY0"/>
                </a:cxn>
                <a:cxn ang="0">
                  <a:pos x="csX1" y="csY1"/>
                </a:cxn>
                <a:cxn ang="0">
                  <a:pos x="csX2" y="csY2"/>
                </a:cxn>
                <a:cxn ang="0">
                  <a:pos x="csX3" y="csY3"/>
                </a:cxn>
                <a:cxn ang="0">
                  <a:pos x="csX4" y="csY4"/>
                </a:cxn>
                <a:cxn ang="0">
                  <a:pos x="csX5" y="csY5"/>
                </a:cxn>
              </a:cxnLst>
              <a:rect l="l" t="t" r="r" b="b"/>
              <a:pathLst>
                <a:path w="226503" h="247475">
                  <a:moveTo>
                    <a:pt x="0" y="247475"/>
                  </a:moveTo>
                  <a:lnTo>
                    <a:pt x="83890" y="247475"/>
                  </a:lnTo>
                  <a:lnTo>
                    <a:pt x="83890" y="0"/>
                  </a:lnTo>
                  <a:lnTo>
                    <a:pt x="146808" y="0"/>
                  </a:lnTo>
                  <a:lnTo>
                    <a:pt x="146808" y="247475"/>
                  </a:lnTo>
                  <a:lnTo>
                    <a:pt x="226503" y="247475"/>
                  </a:lnTo>
                </a:path>
              </a:pathLst>
            </a:custGeom>
            <a:no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cxnSp>
          <p:nvCxnSpPr>
            <p:cNvPr id="44" name="Straight Connector 43">
              <a:extLst>
                <a:ext uri="{FF2B5EF4-FFF2-40B4-BE49-F238E27FC236}">
                  <a16:creationId xmlns:a16="http://schemas.microsoft.com/office/drawing/2014/main" id="{F750A217-4CA9-BB25-57B7-B95F3D5AED7B}"/>
                </a:ext>
              </a:extLst>
            </p:cNvPr>
            <p:cNvCxnSpPr>
              <a:cxnSpLocks/>
            </p:cNvCxnSpPr>
            <p:nvPr/>
          </p:nvCxnSpPr>
          <p:spPr>
            <a:xfrm flipH="1" flipV="1">
              <a:off x="7313757" y="3965044"/>
              <a:ext cx="139457" cy="305"/>
            </a:xfrm>
            <a:prstGeom prst="line">
              <a:avLst/>
            </a:prstGeom>
            <a:ln w="12700">
              <a:solidFill>
                <a:schemeClr val="tx1"/>
              </a:solidFill>
              <a:prstDash val="sysDot"/>
            </a:ln>
          </p:spPr>
          <p:style>
            <a:lnRef idx="2">
              <a:schemeClr val="accent1"/>
            </a:lnRef>
            <a:fillRef idx="0">
              <a:schemeClr val="accent1"/>
            </a:fillRef>
            <a:effectRef idx="1">
              <a:schemeClr val="accent1"/>
            </a:effectRef>
            <a:fontRef idx="minor">
              <a:schemeClr val="tx1"/>
            </a:fontRef>
          </p:style>
        </p:cxnSp>
        <p:cxnSp>
          <p:nvCxnSpPr>
            <p:cNvPr id="45" name="Straight Connector 44">
              <a:extLst>
                <a:ext uri="{FF2B5EF4-FFF2-40B4-BE49-F238E27FC236}">
                  <a16:creationId xmlns:a16="http://schemas.microsoft.com/office/drawing/2014/main" id="{D78CB11D-3DB5-CE7B-106A-1A47811E06DB}"/>
                </a:ext>
              </a:extLst>
            </p:cNvPr>
            <p:cNvCxnSpPr>
              <a:cxnSpLocks/>
            </p:cNvCxnSpPr>
            <p:nvPr/>
          </p:nvCxnSpPr>
          <p:spPr>
            <a:xfrm flipH="1" flipV="1">
              <a:off x="7718923" y="3965044"/>
              <a:ext cx="139457" cy="305"/>
            </a:xfrm>
            <a:prstGeom prst="line">
              <a:avLst/>
            </a:prstGeom>
            <a:ln w="12700">
              <a:solidFill>
                <a:schemeClr val="tx1"/>
              </a:solidFill>
              <a:prstDash val="sysDot"/>
            </a:ln>
          </p:spPr>
          <p:style>
            <a:lnRef idx="2">
              <a:schemeClr val="accent1"/>
            </a:lnRef>
            <a:fillRef idx="0">
              <a:schemeClr val="accent1"/>
            </a:fillRef>
            <a:effectRef idx="1">
              <a:schemeClr val="accent1"/>
            </a:effectRef>
            <a:fontRef idx="minor">
              <a:schemeClr val="tx1"/>
            </a:fontRef>
          </p:style>
        </p:cxnSp>
        <p:sp>
          <p:nvSpPr>
            <p:cNvPr id="46" name="TextBox 45">
              <a:extLst>
                <a:ext uri="{FF2B5EF4-FFF2-40B4-BE49-F238E27FC236}">
                  <a16:creationId xmlns:a16="http://schemas.microsoft.com/office/drawing/2014/main" id="{5106E7DB-57FF-0354-EA49-14711E32A3F2}"/>
                </a:ext>
              </a:extLst>
            </p:cNvPr>
            <p:cNvSpPr txBox="1"/>
            <p:nvPr/>
          </p:nvSpPr>
          <p:spPr>
            <a:xfrm>
              <a:off x="7142444" y="3975884"/>
              <a:ext cx="889987" cy="215444"/>
            </a:xfrm>
            <a:prstGeom prst="rect">
              <a:avLst/>
            </a:prstGeom>
            <a:noFill/>
            <a:ln>
              <a:noFill/>
            </a:ln>
          </p:spPr>
          <p:txBody>
            <a:bodyPr wrap="square" rtlCol="0">
              <a:spAutoFit/>
            </a:bodyPr>
            <a:lstStyle/>
            <a:p>
              <a:pPr algn="ctr"/>
              <a:r>
                <a:rPr lang="en-GB" sz="800" i="1"/>
                <a:t>pulse</a:t>
              </a:r>
              <a:endParaRPr lang="LID4096" sz="800" i="1"/>
            </a:p>
          </p:txBody>
        </p:sp>
      </p:grpSp>
      <p:pic>
        <p:nvPicPr>
          <p:cNvPr id="50" name="Picture 49">
            <a:extLst>
              <a:ext uri="{FF2B5EF4-FFF2-40B4-BE49-F238E27FC236}">
                <a16:creationId xmlns:a16="http://schemas.microsoft.com/office/drawing/2014/main" id="{9C172361-886F-EEF7-56AE-E77EBD6AEE3A}"/>
              </a:ext>
            </a:extLst>
          </p:cNvPr>
          <p:cNvPicPr>
            <a:picLocks noChangeAspect="1"/>
          </p:cNvPicPr>
          <p:nvPr/>
        </p:nvPicPr>
        <p:blipFill>
          <a:blip r:embed="rId3"/>
          <a:stretch>
            <a:fillRect/>
          </a:stretch>
        </p:blipFill>
        <p:spPr>
          <a:xfrm>
            <a:off x="3128429" y="4785891"/>
            <a:ext cx="6031412" cy="1890758"/>
          </a:xfrm>
          <a:prstGeom prst="rect">
            <a:avLst/>
          </a:prstGeom>
        </p:spPr>
      </p:pic>
      <p:grpSp>
        <p:nvGrpSpPr>
          <p:cNvPr id="52" name="Group 51">
            <a:extLst>
              <a:ext uri="{FF2B5EF4-FFF2-40B4-BE49-F238E27FC236}">
                <a16:creationId xmlns:a16="http://schemas.microsoft.com/office/drawing/2014/main" id="{97E09799-949A-790A-386C-0237FDEDD1B8}"/>
              </a:ext>
            </a:extLst>
          </p:cNvPr>
          <p:cNvGrpSpPr/>
          <p:nvPr/>
        </p:nvGrpSpPr>
        <p:grpSpPr>
          <a:xfrm>
            <a:off x="6674413" y="3196268"/>
            <a:ext cx="293603" cy="133412"/>
            <a:chOff x="7313757" y="3717874"/>
            <a:chExt cx="544623" cy="247475"/>
          </a:xfrm>
        </p:grpSpPr>
        <p:sp>
          <p:nvSpPr>
            <p:cNvPr id="53" name="Freeform: Shape 52">
              <a:extLst>
                <a:ext uri="{FF2B5EF4-FFF2-40B4-BE49-F238E27FC236}">
                  <a16:creationId xmlns:a16="http://schemas.microsoft.com/office/drawing/2014/main" id="{8A524F31-203B-CE5E-9686-83A54874D714}"/>
                </a:ext>
              </a:extLst>
            </p:cNvPr>
            <p:cNvSpPr/>
            <p:nvPr/>
          </p:nvSpPr>
          <p:spPr>
            <a:xfrm>
              <a:off x="7474187" y="3717874"/>
              <a:ext cx="226503" cy="247475"/>
            </a:xfrm>
            <a:custGeom>
              <a:avLst/>
              <a:gdLst>
                <a:gd name="csX0" fmla="*/ 0 w 226503"/>
                <a:gd name="csY0" fmla="*/ 247475 h 247475"/>
                <a:gd name="csX1" fmla="*/ 83890 w 226503"/>
                <a:gd name="csY1" fmla="*/ 247475 h 247475"/>
                <a:gd name="csX2" fmla="*/ 83890 w 226503"/>
                <a:gd name="csY2" fmla="*/ 0 h 247475"/>
                <a:gd name="csX3" fmla="*/ 146808 w 226503"/>
                <a:gd name="csY3" fmla="*/ 0 h 247475"/>
                <a:gd name="csX4" fmla="*/ 146808 w 226503"/>
                <a:gd name="csY4" fmla="*/ 247475 h 247475"/>
                <a:gd name="csX5" fmla="*/ 226503 w 226503"/>
                <a:gd name="csY5" fmla="*/ 247475 h 247475"/>
              </a:gdLst>
              <a:ahLst/>
              <a:cxnLst>
                <a:cxn ang="0">
                  <a:pos x="csX0" y="csY0"/>
                </a:cxn>
                <a:cxn ang="0">
                  <a:pos x="csX1" y="csY1"/>
                </a:cxn>
                <a:cxn ang="0">
                  <a:pos x="csX2" y="csY2"/>
                </a:cxn>
                <a:cxn ang="0">
                  <a:pos x="csX3" y="csY3"/>
                </a:cxn>
                <a:cxn ang="0">
                  <a:pos x="csX4" y="csY4"/>
                </a:cxn>
                <a:cxn ang="0">
                  <a:pos x="csX5" y="csY5"/>
                </a:cxn>
              </a:cxnLst>
              <a:rect l="l" t="t" r="r" b="b"/>
              <a:pathLst>
                <a:path w="226503" h="247475">
                  <a:moveTo>
                    <a:pt x="0" y="247475"/>
                  </a:moveTo>
                  <a:lnTo>
                    <a:pt x="83890" y="247475"/>
                  </a:lnTo>
                  <a:lnTo>
                    <a:pt x="83890" y="0"/>
                  </a:lnTo>
                  <a:lnTo>
                    <a:pt x="146808" y="0"/>
                  </a:lnTo>
                  <a:lnTo>
                    <a:pt x="146808" y="247475"/>
                  </a:lnTo>
                  <a:lnTo>
                    <a:pt x="226503" y="247475"/>
                  </a:lnTo>
                </a:path>
              </a:pathLst>
            </a:custGeom>
            <a:no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cxnSp>
          <p:nvCxnSpPr>
            <p:cNvPr id="54" name="Straight Connector 53">
              <a:extLst>
                <a:ext uri="{FF2B5EF4-FFF2-40B4-BE49-F238E27FC236}">
                  <a16:creationId xmlns:a16="http://schemas.microsoft.com/office/drawing/2014/main" id="{64EC5D26-9F42-EF36-6159-162F49D4B393}"/>
                </a:ext>
              </a:extLst>
            </p:cNvPr>
            <p:cNvCxnSpPr>
              <a:cxnSpLocks/>
            </p:cNvCxnSpPr>
            <p:nvPr/>
          </p:nvCxnSpPr>
          <p:spPr>
            <a:xfrm flipH="1" flipV="1">
              <a:off x="7313757" y="3965044"/>
              <a:ext cx="139457" cy="305"/>
            </a:xfrm>
            <a:prstGeom prst="line">
              <a:avLst/>
            </a:prstGeom>
            <a:ln w="12700">
              <a:solidFill>
                <a:schemeClr val="tx1"/>
              </a:solidFill>
              <a:prstDash val="sysDot"/>
            </a:ln>
          </p:spPr>
          <p:style>
            <a:lnRef idx="2">
              <a:schemeClr val="accent1"/>
            </a:lnRef>
            <a:fillRef idx="0">
              <a:schemeClr val="accent1"/>
            </a:fillRef>
            <a:effectRef idx="1">
              <a:schemeClr val="accent1"/>
            </a:effectRef>
            <a:fontRef idx="minor">
              <a:schemeClr val="tx1"/>
            </a:fontRef>
          </p:style>
        </p:cxnSp>
        <p:cxnSp>
          <p:nvCxnSpPr>
            <p:cNvPr id="55" name="Straight Connector 54">
              <a:extLst>
                <a:ext uri="{FF2B5EF4-FFF2-40B4-BE49-F238E27FC236}">
                  <a16:creationId xmlns:a16="http://schemas.microsoft.com/office/drawing/2014/main" id="{B78B091D-D4DE-1BFE-2555-DCA6FD59DAA6}"/>
                </a:ext>
              </a:extLst>
            </p:cNvPr>
            <p:cNvCxnSpPr>
              <a:cxnSpLocks/>
            </p:cNvCxnSpPr>
            <p:nvPr/>
          </p:nvCxnSpPr>
          <p:spPr>
            <a:xfrm flipH="1" flipV="1">
              <a:off x="7718923" y="3965044"/>
              <a:ext cx="139457" cy="305"/>
            </a:xfrm>
            <a:prstGeom prst="line">
              <a:avLst/>
            </a:prstGeom>
            <a:ln w="12700">
              <a:solidFill>
                <a:schemeClr val="tx1"/>
              </a:solidFill>
              <a:prstDash val="sysDot"/>
            </a:ln>
          </p:spPr>
          <p:style>
            <a:lnRef idx="2">
              <a:schemeClr val="accent1"/>
            </a:lnRef>
            <a:fillRef idx="0">
              <a:schemeClr val="accent1"/>
            </a:fillRef>
            <a:effectRef idx="1">
              <a:schemeClr val="accent1"/>
            </a:effectRef>
            <a:fontRef idx="minor">
              <a:schemeClr val="tx1"/>
            </a:fontRef>
          </p:style>
        </p:cxnSp>
      </p:grpSp>
    </p:spTree>
    <p:extLst>
      <p:ext uri="{BB962C8B-B14F-4D97-AF65-F5344CB8AC3E}">
        <p14:creationId xmlns:p14="http://schemas.microsoft.com/office/powerpoint/2010/main" val="3041065665"/>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13BA0D-50F2-C996-86C7-51AEA5D95EA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73DEFDD-1724-3CDF-8658-D75DA6E436CD}"/>
              </a:ext>
            </a:extLst>
          </p:cNvPr>
          <p:cNvSpPr>
            <a:spLocks noGrp="1"/>
          </p:cNvSpPr>
          <p:nvPr>
            <p:ph type="title"/>
          </p:nvPr>
        </p:nvSpPr>
        <p:spPr/>
        <p:txBody>
          <a:bodyPr/>
          <a:lstStyle/>
          <a:p>
            <a:r>
              <a:rPr lang="en-US" dirty="0"/>
              <a:t>N</a:t>
            </a:r>
            <a:r>
              <a:rPr lang="sv-SE" dirty="0"/>
              <a:t>är skall vi fyra av ett </a:t>
            </a:r>
            <a:r>
              <a:rPr lang="sv-SE" dirty="0" err="1"/>
              <a:t>interrupt</a:t>
            </a:r>
            <a:r>
              <a:rPr lang="sv-SE" dirty="0"/>
              <a:t>? </a:t>
            </a:r>
            <a:br>
              <a:rPr lang="sv-SE" dirty="0"/>
            </a:br>
            <a:r>
              <a:rPr lang="sv-SE" sz="3200" dirty="0"/>
              <a:t>EXTI</a:t>
            </a:r>
            <a:endParaRPr lang="LID4096" dirty="0"/>
          </a:p>
        </p:txBody>
      </p:sp>
      <p:sp>
        <p:nvSpPr>
          <p:cNvPr id="4" name="TextBox 3">
            <a:extLst>
              <a:ext uri="{FF2B5EF4-FFF2-40B4-BE49-F238E27FC236}">
                <a16:creationId xmlns:a16="http://schemas.microsoft.com/office/drawing/2014/main" id="{A93D0E21-D901-7F2B-C2DA-506E885CBA51}"/>
              </a:ext>
            </a:extLst>
          </p:cNvPr>
          <p:cNvSpPr txBox="1"/>
          <p:nvPr/>
        </p:nvSpPr>
        <p:spPr>
          <a:xfrm>
            <a:off x="2292728" y="1974294"/>
            <a:ext cx="8286434" cy="2584448"/>
          </a:xfrm>
          <a:prstGeom prst="rect">
            <a:avLst/>
          </a:prstGeom>
          <a:solidFill>
            <a:schemeClr val="accent6">
              <a:lumMod val="40000"/>
              <a:lumOff val="60000"/>
            </a:schemeClr>
          </a:solidFill>
          <a:ln>
            <a:solidFill>
              <a:schemeClr val="accent6">
                <a:lumMod val="75000"/>
              </a:schemeClr>
            </a:solidFill>
          </a:ln>
        </p:spPr>
        <p:txBody>
          <a:bodyPr wrap="square" rtlCol="0">
            <a:noAutofit/>
          </a:bodyPr>
          <a:lstStyle/>
          <a:p>
            <a:pPr algn="ctr"/>
            <a:r>
              <a:rPr lang="en-US"/>
              <a:t>EXTI</a:t>
            </a:r>
            <a:br>
              <a:rPr lang="en-US"/>
            </a:br>
            <a:endParaRPr lang="en-US" sz="1050"/>
          </a:p>
        </p:txBody>
      </p:sp>
      <p:sp>
        <p:nvSpPr>
          <p:cNvPr id="5" name="TextBox 4">
            <a:extLst>
              <a:ext uri="{FF2B5EF4-FFF2-40B4-BE49-F238E27FC236}">
                <a16:creationId xmlns:a16="http://schemas.microsoft.com/office/drawing/2014/main" id="{F54FF6FC-87A3-1FC8-4D04-E946D5E293BD}"/>
              </a:ext>
            </a:extLst>
          </p:cNvPr>
          <p:cNvSpPr txBox="1"/>
          <p:nvPr/>
        </p:nvSpPr>
        <p:spPr>
          <a:xfrm>
            <a:off x="9985835" y="3280885"/>
            <a:ext cx="593327" cy="1223412"/>
          </a:xfrm>
          <a:prstGeom prst="rect">
            <a:avLst/>
          </a:prstGeom>
          <a:noFill/>
        </p:spPr>
        <p:txBody>
          <a:bodyPr wrap="square">
            <a:spAutoFit/>
          </a:bodyPr>
          <a:lstStyle/>
          <a:p>
            <a:pPr algn="r"/>
            <a:r>
              <a:rPr lang="en-US" sz="1050"/>
              <a:t>EXTI0</a:t>
            </a:r>
            <a:br>
              <a:rPr lang="en-US" sz="1050"/>
            </a:br>
            <a:r>
              <a:rPr lang="en-US" sz="1050" b="1"/>
              <a:t>EXTI1</a:t>
            </a:r>
            <a:br>
              <a:rPr lang="en-US" sz="1050" b="1"/>
            </a:br>
            <a:r>
              <a:rPr lang="en-US" sz="1050"/>
              <a:t>EXTI2</a:t>
            </a:r>
            <a:br>
              <a:rPr lang="en-US" sz="1050"/>
            </a:br>
            <a:r>
              <a:rPr lang="en-US" sz="1050"/>
              <a:t>EXTI3</a:t>
            </a:r>
            <a:br>
              <a:rPr lang="en-US" sz="1050"/>
            </a:br>
            <a:r>
              <a:rPr lang="en-US" sz="1050"/>
              <a:t>EXTI4</a:t>
            </a:r>
          </a:p>
          <a:p>
            <a:pPr algn="r"/>
            <a:r>
              <a:rPr lang="en-US" sz="1050"/>
              <a:t>EXTI5</a:t>
            </a:r>
          </a:p>
          <a:p>
            <a:pPr algn="ctr"/>
            <a:r>
              <a:rPr lang="en-US" sz="1050"/>
              <a:t>...</a:t>
            </a:r>
            <a:endParaRPr lang="LID4096" sz="3600" dirty="0"/>
          </a:p>
        </p:txBody>
      </p:sp>
      <p:cxnSp>
        <p:nvCxnSpPr>
          <p:cNvPr id="6" name="Straight Arrow Connector 5">
            <a:extLst>
              <a:ext uri="{FF2B5EF4-FFF2-40B4-BE49-F238E27FC236}">
                <a16:creationId xmlns:a16="http://schemas.microsoft.com/office/drawing/2014/main" id="{F83912AC-780F-9E64-7C8A-D1275BA451B0}"/>
              </a:ext>
            </a:extLst>
          </p:cNvPr>
          <p:cNvCxnSpPr/>
          <p:nvPr/>
        </p:nvCxnSpPr>
        <p:spPr>
          <a:xfrm flipH="1">
            <a:off x="10679040" y="3415557"/>
            <a:ext cx="531213" cy="0"/>
          </a:xfrm>
          <a:prstGeom prst="straightConnector1">
            <a:avLst/>
          </a:prstGeom>
          <a:ln w="50800">
            <a:solidFill>
              <a:schemeClr val="bg2">
                <a:lumMod val="90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7" name="Straight Arrow Connector 6">
            <a:extLst>
              <a:ext uri="{FF2B5EF4-FFF2-40B4-BE49-F238E27FC236}">
                <a16:creationId xmlns:a16="http://schemas.microsoft.com/office/drawing/2014/main" id="{0C5753E0-96E1-C0F7-4EE1-65D2F27EFFD9}"/>
              </a:ext>
            </a:extLst>
          </p:cNvPr>
          <p:cNvCxnSpPr/>
          <p:nvPr/>
        </p:nvCxnSpPr>
        <p:spPr>
          <a:xfrm flipH="1">
            <a:off x="10679040" y="3570054"/>
            <a:ext cx="531213" cy="0"/>
          </a:xfrm>
          <a:prstGeom prst="straightConnector1">
            <a:avLst/>
          </a:prstGeom>
          <a:ln w="50800">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8" name="Straight Arrow Connector 7">
            <a:extLst>
              <a:ext uri="{FF2B5EF4-FFF2-40B4-BE49-F238E27FC236}">
                <a16:creationId xmlns:a16="http://schemas.microsoft.com/office/drawing/2014/main" id="{0A6777F8-7F42-829F-DE08-222ABB1A7703}"/>
              </a:ext>
            </a:extLst>
          </p:cNvPr>
          <p:cNvCxnSpPr/>
          <p:nvPr/>
        </p:nvCxnSpPr>
        <p:spPr>
          <a:xfrm flipH="1">
            <a:off x="10675869" y="3745525"/>
            <a:ext cx="531213" cy="0"/>
          </a:xfrm>
          <a:prstGeom prst="straightConnector1">
            <a:avLst/>
          </a:prstGeom>
          <a:ln w="50800">
            <a:solidFill>
              <a:schemeClr val="bg2">
                <a:lumMod val="90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9" name="Straight Arrow Connector 8">
            <a:extLst>
              <a:ext uri="{FF2B5EF4-FFF2-40B4-BE49-F238E27FC236}">
                <a16:creationId xmlns:a16="http://schemas.microsoft.com/office/drawing/2014/main" id="{8FD45F46-127B-E571-DC5C-A8B503271B1B}"/>
              </a:ext>
            </a:extLst>
          </p:cNvPr>
          <p:cNvCxnSpPr/>
          <p:nvPr/>
        </p:nvCxnSpPr>
        <p:spPr>
          <a:xfrm flipH="1">
            <a:off x="10675869" y="3907012"/>
            <a:ext cx="531213" cy="0"/>
          </a:xfrm>
          <a:prstGeom prst="straightConnector1">
            <a:avLst/>
          </a:prstGeom>
          <a:ln w="50800">
            <a:solidFill>
              <a:schemeClr val="bg2">
                <a:lumMod val="90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10" name="Straight Arrow Connector 9">
            <a:extLst>
              <a:ext uri="{FF2B5EF4-FFF2-40B4-BE49-F238E27FC236}">
                <a16:creationId xmlns:a16="http://schemas.microsoft.com/office/drawing/2014/main" id="{1D125B1F-309D-6BA2-3369-78123856F5E8}"/>
              </a:ext>
            </a:extLst>
          </p:cNvPr>
          <p:cNvCxnSpPr/>
          <p:nvPr/>
        </p:nvCxnSpPr>
        <p:spPr>
          <a:xfrm flipH="1">
            <a:off x="10675869" y="4065306"/>
            <a:ext cx="531213" cy="0"/>
          </a:xfrm>
          <a:prstGeom prst="straightConnector1">
            <a:avLst/>
          </a:prstGeom>
          <a:ln w="50800">
            <a:solidFill>
              <a:schemeClr val="bg2">
                <a:lumMod val="90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11" name="Straight Arrow Connector 10">
            <a:extLst>
              <a:ext uri="{FF2B5EF4-FFF2-40B4-BE49-F238E27FC236}">
                <a16:creationId xmlns:a16="http://schemas.microsoft.com/office/drawing/2014/main" id="{F68FD25F-2338-07A0-F592-9E59A91311A6}"/>
              </a:ext>
            </a:extLst>
          </p:cNvPr>
          <p:cNvCxnSpPr/>
          <p:nvPr/>
        </p:nvCxnSpPr>
        <p:spPr>
          <a:xfrm flipH="1">
            <a:off x="10675869" y="4228870"/>
            <a:ext cx="531213" cy="0"/>
          </a:xfrm>
          <a:prstGeom prst="straightConnector1">
            <a:avLst/>
          </a:prstGeom>
          <a:ln w="50800">
            <a:solidFill>
              <a:schemeClr val="bg2">
                <a:lumMod val="9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12" name="Rectangle 11">
            <a:extLst>
              <a:ext uri="{FF2B5EF4-FFF2-40B4-BE49-F238E27FC236}">
                <a16:creationId xmlns:a16="http://schemas.microsoft.com/office/drawing/2014/main" id="{6D742BC9-F24B-A77B-D567-575606F77967}"/>
              </a:ext>
            </a:extLst>
          </p:cNvPr>
          <p:cNvSpPr/>
          <p:nvPr/>
        </p:nvSpPr>
        <p:spPr>
          <a:xfrm>
            <a:off x="10687428" y="3695101"/>
            <a:ext cx="908134" cy="647781"/>
          </a:xfrm>
          <a:prstGeom prst="rect">
            <a:avLst/>
          </a:prstGeom>
          <a:gradFill>
            <a:gsLst>
              <a:gs pos="78900">
                <a:schemeClr val="bg1"/>
              </a:gs>
              <a:gs pos="0">
                <a:schemeClr val="accent1">
                  <a:lumMod val="5000"/>
                  <a:lumOff val="95000"/>
                  <a:alpha val="0"/>
                </a:schemeClr>
              </a:gs>
              <a:gs pos="100000">
                <a:schemeClr val="bg1"/>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13" name="TextBox 12">
            <a:extLst>
              <a:ext uri="{FF2B5EF4-FFF2-40B4-BE49-F238E27FC236}">
                <a16:creationId xmlns:a16="http://schemas.microsoft.com/office/drawing/2014/main" id="{44F3DC98-D504-A30A-4047-544C88F0FC72}"/>
              </a:ext>
            </a:extLst>
          </p:cNvPr>
          <p:cNvSpPr txBox="1"/>
          <p:nvPr/>
        </p:nvSpPr>
        <p:spPr>
          <a:xfrm>
            <a:off x="2281169" y="3114769"/>
            <a:ext cx="849594" cy="1223412"/>
          </a:xfrm>
          <a:prstGeom prst="rect">
            <a:avLst/>
          </a:prstGeom>
          <a:noFill/>
        </p:spPr>
        <p:txBody>
          <a:bodyPr wrap="square">
            <a:spAutoFit/>
          </a:bodyPr>
          <a:lstStyle/>
          <a:p>
            <a:r>
              <a:rPr lang="en-US" sz="1050"/>
              <a:t>EXTI0</a:t>
            </a:r>
            <a:br>
              <a:rPr lang="en-US" sz="1050"/>
            </a:br>
            <a:r>
              <a:rPr lang="en-US" sz="1050" b="1"/>
              <a:t>EXTI1</a:t>
            </a:r>
            <a:br>
              <a:rPr lang="en-US" sz="1050"/>
            </a:br>
            <a:r>
              <a:rPr lang="en-US" sz="1050"/>
              <a:t>EXTI2</a:t>
            </a:r>
            <a:br>
              <a:rPr lang="en-US" sz="1050"/>
            </a:br>
            <a:r>
              <a:rPr lang="en-US" sz="1050"/>
              <a:t>EXTI3</a:t>
            </a:r>
            <a:br>
              <a:rPr lang="en-US" sz="1050"/>
            </a:br>
            <a:r>
              <a:rPr lang="en-US" sz="1050"/>
              <a:t>EXTI4</a:t>
            </a:r>
          </a:p>
          <a:p>
            <a:r>
              <a:rPr lang="en-US" sz="1050"/>
              <a:t>EXTI5_9</a:t>
            </a:r>
            <a:br>
              <a:rPr lang="en-US" sz="1050"/>
            </a:br>
            <a:r>
              <a:rPr lang="en-US" sz="1050"/>
              <a:t>EXTI10_15</a:t>
            </a:r>
          </a:p>
        </p:txBody>
      </p:sp>
      <p:sp>
        <p:nvSpPr>
          <p:cNvPr id="14" name="TextBox 13">
            <a:extLst>
              <a:ext uri="{FF2B5EF4-FFF2-40B4-BE49-F238E27FC236}">
                <a16:creationId xmlns:a16="http://schemas.microsoft.com/office/drawing/2014/main" id="{D59E3D4D-862E-BC8A-CC93-5F37E0E140B1}"/>
              </a:ext>
            </a:extLst>
          </p:cNvPr>
          <p:cNvSpPr txBox="1"/>
          <p:nvPr/>
        </p:nvSpPr>
        <p:spPr>
          <a:xfrm rot="16200000">
            <a:off x="188771" y="2956314"/>
            <a:ext cx="2584447" cy="620410"/>
          </a:xfrm>
          <a:prstGeom prst="rect">
            <a:avLst/>
          </a:prstGeom>
          <a:solidFill>
            <a:schemeClr val="accent1">
              <a:lumMod val="60000"/>
              <a:lumOff val="40000"/>
            </a:schemeClr>
          </a:solidFill>
          <a:ln>
            <a:solidFill>
              <a:schemeClr val="tx2">
                <a:lumMod val="75000"/>
                <a:lumOff val="25000"/>
              </a:schemeClr>
            </a:solidFill>
          </a:ln>
        </p:spPr>
        <p:txBody>
          <a:bodyPr wrap="square" rtlCol="0">
            <a:noAutofit/>
          </a:bodyPr>
          <a:lstStyle/>
          <a:p>
            <a:pPr algn="ctr"/>
            <a:r>
              <a:rPr lang="en-US" sz="3600"/>
              <a:t>PFIC</a:t>
            </a:r>
            <a:endParaRPr lang="LID4096" sz="6000" dirty="0"/>
          </a:p>
        </p:txBody>
      </p:sp>
      <p:sp>
        <p:nvSpPr>
          <p:cNvPr id="15" name="TextBox 14">
            <a:extLst>
              <a:ext uri="{FF2B5EF4-FFF2-40B4-BE49-F238E27FC236}">
                <a16:creationId xmlns:a16="http://schemas.microsoft.com/office/drawing/2014/main" id="{06BCB1D3-0B93-667B-6353-40967ECCE47D}"/>
              </a:ext>
            </a:extLst>
          </p:cNvPr>
          <p:cNvSpPr txBox="1"/>
          <p:nvPr/>
        </p:nvSpPr>
        <p:spPr>
          <a:xfrm>
            <a:off x="7828729" y="3412504"/>
            <a:ext cx="1676228" cy="276999"/>
          </a:xfrm>
          <a:prstGeom prst="rect">
            <a:avLst/>
          </a:prstGeom>
          <a:solidFill>
            <a:schemeClr val="bg1"/>
          </a:solidFill>
          <a:ln>
            <a:solidFill>
              <a:schemeClr val="tx1"/>
            </a:solidFill>
          </a:ln>
        </p:spPr>
        <p:txBody>
          <a:bodyPr wrap="none" rtlCol="0">
            <a:spAutoFit/>
          </a:bodyPr>
          <a:lstStyle/>
          <a:p>
            <a:r>
              <a:rPr lang="en-GB" sz="1200"/>
              <a:t>Edge Detection Circuit</a:t>
            </a:r>
            <a:endParaRPr lang="LID4096" sz="1200"/>
          </a:p>
        </p:txBody>
      </p:sp>
      <p:sp>
        <p:nvSpPr>
          <p:cNvPr id="16" name="TextBox 15">
            <a:extLst>
              <a:ext uri="{FF2B5EF4-FFF2-40B4-BE49-F238E27FC236}">
                <a16:creationId xmlns:a16="http://schemas.microsoft.com/office/drawing/2014/main" id="{49ED6FDD-1B7E-EDF8-A0FE-9235E30B741E}"/>
              </a:ext>
            </a:extLst>
          </p:cNvPr>
          <p:cNvSpPr txBox="1"/>
          <p:nvPr/>
        </p:nvSpPr>
        <p:spPr>
          <a:xfrm>
            <a:off x="8714848" y="2433626"/>
            <a:ext cx="889987" cy="246221"/>
          </a:xfrm>
          <a:prstGeom prst="rect">
            <a:avLst/>
          </a:prstGeom>
          <a:solidFill>
            <a:schemeClr val="tx1">
              <a:lumMod val="50000"/>
              <a:lumOff val="50000"/>
            </a:schemeClr>
          </a:solidFill>
          <a:ln>
            <a:solidFill>
              <a:schemeClr val="tx1"/>
            </a:solidFill>
          </a:ln>
        </p:spPr>
        <p:txBody>
          <a:bodyPr wrap="none" rtlCol="0">
            <a:spAutoFit/>
          </a:bodyPr>
          <a:lstStyle/>
          <a:p>
            <a:r>
              <a:rPr lang="en-GB" sz="1000">
                <a:solidFill>
                  <a:schemeClr val="bg2"/>
                </a:solidFill>
                <a:latin typeface="Consolas" panose="020B0609020204030204" pitchFamily="49" charset="0"/>
              </a:rPr>
              <a:t>EXTI_FTENR</a:t>
            </a:r>
            <a:endParaRPr lang="LID4096" sz="1000">
              <a:solidFill>
                <a:schemeClr val="bg2"/>
              </a:solidFill>
              <a:latin typeface="Consolas" panose="020B0609020204030204" pitchFamily="49" charset="0"/>
            </a:endParaRPr>
          </a:p>
        </p:txBody>
      </p:sp>
      <p:sp>
        <p:nvSpPr>
          <p:cNvPr id="17" name="TextBox 16">
            <a:extLst>
              <a:ext uri="{FF2B5EF4-FFF2-40B4-BE49-F238E27FC236}">
                <a16:creationId xmlns:a16="http://schemas.microsoft.com/office/drawing/2014/main" id="{D67A7826-A41B-8630-8B3A-B9A86EA21518}"/>
              </a:ext>
            </a:extLst>
          </p:cNvPr>
          <p:cNvSpPr txBox="1"/>
          <p:nvPr/>
        </p:nvSpPr>
        <p:spPr>
          <a:xfrm>
            <a:off x="8714848" y="2679847"/>
            <a:ext cx="889987" cy="338554"/>
          </a:xfrm>
          <a:prstGeom prst="rect">
            <a:avLst/>
          </a:prstGeom>
          <a:solidFill>
            <a:schemeClr val="bg1"/>
          </a:solidFill>
          <a:ln>
            <a:solidFill>
              <a:schemeClr val="tx1"/>
            </a:solidFill>
          </a:ln>
        </p:spPr>
        <p:txBody>
          <a:bodyPr wrap="square" rtlCol="0">
            <a:spAutoFit/>
          </a:bodyPr>
          <a:lstStyle/>
          <a:p>
            <a:pPr algn="ctr"/>
            <a:r>
              <a:rPr lang="en-GB" sz="800" i="1"/>
              <a:t>Falling trigger enable register</a:t>
            </a:r>
            <a:endParaRPr lang="LID4096" sz="800" i="1"/>
          </a:p>
        </p:txBody>
      </p:sp>
      <p:sp>
        <p:nvSpPr>
          <p:cNvPr id="18" name="TextBox 17">
            <a:extLst>
              <a:ext uri="{FF2B5EF4-FFF2-40B4-BE49-F238E27FC236}">
                <a16:creationId xmlns:a16="http://schemas.microsoft.com/office/drawing/2014/main" id="{13795F93-E844-8AA8-7693-53BDC44B36F3}"/>
              </a:ext>
            </a:extLst>
          </p:cNvPr>
          <p:cNvSpPr txBox="1"/>
          <p:nvPr/>
        </p:nvSpPr>
        <p:spPr>
          <a:xfrm>
            <a:off x="7694768" y="2430145"/>
            <a:ext cx="889987" cy="246221"/>
          </a:xfrm>
          <a:prstGeom prst="rect">
            <a:avLst/>
          </a:prstGeom>
          <a:solidFill>
            <a:schemeClr val="tx1">
              <a:lumMod val="50000"/>
              <a:lumOff val="50000"/>
            </a:schemeClr>
          </a:solidFill>
          <a:ln>
            <a:solidFill>
              <a:schemeClr val="tx1"/>
            </a:solidFill>
          </a:ln>
        </p:spPr>
        <p:txBody>
          <a:bodyPr wrap="none" rtlCol="0">
            <a:spAutoFit/>
          </a:bodyPr>
          <a:lstStyle/>
          <a:p>
            <a:r>
              <a:rPr lang="en-GB" sz="1000">
                <a:solidFill>
                  <a:schemeClr val="bg2"/>
                </a:solidFill>
                <a:latin typeface="Consolas" panose="020B0609020204030204" pitchFamily="49" charset="0"/>
              </a:rPr>
              <a:t>EXTI_RTENR</a:t>
            </a:r>
            <a:endParaRPr lang="LID4096" sz="1000">
              <a:solidFill>
                <a:schemeClr val="bg2"/>
              </a:solidFill>
              <a:latin typeface="Consolas" panose="020B0609020204030204" pitchFamily="49" charset="0"/>
            </a:endParaRPr>
          </a:p>
        </p:txBody>
      </p:sp>
      <p:sp>
        <p:nvSpPr>
          <p:cNvPr id="19" name="TextBox 18">
            <a:extLst>
              <a:ext uri="{FF2B5EF4-FFF2-40B4-BE49-F238E27FC236}">
                <a16:creationId xmlns:a16="http://schemas.microsoft.com/office/drawing/2014/main" id="{C24E963C-46E7-F3BC-14BC-21FD90D0FF06}"/>
              </a:ext>
            </a:extLst>
          </p:cNvPr>
          <p:cNvSpPr txBox="1"/>
          <p:nvPr/>
        </p:nvSpPr>
        <p:spPr>
          <a:xfrm>
            <a:off x="7694768" y="2676366"/>
            <a:ext cx="889987" cy="338554"/>
          </a:xfrm>
          <a:prstGeom prst="rect">
            <a:avLst/>
          </a:prstGeom>
          <a:solidFill>
            <a:schemeClr val="bg1"/>
          </a:solidFill>
          <a:ln>
            <a:solidFill>
              <a:schemeClr val="tx1"/>
            </a:solidFill>
          </a:ln>
        </p:spPr>
        <p:txBody>
          <a:bodyPr wrap="square" rtlCol="0">
            <a:spAutoFit/>
          </a:bodyPr>
          <a:lstStyle/>
          <a:p>
            <a:pPr algn="ctr"/>
            <a:r>
              <a:rPr lang="en-GB" sz="800" i="1"/>
              <a:t>Rising trigger enable register</a:t>
            </a:r>
            <a:endParaRPr lang="LID4096" sz="800" i="1"/>
          </a:p>
        </p:txBody>
      </p:sp>
      <p:cxnSp>
        <p:nvCxnSpPr>
          <p:cNvPr id="25" name="Straight Connector 24">
            <a:extLst>
              <a:ext uri="{FF2B5EF4-FFF2-40B4-BE49-F238E27FC236}">
                <a16:creationId xmlns:a16="http://schemas.microsoft.com/office/drawing/2014/main" id="{9A9DCDCB-C5E4-24F3-9DE7-02C0DB7B7CB0}"/>
              </a:ext>
            </a:extLst>
          </p:cNvPr>
          <p:cNvCxnSpPr>
            <a:cxnSpLocks/>
          </p:cNvCxnSpPr>
          <p:nvPr/>
        </p:nvCxnSpPr>
        <p:spPr>
          <a:xfrm flipH="1">
            <a:off x="9504957" y="3553247"/>
            <a:ext cx="547155" cy="0"/>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6" name="Straight Connector 25">
            <a:extLst>
              <a:ext uri="{FF2B5EF4-FFF2-40B4-BE49-F238E27FC236}">
                <a16:creationId xmlns:a16="http://schemas.microsoft.com/office/drawing/2014/main" id="{148655C3-AD3C-0816-A947-0FC0BB5DA492}"/>
              </a:ext>
            </a:extLst>
          </p:cNvPr>
          <p:cNvCxnSpPr>
            <a:cxnSpLocks/>
          </p:cNvCxnSpPr>
          <p:nvPr/>
        </p:nvCxnSpPr>
        <p:spPr>
          <a:xfrm flipV="1">
            <a:off x="9131362" y="3018401"/>
            <a:ext cx="0" cy="394103"/>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8F9E9F0C-05E7-3F7A-3EF3-68CB87B72538}"/>
              </a:ext>
            </a:extLst>
          </p:cNvPr>
          <p:cNvCxnSpPr>
            <a:cxnSpLocks/>
          </p:cNvCxnSpPr>
          <p:nvPr/>
        </p:nvCxnSpPr>
        <p:spPr>
          <a:xfrm flipV="1">
            <a:off x="8160867" y="3009166"/>
            <a:ext cx="0" cy="394103"/>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8" name="Straight Connector 27">
            <a:extLst>
              <a:ext uri="{FF2B5EF4-FFF2-40B4-BE49-F238E27FC236}">
                <a16:creationId xmlns:a16="http://schemas.microsoft.com/office/drawing/2014/main" id="{17FD3467-3A2C-17A0-5AB9-4D84EBACA372}"/>
              </a:ext>
            </a:extLst>
          </p:cNvPr>
          <p:cNvCxnSpPr>
            <a:cxnSpLocks/>
          </p:cNvCxnSpPr>
          <p:nvPr/>
        </p:nvCxnSpPr>
        <p:spPr>
          <a:xfrm flipH="1">
            <a:off x="6583563" y="3593873"/>
            <a:ext cx="1245166" cy="0"/>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34" name="Straight Arrow Connector 33">
            <a:extLst>
              <a:ext uri="{FF2B5EF4-FFF2-40B4-BE49-F238E27FC236}">
                <a16:creationId xmlns:a16="http://schemas.microsoft.com/office/drawing/2014/main" id="{825C60F9-7364-A80D-7E8A-C8BF6EFC4A0D}"/>
              </a:ext>
            </a:extLst>
          </p:cNvPr>
          <p:cNvCxnSpPr/>
          <p:nvPr/>
        </p:nvCxnSpPr>
        <p:spPr>
          <a:xfrm flipH="1">
            <a:off x="1761515" y="3396507"/>
            <a:ext cx="531213" cy="0"/>
          </a:xfrm>
          <a:prstGeom prst="straightConnector1">
            <a:avLst/>
          </a:prstGeom>
          <a:ln w="50800">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37" name="Freeform: Shape 36">
            <a:extLst>
              <a:ext uri="{FF2B5EF4-FFF2-40B4-BE49-F238E27FC236}">
                <a16:creationId xmlns:a16="http://schemas.microsoft.com/office/drawing/2014/main" id="{D3C328FE-7FB8-1055-6B88-8D5A6AAF7F49}"/>
              </a:ext>
            </a:extLst>
          </p:cNvPr>
          <p:cNvSpPr/>
          <p:nvPr/>
        </p:nvSpPr>
        <p:spPr>
          <a:xfrm>
            <a:off x="2762312" y="3396692"/>
            <a:ext cx="577850" cy="0"/>
          </a:xfrm>
          <a:custGeom>
            <a:avLst/>
            <a:gdLst>
              <a:gd name="csX0" fmla="*/ 577850 w 577850"/>
              <a:gd name="csY0" fmla="*/ 0 h 0"/>
              <a:gd name="csX1" fmla="*/ 0 w 577850"/>
              <a:gd name="csY1" fmla="*/ 0 h 0"/>
            </a:gdLst>
            <a:ahLst/>
            <a:cxnLst>
              <a:cxn ang="0">
                <a:pos x="csX0" y="csY0"/>
              </a:cxn>
              <a:cxn ang="0">
                <a:pos x="csX1" y="csY1"/>
              </a:cxn>
            </a:cxnLst>
            <a:rect l="l" t="t" r="r" b="b"/>
            <a:pathLst>
              <a:path w="577850">
                <a:moveTo>
                  <a:pt x="577850" y="0"/>
                </a:moveTo>
                <a:lnTo>
                  <a:pt x="0" y="0"/>
                </a:lnTo>
              </a:path>
            </a:pathLst>
          </a:custGeom>
          <a:noFill/>
          <a:ln>
            <a:solidFill>
              <a:schemeClr val="tx1"/>
            </a:solidFill>
            <a:tailEnd type="triangle"/>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43" name="Freeform: Shape 42">
            <a:extLst>
              <a:ext uri="{FF2B5EF4-FFF2-40B4-BE49-F238E27FC236}">
                <a16:creationId xmlns:a16="http://schemas.microsoft.com/office/drawing/2014/main" id="{33BAE5E0-649B-033E-AFBF-F40FCE238178}"/>
              </a:ext>
            </a:extLst>
          </p:cNvPr>
          <p:cNvSpPr/>
          <p:nvPr/>
        </p:nvSpPr>
        <p:spPr>
          <a:xfrm>
            <a:off x="7474187" y="3717874"/>
            <a:ext cx="226503" cy="247475"/>
          </a:xfrm>
          <a:custGeom>
            <a:avLst/>
            <a:gdLst>
              <a:gd name="csX0" fmla="*/ 0 w 226503"/>
              <a:gd name="csY0" fmla="*/ 247475 h 247475"/>
              <a:gd name="csX1" fmla="*/ 83890 w 226503"/>
              <a:gd name="csY1" fmla="*/ 247475 h 247475"/>
              <a:gd name="csX2" fmla="*/ 83890 w 226503"/>
              <a:gd name="csY2" fmla="*/ 0 h 247475"/>
              <a:gd name="csX3" fmla="*/ 146808 w 226503"/>
              <a:gd name="csY3" fmla="*/ 0 h 247475"/>
              <a:gd name="csX4" fmla="*/ 146808 w 226503"/>
              <a:gd name="csY4" fmla="*/ 247475 h 247475"/>
              <a:gd name="csX5" fmla="*/ 226503 w 226503"/>
              <a:gd name="csY5" fmla="*/ 247475 h 247475"/>
            </a:gdLst>
            <a:ahLst/>
            <a:cxnLst>
              <a:cxn ang="0">
                <a:pos x="csX0" y="csY0"/>
              </a:cxn>
              <a:cxn ang="0">
                <a:pos x="csX1" y="csY1"/>
              </a:cxn>
              <a:cxn ang="0">
                <a:pos x="csX2" y="csY2"/>
              </a:cxn>
              <a:cxn ang="0">
                <a:pos x="csX3" y="csY3"/>
              </a:cxn>
              <a:cxn ang="0">
                <a:pos x="csX4" y="csY4"/>
              </a:cxn>
              <a:cxn ang="0">
                <a:pos x="csX5" y="csY5"/>
              </a:cxn>
            </a:cxnLst>
            <a:rect l="l" t="t" r="r" b="b"/>
            <a:pathLst>
              <a:path w="226503" h="247475">
                <a:moveTo>
                  <a:pt x="0" y="247475"/>
                </a:moveTo>
                <a:lnTo>
                  <a:pt x="83890" y="247475"/>
                </a:lnTo>
                <a:lnTo>
                  <a:pt x="83890" y="0"/>
                </a:lnTo>
                <a:lnTo>
                  <a:pt x="146808" y="0"/>
                </a:lnTo>
                <a:lnTo>
                  <a:pt x="146808" y="247475"/>
                </a:lnTo>
                <a:lnTo>
                  <a:pt x="226503" y="247475"/>
                </a:lnTo>
              </a:path>
            </a:pathLst>
          </a:custGeom>
          <a:no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cxnSp>
        <p:nvCxnSpPr>
          <p:cNvPr id="44" name="Straight Connector 43">
            <a:extLst>
              <a:ext uri="{FF2B5EF4-FFF2-40B4-BE49-F238E27FC236}">
                <a16:creationId xmlns:a16="http://schemas.microsoft.com/office/drawing/2014/main" id="{B56698FB-F209-C1F4-839E-85CC0DBD9F7F}"/>
              </a:ext>
            </a:extLst>
          </p:cNvPr>
          <p:cNvCxnSpPr>
            <a:cxnSpLocks/>
          </p:cNvCxnSpPr>
          <p:nvPr/>
        </p:nvCxnSpPr>
        <p:spPr>
          <a:xfrm flipH="1" flipV="1">
            <a:off x="7313757" y="3965044"/>
            <a:ext cx="139457" cy="305"/>
          </a:xfrm>
          <a:prstGeom prst="line">
            <a:avLst/>
          </a:prstGeom>
          <a:ln w="12700">
            <a:solidFill>
              <a:schemeClr val="tx1"/>
            </a:solidFill>
            <a:prstDash val="sysDot"/>
          </a:ln>
        </p:spPr>
        <p:style>
          <a:lnRef idx="2">
            <a:schemeClr val="accent1"/>
          </a:lnRef>
          <a:fillRef idx="0">
            <a:schemeClr val="accent1"/>
          </a:fillRef>
          <a:effectRef idx="1">
            <a:schemeClr val="accent1"/>
          </a:effectRef>
          <a:fontRef idx="minor">
            <a:schemeClr val="tx1"/>
          </a:fontRef>
        </p:style>
      </p:cxnSp>
      <p:cxnSp>
        <p:nvCxnSpPr>
          <p:cNvPr id="45" name="Straight Connector 44">
            <a:extLst>
              <a:ext uri="{FF2B5EF4-FFF2-40B4-BE49-F238E27FC236}">
                <a16:creationId xmlns:a16="http://schemas.microsoft.com/office/drawing/2014/main" id="{984BF040-C2EB-2542-A57B-CC177907E9DB}"/>
              </a:ext>
            </a:extLst>
          </p:cNvPr>
          <p:cNvCxnSpPr>
            <a:cxnSpLocks/>
          </p:cNvCxnSpPr>
          <p:nvPr/>
        </p:nvCxnSpPr>
        <p:spPr>
          <a:xfrm flipH="1" flipV="1">
            <a:off x="7718923" y="3965044"/>
            <a:ext cx="139457" cy="305"/>
          </a:xfrm>
          <a:prstGeom prst="line">
            <a:avLst/>
          </a:prstGeom>
          <a:ln w="12700">
            <a:solidFill>
              <a:schemeClr val="tx1"/>
            </a:solidFill>
            <a:prstDash val="sysDot"/>
          </a:ln>
        </p:spPr>
        <p:style>
          <a:lnRef idx="2">
            <a:schemeClr val="accent1"/>
          </a:lnRef>
          <a:fillRef idx="0">
            <a:schemeClr val="accent1"/>
          </a:fillRef>
          <a:effectRef idx="1">
            <a:schemeClr val="accent1"/>
          </a:effectRef>
          <a:fontRef idx="minor">
            <a:schemeClr val="tx1"/>
          </a:fontRef>
        </p:style>
      </p:cxnSp>
      <p:sp>
        <p:nvSpPr>
          <p:cNvPr id="46" name="TextBox 45">
            <a:extLst>
              <a:ext uri="{FF2B5EF4-FFF2-40B4-BE49-F238E27FC236}">
                <a16:creationId xmlns:a16="http://schemas.microsoft.com/office/drawing/2014/main" id="{730035DC-2BCB-EF04-E538-A64BE80BCA89}"/>
              </a:ext>
            </a:extLst>
          </p:cNvPr>
          <p:cNvSpPr txBox="1"/>
          <p:nvPr/>
        </p:nvSpPr>
        <p:spPr>
          <a:xfrm>
            <a:off x="7142444" y="3975884"/>
            <a:ext cx="889987" cy="215444"/>
          </a:xfrm>
          <a:prstGeom prst="rect">
            <a:avLst/>
          </a:prstGeom>
          <a:noFill/>
          <a:ln>
            <a:noFill/>
          </a:ln>
        </p:spPr>
        <p:txBody>
          <a:bodyPr wrap="square" rtlCol="0">
            <a:spAutoFit/>
          </a:bodyPr>
          <a:lstStyle/>
          <a:p>
            <a:pPr algn="ctr"/>
            <a:r>
              <a:rPr lang="en-GB" sz="800" i="1"/>
              <a:t>pulse</a:t>
            </a:r>
            <a:endParaRPr lang="LID4096" sz="800" i="1"/>
          </a:p>
        </p:txBody>
      </p:sp>
      <p:pic>
        <p:nvPicPr>
          <p:cNvPr id="50" name="Picture 49">
            <a:extLst>
              <a:ext uri="{FF2B5EF4-FFF2-40B4-BE49-F238E27FC236}">
                <a16:creationId xmlns:a16="http://schemas.microsoft.com/office/drawing/2014/main" id="{AD90B2B8-9000-1D9E-B915-80C44633B1A3}"/>
              </a:ext>
            </a:extLst>
          </p:cNvPr>
          <p:cNvPicPr>
            <a:picLocks noChangeAspect="1"/>
          </p:cNvPicPr>
          <p:nvPr/>
        </p:nvPicPr>
        <p:blipFill>
          <a:blip r:embed="rId3"/>
          <a:stretch>
            <a:fillRect/>
          </a:stretch>
        </p:blipFill>
        <p:spPr>
          <a:xfrm>
            <a:off x="3128429" y="4785891"/>
            <a:ext cx="6031412" cy="1890758"/>
          </a:xfrm>
          <a:prstGeom prst="rect">
            <a:avLst/>
          </a:prstGeom>
        </p:spPr>
      </p:pic>
      <p:sp>
        <p:nvSpPr>
          <p:cNvPr id="3" name="Rectangle 2">
            <a:extLst>
              <a:ext uri="{FF2B5EF4-FFF2-40B4-BE49-F238E27FC236}">
                <a16:creationId xmlns:a16="http://schemas.microsoft.com/office/drawing/2014/main" id="{7A8B7877-9B7A-967A-5CB0-A31522A665AF}"/>
              </a:ext>
            </a:extLst>
          </p:cNvPr>
          <p:cNvSpPr/>
          <p:nvPr/>
        </p:nvSpPr>
        <p:spPr>
          <a:xfrm>
            <a:off x="5571149" y="5789713"/>
            <a:ext cx="2827950" cy="207239"/>
          </a:xfrm>
          <a:prstGeom prst="rect">
            <a:avLst/>
          </a:prstGeom>
          <a:noFill/>
          <a:ln w="254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47" name="Rectangle 46">
            <a:extLst>
              <a:ext uri="{FF2B5EF4-FFF2-40B4-BE49-F238E27FC236}">
                <a16:creationId xmlns:a16="http://schemas.microsoft.com/office/drawing/2014/main" id="{436D8A86-4C99-F2CD-9FA8-BF2F35442F68}"/>
              </a:ext>
            </a:extLst>
          </p:cNvPr>
          <p:cNvSpPr/>
          <p:nvPr/>
        </p:nvSpPr>
        <p:spPr>
          <a:xfrm>
            <a:off x="5571149" y="5996952"/>
            <a:ext cx="2827950" cy="207239"/>
          </a:xfrm>
          <a:prstGeom prst="rect">
            <a:avLst/>
          </a:prstGeom>
          <a:noFill/>
          <a:ln w="254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49" name="TextBox 48">
            <a:extLst>
              <a:ext uri="{FF2B5EF4-FFF2-40B4-BE49-F238E27FC236}">
                <a16:creationId xmlns:a16="http://schemas.microsoft.com/office/drawing/2014/main" id="{3E4CFB71-E1F8-3EBB-EE87-39AED81DBA8D}"/>
              </a:ext>
            </a:extLst>
          </p:cNvPr>
          <p:cNvSpPr txBox="1"/>
          <p:nvPr/>
        </p:nvSpPr>
        <p:spPr>
          <a:xfrm>
            <a:off x="2597546" y="4541076"/>
            <a:ext cx="7269480" cy="441146"/>
          </a:xfrm>
          <a:prstGeom prst="rect">
            <a:avLst/>
          </a:prstGeom>
          <a:solidFill>
            <a:schemeClr val="tx1">
              <a:lumMod val="85000"/>
              <a:lumOff val="15000"/>
            </a:schemeClr>
          </a:solidFill>
        </p:spPr>
        <p:txBody>
          <a:bodyPr wrap="square">
            <a:spAutoFit/>
          </a:bodyPr>
          <a:lstStyle/>
          <a:p>
            <a:pPr>
              <a:lnSpc>
                <a:spcPts val="1425"/>
              </a:lnSpc>
              <a:buNone/>
            </a:pPr>
            <a:r>
              <a:rPr lang="en-US" sz="1050" b="0" dirty="0">
                <a:solidFill>
                  <a:srgbClr val="CCCCCC"/>
                </a:solidFill>
                <a:effectLst/>
                <a:latin typeface="Consolas" panose="020B0609020204030204" pitchFamily="49" charset="0"/>
              </a:rPr>
              <a:t>    </a:t>
            </a:r>
            <a:r>
              <a:rPr lang="en-US" sz="1050" b="0" dirty="0">
                <a:solidFill>
                  <a:srgbClr val="D4D4D4"/>
                </a:solidFill>
                <a:effectLst/>
                <a:latin typeface="Consolas" panose="020B0609020204030204" pitchFamily="49" charset="0"/>
              </a:rPr>
              <a:t>*</a:t>
            </a:r>
            <a:r>
              <a:rPr lang="en-US" sz="1050" b="0" dirty="0">
                <a:solidFill>
                  <a:srgbClr val="569CD6"/>
                </a:solidFill>
                <a:effectLst/>
                <a:latin typeface="Consolas" panose="020B0609020204030204" pitchFamily="49" charset="0"/>
              </a:rPr>
              <a:t>EXTI_RTENR</a:t>
            </a:r>
            <a:r>
              <a:rPr lang="en-US" sz="1050" b="0" dirty="0">
                <a:solidFill>
                  <a:srgbClr val="CCCCCC"/>
                </a:solidFill>
                <a:effectLst/>
                <a:latin typeface="Consolas" panose="020B0609020204030204" pitchFamily="49" charset="0"/>
              </a:rPr>
              <a:t> </a:t>
            </a:r>
            <a:r>
              <a:rPr lang="en-US" sz="1050" b="0" dirty="0">
                <a:solidFill>
                  <a:srgbClr val="D4D4D4"/>
                </a:solidFill>
                <a:effectLst/>
                <a:latin typeface="Consolas" panose="020B0609020204030204" pitchFamily="49" charset="0"/>
              </a:rPr>
              <a:t>|=</a:t>
            </a:r>
            <a:r>
              <a:rPr lang="en-US" sz="1050" b="0" dirty="0">
                <a:solidFill>
                  <a:srgbClr val="CCCCCC"/>
                </a:solidFill>
                <a:effectLst/>
                <a:latin typeface="Consolas" panose="020B0609020204030204" pitchFamily="49" charset="0"/>
              </a:rPr>
              <a:t> </a:t>
            </a:r>
            <a:r>
              <a:rPr lang="en-US" sz="1050" b="0" dirty="0">
                <a:solidFill>
                  <a:srgbClr val="B5CEA8"/>
                </a:solidFill>
                <a:effectLst/>
                <a:latin typeface="Consolas" panose="020B0609020204030204" pitchFamily="49" charset="0"/>
              </a:rPr>
              <a:t>0b0000000000000010</a:t>
            </a:r>
            <a:r>
              <a:rPr lang="en-US" sz="1050" b="0" dirty="0">
                <a:solidFill>
                  <a:srgbClr val="CCCCCC"/>
                </a:solidFill>
                <a:effectLst/>
                <a:latin typeface="Consolas" panose="020B0609020204030204" pitchFamily="49" charset="0"/>
              </a:rPr>
              <a:t>;</a:t>
            </a:r>
            <a:r>
              <a:rPr lang="en-US" sz="1050" b="0" dirty="0">
                <a:solidFill>
                  <a:srgbClr val="6A9955"/>
                </a:solidFill>
                <a:effectLst/>
                <a:latin typeface="Consolas" panose="020B0609020204030204" pitchFamily="49" charset="0"/>
              </a:rPr>
              <a:t> // Generate a pulse when pin1 goes from 0 to 1</a:t>
            </a:r>
            <a:endParaRPr lang="en-US" sz="1050" b="0" dirty="0">
              <a:solidFill>
                <a:srgbClr val="CCCCCC"/>
              </a:solidFill>
              <a:effectLst/>
              <a:latin typeface="Consolas" panose="020B0609020204030204" pitchFamily="49" charset="0"/>
            </a:endParaRPr>
          </a:p>
          <a:p>
            <a:pPr>
              <a:lnSpc>
                <a:spcPts val="1425"/>
              </a:lnSpc>
              <a:buNone/>
            </a:pPr>
            <a:r>
              <a:rPr lang="en-US" sz="1050" b="0" dirty="0">
                <a:solidFill>
                  <a:srgbClr val="CCCCCC"/>
                </a:solidFill>
                <a:effectLst/>
                <a:latin typeface="Consolas" panose="020B0609020204030204" pitchFamily="49" charset="0"/>
              </a:rPr>
              <a:t>    </a:t>
            </a:r>
            <a:r>
              <a:rPr lang="en-US" sz="1050" b="0" dirty="0">
                <a:solidFill>
                  <a:srgbClr val="D4D4D4"/>
                </a:solidFill>
                <a:effectLst/>
                <a:latin typeface="Consolas" panose="020B0609020204030204" pitchFamily="49" charset="0"/>
              </a:rPr>
              <a:t>*</a:t>
            </a:r>
            <a:r>
              <a:rPr lang="en-US" sz="1050" b="0" dirty="0">
                <a:solidFill>
                  <a:srgbClr val="569CD6"/>
                </a:solidFill>
                <a:effectLst/>
                <a:latin typeface="Consolas" panose="020B0609020204030204" pitchFamily="49" charset="0"/>
              </a:rPr>
              <a:t>EXTI_FTENR</a:t>
            </a:r>
            <a:r>
              <a:rPr lang="en-US" sz="1050" b="0" dirty="0">
                <a:solidFill>
                  <a:srgbClr val="CCCCCC"/>
                </a:solidFill>
                <a:effectLst/>
                <a:latin typeface="Consolas" panose="020B0609020204030204" pitchFamily="49" charset="0"/>
              </a:rPr>
              <a:t>  </a:t>
            </a:r>
            <a:r>
              <a:rPr lang="en-US" sz="1050" b="0" dirty="0">
                <a:solidFill>
                  <a:srgbClr val="D4D4D4"/>
                </a:solidFill>
                <a:effectLst/>
                <a:latin typeface="Consolas" panose="020B0609020204030204" pitchFamily="49" charset="0"/>
              </a:rPr>
              <a:t>|=</a:t>
            </a:r>
            <a:r>
              <a:rPr lang="en-US" sz="1050" b="0" dirty="0">
                <a:solidFill>
                  <a:srgbClr val="CCCCCC"/>
                </a:solidFill>
                <a:effectLst/>
                <a:latin typeface="Consolas" panose="020B0609020204030204" pitchFamily="49" charset="0"/>
              </a:rPr>
              <a:t> </a:t>
            </a:r>
            <a:r>
              <a:rPr lang="en-US" sz="1050" b="0" dirty="0">
                <a:solidFill>
                  <a:srgbClr val="B5CEA8"/>
                </a:solidFill>
                <a:effectLst/>
                <a:latin typeface="Consolas" panose="020B0609020204030204" pitchFamily="49" charset="0"/>
              </a:rPr>
              <a:t>0x0</a:t>
            </a:r>
            <a:r>
              <a:rPr lang="en-US" sz="1050" b="0" dirty="0">
                <a:solidFill>
                  <a:srgbClr val="CCCCCC"/>
                </a:solidFill>
                <a:effectLst/>
                <a:latin typeface="Consolas" panose="020B0609020204030204" pitchFamily="49" charset="0"/>
              </a:rPr>
              <a:t>;</a:t>
            </a:r>
            <a:r>
              <a:rPr lang="en-US" sz="1050" b="0" dirty="0">
                <a:solidFill>
                  <a:srgbClr val="6A9955"/>
                </a:solidFill>
                <a:effectLst/>
                <a:latin typeface="Consolas" panose="020B0609020204030204" pitchFamily="49" charset="0"/>
              </a:rPr>
              <a:t> // Do NOT generate a pulse when pin1 goes from 1 to 0</a:t>
            </a:r>
            <a:endParaRPr lang="en-US" sz="1050" b="0" dirty="0">
              <a:solidFill>
                <a:srgbClr val="CCCCCC"/>
              </a:solidFill>
              <a:effectLst/>
              <a:latin typeface="Consolas" panose="020B0609020204030204" pitchFamily="49" charset="0"/>
            </a:endParaRPr>
          </a:p>
        </p:txBody>
      </p:sp>
    </p:spTree>
    <p:extLst>
      <p:ext uri="{BB962C8B-B14F-4D97-AF65-F5344CB8AC3E}">
        <p14:creationId xmlns:p14="http://schemas.microsoft.com/office/powerpoint/2010/main" val="354703656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9"/>
                                        </p:tgtEl>
                                        <p:attrNameLst>
                                          <p:attrName>style.visibility</p:attrName>
                                        </p:attrNameLst>
                                      </p:cBhvr>
                                      <p:to>
                                        <p:strVal val="visible"/>
                                      </p:to>
                                    </p:set>
                                    <p:animEffect transition="in" filter="fade">
                                      <p:cBhvr>
                                        <p:cTn id="7" dur="500"/>
                                        <p:tgtEl>
                                          <p:spTgt spid="4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9" grpId="0" animBg="1"/>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70B1D7-E1AB-B38A-8C0E-38B4FE23316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6C62F70-30B3-B99F-DF54-89E9A15C9778}"/>
              </a:ext>
            </a:extLst>
          </p:cNvPr>
          <p:cNvSpPr>
            <a:spLocks noGrp="1"/>
          </p:cNvSpPr>
          <p:nvPr>
            <p:ph type="title"/>
          </p:nvPr>
        </p:nvSpPr>
        <p:spPr/>
        <p:txBody>
          <a:bodyPr/>
          <a:lstStyle/>
          <a:p>
            <a:r>
              <a:rPr lang="en-US" dirty="0"/>
              <a:t>N</a:t>
            </a:r>
            <a:r>
              <a:rPr lang="sv-SE" dirty="0"/>
              <a:t>är skall vi fyra av ett </a:t>
            </a:r>
            <a:r>
              <a:rPr lang="sv-SE" dirty="0" err="1"/>
              <a:t>interrupt</a:t>
            </a:r>
            <a:r>
              <a:rPr lang="sv-SE" dirty="0"/>
              <a:t>? </a:t>
            </a:r>
            <a:br>
              <a:rPr lang="sv-SE" dirty="0"/>
            </a:br>
            <a:r>
              <a:rPr lang="sv-SE" sz="3200" dirty="0"/>
              <a:t>EXTI</a:t>
            </a:r>
            <a:endParaRPr lang="LID4096" dirty="0"/>
          </a:p>
        </p:txBody>
      </p:sp>
      <p:sp>
        <p:nvSpPr>
          <p:cNvPr id="4" name="TextBox 3">
            <a:extLst>
              <a:ext uri="{FF2B5EF4-FFF2-40B4-BE49-F238E27FC236}">
                <a16:creationId xmlns:a16="http://schemas.microsoft.com/office/drawing/2014/main" id="{C7B15C5A-F07B-4BA2-DBC0-1CEA2C660AA1}"/>
              </a:ext>
            </a:extLst>
          </p:cNvPr>
          <p:cNvSpPr txBox="1"/>
          <p:nvPr/>
        </p:nvSpPr>
        <p:spPr>
          <a:xfrm>
            <a:off x="2292728" y="1974294"/>
            <a:ext cx="8286434" cy="2584448"/>
          </a:xfrm>
          <a:prstGeom prst="rect">
            <a:avLst/>
          </a:prstGeom>
          <a:solidFill>
            <a:schemeClr val="accent6">
              <a:lumMod val="40000"/>
              <a:lumOff val="60000"/>
            </a:schemeClr>
          </a:solidFill>
          <a:ln>
            <a:solidFill>
              <a:schemeClr val="accent6">
                <a:lumMod val="75000"/>
              </a:schemeClr>
            </a:solidFill>
          </a:ln>
        </p:spPr>
        <p:txBody>
          <a:bodyPr wrap="square" rtlCol="0">
            <a:noAutofit/>
          </a:bodyPr>
          <a:lstStyle/>
          <a:p>
            <a:pPr algn="ctr"/>
            <a:r>
              <a:rPr lang="en-US"/>
              <a:t>EXTI</a:t>
            </a:r>
            <a:br>
              <a:rPr lang="en-US"/>
            </a:br>
            <a:endParaRPr lang="en-US" sz="1050"/>
          </a:p>
        </p:txBody>
      </p:sp>
      <p:sp>
        <p:nvSpPr>
          <p:cNvPr id="5" name="TextBox 4">
            <a:extLst>
              <a:ext uri="{FF2B5EF4-FFF2-40B4-BE49-F238E27FC236}">
                <a16:creationId xmlns:a16="http://schemas.microsoft.com/office/drawing/2014/main" id="{23774D7F-3B63-979C-3CCE-D4285FC0331E}"/>
              </a:ext>
            </a:extLst>
          </p:cNvPr>
          <p:cNvSpPr txBox="1"/>
          <p:nvPr/>
        </p:nvSpPr>
        <p:spPr>
          <a:xfrm>
            <a:off x="9985835" y="3280885"/>
            <a:ext cx="593327" cy="1223412"/>
          </a:xfrm>
          <a:prstGeom prst="rect">
            <a:avLst/>
          </a:prstGeom>
          <a:noFill/>
        </p:spPr>
        <p:txBody>
          <a:bodyPr wrap="square">
            <a:spAutoFit/>
          </a:bodyPr>
          <a:lstStyle/>
          <a:p>
            <a:pPr algn="r"/>
            <a:r>
              <a:rPr lang="en-US" sz="1050"/>
              <a:t>EXTI0</a:t>
            </a:r>
            <a:br>
              <a:rPr lang="en-US" sz="1050"/>
            </a:br>
            <a:r>
              <a:rPr lang="en-US" sz="1050" b="1"/>
              <a:t>EXTI1</a:t>
            </a:r>
            <a:br>
              <a:rPr lang="en-US" sz="1050" b="1"/>
            </a:br>
            <a:r>
              <a:rPr lang="en-US" sz="1050"/>
              <a:t>EXTI2</a:t>
            </a:r>
            <a:br>
              <a:rPr lang="en-US" sz="1050"/>
            </a:br>
            <a:r>
              <a:rPr lang="en-US" sz="1050"/>
              <a:t>EXTI3</a:t>
            </a:r>
            <a:br>
              <a:rPr lang="en-US" sz="1050"/>
            </a:br>
            <a:r>
              <a:rPr lang="en-US" sz="1050"/>
              <a:t>EXTI4</a:t>
            </a:r>
          </a:p>
          <a:p>
            <a:pPr algn="r"/>
            <a:r>
              <a:rPr lang="en-US" sz="1050"/>
              <a:t>EXTI5</a:t>
            </a:r>
          </a:p>
          <a:p>
            <a:pPr algn="ctr"/>
            <a:r>
              <a:rPr lang="en-US" sz="1050"/>
              <a:t>...</a:t>
            </a:r>
            <a:endParaRPr lang="LID4096" sz="3600" dirty="0"/>
          </a:p>
        </p:txBody>
      </p:sp>
      <p:cxnSp>
        <p:nvCxnSpPr>
          <p:cNvPr id="6" name="Straight Arrow Connector 5">
            <a:extLst>
              <a:ext uri="{FF2B5EF4-FFF2-40B4-BE49-F238E27FC236}">
                <a16:creationId xmlns:a16="http://schemas.microsoft.com/office/drawing/2014/main" id="{6D9D9336-E2BF-647A-42BE-0F7052BC56CA}"/>
              </a:ext>
            </a:extLst>
          </p:cNvPr>
          <p:cNvCxnSpPr/>
          <p:nvPr/>
        </p:nvCxnSpPr>
        <p:spPr>
          <a:xfrm flipH="1">
            <a:off x="10679040" y="3415557"/>
            <a:ext cx="531213" cy="0"/>
          </a:xfrm>
          <a:prstGeom prst="straightConnector1">
            <a:avLst/>
          </a:prstGeom>
          <a:ln w="50800">
            <a:solidFill>
              <a:schemeClr val="bg2">
                <a:lumMod val="90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7" name="Straight Arrow Connector 6">
            <a:extLst>
              <a:ext uri="{FF2B5EF4-FFF2-40B4-BE49-F238E27FC236}">
                <a16:creationId xmlns:a16="http://schemas.microsoft.com/office/drawing/2014/main" id="{E86E3816-086A-7152-F646-AB4A0A1284B9}"/>
              </a:ext>
            </a:extLst>
          </p:cNvPr>
          <p:cNvCxnSpPr/>
          <p:nvPr/>
        </p:nvCxnSpPr>
        <p:spPr>
          <a:xfrm flipH="1">
            <a:off x="10679040" y="3570054"/>
            <a:ext cx="531213" cy="0"/>
          </a:xfrm>
          <a:prstGeom prst="straightConnector1">
            <a:avLst/>
          </a:prstGeom>
          <a:ln w="50800">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8" name="Straight Arrow Connector 7">
            <a:extLst>
              <a:ext uri="{FF2B5EF4-FFF2-40B4-BE49-F238E27FC236}">
                <a16:creationId xmlns:a16="http://schemas.microsoft.com/office/drawing/2014/main" id="{D237F0CE-6706-9E2C-20A1-6035F72CFE0E}"/>
              </a:ext>
            </a:extLst>
          </p:cNvPr>
          <p:cNvCxnSpPr/>
          <p:nvPr/>
        </p:nvCxnSpPr>
        <p:spPr>
          <a:xfrm flipH="1">
            <a:off x="10675869" y="3745525"/>
            <a:ext cx="531213" cy="0"/>
          </a:xfrm>
          <a:prstGeom prst="straightConnector1">
            <a:avLst/>
          </a:prstGeom>
          <a:ln w="50800">
            <a:solidFill>
              <a:schemeClr val="bg2">
                <a:lumMod val="90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9" name="Straight Arrow Connector 8">
            <a:extLst>
              <a:ext uri="{FF2B5EF4-FFF2-40B4-BE49-F238E27FC236}">
                <a16:creationId xmlns:a16="http://schemas.microsoft.com/office/drawing/2014/main" id="{EB3928FC-311B-622D-DEC8-825742484F15}"/>
              </a:ext>
            </a:extLst>
          </p:cNvPr>
          <p:cNvCxnSpPr/>
          <p:nvPr/>
        </p:nvCxnSpPr>
        <p:spPr>
          <a:xfrm flipH="1">
            <a:off x="10675869" y="3907012"/>
            <a:ext cx="531213" cy="0"/>
          </a:xfrm>
          <a:prstGeom prst="straightConnector1">
            <a:avLst/>
          </a:prstGeom>
          <a:ln w="50800">
            <a:solidFill>
              <a:schemeClr val="bg2">
                <a:lumMod val="90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10" name="Straight Arrow Connector 9">
            <a:extLst>
              <a:ext uri="{FF2B5EF4-FFF2-40B4-BE49-F238E27FC236}">
                <a16:creationId xmlns:a16="http://schemas.microsoft.com/office/drawing/2014/main" id="{58DE3411-A579-8A56-5FF7-B791E179A8F6}"/>
              </a:ext>
            </a:extLst>
          </p:cNvPr>
          <p:cNvCxnSpPr/>
          <p:nvPr/>
        </p:nvCxnSpPr>
        <p:spPr>
          <a:xfrm flipH="1">
            <a:off x="10675869" y="4065306"/>
            <a:ext cx="531213" cy="0"/>
          </a:xfrm>
          <a:prstGeom prst="straightConnector1">
            <a:avLst/>
          </a:prstGeom>
          <a:ln w="50800">
            <a:solidFill>
              <a:schemeClr val="bg2">
                <a:lumMod val="90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11" name="Straight Arrow Connector 10">
            <a:extLst>
              <a:ext uri="{FF2B5EF4-FFF2-40B4-BE49-F238E27FC236}">
                <a16:creationId xmlns:a16="http://schemas.microsoft.com/office/drawing/2014/main" id="{A952783D-AFB1-F504-3E14-695476E75FA8}"/>
              </a:ext>
            </a:extLst>
          </p:cNvPr>
          <p:cNvCxnSpPr/>
          <p:nvPr/>
        </p:nvCxnSpPr>
        <p:spPr>
          <a:xfrm flipH="1">
            <a:off x="10675869" y="4228870"/>
            <a:ext cx="531213" cy="0"/>
          </a:xfrm>
          <a:prstGeom prst="straightConnector1">
            <a:avLst/>
          </a:prstGeom>
          <a:ln w="50800">
            <a:solidFill>
              <a:schemeClr val="bg2">
                <a:lumMod val="9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12" name="Rectangle 11">
            <a:extLst>
              <a:ext uri="{FF2B5EF4-FFF2-40B4-BE49-F238E27FC236}">
                <a16:creationId xmlns:a16="http://schemas.microsoft.com/office/drawing/2014/main" id="{3258E676-45A9-EBB8-6BFC-AE4FC85A5241}"/>
              </a:ext>
            </a:extLst>
          </p:cNvPr>
          <p:cNvSpPr/>
          <p:nvPr/>
        </p:nvSpPr>
        <p:spPr>
          <a:xfrm>
            <a:off x="10687428" y="3695101"/>
            <a:ext cx="908134" cy="647781"/>
          </a:xfrm>
          <a:prstGeom prst="rect">
            <a:avLst/>
          </a:prstGeom>
          <a:gradFill>
            <a:gsLst>
              <a:gs pos="78900">
                <a:schemeClr val="bg1"/>
              </a:gs>
              <a:gs pos="0">
                <a:schemeClr val="accent1">
                  <a:lumMod val="5000"/>
                  <a:lumOff val="95000"/>
                  <a:alpha val="0"/>
                </a:schemeClr>
              </a:gs>
              <a:gs pos="100000">
                <a:schemeClr val="bg1"/>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13" name="TextBox 12">
            <a:extLst>
              <a:ext uri="{FF2B5EF4-FFF2-40B4-BE49-F238E27FC236}">
                <a16:creationId xmlns:a16="http://schemas.microsoft.com/office/drawing/2014/main" id="{FFDD82A1-408C-235D-D4D2-EAD24731DB09}"/>
              </a:ext>
            </a:extLst>
          </p:cNvPr>
          <p:cNvSpPr txBox="1"/>
          <p:nvPr/>
        </p:nvSpPr>
        <p:spPr>
          <a:xfrm>
            <a:off x="2281169" y="3114769"/>
            <a:ext cx="849594" cy="1223412"/>
          </a:xfrm>
          <a:prstGeom prst="rect">
            <a:avLst/>
          </a:prstGeom>
          <a:noFill/>
        </p:spPr>
        <p:txBody>
          <a:bodyPr wrap="square">
            <a:spAutoFit/>
          </a:bodyPr>
          <a:lstStyle/>
          <a:p>
            <a:r>
              <a:rPr lang="en-US" sz="1050"/>
              <a:t>EXTI0</a:t>
            </a:r>
            <a:br>
              <a:rPr lang="en-US" sz="1050"/>
            </a:br>
            <a:r>
              <a:rPr lang="en-US" sz="1050" b="1"/>
              <a:t>EXTI1</a:t>
            </a:r>
            <a:br>
              <a:rPr lang="en-US" sz="1050"/>
            </a:br>
            <a:r>
              <a:rPr lang="en-US" sz="1050"/>
              <a:t>EXTI2</a:t>
            </a:r>
            <a:br>
              <a:rPr lang="en-US" sz="1050"/>
            </a:br>
            <a:r>
              <a:rPr lang="en-US" sz="1050"/>
              <a:t>EXTI3</a:t>
            </a:r>
            <a:br>
              <a:rPr lang="en-US" sz="1050"/>
            </a:br>
            <a:r>
              <a:rPr lang="en-US" sz="1050"/>
              <a:t>EXTI4</a:t>
            </a:r>
          </a:p>
          <a:p>
            <a:r>
              <a:rPr lang="en-US" sz="1050"/>
              <a:t>EXTI5_9</a:t>
            </a:r>
            <a:br>
              <a:rPr lang="en-US" sz="1050"/>
            </a:br>
            <a:r>
              <a:rPr lang="en-US" sz="1050"/>
              <a:t>EXTI10_15</a:t>
            </a:r>
          </a:p>
        </p:txBody>
      </p:sp>
      <p:sp>
        <p:nvSpPr>
          <p:cNvPr id="14" name="TextBox 13">
            <a:extLst>
              <a:ext uri="{FF2B5EF4-FFF2-40B4-BE49-F238E27FC236}">
                <a16:creationId xmlns:a16="http://schemas.microsoft.com/office/drawing/2014/main" id="{4E2DCA1F-B4D8-FD01-C615-113791099C33}"/>
              </a:ext>
            </a:extLst>
          </p:cNvPr>
          <p:cNvSpPr txBox="1"/>
          <p:nvPr/>
        </p:nvSpPr>
        <p:spPr>
          <a:xfrm rot="16200000">
            <a:off x="188771" y="2956314"/>
            <a:ext cx="2584447" cy="620410"/>
          </a:xfrm>
          <a:prstGeom prst="rect">
            <a:avLst/>
          </a:prstGeom>
          <a:solidFill>
            <a:schemeClr val="accent1">
              <a:lumMod val="60000"/>
              <a:lumOff val="40000"/>
            </a:schemeClr>
          </a:solidFill>
          <a:ln>
            <a:solidFill>
              <a:schemeClr val="tx2">
                <a:lumMod val="75000"/>
                <a:lumOff val="25000"/>
              </a:schemeClr>
            </a:solidFill>
          </a:ln>
        </p:spPr>
        <p:txBody>
          <a:bodyPr wrap="square" rtlCol="0">
            <a:noAutofit/>
          </a:bodyPr>
          <a:lstStyle/>
          <a:p>
            <a:pPr algn="ctr"/>
            <a:r>
              <a:rPr lang="en-US" sz="3600"/>
              <a:t>PFIC</a:t>
            </a:r>
            <a:endParaRPr lang="LID4096" sz="6000" dirty="0"/>
          </a:p>
        </p:txBody>
      </p:sp>
      <p:sp>
        <p:nvSpPr>
          <p:cNvPr id="15" name="TextBox 14">
            <a:extLst>
              <a:ext uri="{FF2B5EF4-FFF2-40B4-BE49-F238E27FC236}">
                <a16:creationId xmlns:a16="http://schemas.microsoft.com/office/drawing/2014/main" id="{30F58443-DAB1-917A-F304-C364E298EAA2}"/>
              </a:ext>
            </a:extLst>
          </p:cNvPr>
          <p:cNvSpPr txBox="1"/>
          <p:nvPr/>
        </p:nvSpPr>
        <p:spPr>
          <a:xfrm>
            <a:off x="7828729" y="3412504"/>
            <a:ext cx="1676228" cy="276999"/>
          </a:xfrm>
          <a:prstGeom prst="rect">
            <a:avLst/>
          </a:prstGeom>
          <a:solidFill>
            <a:schemeClr val="bg1"/>
          </a:solidFill>
          <a:ln>
            <a:solidFill>
              <a:schemeClr val="tx1"/>
            </a:solidFill>
          </a:ln>
        </p:spPr>
        <p:txBody>
          <a:bodyPr wrap="none" rtlCol="0">
            <a:spAutoFit/>
          </a:bodyPr>
          <a:lstStyle/>
          <a:p>
            <a:r>
              <a:rPr lang="en-GB" sz="1200"/>
              <a:t>Edge Detection Circuit</a:t>
            </a:r>
            <a:endParaRPr lang="LID4096" sz="1200"/>
          </a:p>
        </p:txBody>
      </p:sp>
      <p:sp>
        <p:nvSpPr>
          <p:cNvPr id="16" name="TextBox 15">
            <a:extLst>
              <a:ext uri="{FF2B5EF4-FFF2-40B4-BE49-F238E27FC236}">
                <a16:creationId xmlns:a16="http://schemas.microsoft.com/office/drawing/2014/main" id="{199C793F-00AB-05B0-84C9-F91D9AB311F9}"/>
              </a:ext>
            </a:extLst>
          </p:cNvPr>
          <p:cNvSpPr txBox="1"/>
          <p:nvPr/>
        </p:nvSpPr>
        <p:spPr>
          <a:xfrm>
            <a:off x="8714848" y="2433626"/>
            <a:ext cx="889987" cy="246221"/>
          </a:xfrm>
          <a:prstGeom prst="rect">
            <a:avLst/>
          </a:prstGeom>
          <a:solidFill>
            <a:schemeClr val="tx1">
              <a:lumMod val="50000"/>
              <a:lumOff val="50000"/>
            </a:schemeClr>
          </a:solidFill>
          <a:ln>
            <a:solidFill>
              <a:schemeClr val="tx1"/>
            </a:solidFill>
          </a:ln>
        </p:spPr>
        <p:txBody>
          <a:bodyPr wrap="none" rtlCol="0">
            <a:spAutoFit/>
          </a:bodyPr>
          <a:lstStyle/>
          <a:p>
            <a:r>
              <a:rPr lang="en-GB" sz="1000">
                <a:solidFill>
                  <a:schemeClr val="bg2"/>
                </a:solidFill>
                <a:latin typeface="Consolas" panose="020B0609020204030204" pitchFamily="49" charset="0"/>
              </a:rPr>
              <a:t>EXTI_FTENR</a:t>
            </a:r>
            <a:endParaRPr lang="LID4096" sz="1000">
              <a:solidFill>
                <a:schemeClr val="bg2"/>
              </a:solidFill>
              <a:latin typeface="Consolas" panose="020B0609020204030204" pitchFamily="49" charset="0"/>
            </a:endParaRPr>
          </a:p>
        </p:txBody>
      </p:sp>
      <p:sp>
        <p:nvSpPr>
          <p:cNvPr id="17" name="TextBox 16">
            <a:extLst>
              <a:ext uri="{FF2B5EF4-FFF2-40B4-BE49-F238E27FC236}">
                <a16:creationId xmlns:a16="http://schemas.microsoft.com/office/drawing/2014/main" id="{F221B2C4-7A0A-8CD1-D445-85C9FDF9E936}"/>
              </a:ext>
            </a:extLst>
          </p:cNvPr>
          <p:cNvSpPr txBox="1"/>
          <p:nvPr/>
        </p:nvSpPr>
        <p:spPr>
          <a:xfrm>
            <a:off x="8714848" y="2679847"/>
            <a:ext cx="889987" cy="338554"/>
          </a:xfrm>
          <a:prstGeom prst="rect">
            <a:avLst/>
          </a:prstGeom>
          <a:solidFill>
            <a:schemeClr val="bg1"/>
          </a:solidFill>
          <a:ln>
            <a:solidFill>
              <a:schemeClr val="tx1"/>
            </a:solidFill>
          </a:ln>
        </p:spPr>
        <p:txBody>
          <a:bodyPr wrap="square" rtlCol="0">
            <a:spAutoFit/>
          </a:bodyPr>
          <a:lstStyle/>
          <a:p>
            <a:pPr algn="ctr"/>
            <a:r>
              <a:rPr lang="en-GB" sz="800" i="1"/>
              <a:t>Falling trigger enable register</a:t>
            </a:r>
            <a:endParaRPr lang="LID4096" sz="800" i="1"/>
          </a:p>
        </p:txBody>
      </p:sp>
      <p:sp>
        <p:nvSpPr>
          <p:cNvPr id="18" name="TextBox 17">
            <a:extLst>
              <a:ext uri="{FF2B5EF4-FFF2-40B4-BE49-F238E27FC236}">
                <a16:creationId xmlns:a16="http://schemas.microsoft.com/office/drawing/2014/main" id="{E2F0DC7C-86BB-1F1D-4B75-ECB549DF991F}"/>
              </a:ext>
            </a:extLst>
          </p:cNvPr>
          <p:cNvSpPr txBox="1"/>
          <p:nvPr/>
        </p:nvSpPr>
        <p:spPr>
          <a:xfrm>
            <a:off x="7694768" y="2430145"/>
            <a:ext cx="889987" cy="246221"/>
          </a:xfrm>
          <a:prstGeom prst="rect">
            <a:avLst/>
          </a:prstGeom>
          <a:solidFill>
            <a:schemeClr val="tx1">
              <a:lumMod val="50000"/>
              <a:lumOff val="50000"/>
            </a:schemeClr>
          </a:solidFill>
          <a:ln>
            <a:solidFill>
              <a:schemeClr val="tx1"/>
            </a:solidFill>
          </a:ln>
        </p:spPr>
        <p:txBody>
          <a:bodyPr wrap="none" rtlCol="0">
            <a:spAutoFit/>
          </a:bodyPr>
          <a:lstStyle/>
          <a:p>
            <a:r>
              <a:rPr lang="en-GB" sz="1000">
                <a:solidFill>
                  <a:schemeClr val="bg2"/>
                </a:solidFill>
                <a:latin typeface="Consolas" panose="020B0609020204030204" pitchFamily="49" charset="0"/>
              </a:rPr>
              <a:t>EXTI_RTENR</a:t>
            </a:r>
            <a:endParaRPr lang="LID4096" sz="1000">
              <a:solidFill>
                <a:schemeClr val="bg2"/>
              </a:solidFill>
              <a:latin typeface="Consolas" panose="020B0609020204030204" pitchFamily="49" charset="0"/>
            </a:endParaRPr>
          </a:p>
        </p:txBody>
      </p:sp>
      <p:sp>
        <p:nvSpPr>
          <p:cNvPr id="19" name="TextBox 18">
            <a:extLst>
              <a:ext uri="{FF2B5EF4-FFF2-40B4-BE49-F238E27FC236}">
                <a16:creationId xmlns:a16="http://schemas.microsoft.com/office/drawing/2014/main" id="{B0298531-B664-C512-46D0-ADFD8C1FD617}"/>
              </a:ext>
            </a:extLst>
          </p:cNvPr>
          <p:cNvSpPr txBox="1"/>
          <p:nvPr/>
        </p:nvSpPr>
        <p:spPr>
          <a:xfrm>
            <a:off x="7694768" y="2676366"/>
            <a:ext cx="889987" cy="338554"/>
          </a:xfrm>
          <a:prstGeom prst="rect">
            <a:avLst/>
          </a:prstGeom>
          <a:solidFill>
            <a:schemeClr val="bg1"/>
          </a:solidFill>
          <a:ln>
            <a:solidFill>
              <a:schemeClr val="tx1"/>
            </a:solidFill>
          </a:ln>
        </p:spPr>
        <p:txBody>
          <a:bodyPr wrap="square" rtlCol="0">
            <a:spAutoFit/>
          </a:bodyPr>
          <a:lstStyle/>
          <a:p>
            <a:pPr algn="ctr"/>
            <a:r>
              <a:rPr lang="en-GB" sz="800" i="1"/>
              <a:t>Rising trigger enable register</a:t>
            </a:r>
            <a:endParaRPr lang="LID4096" sz="800" i="1"/>
          </a:p>
        </p:txBody>
      </p:sp>
      <p:cxnSp>
        <p:nvCxnSpPr>
          <p:cNvPr id="25" name="Straight Connector 24">
            <a:extLst>
              <a:ext uri="{FF2B5EF4-FFF2-40B4-BE49-F238E27FC236}">
                <a16:creationId xmlns:a16="http://schemas.microsoft.com/office/drawing/2014/main" id="{985BD037-35F5-1B21-0D71-FC767DE25E35}"/>
              </a:ext>
            </a:extLst>
          </p:cNvPr>
          <p:cNvCxnSpPr>
            <a:cxnSpLocks/>
          </p:cNvCxnSpPr>
          <p:nvPr/>
        </p:nvCxnSpPr>
        <p:spPr>
          <a:xfrm flipH="1">
            <a:off x="9504957" y="3553247"/>
            <a:ext cx="547155" cy="0"/>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6" name="Straight Connector 25">
            <a:extLst>
              <a:ext uri="{FF2B5EF4-FFF2-40B4-BE49-F238E27FC236}">
                <a16:creationId xmlns:a16="http://schemas.microsoft.com/office/drawing/2014/main" id="{65F5DB9C-4569-6E8A-C13F-E40AB1D23EDC}"/>
              </a:ext>
            </a:extLst>
          </p:cNvPr>
          <p:cNvCxnSpPr>
            <a:cxnSpLocks/>
          </p:cNvCxnSpPr>
          <p:nvPr/>
        </p:nvCxnSpPr>
        <p:spPr>
          <a:xfrm flipV="1">
            <a:off x="9131362" y="3018401"/>
            <a:ext cx="0" cy="394103"/>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6E26DCC9-80EC-61CB-554F-94FCC6509836}"/>
              </a:ext>
            </a:extLst>
          </p:cNvPr>
          <p:cNvCxnSpPr>
            <a:cxnSpLocks/>
          </p:cNvCxnSpPr>
          <p:nvPr/>
        </p:nvCxnSpPr>
        <p:spPr>
          <a:xfrm flipV="1">
            <a:off x="8160867" y="3009166"/>
            <a:ext cx="0" cy="394103"/>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8" name="Straight Connector 27">
            <a:extLst>
              <a:ext uri="{FF2B5EF4-FFF2-40B4-BE49-F238E27FC236}">
                <a16:creationId xmlns:a16="http://schemas.microsoft.com/office/drawing/2014/main" id="{7C6E0D81-1B98-F972-5AA1-75FD7D76E270}"/>
              </a:ext>
            </a:extLst>
          </p:cNvPr>
          <p:cNvCxnSpPr>
            <a:cxnSpLocks/>
          </p:cNvCxnSpPr>
          <p:nvPr/>
        </p:nvCxnSpPr>
        <p:spPr>
          <a:xfrm flipH="1">
            <a:off x="6583563" y="3593873"/>
            <a:ext cx="1245166" cy="0"/>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34" name="Straight Arrow Connector 33">
            <a:extLst>
              <a:ext uri="{FF2B5EF4-FFF2-40B4-BE49-F238E27FC236}">
                <a16:creationId xmlns:a16="http://schemas.microsoft.com/office/drawing/2014/main" id="{3519AC83-1C61-A2C2-BCDE-A449C9111997}"/>
              </a:ext>
            </a:extLst>
          </p:cNvPr>
          <p:cNvCxnSpPr/>
          <p:nvPr/>
        </p:nvCxnSpPr>
        <p:spPr>
          <a:xfrm flipH="1">
            <a:off x="1761515" y="3396507"/>
            <a:ext cx="531213" cy="0"/>
          </a:xfrm>
          <a:prstGeom prst="straightConnector1">
            <a:avLst/>
          </a:prstGeom>
          <a:ln w="50800">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37" name="Freeform: Shape 36">
            <a:extLst>
              <a:ext uri="{FF2B5EF4-FFF2-40B4-BE49-F238E27FC236}">
                <a16:creationId xmlns:a16="http://schemas.microsoft.com/office/drawing/2014/main" id="{C379CEC1-0CBA-12A9-8E0E-B948FE1AB2AA}"/>
              </a:ext>
            </a:extLst>
          </p:cNvPr>
          <p:cNvSpPr/>
          <p:nvPr/>
        </p:nvSpPr>
        <p:spPr>
          <a:xfrm>
            <a:off x="2762312" y="3396692"/>
            <a:ext cx="577850" cy="0"/>
          </a:xfrm>
          <a:custGeom>
            <a:avLst/>
            <a:gdLst>
              <a:gd name="csX0" fmla="*/ 577850 w 577850"/>
              <a:gd name="csY0" fmla="*/ 0 h 0"/>
              <a:gd name="csX1" fmla="*/ 0 w 577850"/>
              <a:gd name="csY1" fmla="*/ 0 h 0"/>
            </a:gdLst>
            <a:ahLst/>
            <a:cxnLst>
              <a:cxn ang="0">
                <a:pos x="csX0" y="csY0"/>
              </a:cxn>
              <a:cxn ang="0">
                <a:pos x="csX1" y="csY1"/>
              </a:cxn>
            </a:cxnLst>
            <a:rect l="l" t="t" r="r" b="b"/>
            <a:pathLst>
              <a:path w="577850">
                <a:moveTo>
                  <a:pt x="577850" y="0"/>
                </a:moveTo>
                <a:lnTo>
                  <a:pt x="0" y="0"/>
                </a:lnTo>
              </a:path>
            </a:pathLst>
          </a:custGeom>
          <a:noFill/>
          <a:ln>
            <a:solidFill>
              <a:schemeClr val="tx1"/>
            </a:solidFill>
            <a:tailEnd type="triangle"/>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43" name="Freeform: Shape 42">
            <a:extLst>
              <a:ext uri="{FF2B5EF4-FFF2-40B4-BE49-F238E27FC236}">
                <a16:creationId xmlns:a16="http://schemas.microsoft.com/office/drawing/2014/main" id="{1DF25EED-3CA9-CF85-4ACE-F0437FEB8CBF}"/>
              </a:ext>
            </a:extLst>
          </p:cNvPr>
          <p:cNvSpPr/>
          <p:nvPr/>
        </p:nvSpPr>
        <p:spPr>
          <a:xfrm>
            <a:off x="7474187" y="3717874"/>
            <a:ext cx="226503" cy="247475"/>
          </a:xfrm>
          <a:custGeom>
            <a:avLst/>
            <a:gdLst>
              <a:gd name="csX0" fmla="*/ 0 w 226503"/>
              <a:gd name="csY0" fmla="*/ 247475 h 247475"/>
              <a:gd name="csX1" fmla="*/ 83890 w 226503"/>
              <a:gd name="csY1" fmla="*/ 247475 h 247475"/>
              <a:gd name="csX2" fmla="*/ 83890 w 226503"/>
              <a:gd name="csY2" fmla="*/ 0 h 247475"/>
              <a:gd name="csX3" fmla="*/ 146808 w 226503"/>
              <a:gd name="csY3" fmla="*/ 0 h 247475"/>
              <a:gd name="csX4" fmla="*/ 146808 w 226503"/>
              <a:gd name="csY4" fmla="*/ 247475 h 247475"/>
              <a:gd name="csX5" fmla="*/ 226503 w 226503"/>
              <a:gd name="csY5" fmla="*/ 247475 h 247475"/>
            </a:gdLst>
            <a:ahLst/>
            <a:cxnLst>
              <a:cxn ang="0">
                <a:pos x="csX0" y="csY0"/>
              </a:cxn>
              <a:cxn ang="0">
                <a:pos x="csX1" y="csY1"/>
              </a:cxn>
              <a:cxn ang="0">
                <a:pos x="csX2" y="csY2"/>
              </a:cxn>
              <a:cxn ang="0">
                <a:pos x="csX3" y="csY3"/>
              </a:cxn>
              <a:cxn ang="0">
                <a:pos x="csX4" y="csY4"/>
              </a:cxn>
              <a:cxn ang="0">
                <a:pos x="csX5" y="csY5"/>
              </a:cxn>
            </a:cxnLst>
            <a:rect l="l" t="t" r="r" b="b"/>
            <a:pathLst>
              <a:path w="226503" h="247475">
                <a:moveTo>
                  <a:pt x="0" y="247475"/>
                </a:moveTo>
                <a:lnTo>
                  <a:pt x="83890" y="247475"/>
                </a:lnTo>
                <a:lnTo>
                  <a:pt x="83890" y="0"/>
                </a:lnTo>
                <a:lnTo>
                  <a:pt x="146808" y="0"/>
                </a:lnTo>
                <a:lnTo>
                  <a:pt x="146808" y="247475"/>
                </a:lnTo>
                <a:lnTo>
                  <a:pt x="226503" y="247475"/>
                </a:lnTo>
              </a:path>
            </a:pathLst>
          </a:custGeom>
          <a:no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cxnSp>
        <p:nvCxnSpPr>
          <p:cNvPr id="44" name="Straight Connector 43">
            <a:extLst>
              <a:ext uri="{FF2B5EF4-FFF2-40B4-BE49-F238E27FC236}">
                <a16:creationId xmlns:a16="http://schemas.microsoft.com/office/drawing/2014/main" id="{247DCA4E-F442-C39B-994D-47CBF1BB1687}"/>
              </a:ext>
            </a:extLst>
          </p:cNvPr>
          <p:cNvCxnSpPr>
            <a:cxnSpLocks/>
          </p:cNvCxnSpPr>
          <p:nvPr/>
        </p:nvCxnSpPr>
        <p:spPr>
          <a:xfrm flipH="1" flipV="1">
            <a:off x="7313757" y="3965044"/>
            <a:ext cx="139457" cy="305"/>
          </a:xfrm>
          <a:prstGeom prst="line">
            <a:avLst/>
          </a:prstGeom>
          <a:ln w="12700">
            <a:solidFill>
              <a:schemeClr val="tx1"/>
            </a:solidFill>
            <a:prstDash val="sysDot"/>
          </a:ln>
        </p:spPr>
        <p:style>
          <a:lnRef idx="2">
            <a:schemeClr val="accent1"/>
          </a:lnRef>
          <a:fillRef idx="0">
            <a:schemeClr val="accent1"/>
          </a:fillRef>
          <a:effectRef idx="1">
            <a:schemeClr val="accent1"/>
          </a:effectRef>
          <a:fontRef idx="minor">
            <a:schemeClr val="tx1"/>
          </a:fontRef>
        </p:style>
      </p:cxnSp>
      <p:cxnSp>
        <p:nvCxnSpPr>
          <p:cNvPr id="45" name="Straight Connector 44">
            <a:extLst>
              <a:ext uri="{FF2B5EF4-FFF2-40B4-BE49-F238E27FC236}">
                <a16:creationId xmlns:a16="http://schemas.microsoft.com/office/drawing/2014/main" id="{6CCFC1E9-3CDB-F0CA-0D55-66C8C0F9D5AD}"/>
              </a:ext>
            </a:extLst>
          </p:cNvPr>
          <p:cNvCxnSpPr>
            <a:cxnSpLocks/>
          </p:cNvCxnSpPr>
          <p:nvPr/>
        </p:nvCxnSpPr>
        <p:spPr>
          <a:xfrm flipH="1" flipV="1">
            <a:off x="7718923" y="3965044"/>
            <a:ext cx="139457" cy="305"/>
          </a:xfrm>
          <a:prstGeom prst="line">
            <a:avLst/>
          </a:prstGeom>
          <a:ln w="12700">
            <a:solidFill>
              <a:schemeClr val="tx1"/>
            </a:solidFill>
            <a:prstDash val="sysDot"/>
          </a:ln>
        </p:spPr>
        <p:style>
          <a:lnRef idx="2">
            <a:schemeClr val="accent1"/>
          </a:lnRef>
          <a:fillRef idx="0">
            <a:schemeClr val="accent1"/>
          </a:fillRef>
          <a:effectRef idx="1">
            <a:schemeClr val="accent1"/>
          </a:effectRef>
          <a:fontRef idx="minor">
            <a:schemeClr val="tx1"/>
          </a:fontRef>
        </p:style>
      </p:cxnSp>
      <p:sp>
        <p:nvSpPr>
          <p:cNvPr id="46" name="TextBox 45">
            <a:extLst>
              <a:ext uri="{FF2B5EF4-FFF2-40B4-BE49-F238E27FC236}">
                <a16:creationId xmlns:a16="http://schemas.microsoft.com/office/drawing/2014/main" id="{AE24CB81-D267-D3FF-52C0-F98E9EAB5345}"/>
              </a:ext>
            </a:extLst>
          </p:cNvPr>
          <p:cNvSpPr txBox="1"/>
          <p:nvPr/>
        </p:nvSpPr>
        <p:spPr>
          <a:xfrm>
            <a:off x="7142444" y="3975884"/>
            <a:ext cx="889987" cy="215444"/>
          </a:xfrm>
          <a:prstGeom prst="rect">
            <a:avLst/>
          </a:prstGeom>
          <a:noFill/>
          <a:ln>
            <a:noFill/>
          </a:ln>
        </p:spPr>
        <p:txBody>
          <a:bodyPr wrap="square" rtlCol="0">
            <a:spAutoFit/>
          </a:bodyPr>
          <a:lstStyle/>
          <a:p>
            <a:pPr algn="ctr"/>
            <a:r>
              <a:rPr lang="en-GB" sz="800" i="1"/>
              <a:t>pulse</a:t>
            </a:r>
            <a:endParaRPr lang="LID4096" sz="800" i="1"/>
          </a:p>
        </p:txBody>
      </p:sp>
      <p:pic>
        <p:nvPicPr>
          <p:cNvPr id="50" name="Picture 49">
            <a:extLst>
              <a:ext uri="{FF2B5EF4-FFF2-40B4-BE49-F238E27FC236}">
                <a16:creationId xmlns:a16="http://schemas.microsoft.com/office/drawing/2014/main" id="{59990759-8D89-CCEC-80C4-4757421DA57C}"/>
              </a:ext>
            </a:extLst>
          </p:cNvPr>
          <p:cNvPicPr>
            <a:picLocks noChangeAspect="1"/>
          </p:cNvPicPr>
          <p:nvPr/>
        </p:nvPicPr>
        <p:blipFill>
          <a:blip r:embed="rId3"/>
          <a:stretch>
            <a:fillRect/>
          </a:stretch>
        </p:blipFill>
        <p:spPr>
          <a:xfrm>
            <a:off x="3128429" y="4785891"/>
            <a:ext cx="6031412" cy="1890758"/>
          </a:xfrm>
          <a:prstGeom prst="rect">
            <a:avLst/>
          </a:prstGeom>
        </p:spPr>
      </p:pic>
      <p:sp>
        <p:nvSpPr>
          <p:cNvPr id="3" name="TextBox 2">
            <a:extLst>
              <a:ext uri="{FF2B5EF4-FFF2-40B4-BE49-F238E27FC236}">
                <a16:creationId xmlns:a16="http://schemas.microsoft.com/office/drawing/2014/main" id="{4E192F03-38C4-57FE-92C7-D85FC36DC35D}"/>
              </a:ext>
            </a:extLst>
          </p:cNvPr>
          <p:cNvSpPr txBox="1"/>
          <p:nvPr/>
        </p:nvSpPr>
        <p:spPr>
          <a:xfrm>
            <a:off x="6513668" y="2428521"/>
            <a:ext cx="960519" cy="246221"/>
          </a:xfrm>
          <a:prstGeom prst="rect">
            <a:avLst/>
          </a:prstGeom>
          <a:solidFill>
            <a:schemeClr val="tx1">
              <a:lumMod val="50000"/>
              <a:lumOff val="50000"/>
            </a:schemeClr>
          </a:solidFill>
          <a:ln>
            <a:solidFill>
              <a:schemeClr val="tx1"/>
            </a:solidFill>
          </a:ln>
        </p:spPr>
        <p:txBody>
          <a:bodyPr wrap="none" rtlCol="0">
            <a:spAutoFit/>
          </a:bodyPr>
          <a:lstStyle/>
          <a:p>
            <a:r>
              <a:rPr lang="en-GB" sz="1000">
                <a:solidFill>
                  <a:schemeClr val="bg2"/>
                </a:solidFill>
                <a:latin typeface="Consolas" panose="020B0609020204030204" pitchFamily="49" charset="0"/>
              </a:rPr>
              <a:t>EXTI_SWIEVR</a:t>
            </a:r>
            <a:endParaRPr lang="LID4096" sz="1000">
              <a:solidFill>
                <a:schemeClr val="bg2"/>
              </a:solidFill>
              <a:latin typeface="Consolas" panose="020B0609020204030204" pitchFamily="49" charset="0"/>
            </a:endParaRPr>
          </a:p>
        </p:txBody>
      </p:sp>
      <p:sp>
        <p:nvSpPr>
          <p:cNvPr id="20" name="TextBox 19">
            <a:extLst>
              <a:ext uri="{FF2B5EF4-FFF2-40B4-BE49-F238E27FC236}">
                <a16:creationId xmlns:a16="http://schemas.microsoft.com/office/drawing/2014/main" id="{35869696-3FA7-F2FA-5FBC-47EC6369C455}"/>
              </a:ext>
            </a:extLst>
          </p:cNvPr>
          <p:cNvSpPr txBox="1"/>
          <p:nvPr/>
        </p:nvSpPr>
        <p:spPr>
          <a:xfrm>
            <a:off x="6513668" y="2674742"/>
            <a:ext cx="960519" cy="461665"/>
          </a:xfrm>
          <a:prstGeom prst="rect">
            <a:avLst/>
          </a:prstGeom>
          <a:solidFill>
            <a:schemeClr val="bg1"/>
          </a:solidFill>
          <a:ln>
            <a:solidFill>
              <a:schemeClr val="tx1"/>
            </a:solidFill>
          </a:ln>
        </p:spPr>
        <p:txBody>
          <a:bodyPr wrap="square" rtlCol="0">
            <a:spAutoFit/>
          </a:bodyPr>
          <a:lstStyle/>
          <a:p>
            <a:pPr algn="ctr"/>
            <a:r>
              <a:rPr lang="en-GB" sz="800" i="1" dirty="0"/>
              <a:t>Software Interrupt Event Register</a:t>
            </a:r>
            <a:endParaRPr lang="LID4096" sz="800" i="1" dirty="0"/>
          </a:p>
        </p:txBody>
      </p:sp>
      <p:cxnSp>
        <p:nvCxnSpPr>
          <p:cNvPr id="21" name="Connector: Elbow 20">
            <a:extLst>
              <a:ext uri="{FF2B5EF4-FFF2-40B4-BE49-F238E27FC236}">
                <a16:creationId xmlns:a16="http://schemas.microsoft.com/office/drawing/2014/main" id="{4F5D3954-3110-843C-E164-958E8F8A773E}"/>
              </a:ext>
            </a:extLst>
          </p:cNvPr>
          <p:cNvCxnSpPr>
            <a:stCxn id="20" idx="2"/>
          </p:cNvCxnSpPr>
          <p:nvPr/>
        </p:nvCxnSpPr>
        <p:spPr>
          <a:xfrm rot="5400000">
            <a:off x="6614154" y="3105817"/>
            <a:ext cx="349185" cy="410365"/>
          </a:xfrm>
          <a:prstGeom prst="bentConnector2">
            <a:avLst/>
          </a:prstGeom>
          <a:ln>
            <a:solidFill>
              <a:schemeClr val="tx1"/>
            </a:solidFill>
          </a:ln>
        </p:spPr>
        <p:style>
          <a:lnRef idx="2">
            <a:schemeClr val="accent1"/>
          </a:lnRef>
          <a:fillRef idx="0">
            <a:schemeClr val="accent1"/>
          </a:fillRef>
          <a:effectRef idx="1">
            <a:schemeClr val="accent1"/>
          </a:effectRef>
          <a:fontRef idx="minor">
            <a:schemeClr val="tx1"/>
          </a:fontRef>
        </p:style>
      </p:cxnSp>
      <p:grpSp>
        <p:nvGrpSpPr>
          <p:cNvPr id="23" name="Group 22">
            <a:extLst>
              <a:ext uri="{FF2B5EF4-FFF2-40B4-BE49-F238E27FC236}">
                <a16:creationId xmlns:a16="http://schemas.microsoft.com/office/drawing/2014/main" id="{1C7FA326-3D66-5259-AD45-D1F7BA55E92C}"/>
              </a:ext>
            </a:extLst>
          </p:cNvPr>
          <p:cNvGrpSpPr/>
          <p:nvPr/>
        </p:nvGrpSpPr>
        <p:grpSpPr>
          <a:xfrm>
            <a:off x="6674413" y="3196268"/>
            <a:ext cx="293603" cy="133412"/>
            <a:chOff x="7313757" y="3717874"/>
            <a:chExt cx="544623" cy="247475"/>
          </a:xfrm>
        </p:grpSpPr>
        <p:sp>
          <p:nvSpPr>
            <p:cNvPr id="24" name="Freeform: Shape 23">
              <a:extLst>
                <a:ext uri="{FF2B5EF4-FFF2-40B4-BE49-F238E27FC236}">
                  <a16:creationId xmlns:a16="http://schemas.microsoft.com/office/drawing/2014/main" id="{F880B54F-8682-A5E1-DA63-EBE3B36BE752}"/>
                </a:ext>
              </a:extLst>
            </p:cNvPr>
            <p:cNvSpPr/>
            <p:nvPr/>
          </p:nvSpPr>
          <p:spPr>
            <a:xfrm>
              <a:off x="7474187" y="3717874"/>
              <a:ext cx="226503" cy="247475"/>
            </a:xfrm>
            <a:custGeom>
              <a:avLst/>
              <a:gdLst>
                <a:gd name="csX0" fmla="*/ 0 w 226503"/>
                <a:gd name="csY0" fmla="*/ 247475 h 247475"/>
                <a:gd name="csX1" fmla="*/ 83890 w 226503"/>
                <a:gd name="csY1" fmla="*/ 247475 h 247475"/>
                <a:gd name="csX2" fmla="*/ 83890 w 226503"/>
                <a:gd name="csY2" fmla="*/ 0 h 247475"/>
                <a:gd name="csX3" fmla="*/ 146808 w 226503"/>
                <a:gd name="csY3" fmla="*/ 0 h 247475"/>
                <a:gd name="csX4" fmla="*/ 146808 w 226503"/>
                <a:gd name="csY4" fmla="*/ 247475 h 247475"/>
                <a:gd name="csX5" fmla="*/ 226503 w 226503"/>
                <a:gd name="csY5" fmla="*/ 247475 h 247475"/>
              </a:gdLst>
              <a:ahLst/>
              <a:cxnLst>
                <a:cxn ang="0">
                  <a:pos x="csX0" y="csY0"/>
                </a:cxn>
                <a:cxn ang="0">
                  <a:pos x="csX1" y="csY1"/>
                </a:cxn>
                <a:cxn ang="0">
                  <a:pos x="csX2" y="csY2"/>
                </a:cxn>
                <a:cxn ang="0">
                  <a:pos x="csX3" y="csY3"/>
                </a:cxn>
                <a:cxn ang="0">
                  <a:pos x="csX4" y="csY4"/>
                </a:cxn>
                <a:cxn ang="0">
                  <a:pos x="csX5" y="csY5"/>
                </a:cxn>
              </a:cxnLst>
              <a:rect l="l" t="t" r="r" b="b"/>
              <a:pathLst>
                <a:path w="226503" h="247475">
                  <a:moveTo>
                    <a:pt x="0" y="247475"/>
                  </a:moveTo>
                  <a:lnTo>
                    <a:pt x="83890" y="247475"/>
                  </a:lnTo>
                  <a:lnTo>
                    <a:pt x="83890" y="0"/>
                  </a:lnTo>
                  <a:lnTo>
                    <a:pt x="146808" y="0"/>
                  </a:lnTo>
                  <a:lnTo>
                    <a:pt x="146808" y="247475"/>
                  </a:lnTo>
                  <a:lnTo>
                    <a:pt x="226503" y="247475"/>
                  </a:lnTo>
                </a:path>
              </a:pathLst>
            </a:custGeom>
            <a:no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cxnSp>
          <p:nvCxnSpPr>
            <p:cNvPr id="29" name="Straight Connector 28">
              <a:extLst>
                <a:ext uri="{FF2B5EF4-FFF2-40B4-BE49-F238E27FC236}">
                  <a16:creationId xmlns:a16="http://schemas.microsoft.com/office/drawing/2014/main" id="{A8150EE1-FB0E-2048-DE31-E06986CAC667}"/>
                </a:ext>
              </a:extLst>
            </p:cNvPr>
            <p:cNvCxnSpPr>
              <a:cxnSpLocks/>
            </p:cNvCxnSpPr>
            <p:nvPr/>
          </p:nvCxnSpPr>
          <p:spPr>
            <a:xfrm flipH="1" flipV="1">
              <a:off x="7313757" y="3965044"/>
              <a:ext cx="139457" cy="305"/>
            </a:xfrm>
            <a:prstGeom prst="line">
              <a:avLst/>
            </a:prstGeom>
            <a:ln w="12700">
              <a:solidFill>
                <a:schemeClr val="tx1"/>
              </a:solidFill>
              <a:prstDash val="sysDot"/>
            </a:ln>
          </p:spPr>
          <p:style>
            <a:lnRef idx="2">
              <a:schemeClr val="accent1"/>
            </a:lnRef>
            <a:fillRef idx="0">
              <a:schemeClr val="accent1"/>
            </a:fillRef>
            <a:effectRef idx="1">
              <a:schemeClr val="accent1"/>
            </a:effectRef>
            <a:fontRef idx="minor">
              <a:schemeClr val="tx1"/>
            </a:fontRef>
          </p:style>
        </p:cxnSp>
        <p:cxnSp>
          <p:nvCxnSpPr>
            <p:cNvPr id="30" name="Straight Connector 29">
              <a:extLst>
                <a:ext uri="{FF2B5EF4-FFF2-40B4-BE49-F238E27FC236}">
                  <a16:creationId xmlns:a16="http://schemas.microsoft.com/office/drawing/2014/main" id="{DFA778F1-97A4-D037-D335-FE417FD7A6B9}"/>
                </a:ext>
              </a:extLst>
            </p:cNvPr>
            <p:cNvCxnSpPr>
              <a:cxnSpLocks/>
            </p:cNvCxnSpPr>
            <p:nvPr/>
          </p:nvCxnSpPr>
          <p:spPr>
            <a:xfrm flipH="1" flipV="1">
              <a:off x="7718923" y="3965044"/>
              <a:ext cx="139457" cy="305"/>
            </a:xfrm>
            <a:prstGeom prst="line">
              <a:avLst/>
            </a:prstGeom>
            <a:ln w="12700">
              <a:solidFill>
                <a:schemeClr val="tx1"/>
              </a:solidFill>
              <a:prstDash val="sysDot"/>
            </a:ln>
          </p:spPr>
          <p:style>
            <a:lnRef idx="2">
              <a:schemeClr val="accent1"/>
            </a:lnRef>
            <a:fillRef idx="0">
              <a:schemeClr val="accent1"/>
            </a:fillRef>
            <a:effectRef idx="1">
              <a:schemeClr val="accent1"/>
            </a:effectRef>
            <a:fontRef idx="minor">
              <a:schemeClr val="tx1"/>
            </a:fontRef>
          </p:style>
        </p:cxnSp>
      </p:grpSp>
      <p:cxnSp>
        <p:nvCxnSpPr>
          <p:cNvPr id="31" name="Straight Connector 30">
            <a:extLst>
              <a:ext uri="{FF2B5EF4-FFF2-40B4-BE49-F238E27FC236}">
                <a16:creationId xmlns:a16="http://schemas.microsoft.com/office/drawing/2014/main" id="{34743E17-E31A-906C-47C8-447A1860B249}"/>
              </a:ext>
            </a:extLst>
          </p:cNvPr>
          <p:cNvCxnSpPr>
            <a:cxnSpLocks/>
          </p:cNvCxnSpPr>
          <p:nvPr/>
        </p:nvCxnSpPr>
        <p:spPr>
          <a:xfrm flipH="1">
            <a:off x="5181663" y="3492273"/>
            <a:ext cx="1008288" cy="0"/>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sp>
        <p:nvSpPr>
          <p:cNvPr id="22" name="TextBox 21">
            <a:extLst>
              <a:ext uri="{FF2B5EF4-FFF2-40B4-BE49-F238E27FC236}">
                <a16:creationId xmlns:a16="http://schemas.microsoft.com/office/drawing/2014/main" id="{889E6F97-9CA6-167A-8BFF-AB0D73B630B1}"/>
              </a:ext>
            </a:extLst>
          </p:cNvPr>
          <p:cNvSpPr txBox="1"/>
          <p:nvPr/>
        </p:nvSpPr>
        <p:spPr>
          <a:xfrm>
            <a:off x="6152035" y="3357143"/>
            <a:ext cx="431528" cy="369332"/>
          </a:xfrm>
          <a:prstGeom prst="rect">
            <a:avLst/>
          </a:prstGeom>
          <a:solidFill>
            <a:schemeClr val="bg1"/>
          </a:solidFill>
          <a:ln>
            <a:solidFill>
              <a:schemeClr val="tx1"/>
            </a:solidFill>
          </a:ln>
        </p:spPr>
        <p:txBody>
          <a:bodyPr wrap="none" rtlCol="0">
            <a:spAutoFit/>
          </a:bodyPr>
          <a:lstStyle/>
          <a:p>
            <a:r>
              <a:rPr lang="en-SE" b="1"/>
              <a:t>≥</a:t>
            </a:r>
            <a:r>
              <a:rPr lang="en-GB"/>
              <a:t>1</a:t>
            </a:r>
            <a:endParaRPr lang="LID4096"/>
          </a:p>
        </p:txBody>
      </p:sp>
      <p:sp>
        <p:nvSpPr>
          <p:cNvPr id="32" name="Rectangle 31">
            <a:extLst>
              <a:ext uri="{FF2B5EF4-FFF2-40B4-BE49-F238E27FC236}">
                <a16:creationId xmlns:a16="http://schemas.microsoft.com/office/drawing/2014/main" id="{C7077793-9497-D490-1D28-D2352411A2B3}"/>
              </a:ext>
            </a:extLst>
          </p:cNvPr>
          <p:cNvSpPr/>
          <p:nvPr/>
        </p:nvSpPr>
        <p:spPr>
          <a:xfrm>
            <a:off x="5579952" y="6215516"/>
            <a:ext cx="2827950" cy="207239"/>
          </a:xfrm>
          <a:prstGeom prst="rect">
            <a:avLst/>
          </a:prstGeom>
          <a:noFill/>
          <a:ln w="254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Tree>
    <p:extLst>
      <p:ext uri="{BB962C8B-B14F-4D97-AF65-F5344CB8AC3E}">
        <p14:creationId xmlns:p14="http://schemas.microsoft.com/office/powerpoint/2010/main" val="3675249511"/>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D3F575-82D2-0AF1-DFF2-2EDFBAE975A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49DFF02-175E-A81B-15B9-579ED8751E19}"/>
              </a:ext>
            </a:extLst>
          </p:cNvPr>
          <p:cNvSpPr>
            <a:spLocks noGrp="1"/>
          </p:cNvSpPr>
          <p:nvPr>
            <p:ph type="title"/>
          </p:nvPr>
        </p:nvSpPr>
        <p:spPr/>
        <p:txBody>
          <a:bodyPr/>
          <a:lstStyle/>
          <a:p>
            <a:r>
              <a:rPr lang="en-US" dirty="0"/>
              <a:t>N</a:t>
            </a:r>
            <a:r>
              <a:rPr lang="sv-SE" dirty="0"/>
              <a:t>är skall vi fyra av ett </a:t>
            </a:r>
            <a:r>
              <a:rPr lang="sv-SE" dirty="0" err="1"/>
              <a:t>interrupt</a:t>
            </a:r>
            <a:r>
              <a:rPr lang="sv-SE" dirty="0"/>
              <a:t>? </a:t>
            </a:r>
            <a:br>
              <a:rPr lang="sv-SE" dirty="0"/>
            </a:br>
            <a:r>
              <a:rPr lang="sv-SE" sz="3200" dirty="0"/>
              <a:t>EXTI</a:t>
            </a:r>
            <a:endParaRPr lang="LID4096" dirty="0"/>
          </a:p>
        </p:txBody>
      </p:sp>
      <p:sp>
        <p:nvSpPr>
          <p:cNvPr id="4" name="TextBox 3">
            <a:extLst>
              <a:ext uri="{FF2B5EF4-FFF2-40B4-BE49-F238E27FC236}">
                <a16:creationId xmlns:a16="http://schemas.microsoft.com/office/drawing/2014/main" id="{C8D2E6E0-8CC0-AEB3-4A59-662125965A14}"/>
              </a:ext>
            </a:extLst>
          </p:cNvPr>
          <p:cNvSpPr txBox="1"/>
          <p:nvPr/>
        </p:nvSpPr>
        <p:spPr>
          <a:xfrm>
            <a:off x="2292728" y="1974294"/>
            <a:ext cx="8286434" cy="2584448"/>
          </a:xfrm>
          <a:prstGeom prst="rect">
            <a:avLst/>
          </a:prstGeom>
          <a:solidFill>
            <a:schemeClr val="accent6">
              <a:lumMod val="40000"/>
              <a:lumOff val="60000"/>
            </a:schemeClr>
          </a:solidFill>
          <a:ln>
            <a:solidFill>
              <a:schemeClr val="accent6">
                <a:lumMod val="75000"/>
              </a:schemeClr>
            </a:solidFill>
          </a:ln>
        </p:spPr>
        <p:txBody>
          <a:bodyPr wrap="square" rtlCol="0">
            <a:noAutofit/>
          </a:bodyPr>
          <a:lstStyle/>
          <a:p>
            <a:pPr algn="ctr"/>
            <a:r>
              <a:rPr lang="en-US"/>
              <a:t>EXTI</a:t>
            </a:r>
            <a:br>
              <a:rPr lang="en-US"/>
            </a:br>
            <a:endParaRPr lang="en-US" sz="1050"/>
          </a:p>
        </p:txBody>
      </p:sp>
      <p:sp>
        <p:nvSpPr>
          <p:cNvPr id="5" name="TextBox 4">
            <a:extLst>
              <a:ext uri="{FF2B5EF4-FFF2-40B4-BE49-F238E27FC236}">
                <a16:creationId xmlns:a16="http://schemas.microsoft.com/office/drawing/2014/main" id="{78B60214-B5F7-1EDE-6C2A-9DA5CC761EC6}"/>
              </a:ext>
            </a:extLst>
          </p:cNvPr>
          <p:cNvSpPr txBox="1"/>
          <p:nvPr/>
        </p:nvSpPr>
        <p:spPr>
          <a:xfrm>
            <a:off x="9985835" y="3280885"/>
            <a:ext cx="593327" cy="1223412"/>
          </a:xfrm>
          <a:prstGeom prst="rect">
            <a:avLst/>
          </a:prstGeom>
          <a:noFill/>
        </p:spPr>
        <p:txBody>
          <a:bodyPr wrap="square">
            <a:spAutoFit/>
          </a:bodyPr>
          <a:lstStyle/>
          <a:p>
            <a:pPr algn="r"/>
            <a:r>
              <a:rPr lang="en-US" sz="1050"/>
              <a:t>EXTI0</a:t>
            </a:r>
            <a:br>
              <a:rPr lang="en-US" sz="1050"/>
            </a:br>
            <a:r>
              <a:rPr lang="en-US" sz="1050" b="1"/>
              <a:t>EXTI1</a:t>
            </a:r>
            <a:br>
              <a:rPr lang="en-US" sz="1050" b="1"/>
            </a:br>
            <a:r>
              <a:rPr lang="en-US" sz="1050"/>
              <a:t>EXTI2</a:t>
            </a:r>
            <a:br>
              <a:rPr lang="en-US" sz="1050"/>
            </a:br>
            <a:r>
              <a:rPr lang="en-US" sz="1050"/>
              <a:t>EXTI3</a:t>
            </a:r>
            <a:br>
              <a:rPr lang="en-US" sz="1050"/>
            </a:br>
            <a:r>
              <a:rPr lang="en-US" sz="1050"/>
              <a:t>EXTI4</a:t>
            </a:r>
          </a:p>
          <a:p>
            <a:pPr algn="r"/>
            <a:r>
              <a:rPr lang="en-US" sz="1050"/>
              <a:t>EXTI5</a:t>
            </a:r>
          </a:p>
          <a:p>
            <a:pPr algn="ctr"/>
            <a:r>
              <a:rPr lang="en-US" sz="1050"/>
              <a:t>...</a:t>
            </a:r>
            <a:endParaRPr lang="LID4096" sz="3600" dirty="0"/>
          </a:p>
        </p:txBody>
      </p:sp>
      <p:cxnSp>
        <p:nvCxnSpPr>
          <p:cNvPr id="6" name="Straight Arrow Connector 5">
            <a:extLst>
              <a:ext uri="{FF2B5EF4-FFF2-40B4-BE49-F238E27FC236}">
                <a16:creationId xmlns:a16="http://schemas.microsoft.com/office/drawing/2014/main" id="{AE9BFABB-1EE8-5C68-7B98-3D3BEC476F93}"/>
              </a:ext>
            </a:extLst>
          </p:cNvPr>
          <p:cNvCxnSpPr/>
          <p:nvPr/>
        </p:nvCxnSpPr>
        <p:spPr>
          <a:xfrm flipH="1">
            <a:off x="10679040" y="3415557"/>
            <a:ext cx="531213" cy="0"/>
          </a:xfrm>
          <a:prstGeom prst="straightConnector1">
            <a:avLst/>
          </a:prstGeom>
          <a:ln w="50800">
            <a:solidFill>
              <a:schemeClr val="bg2">
                <a:lumMod val="90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7" name="Straight Arrow Connector 6">
            <a:extLst>
              <a:ext uri="{FF2B5EF4-FFF2-40B4-BE49-F238E27FC236}">
                <a16:creationId xmlns:a16="http://schemas.microsoft.com/office/drawing/2014/main" id="{9ED606E8-6B7B-7A9C-5B8A-768225ADD55F}"/>
              </a:ext>
            </a:extLst>
          </p:cNvPr>
          <p:cNvCxnSpPr/>
          <p:nvPr/>
        </p:nvCxnSpPr>
        <p:spPr>
          <a:xfrm flipH="1">
            <a:off x="10679040" y="3570054"/>
            <a:ext cx="531213" cy="0"/>
          </a:xfrm>
          <a:prstGeom prst="straightConnector1">
            <a:avLst/>
          </a:prstGeom>
          <a:ln w="50800">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8" name="Straight Arrow Connector 7">
            <a:extLst>
              <a:ext uri="{FF2B5EF4-FFF2-40B4-BE49-F238E27FC236}">
                <a16:creationId xmlns:a16="http://schemas.microsoft.com/office/drawing/2014/main" id="{495CA885-1782-5C92-A762-EC184DE4851C}"/>
              </a:ext>
            </a:extLst>
          </p:cNvPr>
          <p:cNvCxnSpPr/>
          <p:nvPr/>
        </p:nvCxnSpPr>
        <p:spPr>
          <a:xfrm flipH="1">
            <a:off x="10675869" y="3745525"/>
            <a:ext cx="531213" cy="0"/>
          </a:xfrm>
          <a:prstGeom prst="straightConnector1">
            <a:avLst/>
          </a:prstGeom>
          <a:ln w="50800">
            <a:solidFill>
              <a:schemeClr val="bg2">
                <a:lumMod val="90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9" name="Straight Arrow Connector 8">
            <a:extLst>
              <a:ext uri="{FF2B5EF4-FFF2-40B4-BE49-F238E27FC236}">
                <a16:creationId xmlns:a16="http://schemas.microsoft.com/office/drawing/2014/main" id="{BE2B0A53-4BD8-9127-A262-CE804C6BF9F3}"/>
              </a:ext>
            </a:extLst>
          </p:cNvPr>
          <p:cNvCxnSpPr/>
          <p:nvPr/>
        </p:nvCxnSpPr>
        <p:spPr>
          <a:xfrm flipH="1">
            <a:off x="10675869" y="3907012"/>
            <a:ext cx="531213" cy="0"/>
          </a:xfrm>
          <a:prstGeom prst="straightConnector1">
            <a:avLst/>
          </a:prstGeom>
          <a:ln w="50800">
            <a:solidFill>
              <a:schemeClr val="bg2">
                <a:lumMod val="90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10" name="Straight Arrow Connector 9">
            <a:extLst>
              <a:ext uri="{FF2B5EF4-FFF2-40B4-BE49-F238E27FC236}">
                <a16:creationId xmlns:a16="http://schemas.microsoft.com/office/drawing/2014/main" id="{9A941870-E248-7983-6C26-6D53FAD06BF6}"/>
              </a:ext>
            </a:extLst>
          </p:cNvPr>
          <p:cNvCxnSpPr/>
          <p:nvPr/>
        </p:nvCxnSpPr>
        <p:spPr>
          <a:xfrm flipH="1">
            <a:off x="10675869" y="4065306"/>
            <a:ext cx="531213" cy="0"/>
          </a:xfrm>
          <a:prstGeom prst="straightConnector1">
            <a:avLst/>
          </a:prstGeom>
          <a:ln w="50800">
            <a:solidFill>
              <a:schemeClr val="bg2">
                <a:lumMod val="90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11" name="Straight Arrow Connector 10">
            <a:extLst>
              <a:ext uri="{FF2B5EF4-FFF2-40B4-BE49-F238E27FC236}">
                <a16:creationId xmlns:a16="http://schemas.microsoft.com/office/drawing/2014/main" id="{C351907A-9E32-06C6-BA59-AE95A9C43D3B}"/>
              </a:ext>
            </a:extLst>
          </p:cNvPr>
          <p:cNvCxnSpPr/>
          <p:nvPr/>
        </p:nvCxnSpPr>
        <p:spPr>
          <a:xfrm flipH="1">
            <a:off x="10675869" y="4228870"/>
            <a:ext cx="531213" cy="0"/>
          </a:xfrm>
          <a:prstGeom prst="straightConnector1">
            <a:avLst/>
          </a:prstGeom>
          <a:ln w="50800">
            <a:solidFill>
              <a:schemeClr val="bg2">
                <a:lumMod val="9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12" name="Rectangle 11">
            <a:extLst>
              <a:ext uri="{FF2B5EF4-FFF2-40B4-BE49-F238E27FC236}">
                <a16:creationId xmlns:a16="http://schemas.microsoft.com/office/drawing/2014/main" id="{B4B6AC8E-5A46-91CF-4178-FB4552EAC53F}"/>
              </a:ext>
            </a:extLst>
          </p:cNvPr>
          <p:cNvSpPr/>
          <p:nvPr/>
        </p:nvSpPr>
        <p:spPr>
          <a:xfrm>
            <a:off x="10687428" y="3695101"/>
            <a:ext cx="908134" cy="647781"/>
          </a:xfrm>
          <a:prstGeom prst="rect">
            <a:avLst/>
          </a:prstGeom>
          <a:gradFill>
            <a:gsLst>
              <a:gs pos="78900">
                <a:schemeClr val="bg1"/>
              </a:gs>
              <a:gs pos="0">
                <a:schemeClr val="accent1">
                  <a:lumMod val="5000"/>
                  <a:lumOff val="95000"/>
                  <a:alpha val="0"/>
                </a:schemeClr>
              </a:gs>
              <a:gs pos="100000">
                <a:schemeClr val="bg1"/>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13" name="TextBox 12">
            <a:extLst>
              <a:ext uri="{FF2B5EF4-FFF2-40B4-BE49-F238E27FC236}">
                <a16:creationId xmlns:a16="http://schemas.microsoft.com/office/drawing/2014/main" id="{4500F0FD-003B-2569-9163-01628DC97E76}"/>
              </a:ext>
            </a:extLst>
          </p:cNvPr>
          <p:cNvSpPr txBox="1"/>
          <p:nvPr/>
        </p:nvSpPr>
        <p:spPr>
          <a:xfrm>
            <a:off x="2281169" y="3114769"/>
            <a:ext cx="849594" cy="1223412"/>
          </a:xfrm>
          <a:prstGeom prst="rect">
            <a:avLst/>
          </a:prstGeom>
          <a:noFill/>
        </p:spPr>
        <p:txBody>
          <a:bodyPr wrap="square">
            <a:spAutoFit/>
          </a:bodyPr>
          <a:lstStyle/>
          <a:p>
            <a:r>
              <a:rPr lang="en-US" sz="1050"/>
              <a:t>EXTI0</a:t>
            </a:r>
            <a:br>
              <a:rPr lang="en-US" sz="1050"/>
            </a:br>
            <a:r>
              <a:rPr lang="en-US" sz="1050" b="1"/>
              <a:t>EXTI1</a:t>
            </a:r>
            <a:br>
              <a:rPr lang="en-US" sz="1050"/>
            </a:br>
            <a:r>
              <a:rPr lang="en-US" sz="1050"/>
              <a:t>EXTI2</a:t>
            </a:r>
            <a:br>
              <a:rPr lang="en-US" sz="1050"/>
            </a:br>
            <a:r>
              <a:rPr lang="en-US" sz="1050"/>
              <a:t>EXTI3</a:t>
            </a:r>
            <a:br>
              <a:rPr lang="en-US" sz="1050"/>
            </a:br>
            <a:r>
              <a:rPr lang="en-US" sz="1050"/>
              <a:t>EXTI4</a:t>
            </a:r>
          </a:p>
          <a:p>
            <a:r>
              <a:rPr lang="en-US" sz="1050"/>
              <a:t>EXTI5_9</a:t>
            </a:r>
            <a:br>
              <a:rPr lang="en-US" sz="1050"/>
            </a:br>
            <a:r>
              <a:rPr lang="en-US" sz="1050"/>
              <a:t>EXTI10_15</a:t>
            </a:r>
          </a:p>
        </p:txBody>
      </p:sp>
      <p:sp>
        <p:nvSpPr>
          <p:cNvPr id="14" name="TextBox 13">
            <a:extLst>
              <a:ext uri="{FF2B5EF4-FFF2-40B4-BE49-F238E27FC236}">
                <a16:creationId xmlns:a16="http://schemas.microsoft.com/office/drawing/2014/main" id="{0E2F0422-A32A-FA21-3863-FEAE64FA4A5E}"/>
              </a:ext>
            </a:extLst>
          </p:cNvPr>
          <p:cNvSpPr txBox="1"/>
          <p:nvPr/>
        </p:nvSpPr>
        <p:spPr>
          <a:xfrm rot="16200000">
            <a:off x="188771" y="2956314"/>
            <a:ext cx="2584447" cy="620410"/>
          </a:xfrm>
          <a:prstGeom prst="rect">
            <a:avLst/>
          </a:prstGeom>
          <a:solidFill>
            <a:schemeClr val="accent1">
              <a:lumMod val="60000"/>
              <a:lumOff val="40000"/>
            </a:schemeClr>
          </a:solidFill>
          <a:ln>
            <a:solidFill>
              <a:schemeClr val="tx2">
                <a:lumMod val="75000"/>
                <a:lumOff val="25000"/>
              </a:schemeClr>
            </a:solidFill>
          </a:ln>
        </p:spPr>
        <p:txBody>
          <a:bodyPr wrap="square" rtlCol="0">
            <a:noAutofit/>
          </a:bodyPr>
          <a:lstStyle/>
          <a:p>
            <a:pPr algn="ctr"/>
            <a:r>
              <a:rPr lang="en-US" sz="3600"/>
              <a:t>PFIC</a:t>
            </a:r>
            <a:endParaRPr lang="LID4096" sz="6000" dirty="0"/>
          </a:p>
        </p:txBody>
      </p:sp>
      <p:sp>
        <p:nvSpPr>
          <p:cNvPr id="15" name="TextBox 14">
            <a:extLst>
              <a:ext uri="{FF2B5EF4-FFF2-40B4-BE49-F238E27FC236}">
                <a16:creationId xmlns:a16="http://schemas.microsoft.com/office/drawing/2014/main" id="{EFBE0DF9-BF58-1D24-A1C1-8A633FE447E8}"/>
              </a:ext>
            </a:extLst>
          </p:cNvPr>
          <p:cNvSpPr txBox="1"/>
          <p:nvPr/>
        </p:nvSpPr>
        <p:spPr>
          <a:xfrm>
            <a:off x="7828729" y="3412504"/>
            <a:ext cx="1676228" cy="276999"/>
          </a:xfrm>
          <a:prstGeom prst="rect">
            <a:avLst/>
          </a:prstGeom>
          <a:solidFill>
            <a:schemeClr val="bg1"/>
          </a:solidFill>
          <a:ln>
            <a:solidFill>
              <a:schemeClr val="tx1"/>
            </a:solidFill>
          </a:ln>
        </p:spPr>
        <p:txBody>
          <a:bodyPr wrap="none" rtlCol="0">
            <a:spAutoFit/>
          </a:bodyPr>
          <a:lstStyle/>
          <a:p>
            <a:r>
              <a:rPr lang="en-GB" sz="1200"/>
              <a:t>Edge Detection Circuit</a:t>
            </a:r>
            <a:endParaRPr lang="LID4096" sz="1200"/>
          </a:p>
        </p:txBody>
      </p:sp>
      <p:sp>
        <p:nvSpPr>
          <p:cNvPr id="16" name="TextBox 15">
            <a:extLst>
              <a:ext uri="{FF2B5EF4-FFF2-40B4-BE49-F238E27FC236}">
                <a16:creationId xmlns:a16="http://schemas.microsoft.com/office/drawing/2014/main" id="{42A93B46-A0CA-56E2-0BBD-0317BE36B4B0}"/>
              </a:ext>
            </a:extLst>
          </p:cNvPr>
          <p:cNvSpPr txBox="1"/>
          <p:nvPr/>
        </p:nvSpPr>
        <p:spPr>
          <a:xfrm>
            <a:off x="8714848" y="2433626"/>
            <a:ext cx="889987" cy="246221"/>
          </a:xfrm>
          <a:prstGeom prst="rect">
            <a:avLst/>
          </a:prstGeom>
          <a:solidFill>
            <a:schemeClr val="tx1">
              <a:lumMod val="50000"/>
              <a:lumOff val="50000"/>
            </a:schemeClr>
          </a:solidFill>
          <a:ln>
            <a:solidFill>
              <a:schemeClr val="tx1"/>
            </a:solidFill>
          </a:ln>
        </p:spPr>
        <p:txBody>
          <a:bodyPr wrap="none" rtlCol="0">
            <a:spAutoFit/>
          </a:bodyPr>
          <a:lstStyle/>
          <a:p>
            <a:r>
              <a:rPr lang="en-GB" sz="1000">
                <a:solidFill>
                  <a:schemeClr val="bg2"/>
                </a:solidFill>
                <a:latin typeface="Consolas" panose="020B0609020204030204" pitchFamily="49" charset="0"/>
              </a:rPr>
              <a:t>EXTI_FTENR</a:t>
            </a:r>
            <a:endParaRPr lang="LID4096" sz="1000">
              <a:solidFill>
                <a:schemeClr val="bg2"/>
              </a:solidFill>
              <a:latin typeface="Consolas" panose="020B0609020204030204" pitchFamily="49" charset="0"/>
            </a:endParaRPr>
          </a:p>
        </p:txBody>
      </p:sp>
      <p:sp>
        <p:nvSpPr>
          <p:cNvPr id="17" name="TextBox 16">
            <a:extLst>
              <a:ext uri="{FF2B5EF4-FFF2-40B4-BE49-F238E27FC236}">
                <a16:creationId xmlns:a16="http://schemas.microsoft.com/office/drawing/2014/main" id="{3760BBBD-C716-8099-3165-C6462A34B0D2}"/>
              </a:ext>
            </a:extLst>
          </p:cNvPr>
          <p:cNvSpPr txBox="1"/>
          <p:nvPr/>
        </p:nvSpPr>
        <p:spPr>
          <a:xfrm>
            <a:off x="8714848" y="2679847"/>
            <a:ext cx="889987" cy="338554"/>
          </a:xfrm>
          <a:prstGeom prst="rect">
            <a:avLst/>
          </a:prstGeom>
          <a:solidFill>
            <a:schemeClr val="bg1"/>
          </a:solidFill>
          <a:ln>
            <a:solidFill>
              <a:schemeClr val="tx1"/>
            </a:solidFill>
          </a:ln>
        </p:spPr>
        <p:txBody>
          <a:bodyPr wrap="square" rtlCol="0">
            <a:spAutoFit/>
          </a:bodyPr>
          <a:lstStyle/>
          <a:p>
            <a:pPr algn="ctr"/>
            <a:r>
              <a:rPr lang="en-GB" sz="800" i="1"/>
              <a:t>Falling trigger enable register</a:t>
            </a:r>
            <a:endParaRPr lang="LID4096" sz="800" i="1"/>
          </a:p>
        </p:txBody>
      </p:sp>
      <p:sp>
        <p:nvSpPr>
          <p:cNvPr id="18" name="TextBox 17">
            <a:extLst>
              <a:ext uri="{FF2B5EF4-FFF2-40B4-BE49-F238E27FC236}">
                <a16:creationId xmlns:a16="http://schemas.microsoft.com/office/drawing/2014/main" id="{5E981519-12AE-B342-AA98-15CD61408F0B}"/>
              </a:ext>
            </a:extLst>
          </p:cNvPr>
          <p:cNvSpPr txBox="1"/>
          <p:nvPr/>
        </p:nvSpPr>
        <p:spPr>
          <a:xfrm>
            <a:off x="7694768" y="2430145"/>
            <a:ext cx="889987" cy="246221"/>
          </a:xfrm>
          <a:prstGeom prst="rect">
            <a:avLst/>
          </a:prstGeom>
          <a:solidFill>
            <a:schemeClr val="tx1">
              <a:lumMod val="50000"/>
              <a:lumOff val="50000"/>
            </a:schemeClr>
          </a:solidFill>
          <a:ln>
            <a:solidFill>
              <a:schemeClr val="tx1"/>
            </a:solidFill>
          </a:ln>
        </p:spPr>
        <p:txBody>
          <a:bodyPr wrap="none" rtlCol="0">
            <a:spAutoFit/>
          </a:bodyPr>
          <a:lstStyle/>
          <a:p>
            <a:r>
              <a:rPr lang="en-GB" sz="1000">
                <a:solidFill>
                  <a:schemeClr val="bg2"/>
                </a:solidFill>
                <a:latin typeface="Consolas" panose="020B0609020204030204" pitchFamily="49" charset="0"/>
              </a:rPr>
              <a:t>EXTI_RTENR</a:t>
            </a:r>
            <a:endParaRPr lang="LID4096" sz="1000">
              <a:solidFill>
                <a:schemeClr val="bg2"/>
              </a:solidFill>
              <a:latin typeface="Consolas" panose="020B0609020204030204" pitchFamily="49" charset="0"/>
            </a:endParaRPr>
          </a:p>
        </p:txBody>
      </p:sp>
      <p:sp>
        <p:nvSpPr>
          <p:cNvPr id="19" name="TextBox 18">
            <a:extLst>
              <a:ext uri="{FF2B5EF4-FFF2-40B4-BE49-F238E27FC236}">
                <a16:creationId xmlns:a16="http://schemas.microsoft.com/office/drawing/2014/main" id="{CD995DFD-58D0-A451-F121-4554793F8CE7}"/>
              </a:ext>
            </a:extLst>
          </p:cNvPr>
          <p:cNvSpPr txBox="1"/>
          <p:nvPr/>
        </p:nvSpPr>
        <p:spPr>
          <a:xfrm>
            <a:off x="7694768" y="2676366"/>
            <a:ext cx="889987" cy="338554"/>
          </a:xfrm>
          <a:prstGeom prst="rect">
            <a:avLst/>
          </a:prstGeom>
          <a:solidFill>
            <a:schemeClr val="bg1"/>
          </a:solidFill>
          <a:ln>
            <a:solidFill>
              <a:schemeClr val="tx1"/>
            </a:solidFill>
          </a:ln>
        </p:spPr>
        <p:txBody>
          <a:bodyPr wrap="square" rtlCol="0">
            <a:spAutoFit/>
          </a:bodyPr>
          <a:lstStyle/>
          <a:p>
            <a:pPr algn="ctr"/>
            <a:r>
              <a:rPr lang="en-GB" sz="800" i="1"/>
              <a:t>Rising trigger enable register</a:t>
            </a:r>
            <a:endParaRPr lang="LID4096" sz="800" i="1"/>
          </a:p>
        </p:txBody>
      </p:sp>
      <p:cxnSp>
        <p:nvCxnSpPr>
          <p:cNvPr id="25" name="Straight Connector 24">
            <a:extLst>
              <a:ext uri="{FF2B5EF4-FFF2-40B4-BE49-F238E27FC236}">
                <a16:creationId xmlns:a16="http://schemas.microsoft.com/office/drawing/2014/main" id="{4441E9D7-70AF-3540-8EAF-F6E03BE66281}"/>
              </a:ext>
            </a:extLst>
          </p:cNvPr>
          <p:cNvCxnSpPr>
            <a:cxnSpLocks/>
          </p:cNvCxnSpPr>
          <p:nvPr/>
        </p:nvCxnSpPr>
        <p:spPr>
          <a:xfrm flipH="1">
            <a:off x="9504957" y="3553247"/>
            <a:ext cx="547155" cy="0"/>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6" name="Straight Connector 25">
            <a:extLst>
              <a:ext uri="{FF2B5EF4-FFF2-40B4-BE49-F238E27FC236}">
                <a16:creationId xmlns:a16="http://schemas.microsoft.com/office/drawing/2014/main" id="{DE3BF2C8-166F-4004-28F3-001D9464CEB1}"/>
              </a:ext>
            </a:extLst>
          </p:cNvPr>
          <p:cNvCxnSpPr>
            <a:cxnSpLocks/>
          </p:cNvCxnSpPr>
          <p:nvPr/>
        </p:nvCxnSpPr>
        <p:spPr>
          <a:xfrm flipV="1">
            <a:off x="9131362" y="3018401"/>
            <a:ext cx="0" cy="394103"/>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A3CCD7B6-326A-E63B-30E3-DBE0352E5FED}"/>
              </a:ext>
            </a:extLst>
          </p:cNvPr>
          <p:cNvCxnSpPr>
            <a:cxnSpLocks/>
          </p:cNvCxnSpPr>
          <p:nvPr/>
        </p:nvCxnSpPr>
        <p:spPr>
          <a:xfrm flipV="1">
            <a:off x="8160867" y="3009166"/>
            <a:ext cx="0" cy="394103"/>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8" name="Straight Connector 27">
            <a:extLst>
              <a:ext uri="{FF2B5EF4-FFF2-40B4-BE49-F238E27FC236}">
                <a16:creationId xmlns:a16="http://schemas.microsoft.com/office/drawing/2014/main" id="{BADD5E6B-6C1F-0B80-6CE7-8B7A437AD986}"/>
              </a:ext>
            </a:extLst>
          </p:cNvPr>
          <p:cNvCxnSpPr>
            <a:cxnSpLocks/>
          </p:cNvCxnSpPr>
          <p:nvPr/>
        </p:nvCxnSpPr>
        <p:spPr>
          <a:xfrm flipH="1">
            <a:off x="6583563" y="3593873"/>
            <a:ext cx="1245166" cy="0"/>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34" name="Straight Arrow Connector 33">
            <a:extLst>
              <a:ext uri="{FF2B5EF4-FFF2-40B4-BE49-F238E27FC236}">
                <a16:creationId xmlns:a16="http://schemas.microsoft.com/office/drawing/2014/main" id="{4486F036-701E-D02D-AE6C-89A67EFC3659}"/>
              </a:ext>
            </a:extLst>
          </p:cNvPr>
          <p:cNvCxnSpPr/>
          <p:nvPr/>
        </p:nvCxnSpPr>
        <p:spPr>
          <a:xfrm flipH="1">
            <a:off x="1761515" y="3396507"/>
            <a:ext cx="531213" cy="0"/>
          </a:xfrm>
          <a:prstGeom prst="straightConnector1">
            <a:avLst/>
          </a:prstGeom>
          <a:ln w="50800">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37" name="Freeform: Shape 36">
            <a:extLst>
              <a:ext uri="{FF2B5EF4-FFF2-40B4-BE49-F238E27FC236}">
                <a16:creationId xmlns:a16="http://schemas.microsoft.com/office/drawing/2014/main" id="{CCB7F445-FBE2-387C-F1A8-DA8C1CE56E5F}"/>
              </a:ext>
            </a:extLst>
          </p:cNvPr>
          <p:cNvSpPr/>
          <p:nvPr/>
        </p:nvSpPr>
        <p:spPr>
          <a:xfrm>
            <a:off x="2762312" y="3396692"/>
            <a:ext cx="577850" cy="0"/>
          </a:xfrm>
          <a:custGeom>
            <a:avLst/>
            <a:gdLst>
              <a:gd name="csX0" fmla="*/ 577850 w 577850"/>
              <a:gd name="csY0" fmla="*/ 0 h 0"/>
              <a:gd name="csX1" fmla="*/ 0 w 577850"/>
              <a:gd name="csY1" fmla="*/ 0 h 0"/>
            </a:gdLst>
            <a:ahLst/>
            <a:cxnLst>
              <a:cxn ang="0">
                <a:pos x="csX0" y="csY0"/>
              </a:cxn>
              <a:cxn ang="0">
                <a:pos x="csX1" y="csY1"/>
              </a:cxn>
            </a:cxnLst>
            <a:rect l="l" t="t" r="r" b="b"/>
            <a:pathLst>
              <a:path w="577850">
                <a:moveTo>
                  <a:pt x="577850" y="0"/>
                </a:moveTo>
                <a:lnTo>
                  <a:pt x="0" y="0"/>
                </a:lnTo>
              </a:path>
            </a:pathLst>
          </a:custGeom>
          <a:noFill/>
          <a:ln>
            <a:solidFill>
              <a:schemeClr val="tx1"/>
            </a:solidFill>
            <a:tailEnd type="triangle"/>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43" name="Freeform: Shape 42">
            <a:extLst>
              <a:ext uri="{FF2B5EF4-FFF2-40B4-BE49-F238E27FC236}">
                <a16:creationId xmlns:a16="http://schemas.microsoft.com/office/drawing/2014/main" id="{6B1E7FA6-0FAB-42A4-A75D-77A2DB1F59C9}"/>
              </a:ext>
            </a:extLst>
          </p:cNvPr>
          <p:cNvSpPr/>
          <p:nvPr/>
        </p:nvSpPr>
        <p:spPr>
          <a:xfrm>
            <a:off x="7474187" y="3717874"/>
            <a:ext cx="226503" cy="247475"/>
          </a:xfrm>
          <a:custGeom>
            <a:avLst/>
            <a:gdLst>
              <a:gd name="csX0" fmla="*/ 0 w 226503"/>
              <a:gd name="csY0" fmla="*/ 247475 h 247475"/>
              <a:gd name="csX1" fmla="*/ 83890 w 226503"/>
              <a:gd name="csY1" fmla="*/ 247475 h 247475"/>
              <a:gd name="csX2" fmla="*/ 83890 w 226503"/>
              <a:gd name="csY2" fmla="*/ 0 h 247475"/>
              <a:gd name="csX3" fmla="*/ 146808 w 226503"/>
              <a:gd name="csY3" fmla="*/ 0 h 247475"/>
              <a:gd name="csX4" fmla="*/ 146808 w 226503"/>
              <a:gd name="csY4" fmla="*/ 247475 h 247475"/>
              <a:gd name="csX5" fmla="*/ 226503 w 226503"/>
              <a:gd name="csY5" fmla="*/ 247475 h 247475"/>
            </a:gdLst>
            <a:ahLst/>
            <a:cxnLst>
              <a:cxn ang="0">
                <a:pos x="csX0" y="csY0"/>
              </a:cxn>
              <a:cxn ang="0">
                <a:pos x="csX1" y="csY1"/>
              </a:cxn>
              <a:cxn ang="0">
                <a:pos x="csX2" y="csY2"/>
              </a:cxn>
              <a:cxn ang="0">
                <a:pos x="csX3" y="csY3"/>
              </a:cxn>
              <a:cxn ang="0">
                <a:pos x="csX4" y="csY4"/>
              </a:cxn>
              <a:cxn ang="0">
                <a:pos x="csX5" y="csY5"/>
              </a:cxn>
            </a:cxnLst>
            <a:rect l="l" t="t" r="r" b="b"/>
            <a:pathLst>
              <a:path w="226503" h="247475">
                <a:moveTo>
                  <a:pt x="0" y="247475"/>
                </a:moveTo>
                <a:lnTo>
                  <a:pt x="83890" y="247475"/>
                </a:lnTo>
                <a:lnTo>
                  <a:pt x="83890" y="0"/>
                </a:lnTo>
                <a:lnTo>
                  <a:pt x="146808" y="0"/>
                </a:lnTo>
                <a:lnTo>
                  <a:pt x="146808" y="247475"/>
                </a:lnTo>
                <a:lnTo>
                  <a:pt x="226503" y="247475"/>
                </a:lnTo>
              </a:path>
            </a:pathLst>
          </a:custGeom>
          <a:no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cxnSp>
        <p:nvCxnSpPr>
          <p:cNvPr id="44" name="Straight Connector 43">
            <a:extLst>
              <a:ext uri="{FF2B5EF4-FFF2-40B4-BE49-F238E27FC236}">
                <a16:creationId xmlns:a16="http://schemas.microsoft.com/office/drawing/2014/main" id="{00F6EE7E-3448-C8B1-EB09-8739A5E12473}"/>
              </a:ext>
            </a:extLst>
          </p:cNvPr>
          <p:cNvCxnSpPr>
            <a:cxnSpLocks/>
          </p:cNvCxnSpPr>
          <p:nvPr/>
        </p:nvCxnSpPr>
        <p:spPr>
          <a:xfrm flipH="1" flipV="1">
            <a:off x="7313757" y="3965044"/>
            <a:ext cx="139457" cy="305"/>
          </a:xfrm>
          <a:prstGeom prst="line">
            <a:avLst/>
          </a:prstGeom>
          <a:ln w="12700">
            <a:solidFill>
              <a:schemeClr val="tx1"/>
            </a:solidFill>
            <a:prstDash val="sysDot"/>
          </a:ln>
        </p:spPr>
        <p:style>
          <a:lnRef idx="2">
            <a:schemeClr val="accent1"/>
          </a:lnRef>
          <a:fillRef idx="0">
            <a:schemeClr val="accent1"/>
          </a:fillRef>
          <a:effectRef idx="1">
            <a:schemeClr val="accent1"/>
          </a:effectRef>
          <a:fontRef idx="minor">
            <a:schemeClr val="tx1"/>
          </a:fontRef>
        </p:style>
      </p:cxnSp>
      <p:cxnSp>
        <p:nvCxnSpPr>
          <p:cNvPr id="45" name="Straight Connector 44">
            <a:extLst>
              <a:ext uri="{FF2B5EF4-FFF2-40B4-BE49-F238E27FC236}">
                <a16:creationId xmlns:a16="http://schemas.microsoft.com/office/drawing/2014/main" id="{4822A1AF-D206-630B-BD2B-AE8BD78C88C6}"/>
              </a:ext>
            </a:extLst>
          </p:cNvPr>
          <p:cNvCxnSpPr>
            <a:cxnSpLocks/>
          </p:cNvCxnSpPr>
          <p:nvPr/>
        </p:nvCxnSpPr>
        <p:spPr>
          <a:xfrm flipH="1" flipV="1">
            <a:off x="7718923" y="3965044"/>
            <a:ext cx="139457" cy="305"/>
          </a:xfrm>
          <a:prstGeom prst="line">
            <a:avLst/>
          </a:prstGeom>
          <a:ln w="12700">
            <a:solidFill>
              <a:schemeClr val="tx1"/>
            </a:solidFill>
            <a:prstDash val="sysDot"/>
          </a:ln>
        </p:spPr>
        <p:style>
          <a:lnRef idx="2">
            <a:schemeClr val="accent1"/>
          </a:lnRef>
          <a:fillRef idx="0">
            <a:schemeClr val="accent1"/>
          </a:fillRef>
          <a:effectRef idx="1">
            <a:schemeClr val="accent1"/>
          </a:effectRef>
          <a:fontRef idx="minor">
            <a:schemeClr val="tx1"/>
          </a:fontRef>
        </p:style>
      </p:cxnSp>
      <p:sp>
        <p:nvSpPr>
          <p:cNvPr id="46" name="TextBox 45">
            <a:extLst>
              <a:ext uri="{FF2B5EF4-FFF2-40B4-BE49-F238E27FC236}">
                <a16:creationId xmlns:a16="http://schemas.microsoft.com/office/drawing/2014/main" id="{85BEB560-BEB2-8495-21B1-860253A1B76B}"/>
              </a:ext>
            </a:extLst>
          </p:cNvPr>
          <p:cNvSpPr txBox="1"/>
          <p:nvPr/>
        </p:nvSpPr>
        <p:spPr>
          <a:xfrm>
            <a:off x="7142444" y="3975884"/>
            <a:ext cx="889987" cy="215444"/>
          </a:xfrm>
          <a:prstGeom prst="rect">
            <a:avLst/>
          </a:prstGeom>
          <a:noFill/>
          <a:ln>
            <a:noFill/>
          </a:ln>
        </p:spPr>
        <p:txBody>
          <a:bodyPr wrap="square" rtlCol="0">
            <a:spAutoFit/>
          </a:bodyPr>
          <a:lstStyle/>
          <a:p>
            <a:pPr algn="ctr"/>
            <a:r>
              <a:rPr lang="en-GB" sz="800" i="1"/>
              <a:t>pulse</a:t>
            </a:r>
            <a:endParaRPr lang="LID4096" sz="800" i="1"/>
          </a:p>
        </p:txBody>
      </p:sp>
      <p:pic>
        <p:nvPicPr>
          <p:cNvPr id="50" name="Picture 49">
            <a:extLst>
              <a:ext uri="{FF2B5EF4-FFF2-40B4-BE49-F238E27FC236}">
                <a16:creationId xmlns:a16="http://schemas.microsoft.com/office/drawing/2014/main" id="{C901E0EF-77EF-F6B1-76AC-684110759D4A}"/>
              </a:ext>
            </a:extLst>
          </p:cNvPr>
          <p:cNvPicPr>
            <a:picLocks noChangeAspect="1"/>
          </p:cNvPicPr>
          <p:nvPr/>
        </p:nvPicPr>
        <p:blipFill>
          <a:blip r:embed="rId3"/>
          <a:stretch>
            <a:fillRect/>
          </a:stretch>
        </p:blipFill>
        <p:spPr>
          <a:xfrm>
            <a:off x="3128429" y="4785891"/>
            <a:ext cx="6031412" cy="1890758"/>
          </a:xfrm>
          <a:prstGeom prst="rect">
            <a:avLst/>
          </a:prstGeom>
        </p:spPr>
      </p:pic>
      <p:sp>
        <p:nvSpPr>
          <p:cNvPr id="3" name="TextBox 2">
            <a:extLst>
              <a:ext uri="{FF2B5EF4-FFF2-40B4-BE49-F238E27FC236}">
                <a16:creationId xmlns:a16="http://schemas.microsoft.com/office/drawing/2014/main" id="{FA34A993-CFF9-FA35-3896-54DAC29C80B6}"/>
              </a:ext>
            </a:extLst>
          </p:cNvPr>
          <p:cNvSpPr txBox="1"/>
          <p:nvPr/>
        </p:nvSpPr>
        <p:spPr>
          <a:xfrm>
            <a:off x="6513668" y="2428521"/>
            <a:ext cx="960519" cy="246221"/>
          </a:xfrm>
          <a:prstGeom prst="rect">
            <a:avLst/>
          </a:prstGeom>
          <a:solidFill>
            <a:schemeClr val="tx1">
              <a:lumMod val="50000"/>
              <a:lumOff val="50000"/>
            </a:schemeClr>
          </a:solidFill>
          <a:ln>
            <a:solidFill>
              <a:schemeClr val="tx1"/>
            </a:solidFill>
          </a:ln>
        </p:spPr>
        <p:txBody>
          <a:bodyPr wrap="none" rtlCol="0">
            <a:spAutoFit/>
          </a:bodyPr>
          <a:lstStyle/>
          <a:p>
            <a:r>
              <a:rPr lang="en-GB" sz="1000">
                <a:solidFill>
                  <a:schemeClr val="bg2"/>
                </a:solidFill>
                <a:latin typeface="Consolas" panose="020B0609020204030204" pitchFamily="49" charset="0"/>
              </a:rPr>
              <a:t>EXTI_SWIEVR</a:t>
            </a:r>
            <a:endParaRPr lang="LID4096" sz="1000">
              <a:solidFill>
                <a:schemeClr val="bg2"/>
              </a:solidFill>
              <a:latin typeface="Consolas" panose="020B0609020204030204" pitchFamily="49" charset="0"/>
            </a:endParaRPr>
          </a:p>
        </p:txBody>
      </p:sp>
      <p:sp>
        <p:nvSpPr>
          <p:cNvPr id="20" name="TextBox 19">
            <a:extLst>
              <a:ext uri="{FF2B5EF4-FFF2-40B4-BE49-F238E27FC236}">
                <a16:creationId xmlns:a16="http://schemas.microsoft.com/office/drawing/2014/main" id="{F12CBB43-9163-F46F-4E38-62F65088723A}"/>
              </a:ext>
            </a:extLst>
          </p:cNvPr>
          <p:cNvSpPr txBox="1"/>
          <p:nvPr/>
        </p:nvSpPr>
        <p:spPr>
          <a:xfrm>
            <a:off x="6513668" y="2674742"/>
            <a:ext cx="960519" cy="461665"/>
          </a:xfrm>
          <a:prstGeom prst="rect">
            <a:avLst/>
          </a:prstGeom>
          <a:solidFill>
            <a:schemeClr val="bg1"/>
          </a:solidFill>
          <a:ln>
            <a:solidFill>
              <a:schemeClr val="tx1"/>
            </a:solidFill>
          </a:ln>
        </p:spPr>
        <p:txBody>
          <a:bodyPr wrap="square" rtlCol="0">
            <a:spAutoFit/>
          </a:bodyPr>
          <a:lstStyle/>
          <a:p>
            <a:pPr algn="ctr"/>
            <a:r>
              <a:rPr lang="en-GB" sz="800" i="1" dirty="0"/>
              <a:t>Software Interrupt Event Register</a:t>
            </a:r>
            <a:endParaRPr lang="LID4096" sz="800" i="1" dirty="0"/>
          </a:p>
        </p:txBody>
      </p:sp>
      <p:cxnSp>
        <p:nvCxnSpPr>
          <p:cNvPr id="21" name="Connector: Elbow 20">
            <a:extLst>
              <a:ext uri="{FF2B5EF4-FFF2-40B4-BE49-F238E27FC236}">
                <a16:creationId xmlns:a16="http://schemas.microsoft.com/office/drawing/2014/main" id="{05A697E0-150B-46A7-0141-2131E1F54538}"/>
              </a:ext>
            </a:extLst>
          </p:cNvPr>
          <p:cNvCxnSpPr>
            <a:stCxn id="20" idx="2"/>
          </p:cNvCxnSpPr>
          <p:nvPr/>
        </p:nvCxnSpPr>
        <p:spPr>
          <a:xfrm rot="5400000">
            <a:off x="6614154" y="3105817"/>
            <a:ext cx="349185" cy="410365"/>
          </a:xfrm>
          <a:prstGeom prst="bentConnector2">
            <a:avLst/>
          </a:prstGeom>
          <a:ln>
            <a:solidFill>
              <a:schemeClr val="tx1"/>
            </a:solidFill>
          </a:ln>
        </p:spPr>
        <p:style>
          <a:lnRef idx="2">
            <a:schemeClr val="accent1"/>
          </a:lnRef>
          <a:fillRef idx="0">
            <a:schemeClr val="accent1"/>
          </a:fillRef>
          <a:effectRef idx="1">
            <a:schemeClr val="accent1"/>
          </a:effectRef>
          <a:fontRef idx="minor">
            <a:schemeClr val="tx1"/>
          </a:fontRef>
        </p:style>
      </p:cxnSp>
      <p:grpSp>
        <p:nvGrpSpPr>
          <p:cNvPr id="23" name="Group 22">
            <a:extLst>
              <a:ext uri="{FF2B5EF4-FFF2-40B4-BE49-F238E27FC236}">
                <a16:creationId xmlns:a16="http://schemas.microsoft.com/office/drawing/2014/main" id="{93557CDC-9EA3-6D41-F74B-41815C1E10DA}"/>
              </a:ext>
            </a:extLst>
          </p:cNvPr>
          <p:cNvGrpSpPr/>
          <p:nvPr/>
        </p:nvGrpSpPr>
        <p:grpSpPr>
          <a:xfrm>
            <a:off x="6674413" y="3196268"/>
            <a:ext cx="293603" cy="133412"/>
            <a:chOff x="7313757" y="3717874"/>
            <a:chExt cx="544623" cy="247475"/>
          </a:xfrm>
        </p:grpSpPr>
        <p:sp>
          <p:nvSpPr>
            <p:cNvPr id="24" name="Freeform: Shape 23">
              <a:extLst>
                <a:ext uri="{FF2B5EF4-FFF2-40B4-BE49-F238E27FC236}">
                  <a16:creationId xmlns:a16="http://schemas.microsoft.com/office/drawing/2014/main" id="{04324151-2C60-0A8C-CB6B-515605FBDC4A}"/>
                </a:ext>
              </a:extLst>
            </p:cNvPr>
            <p:cNvSpPr/>
            <p:nvPr/>
          </p:nvSpPr>
          <p:spPr>
            <a:xfrm>
              <a:off x="7474187" y="3717874"/>
              <a:ext cx="226503" cy="247475"/>
            </a:xfrm>
            <a:custGeom>
              <a:avLst/>
              <a:gdLst>
                <a:gd name="csX0" fmla="*/ 0 w 226503"/>
                <a:gd name="csY0" fmla="*/ 247475 h 247475"/>
                <a:gd name="csX1" fmla="*/ 83890 w 226503"/>
                <a:gd name="csY1" fmla="*/ 247475 h 247475"/>
                <a:gd name="csX2" fmla="*/ 83890 w 226503"/>
                <a:gd name="csY2" fmla="*/ 0 h 247475"/>
                <a:gd name="csX3" fmla="*/ 146808 w 226503"/>
                <a:gd name="csY3" fmla="*/ 0 h 247475"/>
                <a:gd name="csX4" fmla="*/ 146808 w 226503"/>
                <a:gd name="csY4" fmla="*/ 247475 h 247475"/>
                <a:gd name="csX5" fmla="*/ 226503 w 226503"/>
                <a:gd name="csY5" fmla="*/ 247475 h 247475"/>
              </a:gdLst>
              <a:ahLst/>
              <a:cxnLst>
                <a:cxn ang="0">
                  <a:pos x="csX0" y="csY0"/>
                </a:cxn>
                <a:cxn ang="0">
                  <a:pos x="csX1" y="csY1"/>
                </a:cxn>
                <a:cxn ang="0">
                  <a:pos x="csX2" y="csY2"/>
                </a:cxn>
                <a:cxn ang="0">
                  <a:pos x="csX3" y="csY3"/>
                </a:cxn>
                <a:cxn ang="0">
                  <a:pos x="csX4" y="csY4"/>
                </a:cxn>
                <a:cxn ang="0">
                  <a:pos x="csX5" y="csY5"/>
                </a:cxn>
              </a:cxnLst>
              <a:rect l="l" t="t" r="r" b="b"/>
              <a:pathLst>
                <a:path w="226503" h="247475">
                  <a:moveTo>
                    <a:pt x="0" y="247475"/>
                  </a:moveTo>
                  <a:lnTo>
                    <a:pt x="83890" y="247475"/>
                  </a:lnTo>
                  <a:lnTo>
                    <a:pt x="83890" y="0"/>
                  </a:lnTo>
                  <a:lnTo>
                    <a:pt x="146808" y="0"/>
                  </a:lnTo>
                  <a:lnTo>
                    <a:pt x="146808" y="247475"/>
                  </a:lnTo>
                  <a:lnTo>
                    <a:pt x="226503" y="247475"/>
                  </a:lnTo>
                </a:path>
              </a:pathLst>
            </a:custGeom>
            <a:no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cxnSp>
          <p:nvCxnSpPr>
            <p:cNvPr id="29" name="Straight Connector 28">
              <a:extLst>
                <a:ext uri="{FF2B5EF4-FFF2-40B4-BE49-F238E27FC236}">
                  <a16:creationId xmlns:a16="http://schemas.microsoft.com/office/drawing/2014/main" id="{E1ABF96C-C50B-48C9-347E-6E979AA2E7B5}"/>
                </a:ext>
              </a:extLst>
            </p:cNvPr>
            <p:cNvCxnSpPr>
              <a:cxnSpLocks/>
            </p:cNvCxnSpPr>
            <p:nvPr/>
          </p:nvCxnSpPr>
          <p:spPr>
            <a:xfrm flipH="1" flipV="1">
              <a:off x="7313757" y="3965044"/>
              <a:ext cx="139457" cy="305"/>
            </a:xfrm>
            <a:prstGeom prst="line">
              <a:avLst/>
            </a:prstGeom>
            <a:ln w="12700">
              <a:solidFill>
                <a:schemeClr val="tx1"/>
              </a:solidFill>
              <a:prstDash val="sysDot"/>
            </a:ln>
          </p:spPr>
          <p:style>
            <a:lnRef idx="2">
              <a:schemeClr val="accent1"/>
            </a:lnRef>
            <a:fillRef idx="0">
              <a:schemeClr val="accent1"/>
            </a:fillRef>
            <a:effectRef idx="1">
              <a:schemeClr val="accent1"/>
            </a:effectRef>
            <a:fontRef idx="minor">
              <a:schemeClr val="tx1"/>
            </a:fontRef>
          </p:style>
        </p:cxnSp>
        <p:cxnSp>
          <p:nvCxnSpPr>
            <p:cNvPr id="30" name="Straight Connector 29">
              <a:extLst>
                <a:ext uri="{FF2B5EF4-FFF2-40B4-BE49-F238E27FC236}">
                  <a16:creationId xmlns:a16="http://schemas.microsoft.com/office/drawing/2014/main" id="{57E722C1-7934-4918-A8C6-60E58EE8D2ED}"/>
                </a:ext>
              </a:extLst>
            </p:cNvPr>
            <p:cNvCxnSpPr>
              <a:cxnSpLocks/>
            </p:cNvCxnSpPr>
            <p:nvPr/>
          </p:nvCxnSpPr>
          <p:spPr>
            <a:xfrm flipH="1" flipV="1">
              <a:off x="7718923" y="3965044"/>
              <a:ext cx="139457" cy="305"/>
            </a:xfrm>
            <a:prstGeom prst="line">
              <a:avLst/>
            </a:prstGeom>
            <a:ln w="12700">
              <a:solidFill>
                <a:schemeClr val="tx1"/>
              </a:solidFill>
              <a:prstDash val="sysDot"/>
            </a:ln>
          </p:spPr>
          <p:style>
            <a:lnRef idx="2">
              <a:schemeClr val="accent1"/>
            </a:lnRef>
            <a:fillRef idx="0">
              <a:schemeClr val="accent1"/>
            </a:fillRef>
            <a:effectRef idx="1">
              <a:schemeClr val="accent1"/>
            </a:effectRef>
            <a:fontRef idx="minor">
              <a:schemeClr val="tx1"/>
            </a:fontRef>
          </p:style>
        </p:cxnSp>
      </p:grpSp>
      <p:cxnSp>
        <p:nvCxnSpPr>
          <p:cNvPr id="31" name="Straight Connector 30">
            <a:extLst>
              <a:ext uri="{FF2B5EF4-FFF2-40B4-BE49-F238E27FC236}">
                <a16:creationId xmlns:a16="http://schemas.microsoft.com/office/drawing/2014/main" id="{2B115C38-4195-3924-36F4-95AEE9C7BCA4}"/>
              </a:ext>
            </a:extLst>
          </p:cNvPr>
          <p:cNvCxnSpPr>
            <a:cxnSpLocks/>
          </p:cNvCxnSpPr>
          <p:nvPr/>
        </p:nvCxnSpPr>
        <p:spPr>
          <a:xfrm flipH="1">
            <a:off x="5181663" y="3492273"/>
            <a:ext cx="1008288" cy="0"/>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sp>
        <p:nvSpPr>
          <p:cNvPr id="22" name="TextBox 21">
            <a:extLst>
              <a:ext uri="{FF2B5EF4-FFF2-40B4-BE49-F238E27FC236}">
                <a16:creationId xmlns:a16="http://schemas.microsoft.com/office/drawing/2014/main" id="{88A4CBC2-D0FD-826E-8602-471C0304F281}"/>
              </a:ext>
            </a:extLst>
          </p:cNvPr>
          <p:cNvSpPr txBox="1"/>
          <p:nvPr/>
        </p:nvSpPr>
        <p:spPr>
          <a:xfrm>
            <a:off x="6152035" y="3357143"/>
            <a:ext cx="431528" cy="369332"/>
          </a:xfrm>
          <a:prstGeom prst="rect">
            <a:avLst/>
          </a:prstGeom>
          <a:solidFill>
            <a:schemeClr val="bg1"/>
          </a:solidFill>
          <a:ln>
            <a:solidFill>
              <a:schemeClr val="tx1"/>
            </a:solidFill>
          </a:ln>
        </p:spPr>
        <p:txBody>
          <a:bodyPr wrap="none" rtlCol="0">
            <a:spAutoFit/>
          </a:bodyPr>
          <a:lstStyle/>
          <a:p>
            <a:r>
              <a:rPr lang="en-SE" b="1"/>
              <a:t>≥</a:t>
            </a:r>
            <a:r>
              <a:rPr lang="en-GB"/>
              <a:t>1</a:t>
            </a:r>
            <a:endParaRPr lang="LID4096"/>
          </a:p>
        </p:txBody>
      </p:sp>
      <p:sp>
        <p:nvSpPr>
          <p:cNvPr id="32" name="Rectangle 31">
            <a:extLst>
              <a:ext uri="{FF2B5EF4-FFF2-40B4-BE49-F238E27FC236}">
                <a16:creationId xmlns:a16="http://schemas.microsoft.com/office/drawing/2014/main" id="{9DED8EEB-55A8-1A2D-D015-B5BDE8D13D33}"/>
              </a:ext>
            </a:extLst>
          </p:cNvPr>
          <p:cNvSpPr/>
          <p:nvPr/>
        </p:nvSpPr>
        <p:spPr>
          <a:xfrm>
            <a:off x="5579952" y="5372629"/>
            <a:ext cx="2827950" cy="207239"/>
          </a:xfrm>
          <a:prstGeom prst="rect">
            <a:avLst/>
          </a:prstGeom>
          <a:noFill/>
          <a:ln w="254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33" name="TextBox 32">
            <a:extLst>
              <a:ext uri="{FF2B5EF4-FFF2-40B4-BE49-F238E27FC236}">
                <a16:creationId xmlns:a16="http://schemas.microsoft.com/office/drawing/2014/main" id="{AEBB5B7C-5BFA-16F6-7136-70EB5039B3F3}"/>
              </a:ext>
            </a:extLst>
          </p:cNvPr>
          <p:cNvSpPr txBox="1"/>
          <p:nvPr/>
        </p:nvSpPr>
        <p:spPr>
          <a:xfrm>
            <a:off x="5087107" y="2427014"/>
            <a:ext cx="960519" cy="246221"/>
          </a:xfrm>
          <a:prstGeom prst="rect">
            <a:avLst/>
          </a:prstGeom>
          <a:solidFill>
            <a:schemeClr val="tx1">
              <a:lumMod val="50000"/>
              <a:lumOff val="50000"/>
            </a:schemeClr>
          </a:solidFill>
          <a:ln>
            <a:solidFill>
              <a:schemeClr val="tx1"/>
            </a:solidFill>
          </a:ln>
        </p:spPr>
        <p:txBody>
          <a:bodyPr wrap="none" rtlCol="0">
            <a:spAutoFit/>
          </a:bodyPr>
          <a:lstStyle/>
          <a:p>
            <a:r>
              <a:rPr lang="en-GB" sz="1000">
                <a:solidFill>
                  <a:schemeClr val="bg2"/>
                </a:solidFill>
                <a:latin typeface="Consolas" panose="020B0609020204030204" pitchFamily="49" charset="0"/>
              </a:rPr>
              <a:t>EXTI_INTENR</a:t>
            </a:r>
            <a:endParaRPr lang="LID4096" sz="1000">
              <a:solidFill>
                <a:schemeClr val="bg2"/>
              </a:solidFill>
              <a:latin typeface="Consolas" panose="020B0609020204030204" pitchFamily="49" charset="0"/>
            </a:endParaRPr>
          </a:p>
        </p:txBody>
      </p:sp>
      <p:sp>
        <p:nvSpPr>
          <p:cNvPr id="35" name="TextBox 34">
            <a:extLst>
              <a:ext uri="{FF2B5EF4-FFF2-40B4-BE49-F238E27FC236}">
                <a16:creationId xmlns:a16="http://schemas.microsoft.com/office/drawing/2014/main" id="{DE0C7E2B-0F1D-7F64-4164-9103B5D627CA}"/>
              </a:ext>
            </a:extLst>
          </p:cNvPr>
          <p:cNvSpPr txBox="1"/>
          <p:nvPr/>
        </p:nvSpPr>
        <p:spPr>
          <a:xfrm>
            <a:off x="5087107" y="2673235"/>
            <a:ext cx="960519" cy="338554"/>
          </a:xfrm>
          <a:prstGeom prst="rect">
            <a:avLst/>
          </a:prstGeom>
          <a:solidFill>
            <a:schemeClr val="bg1"/>
          </a:solidFill>
          <a:ln>
            <a:solidFill>
              <a:schemeClr val="tx1"/>
            </a:solidFill>
          </a:ln>
        </p:spPr>
        <p:txBody>
          <a:bodyPr wrap="square" rtlCol="0">
            <a:spAutoFit/>
          </a:bodyPr>
          <a:lstStyle/>
          <a:p>
            <a:pPr algn="ctr"/>
            <a:r>
              <a:rPr lang="en-GB" sz="800" i="1"/>
              <a:t>Interrupt Enable Register</a:t>
            </a:r>
            <a:endParaRPr lang="LID4096" sz="800" i="1"/>
          </a:p>
        </p:txBody>
      </p:sp>
      <p:cxnSp>
        <p:nvCxnSpPr>
          <p:cNvPr id="36" name="Connector: Elbow 35">
            <a:extLst>
              <a:ext uri="{FF2B5EF4-FFF2-40B4-BE49-F238E27FC236}">
                <a16:creationId xmlns:a16="http://schemas.microsoft.com/office/drawing/2014/main" id="{C8ABEB95-BFF0-C613-F228-7C33D9396FD0}"/>
              </a:ext>
            </a:extLst>
          </p:cNvPr>
          <p:cNvCxnSpPr>
            <a:stCxn id="35" idx="2"/>
            <a:endCxn id="38" idx="3"/>
          </p:cNvCxnSpPr>
          <p:nvPr/>
        </p:nvCxnSpPr>
        <p:spPr>
          <a:xfrm rot="5400000">
            <a:off x="5327338" y="3139340"/>
            <a:ext cx="367580" cy="112479"/>
          </a:xfrm>
          <a:prstGeom prst="bentConnector2">
            <a:avLst/>
          </a:prstGeom>
          <a:ln>
            <a:solidFill>
              <a:schemeClr val="tx1"/>
            </a:solidFill>
          </a:ln>
        </p:spPr>
        <p:style>
          <a:lnRef idx="2">
            <a:schemeClr val="accent1"/>
          </a:lnRef>
          <a:fillRef idx="0">
            <a:schemeClr val="accent1"/>
          </a:fillRef>
          <a:effectRef idx="1">
            <a:schemeClr val="accent1"/>
          </a:effectRef>
          <a:fontRef idx="minor">
            <a:schemeClr val="tx1"/>
          </a:fontRef>
        </p:style>
      </p:cxnSp>
      <p:sp>
        <p:nvSpPr>
          <p:cNvPr id="38" name="TextBox 37">
            <a:extLst>
              <a:ext uri="{FF2B5EF4-FFF2-40B4-BE49-F238E27FC236}">
                <a16:creationId xmlns:a16="http://schemas.microsoft.com/office/drawing/2014/main" id="{B6FDA1D0-715B-E794-C943-76787EB9EE58}"/>
              </a:ext>
            </a:extLst>
          </p:cNvPr>
          <p:cNvSpPr txBox="1"/>
          <p:nvPr/>
        </p:nvSpPr>
        <p:spPr>
          <a:xfrm>
            <a:off x="5114730" y="3194703"/>
            <a:ext cx="340158" cy="369332"/>
          </a:xfrm>
          <a:prstGeom prst="rect">
            <a:avLst/>
          </a:prstGeom>
          <a:solidFill>
            <a:schemeClr val="bg1"/>
          </a:solidFill>
          <a:ln>
            <a:solidFill>
              <a:schemeClr val="tx1"/>
            </a:solidFill>
          </a:ln>
        </p:spPr>
        <p:txBody>
          <a:bodyPr wrap="none" rtlCol="0">
            <a:spAutoFit/>
          </a:bodyPr>
          <a:lstStyle/>
          <a:p>
            <a:r>
              <a:rPr lang="en-GB" b="1"/>
              <a:t>&amp;</a:t>
            </a:r>
            <a:endParaRPr lang="LID4096"/>
          </a:p>
        </p:txBody>
      </p:sp>
      <p:cxnSp>
        <p:nvCxnSpPr>
          <p:cNvPr id="39" name="Straight Connector 38">
            <a:extLst>
              <a:ext uri="{FF2B5EF4-FFF2-40B4-BE49-F238E27FC236}">
                <a16:creationId xmlns:a16="http://schemas.microsoft.com/office/drawing/2014/main" id="{855F7221-8786-1217-6296-AA33C48FF594}"/>
              </a:ext>
            </a:extLst>
          </p:cNvPr>
          <p:cNvCxnSpPr>
            <a:cxnSpLocks/>
          </p:cNvCxnSpPr>
          <p:nvPr/>
        </p:nvCxnSpPr>
        <p:spPr>
          <a:xfrm flipH="1">
            <a:off x="4859675" y="3299474"/>
            <a:ext cx="255055" cy="0"/>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640733113"/>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C4B455-B9AF-4FA6-7DB5-95C7E0FBE06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074B5D1-CE7D-42DB-BA42-796BF1F71E84}"/>
              </a:ext>
            </a:extLst>
          </p:cNvPr>
          <p:cNvSpPr>
            <a:spLocks noGrp="1"/>
          </p:cNvSpPr>
          <p:nvPr>
            <p:ph type="title"/>
          </p:nvPr>
        </p:nvSpPr>
        <p:spPr/>
        <p:txBody>
          <a:bodyPr/>
          <a:lstStyle/>
          <a:p>
            <a:r>
              <a:rPr lang="en-US" dirty="0"/>
              <a:t>N</a:t>
            </a:r>
            <a:r>
              <a:rPr lang="sv-SE" dirty="0"/>
              <a:t>är skall vi fyra av ett </a:t>
            </a:r>
            <a:r>
              <a:rPr lang="sv-SE" dirty="0" err="1"/>
              <a:t>interrupt</a:t>
            </a:r>
            <a:r>
              <a:rPr lang="sv-SE" dirty="0"/>
              <a:t>? </a:t>
            </a:r>
            <a:br>
              <a:rPr lang="sv-SE" dirty="0"/>
            </a:br>
            <a:r>
              <a:rPr lang="sv-SE" sz="3200" dirty="0"/>
              <a:t>EXTI</a:t>
            </a:r>
            <a:endParaRPr lang="LID4096" dirty="0"/>
          </a:p>
        </p:txBody>
      </p:sp>
      <p:sp>
        <p:nvSpPr>
          <p:cNvPr id="4" name="TextBox 3">
            <a:extLst>
              <a:ext uri="{FF2B5EF4-FFF2-40B4-BE49-F238E27FC236}">
                <a16:creationId xmlns:a16="http://schemas.microsoft.com/office/drawing/2014/main" id="{60829B6F-C660-C2C9-6CDE-584AC1492178}"/>
              </a:ext>
            </a:extLst>
          </p:cNvPr>
          <p:cNvSpPr txBox="1"/>
          <p:nvPr/>
        </p:nvSpPr>
        <p:spPr>
          <a:xfrm>
            <a:off x="2292728" y="1974294"/>
            <a:ext cx="8286434" cy="2584448"/>
          </a:xfrm>
          <a:prstGeom prst="rect">
            <a:avLst/>
          </a:prstGeom>
          <a:solidFill>
            <a:schemeClr val="accent6">
              <a:lumMod val="40000"/>
              <a:lumOff val="60000"/>
            </a:schemeClr>
          </a:solidFill>
          <a:ln>
            <a:solidFill>
              <a:schemeClr val="accent6">
                <a:lumMod val="75000"/>
              </a:schemeClr>
            </a:solidFill>
          </a:ln>
        </p:spPr>
        <p:txBody>
          <a:bodyPr wrap="square" rtlCol="0">
            <a:noAutofit/>
          </a:bodyPr>
          <a:lstStyle/>
          <a:p>
            <a:pPr algn="ctr"/>
            <a:r>
              <a:rPr lang="en-US"/>
              <a:t>EXTI</a:t>
            </a:r>
            <a:br>
              <a:rPr lang="en-US"/>
            </a:br>
            <a:endParaRPr lang="en-US" sz="1050"/>
          </a:p>
        </p:txBody>
      </p:sp>
      <p:sp>
        <p:nvSpPr>
          <p:cNvPr id="5" name="TextBox 4">
            <a:extLst>
              <a:ext uri="{FF2B5EF4-FFF2-40B4-BE49-F238E27FC236}">
                <a16:creationId xmlns:a16="http://schemas.microsoft.com/office/drawing/2014/main" id="{FD254C3F-7ABE-5299-FD6F-7EB59E2076A7}"/>
              </a:ext>
            </a:extLst>
          </p:cNvPr>
          <p:cNvSpPr txBox="1"/>
          <p:nvPr/>
        </p:nvSpPr>
        <p:spPr>
          <a:xfrm>
            <a:off x="9985835" y="3280885"/>
            <a:ext cx="593327" cy="1223412"/>
          </a:xfrm>
          <a:prstGeom prst="rect">
            <a:avLst/>
          </a:prstGeom>
          <a:noFill/>
        </p:spPr>
        <p:txBody>
          <a:bodyPr wrap="square">
            <a:spAutoFit/>
          </a:bodyPr>
          <a:lstStyle/>
          <a:p>
            <a:pPr algn="r"/>
            <a:r>
              <a:rPr lang="en-US" sz="1050"/>
              <a:t>EXTI0</a:t>
            </a:r>
            <a:br>
              <a:rPr lang="en-US" sz="1050"/>
            </a:br>
            <a:r>
              <a:rPr lang="en-US" sz="1050" b="1"/>
              <a:t>EXTI1</a:t>
            </a:r>
            <a:br>
              <a:rPr lang="en-US" sz="1050" b="1"/>
            </a:br>
            <a:r>
              <a:rPr lang="en-US" sz="1050"/>
              <a:t>EXTI2</a:t>
            </a:r>
            <a:br>
              <a:rPr lang="en-US" sz="1050"/>
            </a:br>
            <a:r>
              <a:rPr lang="en-US" sz="1050"/>
              <a:t>EXTI3</a:t>
            </a:r>
            <a:br>
              <a:rPr lang="en-US" sz="1050"/>
            </a:br>
            <a:r>
              <a:rPr lang="en-US" sz="1050"/>
              <a:t>EXTI4</a:t>
            </a:r>
          </a:p>
          <a:p>
            <a:pPr algn="r"/>
            <a:r>
              <a:rPr lang="en-US" sz="1050"/>
              <a:t>EXTI5</a:t>
            </a:r>
          </a:p>
          <a:p>
            <a:pPr algn="ctr"/>
            <a:r>
              <a:rPr lang="en-US" sz="1050"/>
              <a:t>...</a:t>
            </a:r>
            <a:endParaRPr lang="LID4096" sz="3600" dirty="0"/>
          </a:p>
        </p:txBody>
      </p:sp>
      <p:cxnSp>
        <p:nvCxnSpPr>
          <p:cNvPr id="6" name="Straight Arrow Connector 5">
            <a:extLst>
              <a:ext uri="{FF2B5EF4-FFF2-40B4-BE49-F238E27FC236}">
                <a16:creationId xmlns:a16="http://schemas.microsoft.com/office/drawing/2014/main" id="{54EBE4B1-B466-6C1B-784C-A568C463E948}"/>
              </a:ext>
            </a:extLst>
          </p:cNvPr>
          <p:cNvCxnSpPr/>
          <p:nvPr/>
        </p:nvCxnSpPr>
        <p:spPr>
          <a:xfrm flipH="1">
            <a:off x="10679040" y="3415557"/>
            <a:ext cx="531213" cy="0"/>
          </a:xfrm>
          <a:prstGeom prst="straightConnector1">
            <a:avLst/>
          </a:prstGeom>
          <a:ln w="50800">
            <a:solidFill>
              <a:schemeClr val="bg2">
                <a:lumMod val="90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7" name="Straight Arrow Connector 6">
            <a:extLst>
              <a:ext uri="{FF2B5EF4-FFF2-40B4-BE49-F238E27FC236}">
                <a16:creationId xmlns:a16="http://schemas.microsoft.com/office/drawing/2014/main" id="{DEDB3FD1-47A9-A191-3E0F-482F93EDA7C4}"/>
              </a:ext>
            </a:extLst>
          </p:cNvPr>
          <p:cNvCxnSpPr/>
          <p:nvPr/>
        </p:nvCxnSpPr>
        <p:spPr>
          <a:xfrm flipH="1">
            <a:off x="10679040" y="3570054"/>
            <a:ext cx="531213" cy="0"/>
          </a:xfrm>
          <a:prstGeom prst="straightConnector1">
            <a:avLst/>
          </a:prstGeom>
          <a:ln w="50800">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8" name="Straight Arrow Connector 7">
            <a:extLst>
              <a:ext uri="{FF2B5EF4-FFF2-40B4-BE49-F238E27FC236}">
                <a16:creationId xmlns:a16="http://schemas.microsoft.com/office/drawing/2014/main" id="{003860A4-12B9-BA64-15D7-1BB85D7EB7E5}"/>
              </a:ext>
            </a:extLst>
          </p:cNvPr>
          <p:cNvCxnSpPr/>
          <p:nvPr/>
        </p:nvCxnSpPr>
        <p:spPr>
          <a:xfrm flipH="1">
            <a:off x="10675869" y="3745525"/>
            <a:ext cx="531213" cy="0"/>
          </a:xfrm>
          <a:prstGeom prst="straightConnector1">
            <a:avLst/>
          </a:prstGeom>
          <a:ln w="50800">
            <a:solidFill>
              <a:schemeClr val="bg2">
                <a:lumMod val="90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9" name="Straight Arrow Connector 8">
            <a:extLst>
              <a:ext uri="{FF2B5EF4-FFF2-40B4-BE49-F238E27FC236}">
                <a16:creationId xmlns:a16="http://schemas.microsoft.com/office/drawing/2014/main" id="{5A097333-A761-ABA8-FF92-E7F8F78643F4}"/>
              </a:ext>
            </a:extLst>
          </p:cNvPr>
          <p:cNvCxnSpPr/>
          <p:nvPr/>
        </p:nvCxnSpPr>
        <p:spPr>
          <a:xfrm flipH="1">
            <a:off x="10675869" y="3907012"/>
            <a:ext cx="531213" cy="0"/>
          </a:xfrm>
          <a:prstGeom prst="straightConnector1">
            <a:avLst/>
          </a:prstGeom>
          <a:ln w="50800">
            <a:solidFill>
              <a:schemeClr val="bg2">
                <a:lumMod val="90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10" name="Straight Arrow Connector 9">
            <a:extLst>
              <a:ext uri="{FF2B5EF4-FFF2-40B4-BE49-F238E27FC236}">
                <a16:creationId xmlns:a16="http://schemas.microsoft.com/office/drawing/2014/main" id="{69577A25-C100-69EE-700C-87EAF997D08A}"/>
              </a:ext>
            </a:extLst>
          </p:cNvPr>
          <p:cNvCxnSpPr/>
          <p:nvPr/>
        </p:nvCxnSpPr>
        <p:spPr>
          <a:xfrm flipH="1">
            <a:off x="10675869" y="4065306"/>
            <a:ext cx="531213" cy="0"/>
          </a:xfrm>
          <a:prstGeom prst="straightConnector1">
            <a:avLst/>
          </a:prstGeom>
          <a:ln w="50800">
            <a:solidFill>
              <a:schemeClr val="bg2">
                <a:lumMod val="90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11" name="Straight Arrow Connector 10">
            <a:extLst>
              <a:ext uri="{FF2B5EF4-FFF2-40B4-BE49-F238E27FC236}">
                <a16:creationId xmlns:a16="http://schemas.microsoft.com/office/drawing/2014/main" id="{B7FBBDBA-E38D-169C-B1F0-5AB2826B1289}"/>
              </a:ext>
            </a:extLst>
          </p:cNvPr>
          <p:cNvCxnSpPr/>
          <p:nvPr/>
        </p:nvCxnSpPr>
        <p:spPr>
          <a:xfrm flipH="1">
            <a:off x="10675869" y="4228870"/>
            <a:ext cx="531213" cy="0"/>
          </a:xfrm>
          <a:prstGeom prst="straightConnector1">
            <a:avLst/>
          </a:prstGeom>
          <a:ln w="50800">
            <a:solidFill>
              <a:schemeClr val="bg2">
                <a:lumMod val="9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12" name="Rectangle 11">
            <a:extLst>
              <a:ext uri="{FF2B5EF4-FFF2-40B4-BE49-F238E27FC236}">
                <a16:creationId xmlns:a16="http://schemas.microsoft.com/office/drawing/2014/main" id="{1D30C284-1C1F-17AE-BBAF-5F735AC6296C}"/>
              </a:ext>
            </a:extLst>
          </p:cNvPr>
          <p:cNvSpPr/>
          <p:nvPr/>
        </p:nvSpPr>
        <p:spPr>
          <a:xfrm>
            <a:off x="10687428" y="3695101"/>
            <a:ext cx="908134" cy="647781"/>
          </a:xfrm>
          <a:prstGeom prst="rect">
            <a:avLst/>
          </a:prstGeom>
          <a:gradFill>
            <a:gsLst>
              <a:gs pos="78900">
                <a:schemeClr val="bg1"/>
              </a:gs>
              <a:gs pos="0">
                <a:schemeClr val="accent1">
                  <a:lumMod val="5000"/>
                  <a:lumOff val="95000"/>
                  <a:alpha val="0"/>
                </a:schemeClr>
              </a:gs>
              <a:gs pos="100000">
                <a:schemeClr val="bg1"/>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13" name="TextBox 12">
            <a:extLst>
              <a:ext uri="{FF2B5EF4-FFF2-40B4-BE49-F238E27FC236}">
                <a16:creationId xmlns:a16="http://schemas.microsoft.com/office/drawing/2014/main" id="{5FCBF8EB-F381-70CE-B63A-8625844CF22E}"/>
              </a:ext>
            </a:extLst>
          </p:cNvPr>
          <p:cNvSpPr txBox="1"/>
          <p:nvPr/>
        </p:nvSpPr>
        <p:spPr>
          <a:xfrm>
            <a:off x="2281169" y="3114769"/>
            <a:ext cx="849594" cy="1223412"/>
          </a:xfrm>
          <a:prstGeom prst="rect">
            <a:avLst/>
          </a:prstGeom>
          <a:noFill/>
        </p:spPr>
        <p:txBody>
          <a:bodyPr wrap="square">
            <a:spAutoFit/>
          </a:bodyPr>
          <a:lstStyle/>
          <a:p>
            <a:r>
              <a:rPr lang="en-US" sz="1050"/>
              <a:t>EXTI0</a:t>
            </a:r>
            <a:br>
              <a:rPr lang="en-US" sz="1050"/>
            </a:br>
            <a:r>
              <a:rPr lang="en-US" sz="1050" b="1"/>
              <a:t>EXTI1</a:t>
            </a:r>
            <a:br>
              <a:rPr lang="en-US" sz="1050"/>
            </a:br>
            <a:r>
              <a:rPr lang="en-US" sz="1050"/>
              <a:t>EXTI2</a:t>
            </a:r>
            <a:br>
              <a:rPr lang="en-US" sz="1050"/>
            </a:br>
            <a:r>
              <a:rPr lang="en-US" sz="1050"/>
              <a:t>EXTI3</a:t>
            </a:r>
            <a:br>
              <a:rPr lang="en-US" sz="1050"/>
            </a:br>
            <a:r>
              <a:rPr lang="en-US" sz="1050"/>
              <a:t>EXTI4</a:t>
            </a:r>
          </a:p>
          <a:p>
            <a:r>
              <a:rPr lang="en-US" sz="1050"/>
              <a:t>EXTI5_9</a:t>
            </a:r>
            <a:br>
              <a:rPr lang="en-US" sz="1050"/>
            </a:br>
            <a:r>
              <a:rPr lang="en-US" sz="1050"/>
              <a:t>EXTI10_15</a:t>
            </a:r>
          </a:p>
        </p:txBody>
      </p:sp>
      <p:sp>
        <p:nvSpPr>
          <p:cNvPr id="14" name="TextBox 13">
            <a:extLst>
              <a:ext uri="{FF2B5EF4-FFF2-40B4-BE49-F238E27FC236}">
                <a16:creationId xmlns:a16="http://schemas.microsoft.com/office/drawing/2014/main" id="{6F10E8BE-A56A-D81D-22D1-DC5510FCB4C5}"/>
              </a:ext>
            </a:extLst>
          </p:cNvPr>
          <p:cNvSpPr txBox="1"/>
          <p:nvPr/>
        </p:nvSpPr>
        <p:spPr>
          <a:xfrm rot="16200000">
            <a:off x="188771" y="2956314"/>
            <a:ext cx="2584447" cy="620410"/>
          </a:xfrm>
          <a:prstGeom prst="rect">
            <a:avLst/>
          </a:prstGeom>
          <a:solidFill>
            <a:schemeClr val="accent1">
              <a:lumMod val="60000"/>
              <a:lumOff val="40000"/>
            </a:schemeClr>
          </a:solidFill>
          <a:ln>
            <a:solidFill>
              <a:schemeClr val="tx2">
                <a:lumMod val="75000"/>
                <a:lumOff val="25000"/>
              </a:schemeClr>
            </a:solidFill>
          </a:ln>
        </p:spPr>
        <p:txBody>
          <a:bodyPr wrap="square" rtlCol="0">
            <a:noAutofit/>
          </a:bodyPr>
          <a:lstStyle/>
          <a:p>
            <a:pPr algn="ctr"/>
            <a:r>
              <a:rPr lang="en-US" sz="3600"/>
              <a:t>PFIC</a:t>
            </a:r>
            <a:endParaRPr lang="LID4096" sz="6000" dirty="0"/>
          </a:p>
        </p:txBody>
      </p:sp>
      <p:sp>
        <p:nvSpPr>
          <p:cNvPr id="15" name="TextBox 14">
            <a:extLst>
              <a:ext uri="{FF2B5EF4-FFF2-40B4-BE49-F238E27FC236}">
                <a16:creationId xmlns:a16="http://schemas.microsoft.com/office/drawing/2014/main" id="{3FE91EF4-0346-59D2-9D6F-84F6764A54A5}"/>
              </a:ext>
            </a:extLst>
          </p:cNvPr>
          <p:cNvSpPr txBox="1"/>
          <p:nvPr/>
        </p:nvSpPr>
        <p:spPr>
          <a:xfrm>
            <a:off x="7828729" y="3412504"/>
            <a:ext cx="1676228" cy="276999"/>
          </a:xfrm>
          <a:prstGeom prst="rect">
            <a:avLst/>
          </a:prstGeom>
          <a:solidFill>
            <a:schemeClr val="bg1"/>
          </a:solidFill>
          <a:ln>
            <a:solidFill>
              <a:schemeClr val="tx1"/>
            </a:solidFill>
          </a:ln>
        </p:spPr>
        <p:txBody>
          <a:bodyPr wrap="none" rtlCol="0">
            <a:spAutoFit/>
          </a:bodyPr>
          <a:lstStyle/>
          <a:p>
            <a:r>
              <a:rPr lang="en-GB" sz="1200"/>
              <a:t>Edge Detection Circuit</a:t>
            </a:r>
            <a:endParaRPr lang="LID4096" sz="1200"/>
          </a:p>
        </p:txBody>
      </p:sp>
      <p:sp>
        <p:nvSpPr>
          <p:cNvPr id="16" name="TextBox 15">
            <a:extLst>
              <a:ext uri="{FF2B5EF4-FFF2-40B4-BE49-F238E27FC236}">
                <a16:creationId xmlns:a16="http://schemas.microsoft.com/office/drawing/2014/main" id="{ABA2B2B1-C55F-78E2-000E-C5F282C150E2}"/>
              </a:ext>
            </a:extLst>
          </p:cNvPr>
          <p:cNvSpPr txBox="1"/>
          <p:nvPr/>
        </p:nvSpPr>
        <p:spPr>
          <a:xfrm>
            <a:off x="8714848" y="2433626"/>
            <a:ext cx="889987" cy="246221"/>
          </a:xfrm>
          <a:prstGeom prst="rect">
            <a:avLst/>
          </a:prstGeom>
          <a:solidFill>
            <a:schemeClr val="tx1">
              <a:lumMod val="50000"/>
              <a:lumOff val="50000"/>
            </a:schemeClr>
          </a:solidFill>
          <a:ln>
            <a:solidFill>
              <a:schemeClr val="tx1"/>
            </a:solidFill>
          </a:ln>
        </p:spPr>
        <p:txBody>
          <a:bodyPr wrap="none" rtlCol="0">
            <a:spAutoFit/>
          </a:bodyPr>
          <a:lstStyle/>
          <a:p>
            <a:r>
              <a:rPr lang="en-GB" sz="1000">
                <a:solidFill>
                  <a:schemeClr val="bg2"/>
                </a:solidFill>
                <a:latin typeface="Consolas" panose="020B0609020204030204" pitchFamily="49" charset="0"/>
              </a:rPr>
              <a:t>EXTI_FTENR</a:t>
            </a:r>
            <a:endParaRPr lang="LID4096" sz="1000">
              <a:solidFill>
                <a:schemeClr val="bg2"/>
              </a:solidFill>
              <a:latin typeface="Consolas" panose="020B0609020204030204" pitchFamily="49" charset="0"/>
            </a:endParaRPr>
          </a:p>
        </p:txBody>
      </p:sp>
      <p:sp>
        <p:nvSpPr>
          <p:cNvPr id="17" name="TextBox 16">
            <a:extLst>
              <a:ext uri="{FF2B5EF4-FFF2-40B4-BE49-F238E27FC236}">
                <a16:creationId xmlns:a16="http://schemas.microsoft.com/office/drawing/2014/main" id="{DBC22534-B3C8-E2F4-1731-4A2A98EEC990}"/>
              </a:ext>
            </a:extLst>
          </p:cNvPr>
          <p:cNvSpPr txBox="1"/>
          <p:nvPr/>
        </p:nvSpPr>
        <p:spPr>
          <a:xfrm>
            <a:off x="8714848" y="2679847"/>
            <a:ext cx="889987" cy="338554"/>
          </a:xfrm>
          <a:prstGeom prst="rect">
            <a:avLst/>
          </a:prstGeom>
          <a:solidFill>
            <a:schemeClr val="bg1"/>
          </a:solidFill>
          <a:ln>
            <a:solidFill>
              <a:schemeClr val="tx1"/>
            </a:solidFill>
          </a:ln>
        </p:spPr>
        <p:txBody>
          <a:bodyPr wrap="square" rtlCol="0">
            <a:spAutoFit/>
          </a:bodyPr>
          <a:lstStyle/>
          <a:p>
            <a:pPr algn="ctr"/>
            <a:r>
              <a:rPr lang="en-GB" sz="800" i="1"/>
              <a:t>Falling trigger enable register</a:t>
            </a:r>
            <a:endParaRPr lang="LID4096" sz="800" i="1"/>
          </a:p>
        </p:txBody>
      </p:sp>
      <p:sp>
        <p:nvSpPr>
          <p:cNvPr id="18" name="TextBox 17">
            <a:extLst>
              <a:ext uri="{FF2B5EF4-FFF2-40B4-BE49-F238E27FC236}">
                <a16:creationId xmlns:a16="http://schemas.microsoft.com/office/drawing/2014/main" id="{109F96E3-8B46-64B5-553D-6DC16A2D0606}"/>
              </a:ext>
            </a:extLst>
          </p:cNvPr>
          <p:cNvSpPr txBox="1"/>
          <p:nvPr/>
        </p:nvSpPr>
        <p:spPr>
          <a:xfrm>
            <a:off x="7694768" y="2430145"/>
            <a:ext cx="889987" cy="246221"/>
          </a:xfrm>
          <a:prstGeom prst="rect">
            <a:avLst/>
          </a:prstGeom>
          <a:solidFill>
            <a:schemeClr val="tx1">
              <a:lumMod val="50000"/>
              <a:lumOff val="50000"/>
            </a:schemeClr>
          </a:solidFill>
          <a:ln>
            <a:solidFill>
              <a:schemeClr val="tx1"/>
            </a:solidFill>
          </a:ln>
        </p:spPr>
        <p:txBody>
          <a:bodyPr wrap="none" rtlCol="0">
            <a:spAutoFit/>
          </a:bodyPr>
          <a:lstStyle/>
          <a:p>
            <a:r>
              <a:rPr lang="en-GB" sz="1000">
                <a:solidFill>
                  <a:schemeClr val="bg2"/>
                </a:solidFill>
                <a:latin typeface="Consolas" panose="020B0609020204030204" pitchFamily="49" charset="0"/>
              </a:rPr>
              <a:t>EXTI_RTENR</a:t>
            </a:r>
            <a:endParaRPr lang="LID4096" sz="1000">
              <a:solidFill>
                <a:schemeClr val="bg2"/>
              </a:solidFill>
              <a:latin typeface="Consolas" panose="020B0609020204030204" pitchFamily="49" charset="0"/>
            </a:endParaRPr>
          </a:p>
        </p:txBody>
      </p:sp>
      <p:sp>
        <p:nvSpPr>
          <p:cNvPr id="19" name="TextBox 18">
            <a:extLst>
              <a:ext uri="{FF2B5EF4-FFF2-40B4-BE49-F238E27FC236}">
                <a16:creationId xmlns:a16="http://schemas.microsoft.com/office/drawing/2014/main" id="{AE037C2B-E8F3-0A36-37D1-2BCF4706F5AA}"/>
              </a:ext>
            </a:extLst>
          </p:cNvPr>
          <p:cNvSpPr txBox="1"/>
          <p:nvPr/>
        </p:nvSpPr>
        <p:spPr>
          <a:xfrm>
            <a:off x="7694768" y="2676366"/>
            <a:ext cx="889987" cy="338554"/>
          </a:xfrm>
          <a:prstGeom prst="rect">
            <a:avLst/>
          </a:prstGeom>
          <a:solidFill>
            <a:schemeClr val="bg1"/>
          </a:solidFill>
          <a:ln>
            <a:solidFill>
              <a:schemeClr val="tx1"/>
            </a:solidFill>
          </a:ln>
        </p:spPr>
        <p:txBody>
          <a:bodyPr wrap="square" rtlCol="0">
            <a:spAutoFit/>
          </a:bodyPr>
          <a:lstStyle/>
          <a:p>
            <a:pPr algn="ctr"/>
            <a:r>
              <a:rPr lang="en-GB" sz="800" i="1"/>
              <a:t>Rising trigger enable register</a:t>
            </a:r>
            <a:endParaRPr lang="LID4096" sz="800" i="1"/>
          </a:p>
        </p:txBody>
      </p:sp>
      <p:cxnSp>
        <p:nvCxnSpPr>
          <p:cNvPr id="25" name="Straight Connector 24">
            <a:extLst>
              <a:ext uri="{FF2B5EF4-FFF2-40B4-BE49-F238E27FC236}">
                <a16:creationId xmlns:a16="http://schemas.microsoft.com/office/drawing/2014/main" id="{D5CC591F-A3CD-3539-D42E-CF5861AF7CC0}"/>
              </a:ext>
            </a:extLst>
          </p:cNvPr>
          <p:cNvCxnSpPr>
            <a:cxnSpLocks/>
          </p:cNvCxnSpPr>
          <p:nvPr/>
        </p:nvCxnSpPr>
        <p:spPr>
          <a:xfrm flipH="1">
            <a:off x="9504957" y="3553247"/>
            <a:ext cx="547155" cy="0"/>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6" name="Straight Connector 25">
            <a:extLst>
              <a:ext uri="{FF2B5EF4-FFF2-40B4-BE49-F238E27FC236}">
                <a16:creationId xmlns:a16="http://schemas.microsoft.com/office/drawing/2014/main" id="{16CA1425-AFB8-F52F-37C3-AA2BC05382F8}"/>
              </a:ext>
            </a:extLst>
          </p:cNvPr>
          <p:cNvCxnSpPr>
            <a:cxnSpLocks/>
          </p:cNvCxnSpPr>
          <p:nvPr/>
        </p:nvCxnSpPr>
        <p:spPr>
          <a:xfrm flipV="1">
            <a:off x="9131362" y="3018401"/>
            <a:ext cx="0" cy="394103"/>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765E0A22-BF2E-7730-058F-369AE521F4F9}"/>
              </a:ext>
            </a:extLst>
          </p:cNvPr>
          <p:cNvCxnSpPr>
            <a:cxnSpLocks/>
          </p:cNvCxnSpPr>
          <p:nvPr/>
        </p:nvCxnSpPr>
        <p:spPr>
          <a:xfrm flipV="1">
            <a:off x="8160867" y="3009166"/>
            <a:ext cx="0" cy="394103"/>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8" name="Straight Connector 27">
            <a:extLst>
              <a:ext uri="{FF2B5EF4-FFF2-40B4-BE49-F238E27FC236}">
                <a16:creationId xmlns:a16="http://schemas.microsoft.com/office/drawing/2014/main" id="{625EEF90-4A9E-75D8-5241-A101DF5CB1B4}"/>
              </a:ext>
            </a:extLst>
          </p:cNvPr>
          <p:cNvCxnSpPr>
            <a:cxnSpLocks/>
          </p:cNvCxnSpPr>
          <p:nvPr/>
        </p:nvCxnSpPr>
        <p:spPr>
          <a:xfrm flipH="1">
            <a:off x="6583563" y="3593873"/>
            <a:ext cx="1245166" cy="0"/>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34" name="Straight Arrow Connector 33">
            <a:extLst>
              <a:ext uri="{FF2B5EF4-FFF2-40B4-BE49-F238E27FC236}">
                <a16:creationId xmlns:a16="http://schemas.microsoft.com/office/drawing/2014/main" id="{0BAF0B4F-A28F-AFB5-C677-78667773E79D}"/>
              </a:ext>
            </a:extLst>
          </p:cNvPr>
          <p:cNvCxnSpPr/>
          <p:nvPr/>
        </p:nvCxnSpPr>
        <p:spPr>
          <a:xfrm flipH="1">
            <a:off x="1761515" y="3396507"/>
            <a:ext cx="531213" cy="0"/>
          </a:xfrm>
          <a:prstGeom prst="straightConnector1">
            <a:avLst/>
          </a:prstGeom>
          <a:ln w="50800">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37" name="Freeform: Shape 36">
            <a:extLst>
              <a:ext uri="{FF2B5EF4-FFF2-40B4-BE49-F238E27FC236}">
                <a16:creationId xmlns:a16="http://schemas.microsoft.com/office/drawing/2014/main" id="{043B744F-9EE1-D96F-5610-EB5995D89B38}"/>
              </a:ext>
            </a:extLst>
          </p:cNvPr>
          <p:cNvSpPr/>
          <p:nvPr/>
        </p:nvSpPr>
        <p:spPr>
          <a:xfrm>
            <a:off x="2762312" y="3396692"/>
            <a:ext cx="577850" cy="0"/>
          </a:xfrm>
          <a:custGeom>
            <a:avLst/>
            <a:gdLst>
              <a:gd name="csX0" fmla="*/ 577850 w 577850"/>
              <a:gd name="csY0" fmla="*/ 0 h 0"/>
              <a:gd name="csX1" fmla="*/ 0 w 577850"/>
              <a:gd name="csY1" fmla="*/ 0 h 0"/>
            </a:gdLst>
            <a:ahLst/>
            <a:cxnLst>
              <a:cxn ang="0">
                <a:pos x="csX0" y="csY0"/>
              </a:cxn>
              <a:cxn ang="0">
                <a:pos x="csX1" y="csY1"/>
              </a:cxn>
            </a:cxnLst>
            <a:rect l="l" t="t" r="r" b="b"/>
            <a:pathLst>
              <a:path w="577850">
                <a:moveTo>
                  <a:pt x="577850" y="0"/>
                </a:moveTo>
                <a:lnTo>
                  <a:pt x="0" y="0"/>
                </a:lnTo>
              </a:path>
            </a:pathLst>
          </a:custGeom>
          <a:noFill/>
          <a:ln>
            <a:solidFill>
              <a:schemeClr val="tx1"/>
            </a:solidFill>
            <a:tailEnd type="triangle"/>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43" name="Freeform: Shape 42">
            <a:extLst>
              <a:ext uri="{FF2B5EF4-FFF2-40B4-BE49-F238E27FC236}">
                <a16:creationId xmlns:a16="http://schemas.microsoft.com/office/drawing/2014/main" id="{010653CA-2BC9-50D9-E5C7-E52B1F104141}"/>
              </a:ext>
            </a:extLst>
          </p:cNvPr>
          <p:cNvSpPr/>
          <p:nvPr/>
        </p:nvSpPr>
        <p:spPr>
          <a:xfrm>
            <a:off x="7474187" y="3717874"/>
            <a:ext cx="226503" cy="247475"/>
          </a:xfrm>
          <a:custGeom>
            <a:avLst/>
            <a:gdLst>
              <a:gd name="csX0" fmla="*/ 0 w 226503"/>
              <a:gd name="csY0" fmla="*/ 247475 h 247475"/>
              <a:gd name="csX1" fmla="*/ 83890 w 226503"/>
              <a:gd name="csY1" fmla="*/ 247475 h 247475"/>
              <a:gd name="csX2" fmla="*/ 83890 w 226503"/>
              <a:gd name="csY2" fmla="*/ 0 h 247475"/>
              <a:gd name="csX3" fmla="*/ 146808 w 226503"/>
              <a:gd name="csY3" fmla="*/ 0 h 247475"/>
              <a:gd name="csX4" fmla="*/ 146808 w 226503"/>
              <a:gd name="csY4" fmla="*/ 247475 h 247475"/>
              <a:gd name="csX5" fmla="*/ 226503 w 226503"/>
              <a:gd name="csY5" fmla="*/ 247475 h 247475"/>
            </a:gdLst>
            <a:ahLst/>
            <a:cxnLst>
              <a:cxn ang="0">
                <a:pos x="csX0" y="csY0"/>
              </a:cxn>
              <a:cxn ang="0">
                <a:pos x="csX1" y="csY1"/>
              </a:cxn>
              <a:cxn ang="0">
                <a:pos x="csX2" y="csY2"/>
              </a:cxn>
              <a:cxn ang="0">
                <a:pos x="csX3" y="csY3"/>
              </a:cxn>
              <a:cxn ang="0">
                <a:pos x="csX4" y="csY4"/>
              </a:cxn>
              <a:cxn ang="0">
                <a:pos x="csX5" y="csY5"/>
              </a:cxn>
            </a:cxnLst>
            <a:rect l="l" t="t" r="r" b="b"/>
            <a:pathLst>
              <a:path w="226503" h="247475">
                <a:moveTo>
                  <a:pt x="0" y="247475"/>
                </a:moveTo>
                <a:lnTo>
                  <a:pt x="83890" y="247475"/>
                </a:lnTo>
                <a:lnTo>
                  <a:pt x="83890" y="0"/>
                </a:lnTo>
                <a:lnTo>
                  <a:pt x="146808" y="0"/>
                </a:lnTo>
                <a:lnTo>
                  <a:pt x="146808" y="247475"/>
                </a:lnTo>
                <a:lnTo>
                  <a:pt x="226503" y="247475"/>
                </a:lnTo>
              </a:path>
            </a:pathLst>
          </a:custGeom>
          <a:no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cxnSp>
        <p:nvCxnSpPr>
          <p:cNvPr id="44" name="Straight Connector 43">
            <a:extLst>
              <a:ext uri="{FF2B5EF4-FFF2-40B4-BE49-F238E27FC236}">
                <a16:creationId xmlns:a16="http://schemas.microsoft.com/office/drawing/2014/main" id="{E7A0CDEC-382C-61C9-C47A-8E498420177B}"/>
              </a:ext>
            </a:extLst>
          </p:cNvPr>
          <p:cNvCxnSpPr>
            <a:cxnSpLocks/>
          </p:cNvCxnSpPr>
          <p:nvPr/>
        </p:nvCxnSpPr>
        <p:spPr>
          <a:xfrm flipH="1" flipV="1">
            <a:off x="7313757" y="3965044"/>
            <a:ext cx="139457" cy="305"/>
          </a:xfrm>
          <a:prstGeom prst="line">
            <a:avLst/>
          </a:prstGeom>
          <a:ln w="12700">
            <a:solidFill>
              <a:schemeClr val="tx1"/>
            </a:solidFill>
            <a:prstDash val="sysDot"/>
          </a:ln>
        </p:spPr>
        <p:style>
          <a:lnRef idx="2">
            <a:schemeClr val="accent1"/>
          </a:lnRef>
          <a:fillRef idx="0">
            <a:schemeClr val="accent1"/>
          </a:fillRef>
          <a:effectRef idx="1">
            <a:schemeClr val="accent1"/>
          </a:effectRef>
          <a:fontRef idx="minor">
            <a:schemeClr val="tx1"/>
          </a:fontRef>
        </p:style>
      </p:cxnSp>
      <p:cxnSp>
        <p:nvCxnSpPr>
          <p:cNvPr id="45" name="Straight Connector 44">
            <a:extLst>
              <a:ext uri="{FF2B5EF4-FFF2-40B4-BE49-F238E27FC236}">
                <a16:creationId xmlns:a16="http://schemas.microsoft.com/office/drawing/2014/main" id="{7560D44A-ADB6-C156-2CD6-F75FD00B3EBE}"/>
              </a:ext>
            </a:extLst>
          </p:cNvPr>
          <p:cNvCxnSpPr>
            <a:cxnSpLocks/>
          </p:cNvCxnSpPr>
          <p:nvPr/>
        </p:nvCxnSpPr>
        <p:spPr>
          <a:xfrm flipH="1" flipV="1">
            <a:off x="7718923" y="3965044"/>
            <a:ext cx="139457" cy="305"/>
          </a:xfrm>
          <a:prstGeom prst="line">
            <a:avLst/>
          </a:prstGeom>
          <a:ln w="12700">
            <a:solidFill>
              <a:schemeClr val="tx1"/>
            </a:solidFill>
            <a:prstDash val="sysDot"/>
          </a:ln>
        </p:spPr>
        <p:style>
          <a:lnRef idx="2">
            <a:schemeClr val="accent1"/>
          </a:lnRef>
          <a:fillRef idx="0">
            <a:schemeClr val="accent1"/>
          </a:fillRef>
          <a:effectRef idx="1">
            <a:schemeClr val="accent1"/>
          </a:effectRef>
          <a:fontRef idx="minor">
            <a:schemeClr val="tx1"/>
          </a:fontRef>
        </p:style>
      </p:cxnSp>
      <p:sp>
        <p:nvSpPr>
          <p:cNvPr id="46" name="TextBox 45">
            <a:extLst>
              <a:ext uri="{FF2B5EF4-FFF2-40B4-BE49-F238E27FC236}">
                <a16:creationId xmlns:a16="http://schemas.microsoft.com/office/drawing/2014/main" id="{E758B82D-26EE-69C6-D429-42DB8EF74838}"/>
              </a:ext>
            </a:extLst>
          </p:cNvPr>
          <p:cNvSpPr txBox="1"/>
          <p:nvPr/>
        </p:nvSpPr>
        <p:spPr>
          <a:xfrm>
            <a:off x="7142444" y="3975884"/>
            <a:ext cx="889987" cy="215444"/>
          </a:xfrm>
          <a:prstGeom prst="rect">
            <a:avLst/>
          </a:prstGeom>
          <a:noFill/>
          <a:ln>
            <a:noFill/>
          </a:ln>
        </p:spPr>
        <p:txBody>
          <a:bodyPr wrap="square" rtlCol="0">
            <a:spAutoFit/>
          </a:bodyPr>
          <a:lstStyle/>
          <a:p>
            <a:pPr algn="ctr"/>
            <a:r>
              <a:rPr lang="en-GB" sz="800" i="1"/>
              <a:t>pulse</a:t>
            </a:r>
            <a:endParaRPr lang="LID4096" sz="800" i="1"/>
          </a:p>
        </p:txBody>
      </p:sp>
      <p:pic>
        <p:nvPicPr>
          <p:cNvPr id="50" name="Picture 49">
            <a:extLst>
              <a:ext uri="{FF2B5EF4-FFF2-40B4-BE49-F238E27FC236}">
                <a16:creationId xmlns:a16="http://schemas.microsoft.com/office/drawing/2014/main" id="{1267BE76-F947-C138-2204-7365A2DE0A15}"/>
              </a:ext>
            </a:extLst>
          </p:cNvPr>
          <p:cNvPicPr>
            <a:picLocks noChangeAspect="1"/>
          </p:cNvPicPr>
          <p:nvPr/>
        </p:nvPicPr>
        <p:blipFill>
          <a:blip r:embed="rId3"/>
          <a:stretch>
            <a:fillRect/>
          </a:stretch>
        </p:blipFill>
        <p:spPr>
          <a:xfrm>
            <a:off x="3128429" y="4785891"/>
            <a:ext cx="6031412" cy="1890758"/>
          </a:xfrm>
          <a:prstGeom prst="rect">
            <a:avLst/>
          </a:prstGeom>
        </p:spPr>
      </p:pic>
      <p:sp>
        <p:nvSpPr>
          <p:cNvPr id="3" name="TextBox 2">
            <a:extLst>
              <a:ext uri="{FF2B5EF4-FFF2-40B4-BE49-F238E27FC236}">
                <a16:creationId xmlns:a16="http://schemas.microsoft.com/office/drawing/2014/main" id="{2C454E88-0C59-B2A9-9960-DDD97157A4E3}"/>
              </a:ext>
            </a:extLst>
          </p:cNvPr>
          <p:cNvSpPr txBox="1"/>
          <p:nvPr/>
        </p:nvSpPr>
        <p:spPr>
          <a:xfrm>
            <a:off x="6513668" y="2428521"/>
            <a:ext cx="960519" cy="246221"/>
          </a:xfrm>
          <a:prstGeom prst="rect">
            <a:avLst/>
          </a:prstGeom>
          <a:solidFill>
            <a:schemeClr val="tx1">
              <a:lumMod val="50000"/>
              <a:lumOff val="50000"/>
            </a:schemeClr>
          </a:solidFill>
          <a:ln>
            <a:solidFill>
              <a:schemeClr val="tx1"/>
            </a:solidFill>
          </a:ln>
        </p:spPr>
        <p:txBody>
          <a:bodyPr wrap="none" rtlCol="0">
            <a:spAutoFit/>
          </a:bodyPr>
          <a:lstStyle/>
          <a:p>
            <a:r>
              <a:rPr lang="en-GB" sz="1000">
                <a:solidFill>
                  <a:schemeClr val="bg2"/>
                </a:solidFill>
                <a:latin typeface="Consolas" panose="020B0609020204030204" pitchFamily="49" charset="0"/>
              </a:rPr>
              <a:t>EXTI_SWIEVR</a:t>
            </a:r>
            <a:endParaRPr lang="LID4096" sz="1000">
              <a:solidFill>
                <a:schemeClr val="bg2"/>
              </a:solidFill>
              <a:latin typeface="Consolas" panose="020B0609020204030204" pitchFamily="49" charset="0"/>
            </a:endParaRPr>
          </a:p>
        </p:txBody>
      </p:sp>
      <p:sp>
        <p:nvSpPr>
          <p:cNvPr id="20" name="TextBox 19">
            <a:extLst>
              <a:ext uri="{FF2B5EF4-FFF2-40B4-BE49-F238E27FC236}">
                <a16:creationId xmlns:a16="http://schemas.microsoft.com/office/drawing/2014/main" id="{9C7A2C71-DE84-5C7A-B61A-B17C5676B1AE}"/>
              </a:ext>
            </a:extLst>
          </p:cNvPr>
          <p:cNvSpPr txBox="1"/>
          <p:nvPr/>
        </p:nvSpPr>
        <p:spPr>
          <a:xfrm>
            <a:off x="6513668" y="2674742"/>
            <a:ext cx="960519" cy="461665"/>
          </a:xfrm>
          <a:prstGeom prst="rect">
            <a:avLst/>
          </a:prstGeom>
          <a:solidFill>
            <a:schemeClr val="bg1"/>
          </a:solidFill>
          <a:ln>
            <a:solidFill>
              <a:schemeClr val="tx1"/>
            </a:solidFill>
          </a:ln>
        </p:spPr>
        <p:txBody>
          <a:bodyPr wrap="square" rtlCol="0">
            <a:spAutoFit/>
          </a:bodyPr>
          <a:lstStyle/>
          <a:p>
            <a:pPr algn="ctr"/>
            <a:r>
              <a:rPr lang="en-GB" sz="800" i="1" dirty="0"/>
              <a:t>Software Interrupt Event Register</a:t>
            </a:r>
            <a:endParaRPr lang="LID4096" sz="800" i="1" dirty="0"/>
          </a:p>
        </p:txBody>
      </p:sp>
      <p:cxnSp>
        <p:nvCxnSpPr>
          <p:cNvPr id="21" name="Connector: Elbow 20">
            <a:extLst>
              <a:ext uri="{FF2B5EF4-FFF2-40B4-BE49-F238E27FC236}">
                <a16:creationId xmlns:a16="http://schemas.microsoft.com/office/drawing/2014/main" id="{B88DA934-C35B-BF9A-7B58-22037D3DED5A}"/>
              </a:ext>
            </a:extLst>
          </p:cNvPr>
          <p:cNvCxnSpPr>
            <a:stCxn id="20" idx="2"/>
          </p:cNvCxnSpPr>
          <p:nvPr/>
        </p:nvCxnSpPr>
        <p:spPr>
          <a:xfrm rot="5400000">
            <a:off x="6614154" y="3105817"/>
            <a:ext cx="349185" cy="410365"/>
          </a:xfrm>
          <a:prstGeom prst="bentConnector2">
            <a:avLst/>
          </a:prstGeom>
          <a:ln>
            <a:solidFill>
              <a:schemeClr val="tx1"/>
            </a:solidFill>
          </a:ln>
        </p:spPr>
        <p:style>
          <a:lnRef idx="2">
            <a:schemeClr val="accent1"/>
          </a:lnRef>
          <a:fillRef idx="0">
            <a:schemeClr val="accent1"/>
          </a:fillRef>
          <a:effectRef idx="1">
            <a:schemeClr val="accent1"/>
          </a:effectRef>
          <a:fontRef idx="minor">
            <a:schemeClr val="tx1"/>
          </a:fontRef>
        </p:style>
      </p:cxnSp>
      <p:grpSp>
        <p:nvGrpSpPr>
          <p:cNvPr id="23" name="Group 22">
            <a:extLst>
              <a:ext uri="{FF2B5EF4-FFF2-40B4-BE49-F238E27FC236}">
                <a16:creationId xmlns:a16="http://schemas.microsoft.com/office/drawing/2014/main" id="{26D9B449-DA6B-63C4-66F6-3B3A64B7FE9A}"/>
              </a:ext>
            </a:extLst>
          </p:cNvPr>
          <p:cNvGrpSpPr/>
          <p:nvPr/>
        </p:nvGrpSpPr>
        <p:grpSpPr>
          <a:xfrm>
            <a:off x="6674413" y="3196268"/>
            <a:ext cx="293603" cy="133412"/>
            <a:chOff x="7313757" y="3717874"/>
            <a:chExt cx="544623" cy="247475"/>
          </a:xfrm>
        </p:grpSpPr>
        <p:sp>
          <p:nvSpPr>
            <p:cNvPr id="24" name="Freeform: Shape 23">
              <a:extLst>
                <a:ext uri="{FF2B5EF4-FFF2-40B4-BE49-F238E27FC236}">
                  <a16:creationId xmlns:a16="http://schemas.microsoft.com/office/drawing/2014/main" id="{926ED2E0-8861-4DE6-D886-A3D3B4CE8703}"/>
                </a:ext>
              </a:extLst>
            </p:cNvPr>
            <p:cNvSpPr/>
            <p:nvPr/>
          </p:nvSpPr>
          <p:spPr>
            <a:xfrm>
              <a:off x="7474187" y="3717874"/>
              <a:ext cx="226503" cy="247475"/>
            </a:xfrm>
            <a:custGeom>
              <a:avLst/>
              <a:gdLst>
                <a:gd name="csX0" fmla="*/ 0 w 226503"/>
                <a:gd name="csY0" fmla="*/ 247475 h 247475"/>
                <a:gd name="csX1" fmla="*/ 83890 w 226503"/>
                <a:gd name="csY1" fmla="*/ 247475 h 247475"/>
                <a:gd name="csX2" fmla="*/ 83890 w 226503"/>
                <a:gd name="csY2" fmla="*/ 0 h 247475"/>
                <a:gd name="csX3" fmla="*/ 146808 w 226503"/>
                <a:gd name="csY3" fmla="*/ 0 h 247475"/>
                <a:gd name="csX4" fmla="*/ 146808 w 226503"/>
                <a:gd name="csY4" fmla="*/ 247475 h 247475"/>
                <a:gd name="csX5" fmla="*/ 226503 w 226503"/>
                <a:gd name="csY5" fmla="*/ 247475 h 247475"/>
              </a:gdLst>
              <a:ahLst/>
              <a:cxnLst>
                <a:cxn ang="0">
                  <a:pos x="csX0" y="csY0"/>
                </a:cxn>
                <a:cxn ang="0">
                  <a:pos x="csX1" y="csY1"/>
                </a:cxn>
                <a:cxn ang="0">
                  <a:pos x="csX2" y="csY2"/>
                </a:cxn>
                <a:cxn ang="0">
                  <a:pos x="csX3" y="csY3"/>
                </a:cxn>
                <a:cxn ang="0">
                  <a:pos x="csX4" y="csY4"/>
                </a:cxn>
                <a:cxn ang="0">
                  <a:pos x="csX5" y="csY5"/>
                </a:cxn>
              </a:cxnLst>
              <a:rect l="l" t="t" r="r" b="b"/>
              <a:pathLst>
                <a:path w="226503" h="247475">
                  <a:moveTo>
                    <a:pt x="0" y="247475"/>
                  </a:moveTo>
                  <a:lnTo>
                    <a:pt x="83890" y="247475"/>
                  </a:lnTo>
                  <a:lnTo>
                    <a:pt x="83890" y="0"/>
                  </a:lnTo>
                  <a:lnTo>
                    <a:pt x="146808" y="0"/>
                  </a:lnTo>
                  <a:lnTo>
                    <a:pt x="146808" y="247475"/>
                  </a:lnTo>
                  <a:lnTo>
                    <a:pt x="226503" y="247475"/>
                  </a:lnTo>
                </a:path>
              </a:pathLst>
            </a:custGeom>
            <a:no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cxnSp>
          <p:nvCxnSpPr>
            <p:cNvPr id="29" name="Straight Connector 28">
              <a:extLst>
                <a:ext uri="{FF2B5EF4-FFF2-40B4-BE49-F238E27FC236}">
                  <a16:creationId xmlns:a16="http://schemas.microsoft.com/office/drawing/2014/main" id="{2127D739-1C4D-03EC-F722-A778070FFAAF}"/>
                </a:ext>
              </a:extLst>
            </p:cNvPr>
            <p:cNvCxnSpPr>
              <a:cxnSpLocks/>
            </p:cNvCxnSpPr>
            <p:nvPr/>
          </p:nvCxnSpPr>
          <p:spPr>
            <a:xfrm flipH="1" flipV="1">
              <a:off x="7313757" y="3965044"/>
              <a:ext cx="139457" cy="305"/>
            </a:xfrm>
            <a:prstGeom prst="line">
              <a:avLst/>
            </a:prstGeom>
            <a:ln w="12700">
              <a:solidFill>
                <a:schemeClr val="tx1"/>
              </a:solidFill>
              <a:prstDash val="sysDot"/>
            </a:ln>
          </p:spPr>
          <p:style>
            <a:lnRef idx="2">
              <a:schemeClr val="accent1"/>
            </a:lnRef>
            <a:fillRef idx="0">
              <a:schemeClr val="accent1"/>
            </a:fillRef>
            <a:effectRef idx="1">
              <a:schemeClr val="accent1"/>
            </a:effectRef>
            <a:fontRef idx="minor">
              <a:schemeClr val="tx1"/>
            </a:fontRef>
          </p:style>
        </p:cxnSp>
        <p:cxnSp>
          <p:nvCxnSpPr>
            <p:cNvPr id="30" name="Straight Connector 29">
              <a:extLst>
                <a:ext uri="{FF2B5EF4-FFF2-40B4-BE49-F238E27FC236}">
                  <a16:creationId xmlns:a16="http://schemas.microsoft.com/office/drawing/2014/main" id="{B0D12A77-B982-2D2A-B7E7-1162C3F07173}"/>
                </a:ext>
              </a:extLst>
            </p:cNvPr>
            <p:cNvCxnSpPr>
              <a:cxnSpLocks/>
            </p:cNvCxnSpPr>
            <p:nvPr/>
          </p:nvCxnSpPr>
          <p:spPr>
            <a:xfrm flipH="1" flipV="1">
              <a:off x="7718923" y="3965044"/>
              <a:ext cx="139457" cy="305"/>
            </a:xfrm>
            <a:prstGeom prst="line">
              <a:avLst/>
            </a:prstGeom>
            <a:ln w="12700">
              <a:solidFill>
                <a:schemeClr val="tx1"/>
              </a:solidFill>
              <a:prstDash val="sysDot"/>
            </a:ln>
          </p:spPr>
          <p:style>
            <a:lnRef idx="2">
              <a:schemeClr val="accent1"/>
            </a:lnRef>
            <a:fillRef idx="0">
              <a:schemeClr val="accent1"/>
            </a:fillRef>
            <a:effectRef idx="1">
              <a:schemeClr val="accent1"/>
            </a:effectRef>
            <a:fontRef idx="minor">
              <a:schemeClr val="tx1"/>
            </a:fontRef>
          </p:style>
        </p:cxnSp>
      </p:grpSp>
      <p:cxnSp>
        <p:nvCxnSpPr>
          <p:cNvPr id="31" name="Straight Connector 30">
            <a:extLst>
              <a:ext uri="{FF2B5EF4-FFF2-40B4-BE49-F238E27FC236}">
                <a16:creationId xmlns:a16="http://schemas.microsoft.com/office/drawing/2014/main" id="{020B0636-595E-5D50-50ED-3C0D7878B590}"/>
              </a:ext>
            </a:extLst>
          </p:cNvPr>
          <p:cNvCxnSpPr>
            <a:cxnSpLocks/>
          </p:cNvCxnSpPr>
          <p:nvPr/>
        </p:nvCxnSpPr>
        <p:spPr>
          <a:xfrm flipH="1">
            <a:off x="5181663" y="3492273"/>
            <a:ext cx="1008288" cy="0"/>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sp>
        <p:nvSpPr>
          <p:cNvPr id="22" name="TextBox 21">
            <a:extLst>
              <a:ext uri="{FF2B5EF4-FFF2-40B4-BE49-F238E27FC236}">
                <a16:creationId xmlns:a16="http://schemas.microsoft.com/office/drawing/2014/main" id="{6AADF65B-169C-2BAE-DDEA-DBE3CD78FBF8}"/>
              </a:ext>
            </a:extLst>
          </p:cNvPr>
          <p:cNvSpPr txBox="1"/>
          <p:nvPr/>
        </p:nvSpPr>
        <p:spPr>
          <a:xfrm>
            <a:off x="6152035" y="3357143"/>
            <a:ext cx="431528" cy="369332"/>
          </a:xfrm>
          <a:prstGeom prst="rect">
            <a:avLst/>
          </a:prstGeom>
          <a:solidFill>
            <a:schemeClr val="bg1"/>
          </a:solidFill>
          <a:ln>
            <a:solidFill>
              <a:schemeClr val="tx1"/>
            </a:solidFill>
          </a:ln>
        </p:spPr>
        <p:txBody>
          <a:bodyPr wrap="none" rtlCol="0">
            <a:spAutoFit/>
          </a:bodyPr>
          <a:lstStyle/>
          <a:p>
            <a:r>
              <a:rPr lang="en-SE" b="1"/>
              <a:t>≥</a:t>
            </a:r>
            <a:r>
              <a:rPr lang="en-GB"/>
              <a:t>1</a:t>
            </a:r>
            <a:endParaRPr lang="LID4096"/>
          </a:p>
        </p:txBody>
      </p:sp>
      <p:sp>
        <p:nvSpPr>
          <p:cNvPr id="32" name="Rectangle 31">
            <a:extLst>
              <a:ext uri="{FF2B5EF4-FFF2-40B4-BE49-F238E27FC236}">
                <a16:creationId xmlns:a16="http://schemas.microsoft.com/office/drawing/2014/main" id="{23444F17-38CF-891C-C890-F152A2E7C1D1}"/>
              </a:ext>
            </a:extLst>
          </p:cNvPr>
          <p:cNvSpPr/>
          <p:nvPr/>
        </p:nvSpPr>
        <p:spPr>
          <a:xfrm>
            <a:off x="5575492" y="6411923"/>
            <a:ext cx="2827950" cy="207239"/>
          </a:xfrm>
          <a:prstGeom prst="rect">
            <a:avLst/>
          </a:prstGeom>
          <a:noFill/>
          <a:ln w="254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33" name="TextBox 32">
            <a:extLst>
              <a:ext uri="{FF2B5EF4-FFF2-40B4-BE49-F238E27FC236}">
                <a16:creationId xmlns:a16="http://schemas.microsoft.com/office/drawing/2014/main" id="{E5D34152-14F9-3A24-0A03-04E3CC12884B}"/>
              </a:ext>
            </a:extLst>
          </p:cNvPr>
          <p:cNvSpPr txBox="1"/>
          <p:nvPr/>
        </p:nvSpPr>
        <p:spPr>
          <a:xfrm>
            <a:off x="5087107" y="2427014"/>
            <a:ext cx="960519" cy="246221"/>
          </a:xfrm>
          <a:prstGeom prst="rect">
            <a:avLst/>
          </a:prstGeom>
          <a:solidFill>
            <a:schemeClr val="tx1">
              <a:lumMod val="50000"/>
              <a:lumOff val="50000"/>
            </a:schemeClr>
          </a:solidFill>
          <a:ln>
            <a:solidFill>
              <a:schemeClr val="tx1"/>
            </a:solidFill>
          </a:ln>
        </p:spPr>
        <p:txBody>
          <a:bodyPr wrap="none" rtlCol="0">
            <a:spAutoFit/>
          </a:bodyPr>
          <a:lstStyle/>
          <a:p>
            <a:r>
              <a:rPr lang="en-GB" sz="1000">
                <a:solidFill>
                  <a:schemeClr val="bg2"/>
                </a:solidFill>
                <a:latin typeface="Consolas" panose="020B0609020204030204" pitchFamily="49" charset="0"/>
              </a:rPr>
              <a:t>EXTI_INTENR</a:t>
            </a:r>
            <a:endParaRPr lang="LID4096" sz="1000">
              <a:solidFill>
                <a:schemeClr val="bg2"/>
              </a:solidFill>
              <a:latin typeface="Consolas" panose="020B0609020204030204" pitchFamily="49" charset="0"/>
            </a:endParaRPr>
          </a:p>
        </p:txBody>
      </p:sp>
      <p:sp>
        <p:nvSpPr>
          <p:cNvPr id="35" name="TextBox 34">
            <a:extLst>
              <a:ext uri="{FF2B5EF4-FFF2-40B4-BE49-F238E27FC236}">
                <a16:creationId xmlns:a16="http://schemas.microsoft.com/office/drawing/2014/main" id="{60DF5801-13AE-ED7F-A96C-6FD569AAF8AE}"/>
              </a:ext>
            </a:extLst>
          </p:cNvPr>
          <p:cNvSpPr txBox="1"/>
          <p:nvPr/>
        </p:nvSpPr>
        <p:spPr>
          <a:xfrm>
            <a:off x="5087107" y="2673235"/>
            <a:ext cx="960519" cy="338554"/>
          </a:xfrm>
          <a:prstGeom prst="rect">
            <a:avLst/>
          </a:prstGeom>
          <a:solidFill>
            <a:schemeClr val="bg1"/>
          </a:solidFill>
          <a:ln>
            <a:solidFill>
              <a:schemeClr val="tx1"/>
            </a:solidFill>
          </a:ln>
        </p:spPr>
        <p:txBody>
          <a:bodyPr wrap="square" rtlCol="0">
            <a:spAutoFit/>
          </a:bodyPr>
          <a:lstStyle/>
          <a:p>
            <a:pPr algn="ctr"/>
            <a:r>
              <a:rPr lang="en-GB" sz="800" i="1"/>
              <a:t>Interrupt Enable Register</a:t>
            </a:r>
            <a:endParaRPr lang="LID4096" sz="800" i="1"/>
          </a:p>
        </p:txBody>
      </p:sp>
      <p:cxnSp>
        <p:nvCxnSpPr>
          <p:cNvPr id="36" name="Connector: Elbow 35">
            <a:extLst>
              <a:ext uri="{FF2B5EF4-FFF2-40B4-BE49-F238E27FC236}">
                <a16:creationId xmlns:a16="http://schemas.microsoft.com/office/drawing/2014/main" id="{CE927C4C-01ED-03E7-918A-9767E30A6E6C}"/>
              </a:ext>
            </a:extLst>
          </p:cNvPr>
          <p:cNvCxnSpPr>
            <a:stCxn id="35" idx="2"/>
            <a:endCxn id="38" idx="3"/>
          </p:cNvCxnSpPr>
          <p:nvPr/>
        </p:nvCxnSpPr>
        <p:spPr>
          <a:xfrm rot="5400000">
            <a:off x="5327338" y="3139340"/>
            <a:ext cx="367580" cy="112479"/>
          </a:xfrm>
          <a:prstGeom prst="bentConnector2">
            <a:avLst/>
          </a:prstGeom>
          <a:ln>
            <a:solidFill>
              <a:schemeClr val="tx1"/>
            </a:solidFill>
          </a:ln>
        </p:spPr>
        <p:style>
          <a:lnRef idx="2">
            <a:schemeClr val="accent1"/>
          </a:lnRef>
          <a:fillRef idx="0">
            <a:schemeClr val="accent1"/>
          </a:fillRef>
          <a:effectRef idx="1">
            <a:schemeClr val="accent1"/>
          </a:effectRef>
          <a:fontRef idx="minor">
            <a:schemeClr val="tx1"/>
          </a:fontRef>
        </p:style>
      </p:cxnSp>
      <p:sp>
        <p:nvSpPr>
          <p:cNvPr id="38" name="TextBox 37">
            <a:extLst>
              <a:ext uri="{FF2B5EF4-FFF2-40B4-BE49-F238E27FC236}">
                <a16:creationId xmlns:a16="http://schemas.microsoft.com/office/drawing/2014/main" id="{624DAC01-E8CB-61B4-CF94-23866555819D}"/>
              </a:ext>
            </a:extLst>
          </p:cNvPr>
          <p:cNvSpPr txBox="1"/>
          <p:nvPr/>
        </p:nvSpPr>
        <p:spPr>
          <a:xfrm>
            <a:off x="5114730" y="3194703"/>
            <a:ext cx="340158" cy="369332"/>
          </a:xfrm>
          <a:prstGeom prst="rect">
            <a:avLst/>
          </a:prstGeom>
          <a:solidFill>
            <a:schemeClr val="bg1"/>
          </a:solidFill>
          <a:ln>
            <a:solidFill>
              <a:schemeClr val="tx1"/>
            </a:solidFill>
          </a:ln>
        </p:spPr>
        <p:txBody>
          <a:bodyPr wrap="none" rtlCol="0">
            <a:spAutoFit/>
          </a:bodyPr>
          <a:lstStyle/>
          <a:p>
            <a:r>
              <a:rPr lang="en-GB" b="1"/>
              <a:t>&amp;</a:t>
            </a:r>
            <a:endParaRPr lang="LID4096"/>
          </a:p>
        </p:txBody>
      </p:sp>
      <p:cxnSp>
        <p:nvCxnSpPr>
          <p:cNvPr id="39" name="Straight Connector 38">
            <a:extLst>
              <a:ext uri="{FF2B5EF4-FFF2-40B4-BE49-F238E27FC236}">
                <a16:creationId xmlns:a16="http://schemas.microsoft.com/office/drawing/2014/main" id="{813CE645-4700-7E96-485E-921DA2FF4CD9}"/>
              </a:ext>
            </a:extLst>
          </p:cNvPr>
          <p:cNvCxnSpPr>
            <a:cxnSpLocks/>
          </p:cNvCxnSpPr>
          <p:nvPr/>
        </p:nvCxnSpPr>
        <p:spPr>
          <a:xfrm flipH="1">
            <a:off x="4859675" y="3299474"/>
            <a:ext cx="255055" cy="0"/>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sp>
        <p:nvSpPr>
          <p:cNvPr id="40" name="TextBox 39">
            <a:extLst>
              <a:ext uri="{FF2B5EF4-FFF2-40B4-BE49-F238E27FC236}">
                <a16:creationId xmlns:a16="http://schemas.microsoft.com/office/drawing/2014/main" id="{E6A215C4-3411-C05E-5C60-FA2837ABDABF}"/>
              </a:ext>
            </a:extLst>
          </p:cNvPr>
          <p:cNvSpPr txBox="1"/>
          <p:nvPr/>
        </p:nvSpPr>
        <p:spPr>
          <a:xfrm>
            <a:off x="3345376" y="3110922"/>
            <a:ext cx="889987" cy="246221"/>
          </a:xfrm>
          <a:prstGeom prst="rect">
            <a:avLst/>
          </a:prstGeom>
          <a:solidFill>
            <a:schemeClr val="tx1">
              <a:lumMod val="50000"/>
              <a:lumOff val="50000"/>
            </a:schemeClr>
          </a:solidFill>
          <a:ln>
            <a:solidFill>
              <a:schemeClr val="tx1"/>
            </a:solidFill>
          </a:ln>
        </p:spPr>
        <p:txBody>
          <a:bodyPr wrap="none" rtlCol="0">
            <a:spAutoFit/>
          </a:bodyPr>
          <a:lstStyle/>
          <a:p>
            <a:r>
              <a:rPr lang="en-GB" sz="1000">
                <a:solidFill>
                  <a:schemeClr val="bg2"/>
                </a:solidFill>
                <a:latin typeface="Consolas" panose="020B0609020204030204" pitchFamily="49" charset="0"/>
              </a:rPr>
              <a:t>EXTI_INTFR</a:t>
            </a:r>
            <a:endParaRPr lang="LID4096" sz="1000">
              <a:solidFill>
                <a:schemeClr val="bg2"/>
              </a:solidFill>
              <a:latin typeface="Consolas" panose="020B0609020204030204" pitchFamily="49" charset="0"/>
            </a:endParaRPr>
          </a:p>
        </p:txBody>
      </p:sp>
      <p:sp>
        <p:nvSpPr>
          <p:cNvPr id="41" name="TextBox 40">
            <a:extLst>
              <a:ext uri="{FF2B5EF4-FFF2-40B4-BE49-F238E27FC236}">
                <a16:creationId xmlns:a16="http://schemas.microsoft.com/office/drawing/2014/main" id="{EDDA426A-9385-C310-CEF9-4902DB45215D}"/>
              </a:ext>
            </a:extLst>
          </p:cNvPr>
          <p:cNvSpPr txBox="1"/>
          <p:nvPr/>
        </p:nvSpPr>
        <p:spPr>
          <a:xfrm>
            <a:off x="4470283" y="3194703"/>
            <a:ext cx="431528" cy="369332"/>
          </a:xfrm>
          <a:prstGeom prst="rect">
            <a:avLst/>
          </a:prstGeom>
          <a:solidFill>
            <a:schemeClr val="bg1"/>
          </a:solidFill>
          <a:ln>
            <a:solidFill>
              <a:schemeClr val="tx1"/>
            </a:solidFill>
          </a:ln>
        </p:spPr>
        <p:txBody>
          <a:bodyPr wrap="none" rtlCol="0">
            <a:spAutoFit/>
          </a:bodyPr>
          <a:lstStyle/>
          <a:p>
            <a:r>
              <a:rPr lang="en-SE" b="1"/>
              <a:t>≥</a:t>
            </a:r>
            <a:r>
              <a:rPr lang="en-GB"/>
              <a:t>1</a:t>
            </a:r>
            <a:endParaRPr lang="LID4096"/>
          </a:p>
        </p:txBody>
      </p:sp>
      <p:sp>
        <p:nvSpPr>
          <p:cNvPr id="42" name="Freeform: Shape 41">
            <a:extLst>
              <a:ext uri="{FF2B5EF4-FFF2-40B4-BE49-F238E27FC236}">
                <a16:creationId xmlns:a16="http://schemas.microsoft.com/office/drawing/2014/main" id="{21D7CA8C-09F1-3FF3-08C9-ED7049869C50}"/>
              </a:ext>
            </a:extLst>
          </p:cNvPr>
          <p:cNvSpPr/>
          <p:nvPr/>
        </p:nvSpPr>
        <p:spPr>
          <a:xfrm>
            <a:off x="3200462" y="3403042"/>
            <a:ext cx="1835150" cy="488950"/>
          </a:xfrm>
          <a:custGeom>
            <a:avLst/>
            <a:gdLst>
              <a:gd name="csX0" fmla="*/ 0 w 1835150"/>
              <a:gd name="csY0" fmla="*/ 0 h 488950"/>
              <a:gd name="csX1" fmla="*/ 0 w 1835150"/>
              <a:gd name="csY1" fmla="*/ 488950 h 488950"/>
              <a:gd name="csX2" fmla="*/ 1835150 w 1835150"/>
              <a:gd name="csY2" fmla="*/ 488950 h 488950"/>
              <a:gd name="csX3" fmla="*/ 1835150 w 1835150"/>
              <a:gd name="csY3" fmla="*/ 82550 h 488950"/>
              <a:gd name="csX4" fmla="*/ 1708150 w 1835150"/>
              <a:gd name="csY4" fmla="*/ 82550 h 488950"/>
            </a:gdLst>
            <a:ahLst/>
            <a:cxnLst>
              <a:cxn ang="0">
                <a:pos x="csX0" y="csY0"/>
              </a:cxn>
              <a:cxn ang="0">
                <a:pos x="csX1" y="csY1"/>
              </a:cxn>
              <a:cxn ang="0">
                <a:pos x="csX2" y="csY2"/>
              </a:cxn>
              <a:cxn ang="0">
                <a:pos x="csX3" y="csY3"/>
              </a:cxn>
              <a:cxn ang="0">
                <a:pos x="csX4" y="csY4"/>
              </a:cxn>
            </a:cxnLst>
            <a:rect l="l" t="t" r="r" b="b"/>
            <a:pathLst>
              <a:path w="1835150" h="488950">
                <a:moveTo>
                  <a:pt x="0" y="0"/>
                </a:moveTo>
                <a:lnTo>
                  <a:pt x="0" y="488950"/>
                </a:lnTo>
                <a:lnTo>
                  <a:pt x="1835150" y="488950"/>
                </a:lnTo>
                <a:lnTo>
                  <a:pt x="1835150" y="82550"/>
                </a:lnTo>
                <a:lnTo>
                  <a:pt x="1708150" y="82550"/>
                </a:lnTo>
              </a:path>
            </a:pathLst>
          </a:custGeom>
          <a:noFill/>
          <a:ln>
            <a:tailEnd type="triangle"/>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cxnSp>
        <p:nvCxnSpPr>
          <p:cNvPr id="47" name="Straight Arrow Connector 46">
            <a:extLst>
              <a:ext uri="{FF2B5EF4-FFF2-40B4-BE49-F238E27FC236}">
                <a16:creationId xmlns:a16="http://schemas.microsoft.com/office/drawing/2014/main" id="{BDC41793-FAF4-532F-D682-AFD410B70C3D}"/>
              </a:ext>
            </a:extLst>
          </p:cNvPr>
          <p:cNvCxnSpPr>
            <a:cxnSpLocks/>
            <a:stCxn id="41" idx="1"/>
          </p:cNvCxnSpPr>
          <p:nvPr/>
        </p:nvCxnSpPr>
        <p:spPr>
          <a:xfrm flipH="1">
            <a:off x="4235363" y="3379369"/>
            <a:ext cx="234920" cy="0"/>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48" name="TextBox 47">
            <a:extLst>
              <a:ext uri="{FF2B5EF4-FFF2-40B4-BE49-F238E27FC236}">
                <a16:creationId xmlns:a16="http://schemas.microsoft.com/office/drawing/2014/main" id="{F75914BA-0E6D-2450-4952-AF205DFDA8C1}"/>
              </a:ext>
            </a:extLst>
          </p:cNvPr>
          <p:cNvSpPr txBox="1"/>
          <p:nvPr/>
        </p:nvSpPr>
        <p:spPr>
          <a:xfrm>
            <a:off x="3345376" y="3357143"/>
            <a:ext cx="889987" cy="338554"/>
          </a:xfrm>
          <a:prstGeom prst="rect">
            <a:avLst/>
          </a:prstGeom>
          <a:solidFill>
            <a:schemeClr val="bg1"/>
          </a:solidFill>
          <a:ln>
            <a:solidFill>
              <a:schemeClr val="tx1"/>
            </a:solidFill>
          </a:ln>
        </p:spPr>
        <p:txBody>
          <a:bodyPr wrap="square" rtlCol="0">
            <a:spAutoFit/>
          </a:bodyPr>
          <a:lstStyle/>
          <a:p>
            <a:pPr algn="ctr"/>
            <a:r>
              <a:rPr lang="en-GB" sz="800" i="1"/>
              <a:t>Interrupt Flag Register</a:t>
            </a:r>
            <a:endParaRPr lang="LID4096" sz="800" i="1"/>
          </a:p>
        </p:txBody>
      </p:sp>
      <p:sp>
        <p:nvSpPr>
          <p:cNvPr id="49" name="TextBox 48">
            <a:extLst>
              <a:ext uri="{FF2B5EF4-FFF2-40B4-BE49-F238E27FC236}">
                <a16:creationId xmlns:a16="http://schemas.microsoft.com/office/drawing/2014/main" id="{4FFDA9EC-9C99-519E-7075-F28472745452}"/>
              </a:ext>
            </a:extLst>
          </p:cNvPr>
          <p:cNvSpPr txBox="1"/>
          <p:nvPr/>
        </p:nvSpPr>
        <p:spPr>
          <a:xfrm>
            <a:off x="3345376" y="2649258"/>
            <a:ext cx="889987" cy="338554"/>
          </a:xfrm>
          <a:prstGeom prst="rect">
            <a:avLst/>
          </a:prstGeom>
          <a:noFill/>
          <a:ln>
            <a:noFill/>
          </a:ln>
        </p:spPr>
        <p:txBody>
          <a:bodyPr wrap="square" rtlCol="0">
            <a:spAutoFit/>
          </a:bodyPr>
          <a:lstStyle/>
          <a:p>
            <a:pPr algn="ctr"/>
            <a:r>
              <a:rPr lang="en-GB" sz="800" i="1" dirty="0"/>
              <a:t>Only reset from software</a:t>
            </a:r>
            <a:endParaRPr lang="LID4096" sz="800" i="1" dirty="0"/>
          </a:p>
        </p:txBody>
      </p:sp>
      <p:cxnSp>
        <p:nvCxnSpPr>
          <p:cNvPr id="51" name="Straight Arrow Connector 50">
            <a:extLst>
              <a:ext uri="{FF2B5EF4-FFF2-40B4-BE49-F238E27FC236}">
                <a16:creationId xmlns:a16="http://schemas.microsoft.com/office/drawing/2014/main" id="{FEAA15B2-E3BE-9A87-0AA7-F73A5E72E567}"/>
              </a:ext>
            </a:extLst>
          </p:cNvPr>
          <p:cNvCxnSpPr>
            <a:cxnSpLocks/>
          </p:cNvCxnSpPr>
          <p:nvPr/>
        </p:nvCxnSpPr>
        <p:spPr>
          <a:xfrm>
            <a:off x="3792649" y="2953919"/>
            <a:ext cx="0" cy="152400"/>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551258895"/>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806314-F5D5-2B0E-4891-E22759A2D30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8DAB19D-8FA2-AAE1-0353-B14E0322439B}"/>
              </a:ext>
            </a:extLst>
          </p:cNvPr>
          <p:cNvSpPr>
            <a:spLocks noGrp="1"/>
          </p:cNvSpPr>
          <p:nvPr>
            <p:ph type="title"/>
          </p:nvPr>
        </p:nvSpPr>
        <p:spPr/>
        <p:txBody>
          <a:bodyPr/>
          <a:lstStyle/>
          <a:p>
            <a:r>
              <a:rPr lang="en-US" dirty="0"/>
              <a:t>N</a:t>
            </a:r>
            <a:r>
              <a:rPr lang="sv-SE" dirty="0"/>
              <a:t>är skall vi fyra av ett </a:t>
            </a:r>
            <a:r>
              <a:rPr lang="sv-SE" dirty="0" err="1"/>
              <a:t>interrupt</a:t>
            </a:r>
            <a:r>
              <a:rPr lang="sv-SE" dirty="0"/>
              <a:t>? </a:t>
            </a:r>
            <a:br>
              <a:rPr lang="sv-SE" dirty="0"/>
            </a:br>
            <a:r>
              <a:rPr lang="sv-SE" sz="3200" dirty="0"/>
              <a:t>EXTI</a:t>
            </a:r>
            <a:endParaRPr lang="LID4096" dirty="0"/>
          </a:p>
        </p:txBody>
      </p:sp>
      <p:sp>
        <p:nvSpPr>
          <p:cNvPr id="4" name="TextBox 3">
            <a:extLst>
              <a:ext uri="{FF2B5EF4-FFF2-40B4-BE49-F238E27FC236}">
                <a16:creationId xmlns:a16="http://schemas.microsoft.com/office/drawing/2014/main" id="{64067581-AE08-F9FB-8C84-68AE572A584D}"/>
              </a:ext>
            </a:extLst>
          </p:cNvPr>
          <p:cNvSpPr txBox="1"/>
          <p:nvPr/>
        </p:nvSpPr>
        <p:spPr>
          <a:xfrm>
            <a:off x="2292728" y="1974294"/>
            <a:ext cx="8286434" cy="2584448"/>
          </a:xfrm>
          <a:prstGeom prst="rect">
            <a:avLst/>
          </a:prstGeom>
          <a:solidFill>
            <a:schemeClr val="accent6">
              <a:lumMod val="40000"/>
              <a:lumOff val="60000"/>
            </a:schemeClr>
          </a:solidFill>
          <a:ln>
            <a:solidFill>
              <a:schemeClr val="accent6">
                <a:lumMod val="75000"/>
              </a:schemeClr>
            </a:solidFill>
          </a:ln>
        </p:spPr>
        <p:txBody>
          <a:bodyPr wrap="square" rtlCol="0">
            <a:noAutofit/>
          </a:bodyPr>
          <a:lstStyle/>
          <a:p>
            <a:pPr algn="ctr"/>
            <a:r>
              <a:rPr lang="en-US"/>
              <a:t>EXTI</a:t>
            </a:r>
            <a:br>
              <a:rPr lang="en-US"/>
            </a:br>
            <a:endParaRPr lang="en-US" sz="1050"/>
          </a:p>
        </p:txBody>
      </p:sp>
      <p:sp>
        <p:nvSpPr>
          <p:cNvPr id="5" name="TextBox 4">
            <a:extLst>
              <a:ext uri="{FF2B5EF4-FFF2-40B4-BE49-F238E27FC236}">
                <a16:creationId xmlns:a16="http://schemas.microsoft.com/office/drawing/2014/main" id="{D6029636-D8E3-673A-482F-BC6079444667}"/>
              </a:ext>
            </a:extLst>
          </p:cNvPr>
          <p:cNvSpPr txBox="1"/>
          <p:nvPr/>
        </p:nvSpPr>
        <p:spPr>
          <a:xfrm>
            <a:off x="9985835" y="3280885"/>
            <a:ext cx="593327" cy="1223412"/>
          </a:xfrm>
          <a:prstGeom prst="rect">
            <a:avLst/>
          </a:prstGeom>
          <a:noFill/>
        </p:spPr>
        <p:txBody>
          <a:bodyPr wrap="square">
            <a:spAutoFit/>
          </a:bodyPr>
          <a:lstStyle/>
          <a:p>
            <a:pPr algn="r"/>
            <a:r>
              <a:rPr lang="en-US" sz="1050"/>
              <a:t>EXTI0</a:t>
            </a:r>
            <a:br>
              <a:rPr lang="en-US" sz="1050"/>
            </a:br>
            <a:r>
              <a:rPr lang="en-US" sz="1050" b="1"/>
              <a:t>EXTI1</a:t>
            </a:r>
            <a:br>
              <a:rPr lang="en-US" sz="1050" b="1"/>
            </a:br>
            <a:r>
              <a:rPr lang="en-US" sz="1050"/>
              <a:t>EXTI2</a:t>
            </a:r>
            <a:br>
              <a:rPr lang="en-US" sz="1050"/>
            </a:br>
            <a:r>
              <a:rPr lang="en-US" sz="1050"/>
              <a:t>EXTI3</a:t>
            </a:r>
            <a:br>
              <a:rPr lang="en-US" sz="1050"/>
            </a:br>
            <a:r>
              <a:rPr lang="en-US" sz="1050"/>
              <a:t>EXTI4</a:t>
            </a:r>
          </a:p>
          <a:p>
            <a:pPr algn="r"/>
            <a:r>
              <a:rPr lang="en-US" sz="1050"/>
              <a:t>EXTI5</a:t>
            </a:r>
          </a:p>
          <a:p>
            <a:pPr algn="ctr"/>
            <a:r>
              <a:rPr lang="en-US" sz="1050"/>
              <a:t>...</a:t>
            </a:r>
            <a:endParaRPr lang="LID4096" sz="3600" dirty="0"/>
          </a:p>
        </p:txBody>
      </p:sp>
      <p:cxnSp>
        <p:nvCxnSpPr>
          <p:cNvPr id="6" name="Straight Arrow Connector 5">
            <a:extLst>
              <a:ext uri="{FF2B5EF4-FFF2-40B4-BE49-F238E27FC236}">
                <a16:creationId xmlns:a16="http://schemas.microsoft.com/office/drawing/2014/main" id="{456EAAED-E432-68F8-5D19-59A2123A069D}"/>
              </a:ext>
            </a:extLst>
          </p:cNvPr>
          <p:cNvCxnSpPr/>
          <p:nvPr/>
        </p:nvCxnSpPr>
        <p:spPr>
          <a:xfrm flipH="1">
            <a:off x="10679040" y="3415557"/>
            <a:ext cx="531213" cy="0"/>
          </a:xfrm>
          <a:prstGeom prst="straightConnector1">
            <a:avLst/>
          </a:prstGeom>
          <a:ln w="50800">
            <a:solidFill>
              <a:schemeClr val="bg2">
                <a:lumMod val="90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7" name="Straight Arrow Connector 6">
            <a:extLst>
              <a:ext uri="{FF2B5EF4-FFF2-40B4-BE49-F238E27FC236}">
                <a16:creationId xmlns:a16="http://schemas.microsoft.com/office/drawing/2014/main" id="{407B8C5B-81F6-8CEC-A495-F1EFE38AA69C}"/>
              </a:ext>
            </a:extLst>
          </p:cNvPr>
          <p:cNvCxnSpPr/>
          <p:nvPr/>
        </p:nvCxnSpPr>
        <p:spPr>
          <a:xfrm flipH="1">
            <a:off x="10679040" y="3570054"/>
            <a:ext cx="531213" cy="0"/>
          </a:xfrm>
          <a:prstGeom prst="straightConnector1">
            <a:avLst/>
          </a:prstGeom>
          <a:ln w="50800">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8" name="Straight Arrow Connector 7">
            <a:extLst>
              <a:ext uri="{FF2B5EF4-FFF2-40B4-BE49-F238E27FC236}">
                <a16:creationId xmlns:a16="http://schemas.microsoft.com/office/drawing/2014/main" id="{222E893F-881A-6C28-6781-3A99A639D83D}"/>
              </a:ext>
            </a:extLst>
          </p:cNvPr>
          <p:cNvCxnSpPr/>
          <p:nvPr/>
        </p:nvCxnSpPr>
        <p:spPr>
          <a:xfrm flipH="1">
            <a:off x="10675869" y="3745525"/>
            <a:ext cx="531213" cy="0"/>
          </a:xfrm>
          <a:prstGeom prst="straightConnector1">
            <a:avLst/>
          </a:prstGeom>
          <a:ln w="50800">
            <a:solidFill>
              <a:schemeClr val="bg2">
                <a:lumMod val="90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9" name="Straight Arrow Connector 8">
            <a:extLst>
              <a:ext uri="{FF2B5EF4-FFF2-40B4-BE49-F238E27FC236}">
                <a16:creationId xmlns:a16="http://schemas.microsoft.com/office/drawing/2014/main" id="{910E44CC-7758-8352-66F9-2EAA7231A460}"/>
              </a:ext>
            </a:extLst>
          </p:cNvPr>
          <p:cNvCxnSpPr/>
          <p:nvPr/>
        </p:nvCxnSpPr>
        <p:spPr>
          <a:xfrm flipH="1">
            <a:off x="10675869" y="3907012"/>
            <a:ext cx="531213" cy="0"/>
          </a:xfrm>
          <a:prstGeom prst="straightConnector1">
            <a:avLst/>
          </a:prstGeom>
          <a:ln w="50800">
            <a:solidFill>
              <a:schemeClr val="bg2">
                <a:lumMod val="90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10" name="Straight Arrow Connector 9">
            <a:extLst>
              <a:ext uri="{FF2B5EF4-FFF2-40B4-BE49-F238E27FC236}">
                <a16:creationId xmlns:a16="http://schemas.microsoft.com/office/drawing/2014/main" id="{C0EB40F9-F7B5-6FEF-9EED-EED77A2910CE}"/>
              </a:ext>
            </a:extLst>
          </p:cNvPr>
          <p:cNvCxnSpPr/>
          <p:nvPr/>
        </p:nvCxnSpPr>
        <p:spPr>
          <a:xfrm flipH="1">
            <a:off x="10675869" y="4065306"/>
            <a:ext cx="531213" cy="0"/>
          </a:xfrm>
          <a:prstGeom prst="straightConnector1">
            <a:avLst/>
          </a:prstGeom>
          <a:ln w="50800">
            <a:solidFill>
              <a:schemeClr val="bg2">
                <a:lumMod val="90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11" name="Straight Arrow Connector 10">
            <a:extLst>
              <a:ext uri="{FF2B5EF4-FFF2-40B4-BE49-F238E27FC236}">
                <a16:creationId xmlns:a16="http://schemas.microsoft.com/office/drawing/2014/main" id="{7221498F-EBCF-F1B2-FAB7-6E9FCD734E1E}"/>
              </a:ext>
            </a:extLst>
          </p:cNvPr>
          <p:cNvCxnSpPr/>
          <p:nvPr/>
        </p:nvCxnSpPr>
        <p:spPr>
          <a:xfrm flipH="1">
            <a:off x="10675869" y="4228870"/>
            <a:ext cx="531213" cy="0"/>
          </a:xfrm>
          <a:prstGeom prst="straightConnector1">
            <a:avLst/>
          </a:prstGeom>
          <a:ln w="50800">
            <a:solidFill>
              <a:schemeClr val="bg2">
                <a:lumMod val="9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12" name="Rectangle 11">
            <a:extLst>
              <a:ext uri="{FF2B5EF4-FFF2-40B4-BE49-F238E27FC236}">
                <a16:creationId xmlns:a16="http://schemas.microsoft.com/office/drawing/2014/main" id="{608C14C0-2934-3379-D00A-CA62132BE4EA}"/>
              </a:ext>
            </a:extLst>
          </p:cNvPr>
          <p:cNvSpPr/>
          <p:nvPr/>
        </p:nvSpPr>
        <p:spPr>
          <a:xfrm>
            <a:off x="10687428" y="3695101"/>
            <a:ext cx="908134" cy="647781"/>
          </a:xfrm>
          <a:prstGeom prst="rect">
            <a:avLst/>
          </a:prstGeom>
          <a:gradFill>
            <a:gsLst>
              <a:gs pos="78900">
                <a:schemeClr val="bg1"/>
              </a:gs>
              <a:gs pos="0">
                <a:schemeClr val="accent1">
                  <a:lumMod val="5000"/>
                  <a:lumOff val="95000"/>
                  <a:alpha val="0"/>
                </a:schemeClr>
              </a:gs>
              <a:gs pos="100000">
                <a:schemeClr val="bg1"/>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13" name="TextBox 12">
            <a:extLst>
              <a:ext uri="{FF2B5EF4-FFF2-40B4-BE49-F238E27FC236}">
                <a16:creationId xmlns:a16="http://schemas.microsoft.com/office/drawing/2014/main" id="{86CF551D-91CD-CC07-AEAC-AF3875A64E90}"/>
              </a:ext>
            </a:extLst>
          </p:cNvPr>
          <p:cNvSpPr txBox="1"/>
          <p:nvPr/>
        </p:nvSpPr>
        <p:spPr>
          <a:xfrm>
            <a:off x="2281169" y="3114769"/>
            <a:ext cx="849594" cy="1223412"/>
          </a:xfrm>
          <a:prstGeom prst="rect">
            <a:avLst/>
          </a:prstGeom>
          <a:noFill/>
        </p:spPr>
        <p:txBody>
          <a:bodyPr wrap="square">
            <a:spAutoFit/>
          </a:bodyPr>
          <a:lstStyle/>
          <a:p>
            <a:r>
              <a:rPr lang="en-US" sz="1050" dirty="0"/>
              <a:t>EXTI0</a:t>
            </a:r>
            <a:br>
              <a:rPr lang="en-US" sz="1050" dirty="0"/>
            </a:br>
            <a:r>
              <a:rPr lang="en-US" sz="1050" b="1" dirty="0"/>
              <a:t>EXTI1</a:t>
            </a:r>
            <a:br>
              <a:rPr lang="en-US" sz="1050" dirty="0"/>
            </a:br>
            <a:r>
              <a:rPr lang="en-US" sz="1050" dirty="0"/>
              <a:t>EXTI2</a:t>
            </a:r>
            <a:br>
              <a:rPr lang="en-US" sz="1050" dirty="0"/>
            </a:br>
            <a:r>
              <a:rPr lang="en-US" sz="1050" dirty="0"/>
              <a:t>EXTI3</a:t>
            </a:r>
            <a:br>
              <a:rPr lang="en-US" sz="1050" dirty="0"/>
            </a:br>
            <a:r>
              <a:rPr lang="en-US" sz="1050" dirty="0"/>
              <a:t>EXTI4</a:t>
            </a:r>
          </a:p>
          <a:p>
            <a:r>
              <a:rPr lang="en-US" sz="1050" dirty="0"/>
              <a:t>EXTI5_9</a:t>
            </a:r>
            <a:br>
              <a:rPr lang="en-US" sz="1050" dirty="0"/>
            </a:br>
            <a:r>
              <a:rPr lang="en-US" sz="1050" dirty="0"/>
              <a:t>EXTI10_15</a:t>
            </a:r>
          </a:p>
        </p:txBody>
      </p:sp>
      <p:sp>
        <p:nvSpPr>
          <p:cNvPr id="14" name="TextBox 13">
            <a:extLst>
              <a:ext uri="{FF2B5EF4-FFF2-40B4-BE49-F238E27FC236}">
                <a16:creationId xmlns:a16="http://schemas.microsoft.com/office/drawing/2014/main" id="{9E2DD7C7-C6E0-E9EE-F084-61411BEBC6A7}"/>
              </a:ext>
            </a:extLst>
          </p:cNvPr>
          <p:cNvSpPr txBox="1"/>
          <p:nvPr/>
        </p:nvSpPr>
        <p:spPr>
          <a:xfrm rot="16200000">
            <a:off x="188771" y="2956314"/>
            <a:ext cx="2584447" cy="620410"/>
          </a:xfrm>
          <a:prstGeom prst="rect">
            <a:avLst/>
          </a:prstGeom>
          <a:solidFill>
            <a:schemeClr val="accent1">
              <a:lumMod val="60000"/>
              <a:lumOff val="40000"/>
            </a:schemeClr>
          </a:solidFill>
          <a:ln>
            <a:solidFill>
              <a:schemeClr val="tx2">
                <a:lumMod val="75000"/>
                <a:lumOff val="25000"/>
              </a:schemeClr>
            </a:solidFill>
          </a:ln>
        </p:spPr>
        <p:txBody>
          <a:bodyPr wrap="square" rtlCol="0">
            <a:noAutofit/>
          </a:bodyPr>
          <a:lstStyle/>
          <a:p>
            <a:pPr algn="ctr"/>
            <a:r>
              <a:rPr lang="en-US" sz="3600"/>
              <a:t>PFIC</a:t>
            </a:r>
            <a:endParaRPr lang="LID4096" sz="6000" dirty="0"/>
          </a:p>
        </p:txBody>
      </p:sp>
      <p:sp>
        <p:nvSpPr>
          <p:cNvPr id="15" name="TextBox 14">
            <a:extLst>
              <a:ext uri="{FF2B5EF4-FFF2-40B4-BE49-F238E27FC236}">
                <a16:creationId xmlns:a16="http://schemas.microsoft.com/office/drawing/2014/main" id="{205A3409-03A5-FE27-B770-E09540B50A7F}"/>
              </a:ext>
            </a:extLst>
          </p:cNvPr>
          <p:cNvSpPr txBox="1"/>
          <p:nvPr/>
        </p:nvSpPr>
        <p:spPr>
          <a:xfrm>
            <a:off x="7828729" y="3412504"/>
            <a:ext cx="1676228" cy="276999"/>
          </a:xfrm>
          <a:prstGeom prst="rect">
            <a:avLst/>
          </a:prstGeom>
          <a:solidFill>
            <a:schemeClr val="bg1"/>
          </a:solidFill>
          <a:ln>
            <a:solidFill>
              <a:schemeClr val="tx1"/>
            </a:solidFill>
          </a:ln>
        </p:spPr>
        <p:txBody>
          <a:bodyPr wrap="none" rtlCol="0">
            <a:spAutoFit/>
          </a:bodyPr>
          <a:lstStyle/>
          <a:p>
            <a:r>
              <a:rPr lang="en-GB" sz="1200"/>
              <a:t>Edge Detection Circuit</a:t>
            </a:r>
            <a:endParaRPr lang="LID4096" sz="1200"/>
          </a:p>
        </p:txBody>
      </p:sp>
      <p:sp>
        <p:nvSpPr>
          <p:cNvPr id="16" name="TextBox 15">
            <a:extLst>
              <a:ext uri="{FF2B5EF4-FFF2-40B4-BE49-F238E27FC236}">
                <a16:creationId xmlns:a16="http://schemas.microsoft.com/office/drawing/2014/main" id="{EB671521-D0AB-81A1-0FB3-8F8E8A6D5245}"/>
              </a:ext>
            </a:extLst>
          </p:cNvPr>
          <p:cNvSpPr txBox="1"/>
          <p:nvPr/>
        </p:nvSpPr>
        <p:spPr>
          <a:xfrm>
            <a:off x="8714848" y="2433626"/>
            <a:ext cx="889987" cy="246221"/>
          </a:xfrm>
          <a:prstGeom prst="rect">
            <a:avLst/>
          </a:prstGeom>
          <a:solidFill>
            <a:schemeClr val="tx1">
              <a:lumMod val="50000"/>
              <a:lumOff val="50000"/>
            </a:schemeClr>
          </a:solidFill>
          <a:ln>
            <a:solidFill>
              <a:schemeClr val="tx1"/>
            </a:solidFill>
          </a:ln>
        </p:spPr>
        <p:txBody>
          <a:bodyPr wrap="none" rtlCol="0">
            <a:spAutoFit/>
          </a:bodyPr>
          <a:lstStyle/>
          <a:p>
            <a:r>
              <a:rPr lang="en-GB" sz="1000">
                <a:solidFill>
                  <a:schemeClr val="bg2"/>
                </a:solidFill>
                <a:latin typeface="Consolas" panose="020B0609020204030204" pitchFamily="49" charset="0"/>
              </a:rPr>
              <a:t>EXTI_FTENR</a:t>
            </a:r>
            <a:endParaRPr lang="LID4096" sz="1000">
              <a:solidFill>
                <a:schemeClr val="bg2"/>
              </a:solidFill>
              <a:latin typeface="Consolas" panose="020B0609020204030204" pitchFamily="49" charset="0"/>
            </a:endParaRPr>
          </a:p>
        </p:txBody>
      </p:sp>
      <p:sp>
        <p:nvSpPr>
          <p:cNvPr id="17" name="TextBox 16">
            <a:extLst>
              <a:ext uri="{FF2B5EF4-FFF2-40B4-BE49-F238E27FC236}">
                <a16:creationId xmlns:a16="http://schemas.microsoft.com/office/drawing/2014/main" id="{A528FF88-7DA3-1355-6A10-08E0B239670A}"/>
              </a:ext>
            </a:extLst>
          </p:cNvPr>
          <p:cNvSpPr txBox="1"/>
          <p:nvPr/>
        </p:nvSpPr>
        <p:spPr>
          <a:xfrm>
            <a:off x="8714848" y="2679847"/>
            <a:ext cx="889987" cy="338554"/>
          </a:xfrm>
          <a:prstGeom prst="rect">
            <a:avLst/>
          </a:prstGeom>
          <a:solidFill>
            <a:schemeClr val="bg1"/>
          </a:solidFill>
          <a:ln>
            <a:solidFill>
              <a:schemeClr val="tx1"/>
            </a:solidFill>
          </a:ln>
        </p:spPr>
        <p:txBody>
          <a:bodyPr wrap="square" rtlCol="0">
            <a:spAutoFit/>
          </a:bodyPr>
          <a:lstStyle/>
          <a:p>
            <a:pPr algn="ctr"/>
            <a:r>
              <a:rPr lang="en-GB" sz="800" i="1"/>
              <a:t>Falling trigger enable register</a:t>
            </a:r>
            <a:endParaRPr lang="LID4096" sz="800" i="1"/>
          </a:p>
        </p:txBody>
      </p:sp>
      <p:sp>
        <p:nvSpPr>
          <p:cNvPr id="18" name="TextBox 17">
            <a:extLst>
              <a:ext uri="{FF2B5EF4-FFF2-40B4-BE49-F238E27FC236}">
                <a16:creationId xmlns:a16="http://schemas.microsoft.com/office/drawing/2014/main" id="{7FEC959A-48EA-13E1-B3F7-B2FCAE00F114}"/>
              </a:ext>
            </a:extLst>
          </p:cNvPr>
          <p:cNvSpPr txBox="1"/>
          <p:nvPr/>
        </p:nvSpPr>
        <p:spPr>
          <a:xfrm>
            <a:off x="7694768" y="2430145"/>
            <a:ext cx="889987" cy="246221"/>
          </a:xfrm>
          <a:prstGeom prst="rect">
            <a:avLst/>
          </a:prstGeom>
          <a:solidFill>
            <a:schemeClr val="tx1">
              <a:lumMod val="50000"/>
              <a:lumOff val="50000"/>
            </a:schemeClr>
          </a:solidFill>
          <a:ln>
            <a:solidFill>
              <a:schemeClr val="tx1"/>
            </a:solidFill>
          </a:ln>
        </p:spPr>
        <p:txBody>
          <a:bodyPr wrap="none" rtlCol="0">
            <a:spAutoFit/>
          </a:bodyPr>
          <a:lstStyle/>
          <a:p>
            <a:r>
              <a:rPr lang="en-GB" sz="1000">
                <a:solidFill>
                  <a:schemeClr val="bg2"/>
                </a:solidFill>
                <a:latin typeface="Consolas" panose="020B0609020204030204" pitchFamily="49" charset="0"/>
              </a:rPr>
              <a:t>EXTI_RTENR</a:t>
            </a:r>
            <a:endParaRPr lang="LID4096" sz="1000">
              <a:solidFill>
                <a:schemeClr val="bg2"/>
              </a:solidFill>
              <a:latin typeface="Consolas" panose="020B0609020204030204" pitchFamily="49" charset="0"/>
            </a:endParaRPr>
          </a:p>
        </p:txBody>
      </p:sp>
      <p:sp>
        <p:nvSpPr>
          <p:cNvPr id="19" name="TextBox 18">
            <a:extLst>
              <a:ext uri="{FF2B5EF4-FFF2-40B4-BE49-F238E27FC236}">
                <a16:creationId xmlns:a16="http://schemas.microsoft.com/office/drawing/2014/main" id="{0F712E3C-E27D-3140-E231-DEB413292BD3}"/>
              </a:ext>
            </a:extLst>
          </p:cNvPr>
          <p:cNvSpPr txBox="1"/>
          <p:nvPr/>
        </p:nvSpPr>
        <p:spPr>
          <a:xfrm>
            <a:off x="7694768" y="2676366"/>
            <a:ext cx="889987" cy="338554"/>
          </a:xfrm>
          <a:prstGeom prst="rect">
            <a:avLst/>
          </a:prstGeom>
          <a:solidFill>
            <a:schemeClr val="bg1"/>
          </a:solidFill>
          <a:ln>
            <a:solidFill>
              <a:schemeClr val="tx1"/>
            </a:solidFill>
          </a:ln>
        </p:spPr>
        <p:txBody>
          <a:bodyPr wrap="square" rtlCol="0">
            <a:spAutoFit/>
          </a:bodyPr>
          <a:lstStyle/>
          <a:p>
            <a:pPr algn="ctr"/>
            <a:r>
              <a:rPr lang="en-GB" sz="800" i="1"/>
              <a:t>Rising trigger enable register</a:t>
            </a:r>
            <a:endParaRPr lang="LID4096" sz="800" i="1"/>
          </a:p>
        </p:txBody>
      </p:sp>
      <p:cxnSp>
        <p:nvCxnSpPr>
          <p:cNvPr id="25" name="Straight Connector 24">
            <a:extLst>
              <a:ext uri="{FF2B5EF4-FFF2-40B4-BE49-F238E27FC236}">
                <a16:creationId xmlns:a16="http://schemas.microsoft.com/office/drawing/2014/main" id="{2155E2A1-FFE4-1495-2419-CBD366FAA6C4}"/>
              </a:ext>
            </a:extLst>
          </p:cNvPr>
          <p:cNvCxnSpPr>
            <a:cxnSpLocks/>
          </p:cNvCxnSpPr>
          <p:nvPr/>
        </p:nvCxnSpPr>
        <p:spPr>
          <a:xfrm flipH="1">
            <a:off x="9504957" y="3553247"/>
            <a:ext cx="547155" cy="0"/>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6" name="Straight Connector 25">
            <a:extLst>
              <a:ext uri="{FF2B5EF4-FFF2-40B4-BE49-F238E27FC236}">
                <a16:creationId xmlns:a16="http://schemas.microsoft.com/office/drawing/2014/main" id="{5F16B4C3-099D-B7CD-A877-1A5181CC9A13}"/>
              </a:ext>
            </a:extLst>
          </p:cNvPr>
          <p:cNvCxnSpPr>
            <a:cxnSpLocks/>
          </p:cNvCxnSpPr>
          <p:nvPr/>
        </p:nvCxnSpPr>
        <p:spPr>
          <a:xfrm flipV="1">
            <a:off x="9131362" y="3018401"/>
            <a:ext cx="0" cy="394103"/>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33518C0D-6402-1E6A-829F-3FE248C05524}"/>
              </a:ext>
            </a:extLst>
          </p:cNvPr>
          <p:cNvCxnSpPr>
            <a:cxnSpLocks/>
          </p:cNvCxnSpPr>
          <p:nvPr/>
        </p:nvCxnSpPr>
        <p:spPr>
          <a:xfrm flipV="1">
            <a:off x="8160867" y="3009166"/>
            <a:ext cx="0" cy="394103"/>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8" name="Straight Connector 27">
            <a:extLst>
              <a:ext uri="{FF2B5EF4-FFF2-40B4-BE49-F238E27FC236}">
                <a16:creationId xmlns:a16="http://schemas.microsoft.com/office/drawing/2014/main" id="{CD210FB6-E2CD-67D0-7F32-31C8FA6783B7}"/>
              </a:ext>
            </a:extLst>
          </p:cNvPr>
          <p:cNvCxnSpPr>
            <a:cxnSpLocks/>
          </p:cNvCxnSpPr>
          <p:nvPr/>
        </p:nvCxnSpPr>
        <p:spPr>
          <a:xfrm flipH="1">
            <a:off x="6583563" y="3593873"/>
            <a:ext cx="1245166" cy="0"/>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34" name="Straight Arrow Connector 33">
            <a:extLst>
              <a:ext uri="{FF2B5EF4-FFF2-40B4-BE49-F238E27FC236}">
                <a16:creationId xmlns:a16="http://schemas.microsoft.com/office/drawing/2014/main" id="{8F00F561-F864-324D-9487-9C8CB1519C74}"/>
              </a:ext>
            </a:extLst>
          </p:cNvPr>
          <p:cNvCxnSpPr/>
          <p:nvPr/>
        </p:nvCxnSpPr>
        <p:spPr>
          <a:xfrm flipH="1">
            <a:off x="1761515" y="3396507"/>
            <a:ext cx="531213" cy="0"/>
          </a:xfrm>
          <a:prstGeom prst="straightConnector1">
            <a:avLst/>
          </a:prstGeom>
          <a:ln w="50800">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37" name="Freeform: Shape 36">
            <a:extLst>
              <a:ext uri="{FF2B5EF4-FFF2-40B4-BE49-F238E27FC236}">
                <a16:creationId xmlns:a16="http://schemas.microsoft.com/office/drawing/2014/main" id="{908D70FC-50BB-72CD-FF25-98733A66FFBC}"/>
              </a:ext>
            </a:extLst>
          </p:cNvPr>
          <p:cNvSpPr/>
          <p:nvPr/>
        </p:nvSpPr>
        <p:spPr>
          <a:xfrm>
            <a:off x="2762312" y="3396692"/>
            <a:ext cx="577850" cy="0"/>
          </a:xfrm>
          <a:custGeom>
            <a:avLst/>
            <a:gdLst>
              <a:gd name="csX0" fmla="*/ 577850 w 577850"/>
              <a:gd name="csY0" fmla="*/ 0 h 0"/>
              <a:gd name="csX1" fmla="*/ 0 w 577850"/>
              <a:gd name="csY1" fmla="*/ 0 h 0"/>
            </a:gdLst>
            <a:ahLst/>
            <a:cxnLst>
              <a:cxn ang="0">
                <a:pos x="csX0" y="csY0"/>
              </a:cxn>
              <a:cxn ang="0">
                <a:pos x="csX1" y="csY1"/>
              </a:cxn>
            </a:cxnLst>
            <a:rect l="l" t="t" r="r" b="b"/>
            <a:pathLst>
              <a:path w="577850">
                <a:moveTo>
                  <a:pt x="577850" y="0"/>
                </a:moveTo>
                <a:lnTo>
                  <a:pt x="0" y="0"/>
                </a:lnTo>
              </a:path>
            </a:pathLst>
          </a:custGeom>
          <a:noFill/>
          <a:ln>
            <a:solidFill>
              <a:schemeClr val="tx1"/>
            </a:solidFill>
            <a:tailEnd type="triangle"/>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43" name="Freeform: Shape 42">
            <a:extLst>
              <a:ext uri="{FF2B5EF4-FFF2-40B4-BE49-F238E27FC236}">
                <a16:creationId xmlns:a16="http://schemas.microsoft.com/office/drawing/2014/main" id="{510F0614-240F-62F8-CF3C-70CF30A27A3C}"/>
              </a:ext>
            </a:extLst>
          </p:cNvPr>
          <p:cNvSpPr/>
          <p:nvPr/>
        </p:nvSpPr>
        <p:spPr>
          <a:xfrm>
            <a:off x="7474187" y="3717874"/>
            <a:ext cx="226503" cy="247475"/>
          </a:xfrm>
          <a:custGeom>
            <a:avLst/>
            <a:gdLst>
              <a:gd name="csX0" fmla="*/ 0 w 226503"/>
              <a:gd name="csY0" fmla="*/ 247475 h 247475"/>
              <a:gd name="csX1" fmla="*/ 83890 w 226503"/>
              <a:gd name="csY1" fmla="*/ 247475 h 247475"/>
              <a:gd name="csX2" fmla="*/ 83890 w 226503"/>
              <a:gd name="csY2" fmla="*/ 0 h 247475"/>
              <a:gd name="csX3" fmla="*/ 146808 w 226503"/>
              <a:gd name="csY3" fmla="*/ 0 h 247475"/>
              <a:gd name="csX4" fmla="*/ 146808 w 226503"/>
              <a:gd name="csY4" fmla="*/ 247475 h 247475"/>
              <a:gd name="csX5" fmla="*/ 226503 w 226503"/>
              <a:gd name="csY5" fmla="*/ 247475 h 247475"/>
            </a:gdLst>
            <a:ahLst/>
            <a:cxnLst>
              <a:cxn ang="0">
                <a:pos x="csX0" y="csY0"/>
              </a:cxn>
              <a:cxn ang="0">
                <a:pos x="csX1" y="csY1"/>
              </a:cxn>
              <a:cxn ang="0">
                <a:pos x="csX2" y="csY2"/>
              </a:cxn>
              <a:cxn ang="0">
                <a:pos x="csX3" y="csY3"/>
              </a:cxn>
              <a:cxn ang="0">
                <a:pos x="csX4" y="csY4"/>
              </a:cxn>
              <a:cxn ang="0">
                <a:pos x="csX5" y="csY5"/>
              </a:cxn>
            </a:cxnLst>
            <a:rect l="l" t="t" r="r" b="b"/>
            <a:pathLst>
              <a:path w="226503" h="247475">
                <a:moveTo>
                  <a:pt x="0" y="247475"/>
                </a:moveTo>
                <a:lnTo>
                  <a:pt x="83890" y="247475"/>
                </a:lnTo>
                <a:lnTo>
                  <a:pt x="83890" y="0"/>
                </a:lnTo>
                <a:lnTo>
                  <a:pt x="146808" y="0"/>
                </a:lnTo>
                <a:lnTo>
                  <a:pt x="146808" y="247475"/>
                </a:lnTo>
                <a:lnTo>
                  <a:pt x="226503" y="247475"/>
                </a:lnTo>
              </a:path>
            </a:pathLst>
          </a:custGeom>
          <a:no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cxnSp>
        <p:nvCxnSpPr>
          <p:cNvPr id="44" name="Straight Connector 43">
            <a:extLst>
              <a:ext uri="{FF2B5EF4-FFF2-40B4-BE49-F238E27FC236}">
                <a16:creationId xmlns:a16="http://schemas.microsoft.com/office/drawing/2014/main" id="{D0542209-3F8D-3995-0FFC-6A158B53949C}"/>
              </a:ext>
            </a:extLst>
          </p:cNvPr>
          <p:cNvCxnSpPr>
            <a:cxnSpLocks/>
          </p:cNvCxnSpPr>
          <p:nvPr/>
        </p:nvCxnSpPr>
        <p:spPr>
          <a:xfrm flipH="1" flipV="1">
            <a:off x="7313757" y="3965044"/>
            <a:ext cx="139457" cy="305"/>
          </a:xfrm>
          <a:prstGeom prst="line">
            <a:avLst/>
          </a:prstGeom>
          <a:ln w="12700">
            <a:solidFill>
              <a:schemeClr val="tx1"/>
            </a:solidFill>
            <a:prstDash val="sysDot"/>
          </a:ln>
        </p:spPr>
        <p:style>
          <a:lnRef idx="2">
            <a:schemeClr val="accent1"/>
          </a:lnRef>
          <a:fillRef idx="0">
            <a:schemeClr val="accent1"/>
          </a:fillRef>
          <a:effectRef idx="1">
            <a:schemeClr val="accent1"/>
          </a:effectRef>
          <a:fontRef idx="minor">
            <a:schemeClr val="tx1"/>
          </a:fontRef>
        </p:style>
      </p:cxnSp>
      <p:cxnSp>
        <p:nvCxnSpPr>
          <p:cNvPr id="45" name="Straight Connector 44">
            <a:extLst>
              <a:ext uri="{FF2B5EF4-FFF2-40B4-BE49-F238E27FC236}">
                <a16:creationId xmlns:a16="http://schemas.microsoft.com/office/drawing/2014/main" id="{D0EC22BF-BDB1-9FBF-7557-B6B93B80BF72}"/>
              </a:ext>
            </a:extLst>
          </p:cNvPr>
          <p:cNvCxnSpPr>
            <a:cxnSpLocks/>
          </p:cNvCxnSpPr>
          <p:nvPr/>
        </p:nvCxnSpPr>
        <p:spPr>
          <a:xfrm flipH="1" flipV="1">
            <a:off x="7718923" y="3965044"/>
            <a:ext cx="139457" cy="305"/>
          </a:xfrm>
          <a:prstGeom prst="line">
            <a:avLst/>
          </a:prstGeom>
          <a:ln w="12700">
            <a:solidFill>
              <a:schemeClr val="tx1"/>
            </a:solidFill>
            <a:prstDash val="sysDot"/>
          </a:ln>
        </p:spPr>
        <p:style>
          <a:lnRef idx="2">
            <a:schemeClr val="accent1"/>
          </a:lnRef>
          <a:fillRef idx="0">
            <a:schemeClr val="accent1"/>
          </a:fillRef>
          <a:effectRef idx="1">
            <a:schemeClr val="accent1"/>
          </a:effectRef>
          <a:fontRef idx="minor">
            <a:schemeClr val="tx1"/>
          </a:fontRef>
        </p:style>
      </p:cxnSp>
      <p:sp>
        <p:nvSpPr>
          <p:cNvPr id="46" name="TextBox 45">
            <a:extLst>
              <a:ext uri="{FF2B5EF4-FFF2-40B4-BE49-F238E27FC236}">
                <a16:creationId xmlns:a16="http://schemas.microsoft.com/office/drawing/2014/main" id="{9C49CF0A-32F3-2D11-26A3-3E6241830C1B}"/>
              </a:ext>
            </a:extLst>
          </p:cNvPr>
          <p:cNvSpPr txBox="1"/>
          <p:nvPr/>
        </p:nvSpPr>
        <p:spPr>
          <a:xfrm>
            <a:off x="7142444" y="3975884"/>
            <a:ext cx="889987" cy="215444"/>
          </a:xfrm>
          <a:prstGeom prst="rect">
            <a:avLst/>
          </a:prstGeom>
          <a:noFill/>
          <a:ln>
            <a:noFill/>
          </a:ln>
        </p:spPr>
        <p:txBody>
          <a:bodyPr wrap="square" rtlCol="0">
            <a:spAutoFit/>
          </a:bodyPr>
          <a:lstStyle/>
          <a:p>
            <a:pPr algn="ctr"/>
            <a:r>
              <a:rPr lang="en-GB" sz="800" i="1"/>
              <a:t>pulse</a:t>
            </a:r>
            <a:endParaRPr lang="LID4096" sz="800" i="1"/>
          </a:p>
        </p:txBody>
      </p:sp>
      <p:sp>
        <p:nvSpPr>
          <p:cNvPr id="3" name="TextBox 2">
            <a:extLst>
              <a:ext uri="{FF2B5EF4-FFF2-40B4-BE49-F238E27FC236}">
                <a16:creationId xmlns:a16="http://schemas.microsoft.com/office/drawing/2014/main" id="{D5EFB842-EBE2-B2F6-AB60-7ACE04487CC3}"/>
              </a:ext>
            </a:extLst>
          </p:cNvPr>
          <p:cNvSpPr txBox="1"/>
          <p:nvPr/>
        </p:nvSpPr>
        <p:spPr>
          <a:xfrm>
            <a:off x="6513668" y="2428521"/>
            <a:ext cx="960519" cy="246221"/>
          </a:xfrm>
          <a:prstGeom prst="rect">
            <a:avLst/>
          </a:prstGeom>
          <a:solidFill>
            <a:schemeClr val="tx1">
              <a:lumMod val="50000"/>
              <a:lumOff val="50000"/>
            </a:schemeClr>
          </a:solidFill>
          <a:ln>
            <a:solidFill>
              <a:schemeClr val="tx1"/>
            </a:solidFill>
          </a:ln>
        </p:spPr>
        <p:txBody>
          <a:bodyPr wrap="none" rtlCol="0">
            <a:spAutoFit/>
          </a:bodyPr>
          <a:lstStyle/>
          <a:p>
            <a:r>
              <a:rPr lang="en-GB" sz="1000">
                <a:solidFill>
                  <a:schemeClr val="bg2"/>
                </a:solidFill>
                <a:latin typeface="Consolas" panose="020B0609020204030204" pitchFamily="49" charset="0"/>
              </a:rPr>
              <a:t>EXTI_SWIEVR</a:t>
            </a:r>
            <a:endParaRPr lang="LID4096" sz="1000">
              <a:solidFill>
                <a:schemeClr val="bg2"/>
              </a:solidFill>
              <a:latin typeface="Consolas" panose="020B0609020204030204" pitchFamily="49" charset="0"/>
            </a:endParaRPr>
          </a:p>
        </p:txBody>
      </p:sp>
      <p:sp>
        <p:nvSpPr>
          <p:cNvPr id="20" name="TextBox 19">
            <a:extLst>
              <a:ext uri="{FF2B5EF4-FFF2-40B4-BE49-F238E27FC236}">
                <a16:creationId xmlns:a16="http://schemas.microsoft.com/office/drawing/2014/main" id="{6DE8A4C3-D04D-5354-1A9A-C5F5E30CDEA5}"/>
              </a:ext>
            </a:extLst>
          </p:cNvPr>
          <p:cNvSpPr txBox="1"/>
          <p:nvPr/>
        </p:nvSpPr>
        <p:spPr>
          <a:xfrm>
            <a:off x="6513668" y="2674742"/>
            <a:ext cx="960519" cy="461665"/>
          </a:xfrm>
          <a:prstGeom prst="rect">
            <a:avLst/>
          </a:prstGeom>
          <a:solidFill>
            <a:schemeClr val="bg1"/>
          </a:solidFill>
          <a:ln>
            <a:solidFill>
              <a:schemeClr val="tx1"/>
            </a:solidFill>
          </a:ln>
        </p:spPr>
        <p:txBody>
          <a:bodyPr wrap="square" rtlCol="0">
            <a:spAutoFit/>
          </a:bodyPr>
          <a:lstStyle/>
          <a:p>
            <a:pPr algn="ctr"/>
            <a:r>
              <a:rPr lang="en-GB" sz="800" i="1" dirty="0"/>
              <a:t>Software Interrupt Event Register</a:t>
            </a:r>
            <a:endParaRPr lang="LID4096" sz="800" i="1" dirty="0"/>
          </a:p>
        </p:txBody>
      </p:sp>
      <p:cxnSp>
        <p:nvCxnSpPr>
          <p:cNvPr id="21" name="Connector: Elbow 20">
            <a:extLst>
              <a:ext uri="{FF2B5EF4-FFF2-40B4-BE49-F238E27FC236}">
                <a16:creationId xmlns:a16="http://schemas.microsoft.com/office/drawing/2014/main" id="{DFD18D89-76D4-9511-9B33-5530ABBB9D59}"/>
              </a:ext>
            </a:extLst>
          </p:cNvPr>
          <p:cNvCxnSpPr>
            <a:stCxn id="20" idx="2"/>
          </p:cNvCxnSpPr>
          <p:nvPr/>
        </p:nvCxnSpPr>
        <p:spPr>
          <a:xfrm rot="5400000">
            <a:off x="6614154" y="3105817"/>
            <a:ext cx="349185" cy="410365"/>
          </a:xfrm>
          <a:prstGeom prst="bentConnector2">
            <a:avLst/>
          </a:prstGeom>
          <a:ln>
            <a:solidFill>
              <a:schemeClr val="tx1"/>
            </a:solidFill>
          </a:ln>
        </p:spPr>
        <p:style>
          <a:lnRef idx="2">
            <a:schemeClr val="accent1"/>
          </a:lnRef>
          <a:fillRef idx="0">
            <a:schemeClr val="accent1"/>
          </a:fillRef>
          <a:effectRef idx="1">
            <a:schemeClr val="accent1"/>
          </a:effectRef>
          <a:fontRef idx="minor">
            <a:schemeClr val="tx1"/>
          </a:fontRef>
        </p:style>
      </p:cxnSp>
      <p:grpSp>
        <p:nvGrpSpPr>
          <p:cNvPr id="23" name="Group 22">
            <a:extLst>
              <a:ext uri="{FF2B5EF4-FFF2-40B4-BE49-F238E27FC236}">
                <a16:creationId xmlns:a16="http://schemas.microsoft.com/office/drawing/2014/main" id="{E2263E81-FECD-E98C-3CAB-B04F9A112D9B}"/>
              </a:ext>
            </a:extLst>
          </p:cNvPr>
          <p:cNvGrpSpPr/>
          <p:nvPr/>
        </p:nvGrpSpPr>
        <p:grpSpPr>
          <a:xfrm>
            <a:off x="6674413" y="3196268"/>
            <a:ext cx="293603" cy="133412"/>
            <a:chOff x="7313757" y="3717874"/>
            <a:chExt cx="544623" cy="247475"/>
          </a:xfrm>
        </p:grpSpPr>
        <p:sp>
          <p:nvSpPr>
            <p:cNvPr id="24" name="Freeform: Shape 23">
              <a:extLst>
                <a:ext uri="{FF2B5EF4-FFF2-40B4-BE49-F238E27FC236}">
                  <a16:creationId xmlns:a16="http://schemas.microsoft.com/office/drawing/2014/main" id="{7D69C442-7BB1-2F43-946A-4BD321234F65}"/>
                </a:ext>
              </a:extLst>
            </p:cNvPr>
            <p:cNvSpPr/>
            <p:nvPr/>
          </p:nvSpPr>
          <p:spPr>
            <a:xfrm>
              <a:off x="7474187" y="3717874"/>
              <a:ext cx="226503" cy="247475"/>
            </a:xfrm>
            <a:custGeom>
              <a:avLst/>
              <a:gdLst>
                <a:gd name="csX0" fmla="*/ 0 w 226503"/>
                <a:gd name="csY0" fmla="*/ 247475 h 247475"/>
                <a:gd name="csX1" fmla="*/ 83890 w 226503"/>
                <a:gd name="csY1" fmla="*/ 247475 h 247475"/>
                <a:gd name="csX2" fmla="*/ 83890 w 226503"/>
                <a:gd name="csY2" fmla="*/ 0 h 247475"/>
                <a:gd name="csX3" fmla="*/ 146808 w 226503"/>
                <a:gd name="csY3" fmla="*/ 0 h 247475"/>
                <a:gd name="csX4" fmla="*/ 146808 w 226503"/>
                <a:gd name="csY4" fmla="*/ 247475 h 247475"/>
                <a:gd name="csX5" fmla="*/ 226503 w 226503"/>
                <a:gd name="csY5" fmla="*/ 247475 h 247475"/>
              </a:gdLst>
              <a:ahLst/>
              <a:cxnLst>
                <a:cxn ang="0">
                  <a:pos x="csX0" y="csY0"/>
                </a:cxn>
                <a:cxn ang="0">
                  <a:pos x="csX1" y="csY1"/>
                </a:cxn>
                <a:cxn ang="0">
                  <a:pos x="csX2" y="csY2"/>
                </a:cxn>
                <a:cxn ang="0">
                  <a:pos x="csX3" y="csY3"/>
                </a:cxn>
                <a:cxn ang="0">
                  <a:pos x="csX4" y="csY4"/>
                </a:cxn>
                <a:cxn ang="0">
                  <a:pos x="csX5" y="csY5"/>
                </a:cxn>
              </a:cxnLst>
              <a:rect l="l" t="t" r="r" b="b"/>
              <a:pathLst>
                <a:path w="226503" h="247475">
                  <a:moveTo>
                    <a:pt x="0" y="247475"/>
                  </a:moveTo>
                  <a:lnTo>
                    <a:pt x="83890" y="247475"/>
                  </a:lnTo>
                  <a:lnTo>
                    <a:pt x="83890" y="0"/>
                  </a:lnTo>
                  <a:lnTo>
                    <a:pt x="146808" y="0"/>
                  </a:lnTo>
                  <a:lnTo>
                    <a:pt x="146808" y="247475"/>
                  </a:lnTo>
                  <a:lnTo>
                    <a:pt x="226503" y="247475"/>
                  </a:lnTo>
                </a:path>
              </a:pathLst>
            </a:custGeom>
            <a:no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cxnSp>
          <p:nvCxnSpPr>
            <p:cNvPr id="29" name="Straight Connector 28">
              <a:extLst>
                <a:ext uri="{FF2B5EF4-FFF2-40B4-BE49-F238E27FC236}">
                  <a16:creationId xmlns:a16="http://schemas.microsoft.com/office/drawing/2014/main" id="{DA1A5857-5A27-52D7-5F5C-E45B31139624}"/>
                </a:ext>
              </a:extLst>
            </p:cNvPr>
            <p:cNvCxnSpPr>
              <a:cxnSpLocks/>
            </p:cNvCxnSpPr>
            <p:nvPr/>
          </p:nvCxnSpPr>
          <p:spPr>
            <a:xfrm flipH="1" flipV="1">
              <a:off x="7313757" y="3965044"/>
              <a:ext cx="139457" cy="305"/>
            </a:xfrm>
            <a:prstGeom prst="line">
              <a:avLst/>
            </a:prstGeom>
            <a:ln w="12700">
              <a:solidFill>
                <a:schemeClr val="tx1"/>
              </a:solidFill>
              <a:prstDash val="sysDot"/>
            </a:ln>
          </p:spPr>
          <p:style>
            <a:lnRef idx="2">
              <a:schemeClr val="accent1"/>
            </a:lnRef>
            <a:fillRef idx="0">
              <a:schemeClr val="accent1"/>
            </a:fillRef>
            <a:effectRef idx="1">
              <a:schemeClr val="accent1"/>
            </a:effectRef>
            <a:fontRef idx="minor">
              <a:schemeClr val="tx1"/>
            </a:fontRef>
          </p:style>
        </p:cxnSp>
        <p:cxnSp>
          <p:nvCxnSpPr>
            <p:cNvPr id="30" name="Straight Connector 29">
              <a:extLst>
                <a:ext uri="{FF2B5EF4-FFF2-40B4-BE49-F238E27FC236}">
                  <a16:creationId xmlns:a16="http://schemas.microsoft.com/office/drawing/2014/main" id="{03DC6B73-3A1D-7A1B-E5D1-B91119524488}"/>
                </a:ext>
              </a:extLst>
            </p:cNvPr>
            <p:cNvCxnSpPr>
              <a:cxnSpLocks/>
            </p:cNvCxnSpPr>
            <p:nvPr/>
          </p:nvCxnSpPr>
          <p:spPr>
            <a:xfrm flipH="1" flipV="1">
              <a:off x="7718923" y="3965044"/>
              <a:ext cx="139457" cy="305"/>
            </a:xfrm>
            <a:prstGeom prst="line">
              <a:avLst/>
            </a:prstGeom>
            <a:ln w="12700">
              <a:solidFill>
                <a:schemeClr val="tx1"/>
              </a:solidFill>
              <a:prstDash val="sysDot"/>
            </a:ln>
          </p:spPr>
          <p:style>
            <a:lnRef idx="2">
              <a:schemeClr val="accent1"/>
            </a:lnRef>
            <a:fillRef idx="0">
              <a:schemeClr val="accent1"/>
            </a:fillRef>
            <a:effectRef idx="1">
              <a:schemeClr val="accent1"/>
            </a:effectRef>
            <a:fontRef idx="minor">
              <a:schemeClr val="tx1"/>
            </a:fontRef>
          </p:style>
        </p:cxnSp>
      </p:grpSp>
      <p:cxnSp>
        <p:nvCxnSpPr>
          <p:cNvPr id="31" name="Straight Connector 30">
            <a:extLst>
              <a:ext uri="{FF2B5EF4-FFF2-40B4-BE49-F238E27FC236}">
                <a16:creationId xmlns:a16="http://schemas.microsoft.com/office/drawing/2014/main" id="{37C94A90-88D7-C290-6E36-F7B016DC3C05}"/>
              </a:ext>
            </a:extLst>
          </p:cNvPr>
          <p:cNvCxnSpPr>
            <a:cxnSpLocks/>
          </p:cNvCxnSpPr>
          <p:nvPr/>
        </p:nvCxnSpPr>
        <p:spPr>
          <a:xfrm flipH="1">
            <a:off x="5181663" y="3492273"/>
            <a:ext cx="1008288" cy="0"/>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sp>
        <p:nvSpPr>
          <p:cNvPr id="22" name="TextBox 21">
            <a:extLst>
              <a:ext uri="{FF2B5EF4-FFF2-40B4-BE49-F238E27FC236}">
                <a16:creationId xmlns:a16="http://schemas.microsoft.com/office/drawing/2014/main" id="{6ED24EA6-F48C-5633-98A1-D7769B93ED2F}"/>
              </a:ext>
            </a:extLst>
          </p:cNvPr>
          <p:cNvSpPr txBox="1"/>
          <p:nvPr/>
        </p:nvSpPr>
        <p:spPr>
          <a:xfrm>
            <a:off x="6152035" y="3357143"/>
            <a:ext cx="431528" cy="369332"/>
          </a:xfrm>
          <a:prstGeom prst="rect">
            <a:avLst/>
          </a:prstGeom>
          <a:solidFill>
            <a:schemeClr val="bg1"/>
          </a:solidFill>
          <a:ln>
            <a:solidFill>
              <a:schemeClr val="tx1"/>
            </a:solidFill>
          </a:ln>
        </p:spPr>
        <p:txBody>
          <a:bodyPr wrap="none" rtlCol="0">
            <a:spAutoFit/>
          </a:bodyPr>
          <a:lstStyle/>
          <a:p>
            <a:r>
              <a:rPr lang="en-SE" b="1"/>
              <a:t>≥</a:t>
            </a:r>
            <a:r>
              <a:rPr lang="en-GB"/>
              <a:t>1</a:t>
            </a:r>
            <a:endParaRPr lang="LID4096"/>
          </a:p>
        </p:txBody>
      </p:sp>
      <p:sp>
        <p:nvSpPr>
          <p:cNvPr id="33" name="TextBox 32">
            <a:extLst>
              <a:ext uri="{FF2B5EF4-FFF2-40B4-BE49-F238E27FC236}">
                <a16:creationId xmlns:a16="http://schemas.microsoft.com/office/drawing/2014/main" id="{7B351AA8-A809-D833-E70B-0F148EFEDD0A}"/>
              </a:ext>
            </a:extLst>
          </p:cNvPr>
          <p:cNvSpPr txBox="1"/>
          <p:nvPr/>
        </p:nvSpPr>
        <p:spPr>
          <a:xfrm>
            <a:off x="5087107" y="2427014"/>
            <a:ext cx="960519" cy="246221"/>
          </a:xfrm>
          <a:prstGeom prst="rect">
            <a:avLst/>
          </a:prstGeom>
          <a:solidFill>
            <a:schemeClr val="tx1">
              <a:lumMod val="50000"/>
              <a:lumOff val="50000"/>
            </a:schemeClr>
          </a:solidFill>
          <a:ln>
            <a:solidFill>
              <a:schemeClr val="tx1"/>
            </a:solidFill>
          </a:ln>
        </p:spPr>
        <p:txBody>
          <a:bodyPr wrap="none" rtlCol="0">
            <a:spAutoFit/>
          </a:bodyPr>
          <a:lstStyle/>
          <a:p>
            <a:r>
              <a:rPr lang="en-GB" sz="1000">
                <a:solidFill>
                  <a:schemeClr val="bg2"/>
                </a:solidFill>
                <a:latin typeface="Consolas" panose="020B0609020204030204" pitchFamily="49" charset="0"/>
              </a:rPr>
              <a:t>EXTI_INTENR</a:t>
            </a:r>
            <a:endParaRPr lang="LID4096" sz="1000">
              <a:solidFill>
                <a:schemeClr val="bg2"/>
              </a:solidFill>
              <a:latin typeface="Consolas" panose="020B0609020204030204" pitchFamily="49" charset="0"/>
            </a:endParaRPr>
          </a:p>
        </p:txBody>
      </p:sp>
      <p:sp>
        <p:nvSpPr>
          <p:cNvPr id="35" name="TextBox 34">
            <a:extLst>
              <a:ext uri="{FF2B5EF4-FFF2-40B4-BE49-F238E27FC236}">
                <a16:creationId xmlns:a16="http://schemas.microsoft.com/office/drawing/2014/main" id="{A7DFDD63-FCD7-73BC-0388-D08767B919EE}"/>
              </a:ext>
            </a:extLst>
          </p:cNvPr>
          <p:cNvSpPr txBox="1"/>
          <p:nvPr/>
        </p:nvSpPr>
        <p:spPr>
          <a:xfrm>
            <a:off x="5087107" y="2673235"/>
            <a:ext cx="960519" cy="338554"/>
          </a:xfrm>
          <a:prstGeom prst="rect">
            <a:avLst/>
          </a:prstGeom>
          <a:solidFill>
            <a:schemeClr val="bg1"/>
          </a:solidFill>
          <a:ln>
            <a:solidFill>
              <a:schemeClr val="tx1"/>
            </a:solidFill>
          </a:ln>
        </p:spPr>
        <p:txBody>
          <a:bodyPr wrap="square" rtlCol="0">
            <a:spAutoFit/>
          </a:bodyPr>
          <a:lstStyle/>
          <a:p>
            <a:pPr algn="ctr"/>
            <a:r>
              <a:rPr lang="en-GB" sz="800" i="1"/>
              <a:t>Interrupt Enable Register</a:t>
            </a:r>
            <a:endParaRPr lang="LID4096" sz="800" i="1"/>
          </a:p>
        </p:txBody>
      </p:sp>
      <p:cxnSp>
        <p:nvCxnSpPr>
          <p:cNvPr id="36" name="Connector: Elbow 35">
            <a:extLst>
              <a:ext uri="{FF2B5EF4-FFF2-40B4-BE49-F238E27FC236}">
                <a16:creationId xmlns:a16="http://schemas.microsoft.com/office/drawing/2014/main" id="{07622C8F-FA2E-DC5D-643A-0054541EF7EE}"/>
              </a:ext>
            </a:extLst>
          </p:cNvPr>
          <p:cNvCxnSpPr>
            <a:stCxn id="35" idx="2"/>
            <a:endCxn id="38" idx="3"/>
          </p:cNvCxnSpPr>
          <p:nvPr/>
        </p:nvCxnSpPr>
        <p:spPr>
          <a:xfrm rot="5400000">
            <a:off x="5327338" y="3139340"/>
            <a:ext cx="367580" cy="112479"/>
          </a:xfrm>
          <a:prstGeom prst="bentConnector2">
            <a:avLst/>
          </a:prstGeom>
          <a:ln>
            <a:solidFill>
              <a:schemeClr val="tx1"/>
            </a:solidFill>
          </a:ln>
        </p:spPr>
        <p:style>
          <a:lnRef idx="2">
            <a:schemeClr val="accent1"/>
          </a:lnRef>
          <a:fillRef idx="0">
            <a:schemeClr val="accent1"/>
          </a:fillRef>
          <a:effectRef idx="1">
            <a:schemeClr val="accent1"/>
          </a:effectRef>
          <a:fontRef idx="minor">
            <a:schemeClr val="tx1"/>
          </a:fontRef>
        </p:style>
      </p:cxnSp>
      <p:sp>
        <p:nvSpPr>
          <p:cNvPr id="38" name="TextBox 37">
            <a:extLst>
              <a:ext uri="{FF2B5EF4-FFF2-40B4-BE49-F238E27FC236}">
                <a16:creationId xmlns:a16="http://schemas.microsoft.com/office/drawing/2014/main" id="{86444E74-CAEE-040B-E2D1-B8DDD326D8B9}"/>
              </a:ext>
            </a:extLst>
          </p:cNvPr>
          <p:cNvSpPr txBox="1"/>
          <p:nvPr/>
        </p:nvSpPr>
        <p:spPr>
          <a:xfrm>
            <a:off x="5114730" y="3194703"/>
            <a:ext cx="340158" cy="369332"/>
          </a:xfrm>
          <a:prstGeom prst="rect">
            <a:avLst/>
          </a:prstGeom>
          <a:solidFill>
            <a:schemeClr val="bg1"/>
          </a:solidFill>
          <a:ln>
            <a:solidFill>
              <a:schemeClr val="tx1"/>
            </a:solidFill>
          </a:ln>
        </p:spPr>
        <p:txBody>
          <a:bodyPr wrap="none" rtlCol="0">
            <a:spAutoFit/>
          </a:bodyPr>
          <a:lstStyle/>
          <a:p>
            <a:r>
              <a:rPr lang="en-GB" b="1"/>
              <a:t>&amp;</a:t>
            </a:r>
            <a:endParaRPr lang="LID4096"/>
          </a:p>
        </p:txBody>
      </p:sp>
      <p:cxnSp>
        <p:nvCxnSpPr>
          <p:cNvPr id="39" name="Straight Connector 38">
            <a:extLst>
              <a:ext uri="{FF2B5EF4-FFF2-40B4-BE49-F238E27FC236}">
                <a16:creationId xmlns:a16="http://schemas.microsoft.com/office/drawing/2014/main" id="{9DB3AB11-030A-C18B-ADE3-5175883531B2}"/>
              </a:ext>
            </a:extLst>
          </p:cNvPr>
          <p:cNvCxnSpPr>
            <a:cxnSpLocks/>
          </p:cNvCxnSpPr>
          <p:nvPr/>
        </p:nvCxnSpPr>
        <p:spPr>
          <a:xfrm flipH="1">
            <a:off x="4859675" y="3299474"/>
            <a:ext cx="255055" cy="0"/>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sp>
        <p:nvSpPr>
          <p:cNvPr id="40" name="TextBox 39">
            <a:extLst>
              <a:ext uri="{FF2B5EF4-FFF2-40B4-BE49-F238E27FC236}">
                <a16:creationId xmlns:a16="http://schemas.microsoft.com/office/drawing/2014/main" id="{97F37D85-16F1-D095-A623-9F97F9BD0229}"/>
              </a:ext>
            </a:extLst>
          </p:cNvPr>
          <p:cNvSpPr txBox="1"/>
          <p:nvPr/>
        </p:nvSpPr>
        <p:spPr>
          <a:xfrm>
            <a:off x="3345376" y="3110922"/>
            <a:ext cx="889987" cy="246221"/>
          </a:xfrm>
          <a:prstGeom prst="rect">
            <a:avLst/>
          </a:prstGeom>
          <a:solidFill>
            <a:schemeClr val="tx1">
              <a:lumMod val="50000"/>
              <a:lumOff val="50000"/>
            </a:schemeClr>
          </a:solidFill>
          <a:ln>
            <a:solidFill>
              <a:schemeClr val="tx1"/>
            </a:solidFill>
          </a:ln>
        </p:spPr>
        <p:txBody>
          <a:bodyPr wrap="none" rtlCol="0">
            <a:spAutoFit/>
          </a:bodyPr>
          <a:lstStyle/>
          <a:p>
            <a:r>
              <a:rPr lang="en-GB" sz="1000">
                <a:solidFill>
                  <a:schemeClr val="bg2"/>
                </a:solidFill>
                <a:latin typeface="Consolas" panose="020B0609020204030204" pitchFamily="49" charset="0"/>
              </a:rPr>
              <a:t>EXTI_INTFR</a:t>
            </a:r>
            <a:endParaRPr lang="LID4096" sz="1000">
              <a:solidFill>
                <a:schemeClr val="bg2"/>
              </a:solidFill>
              <a:latin typeface="Consolas" panose="020B0609020204030204" pitchFamily="49" charset="0"/>
            </a:endParaRPr>
          </a:p>
        </p:txBody>
      </p:sp>
      <p:sp>
        <p:nvSpPr>
          <p:cNvPr id="41" name="TextBox 40">
            <a:extLst>
              <a:ext uri="{FF2B5EF4-FFF2-40B4-BE49-F238E27FC236}">
                <a16:creationId xmlns:a16="http://schemas.microsoft.com/office/drawing/2014/main" id="{B846FC2F-08CD-A9A5-A544-3A4EEDC11BDF}"/>
              </a:ext>
            </a:extLst>
          </p:cNvPr>
          <p:cNvSpPr txBox="1"/>
          <p:nvPr/>
        </p:nvSpPr>
        <p:spPr>
          <a:xfrm>
            <a:off x="4470283" y="3194703"/>
            <a:ext cx="431528" cy="369332"/>
          </a:xfrm>
          <a:prstGeom prst="rect">
            <a:avLst/>
          </a:prstGeom>
          <a:solidFill>
            <a:schemeClr val="bg1"/>
          </a:solidFill>
          <a:ln>
            <a:solidFill>
              <a:schemeClr val="tx1"/>
            </a:solidFill>
          </a:ln>
        </p:spPr>
        <p:txBody>
          <a:bodyPr wrap="none" rtlCol="0">
            <a:spAutoFit/>
          </a:bodyPr>
          <a:lstStyle/>
          <a:p>
            <a:r>
              <a:rPr lang="en-SE" b="1"/>
              <a:t>≥</a:t>
            </a:r>
            <a:r>
              <a:rPr lang="en-GB"/>
              <a:t>1</a:t>
            </a:r>
            <a:endParaRPr lang="LID4096"/>
          </a:p>
        </p:txBody>
      </p:sp>
      <p:sp>
        <p:nvSpPr>
          <p:cNvPr id="42" name="Freeform: Shape 41">
            <a:extLst>
              <a:ext uri="{FF2B5EF4-FFF2-40B4-BE49-F238E27FC236}">
                <a16:creationId xmlns:a16="http://schemas.microsoft.com/office/drawing/2014/main" id="{6AE5925E-30D0-854D-DBFF-3DDF152F0DF8}"/>
              </a:ext>
            </a:extLst>
          </p:cNvPr>
          <p:cNvSpPr/>
          <p:nvPr/>
        </p:nvSpPr>
        <p:spPr>
          <a:xfrm>
            <a:off x="3200462" y="3403042"/>
            <a:ext cx="1835150" cy="488950"/>
          </a:xfrm>
          <a:custGeom>
            <a:avLst/>
            <a:gdLst>
              <a:gd name="csX0" fmla="*/ 0 w 1835150"/>
              <a:gd name="csY0" fmla="*/ 0 h 488950"/>
              <a:gd name="csX1" fmla="*/ 0 w 1835150"/>
              <a:gd name="csY1" fmla="*/ 488950 h 488950"/>
              <a:gd name="csX2" fmla="*/ 1835150 w 1835150"/>
              <a:gd name="csY2" fmla="*/ 488950 h 488950"/>
              <a:gd name="csX3" fmla="*/ 1835150 w 1835150"/>
              <a:gd name="csY3" fmla="*/ 82550 h 488950"/>
              <a:gd name="csX4" fmla="*/ 1708150 w 1835150"/>
              <a:gd name="csY4" fmla="*/ 82550 h 488950"/>
            </a:gdLst>
            <a:ahLst/>
            <a:cxnLst>
              <a:cxn ang="0">
                <a:pos x="csX0" y="csY0"/>
              </a:cxn>
              <a:cxn ang="0">
                <a:pos x="csX1" y="csY1"/>
              </a:cxn>
              <a:cxn ang="0">
                <a:pos x="csX2" y="csY2"/>
              </a:cxn>
              <a:cxn ang="0">
                <a:pos x="csX3" y="csY3"/>
              </a:cxn>
              <a:cxn ang="0">
                <a:pos x="csX4" y="csY4"/>
              </a:cxn>
            </a:cxnLst>
            <a:rect l="l" t="t" r="r" b="b"/>
            <a:pathLst>
              <a:path w="1835150" h="488950">
                <a:moveTo>
                  <a:pt x="0" y="0"/>
                </a:moveTo>
                <a:lnTo>
                  <a:pt x="0" y="488950"/>
                </a:lnTo>
                <a:lnTo>
                  <a:pt x="1835150" y="488950"/>
                </a:lnTo>
                <a:lnTo>
                  <a:pt x="1835150" y="82550"/>
                </a:lnTo>
                <a:lnTo>
                  <a:pt x="1708150" y="82550"/>
                </a:lnTo>
              </a:path>
            </a:pathLst>
          </a:custGeom>
          <a:noFill/>
          <a:ln>
            <a:tailEnd type="triangle"/>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cxnSp>
        <p:nvCxnSpPr>
          <p:cNvPr id="47" name="Straight Arrow Connector 46">
            <a:extLst>
              <a:ext uri="{FF2B5EF4-FFF2-40B4-BE49-F238E27FC236}">
                <a16:creationId xmlns:a16="http://schemas.microsoft.com/office/drawing/2014/main" id="{6D5CD96F-9771-9962-83BC-D9DDD0EFE94B}"/>
              </a:ext>
            </a:extLst>
          </p:cNvPr>
          <p:cNvCxnSpPr>
            <a:cxnSpLocks/>
            <a:stCxn id="41" idx="1"/>
          </p:cNvCxnSpPr>
          <p:nvPr/>
        </p:nvCxnSpPr>
        <p:spPr>
          <a:xfrm flipH="1">
            <a:off x="4235363" y="3379369"/>
            <a:ext cx="234920" cy="0"/>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48" name="TextBox 47">
            <a:extLst>
              <a:ext uri="{FF2B5EF4-FFF2-40B4-BE49-F238E27FC236}">
                <a16:creationId xmlns:a16="http://schemas.microsoft.com/office/drawing/2014/main" id="{8743E79D-0AF4-F136-25D7-C23811C29C99}"/>
              </a:ext>
            </a:extLst>
          </p:cNvPr>
          <p:cNvSpPr txBox="1"/>
          <p:nvPr/>
        </p:nvSpPr>
        <p:spPr>
          <a:xfrm>
            <a:off x="3345376" y="3357143"/>
            <a:ext cx="889987" cy="338554"/>
          </a:xfrm>
          <a:prstGeom prst="rect">
            <a:avLst/>
          </a:prstGeom>
          <a:solidFill>
            <a:schemeClr val="bg1"/>
          </a:solidFill>
          <a:ln>
            <a:solidFill>
              <a:schemeClr val="tx1"/>
            </a:solidFill>
          </a:ln>
        </p:spPr>
        <p:txBody>
          <a:bodyPr wrap="square" rtlCol="0">
            <a:spAutoFit/>
          </a:bodyPr>
          <a:lstStyle/>
          <a:p>
            <a:pPr algn="ctr"/>
            <a:r>
              <a:rPr lang="en-GB" sz="800" i="1"/>
              <a:t>Interrupt Flag Register</a:t>
            </a:r>
            <a:endParaRPr lang="LID4096" sz="800" i="1"/>
          </a:p>
        </p:txBody>
      </p:sp>
      <p:sp>
        <p:nvSpPr>
          <p:cNvPr id="49" name="TextBox 48">
            <a:extLst>
              <a:ext uri="{FF2B5EF4-FFF2-40B4-BE49-F238E27FC236}">
                <a16:creationId xmlns:a16="http://schemas.microsoft.com/office/drawing/2014/main" id="{0EA91F70-55A2-A462-C5DE-D6FE47D2CE21}"/>
              </a:ext>
            </a:extLst>
          </p:cNvPr>
          <p:cNvSpPr txBox="1"/>
          <p:nvPr/>
        </p:nvSpPr>
        <p:spPr>
          <a:xfrm>
            <a:off x="3345376" y="2649258"/>
            <a:ext cx="889987" cy="338554"/>
          </a:xfrm>
          <a:prstGeom prst="rect">
            <a:avLst/>
          </a:prstGeom>
          <a:noFill/>
          <a:ln>
            <a:noFill/>
          </a:ln>
        </p:spPr>
        <p:txBody>
          <a:bodyPr wrap="square" rtlCol="0">
            <a:spAutoFit/>
          </a:bodyPr>
          <a:lstStyle/>
          <a:p>
            <a:pPr algn="ctr"/>
            <a:r>
              <a:rPr lang="en-GB" sz="800" i="1" dirty="0"/>
              <a:t>Only reset from software</a:t>
            </a:r>
            <a:endParaRPr lang="LID4096" sz="800" i="1" dirty="0"/>
          </a:p>
        </p:txBody>
      </p:sp>
      <p:cxnSp>
        <p:nvCxnSpPr>
          <p:cNvPr id="51" name="Straight Arrow Connector 50">
            <a:extLst>
              <a:ext uri="{FF2B5EF4-FFF2-40B4-BE49-F238E27FC236}">
                <a16:creationId xmlns:a16="http://schemas.microsoft.com/office/drawing/2014/main" id="{7B589F39-BC16-17AC-37C8-F3B839C50299}"/>
              </a:ext>
            </a:extLst>
          </p:cNvPr>
          <p:cNvCxnSpPr>
            <a:cxnSpLocks/>
          </p:cNvCxnSpPr>
          <p:nvPr/>
        </p:nvCxnSpPr>
        <p:spPr>
          <a:xfrm>
            <a:off x="3792649" y="2953919"/>
            <a:ext cx="0" cy="152400"/>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52" name="Rectangle 51">
            <a:extLst>
              <a:ext uri="{FF2B5EF4-FFF2-40B4-BE49-F238E27FC236}">
                <a16:creationId xmlns:a16="http://schemas.microsoft.com/office/drawing/2014/main" id="{2CC0F7DA-BE28-3DF6-5894-CBE7056D4564}"/>
              </a:ext>
            </a:extLst>
          </p:cNvPr>
          <p:cNvSpPr/>
          <p:nvPr/>
        </p:nvSpPr>
        <p:spPr>
          <a:xfrm>
            <a:off x="2332835" y="3964129"/>
            <a:ext cx="762744" cy="372222"/>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LID4096"/>
          </a:p>
        </p:txBody>
      </p:sp>
      <p:sp>
        <p:nvSpPr>
          <p:cNvPr id="53" name="TextBox 52">
            <a:extLst>
              <a:ext uri="{FF2B5EF4-FFF2-40B4-BE49-F238E27FC236}">
                <a16:creationId xmlns:a16="http://schemas.microsoft.com/office/drawing/2014/main" id="{F1A30312-8FB3-6ADE-5B21-A43DA6560B08}"/>
              </a:ext>
            </a:extLst>
          </p:cNvPr>
          <p:cNvSpPr txBox="1"/>
          <p:nvPr/>
        </p:nvSpPr>
        <p:spPr>
          <a:xfrm>
            <a:off x="3040716" y="4253524"/>
            <a:ext cx="4654052" cy="461665"/>
          </a:xfrm>
          <a:prstGeom prst="rect">
            <a:avLst/>
          </a:prstGeom>
          <a:solidFill>
            <a:schemeClr val="bg1"/>
          </a:solidFill>
          <a:ln>
            <a:solidFill>
              <a:schemeClr val="tx1"/>
            </a:solidFill>
          </a:ln>
          <a:effectLst>
            <a:outerShdw blurRad="50800" dist="38100" dir="2700000" algn="tl" rotWithShape="0">
              <a:prstClr val="black">
                <a:alpha val="40000"/>
              </a:prstClr>
            </a:outerShdw>
          </a:effectLst>
        </p:spPr>
        <p:txBody>
          <a:bodyPr wrap="square" rtlCol="0">
            <a:spAutoFit/>
          </a:bodyPr>
          <a:lstStyle/>
          <a:p>
            <a:r>
              <a:rPr lang="sv-SE" sz="1200" dirty="0"/>
              <a:t>För pinnar som har en delad avbrottslina får vi läsa EXTI_INTFR för att ta reda på vilka som genererat avbrott.</a:t>
            </a:r>
            <a:endParaRPr lang="LID4096" sz="1200" dirty="0"/>
          </a:p>
        </p:txBody>
      </p:sp>
    </p:spTree>
    <p:extLst>
      <p:ext uri="{BB962C8B-B14F-4D97-AF65-F5344CB8AC3E}">
        <p14:creationId xmlns:p14="http://schemas.microsoft.com/office/powerpoint/2010/main" val="253716792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3"/>
                                        </p:tgtEl>
                                        <p:attrNameLst>
                                          <p:attrName>style.visibility</p:attrName>
                                        </p:attrNameLst>
                                      </p:cBhvr>
                                      <p:to>
                                        <p:strVal val="visible"/>
                                      </p:to>
                                    </p:set>
                                    <p:animEffect transition="in" filter="fade">
                                      <p:cBhvr>
                                        <p:cTn id="7" dur="500"/>
                                        <p:tgtEl>
                                          <p:spTgt spid="5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3" grpId="0" animBg="1"/>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bg1"/>
        </a:solidFill>
      </a:spPr>
      <a:bodyPr rtlCol="0" anchor="ctr"/>
      <a:lstStyle>
        <a:defPPr algn="ctr">
          <a:defRPr/>
        </a:defPPr>
      </a:lstStyle>
      <a:style>
        <a:lnRef idx="2">
          <a:schemeClr val="accent1">
            <a:shade val="15000"/>
          </a:schemeClr>
        </a:lnRef>
        <a:fillRef idx="1">
          <a:schemeClr val="accent1"/>
        </a:fillRef>
        <a:effectRef idx="0">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4841</TotalTime>
  <Words>2534</Words>
  <Application>Microsoft Office PowerPoint</Application>
  <PresentationFormat>Widescreen</PresentationFormat>
  <Paragraphs>465</Paragraphs>
  <Slides>30</Slides>
  <Notes>20</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30</vt:i4>
      </vt:variant>
    </vt:vector>
  </HeadingPairs>
  <TitlesOfParts>
    <vt:vector size="36" baseType="lpstr">
      <vt:lpstr>Aptos</vt:lpstr>
      <vt:lpstr>Aptos Display</vt:lpstr>
      <vt:lpstr>Arial</vt:lpstr>
      <vt:lpstr>Calibri</vt:lpstr>
      <vt:lpstr>Consolas</vt:lpstr>
      <vt:lpstr>Office Theme</vt:lpstr>
      <vt:lpstr>Lektion 9</vt:lpstr>
      <vt:lpstr>Recap: PFIC</vt:lpstr>
      <vt:lpstr>Challenge! </vt:lpstr>
      <vt:lpstr>Basic Timers</vt:lpstr>
      <vt:lpstr>Basic Timers</vt:lpstr>
      <vt:lpstr>Konfigurera timers</vt:lpstr>
      <vt:lpstr>Enabla interrupts i PFIC</vt:lpstr>
      <vt:lpstr>Skriv en interrupt hanterare</vt:lpstr>
      <vt:lpstr>Skriv en interrupt hanterare</vt:lpstr>
      <vt:lpstr>PowerPoint Presentation</vt:lpstr>
      <vt:lpstr>Vectored Interrupt Handling</vt:lpstr>
      <vt:lpstr>Vectored Interrupt Handling</vt:lpstr>
      <vt:lpstr>Vector Table</vt:lpstr>
      <vt:lpstr>Exempel? </vt:lpstr>
      <vt:lpstr>PowerPoint Presentation</vt:lpstr>
      <vt:lpstr>Avbryta interrupthanteraren (nästlade avbrott)? </vt:lpstr>
      <vt:lpstr>Avbryta interrupthanteraren (nästlade avbrott)? </vt:lpstr>
      <vt:lpstr>Avbryta interrupthanteraren (nästlade avbrott)? </vt:lpstr>
      <vt:lpstr>PowerPoint Presentation</vt:lpstr>
      <vt:lpstr>Avbrott från GPIO</vt:lpstr>
      <vt:lpstr>AFIO_EXTICR</vt:lpstr>
      <vt:lpstr>Routing AFIO_EXTICR</vt:lpstr>
      <vt:lpstr>AFIO_EXTICR</vt:lpstr>
      <vt:lpstr>PowerPoint Presentation</vt:lpstr>
      <vt:lpstr>När skall vi fyra av ett interrupt?  EXTI</vt:lpstr>
      <vt:lpstr>När skall vi fyra av ett interrupt?  EXTI</vt:lpstr>
      <vt:lpstr>När skall vi fyra av ett interrupt?  EXTI</vt:lpstr>
      <vt:lpstr>När skall vi fyra av ett interrupt?  EXTI</vt:lpstr>
      <vt:lpstr>När skall vi fyra av ett interrupt?  EXTI</vt:lpstr>
      <vt:lpstr>När skall vi fyra av ett interrupt?  EXTI</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Erik Sintorn</dc:creator>
  <cp:lastModifiedBy>Erik Sintorn</cp:lastModifiedBy>
  <cp:revision>89</cp:revision>
  <cp:lastPrinted>2026-02-17T11:02:10Z</cp:lastPrinted>
  <dcterms:created xsi:type="dcterms:W3CDTF">2026-01-14T14:09:03Z</dcterms:created>
  <dcterms:modified xsi:type="dcterms:W3CDTF">2026-02-24T11:34:34Z</dcterms:modified>
</cp:coreProperties>
</file>