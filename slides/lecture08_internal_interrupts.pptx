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74" r:id="rId6"/>
    <p:sldId id="275" r:id="rId7"/>
    <p:sldId id="265" r:id="rId8"/>
    <p:sldId id="264" r:id="rId9"/>
    <p:sldId id="268" r:id="rId10"/>
    <p:sldId id="267" r:id="rId11"/>
    <p:sldId id="270" r:id="rId12"/>
    <p:sldId id="269" r:id="rId13"/>
    <p:sldId id="271" r:id="rId14"/>
    <p:sldId id="258" r:id="rId15"/>
    <p:sldId id="273" r:id="rId16"/>
  </p:sldIdLst>
  <p:sldSz cx="12192000" cy="6858000"/>
  <p:notesSz cx="6794500" cy="9906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  <p14:sldId id="259"/>
            <p14:sldId id="260"/>
            <p14:sldId id="274"/>
            <p14:sldId id="275"/>
            <p14:sldId id="265"/>
            <p14:sldId id="264"/>
            <p14:sldId id="268"/>
            <p14:sldId id="267"/>
            <p14:sldId id="270"/>
            <p14:sldId id="269"/>
            <p14:sldId id="271"/>
            <p14:sldId id="25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69391" autoAdjust="0"/>
  </p:normalViewPr>
  <p:slideViewPr>
    <p:cSldViewPr snapToGrid="0">
      <p:cViewPr varScale="1">
        <p:scale>
          <a:sx n="125" d="100"/>
          <a:sy n="125" d="100"/>
        </p:scale>
        <p:origin x="162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Kolla om vi har några frivilliga stuentrepresentater? </a:t>
            </a:r>
          </a:p>
          <a:p>
            <a:endParaRPr lang="sv-SE" i="0"/>
          </a:p>
          <a:p>
            <a:r>
              <a:rPr lang="sv-SE" i="0"/>
              <a:t>Idag skall vi börja arbeta med exceptions och interrupts. </a:t>
            </a:r>
          </a:p>
          <a:p>
            <a:r>
              <a:rPr lang="sv-SE" i="0"/>
              <a:t>Kort så handlar detta om att programkoden tillfälligt avbryts för att ta hand om något.</a:t>
            </a:r>
          </a:p>
          <a:p>
            <a:endParaRPr lang="sv-SE" i="0"/>
          </a:p>
          <a:p>
            <a:endParaRPr lang="sv-SE" i="0"/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Notera att terminologin skiljer sig ganska mycket beroende på vilken processor man arbetar med. </a:t>
            </a:r>
          </a:p>
          <a:p>
            <a:r>
              <a:rPr lang="sv-SE"/>
              <a:t>Vi håller oss till terminologin i arbetsboken, som i sin tur följer ARMs terminologi.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7167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ACME betyder peak (den bästa)</a:t>
            </a:r>
          </a:p>
          <a:p>
            <a:r>
              <a:rPr lang="sv-SE"/>
              <a:t>Företag började kalla sig för ACME nånting för att komma högt upp i katalogen.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4119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Presentera 7 segment displayen och hur vi kan spela en ton på buzzern.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2721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Om ni tittat noggrant p</a:t>
            </a:r>
            <a:r>
              <a:rPr lang="sv-SE"/>
              <a:t>å ”registerlistan” så har ni sett att vi utöver gp registrena har några extra register. </a:t>
            </a:r>
          </a:p>
          <a:p>
            <a:r>
              <a:rPr lang="sv-SE"/>
              <a:t>Finns speciella instruktioner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5486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  <a:p>
            <a:r>
              <a:rPr lang="sv-SE" dirty="0"/>
              <a:t>Vi tar en titt på instruktionscykeln, så som vi tänkt på den hittills (lecture02).</a:t>
            </a:r>
          </a:p>
          <a:p>
            <a:r>
              <a:rPr lang="sv-SE" dirty="0"/>
              <a:t>Kom ihåg att detta är för att illustrera, och vår riktiga processor är lite fiffigare än så här, men på det stora hela stämmer det. </a:t>
            </a:r>
          </a:p>
          <a:p>
            <a:endParaRPr lang="sv-SE" dirty="0"/>
          </a:p>
          <a:p>
            <a:r>
              <a:rPr lang="sv-SE" dirty="0" err="1"/>
              <a:t>Fetch</a:t>
            </a:r>
            <a:r>
              <a:rPr lang="sv-SE" dirty="0"/>
              <a:t>: I denna klockcykeln hämtas nästa instruktion från </a:t>
            </a:r>
            <a:r>
              <a:rPr lang="sv-SE" dirty="0" err="1"/>
              <a:t>addressen</a:t>
            </a:r>
            <a:r>
              <a:rPr lang="sv-SE" dirty="0"/>
              <a:t> som PC pekar på (pc ökas också med 4)</a:t>
            </a:r>
          </a:p>
          <a:p>
            <a:r>
              <a:rPr lang="sv-SE" dirty="0" err="1"/>
              <a:t>Decode</a:t>
            </a:r>
            <a:r>
              <a:rPr lang="sv-SE" dirty="0"/>
              <a:t>: I denna klockcykeln avkodas instruktionen. Om det till exempel är en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insttruktion</a:t>
            </a:r>
            <a:r>
              <a:rPr lang="sv-SE" dirty="0"/>
              <a:t> så läggs input </a:t>
            </a:r>
            <a:r>
              <a:rPr lang="sv-SE" dirty="0" err="1"/>
              <a:t>registrena</a:t>
            </a:r>
            <a:r>
              <a:rPr lang="sv-SE" dirty="0"/>
              <a:t> ut på alun. </a:t>
            </a:r>
          </a:p>
          <a:p>
            <a:r>
              <a:rPr lang="sv-SE" dirty="0" err="1"/>
              <a:t>Execute</a:t>
            </a:r>
            <a:r>
              <a:rPr lang="sv-SE" dirty="0"/>
              <a:t>: I denna klockcykeln gör </a:t>
            </a:r>
            <a:r>
              <a:rPr lang="sv-SE" dirty="0" err="1"/>
              <a:t>ALUn</a:t>
            </a:r>
            <a:r>
              <a:rPr lang="sv-SE" dirty="0"/>
              <a:t> sitt jobb. </a:t>
            </a:r>
          </a:p>
          <a:p>
            <a:r>
              <a:rPr lang="sv-SE" dirty="0"/>
              <a:t>Store/</a:t>
            </a:r>
            <a:r>
              <a:rPr lang="sv-SE" dirty="0" err="1"/>
              <a:t>Writeback</a:t>
            </a:r>
            <a:r>
              <a:rPr lang="sv-SE" dirty="0"/>
              <a:t>: I denna klockcykeln skrivs </a:t>
            </a:r>
            <a:r>
              <a:rPr lang="sv-SE" dirty="0" err="1"/>
              <a:t>ALUns</a:t>
            </a:r>
            <a:r>
              <a:rPr lang="sv-SE" dirty="0"/>
              <a:t> resultat till minnet eller till ett register. </a:t>
            </a:r>
          </a:p>
          <a:p>
            <a:endParaRPr lang="sv-SE" dirty="0"/>
          </a:p>
          <a:p>
            <a:r>
              <a:rPr lang="en-US" dirty="0"/>
              <a:t>&lt;click&gt; </a:t>
            </a:r>
            <a:endParaRPr lang="sv-SE" dirty="0"/>
          </a:p>
          <a:p>
            <a:r>
              <a:rPr lang="sv-SE" dirty="0"/>
              <a:t>Lägg till </a:t>
            </a:r>
            <a:r>
              <a:rPr lang="sv-SE" dirty="0" err="1"/>
              <a:t>interruptkollen</a:t>
            </a:r>
            <a:r>
              <a:rPr lang="sv-SE" dirty="0"/>
              <a:t>. </a:t>
            </a:r>
          </a:p>
          <a:p>
            <a:endParaRPr lang="sv-SE" dirty="0"/>
          </a:p>
          <a:p>
            <a:r>
              <a:rPr lang="sv-SE" b="1" dirty="0"/>
              <a:t>För att detta skall funka måste vi alltså ha skrivit </a:t>
            </a:r>
            <a:r>
              <a:rPr lang="sv-SE" b="1" dirty="0" err="1"/>
              <a:t>addressen</a:t>
            </a:r>
            <a:r>
              <a:rPr lang="sv-SE" b="1" dirty="0"/>
              <a:t> till en </a:t>
            </a:r>
            <a:r>
              <a:rPr lang="sv-SE" b="1" dirty="0" err="1"/>
              <a:t>interrupt</a:t>
            </a:r>
            <a:r>
              <a:rPr lang="sv-SE" b="1" dirty="0"/>
              <a:t> </a:t>
            </a:r>
            <a:r>
              <a:rPr lang="sv-SE" b="1" dirty="0" err="1"/>
              <a:t>handler</a:t>
            </a:r>
            <a:r>
              <a:rPr lang="sv-SE" b="1" dirty="0"/>
              <a:t> till registret </a:t>
            </a:r>
            <a:r>
              <a:rPr lang="sv-SE" b="1" dirty="0" err="1"/>
              <a:t>mtvec</a:t>
            </a:r>
            <a:endParaRPr lang="LID4096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1499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 </a:t>
            </a:r>
            <a:r>
              <a:rPr lang="sv-SE" dirty="0" err="1"/>
              <a:t>first_exception</a:t>
            </a:r>
            <a:r>
              <a:rPr lang="sv-SE" dirty="0"/>
              <a:t>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220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6BBC-A959-7454-C719-354CD471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8B173-6B5C-356B-B47C-DABBE5280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41E15-CC75-C07D-45B1-5F54364E7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Lägg till en assemblerfil och skriv in den här koden.</a:t>
            </a:r>
          </a:p>
          <a:p>
            <a:endParaRPr lang="sv-SE"/>
          </a:p>
          <a:p>
            <a:r>
              <a:rPr lang="sv-SE"/>
              <a:t>Stoppa en exception_handler i assembler koden och visa att vi kommer dit om vi gör en unaligned access.</a:t>
            </a:r>
          </a:p>
          <a:p>
            <a:endParaRPr lang="sv-SE"/>
          </a:p>
          <a:p>
            <a:r>
              <a:rPr lang="sv-SE"/>
              <a:t>Visa vad som händer när vi försöker returnera...</a:t>
            </a:r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418B1-C898-4471-7ADE-9B5F0E68D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7392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94DD-4F43-4DB4-D6CA-91E1806D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43413-D712-17B1-F90E-C13A3B410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75C80-0613-5B2D-8DDA-C655D2956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Syntaxen</a:t>
            </a:r>
            <a:r>
              <a:rPr lang="en-US" dirty="0"/>
              <a:t> f</a:t>
            </a:r>
            <a:r>
              <a:rPr lang="sv-SE" dirty="0"/>
              <a:t>ör </a:t>
            </a:r>
            <a:r>
              <a:rPr lang="sv-SE" dirty="0" err="1"/>
              <a:t>inline</a:t>
            </a:r>
            <a:r>
              <a:rPr lang="sv-SE" dirty="0"/>
              <a:t> </a:t>
            </a:r>
            <a:r>
              <a:rPr lang="sv-SE" dirty="0" err="1"/>
              <a:t>assembly</a:t>
            </a:r>
            <a:r>
              <a:rPr lang="sv-SE" dirty="0"/>
              <a:t> är lite knölig att förstå. </a:t>
            </a:r>
          </a:p>
          <a:p>
            <a:r>
              <a:rPr lang="sv-SE" dirty="0"/>
              <a:t>Den säger (%0) är första </a:t>
            </a:r>
            <a:r>
              <a:rPr lang="sv-SE" dirty="0" err="1"/>
              <a:t>operanden</a:t>
            </a:r>
            <a:r>
              <a:rPr lang="sv-SE" dirty="0"/>
              <a:t>. </a:t>
            </a:r>
          </a:p>
          <a:p>
            <a:r>
              <a:rPr lang="sv-SE" dirty="0"/>
              <a:t>"r" första </a:t>
            </a:r>
            <a:r>
              <a:rPr lang="sv-SE" dirty="0" err="1"/>
              <a:t>operanden</a:t>
            </a:r>
            <a:r>
              <a:rPr lang="sv-SE" dirty="0"/>
              <a:t> är ett register</a:t>
            </a:r>
          </a:p>
          <a:p>
            <a:r>
              <a:rPr lang="sv-SE" dirty="0"/>
              <a:t>(</a:t>
            </a:r>
            <a:r>
              <a:rPr lang="sv-SE" dirty="0" err="1"/>
              <a:t>Interrupt_Handler</a:t>
            </a:r>
            <a:r>
              <a:rPr lang="sv-SE" dirty="0"/>
              <a:t>) som först skall fyllas med </a:t>
            </a:r>
            <a:r>
              <a:rPr lang="sv-SE" dirty="0" err="1"/>
              <a:t>addressen</a:t>
            </a:r>
            <a:r>
              <a:rPr lang="sv-SE" dirty="0"/>
              <a:t> till </a:t>
            </a:r>
            <a:r>
              <a:rPr lang="sv-SE" dirty="0" err="1"/>
              <a:t>Interrupt_Handler</a:t>
            </a:r>
            <a:r>
              <a:rPr lang="sv-SE" dirty="0"/>
              <a:t>. </a:t>
            </a:r>
          </a:p>
          <a:p>
            <a:endParaRPr lang="sv-SE" dirty="0"/>
          </a:p>
          <a:p>
            <a:r>
              <a:rPr lang="sv-SE" dirty="0"/>
              <a:t>Varför kan/bör vi inte bara skriva ren assembler här? Lägga </a:t>
            </a:r>
            <a:r>
              <a:rPr lang="sv-SE" dirty="0" err="1"/>
              <a:t>InterruptHandler</a:t>
            </a:r>
            <a:r>
              <a:rPr lang="sv-SE" dirty="0"/>
              <a:t> i t0 och skriva t0 till </a:t>
            </a:r>
            <a:r>
              <a:rPr lang="sv-SE" dirty="0" err="1"/>
              <a:t>mtvec</a:t>
            </a:r>
            <a:r>
              <a:rPr lang="sv-SE" dirty="0"/>
              <a:t>?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992B1-ACA8-6549-38F8-A526EFC6D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4277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Present the PFIC... the </a:t>
            </a:r>
            <a:r>
              <a:rPr lang="sv-SE" dirty="0" err="1"/>
              <a:t>hub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all </a:t>
            </a:r>
            <a:r>
              <a:rPr lang="sv-SE" dirty="0" err="1"/>
              <a:t>interrupts</a:t>
            </a:r>
            <a:r>
              <a:rPr lang="sv-SE" dirty="0"/>
              <a:t> go </a:t>
            </a:r>
            <a:r>
              <a:rPr lang="sv-SE" dirty="0" err="1"/>
              <a:t>through</a:t>
            </a:r>
            <a:r>
              <a:rPr lang="sv-SE" dirty="0"/>
              <a:t>. </a:t>
            </a:r>
          </a:p>
          <a:p>
            <a:r>
              <a:rPr lang="sv-SE" dirty="0" err="1"/>
              <a:t>Describe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all </a:t>
            </a:r>
            <a:r>
              <a:rPr lang="sv-SE" dirty="0" err="1"/>
              <a:t>interupts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</a:t>
            </a:r>
            <a:r>
              <a:rPr lang="sv-SE" dirty="0" err="1"/>
              <a:t>number</a:t>
            </a:r>
            <a:r>
              <a:rPr lang="sv-SE" dirty="0"/>
              <a:t> in the </a:t>
            </a:r>
            <a:r>
              <a:rPr lang="sv-SE" dirty="0" err="1"/>
              <a:t>vector</a:t>
            </a:r>
            <a:r>
              <a:rPr lang="sv-SE" dirty="0"/>
              <a:t> table and </a:t>
            </a:r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hardcoded</a:t>
            </a:r>
            <a:r>
              <a:rPr lang="sv-SE" dirty="0"/>
              <a:t> by the chip </a:t>
            </a:r>
            <a:r>
              <a:rPr lang="sv-SE" dirty="0" err="1"/>
              <a:t>manufacturer</a:t>
            </a:r>
            <a:endParaRPr lang="sv-SE" dirty="0"/>
          </a:p>
          <a:p>
            <a:r>
              <a:rPr lang="sv-SE" dirty="0" err="1"/>
              <a:t>Describe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the PFIC has a </a:t>
            </a:r>
            <a:r>
              <a:rPr lang="sv-SE" dirty="0" err="1"/>
              <a:t>bunch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registers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look </a:t>
            </a:r>
            <a:r>
              <a:rPr lang="sv-SE" dirty="0" err="1"/>
              <a:t>closer</a:t>
            </a:r>
            <a:r>
              <a:rPr lang="sv-SE" dirty="0"/>
              <a:t> at </a:t>
            </a:r>
            <a:r>
              <a:rPr lang="sv-SE" dirty="0" err="1"/>
              <a:t>next</a:t>
            </a:r>
            <a:r>
              <a:rPr lang="sv-SE" dirty="0"/>
              <a:t> </a:t>
            </a:r>
            <a:r>
              <a:rPr lang="sv-SE" dirty="0" err="1"/>
              <a:t>lecture</a:t>
            </a:r>
            <a:r>
              <a:rPr lang="sv-SE" dirty="0"/>
              <a:t>,</a:t>
            </a:r>
            <a:br>
              <a:rPr lang="sv-SE" dirty="0"/>
            </a:br>
            <a:r>
              <a:rPr lang="sv-SE" dirty="0" err="1"/>
              <a:t>but</a:t>
            </a:r>
            <a:r>
              <a:rPr lang="sv-SE" dirty="0"/>
              <a:t> for </a:t>
            </a: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to </a:t>
            </a:r>
            <a:r>
              <a:rPr lang="sv-SE" dirty="0" err="1"/>
              <a:t>care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the </a:t>
            </a:r>
            <a:r>
              <a:rPr lang="sv-SE" dirty="0" err="1"/>
              <a:t>interupt</a:t>
            </a:r>
            <a:r>
              <a:rPr lang="sv-SE" dirty="0"/>
              <a:t> </a:t>
            </a:r>
            <a:r>
              <a:rPr lang="sv-SE" dirty="0" err="1"/>
              <a:t>enable</a:t>
            </a:r>
            <a:r>
              <a:rPr lang="sv-SE" dirty="0"/>
              <a:t> register. </a:t>
            </a:r>
          </a:p>
          <a:p>
            <a:r>
              <a:rPr lang="sv-SE" dirty="0" err="1"/>
              <a:t>One</a:t>
            </a:r>
            <a:r>
              <a:rPr lang="sv-SE" dirty="0"/>
              <a:t> bit per </a:t>
            </a:r>
            <a:r>
              <a:rPr lang="sv-SE" dirty="0" err="1"/>
              <a:t>interrupt</a:t>
            </a:r>
            <a:r>
              <a:rPr lang="sv-SE" dirty="0"/>
              <a:t>. </a:t>
            </a:r>
          </a:p>
          <a:p>
            <a:r>
              <a:rPr lang="sv-SE" dirty="0" err="1"/>
              <a:t>SysTick</a:t>
            </a:r>
            <a:r>
              <a:rPr lang="sv-SE" dirty="0"/>
              <a:t> is </a:t>
            </a:r>
            <a:r>
              <a:rPr lang="sv-SE" dirty="0" err="1"/>
              <a:t>number</a:t>
            </a:r>
            <a:r>
              <a:rPr lang="sv-SE" dirty="0"/>
              <a:t> 12.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5313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AB0A-F31A-87DE-B397-1F5D1373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601F1-8CDE-D7AE-53C7-B36E2E093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6413B-2325-0E7F-F75F-07ADC3924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Skriv det här programmet live. </a:t>
            </a:r>
          </a:p>
          <a:p>
            <a:r>
              <a:rPr lang="sv-SE"/>
              <a:t>Systick repetition. 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3000-6335-FA3A-FDF9-8F9CDECDC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127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43F1B-5C31-8357-7C5B-028155F6D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1688" y="1333500"/>
            <a:ext cx="10552112" cy="4702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8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452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02/17/2026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8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Exceptions and Internal Interrupts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D3469-1018-01E6-931F-9CC7F2193996}"/>
              </a:ext>
            </a:extLst>
          </p:cNvPr>
          <p:cNvSpPr txBox="1"/>
          <p:nvPr/>
        </p:nvSpPr>
        <p:spPr>
          <a:xfrm>
            <a:off x="3817620" y="4823460"/>
            <a:ext cx="69920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lecture needs modification. I thought it would go very fast, </a:t>
            </a:r>
          </a:p>
          <a:p>
            <a:r>
              <a:rPr lang="en-US" dirty="0"/>
              <a:t>and spent way too much time on the code demonstration. </a:t>
            </a:r>
          </a:p>
          <a:p>
            <a:r>
              <a:rPr lang="en-US" dirty="0"/>
              <a:t>That also did not quite work (some bug, had to revert to original code)</a:t>
            </a:r>
          </a:p>
          <a:p>
            <a:r>
              <a:rPr lang="en-US" dirty="0"/>
              <a:t>Maybe skip the fridge and just do the tone next year.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4BCB-BDF0-7AC2-A155-4520CB54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/>
              <a:t>Terminologi</a:t>
            </a:r>
            <a:endParaRPr lang="LID4096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D66A-6BB5-78D6-C587-788498A17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593" y="1825624"/>
            <a:ext cx="11575228" cy="4768813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sv-SE" sz="1800" b="1"/>
              <a:t>Exceptions</a:t>
            </a:r>
            <a:endParaRPr lang="LID4096" sz="18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76548-592F-E3CD-4AC8-F1D43C49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114" y="2825554"/>
            <a:ext cx="2187772" cy="2459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85276-5356-C316-53F5-B600F9B0BC7A}"/>
              </a:ext>
            </a:extLst>
          </p:cNvPr>
          <p:cNvSpPr txBox="1"/>
          <p:nvPr/>
        </p:nvSpPr>
        <p:spPr>
          <a:xfrm>
            <a:off x="7460247" y="4495108"/>
            <a:ext cx="4293163" cy="187743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600" b="1"/>
              <a:t>FAULT</a:t>
            </a:r>
          </a:p>
          <a:p>
            <a:r>
              <a:rPr lang="sv-SE" sz="1600" i="1"/>
              <a:t>Något otillåtet gjordes av programmet</a:t>
            </a:r>
            <a:br>
              <a:rPr lang="sv-SE" sz="1600" i="1"/>
            </a:br>
            <a:r>
              <a:rPr lang="sv-SE" sz="1200"/>
              <a:t>T.ex: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Unaligned memory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Skrivning till skyddat minne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Icke supportad maskinkod</a:t>
            </a:r>
          </a:p>
          <a:p>
            <a:endParaRPr lang="sv-SE" sz="1200"/>
          </a:p>
          <a:p>
            <a:r>
              <a:rPr lang="sv-SE" sz="1200"/>
              <a:t>Systemprogramvaran måste ta hand om problemet. </a:t>
            </a:r>
            <a:br>
              <a:rPr lang="sv-SE" sz="1200"/>
            </a:br>
            <a:r>
              <a:rPr lang="sv-SE" sz="1200"/>
              <a:t>Förmodligen genom att varna och/eller starta om programmet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4583A-AF9C-0BA2-1AC4-7F286A1E7BD7}"/>
              </a:ext>
            </a:extLst>
          </p:cNvPr>
          <p:cNvSpPr txBox="1"/>
          <p:nvPr/>
        </p:nvSpPr>
        <p:spPr>
          <a:xfrm>
            <a:off x="7460247" y="2390402"/>
            <a:ext cx="4293163" cy="196977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b="1"/>
              <a:t>TRAP</a:t>
            </a:r>
          </a:p>
          <a:p>
            <a:r>
              <a:rPr lang="sv-SE" sz="1600" i="1"/>
              <a:t>Programmet har </a:t>
            </a:r>
            <a:r>
              <a:rPr lang="sv-SE" sz="1600" b="1" i="1"/>
              <a:t>bett</a:t>
            </a:r>
            <a:r>
              <a:rPr lang="sv-SE" sz="1600" i="1"/>
              <a:t> om avbrott via </a:t>
            </a:r>
            <a:br>
              <a:rPr lang="sv-SE" sz="1600" i="1"/>
            </a:br>
            <a:r>
              <a:rPr lang="sv-SE" sz="1600" i="1"/>
              <a:t>en SVC instruktion</a:t>
            </a:r>
          </a:p>
          <a:p>
            <a:r>
              <a:rPr lang="sv-SE" sz="1200"/>
              <a:t>T.ex: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/>
              <a:t>Kalla grafikdrivrutinen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/>
              <a:t>Be om information från lässkyddat minne</a:t>
            </a:r>
          </a:p>
          <a:p>
            <a:endParaRPr lang="sv-SE" sz="1200"/>
          </a:p>
          <a:p>
            <a:r>
              <a:rPr lang="sv-SE" sz="1200"/>
              <a:t>Systemprogramvaran utför en </a:t>
            </a:r>
            <a:r>
              <a:rPr lang="sv-SE" sz="1200" i="1"/>
              <a:t>servicerutin</a:t>
            </a:r>
            <a:r>
              <a:rPr lang="sv-SE" sz="1200"/>
              <a:t> om den tycker</a:t>
            </a:r>
            <a:br>
              <a:rPr lang="sv-SE" sz="1200"/>
            </a:br>
            <a:r>
              <a:rPr lang="sv-SE" sz="1200"/>
              <a:t>programmet har rätt att göra vad den ber 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2C6E7-FB3E-0D3F-EE48-387F72EEE7CD}"/>
              </a:ext>
            </a:extLst>
          </p:cNvPr>
          <p:cNvSpPr txBox="1"/>
          <p:nvPr/>
        </p:nvSpPr>
        <p:spPr>
          <a:xfrm>
            <a:off x="8460889" y="1947689"/>
            <a:ext cx="1878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(synkrona exceptions)</a:t>
            </a:r>
            <a:endParaRPr lang="LID4096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36244-A6BC-946D-D19B-842725E2E28D}"/>
              </a:ext>
            </a:extLst>
          </p:cNvPr>
          <p:cNvSpPr txBox="1"/>
          <p:nvPr/>
        </p:nvSpPr>
        <p:spPr>
          <a:xfrm>
            <a:off x="1475590" y="1947688"/>
            <a:ext cx="1974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(asynkrona exceptions)</a:t>
            </a:r>
            <a:endParaRPr lang="LID4096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40864-796D-00C3-0D84-E08A971909D3}"/>
              </a:ext>
            </a:extLst>
          </p:cNvPr>
          <p:cNvSpPr txBox="1"/>
          <p:nvPr/>
        </p:nvSpPr>
        <p:spPr>
          <a:xfrm>
            <a:off x="388865" y="2376795"/>
            <a:ext cx="4342887" cy="233910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b="1"/>
              <a:t>INTERRUPT</a:t>
            </a:r>
          </a:p>
          <a:p>
            <a:r>
              <a:rPr lang="sv-SE" sz="1600" i="1"/>
              <a:t>En krets utanför processorn har noterat</a:t>
            </a:r>
          </a:p>
          <a:p>
            <a:r>
              <a:rPr lang="sv-SE" sz="1600" i="1"/>
              <a:t>att något har </a:t>
            </a:r>
          </a:p>
          <a:p>
            <a:r>
              <a:rPr lang="sv-SE" sz="1200"/>
              <a:t>T.ex: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SysTick har räknat ner till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En DMA minneskopiering är avslutad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200"/>
              <a:t>Någon har tryckt på den stora röda knappen </a:t>
            </a:r>
            <a:br>
              <a:rPr lang="sv-SE" sz="1200"/>
            </a:br>
            <a:r>
              <a:rPr lang="sv-SE" sz="1200"/>
              <a:t>som är kopplad till GPIO porten</a:t>
            </a:r>
          </a:p>
          <a:p>
            <a:endParaRPr lang="sv-SE" sz="1200"/>
          </a:p>
          <a:p>
            <a:r>
              <a:rPr lang="sv-SE" sz="1200"/>
              <a:t>Programmet innehåller </a:t>
            </a:r>
            <a:r>
              <a:rPr lang="sv-SE" sz="1200" i="1"/>
              <a:t>interrupt handlers</a:t>
            </a:r>
            <a:r>
              <a:rPr lang="sv-SE" sz="1200"/>
              <a:t>, alltså funktioner</a:t>
            </a:r>
            <a:br>
              <a:rPr lang="sv-SE" sz="1200"/>
            </a:br>
            <a:r>
              <a:rPr lang="sv-SE" sz="1200"/>
              <a:t>som är menade att ta hand om det som hänt.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16F44-C916-529C-F004-A7A07AE7950A}"/>
              </a:ext>
            </a:extLst>
          </p:cNvPr>
          <p:cNvSpPr txBox="1"/>
          <p:nvPr/>
        </p:nvSpPr>
        <p:spPr>
          <a:xfrm>
            <a:off x="388866" y="5018328"/>
            <a:ext cx="4342886" cy="123110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b="1"/>
              <a:t>RESET</a:t>
            </a:r>
          </a:p>
          <a:p>
            <a:r>
              <a:rPr lang="sv-SE" sz="1600" i="1"/>
              <a:t>Någon tryckte på resetknappen, eller så</a:t>
            </a:r>
            <a:br>
              <a:rPr lang="sv-SE" sz="1600" i="1"/>
            </a:br>
            <a:r>
              <a:rPr lang="sv-SE" sz="1600" i="1"/>
              <a:t>fick vi en reset signal via debuggern</a:t>
            </a:r>
          </a:p>
          <a:p>
            <a:r>
              <a:rPr lang="sv-SE" sz="1200"/>
              <a:t>Processorn måste sluta med vad den gör och</a:t>
            </a:r>
            <a:br>
              <a:rPr lang="sv-SE" sz="1200"/>
            </a:br>
            <a:r>
              <a:rPr lang="sv-SE" sz="1200"/>
              <a:t>påbörja RESET sekvensen</a:t>
            </a:r>
          </a:p>
        </p:txBody>
      </p:sp>
    </p:spTree>
    <p:extLst>
      <p:ext uri="{BB962C8B-B14F-4D97-AF65-F5344CB8AC3E}">
        <p14:creationId xmlns:p14="http://schemas.microsoft.com/office/powerpoint/2010/main" val="42896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build="allAtOnce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A04F-31E1-8275-5149-9B4AA98C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Dagens utmaning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EF4C-7658-ED7C-DB64-C648E992E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99499" cy="4351338"/>
          </a:xfrm>
        </p:spPr>
        <p:txBody>
          <a:bodyPr/>
          <a:lstStyle/>
          <a:p>
            <a:pPr marL="0" indent="0">
              <a:buNone/>
            </a:pPr>
            <a:r>
              <a:rPr lang="sv-SE"/>
              <a:t>Vi har kontaktats av ACME Fridge</a:t>
            </a:r>
            <a:r>
              <a:rPr lang="en-SE"/>
              <a:t>(™)</a:t>
            </a:r>
            <a:endParaRPr lang="sv-SE"/>
          </a:p>
          <a:p>
            <a:pPr marL="0" indent="0">
              <a:buNone/>
            </a:pPr>
            <a:r>
              <a:rPr lang="sv-SE"/>
              <a:t>Dom vill utveckla ett kylskåp som: </a:t>
            </a:r>
          </a:p>
          <a:p>
            <a:r>
              <a:rPr lang="sv-SE"/>
              <a:t>Alltid visar temperaturen på en 7-segment display. </a:t>
            </a:r>
          </a:p>
          <a:p>
            <a:r>
              <a:rPr lang="sv-SE"/>
              <a:t>Avger ett stadigt irriterande pip när dörren är öppen. 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A8DF1-7D2C-E0B1-AED7-63B764228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071" y="1702699"/>
            <a:ext cx="3827929" cy="515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8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8C15-F254-A1EE-E35A-5B60F53B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Vår prototyp</a:t>
            </a:r>
            <a:endParaRPr lang="LID4096"/>
          </a:p>
        </p:txBody>
      </p:sp>
      <p:pic>
        <p:nvPicPr>
          <p:cNvPr id="4" name="Picture 3" descr="A group of musical notes&#10;&#10;AI-generated content may be incorrect.">
            <a:extLst>
              <a:ext uri="{FF2B5EF4-FFF2-40B4-BE49-F238E27FC236}">
                <a16:creationId xmlns:a16="http://schemas.microsoft.com/office/drawing/2014/main" id="{80C50C13-3AC2-4542-4BC8-75DDAF9D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43" y="2157683"/>
            <a:ext cx="948486" cy="728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A09329-561A-7C3E-E60B-83D80F83C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10953">
            <a:off x="5733079" y="2145944"/>
            <a:ext cx="4414969" cy="401403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84166-051D-0510-5E8D-DC4915AE3640}"/>
              </a:ext>
            </a:extLst>
          </p:cNvPr>
          <p:cNvGrpSpPr/>
          <p:nvPr/>
        </p:nvGrpSpPr>
        <p:grpSpPr>
          <a:xfrm>
            <a:off x="8063025" y="2304100"/>
            <a:ext cx="150018" cy="1495422"/>
            <a:chOff x="8643938" y="1938340"/>
            <a:chExt cx="150018" cy="149542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FDE2A9-88CA-1284-1E26-7D3FC816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38340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FEEE09E0-E957-F4CD-B43D-1742F71D12B0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87F3DB1-4827-C474-B87E-F64EEC94F05D}"/>
              </a:ext>
            </a:extLst>
          </p:cNvPr>
          <p:cNvGrpSpPr/>
          <p:nvPr/>
        </p:nvGrpSpPr>
        <p:grpSpPr>
          <a:xfrm>
            <a:off x="8213043" y="2304100"/>
            <a:ext cx="150018" cy="1490660"/>
            <a:chOff x="8643938" y="1943102"/>
            <a:chExt cx="150018" cy="149066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920AFF-FDB3-E2CC-47F0-9F8058C80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2A17046-6554-CAF3-17E4-7BA0C82AA008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7C3490-BD8E-A372-ABCA-C0FD156DCDA1}"/>
              </a:ext>
            </a:extLst>
          </p:cNvPr>
          <p:cNvGrpSpPr/>
          <p:nvPr/>
        </p:nvGrpSpPr>
        <p:grpSpPr>
          <a:xfrm>
            <a:off x="8349368" y="2304100"/>
            <a:ext cx="150018" cy="1490660"/>
            <a:chOff x="8643938" y="1943102"/>
            <a:chExt cx="150018" cy="149066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97973E-4B22-F391-A5E0-88BAB8D47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lock Arc 13">
              <a:extLst>
                <a:ext uri="{FF2B5EF4-FFF2-40B4-BE49-F238E27FC236}">
                  <a16:creationId xmlns:a16="http://schemas.microsoft.com/office/drawing/2014/main" id="{3B1845FB-5113-A03A-5F11-7847DBB21E78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E503F0-31B2-C1D4-721A-4402D9631D8E}"/>
              </a:ext>
            </a:extLst>
          </p:cNvPr>
          <p:cNvGrpSpPr/>
          <p:nvPr/>
        </p:nvGrpSpPr>
        <p:grpSpPr>
          <a:xfrm>
            <a:off x="8501768" y="2304100"/>
            <a:ext cx="150018" cy="1490660"/>
            <a:chOff x="8643938" y="1943102"/>
            <a:chExt cx="150018" cy="149066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682824-CE1C-475C-C6C2-A732739E3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lock Arc 16">
              <a:extLst>
                <a:ext uri="{FF2B5EF4-FFF2-40B4-BE49-F238E27FC236}">
                  <a16:creationId xmlns:a16="http://schemas.microsoft.com/office/drawing/2014/main" id="{11715CE7-6F62-AB10-5B78-BBBF33E4811E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B48E6F-3885-1D86-A8F9-F1B8EDDDC78E}"/>
              </a:ext>
            </a:extLst>
          </p:cNvPr>
          <p:cNvGrpSpPr/>
          <p:nvPr/>
        </p:nvGrpSpPr>
        <p:grpSpPr>
          <a:xfrm>
            <a:off x="8647025" y="2304100"/>
            <a:ext cx="150018" cy="1490660"/>
            <a:chOff x="8643938" y="1943102"/>
            <a:chExt cx="150018" cy="149066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58E7BB2-E33E-AAFC-3830-7A092C5D56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Block Arc 19">
              <a:extLst>
                <a:ext uri="{FF2B5EF4-FFF2-40B4-BE49-F238E27FC236}">
                  <a16:creationId xmlns:a16="http://schemas.microsoft.com/office/drawing/2014/main" id="{54F3E700-DE81-8F73-5239-E36162A605B4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FDDD73-F9BA-6A5B-F791-F75DD4C64BE1}"/>
              </a:ext>
            </a:extLst>
          </p:cNvPr>
          <p:cNvGrpSpPr/>
          <p:nvPr/>
        </p:nvGrpSpPr>
        <p:grpSpPr>
          <a:xfrm>
            <a:off x="8785139" y="2304100"/>
            <a:ext cx="150018" cy="1490660"/>
            <a:chOff x="8643938" y="1943102"/>
            <a:chExt cx="150018" cy="149066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68D040-A163-AA02-A2B1-2E746AB9A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Block Arc 22">
              <a:extLst>
                <a:ext uri="{FF2B5EF4-FFF2-40B4-BE49-F238E27FC236}">
                  <a16:creationId xmlns:a16="http://schemas.microsoft.com/office/drawing/2014/main" id="{1836A720-7CE6-523C-2B63-9DD647DFA850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6CFB0D-5EEF-D448-08A5-474FDEB1A900}"/>
              </a:ext>
            </a:extLst>
          </p:cNvPr>
          <p:cNvGrpSpPr/>
          <p:nvPr/>
        </p:nvGrpSpPr>
        <p:grpSpPr>
          <a:xfrm>
            <a:off x="8923253" y="2304100"/>
            <a:ext cx="150018" cy="1490660"/>
            <a:chOff x="8643938" y="1943102"/>
            <a:chExt cx="150018" cy="149066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DD371B-F0DA-0970-2504-B42FC52D0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1C31A515-BD31-405A-CE33-0EF0B7B790B3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795582-7B4C-19D2-3F91-69A7E2E278E6}"/>
              </a:ext>
            </a:extLst>
          </p:cNvPr>
          <p:cNvGrpSpPr/>
          <p:nvPr/>
        </p:nvGrpSpPr>
        <p:grpSpPr>
          <a:xfrm>
            <a:off x="9058986" y="2304100"/>
            <a:ext cx="150018" cy="1490660"/>
            <a:chOff x="8643938" y="1943102"/>
            <a:chExt cx="150018" cy="149066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15A4F12-2413-3A65-CAA3-9A8CBD99EE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lock Arc 28">
              <a:extLst>
                <a:ext uri="{FF2B5EF4-FFF2-40B4-BE49-F238E27FC236}">
                  <a16:creationId xmlns:a16="http://schemas.microsoft.com/office/drawing/2014/main" id="{A5DF8780-DC28-C9FB-7BD0-359659943DAF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30" name="Arrow: Bent 29">
            <a:extLst>
              <a:ext uri="{FF2B5EF4-FFF2-40B4-BE49-F238E27FC236}">
                <a16:creationId xmlns:a16="http://schemas.microsoft.com/office/drawing/2014/main" id="{3CE7B829-6692-EC92-BE87-F0138F28EC53}"/>
              </a:ext>
            </a:extLst>
          </p:cNvPr>
          <p:cNvSpPr/>
          <p:nvPr/>
        </p:nvSpPr>
        <p:spPr>
          <a:xfrm rot="10800000">
            <a:off x="7973281" y="4075748"/>
            <a:ext cx="673744" cy="228594"/>
          </a:xfrm>
          <a:prstGeom prst="bentArrow">
            <a:avLst>
              <a:gd name="adj1" fmla="val 40626"/>
              <a:gd name="adj2" fmla="val 25000"/>
              <a:gd name="adj3" fmla="val 25000"/>
              <a:gd name="adj4" fmla="val 43750"/>
            </a:avLst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AB1462A-2FBB-D64B-10E3-3F23771E86DB}"/>
              </a:ext>
            </a:extLst>
          </p:cNvPr>
          <p:cNvSpPr/>
          <p:nvPr/>
        </p:nvSpPr>
        <p:spPr>
          <a:xfrm>
            <a:off x="8129700" y="4525804"/>
            <a:ext cx="57150" cy="159544"/>
          </a:xfrm>
          <a:custGeom>
            <a:avLst/>
            <a:gdLst>
              <a:gd name="csX0" fmla="*/ 21431 w 57150"/>
              <a:gd name="csY0" fmla="*/ 159544 h 159544"/>
              <a:gd name="csX1" fmla="*/ 0 w 57150"/>
              <a:gd name="csY1" fmla="*/ 26194 h 159544"/>
              <a:gd name="csX2" fmla="*/ 45243 w 57150"/>
              <a:gd name="csY2" fmla="*/ 0 h 159544"/>
              <a:gd name="csX3" fmla="*/ 57150 w 57150"/>
              <a:gd name="csY3" fmla="*/ 14287 h 159544"/>
              <a:gd name="csX4" fmla="*/ 21431 w 57150"/>
              <a:gd name="csY4" fmla="*/ 159544 h 159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159544">
                <a:moveTo>
                  <a:pt x="21431" y="159544"/>
                </a:moveTo>
                <a:lnTo>
                  <a:pt x="0" y="26194"/>
                </a:lnTo>
                <a:lnTo>
                  <a:pt x="45243" y="0"/>
                </a:lnTo>
                <a:lnTo>
                  <a:pt x="57150" y="14287"/>
                </a:lnTo>
                <a:lnTo>
                  <a:pt x="21431" y="15954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8CD5C4A-43D1-AC23-8C95-3497548BAB91}"/>
              </a:ext>
            </a:extLst>
          </p:cNvPr>
          <p:cNvSpPr/>
          <p:nvPr/>
        </p:nvSpPr>
        <p:spPr>
          <a:xfrm>
            <a:off x="7754866" y="3749686"/>
            <a:ext cx="62890" cy="165086"/>
          </a:xfrm>
          <a:custGeom>
            <a:avLst/>
            <a:gdLst>
              <a:gd name="csX0" fmla="*/ 0 w 247650"/>
              <a:gd name="csY0" fmla="*/ 566738 h 650081"/>
              <a:gd name="csX1" fmla="*/ 26194 w 247650"/>
              <a:gd name="csY1" fmla="*/ 123825 h 650081"/>
              <a:gd name="csX2" fmla="*/ 188119 w 247650"/>
              <a:gd name="csY2" fmla="*/ 0 h 650081"/>
              <a:gd name="csX3" fmla="*/ 247650 w 247650"/>
              <a:gd name="csY3" fmla="*/ 64294 h 650081"/>
              <a:gd name="csX4" fmla="*/ 216694 w 247650"/>
              <a:gd name="csY4" fmla="*/ 566738 h 650081"/>
              <a:gd name="csX5" fmla="*/ 111919 w 247650"/>
              <a:gd name="csY5" fmla="*/ 650081 h 650081"/>
              <a:gd name="csX6" fmla="*/ 0 w 247650"/>
              <a:gd name="csY6" fmla="*/ 566738 h 650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650" h="650081">
                <a:moveTo>
                  <a:pt x="0" y="566738"/>
                </a:moveTo>
                <a:lnTo>
                  <a:pt x="26194" y="123825"/>
                </a:lnTo>
                <a:lnTo>
                  <a:pt x="188119" y="0"/>
                </a:lnTo>
                <a:lnTo>
                  <a:pt x="247650" y="64294"/>
                </a:lnTo>
                <a:lnTo>
                  <a:pt x="216694" y="566738"/>
                </a:lnTo>
                <a:lnTo>
                  <a:pt x="111919" y="650081"/>
                </a:lnTo>
                <a:lnTo>
                  <a:pt x="0" y="56673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D815DA-5F0A-A9D1-03B0-4EDA28208FA2}"/>
              </a:ext>
            </a:extLst>
          </p:cNvPr>
          <p:cNvSpPr txBox="1"/>
          <p:nvPr/>
        </p:nvSpPr>
        <p:spPr>
          <a:xfrm>
            <a:off x="8005558" y="202472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619629-8E76-2F44-08BF-6CA009001B1D}"/>
              </a:ext>
            </a:extLst>
          </p:cNvPr>
          <p:cNvSpPr txBox="1"/>
          <p:nvPr/>
        </p:nvSpPr>
        <p:spPr>
          <a:xfrm>
            <a:off x="8146805" y="202748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30356E-1BF0-261C-826B-92860D34B3E2}"/>
              </a:ext>
            </a:extLst>
          </p:cNvPr>
          <p:cNvSpPr txBox="1"/>
          <p:nvPr/>
        </p:nvSpPr>
        <p:spPr>
          <a:xfrm>
            <a:off x="8292654" y="202472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</a:t>
            </a:r>
            <a:endParaRPr lang="LID4096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6E09A3-849B-335D-7958-E335AE7C3D4F}"/>
              </a:ext>
            </a:extLst>
          </p:cNvPr>
          <p:cNvSpPr txBox="1"/>
          <p:nvPr/>
        </p:nvSpPr>
        <p:spPr>
          <a:xfrm>
            <a:off x="8438503" y="20219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6456B3-096E-791E-7966-93FA0A3434D9}"/>
              </a:ext>
            </a:extLst>
          </p:cNvPr>
          <p:cNvSpPr txBox="1"/>
          <p:nvPr/>
        </p:nvSpPr>
        <p:spPr>
          <a:xfrm>
            <a:off x="8584352" y="201918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865101-9F98-91F7-6507-DDD33C2A4A9C}"/>
              </a:ext>
            </a:extLst>
          </p:cNvPr>
          <p:cNvSpPr txBox="1"/>
          <p:nvPr/>
        </p:nvSpPr>
        <p:spPr>
          <a:xfrm>
            <a:off x="8730201" y="201641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9207F4-FEA6-8E0F-8D46-10FDF0A43C43}"/>
              </a:ext>
            </a:extLst>
          </p:cNvPr>
          <p:cNvSpPr txBox="1"/>
          <p:nvPr/>
        </p:nvSpPr>
        <p:spPr>
          <a:xfrm>
            <a:off x="8876050" y="201364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65B6AA-31BC-631A-AC1D-4854418EF279}"/>
              </a:ext>
            </a:extLst>
          </p:cNvPr>
          <p:cNvSpPr txBox="1"/>
          <p:nvPr/>
        </p:nvSpPr>
        <p:spPr>
          <a:xfrm>
            <a:off x="9021899" y="201088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BB0231B-9983-D0F0-B3CC-72907EA9A2F9}"/>
              </a:ext>
            </a:extLst>
          </p:cNvPr>
          <p:cNvGrpSpPr/>
          <p:nvPr/>
        </p:nvGrpSpPr>
        <p:grpSpPr>
          <a:xfrm>
            <a:off x="1591925" y="2912266"/>
            <a:ext cx="3516236" cy="1773082"/>
            <a:chOff x="4729163" y="4518492"/>
            <a:chExt cx="3226290" cy="16268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CF22A8D-0C53-0942-3A0B-AB5C2CF736A2}"/>
                </a:ext>
              </a:extLst>
            </p:cNvPr>
            <p:cNvSpPr/>
            <p:nvPr/>
          </p:nvSpPr>
          <p:spPr>
            <a:xfrm>
              <a:off x="4769586" y="4518492"/>
              <a:ext cx="3148591" cy="1626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ACFE193-3ECC-D6C3-6280-209659822100}"/>
                </a:ext>
              </a:extLst>
            </p:cNvPr>
            <p:cNvGrpSpPr/>
            <p:nvPr/>
          </p:nvGrpSpPr>
          <p:grpSpPr>
            <a:xfrm>
              <a:off x="4729163" y="4518492"/>
              <a:ext cx="3226290" cy="1626875"/>
              <a:chOff x="4729163" y="4518492"/>
              <a:chExt cx="3226290" cy="1626875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DA18398-1725-3ED0-43E8-EA61CA5401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5388" y="4695825"/>
                <a:ext cx="0" cy="126487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9B4462B-4290-88F9-E552-CE29CFCB4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5375" y="5886450"/>
                <a:ext cx="278606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163BA3C-3437-56D6-67FB-10F2F97FFAFD}"/>
                  </a:ext>
                </a:extLst>
              </p:cNvPr>
              <p:cNvSpPr txBox="1"/>
              <p:nvPr/>
            </p:nvSpPr>
            <p:spPr>
              <a:xfrm>
                <a:off x="4769586" y="4518492"/>
                <a:ext cx="398886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Voltage</a:t>
                </a:r>
                <a:endParaRPr lang="LID4096" sz="6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1A1918-3F22-52C4-5E0C-9D33F9A1E2E8}"/>
                  </a:ext>
                </a:extLst>
              </p:cNvPr>
              <p:cNvSpPr txBox="1"/>
              <p:nvPr/>
            </p:nvSpPr>
            <p:spPr>
              <a:xfrm>
                <a:off x="7638933" y="5794117"/>
                <a:ext cx="316520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Time</a:t>
                </a:r>
                <a:endParaRPr lang="LID4096" sz="600" dirty="0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51EE66A5-09AB-6406-B08E-B4A1EE6C8CFB}"/>
                  </a:ext>
                </a:extLst>
              </p:cNvPr>
              <p:cNvGrpSpPr/>
              <p:nvPr/>
            </p:nvGrpSpPr>
            <p:grpSpPr>
              <a:xfrm>
                <a:off x="5005388" y="4972992"/>
                <a:ext cx="2271714" cy="925502"/>
                <a:chOff x="5005388" y="4972992"/>
                <a:chExt cx="2271714" cy="925502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4817C40-EBD3-C23F-02AE-63F7E2965C54}"/>
                    </a:ext>
                  </a:extLst>
                </p:cNvPr>
                <p:cNvCxnSpPr/>
                <p:nvPr/>
              </p:nvCxnSpPr>
              <p:spPr>
                <a:xfrm>
                  <a:off x="5005388" y="498727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9B2F96AC-D1E4-542A-8194-276A8532E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1138" y="4987279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5252EB9-D94B-A89B-3707-05A681F080A6}"/>
                    </a:ext>
                  </a:extLst>
                </p:cNvPr>
                <p:cNvCxnSpPr/>
                <p:nvPr/>
              </p:nvCxnSpPr>
              <p:spPr>
                <a:xfrm>
                  <a:off x="5291138" y="5887391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0E19FD0E-AA60-3288-A623-FD3DE0FC8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888" y="4987278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A2049562-BB3C-C558-F8B1-7B45A00B5865}"/>
                    </a:ext>
                  </a:extLst>
                </p:cNvPr>
                <p:cNvCxnSpPr/>
                <p:nvPr/>
              </p:nvCxnSpPr>
              <p:spPr>
                <a:xfrm>
                  <a:off x="5572126" y="498251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AF3A50B-C6DA-B01F-061E-CFEC893EBF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7876" y="4982517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CD835A25-0A5A-B403-32ED-D73689599073}"/>
                    </a:ext>
                  </a:extLst>
                </p:cNvPr>
                <p:cNvCxnSpPr/>
                <p:nvPr/>
              </p:nvCxnSpPr>
              <p:spPr>
                <a:xfrm>
                  <a:off x="5857876" y="588262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CC84EEC5-2831-D0FE-DFCF-BFC1A01F8B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3626" y="4982516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AA2820-57D1-1976-F4B4-7AAFDCE9BF0F}"/>
                    </a:ext>
                  </a:extLst>
                </p:cNvPr>
                <p:cNvCxnSpPr/>
                <p:nvPr/>
              </p:nvCxnSpPr>
              <p:spPr>
                <a:xfrm>
                  <a:off x="6138864" y="497775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60A21DF5-5004-F35A-AA6C-C29EB53F2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4614" y="4977755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2C0D6DC2-3D12-4716-25D2-79D7CA3F5126}"/>
                    </a:ext>
                  </a:extLst>
                </p:cNvPr>
                <p:cNvCxnSpPr/>
                <p:nvPr/>
              </p:nvCxnSpPr>
              <p:spPr>
                <a:xfrm>
                  <a:off x="6424614" y="587786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F52D713-118C-D468-C02E-682DDEDC35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10364" y="4977754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71D12FBC-31A0-ACC1-5D00-EDCF7EB94D93}"/>
                    </a:ext>
                  </a:extLst>
                </p:cNvPr>
                <p:cNvCxnSpPr/>
                <p:nvPr/>
              </p:nvCxnSpPr>
              <p:spPr>
                <a:xfrm>
                  <a:off x="6705602" y="4972993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212D68CE-C41D-B615-0AC9-094F5EE9E2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91352" y="4972993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17B361D5-F095-91DC-E33E-6ACE4CC26383}"/>
                    </a:ext>
                  </a:extLst>
                </p:cNvPr>
                <p:cNvCxnSpPr/>
                <p:nvPr/>
              </p:nvCxnSpPr>
              <p:spPr>
                <a:xfrm>
                  <a:off x="6991352" y="587310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785F8D93-AB6D-31A7-B8F1-EA4FB03218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7102" y="4972992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7F1FC0F-7EF7-05C2-D782-40E3084B25EF}"/>
                  </a:ext>
                </a:extLst>
              </p:cNvPr>
              <p:cNvSpPr txBox="1"/>
              <p:nvPr/>
            </p:nvSpPr>
            <p:spPr>
              <a:xfrm>
                <a:off x="5105402" y="5960701"/>
                <a:ext cx="35298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~4ms</a:t>
                </a:r>
                <a:endParaRPr lang="LID4096" sz="60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98F59B-0B14-6C77-562D-B0B3D9D5B43B}"/>
                  </a:ext>
                </a:extLst>
              </p:cNvPr>
              <p:cNvSpPr txBox="1"/>
              <p:nvPr/>
            </p:nvSpPr>
            <p:spPr>
              <a:xfrm>
                <a:off x="4729163" y="4885421"/>
                <a:ext cx="32412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3.2V</a:t>
                </a:r>
                <a:endParaRPr lang="LID4096" sz="600"/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8F4A010-AF6B-A529-8CC8-D9572F67FF31}"/>
                </a:ext>
              </a:extLst>
            </p:cNvPr>
            <p:cNvCxnSpPr/>
            <p:nvPr/>
          </p:nvCxnSpPr>
          <p:spPr>
            <a:xfrm>
              <a:off x="5005388" y="5935313"/>
              <a:ext cx="56673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Arrow: Curved Down 67">
            <a:extLst>
              <a:ext uri="{FF2B5EF4-FFF2-40B4-BE49-F238E27FC236}">
                <a16:creationId xmlns:a16="http://schemas.microsoft.com/office/drawing/2014/main" id="{4B18E4A0-3D07-8EC7-6A84-27D6395E0E50}"/>
              </a:ext>
            </a:extLst>
          </p:cNvPr>
          <p:cNvSpPr/>
          <p:nvPr/>
        </p:nvSpPr>
        <p:spPr>
          <a:xfrm rot="212501" flipV="1">
            <a:off x="3368817" y="4614191"/>
            <a:ext cx="3767917" cy="668778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69" name="Block Arc 68">
            <a:extLst>
              <a:ext uri="{FF2B5EF4-FFF2-40B4-BE49-F238E27FC236}">
                <a16:creationId xmlns:a16="http://schemas.microsoft.com/office/drawing/2014/main" id="{04E9DEB5-C5A7-2F7F-97BB-CE7CD13271BA}"/>
              </a:ext>
            </a:extLst>
          </p:cNvPr>
          <p:cNvSpPr/>
          <p:nvPr/>
        </p:nvSpPr>
        <p:spPr>
          <a:xfrm rot="19698217">
            <a:off x="5645692" y="3125288"/>
            <a:ext cx="1143767" cy="776287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70" name="Block Arc 69">
            <a:extLst>
              <a:ext uri="{FF2B5EF4-FFF2-40B4-BE49-F238E27FC236}">
                <a16:creationId xmlns:a16="http://schemas.microsoft.com/office/drawing/2014/main" id="{B44C206C-683E-39B5-9729-B68FF5899950}"/>
              </a:ext>
            </a:extLst>
          </p:cNvPr>
          <p:cNvSpPr/>
          <p:nvPr/>
        </p:nvSpPr>
        <p:spPr>
          <a:xfrm rot="19698217">
            <a:off x="5843195" y="3280251"/>
            <a:ext cx="823769" cy="559101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71" name="Block Arc 70">
            <a:extLst>
              <a:ext uri="{FF2B5EF4-FFF2-40B4-BE49-F238E27FC236}">
                <a16:creationId xmlns:a16="http://schemas.microsoft.com/office/drawing/2014/main" id="{3D6C69B4-FA7B-78CB-45FD-F42D88064729}"/>
              </a:ext>
            </a:extLst>
          </p:cNvPr>
          <p:cNvSpPr/>
          <p:nvPr/>
        </p:nvSpPr>
        <p:spPr>
          <a:xfrm rot="19698217">
            <a:off x="6041880" y="3415298"/>
            <a:ext cx="486238" cy="330015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E0DD9C-0B27-0020-F884-43A2A56002A3}"/>
              </a:ext>
            </a:extLst>
          </p:cNvPr>
          <p:cNvSpPr txBox="1"/>
          <p:nvPr/>
        </p:nvSpPr>
        <p:spPr>
          <a:xfrm>
            <a:off x="3648947" y="5329318"/>
            <a:ext cx="2228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gency FB" panose="020B0503020202020204" pitchFamily="34" charset="0"/>
              </a:rPr>
              <a:t>261.1 Hz Square Wave</a:t>
            </a:r>
            <a:endParaRPr lang="LID4096" sz="2400" dirty="0">
              <a:latin typeface="Agency FB" panose="020B0503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E70890-E05C-2367-BF79-4554876B5140}"/>
              </a:ext>
            </a:extLst>
          </p:cNvPr>
          <p:cNvSpPr txBox="1"/>
          <p:nvPr/>
        </p:nvSpPr>
        <p:spPr>
          <a:xfrm rot="20097917">
            <a:off x="5249537" y="2356719"/>
            <a:ext cx="808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cript MT Bold" panose="03040602040607080904" pitchFamily="66" charset="0"/>
              </a:rPr>
              <a:t>middle</a:t>
            </a:r>
          </a:p>
          <a:p>
            <a:pPr algn="ctr"/>
            <a:r>
              <a:rPr lang="en-US" dirty="0">
                <a:latin typeface="Script MT Bold" panose="03040602040607080904" pitchFamily="66" charset="0"/>
              </a:rPr>
              <a:t> C</a:t>
            </a:r>
            <a:endParaRPr lang="LID4096" dirty="0"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01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9731-E300-A0DF-B7C3-2D454DC1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sv-SE" dirty="0"/>
              <a:t>år Prototyp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2167-8DAF-754D-D777-E69F46B59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4"/>
            <a:ext cx="11605260" cy="4918076"/>
          </a:xfrm>
          <a:solidFill>
            <a:schemeClr val="tx1">
              <a:lumMod val="85000"/>
              <a:lumOff val="15000"/>
            </a:schemeClr>
          </a:solidFill>
        </p:spPr>
        <p:txBody>
          <a:bodyPr numCol="3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stdint.h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helpers.h</a:t>
            </a:r>
            <a:r>
              <a:rPr lang="en-US" sz="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Declare a structure for the GPIO ports and define GPIO_D and GPIO_E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CFGLR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CFGHR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reserved0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reserved1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BSHR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BCR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reserved2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LCKR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0x40011800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Write a function that configures a GPIO pin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configure_gpio_pin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GPIO_t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config_register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CFGLR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CFGHR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Each pin configuration takes 4 bits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config_value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Combine CNF and MODE into a single value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config_register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Clear the existing configuration for the pin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config_register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config_value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Set the new configuration for the pin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4. Declare a structure for the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///////////////////////////////////////////////////////////////////////////////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Enable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stie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Interrupt Enable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stclk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Clock Source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Reload Enable   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Mode 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reserved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swie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CTLR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CNTL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CNTH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CMPL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CMPH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SysTick_t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SysTick_t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SysTick_t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0xE000F000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beep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Configure PD0 as an output pin, push-pull, 2 MHz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configure_gpio_pin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5. Initialize the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timer to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continously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count to 2ms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147000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Set the compare value for a 100ms delay (assuming a 14.7 MHz clock)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CTLR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Disable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clear configuration. 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Clear the status register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Initialize the timer when enabled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Count UP to CMP value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Enable reload of the timer when it reaches the CMP value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stclk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Use the processor clock as the source (144MHz)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stie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No interrupts (yet)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Enable the timer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6. Flip PD0 every time the timer reaches the CMP value (every 2ms)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Toggle PD0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Clear the status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show_temperature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7. Configure PE8-15 as output, push-pull, 2 MHz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configure_gpio_pin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 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8. </a:t>
            </a:r>
            <a:r>
              <a:rPr lang="en-US" sz="5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Continously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read the temperature from the sensor and display on the 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7-segment display connected to PE8-15.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///////////////////////////////////////////////////////////////////////////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GetTemperature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Assume this function reads the temperature from the sensor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seg_code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Get7SegCode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OUTDR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seg_code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Output the segment code to PE8-15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//beep();</a:t>
            </a:r>
            <a:endParaRPr lang="en-US" sz="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show_temperature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LID4096" sz="500" dirty="0"/>
          </a:p>
        </p:txBody>
      </p:sp>
    </p:spTree>
    <p:extLst>
      <p:ext uri="{BB962C8B-B14F-4D97-AF65-F5344CB8AC3E}">
        <p14:creationId xmlns:p14="http://schemas.microsoft.com/office/powerpoint/2010/main" val="28111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2B0D-620E-E65B-A699-0A6449CD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B6C31-D993-9479-320E-69B7614B5F7F}"/>
              </a:ext>
            </a:extLst>
          </p:cNvPr>
          <p:cNvSpPr txBox="1"/>
          <p:nvPr/>
        </p:nvSpPr>
        <p:spPr>
          <a:xfrm>
            <a:off x="388620" y="3243358"/>
            <a:ext cx="6096000" cy="27356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beep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Toggle PD0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systick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Clear the status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C06A3-21CA-C820-C52B-C569073FEB7E}"/>
              </a:ext>
            </a:extLst>
          </p:cNvPr>
          <p:cNvSpPr txBox="1"/>
          <p:nvPr/>
        </p:nvSpPr>
        <p:spPr>
          <a:xfrm>
            <a:off x="5478780" y="1958818"/>
            <a:ext cx="6096000" cy="27356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show_temperature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GetTemperature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seg_code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Get7SegCode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GPIO_E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seg_code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D30FCE-4F5E-5AF5-CAA1-F6561FC1E45F}"/>
              </a:ext>
            </a:extLst>
          </p:cNvPr>
          <p:cNvSpPr/>
          <p:nvPr/>
        </p:nvSpPr>
        <p:spPr>
          <a:xfrm>
            <a:off x="7124164" y="3429000"/>
            <a:ext cx="2027456" cy="716366"/>
          </a:xfrm>
          <a:custGeom>
            <a:avLst/>
            <a:gdLst>
              <a:gd name="csX0" fmla="*/ 1379619 w 1651881"/>
              <a:gd name="csY0" fmla="*/ 588397 h 589460"/>
              <a:gd name="csX1" fmla="*/ 1610908 w 1651881"/>
              <a:gd name="csY1" fmla="*/ 287182 h 589460"/>
              <a:gd name="csX2" fmla="*/ 664235 w 1651881"/>
              <a:gd name="csY2" fmla="*/ 2105 h 589460"/>
              <a:gd name="csX3" fmla="*/ 2640 w 1651881"/>
              <a:gd name="csY3" fmla="*/ 168848 h 589460"/>
              <a:gd name="csX4" fmla="*/ 470598 w 1651881"/>
              <a:gd name="csY4" fmla="*/ 378622 h 589460"/>
              <a:gd name="csX5" fmla="*/ 1379619 w 1651881"/>
              <a:gd name="csY5" fmla="*/ 588397 h 589460"/>
              <a:gd name="csX0" fmla="*/ 1379619 w 1651881"/>
              <a:gd name="csY0" fmla="*/ 590011 h 591074"/>
              <a:gd name="csX1" fmla="*/ 1610908 w 1651881"/>
              <a:gd name="csY1" fmla="*/ 288796 h 591074"/>
              <a:gd name="csX2" fmla="*/ 664235 w 1651881"/>
              <a:gd name="csY2" fmla="*/ 3719 h 591074"/>
              <a:gd name="csX3" fmla="*/ 2640 w 1651881"/>
              <a:gd name="csY3" fmla="*/ 170462 h 591074"/>
              <a:gd name="csX4" fmla="*/ 470598 w 1651881"/>
              <a:gd name="csY4" fmla="*/ 380236 h 591074"/>
              <a:gd name="csX5" fmla="*/ 1379619 w 1651881"/>
              <a:gd name="csY5" fmla="*/ 590011 h 591074"/>
              <a:gd name="csX0" fmla="*/ 1377190 w 1649452"/>
              <a:gd name="csY0" fmla="*/ 590011 h 591074"/>
              <a:gd name="csX1" fmla="*/ 1608479 w 1649452"/>
              <a:gd name="csY1" fmla="*/ 288796 h 591074"/>
              <a:gd name="csX2" fmla="*/ 661806 w 1649452"/>
              <a:gd name="csY2" fmla="*/ 3719 h 591074"/>
              <a:gd name="csX3" fmla="*/ 211 w 1649452"/>
              <a:gd name="csY3" fmla="*/ 170462 h 591074"/>
              <a:gd name="csX4" fmla="*/ 468169 w 1649452"/>
              <a:gd name="csY4" fmla="*/ 380236 h 591074"/>
              <a:gd name="csX5" fmla="*/ 1377190 w 1649452"/>
              <a:gd name="csY5" fmla="*/ 590011 h 591074"/>
              <a:gd name="csX0" fmla="*/ 1377190 w 1649452"/>
              <a:gd name="csY0" fmla="*/ 590011 h 600734"/>
              <a:gd name="csX1" fmla="*/ 1608479 w 1649452"/>
              <a:gd name="csY1" fmla="*/ 288796 h 600734"/>
              <a:gd name="csX2" fmla="*/ 661806 w 1649452"/>
              <a:gd name="csY2" fmla="*/ 3719 h 600734"/>
              <a:gd name="csX3" fmla="*/ 211 w 1649452"/>
              <a:gd name="csY3" fmla="*/ 170462 h 600734"/>
              <a:gd name="csX4" fmla="*/ 468169 w 1649452"/>
              <a:gd name="csY4" fmla="*/ 380236 h 600734"/>
              <a:gd name="csX5" fmla="*/ 1377190 w 1649452"/>
              <a:gd name="csY5" fmla="*/ 590011 h 600734"/>
              <a:gd name="csX0" fmla="*/ 1355675 w 1645116"/>
              <a:gd name="csY0" fmla="*/ 471677 h 474208"/>
              <a:gd name="csX1" fmla="*/ 1608479 w 1645116"/>
              <a:gd name="csY1" fmla="*/ 288796 h 474208"/>
              <a:gd name="csX2" fmla="*/ 661806 w 1645116"/>
              <a:gd name="csY2" fmla="*/ 3719 h 474208"/>
              <a:gd name="csX3" fmla="*/ 211 w 1645116"/>
              <a:gd name="csY3" fmla="*/ 170462 h 474208"/>
              <a:gd name="csX4" fmla="*/ 468169 w 1645116"/>
              <a:gd name="csY4" fmla="*/ 380236 h 474208"/>
              <a:gd name="csX5" fmla="*/ 1355675 w 1645116"/>
              <a:gd name="csY5" fmla="*/ 471677 h 474208"/>
              <a:gd name="csX0" fmla="*/ 1355675 w 1645116"/>
              <a:gd name="csY0" fmla="*/ 520086 h 521691"/>
              <a:gd name="csX1" fmla="*/ 1608479 w 1645116"/>
              <a:gd name="csY1" fmla="*/ 288796 h 521691"/>
              <a:gd name="csX2" fmla="*/ 661806 w 1645116"/>
              <a:gd name="csY2" fmla="*/ 3719 h 521691"/>
              <a:gd name="csX3" fmla="*/ 211 w 1645116"/>
              <a:gd name="csY3" fmla="*/ 170462 h 521691"/>
              <a:gd name="csX4" fmla="*/ 468169 w 1645116"/>
              <a:gd name="csY4" fmla="*/ 380236 h 521691"/>
              <a:gd name="csX5" fmla="*/ 1355675 w 1645116"/>
              <a:gd name="csY5" fmla="*/ 520086 h 521691"/>
              <a:gd name="csX0" fmla="*/ 1355675 w 1645116"/>
              <a:gd name="csY0" fmla="*/ 520086 h 551022"/>
              <a:gd name="csX1" fmla="*/ 1608479 w 1645116"/>
              <a:gd name="csY1" fmla="*/ 288796 h 551022"/>
              <a:gd name="csX2" fmla="*/ 661806 w 1645116"/>
              <a:gd name="csY2" fmla="*/ 3719 h 551022"/>
              <a:gd name="csX3" fmla="*/ 211 w 1645116"/>
              <a:gd name="csY3" fmla="*/ 170462 h 551022"/>
              <a:gd name="csX4" fmla="*/ 468169 w 1645116"/>
              <a:gd name="csY4" fmla="*/ 380236 h 551022"/>
              <a:gd name="csX5" fmla="*/ 1355675 w 1645116"/>
              <a:gd name="csY5" fmla="*/ 520086 h 551022"/>
              <a:gd name="csX0" fmla="*/ 1355575 w 1621218"/>
              <a:gd name="csY0" fmla="*/ 494821 h 525757"/>
              <a:gd name="csX1" fmla="*/ 1608379 w 1621218"/>
              <a:gd name="csY1" fmla="*/ 263531 h 525757"/>
              <a:gd name="csX2" fmla="*/ 1038224 w 1621218"/>
              <a:gd name="csY2" fmla="*/ 5348 h 525757"/>
              <a:gd name="csX3" fmla="*/ 111 w 1621218"/>
              <a:gd name="csY3" fmla="*/ 145197 h 525757"/>
              <a:gd name="csX4" fmla="*/ 468069 w 1621218"/>
              <a:gd name="csY4" fmla="*/ 354971 h 525757"/>
              <a:gd name="csX5" fmla="*/ 1355575 w 1621218"/>
              <a:gd name="csY5" fmla="*/ 494821 h 525757"/>
              <a:gd name="csX0" fmla="*/ 1355563 w 1615919"/>
              <a:gd name="csY0" fmla="*/ 466768 h 497704"/>
              <a:gd name="csX1" fmla="*/ 1608367 w 1615919"/>
              <a:gd name="csY1" fmla="*/ 235478 h 497704"/>
              <a:gd name="csX2" fmla="*/ 1135030 w 1615919"/>
              <a:gd name="csY2" fmla="*/ 9568 h 497704"/>
              <a:gd name="csX3" fmla="*/ 99 w 1615919"/>
              <a:gd name="csY3" fmla="*/ 117144 h 497704"/>
              <a:gd name="csX4" fmla="*/ 468057 w 1615919"/>
              <a:gd name="csY4" fmla="*/ 326918 h 497704"/>
              <a:gd name="csX5" fmla="*/ 1355563 w 1615919"/>
              <a:gd name="csY5" fmla="*/ 466768 h 497704"/>
              <a:gd name="csX0" fmla="*/ 1355553 w 1615909"/>
              <a:gd name="csY0" fmla="*/ 535792 h 566728"/>
              <a:gd name="csX1" fmla="*/ 1608357 w 1615909"/>
              <a:gd name="csY1" fmla="*/ 304502 h 566728"/>
              <a:gd name="csX2" fmla="*/ 1135020 w 1615909"/>
              <a:gd name="csY2" fmla="*/ 78592 h 566728"/>
              <a:gd name="csX3" fmla="*/ 89 w 1615909"/>
              <a:gd name="csY3" fmla="*/ 186168 h 566728"/>
              <a:gd name="csX4" fmla="*/ 468047 w 1615909"/>
              <a:gd name="csY4" fmla="*/ 395942 h 566728"/>
              <a:gd name="csX5" fmla="*/ 1355553 w 1615909"/>
              <a:gd name="csY5" fmla="*/ 535792 h 566728"/>
              <a:gd name="csX0" fmla="*/ 1355553 w 1617604"/>
              <a:gd name="csY0" fmla="*/ 535792 h 566728"/>
              <a:gd name="csX1" fmla="*/ 1608357 w 1617604"/>
              <a:gd name="csY1" fmla="*/ 304502 h 566728"/>
              <a:gd name="csX2" fmla="*/ 1135020 w 1617604"/>
              <a:gd name="csY2" fmla="*/ 78592 h 566728"/>
              <a:gd name="csX3" fmla="*/ 89 w 1617604"/>
              <a:gd name="csY3" fmla="*/ 186168 h 566728"/>
              <a:gd name="csX4" fmla="*/ 468047 w 1617604"/>
              <a:gd name="csY4" fmla="*/ 395942 h 566728"/>
              <a:gd name="csX5" fmla="*/ 1355553 w 1617604"/>
              <a:gd name="csY5" fmla="*/ 535792 h 566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17604" h="566728">
                <a:moveTo>
                  <a:pt x="1355553" y="535792"/>
                </a:moveTo>
                <a:cubicBezTo>
                  <a:pt x="1545605" y="520552"/>
                  <a:pt x="1650491" y="509794"/>
                  <a:pt x="1608357" y="304502"/>
                </a:cubicBezTo>
                <a:cubicBezTo>
                  <a:pt x="1566223" y="99210"/>
                  <a:pt x="1306246" y="254300"/>
                  <a:pt x="1135020" y="78592"/>
                </a:cubicBezTo>
                <a:cubicBezTo>
                  <a:pt x="963794" y="-97116"/>
                  <a:pt x="-10669" y="58869"/>
                  <a:pt x="89" y="186168"/>
                </a:cubicBezTo>
                <a:cubicBezTo>
                  <a:pt x="16226" y="318846"/>
                  <a:pt x="435773" y="144034"/>
                  <a:pt x="468047" y="395942"/>
                </a:cubicBezTo>
                <a:cubicBezTo>
                  <a:pt x="500321" y="647850"/>
                  <a:pt x="1165501" y="551032"/>
                  <a:pt x="1355553" y="535792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8FB35-DE69-90C3-0E0B-8FDD21A5537A}"/>
              </a:ext>
            </a:extLst>
          </p:cNvPr>
          <p:cNvSpPr txBox="1"/>
          <p:nvPr/>
        </p:nvSpPr>
        <p:spPr>
          <a:xfrm>
            <a:off x="8804056" y="2598003"/>
            <a:ext cx="2549744" cy="83099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1600" dirty="0"/>
              <a:t>Vi vet inte hur lång tid dom här anropen tar, och dom kan ta </a:t>
            </a:r>
            <a:r>
              <a:rPr lang="sv-SE" sz="1600" i="1" dirty="0"/>
              <a:t>mer</a:t>
            </a:r>
            <a:r>
              <a:rPr lang="sv-SE" sz="1600" dirty="0"/>
              <a:t> än 2ms!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E9332-F29F-CF92-77A6-1C891B306A4A}"/>
              </a:ext>
            </a:extLst>
          </p:cNvPr>
          <p:cNvSpPr txBox="1"/>
          <p:nvPr/>
        </p:nvSpPr>
        <p:spPr>
          <a:xfrm>
            <a:off x="2548037" y="3703491"/>
            <a:ext cx="2549744" cy="70788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2000" dirty="0"/>
              <a:t>Detta måste hända precis varannan </a:t>
            </a:r>
            <a:r>
              <a:rPr lang="sv-SE" sz="2000" dirty="0" err="1"/>
              <a:t>ms</a:t>
            </a:r>
            <a:r>
              <a:rPr lang="sv-SE" sz="2000" dirty="0"/>
              <a:t>!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69EB76-4AC1-2327-5FB9-B2C40B7EC06C}"/>
              </a:ext>
            </a:extLst>
          </p:cNvPr>
          <p:cNvSpPr/>
          <p:nvPr/>
        </p:nvSpPr>
        <p:spPr>
          <a:xfrm>
            <a:off x="1400866" y="4833769"/>
            <a:ext cx="1906213" cy="200362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48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D3C2-5E05-5F86-5B80-B026E503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Control and Status Registers</a:t>
            </a:r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FDBAB4-8F92-7AC0-AE0C-421322FE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4496" cy="4351338"/>
          </a:xfrm>
        </p:spPr>
        <p:txBody>
          <a:bodyPr/>
          <a:lstStyle/>
          <a:p>
            <a:r>
              <a:rPr lang="sv-SE" dirty="0"/>
              <a:t>Krävs inte av RV32I specifikationen</a:t>
            </a:r>
          </a:p>
          <a:p>
            <a:r>
              <a:rPr lang="sv-SE" dirty="0"/>
              <a:t>Men behövs för att </a:t>
            </a:r>
            <a:r>
              <a:rPr lang="sv-SE" dirty="0" err="1"/>
              <a:t>interrupts</a:t>
            </a:r>
            <a:r>
              <a:rPr lang="sv-SE" dirty="0"/>
              <a:t> skall fungera. </a:t>
            </a:r>
          </a:p>
          <a:p>
            <a:pPr lvl="1"/>
            <a:r>
              <a:rPr lang="sv-SE" sz="2000" dirty="0"/>
              <a:t>Finns på vår maskin, som implementerar </a:t>
            </a:r>
            <a:r>
              <a:rPr lang="en-US" sz="2000" i="1" dirty="0"/>
              <a:t>Privileged ISA </a:t>
            </a:r>
            <a:r>
              <a:rPr lang="en-US" sz="2000" dirty="0"/>
              <a:t>and the </a:t>
            </a:r>
            <a:r>
              <a:rPr lang="en-US" sz="2000" i="1" dirty="0" err="1"/>
              <a:t>Zicsr</a:t>
            </a:r>
            <a:r>
              <a:rPr lang="en-US" sz="2000" i="1" dirty="0"/>
              <a:t> </a:t>
            </a:r>
            <a:r>
              <a:rPr lang="en-US" sz="2000" dirty="0"/>
              <a:t>extension.</a:t>
            </a:r>
          </a:p>
          <a:p>
            <a:r>
              <a:rPr lang="en-US" dirty="0" err="1"/>
              <a:t>Läses</a:t>
            </a:r>
            <a:r>
              <a:rPr lang="en-US" dirty="0"/>
              <a:t> och </a:t>
            </a:r>
            <a:r>
              <a:rPr lang="en-US" dirty="0" err="1"/>
              <a:t>skrivs</a:t>
            </a:r>
            <a:r>
              <a:rPr lang="en-US" dirty="0"/>
              <a:t> med </a:t>
            </a:r>
            <a:r>
              <a:rPr lang="en-US" dirty="0" err="1"/>
              <a:t>speciella</a:t>
            </a:r>
            <a:r>
              <a:rPr lang="en-US" dirty="0"/>
              <a:t> </a:t>
            </a:r>
            <a:r>
              <a:rPr lang="en-US" dirty="0" err="1"/>
              <a:t>assemblerinstruktioner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csrr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rd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csr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csrw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csr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rs</a:t>
            </a:r>
            <a:endParaRPr lang="en-US" dirty="0">
              <a:latin typeface="Consolas" panose="020B0609020204030204" pitchFamily="49" charset="0"/>
            </a:endParaRP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F9CC4-E50C-7BE8-6C30-0791B579B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49" y="1690688"/>
            <a:ext cx="5066251" cy="5167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34F4E1-7132-9FD7-5EED-89C16497E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04" y="3295310"/>
            <a:ext cx="5666840" cy="30851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200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C834-A945-CD6A-E006-F7B2C310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Instruktionscykeln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C3D61-6833-2634-CC6D-25FB6F75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28" y="2202180"/>
            <a:ext cx="9802059" cy="3794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0F2EF7-3F07-27CC-6324-AF28829FE8A1}"/>
              </a:ext>
            </a:extLst>
          </p:cNvPr>
          <p:cNvSpPr/>
          <p:nvPr/>
        </p:nvSpPr>
        <p:spPr>
          <a:xfrm>
            <a:off x="1333500" y="3817620"/>
            <a:ext cx="10119360" cy="2514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49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2F4F-3C81-93C9-3C96-72F8869A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Exempel – V</a:t>
            </a:r>
            <a:r>
              <a:rPr lang="sv-SE"/>
              <a:t>årt första exception</a:t>
            </a:r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C075D-9AD5-C598-CEEB-F2036F5F0863}"/>
              </a:ext>
            </a:extLst>
          </p:cNvPr>
          <p:cNvSpPr txBox="1"/>
          <p:nvPr/>
        </p:nvSpPr>
        <p:spPr>
          <a:xfrm>
            <a:off x="114300" y="1792961"/>
            <a:ext cx="6096000" cy="49090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###############################################################################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Skriv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överlever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felet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och "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fixar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addressen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DON'T TRY THIS AT HOME!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###############################################################################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2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interrupt_handler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Antag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dåliga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addressen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ligger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och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behöver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lägga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till 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mret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2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Skriv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addressen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till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interrupt_handler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mtvec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interrupt_handler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csrw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mtvec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0x20001000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Startadress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0x20001010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Slutadress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     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Skriv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(0) till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adressen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t0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pekar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på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Gå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till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nästa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blt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loop    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Fortsätt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loopen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tills vi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når</a:t>
            </a:r>
            <a:r>
              <a:rPr lang="en-US" sz="600" kern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kern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slutadressen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600" kern="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end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A02414-2923-FE42-CC3A-5EA31A4A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307" y="3881118"/>
            <a:ext cx="8478433" cy="22958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576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3795-F009-C4D4-06E2-8C6099DD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6D86-796C-08C5-A463-8E69E6A3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Register Saving i interrupthanterare</a:t>
            </a:r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AB6B-30EF-895E-8A48-990B7B65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Vem </a:t>
            </a:r>
            <a:r>
              <a:rPr lang="en-US" dirty="0" err="1"/>
              <a:t>skall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t0? </a:t>
            </a:r>
          </a:p>
          <a:p>
            <a:pPr lvl="1"/>
            <a:r>
              <a:rPr lang="en-US" dirty="0" err="1"/>
              <a:t>Programmet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Processorn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Interrupt </a:t>
            </a:r>
            <a:r>
              <a:rPr lang="en-US" dirty="0" err="1"/>
              <a:t>handlern</a:t>
            </a:r>
            <a:r>
              <a:rPr lang="en-US" dirty="0"/>
              <a:t>? </a:t>
            </a:r>
          </a:p>
          <a:p>
            <a:r>
              <a:rPr lang="en-US" dirty="0"/>
              <a:t>För </a:t>
            </a:r>
            <a:r>
              <a:rPr lang="en-US" dirty="0" err="1"/>
              <a:t>interrupthanterare</a:t>
            </a:r>
            <a:r>
              <a:rPr lang="en-US" dirty="0"/>
              <a:t> </a:t>
            </a:r>
            <a:r>
              <a:rPr lang="en-US" dirty="0" err="1"/>
              <a:t>gäller</a:t>
            </a:r>
            <a:r>
              <a:rPr lang="en-US" dirty="0"/>
              <a:t> </a:t>
            </a:r>
            <a:r>
              <a:rPr lang="en-US" dirty="0" err="1"/>
              <a:t>speciella</a:t>
            </a:r>
            <a:r>
              <a:rPr lang="en-US" dirty="0"/>
              <a:t> </a:t>
            </a:r>
            <a:r>
              <a:rPr lang="en-US" dirty="0" err="1"/>
              <a:t>regler</a:t>
            </a:r>
            <a:r>
              <a:rPr lang="en-US" dirty="0"/>
              <a:t> om register saving. </a:t>
            </a:r>
            <a:endParaRPr lang="sv-SE" dirty="0"/>
          </a:p>
          <a:p>
            <a:r>
              <a:rPr lang="sv-SE" dirty="0" err="1"/>
              <a:t>Interrupthanterarn</a:t>
            </a:r>
            <a:r>
              <a:rPr lang="sv-SE" dirty="0"/>
              <a:t> måste själv spara alla register den skriver över.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10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EFEC-E1B2-65AB-5AF1-3FAC0DA6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A30F-A942-D6F8-3F90-CC479A3F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Interrupthanterare</a:t>
            </a:r>
            <a:r>
              <a:rPr lang="sv-SE" dirty="0"/>
              <a:t> i C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2C97C-6CB0-F88B-D0C6-BBAF236387E2}"/>
              </a:ext>
            </a:extLst>
          </p:cNvPr>
          <p:cNvSpPr txBox="1"/>
          <p:nvPr/>
        </p:nvSpPr>
        <p:spPr>
          <a:xfrm>
            <a:off x="601980" y="2477907"/>
            <a:ext cx="854202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_Handler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  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40D54-DEC0-5666-68B0-DF025612A33E}"/>
              </a:ext>
            </a:extLst>
          </p:cNvPr>
          <p:cNvSpPr txBox="1"/>
          <p:nvPr/>
        </p:nvSpPr>
        <p:spPr>
          <a:xfrm>
            <a:off x="5558790" y="2072956"/>
            <a:ext cx="609950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2000" dirty="0"/>
              <a:t>Den här raden säger till kompilatorn att detta är ett </a:t>
            </a:r>
            <a:r>
              <a:rPr lang="sv-SE" sz="2000" dirty="0" err="1"/>
              <a:t>interrupt</a:t>
            </a:r>
            <a:r>
              <a:rPr lang="sv-SE" sz="2000" dirty="0"/>
              <a:t> (i </a:t>
            </a:r>
            <a:r>
              <a:rPr lang="sv-SE" sz="2000" dirty="0" err="1"/>
              <a:t>machine</a:t>
            </a:r>
            <a:r>
              <a:rPr lang="sv-SE" sz="2000" dirty="0"/>
              <a:t> mode). Alltså måste kompilatorn spara alla register den ändrar på, och den måste returnera med "</a:t>
            </a:r>
            <a:r>
              <a:rPr lang="sv-SE" sz="2000" dirty="0" err="1"/>
              <a:t>mret</a:t>
            </a:r>
            <a:r>
              <a:rPr lang="sv-SE" sz="2000" dirty="0"/>
              <a:t>".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36F28-227D-A077-972F-F6A82F48340E}"/>
              </a:ext>
            </a:extLst>
          </p:cNvPr>
          <p:cNvSpPr txBox="1"/>
          <p:nvPr/>
        </p:nvSpPr>
        <p:spPr>
          <a:xfrm>
            <a:off x="1287780" y="4443973"/>
            <a:ext cx="854202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csrw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mtvec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Interrupt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_Handler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...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B5E34-97C7-264E-CD22-C98A3D0FEA82}"/>
              </a:ext>
            </a:extLst>
          </p:cNvPr>
          <p:cNvSpPr txBox="1"/>
          <p:nvPr/>
        </p:nvSpPr>
        <p:spPr>
          <a:xfrm>
            <a:off x="5916930" y="3778663"/>
            <a:ext cx="6099500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2000" dirty="0"/>
              <a:t>Den här raden säger till kompilatorn att skapa assemblerkod som skriver </a:t>
            </a:r>
            <a:r>
              <a:rPr lang="sv-SE" sz="2000" dirty="0" err="1"/>
              <a:t>interrupthandlerns</a:t>
            </a:r>
            <a:r>
              <a:rPr lang="sv-SE" sz="2000" dirty="0"/>
              <a:t> </a:t>
            </a:r>
            <a:r>
              <a:rPr lang="sv-SE" sz="2000" dirty="0" err="1"/>
              <a:t>address</a:t>
            </a:r>
            <a:r>
              <a:rPr lang="sv-SE" sz="2000" dirty="0"/>
              <a:t> till CSR registret "</a:t>
            </a:r>
            <a:r>
              <a:rPr lang="sv-SE" sz="2000" dirty="0" err="1"/>
              <a:t>mtvec</a:t>
            </a:r>
            <a:r>
              <a:rPr lang="sv-SE" sz="20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4971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25AB-4335-E946-3700-3DEB71D5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Interrupt</a:t>
            </a:r>
            <a:r>
              <a:rPr lang="sv-SE" dirty="0"/>
              <a:t> från </a:t>
            </a:r>
            <a:r>
              <a:rPr lang="sv-SE" dirty="0" err="1"/>
              <a:t>SysTick</a:t>
            </a:r>
            <a:r>
              <a:rPr lang="sv-SE" dirty="0"/>
              <a:t> - PFIC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9E9E2-3626-465C-F81B-6AFE82D33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64" y="2056246"/>
            <a:ext cx="4369985" cy="41899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7BDBA6-9B93-50A5-AB78-17A8895C3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01" y="2531945"/>
            <a:ext cx="8038177" cy="1794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8102BD2-88DF-38C0-50C6-A422D38B8464}"/>
              </a:ext>
            </a:extLst>
          </p:cNvPr>
          <p:cNvGrpSpPr/>
          <p:nvPr/>
        </p:nvGrpSpPr>
        <p:grpSpPr>
          <a:xfrm>
            <a:off x="4419389" y="3368040"/>
            <a:ext cx="3923380" cy="3338181"/>
            <a:chOff x="4419389" y="3368040"/>
            <a:chExt cx="3923380" cy="333818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F9D12EE-0BF4-CA16-9673-44C211B84990}"/>
                </a:ext>
              </a:extLst>
            </p:cNvPr>
            <p:cNvGrpSpPr/>
            <p:nvPr/>
          </p:nvGrpSpPr>
          <p:grpSpPr>
            <a:xfrm>
              <a:off x="4419389" y="3368040"/>
              <a:ext cx="293670" cy="338554"/>
              <a:chOff x="2551051" y="3103364"/>
              <a:chExt cx="293670" cy="33855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F22EB5-D47C-6B48-279C-D1C477ED6097}"/>
                  </a:ext>
                </a:extLst>
              </p:cNvPr>
              <p:cNvSpPr/>
              <p:nvPr/>
            </p:nvSpPr>
            <p:spPr>
              <a:xfrm>
                <a:off x="2636520" y="3147060"/>
                <a:ext cx="137160" cy="2819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499B5A-B6FC-D78A-E101-14CFC2D4AD60}"/>
                  </a:ext>
                </a:extLst>
              </p:cNvPr>
              <p:cNvSpPr txBox="1"/>
              <p:nvPr/>
            </p:nvSpPr>
            <p:spPr>
              <a:xfrm>
                <a:off x="2551051" y="3103364"/>
                <a:ext cx="2936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600" dirty="0"/>
                  <a:t>0</a:t>
                </a:r>
                <a:endParaRPr lang="LID4096" dirty="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708539-045D-C706-D57F-DBCB295016C0}"/>
                </a:ext>
              </a:extLst>
            </p:cNvPr>
            <p:cNvSpPr/>
            <p:nvPr/>
          </p:nvSpPr>
          <p:spPr>
            <a:xfrm>
              <a:off x="4581440" y="3701295"/>
              <a:ext cx="2441514" cy="3004926"/>
            </a:xfrm>
            <a:custGeom>
              <a:avLst/>
              <a:gdLst>
                <a:gd name="csX0" fmla="*/ 0 w 5029200"/>
                <a:gd name="csY0" fmla="*/ 0 h 2552700"/>
                <a:gd name="csX1" fmla="*/ 5029200 w 5029200"/>
                <a:gd name="csY1" fmla="*/ 2552700 h 2552700"/>
                <a:gd name="csX0" fmla="*/ 0 w 5029200"/>
                <a:gd name="csY0" fmla="*/ 0 h 2552702"/>
                <a:gd name="csX1" fmla="*/ 5029200 w 5029200"/>
                <a:gd name="csY1" fmla="*/ 2552700 h 2552702"/>
                <a:gd name="csX0" fmla="*/ 0 w 5029200"/>
                <a:gd name="csY0" fmla="*/ 0 h 2552704"/>
                <a:gd name="csX1" fmla="*/ 5029200 w 5029200"/>
                <a:gd name="csY1" fmla="*/ 2552700 h 2552704"/>
                <a:gd name="csX0" fmla="*/ 13 w 5029213"/>
                <a:gd name="csY0" fmla="*/ 0 h 2552704"/>
                <a:gd name="csX1" fmla="*/ 5029213 w 5029213"/>
                <a:gd name="csY1" fmla="*/ 2552700 h 2552704"/>
                <a:gd name="csX0" fmla="*/ 11 w 5029211"/>
                <a:gd name="csY0" fmla="*/ 0 h 2552700"/>
                <a:gd name="csX1" fmla="*/ 5029211 w 5029211"/>
                <a:gd name="csY1" fmla="*/ 2552700 h 255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029211" h="2552700">
                  <a:moveTo>
                    <a:pt x="11" y="0"/>
                  </a:moveTo>
                  <a:cubicBezTo>
                    <a:pt x="-7609" y="1376680"/>
                    <a:pt x="4032768" y="1849658"/>
                    <a:pt x="5029211" y="255270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2BC712-0429-2021-09C7-66F4F8BD4805}"/>
                </a:ext>
              </a:extLst>
            </p:cNvPr>
            <p:cNvSpPr txBox="1"/>
            <p:nvPr/>
          </p:nvSpPr>
          <p:spPr>
            <a:xfrm>
              <a:off x="4875110" y="3622674"/>
              <a:ext cx="3467659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2000" dirty="0"/>
                <a:t>Bit 15 i IENR2 är 0: </a:t>
              </a:r>
              <a:br>
                <a:rPr lang="sv-SE" sz="2000" dirty="0"/>
              </a:br>
              <a:r>
                <a:rPr lang="sv-SE" sz="2000" dirty="0" err="1"/>
                <a:t>Interrupt</a:t>
              </a:r>
              <a:r>
                <a:rPr lang="sv-SE" sz="2000" dirty="0"/>
                <a:t> # 32+15 är </a:t>
              </a:r>
              <a:r>
                <a:rPr lang="sv-SE" sz="2000" dirty="0" err="1"/>
                <a:t>disablat</a:t>
              </a:r>
              <a:endParaRPr lang="sv-SE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949109-2C85-F155-29FD-0758CCEA3645}"/>
              </a:ext>
            </a:extLst>
          </p:cNvPr>
          <p:cNvGrpSpPr/>
          <p:nvPr/>
        </p:nvGrpSpPr>
        <p:grpSpPr>
          <a:xfrm>
            <a:off x="2551051" y="3103364"/>
            <a:ext cx="5183248" cy="2885960"/>
            <a:chOff x="2551051" y="3103364"/>
            <a:chExt cx="5183248" cy="28859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9E96A55-9B22-EA63-1288-26CFC8077124}"/>
                </a:ext>
              </a:extLst>
            </p:cNvPr>
            <p:cNvGrpSpPr/>
            <p:nvPr/>
          </p:nvGrpSpPr>
          <p:grpSpPr>
            <a:xfrm>
              <a:off x="2551051" y="3103364"/>
              <a:ext cx="308098" cy="369332"/>
              <a:chOff x="2551051" y="3103364"/>
              <a:chExt cx="308098" cy="36933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5BB3CF-FB46-7109-45EA-19F69533F9BE}"/>
                  </a:ext>
                </a:extLst>
              </p:cNvPr>
              <p:cNvSpPr/>
              <p:nvPr/>
            </p:nvSpPr>
            <p:spPr>
              <a:xfrm>
                <a:off x="2636520" y="3147060"/>
                <a:ext cx="137160" cy="2819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70BE9D-7666-1348-53C4-918797283F6E}"/>
                  </a:ext>
                </a:extLst>
              </p:cNvPr>
              <p:cNvSpPr txBox="1"/>
              <p:nvPr/>
            </p:nvSpPr>
            <p:spPr>
              <a:xfrm>
                <a:off x="2551051" y="310336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/>
                  <a:t>1</a:t>
                </a:r>
                <a:endParaRPr lang="LID4096" dirty="0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F5F2BD-D52D-BE4F-2572-2A0460186597}"/>
                </a:ext>
              </a:extLst>
            </p:cNvPr>
            <p:cNvSpPr/>
            <p:nvPr/>
          </p:nvSpPr>
          <p:spPr>
            <a:xfrm>
              <a:off x="2705086" y="3436620"/>
              <a:ext cx="5029213" cy="2552704"/>
            </a:xfrm>
            <a:custGeom>
              <a:avLst/>
              <a:gdLst>
                <a:gd name="csX0" fmla="*/ 0 w 5029200"/>
                <a:gd name="csY0" fmla="*/ 0 h 2552700"/>
                <a:gd name="csX1" fmla="*/ 5029200 w 5029200"/>
                <a:gd name="csY1" fmla="*/ 2552700 h 2552700"/>
                <a:gd name="csX0" fmla="*/ 0 w 5029200"/>
                <a:gd name="csY0" fmla="*/ 0 h 2552702"/>
                <a:gd name="csX1" fmla="*/ 5029200 w 5029200"/>
                <a:gd name="csY1" fmla="*/ 2552700 h 2552702"/>
                <a:gd name="csX0" fmla="*/ 0 w 5029200"/>
                <a:gd name="csY0" fmla="*/ 0 h 2552704"/>
                <a:gd name="csX1" fmla="*/ 5029200 w 5029200"/>
                <a:gd name="csY1" fmla="*/ 2552700 h 2552704"/>
                <a:gd name="csX0" fmla="*/ 13 w 5029213"/>
                <a:gd name="csY0" fmla="*/ 0 h 2552704"/>
                <a:gd name="csX1" fmla="*/ 5029213 w 5029213"/>
                <a:gd name="csY1" fmla="*/ 2552700 h 255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029213" h="2552704">
                  <a:moveTo>
                    <a:pt x="13" y="0"/>
                  </a:moveTo>
                  <a:cubicBezTo>
                    <a:pt x="-7607" y="1376680"/>
                    <a:pt x="3185173" y="2555240"/>
                    <a:pt x="5029213" y="255270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AF0399-25D8-8490-1E7D-DE3CF4AF7EA8}"/>
                </a:ext>
              </a:extLst>
            </p:cNvPr>
            <p:cNvSpPr txBox="1"/>
            <p:nvPr/>
          </p:nvSpPr>
          <p:spPr>
            <a:xfrm>
              <a:off x="3074365" y="4578225"/>
              <a:ext cx="3467659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2000" dirty="0"/>
                <a:t>Bit 25 är satt: </a:t>
              </a:r>
              <a:br>
                <a:rPr lang="sv-SE" sz="2000" dirty="0"/>
              </a:br>
              <a:r>
                <a:rPr lang="sv-SE" sz="2000" dirty="0" err="1"/>
                <a:t>Interrupt</a:t>
              </a:r>
              <a:r>
                <a:rPr lang="sv-SE" sz="2000" dirty="0"/>
                <a:t> # 25 är </a:t>
              </a:r>
              <a:r>
                <a:rPr lang="sv-SE" sz="2000" dirty="0" err="1"/>
                <a:t>enablat</a:t>
              </a:r>
              <a:endParaRPr lang="sv-SE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DB99E3D-1D01-E80A-C8E8-18738C4DC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064" y="1811339"/>
            <a:ext cx="3640087" cy="48948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183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A4E2-93A9-324E-ACE8-29757207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43BA-C4EC-9866-C21E-62738F11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Spela en ton med interrupts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533A2-FFA6-9897-13FC-0FB09B2BA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3" y="2392446"/>
            <a:ext cx="8468907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21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BEA8-999F-A6A0-2409-80C00CBB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WFI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2F9EA-CFC9-BAF5-E280-8F4DDE61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1159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A71D-5C0D-D7F2-F5AF-81023E23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hanterar vi ett annat exeption nu? 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868A1-E7A9-1DA7-6C57-8729067B5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Visa hur vi kan läsa mcause för att se vilket interrupt det var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185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4509</TotalTime>
  <Words>2242</Words>
  <Application>Microsoft Office PowerPoint</Application>
  <PresentationFormat>Widescreen</PresentationFormat>
  <Paragraphs>331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Agency FB</vt:lpstr>
      <vt:lpstr>Aptos</vt:lpstr>
      <vt:lpstr>Aptos Display</vt:lpstr>
      <vt:lpstr>Arial</vt:lpstr>
      <vt:lpstr>Consolas</vt:lpstr>
      <vt:lpstr>Script MT Bold</vt:lpstr>
      <vt:lpstr>Office Theme</vt:lpstr>
      <vt:lpstr>Lektion 8</vt:lpstr>
      <vt:lpstr>Terminologi</vt:lpstr>
      <vt:lpstr>Dagens utmaning</vt:lpstr>
      <vt:lpstr>Vår prototyp</vt:lpstr>
      <vt:lpstr>Vår Prototyp</vt:lpstr>
      <vt:lpstr>PowerPoint Presentation</vt:lpstr>
      <vt:lpstr>Control and Status Registers</vt:lpstr>
      <vt:lpstr>Instruktionscykeln</vt:lpstr>
      <vt:lpstr>Exempel – Vårt första exception</vt:lpstr>
      <vt:lpstr>Register Saving i interrupthanterare</vt:lpstr>
      <vt:lpstr>Interrupthanterare i C</vt:lpstr>
      <vt:lpstr>Interrupt från SysTick - PFIC</vt:lpstr>
      <vt:lpstr>Spela en ton med interrupts</vt:lpstr>
      <vt:lpstr>WFI</vt:lpstr>
      <vt:lpstr>Hur hanterar vi ett annat exeption nu?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81</cp:revision>
  <cp:lastPrinted>2026-02-17T11:02:10Z</cp:lastPrinted>
  <dcterms:created xsi:type="dcterms:W3CDTF">2026-01-14T14:09:03Z</dcterms:created>
  <dcterms:modified xsi:type="dcterms:W3CDTF">2026-02-17T16:35:57Z</dcterms:modified>
</cp:coreProperties>
</file>