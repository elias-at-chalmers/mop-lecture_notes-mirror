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76" r:id="rId9"/>
    <p:sldId id="263" r:id="rId10"/>
    <p:sldId id="265" r:id="rId11"/>
    <p:sldId id="277" r:id="rId12"/>
    <p:sldId id="278" r:id="rId13"/>
    <p:sldId id="268" r:id="rId14"/>
    <p:sldId id="269" r:id="rId15"/>
    <p:sldId id="279" r:id="rId16"/>
    <p:sldId id="280" r:id="rId17"/>
    <p:sldId id="272" r:id="rId18"/>
    <p:sldId id="273" r:id="rId19"/>
    <p:sldId id="274" r:id="rId20"/>
    <p:sldId id="281" r:id="rId21"/>
    <p:sldId id="282" r:id="rId22"/>
  </p:sldIdLst>
  <p:sldSz cx="12192000" cy="6858000"/>
  <p:notesSz cx="6794500" cy="9906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58"/>
            <p14:sldId id="259"/>
            <p14:sldId id="260"/>
            <p14:sldId id="261"/>
            <p14:sldId id="275"/>
            <p14:sldId id="276"/>
            <p14:sldId id="263"/>
            <p14:sldId id="265"/>
            <p14:sldId id="277"/>
            <p14:sldId id="278"/>
            <p14:sldId id="268"/>
            <p14:sldId id="269"/>
            <p14:sldId id="279"/>
            <p14:sldId id="280"/>
            <p14:sldId id="272"/>
            <p14:sldId id="273"/>
            <p14:sldId id="274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83595" autoAdjust="0"/>
  </p:normalViewPr>
  <p:slideViewPr>
    <p:cSldViewPr snapToGrid="0">
      <p:cViewPr>
        <p:scale>
          <a:sx n="125" d="100"/>
          <a:sy n="125" d="100"/>
        </p:scale>
        <p:origin x="90" y="20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5450" y="1238250"/>
            <a:ext cx="5943600" cy="3343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67262"/>
            <a:ext cx="5435600" cy="39004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5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i="0"/>
          </a:p>
          <a:p>
            <a:r>
              <a:rPr lang="sv-SE" i="0"/>
              <a:t>IDAG: </a:t>
            </a:r>
          </a:p>
          <a:p>
            <a:r>
              <a:rPr lang="sv-SE" i="0"/>
              <a:t>Vad ni har att se fram emot att lära er i framtida kurser</a:t>
            </a:r>
          </a:p>
          <a:p>
            <a:r>
              <a:rPr lang="sv-SE" i="0"/>
              <a:t>Prisutdelning</a:t>
            </a:r>
          </a:p>
          <a:p>
            <a:r>
              <a:rPr lang="sv-SE" i="0"/>
              <a:t>Frågor om tentamen</a:t>
            </a:r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Ni har nu lärt en en hiskelig massa om hur en microkontroller, och därför en enkel dator fungerar. </a:t>
            </a:r>
          </a:p>
          <a:p>
            <a:endParaRPr lang="sv-SE"/>
          </a:p>
          <a:p>
            <a:r>
              <a:rPr lang="sv-SE"/>
              <a:t>Det finns en hel del kvar att lära sig om datorarkitektur dock, och jag tänkte introducera en del av det genom att titta på hur ”persondatorn” har utvecklats genom tiderna. </a:t>
            </a:r>
          </a:p>
          <a:p>
            <a:endParaRPr lang="sv-SE"/>
          </a:p>
          <a:p>
            <a:r>
              <a:rPr lang="sv-SE"/>
              <a:t>Om vi sätter ut på en tidslinje NÄR en persondator kunde ungefär det som ni har lärt er att hantera, så hamnar vi: </a:t>
            </a:r>
          </a:p>
          <a:p>
            <a:endParaRPr lang="sv-SE"/>
          </a:p>
          <a:p>
            <a:r>
              <a:rPr lang="sv-SE"/>
              <a:t>Elak spoiler alert: </a:t>
            </a:r>
            <a:r>
              <a:rPr lang="en-GB"/>
              <a:t>&lt;click&gt; Ni </a:t>
            </a:r>
            <a:r>
              <a:rPr lang="sv-SE"/>
              <a:t>är här </a:t>
            </a:r>
            <a:r>
              <a:rPr lang="sv-SE">
                <a:sym typeface="Wingdings" panose="05000000000000000000" pitchFamily="2" charset="2"/>
              </a:rPr>
              <a:t>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404729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F9420-CD21-417D-8F6B-2ED15573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A406FB-5CE6-18B1-66C6-867C1A3417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7F117-91C6-FFCF-1B15-F3F5F6AB5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First designed personal computer:</a:t>
            </a:r>
            <a:r>
              <a:rPr lang="en-US"/>
              <a:t> </a:t>
            </a:r>
            <a:r>
              <a:rPr lang="en-US" i="1"/>
              <a:t>Kenbak-1 (1971)</a:t>
            </a:r>
            <a:endParaRPr lang="en-US"/>
          </a:p>
          <a:p>
            <a:r>
              <a:rPr lang="en-US" b="1"/>
              <a:t>First influential personal computer:</a:t>
            </a:r>
            <a:r>
              <a:rPr lang="en-US"/>
              <a:t> </a:t>
            </a:r>
            <a:r>
              <a:rPr lang="en-US" i="1"/>
              <a:t>Altair 8800 (1975)</a:t>
            </a:r>
            <a:endParaRPr lang="en-US"/>
          </a:p>
          <a:p>
            <a:r>
              <a:rPr lang="sv-SE"/>
              <a:t>Apple 1 (1976) - </a:t>
            </a:r>
            <a:r>
              <a:rPr lang="en-GB" b="1"/>
              <a:t>MOS 6502</a:t>
            </a:r>
            <a:r>
              <a:rPr lang="en-GB"/>
              <a:t> processor</a:t>
            </a:r>
          </a:p>
          <a:p>
            <a:endParaRPr lang="en-GB"/>
          </a:p>
          <a:p>
            <a:r>
              <a:rPr lang="en-GB"/>
              <a:t>1977 trinity: Apple II, Commodore PET, TRS-80 – When personal computers really took off. </a:t>
            </a:r>
          </a:p>
          <a:p>
            <a:endParaRPr lang="en-GB"/>
          </a:p>
          <a:p>
            <a:r>
              <a:rPr lang="en-GB"/>
              <a:t>I Sverige: ABC80 (1978) och Compis(8086) (1984)</a:t>
            </a:r>
          </a:p>
          <a:p>
            <a:endParaRPr lang="en-GB"/>
          </a:p>
          <a:p>
            <a:r>
              <a:rPr lang="en-GB"/>
              <a:t>Men när det exploderat i mitten av åttiotalet och några procent av Svenska hushåll hade en hemdator så var det den här</a:t>
            </a:r>
          </a:p>
          <a:p>
            <a:r>
              <a:rPr lang="sv-SE"/>
              <a:t> </a:t>
            </a:r>
          </a:p>
          <a:p>
            <a:r>
              <a:rPr lang="sv-SE"/>
              <a:t>DISCLAIMER: Mitt val av historiskt viktiga datorer är extremt biased och grundar sig på vad jag växte upp med. </a:t>
            </a:r>
          </a:p>
          <a:p>
            <a:r>
              <a:rPr lang="sv-SE"/>
              <a:t>För folk i min generation började datorhistorian (och därmed livet) runt 1982, när den här kom ut. </a:t>
            </a:r>
            <a:br>
              <a:rPr lang="sv-SE"/>
            </a:br>
            <a:r>
              <a:rPr lang="sv-SE"/>
              <a:t>Någon som kan säga vad det är? </a:t>
            </a:r>
          </a:p>
          <a:p>
            <a:r>
              <a:rPr lang="en-GB"/>
              <a:t>&lt;click&gt;</a:t>
            </a:r>
          </a:p>
          <a:p>
            <a:r>
              <a:rPr lang="sv-SE"/>
              <a:t>Läs igenom långsamt</a:t>
            </a:r>
          </a:p>
          <a:p>
            <a:r>
              <a:rPr lang="en-GB"/>
              <a:t>&lt;click&gt;</a:t>
            </a:r>
          </a:p>
          <a:p>
            <a:r>
              <a:rPr lang="en-GB"/>
              <a:t>F</a:t>
            </a:r>
            <a:r>
              <a:rPr lang="sv-SE"/>
              <a:t>örklara bonusfakta. Detta blir intressant om en stund. 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4B1BF-65BF-D3F5-3EEA-C72714FC37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1778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0889-857B-DEC5-7044-9501F7272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D7534-5AFA-77E6-D60B-584C05BB5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65B8C-1F90-68B4-9CE1-353B54B30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VILKEN </a:t>
            </a:r>
            <a:r>
              <a:rPr lang="sv-SE"/>
              <a:t>ÄR DETTA? </a:t>
            </a:r>
          </a:p>
          <a:p>
            <a:endParaRPr lang="en-GB"/>
          </a:p>
          <a:p>
            <a:r>
              <a:rPr lang="en-GB"/>
              <a:t>&lt;click&gt;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C68A9-D7EB-A072-8AC1-B0A394B6D2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6496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Här har vi två program som vi vill skall köra på ”samma gång”... Men vi har ju bara en processor!</a:t>
            </a:r>
          </a:p>
          <a:p>
            <a:r>
              <a:rPr lang="sv-SE"/>
              <a:t>Hur bär vi oss åt? </a:t>
            </a:r>
          </a:p>
          <a:p>
            <a:r>
              <a:rPr lang="en-GB"/>
              <a:t>&lt;click&gt;</a:t>
            </a:r>
          </a:p>
          <a:p>
            <a:r>
              <a:rPr lang="en-GB"/>
              <a:t>F</a:t>
            </a:r>
            <a:r>
              <a:rPr lang="sv-SE"/>
              <a:t>örklara att en sådan här enkel grej skulle kunna funka, och är grundprincipen. </a:t>
            </a:r>
          </a:p>
          <a:p>
            <a:r>
              <a:rPr lang="sv-SE"/>
              <a:t>I riktiga operativsystem är det förståss bra mycket mer komplicerat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453269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EAD4F-5B27-CC09-A496-8CE87D20A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DB462-6399-305C-6F78-28A49D346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9B0CBE-B31A-FA5A-3799-D25E298C9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vi har ju ett annat problem.</a:t>
            </a:r>
          </a:p>
          <a:p>
            <a:r>
              <a:rPr lang="sv-SE"/>
              <a:t>Vi vill ju kunna köra två (eller fler) instanser av Program A på samma gång</a:t>
            </a:r>
          </a:p>
          <a:p>
            <a:r>
              <a:rPr lang="sv-SE"/>
              <a:t>Då hamnar ju programmets variabler på samma ställe!</a:t>
            </a:r>
          </a:p>
          <a:p>
            <a:r>
              <a:rPr lang="sv-SE"/>
              <a:t>(visa att det blir ett problem här)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BD4F6-5267-755A-03D4-00C5E8C26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94054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A5CC0-ABB4-E65B-E685-8C398B80A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967BCE-C308-BAF7-961E-91B33851C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CFFED7-5445-A127-DB86-732C05513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Detta var förståss lite krångligt, och vi skall snart få se en mycket fiffigare lösning. </a:t>
            </a:r>
          </a:p>
          <a:p>
            <a:endParaRPr lang="sv-SE"/>
          </a:p>
          <a:p>
            <a:r>
              <a:rPr lang="sv-SE"/>
              <a:t>Så funkade det på amigan, och så skulle det få funka på MD307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B9EC2-1BBB-2664-864F-BAD6C7DF2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2586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B518-1D2D-5503-A7F1-2FF18AB61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56608-4B46-AF77-E85A-106B1DD01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ABA20-4802-0B07-E361-83A4CD10D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Amigan (och MD307) har också en annan viktig funktionalitet som vi inte hunnit prata om i kursen: DMA</a:t>
            </a:r>
          </a:p>
          <a:p>
            <a:endParaRPr lang="sv-SE"/>
          </a:p>
          <a:p>
            <a:r>
              <a:rPr lang="sv-SE"/>
              <a:t>Gå igenom förklaringen. </a:t>
            </a:r>
          </a:p>
          <a:p>
            <a:endParaRPr lang="sv-SE"/>
          </a:p>
          <a:p>
            <a:r>
              <a:rPr lang="sv-SE"/>
              <a:t>Samma sak används på moderna microkontrollers. </a:t>
            </a:r>
          </a:p>
          <a:p>
            <a:r>
              <a:rPr lang="sv-SE"/>
              <a:t>Ett exempel kan vara en ADC som spelar in en pyttekort buffer med ljud till register. </a:t>
            </a:r>
          </a:p>
          <a:p>
            <a:r>
              <a:rPr lang="sv-SE"/>
              <a:t>Istället för att processorn skall behöva ligga och läsa av dem innan nästa buffer kommer, så kan man konfigurera en DMA engine at göra kopierandet till den stora ljudfilen i minnet. 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ADCFF-0AEA-9EC3-C1A4-2D195A996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0343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3F900-0AF3-F9F3-1F85-89667ABC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193D93-B6FC-46BB-DD9A-14058F9D9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A65C8-C443-4401-1C4E-9C54F2E52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Vid ungefär samma tid kom IBM’s första 386 maskiner. </a:t>
            </a:r>
          </a:p>
          <a:p>
            <a:r>
              <a:rPr lang="sv-SE"/>
              <a:t>Ingen intelligent person i min ålder skulle ha föredragit en sådan, för den hade värdelösa grafikkort och sällan något ljudkort så spelen var bedrövliga. </a:t>
            </a:r>
          </a:p>
          <a:p>
            <a:r>
              <a:rPr lang="sv-SE" i="1"/>
              <a:t>Men </a:t>
            </a:r>
            <a:r>
              <a:rPr lang="sv-SE" i="0"/>
              <a:t>den hade lite andra finesser som gjorde att den överlevde, till skillnad från Amigan. </a:t>
            </a:r>
            <a:endParaRPr lang="LID4096" i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260DB-6D5A-52A5-E490-2C881E6C15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39950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AC40-9320-1345-1C3D-6416704A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7C12D4-C6B1-0BC8-3713-82903EFCDB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75BA0-7684-1502-B565-DB14E6EAB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Detta var förståss lite krångligt, och vi skall snart få se en mycket fiffigare lösning. </a:t>
            </a:r>
          </a:p>
          <a:p>
            <a:endParaRPr lang="sv-SE"/>
          </a:p>
          <a:p>
            <a:r>
              <a:rPr lang="sv-SE"/>
              <a:t>Så funkade det på amigan, och så skulle det få funka på MD307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D3F28-DBF4-002A-9D3F-89C4F8FDC2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269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3C5B-0AB2-9F4F-1225-1E269DAB2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2B7700-2CF1-D56B-5433-E4FBD29FF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25E4A-8556-5B8B-AE92-F4B668BF0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Kort om minnesskydd, och varför det är viktigt. </a:t>
            </a:r>
          </a:p>
          <a:p>
            <a:endParaRPr lang="sv-SE" i="0"/>
          </a:p>
          <a:p>
            <a:r>
              <a:rPr lang="sv-SE" i="0"/>
              <a:t>MD307 har minnesskydd, men inte address translation</a:t>
            </a:r>
          </a:p>
          <a:p>
            <a:endParaRPr lang="sv-SE" i="0"/>
          </a:p>
          <a:p>
            <a:r>
              <a:rPr lang="sv-SE" i="0"/>
              <a:t>Vi fortsätter vår historia</a:t>
            </a:r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314D3-0292-AFAA-9152-B8C712646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81076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04367-3BEC-CB78-2235-107B68A77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BA9A3-B250-2121-6F97-1B73190D2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BFF6A-6FEB-40BD-BDD7-7CA1A747D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I början av nittiotalet händer något lustigt. </a:t>
            </a:r>
          </a:p>
          <a:p>
            <a:r>
              <a:rPr lang="sv-SE" i="0"/>
              <a:t>Processorer blir exponentiellt snabbare för varje år, men inte minnen!</a:t>
            </a:r>
          </a:p>
          <a:p>
            <a:r>
              <a:rPr lang="sv-SE" i="0"/>
              <a:t>Plötsligt kan vi inte göra en minnesläsning eller skrivning varje klockcykel.</a:t>
            </a:r>
          </a:p>
          <a:p>
            <a:r>
              <a:rPr lang="sv-SE" i="0"/>
              <a:t>Idag handlar det om en per ~400 klockcykler!</a:t>
            </a:r>
          </a:p>
          <a:p>
            <a:endParaRPr lang="sv-SE" i="0"/>
          </a:p>
          <a:p>
            <a:r>
              <a:rPr lang="sv-SE" i="0"/>
              <a:t>Förutom att det blir jobbigt att hämta data... </a:t>
            </a:r>
          </a:p>
          <a:p>
            <a:r>
              <a:rPr lang="sv-SE" i="0"/>
              <a:t>Hur skall vi kunna köra en instruktion per klockcykel om det tar många klockcykler att hämta en instruktion!?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2B89A-A8B7-68D3-0079-DA12E06BE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258686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81443-F6D8-EA2C-B715-0E3AAB46B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56D8A-AB58-A96D-137F-480E4C21A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C754E3-CF83-66FD-4EEA-B0FC2D6522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Prata om att det här inte är enkelt. </a:t>
            </a:r>
          </a:p>
          <a:p>
            <a:r>
              <a:rPr lang="sv-SE" i="0"/>
              <a:t>Prefetching: Läs koden i förväg</a:t>
            </a:r>
          </a:p>
          <a:p>
            <a:r>
              <a:rPr lang="sv-SE" i="0"/>
              <a:t>Branch prediction: ...</a:t>
            </a:r>
          </a:p>
          <a:p>
            <a:r>
              <a:rPr lang="sv-SE" i="0"/>
              <a:t>Allt det här kan ni läsa i senare kurser. </a:t>
            </a:r>
          </a:p>
          <a:p>
            <a:endParaRPr lang="sv-SE" i="0"/>
          </a:p>
          <a:p>
            <a:r>
              <a:rPr lang="sv-SE" i="0"/>
              <a:t>Cachar är absolut nödvändiga i alla CPUer idag, och långsamt minne är fortfarande nästan alltid den begränsande faktorn för high performance kod. </a:t>
            </a:r>
          </a:p>
          <a:p>
            <a:endParaRPr lang="sv-SE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AD3E-3006-9333-63C1-1DB831097C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141170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F2F45-7489-5F40-023E-4F003F167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1B61FA-DFEB-F4DF-AA23-43C3CDD9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4A095-D8F2-93D6-39DD-BCF60D4D1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Prata om att det här inte är enkelt. </a:t>
            </a:r>
          </a:p>
          <a:p>
            <a:r>
              <a:rPr lang="sv-SE" i="0"/>
              <a:t>Prefetching: Läs koden i förväg</a:t>
            </a:r>
          </a:p>
          <a:p>
            <a:r>
              <a:rPr lang="sv-SE" i="0"/>
              <a:t>Branch prediction: ...</a:t>
            </a:r>
          </a:p>
          <a:p>
            <a:r>
              <a:rPr lang="sv-SE" i="0"/>
              <a:t>Allt det här kan ni läsa i senare kurser. </a:t>
            </a:r>
          </a:p>
          <a:p>
            <a:endParaRPr lang="sv-SE" i="0"/>
          </a:p>
          <a:p>
            <a:r>
              <a:rPr lang="sv-SE" i="0"/>
              <a:t>Cachar är absolut nödvändiga i alla CPUer idag, och långsamt minne är fortfarande nästan alltid den begränsande faktorn för high performance kod. </a:t>
            </a:r>
          </a:p>
          <a:p>
            <a:endParaRPr lang="sv-SE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A58CF-E08C-ADBF-2A31-B22E688F8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668350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4E96D-9A6F-C4F5-3C7F-F79E9A29F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CF0806-C6F3-0427-72E6-0A0AF07C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AC406-10F2-FF60-CF29-3088A6C53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Prata om att det här inte är enkelt. </a:t>
            </a:r>
          </a:p>
          <a:p>
            <a:r>
              <a:rPr lang="sv-SE" i="0"/>
              <a:t>Prefetching: Läs koden i förväg</a:t>
            </a:r>
          </a:p>
          <a:p>
            <a:r>
              <a:rPr lang="sv-SE" i="0"/>
              <a:t>Branch prediction: ...</a:t>
            </a:r>
          </a:p>
          <a:p>
            <a:r>
              <a:rPr lang="sv-SE" i="0"/>
              <a:t>Allt det här kan ni läsa i senare kurser. </a:t>
            </a:r>
          </a:p>
          <a:p>
            <a:endParaRPr lang="sv-SE" i="0"/>
          </a:p>
          <a:p>
            <a:r>
              <a:rPr lang="sv-SE" i="0"/>
              <a:t>Cachar är absolut nödvändiga i alla CPUer idag, och långsamt minne är fortfarande nästan alltid den begränsande faktorn för high performance kod. </a:t>
            </a:r>
          </a:p>
          <a:p>
            <a:endParaRPr lang="sv-SE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570E0-6B69-0CF5-DBCB-53B9C0618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813709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4C16-36BD-ED0E-A684-2EDBF743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4627BB-C608-17C2-70C5-434ABDA4A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2D1EB-3967-6AC9-8631-17D4F3499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Sedan brakade det på i ungefär tio år. Datorernas hastighet växte exponentiellt. </a:t>
            </a:r>
          </a:p>
          <a:p>
            <a:r>
              <a:rPr lang="sv-SE" i="0"/>
              <a:t>Köpte man en dator 2000 så var den hopplöst uråldrig 2004. </a:t>
            </a:r>
          </a:p>
          <a:p>
            <a:r>
              <a:rPr lang="en-GB" i="0"/>
              <a:t>&lt;click&gt;</a:t>
            </a:r>
          </a:p>
          <a:p>
            <a:r>
              <a:rPr lang="en-GB" i="0"/>
              <a:t>Runt mitten av tv</a:t>
            </a:r>
            <a:r>
              <a:rPr lang="sv-SE" i="0"/>
              <a:t>å</a:t>
            </a:r>
            <a:r>
              <a:rPr lang="en-GB" i="0"/>
              <a:t>tusentalet kom Pentium 4 som gick i nästan 4Ghz. (jfr C64)</a:t>
            </a:r>
          </a:p>
          <a:p>
            <a:endParaRPr lang="en-GB" i="0"/>
          </a:p>
          <a:p>
            <a:r>
              <a:rPr lang="en-GB" i="0"/>
              <a:t>När jag var 25 var datorerna mer än 4000 ggr så snabba som när jag var barn...</a:t>
            </a:r>
          </a:p>
          <a:p>
            <a:endParaRPr lang="en-GB" i="0"/>
          </a:p>
          <a:p>
            <a:r>
              <a:rPr lang="en-GB" i="0"/>
              <a:t>Men vad hände häromkring? </a:t>
            </a:r>
          </a:p>
          <a:p>
            <a:r>
              <a:rPr lang="en-GB" i="0"/>
              <a:t>&lt;click&gt;</a:t>
            </a:r>
          </a:p>
          <a:p>
            <a:r>
              <a:rPr lang="en-GB" i="0"/>
              <a:t>Det blev om</a:t>
            </a:r>
            <a:r>
              <a:rPr lang="sv-SE" i="0"/>
              <a:t>ö</a:t>
            </a:r>
            <a:r>
              <a:rPr lang="en-GB" i="0"/>
              <a:t>jligt att höja klockfrekvensen mycket mer. </a:t>
            </a:r>
          </a:p>
          <a:p>
            <a:r>
              <a:rPr lang="en-GB" i="0"/>
              <a:t>Processorerna blev för varma och drog för mycket ström. </a:t>
            </a:r>
          </a:p>
          <a:p>
            <a:r>
              <a:rPr lang="en-GB" i="0"/>
              <a:t>Lösningen? </a:t>
            </a:r>
            <a:endParaRPr lang="sv-SE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0E447-6359-E7E4-70CE-D635CFC8E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5608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1457-315C-7EFA-6E9F-F41F09FA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B2E82F-FB6D-0091-FDC2-5E6133D3C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1DB0C-4AD1-F8EF-6471-381B0FE386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Men inte heller detta löser det underliggande problemet. </a:t>
            </a:r>
          </a:p>
          <a:p>
            <a:r>
              <a:rPr lang="sv-SE" i="0"/>
              <a:t>Redan långt innan man började slänga på flera cores så blev det klart att det inte var så mycket mening med att fortsätta göra processorer mindre och mindre. </a:t>
            </a:r>
          </a:p>
          <a:p>
            <a:r>
              <a:rPr lang="sv-SE" i="0"/>
              <a:t>Det behövs exponentiellt mer power för att köra dem, så antalet cores man kan klämma in på en processor för en rimlig penning är begränsat.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82890-A078-1F22-72A6-AE39F675E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122423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88543-58F2-FE54-FB6E-6FF4383D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FD7C4-DF05-5417-F9ED-44F1FEA9B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D2B7A-FA61-D8C7-5CFD-940101AB2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Vid sidan av det här har vi förståss GPUer som är en helt annan slags best. </a:t>
            </a:r>
          </a:p>
          <a:p>
            <a:endParaRPr lang="sv-SE" i="0"/>
          </a:p>
          <a:p>
            <a:r>
              <a:rPr lang="sv-SE" i="0"/>
              <a:t>Och AI acceleratorer som skulle kunna bli en helt annan slags best. </a:t>
            </a:r>
          </a:p>
          <a:p>
            <a:endParaRPr lang="sv-SE" i="0"/>
          </a:p>
          <a:p>
            <a:r>
              <a:rPr lang="sv-SE" i="0"/>
              <a:t>Här hade jag kunnat predika vad jag tror om framtiden, men jag hade säkert haft fel. Vad tror ni?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89D17-BAEC-F7FC-2E05-DEE221243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27224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först att jag gått igenom ”Bug reports” på diskussionsforumen och försökt räkna, och att om jag gjort fel och någon känner sig felbehandlad får dom säga till.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74672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D43F1B-5C31-8357-7C5B-028155F6D0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1688" y="1333500"/>
            <a:ext cx="10552112" cy="4702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83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452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03/13/2026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3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12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Framtiden och Avslutningsceremoni</a:t>
            </a:r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33FFD-898D-B127-DC19-44300542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65DFB7-6161-15E4-0DE5-BCC3C8C9F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96" y="3818177"/>
            <a:ext cx="2209404" cy="12060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B88708-1690-EFF5-B8B0-8CBA8E7DBDC3}"/>
              </a:ext>
            </a:extLst>
          </p:cNvPr>
          <p:cNvSpPr txBox="1"/>
          <p:nvPr/>
        </p:nvSpPr>
        <p:spPr>
          <a:xfrm>
            <a:off x="294021" y="4687973"/>
            <a:ext cx="3549370" cy="21929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C64</a:t>
            </a:r>
          </a:p>
          <a:p>
            <a:r>
              <a:rPr lang="sv-SE" sz="1050"/>
              <a:t>MOS6510</a:t>
            </a:r>
          </a:p>
          <a:p>
            <a:r>
              <a:rPr lang="sv-SE" sz="1050"/>
              <a:t>1982 – 1MHz</a:t>
            </a:r>
          </a:p>
          <a:p>
            <a:r>
              <a:rPr lang="sv-SE" sz="1050"/>
              <a:t>(memory was 2Mhz, graphics card could use the off-cycle)</a:t>
            </a:r>
          </a:p>
          <a:p>
            <a:r>
              <a:rPr lang="sv-SE" sz="1050"/>
              <a:t>Register som FLISP (8 bitar, 16bitars addressrymd)</a:t>
            </a:r>
          </a:p>
          <a:p>
            <a:r>
              <a:rPr lang="sv-SE" sz="1050"/>
              <a:t>Interrupts (timers)</a:t>
            </a:r>
          </a:p>
          <a:p>
            <a:r>
              <a:rPr lang="sv-SE" sz="1050"/>
              <a:t>Joysticks (polla ”gpio” som för keypad)</a:t>
            </a:r>
          </a:p>
          <a:p>
            <a:r>
              <a:rPr lang="sv-SE" sz="1050"/>
              <a:t>Speciella Grafik och Ljud chip</a:t>
            </a:r>
            <a:br>
              <a:rPr lang="sv-SE" sz="1050"/>
            </a:br>
            <a:r>
              <a:rPr lang="sv-SE" sz="1050"/>
              <a:t>(peripherals) som man styrde via </a:t>
            </a:r>
            <a:br>
              <a:rPr lang="sv-SE" sz="1050"/>
            </a:br>
            <a:r>
              <a:rPr lang="sv-SE" sz="1050"/>
              <a:t>MMIO</a:t>
            </a:r>
          </a:p>
          <a:p>
            <a:r>
              <a:rPr lang="sv-SE" sz="1050"/>
              <a:t>Dom kan lätt programmera denna</a:t>
            </a:r>
          </a:p>
          <a:p>
            <a:endParaRPr lang="sv-SE" sz="1050"/>
          </a:p>
          <a:p>
            <a:endParaRPr lang="LID4096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368B52-3F15-C5D6-87B7-5F2935E83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586" y="1879435"/>
            <a:ext cx="3189255" cy="23379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3D4A899-276C-F8F9-EC0C-9F318DA416C8}"/>
              </a:ext>
            </a:extLst>
          </p:cNvPr>
          <p:cNvSpPr txBox="1"/>
          <p:nvPr/>
        </p:nvSpPr>
        <p:spPr>
          <a:xfrm>
            <a:off x="3831931" y="4217391"/>
            <a:ext cx="259558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Amiga 500</a:t>
            </a:r>
          </a:p>
          <a:p>
            <a:r>
              <a:rPr lang="sv-SE" sz="1050"/>
              <a:t>Motorola 68000 CPU</a:t>
            </a:r>
            <a:br>
              <a:rPr lang="sv-SE" sz="1050"/>
            </a:br>
            <a:r>
              <a:rPr lang="sv-SE" sz="1050"/>
              <a:t>1987 – 7 Mhz</a:t>
            </a:r>
          </a:p>
          <a:p>
            <a:endParaRPr lang="sv-SE" sz="1050"/>
          </a:p>
          <a:p>
            <a:r>
              <a:rPr lang="sv-SE" sz="1050"/>
              <a:t>24 bit addres space (16MB)</a:t>
            </a:r>
          </a:p>
          <a:p>
            <a:r>
              <a:rPr lang="sv-SE" sz="1050"/>
              <a:t>16x 32-bitars register</a:t>
            </a:r>
          </a:p>
          <a:p>
            <a:r>
              <a:rPr lang="sv-SE" sz="1050"/>
              <a:t>Privelege modes</a:t>
            </a:r>
          </a:p>
          <a:p>
            <a:endParaRPr lang="sv-SE" sz="1050"/>
          </a:p>
          <a:p>
            <a:r>
              <a:rPr lang="sv-SE" sz="1050"/>
              <a:t>Grafik och ljudchip via MMIO</a:t>
            </a:r>
          </a:p>
          <a:p>
            <a:r>
              <a:rPr lang="sv-SE" sz="1050" b="1"/>
              <a:t>DMA!</a:t>
            </a:r>
          </a:p>
          <a:p>
            <a:endParaRPr lang="sv-SE" sz="1050"/>
          </a:p>
          <a:p>
            <a:r>
              <a:rPr lang="sv-SE" sz="1050"/>
              <a:t>No mmu</a:t>
            </a:r>
          </a:p>
          <a:p>
            <a:r>
              <a:rPr lang="sv-SE" sz="1050"/>
              <a:t>Floating point optional </a:t>
            </a:r>
          </a:p>
          <a:p>
            <a:endParaRPr lang="sv-SE" sz="1050"/>
          </a:p>
          <a:p>
            <a:r>
              <a:rPr lang="sv-SE" sz="1050"/>
              <a:t>Multitasking! But the programs addresses</a:t>
            </a:r>
          </a:p>
          <a:p>
            <a:r>
              <a:rPr lang="sv-SE" sz="1050"/>
              <a:t>must be modified on load.</a:t>
            </a:r>
          </a:p>
        </p:txBody>
      </p:sp>
      <p:pic>
        <p:nvPicPr>
          <p:cNvPr id="1026" name="Picture 2" descr="IBM PC 5150">
            <a:extLst>
              <a:ext uri="{FF2B5EF4-FFF2-40B4-BE49-F238E27FC236}">
                <a16:creationId xmlns:a16="http://schemas.microsoft.com/office/drawing/2014/main" id="{2E595262-254F-255E-BB14-0CA8F3597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0145" y="2640609"/>
            <a:ext cx="2595582" cy="1910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C7FBBD-DF91-DEFB-4B31-2E9BEAB08DBF}"/>
              </a:ext>
            </a:extLst>
          </p:cNvPr>
          <p:cNvSpPr txBox="1"/>
          <p:nvPr/>
        </p:nvSpPr>
        <p:spPr>
          <a:xfrm>
            <a:off x="6486665" y="4550871"/>
            <a:ext cx="35621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IBM 386</a:t>
            </a:r>
          </a:p>
          <a:p>
            <a:r>
              <a:rPr lang="sv-SE" sz="1050"/>
              <a:t>~1987 -  16-33Mhz</a:t>
            </a:r>
          </a:p>
          <a:p>
            <a:r>
              <a:rPr lang="sv-SE" sz="1050"/>
              <a:t>32 bit address space (4GB!!)</a:t>
            </a:r>
          </a:p>
          <a:p>
            <a:r>
              <a:rPr lang="sv-SE" sz="1050" b="1"/>
              <a:t>Address translation (paging MMU)</a:t>
            </a:r>
          </a:p>
          <a:p>
            <a:r>
              <a:rPr lang="sv-SE" sz="1050"/>
              <a:t>FPU optional</a:t>
            </a:r>
          </a:p>
          <a:p>
            <a:r>
              <a:rPr lang="sv-SE" sz="1050"/>
              <a:t>ISA Bus, for graphics, sound, networking cards</a:t>
            </a:r>
          </a:p>
          <a:p>
            <a:r>
              <a:rPr lang="sv-SE" sz="1050"/>
              <a:t>(port mapped, essenitally MMIO but separate instructions)</a:t>
            </a:r>
          </a:p>
          <a:p>
            <a:endParaRPr lang="sv-SE" sz="10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D71AF4E-37BB-E1CE-BCDE-7EAD5CC07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5176" y="2015591"/>
            <a:ext cx="1713088" cy="18819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1026FD-A1A5-8704-3F5B-6FDCCC69E423}"/>
              </a:ext>
            </a:extLst>
          </p:cNvPr>
          <p:cNvSpPr txBox="1"/>
          <p:nvPr/>
        </p:nvSpPr>
        <p:spPr>
          <a:xfrm>
            <a:off x="9945819" y="4101222"/>
            <a:ext cx="20608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50"/>
              <a:t>486: </a:t>
            </a:r>
          </a:p>
          <a:p>
            <a:r>
              <a:rPr lang="sv-SE" sz="1050"/>
              <a:t>Early nineties – 25-66MHz</a:t>
            </a:r>
          </a:p>
          <a:p>
            <a:r>
              <a:rPr lang="sv-SE" sz="1050" b="1"/>
              <a:t>Memory cache</a:t>
            </a:r>
          </a:p>
          <a:p>
            <a:r>
              <a:rPr lang="sv-SE" sz="1050"/>
              <a:t>On-chip FPU</a:t>
            </a:r>
          </a:p>
          <a:p>
            <a:r>
              <a:rPr lang="sv-SE" sz="1050" b="1"/>
              <a:t>Pipelining </a:t>
            </a:r>
          </a:p>
          <a:p>
            <a:endParaRPr lang="sv-SE" sz="1050"/>
          </a:p>
          <a:p>
            <a:r>
              <a:rPr lang="sv-SE" sz="1050"/>
              <a:t>Pentium: </a:t>
            </a:r>
          </a:p>
          <a:p>
            <a:r>
              <a:rPr lang="sv-SE" sz="1050"/>
              <a:t>Mid nineties – 60 – 200MHz</a:t>
            </a:r>
          </a:p>
          <a:p>
            <a:r>
              <a:rPr lang="sv-SE" sz="1050"/>
              <a:t>Two pipelines!</a:t>
            </a:r>
          </a:p>
          <a:p>
            <a:endParaRPr lang="sv-SE" sz="1050"/>
          </a:p>
          <a:p>
            <a:r>
              <a:rPr lang="sv-SE" sz="1050" b="1"/>
              <a:t>Branch prediction</a:t>
            </a:r>
          </a:p>
          <a:p>
            <a:r>
              <a:rPr lang="sv-SE" sz="1050"/>
              <a:t>Support for SMP</a:t>
            </a:r>
          </a:p>
          <a:p>
            <a:r>
              <a:rPr lang="sv-SE" sz="1050"/>
              <a:t>PCI introduces dynamic port addresses</a:t>
            </a:r>
          </a:p>
          <a:p>
            <a:endParaRPr lang="sv-SE" sz="1050"/>
          </a:p>
          <a:p>
            <a:endParaRPr lang="sv-SE" sz="10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077EDB-96DC-14B7-D778-9CA6672C872A}"/>
              </a:ext>
            </a:extLst>
          </p:cNvPr>
          <p:cNvSpPr txBox="1"/>
          <p:nvPr/>
        </p:nvSpPr>
        <p:spPr>
          <a:xfrm>
            <a:off x="6269446" y="5915794"/>
            <a:ext cx="2060885" cy="5770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/>
              <a:t>Mid 2000 – Power and heat wall</a:t>
            </a:r>
          </a:p>
          <a:p>
            <a:r>
              <a:rPr lang="sv-SE" sz="1050"/>
              <a:t>No higher clock frequencies, many cores instead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B44FEC-D15A-06B9-5AC5-0B1816C81E24}"/>
              </a:ext>
            </a:extLst>
          </p:cNvPr>
          <p:cNvSpPr txBox="1"/>
          <p:nvPr/>
        </p:nvSpPr>
        <p:spPr>
          <a:xfrm>
            <a:off x="8146245" y="6123543"/>
            <a:ext cx="2060885" cy="73866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/>
              <a:t>Mid 2010 – Dennard scaling ended (power does not scale with transistor size</a:t>
            </a:r>
          </a:p>
          <a:p>
            <a:r>
              <a:rPr lang="sv-SE" sz="1050"/>
              <a:t>Can’t increase cores forever)</a:t>
            </a:r>
          </a:p>
        </p:txBody>
      </p:sp>
    </p:spTree>
    <p:extLst>
      <p:ext uri="{BB962C8B-B14F-4D97-AF65-F5344CB8AC3E}">
        <p14:creationId xmlns:p14="http://schemas.microsoft.com/office/powerpoint/2010/main" val="2108462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1035F-8E6A-76C7-5638-B4E5DD413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05981E-8AEE-C4CB-6F31-A771840D57C8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5B1EA0-6CD1-283B-C66C-E36C8F0FED4C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8A79C6-1D14-142D-F504-BB55CB793CF9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A67436-CC8A-B158-AFCF-525BF52F5E2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D951BB-A9BC-79B8-D05B-CC1FBCA0BD50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FE8AA8-F53D-2AD2-0E8C-0EFA5BBB1F3D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E589F2-EE5B-2CE0-22C6-A5A3445D2B74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8885B14-3DEA-799E-BF1D-6649CF0B7856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1DA028E-5F43-845D-187F-6E3F2BDB7704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DB5881-0C91-7950-A34F-E4885B25F01C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5CFAC6E-AE21-ACBD-B5A3-2D0F7C928646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50AAB8B-8E28-380F-66BE-B34BFEC52B8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B59184A-1580-9F22-7EEB-F4C0E531A5DD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B000840-01C7-292A-3301-41767F866B8D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A0F8A16-A08F-41FD-318E-56EB8A71DEF2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3D57600-F596-6BF1-90A4-C4447129CCB3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EB1BC4B-515B-03D8-918E-98D9990AEF40}"/>
              </a:ext>
            </a:extLst>
          </p:cNvPr>
          <p:cNvGrpSpPr/>
          <p:nvPr/>
        </p:nvGrpSpPr>
        <p:grpSpPr>
          <a:xfrm>
            <a:off x="2433914" y="3960914"/>
            <a:ext cx="2103001" cy="1268120"/>
            <a:chOff x="2433914" y="3960914"/>
            <a:chExt cx="2103001" cy="126812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56A2620-6AF7-1251-650D-2F3E1074B457}"/>
                </a:ext>
              </a:extLst>
            </p:cNvPr>
            <p:cNvSpPr/>
            <p:nvPr/>
          </p:nvSpPr>
          <p:spPr>
            <a:xfrm>
              <a:off x="2476474" y="3960914"/>
              <a:ext cx="316694" cy="316694"/>
            </a:xfrm>
            <a:prstGeom prst="ellipse">
              <a:avLst/>
            </a:prstGeom>
            <a:solidFill>
              <a:srgbClr val="FF0000"/>
            </a:solidFill>
            <a:ln w="508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Arrow: Curved Down 22">
              <a:extLst>
                <a:ext uri="{FF2B5EF4-FFF2-40B4-BE49-F238E27FC236}">
                  <a16:creationId xmlns:a16="http://schemas.microsoft.com/office/drawing/2014/main" id="{82877B9F-2576-F2C0-DAFD-4A05D677850D}"/>
                </a:ext>
              </a:extLst>
            </p:cNvPr>
            <p:cNvSpPr/>
            <p:nvPr/>
          </p:nvSpPr>
          <p:spPr>
            <a:xfrm rot="14367453">
              <a:off x="2068149" y="4430612"/>
              <a:ext cx="1164187" cy="432657"/>
            </a:xfrm>
            <a:prstGeom prst="curved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1F57B94-B355-F778-3459-A6FEB5AE3E33}"/>
                </a:ext>
              </a:extLst>
            </p:cNvPr>
            <p:cNvSpPr txBox="1"/>
            <p:nvPr/>
          </p:nvSpPr>
          <p:spPr>
            <a:xfrm>
              <a:off x="3132363" y="4789675"/>
              <a:ext cx="1404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Bradley Hand ITC" panose="03070402050302030203" pitchFamily="66" charset="0"/>
                </a:rPr>
                <a:t>You are here!</a:t>
              </a:r>
              <a:endParaRPr lang="LID4096" b="1">
                <a:latin typeface="Bradley Hand ITC" panose="030704020503020302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6307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41A-8DED-0FAF-649C-40175A7E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CD20C-CFF7-7C40-9385-83F960710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23F2CF-6061-78DF-1F54-6539CEB3FC24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B9FFF9B-FC64-48C7-AC1D-14D30F326009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8FF9C06-2FA8-B9A8-E1F7-F7C01018B7FB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71CAC-15F2-6D7F-6210-E2637E7503F3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2E4EF4-A2EF-BD8E-0167-E50E1E021FC8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AB20F04-2160-B4DB-FEC5-8A03CD55714A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FB35076-6BF2-8487-9E39-A5B58E1B43BC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3FEC938-EE9A-8C1A-9B73-143A68AD9C97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6B5733-1D08-CB77-B19C-B1C3F83600AC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604AECA-1089-2852-D673-39ED27B2C037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A15F42F-A8A5-17C7-7E68-208F9654CADD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F0A745-6166-63E1-CA17-DEB830EC378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7A4CEFB-29E6-1993-CF3F-41AE163CCF35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B93939-CBA5-4A5A-1199-86C61A9030C9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0826DB-D0C3-EAE6-BDF8-4B160D374681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70137FF-4059-9FAE-8B01-34FF19727D9B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6058D0B-90ED-7849-8867-BBD0D6137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313" y="4646940"/>
            <a:ext cx="3842524" cy="2097499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E08C8A-79D6-A7E3-94A8-A46866327D57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C395805-B293-9F38-52E6-11B477F648F9}"/>
              </a:ext>
            </a:extLst>
          </p:cNvPr>
          <p:cNvGrpSpPr/>
          <p:nvPr/>
        </p:nvGrpSpPr>
        <p:grpSpPr>
          <a:xfrm>
            <a:off x="410365" y="1977765"/>
            <a:ext cx="3515483" cy="2174061"/>
            <a:chOff x="410365" y="1977765"/>
            <a:chExt cx="3515483" cy="217406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382042-E695-0996-6E97-45199A8943B0}"/>
                </a:ext>
              </a:extLst>
            </p:cNvPr>
            <p:cNvSpPr txBox="1"/>
            <p:nvPr/>
          </p:nvSpPr>
          <p:spPr>
            <a:xfrm>
              <a:off x="410365" y="1977765"/>
              <a:ext cx="3515483" cy="16619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Commodore 64 (1982)</a:t>
              </a:r>
            </a:p>
            <a:p>
              <a:r>
                <a:rPr lang="sv-SE" sz="900"/>
                <a:t>CPU: MOS6510 – 1MHz</a:t>
              </a:r>
            </a:p>
            <a:p>
              <a:r>
                <a:rPr lang="sv-SE" sz="900"/>
                <a:t>Registers: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sv-SE" sz="900"/>
                <a:t>A, X, Y, SP (8 bits) PC(16 bits)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sv-SE" sz="900"/>
                <a:t>Mycket lik FLISP</a:t>
              </a:r>
            </a:p>
            <a:p>
              <a:r>
                <a:rPr lang="sv-SE" sz="900"/>
                <a:t>Interrupts och 4 timers</a:t>
              </a:r>
            </a:p>
            <a:p>
              <a:r>
                <a:rPr lang="sv-SE" sz="900"/>
                <a:t>Läsa av joysticken = Läs en GPIO port</a:t>
              </a:r>
            </a:p>
            <a:p>
              <a:r>
                <a:rPr lang="sv-SE" sz="900"/>
                <a:t>Rita upp en sprite på skärmen = Skriv till grafikkretsens register</a:t>
              </a:r>
            </a:p>
            <a:p>
              <a:r>
                <a:rPr lang="sv-SE" sz="900"/>
                <a:t>Spela ljud = Skriv till ljudkretsens register</a:t>
              </a:r>
            </a:p>
            <a:p>
              <a:r>
                <a:rPr lang="sv-SE" sz="900" b="1"/>
                <a:t>Ni kan allt som behövs för att programmera </a:t>
              </a:r>
            </a:p>
            <a:p>
              <a:r>
                <a:rPr lang="sv-SE" sz="900" b="1"/>
                <a:t>assembler på den här maskinen!</a:t>
              </a:r>
              <a:endParaRPr lang="LID4096" sz="105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EDD5DF8-8FEF-F6DA-C2F9-6B0486D16A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484" y="3639758"/>
              <a:ext cx="0" cy="5120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E3CE87C-4312-3EDC-BEA9-666C9CF3126C}"/>
              </a:ext>
            </a:extLst>
          </p:cNvPr>
          <p:cNvSpPr txBox="1"/>
          <p:nvPr/>
        </p:nvSpPr>
        <p:spPr>
          <a:xfrm>
            <a:off x="1890827" y="3567050"/>
            <a:ext cx="238115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800" b="1" u="sng"/>
              <a:t>Bonusfakta: </a:t>
            </a:r>
          </a:p>
          <a:p>
            <a:r>
              <a:rPr lang="sv-SE" sz="800"/>
              <a:t>Minnet var dubbelt så snabbt som CPUn, så grafikkortet kunde läsa vad processorn skrivit</a:t>
            </a:r>
            <a:br>
              <a:rPr lang="sv-SE" sz="800"/>
            </a:br>
            <a:r>
              <a:rPr lang="sv-SE" sz="800" i="1"/>
              <a:t>mellan</a:t>
            </a:r>
            <a:r>
              <a:rPr lang="sv-SE" sz="800"/>
              <a:t> klockcykler</a:t>
            </a:r>
            <a:endParaRPr lang="LID4096" sz="600"/>
          </a:p>
        </p:txBody>
      </p:sp>
    </p:spTree>
    <p:extLst>
      <p:ext uri="{BB962C8B-B14F-4D97-AF65-F5344CB8AC3E}">
        <p14:creationId xmlns:p14="http://schemas.microsoft.com/office/powerpoint/2010/main" val="1284134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6FA12-384F-040C-78AC-5C976AAA7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109D8-E59A-336D-5267-EEA7D9D47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C921DE4-D922-C02C-4553-6D6093114755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37B6C8-3569-8F84-9E67-DB7D52182A84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8BC2BC-5488-AE90-8F7C-412E13E65AFA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87A646-CFF9-9F43-C332-18DA0BE0339E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54AFF1D-9066-7F72-43CE-5A52694A37DE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C969940-AF3E-CA8E-CC93-021EB38E7C53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319C495-3B8F-34DF-4E47-EF0261BB645D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D49792-939C-3757-9E4D-19AF5CE48E95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A49973C-0FC4-230F-30E9-69EC24B6BC7B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7808A33-9FE0-B422-D91D-7B1A8500EB9B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E1F71F-BC9F-01D5-5C98-87875322752B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1B04DAC-9539-C619-3682-3E9B8CD1D262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0D0819-98BF-2D1C-B7BF-EBDB56E71C22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89BCC1-F01E-35D1-4BD6-050967C7C2FD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76C4F1C-CD5D-43CE-0DAC-7F6F21490E83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FC9599-768F-264B-ED43-C760AA56E6DF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ACF204AC-FEF1-B36A-DBF6-1F3862462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3A91B95-50F2-4456-65D1-0A84ABFFBE72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8E9A690-FDE5-1296-44C3-3AA4E3789885}"/>
              </a:ext>
            </a:extLst>
          </p:cNvPr>
          <p:cNvGrpSpPr/>
          <p:nvPr/>
        </p:nvGrpSpPr>
        <p:grpSpPr>
          <a:xfrm>
            <a:off x="1882076" y="1947430"/>
            <a:ext cx="2270638" cy="2174061"/>
            <a:chOff x="410366" y="1977765"/>
            <a:chExt cx="2270638" cy="2174061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4A46BD-5453-3E87-5FFE-FDC4B2CCC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484" y="3639758"/>
              <a:ext cx="0" cy="5120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1FA7D64-8523-E67A-5CE9-C889879A865F}"/>
                </a:ext>
              </a:extLst>
            </p:cNvPr>
            <p:cNvSpPr txBox="1"/>
            <p:nvPr/>
          </p:nvSpPr>
          <p:spPr>
            <a:xfrm>
              <a:off x="410366" y="1977765"/>
              <a:ext cx="2270638" cy="18004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Commodore Amiga 500 (1987)</a:t>
              </a:r>
            </a:p>
            <a:p>
              <a:r>
                <a:rPr lang="sv-SE" sz="900"/>
                <a:t>CPU: Motorola 68000 – 7 Mhz</a:t>
              </a:r>
            </a:p>
            <a:p>
              <a:r>
                <a:rPr lang="sv-SE" sz="900"/>
                <a:t>Register: 16 st 32-bitars register</a:t>
              </a:r>
            </a:p>
            <a:p>
              <a:r>
                <a:rPr lang="sv-SE" sz="900"/>
                <a:t>Addressrymd: 24 bitar (16 MB)</a:t>
              </a:r>
            </a:p>
            <a:p>
              <a:endParaRPr lang="sv-SE" sz="900" b="1"/>
            </a:p>
            <a:p>
              <a:r>
                <a:rPr lang="sv-SE" sz="900"/>
                <a:t>Interrupts och kommunikation med grafik och ljudchip funkar som ni lärt er, men den introducerar två saker som vi inte gått igenom ännu:</a:t>
              </a:r>
            </a:p>
            <a:p>
              <a:endParaRPr lang="sv-SE" sz="900" b="1"/>
            </a:p>
            <a:p>
              <a:r>
                <a:rPr lang="sv-SE" sz="900" b="1"/>
                <a:t>Multitasking </a:t>
              </a:r>
              <a:r>
                <a:rPr lang="sv-SE" sz="900"/>
                <a:t>och</a:t>
              </a:r>
              <a:endParaRPr lang="sv-SE" sz="900" b="1"/>
            </a:p>
            <a:p>
              <a:r>
                <a:rPr lang="sv-SE" sz="900"/>
                <a:t>DMA</a:t>
              </a:r>
              <a:endParaRPr lang="LID4096" sz="1050"/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99438FF-ADBE-6B52-B66B-7019540AC4B5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2BE50AB-7506-5907-EB0F-A1AF3616B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730" y="4660322"/>
            <a:ext cx="2410420" cy="176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1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D18C6-AB2D-1E9A-8D19-042881B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Multitasking</a:t>
            </a:r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001B19-A4AD-6416-EB38-3FE7B15576FE}"/>
              </a:ext>
            </a:extLst>
          </p:cNvPr>
          <p:cNvSpPr txBox="1"/>
          <p:nvPr/>
        </p:nvSpPr>
        <p:spPr>
          <a:xfrm>
            <a:off x="1049330" y="3508834"/>
            <a:ext cx="2376325" cy="21113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.org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0x20000000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fmt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mv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printf          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loop    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fmt_str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 %i</a:t>
            </a:r>
            <a:r>
              <a:rPr lang="en-US" sz="1050" b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5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4598C1-4356-035F-899B-0625E61A3999}"/>
              </a:ext>
            </a:extLst>
          </p:cNvPr>
          <p:cNvSpPr txBox="1"/>
          <p:nvPr/>
        </p:nvSpPr>
        <p:spPr>
          <a:xfrm>
            <a:off x="8894029" y="3508834"/>
            <a:ext cx="2376325" cy="21113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.org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0x20000</a:t>
            </a:r>
            <a:r>
              <a:rPr lang="en-US" sz="105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00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fmt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mv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  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printf          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loop    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fmt_str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 %i</a:t>
            </a:r>
            <a:r>
              <a:rPr lang="en-US" sz="1050" b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5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7F171B-1086-90AA-0B18-68A897553236}"/>
              </a:ext>
            </a:extLst>
          </p:cNvPr>
          <p:cNvSpPr txBox="1"/>
          <p:nvPr/>
        </p:nvSpPr>
        <p:spPr>
          <a:xfrm>
            <a:off x="4138822" y="3429000"/>
            <a:ext cx="4042039" cy="9797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systick_handler:</a:t>
            </a:r>
          </a:p>
          <a:p>
            <a:pPr>
              <a:lnSpc>
                <a:spcPts val="1425"/>
              </a:lnSpc>
              <a:buNone/>
            </a:pPr>
            <a:r>
              <a:rPr lang="en-US" sz="1050">
                <a:solidFill>
                  <a:srgbClr val="CCCCCC"/>
                </a:solidFill>
                <a:latin typeface="Consolas" panose="020B0609020204030204" pitchFamily="49" charset="0"/>
              </a:rPr>
              <a:t>  Every millisecond: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- Save ALL registers on stack (including PC)</a:t>
            </a:r>
          </a:p>
          <a:p>
            <a:pPr>
              <a:lnSpc>
                <a:spcPts val="1425"/>
              </a:lnSpc>
              <a:buNone/>
            </a:pPr>
            <a:r>
              <a:rPr lang="en-US" sz="1050">
                <a:solidFill>
                  <a:srgbClr val="CCCCCC"/>
                </a:solidFill>
                <a:latin typeface="Consolas" panose="020B0609020204030204" pitchFamily="49" charset="0"/>
              </a:rPr>
              <a:t>  - Swap SP and stored_sp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- Restore ALL registers (including PC)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97CF6F-7EF7-8084-98ED-7E7D6E9BC8DA}"/>
              </a:ext>
            </a:extLst>
          </p:cNvPr>
          <p:cNvSpPr txBox="1"/>
          <p:nvPr/>
        </p:nvSpPr>
        <p:spPr>
          <a:xfrm>
            <a:off x="1049330" y="3156229"/>
            <a:ext cx="1201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Program A</a:t>
            </a:r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878425-B172-11CA-8262-7570DA8EEFD4}"/>
              </a:ext>
            </a:extLst>
          </p:cNvPr>
          <p:cNvSpPr txBox="1"/>
          <p:nvPr/>
        </p:nvSpPr>
        <p:spPr>
          <a:xfrm>
            <a:off x="8833625" y="3156229"/>
            <a:ext cx="1204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Program B</a:t>
            </a:r>
            <a:endParaRPr lang="LID4096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F4B8C96-C588-E4C9-0D40-D5922B85698C}"/>
              </a:ext>
            </a:extLst>
          </p:cNvPr>
          <p:cNvGrpSpPr/>
          <p:nvPr/>
        </p:nvGrpSpPr>
        <p:grpSpPr>
          <a:xfrm>
            <a:off x="3965374" y="4905419"/>
            <a:ext cx="4366817" cy="670635"/>
            <a:chOff x="3965374" y="4905419"/>
            <a:chExt cx="4366817" cy="67063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9792B2F-94C2-0211-10CB-57AF109D1050}"/>
                </a:ext>
              </a:extLst>
            </p:cNvPr>
            <p:cNvGrpSpPr/>
            <p:nvPr/>
          </p:nvGrpSpPr>
          <p:grpSpPr>
            <a:xfrm>
              <a:off x="3965374" y="5290137"/>
              <a:ext cx="4366817" cy="285917"/>
              <a:chOff x="3965374" y="5290137"/>
              <a:chExt cx="4366817" cy="285917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98E84DF8-AD06-3809-BF83-A9228D2729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65374" y="5290139"/>
                <a:ext cx="4366817" cy="0"/>
              </a:xfrm>
              <a:prstGeom prst="line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98CC674-5ABE-0485-6449-C416A69165C7}"/>
                  </a:ext>
                </a:extLst>
              </p:cNvPr>
              <p:cNvSpPr txBox="1"/>
              <p:nvPr/>
            </p:nvSpPr>
            <p:spPr>
              <a:xfrm>
                <a:off x="4138822" y="5290139"/>
                <a:ext cx="55310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txBody>
              <a:bodyPr wrap="square" lIns="36000" tIns="0" rIns="36000" bIns="0" rtlCol="0">
                <a:spAutoFit/>
              </a:bodyPr>
              <a:lstStyle/>
              <a:p>
                <a:r>
                  <a:rPr lang="sv-SE"/>
                  <a:t>A  </a:t>
                </a:r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7568389-2B04-7C1A-9C3E-111043810FE4}"/>
                  </a:ext>
                </a:extLst>
              </p:cNvPr>
              <p:cNvSpPr txBox="1"/>
              <p:nvPr/>
            </p:nvSpPr>
            <p:spPr>
              <a:xfrm>
                <a:off x="4718685" y="5290137"/>
                <a:ext cx="553100" cy="276999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lIns="36000" tIns="0" rIns="36000" bIns="0" rtlCol="0">
                <a:spAutoFit/>
              </a:bodyPr>
              <a:lstStyle/>
              <a:p>
                <a:r>
                  <a:rPr lang="sv-SE"/>
                  <a:t>B  </a:t>
                </a:r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AB471A-C9B9-3435-8E71-964A8BA854F0}"/>
                  </a:ext>
                </a:extLst>
              </p:cNvPr>
              <p:cNvSpPr txBox="1"/>
              <p:nvPr/>
            </p:nvSpPr>
            <p:spPr>
              <a:xfrm>
                <a:off x="5293576" y="5294597"/>
                <a:ext cx="55310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txBody>
              <a:bodyPr wrap="square" lIns="36000" tIns="0" rIns="36000" bIns="0" rtlCol="0">
                <a:spAutoFit/>
              </a:bodyPr>
              <a:lstStyle/>
              <a:p>
                <a:r>
                  <a:rPr lang="sv-SE"/>
                  <a:t>A  </a:t>
                </a:r>
                <a:endParaRPr lang="LID4096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9493EA8-A11F-AE4D-29A2-67932BCFE2CF}"/>
                  </a:ext>
                </a:extLst>
              </p:cNvPr>
              <p:cNvSpPr txBox="1"/>
              <p:nvPr/>
            </p:nvSpPr>
            <p:spPr>
              <a:xfrm>
                <a:off x="6448330" y="5299055"/>
                <a:ext cx="55310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3">
                    <a:lumMod val="50000"/>
                  </a:schemeClr>
                </a:solidFill>
              </a:ln>
            </p:spPr>
            <p:txBody>
              <a:bodyPr wrap="square" lIns="36000" tIns="0" rIns="36000" bIns="0" rtlCol="0">
                <a:spAutoFit/>
              </a:bodyPr>
              <a:lstStyle/>
              <a:p>
                <a:r>
                  <a:rPr lang="sv-SE"/>
                  <a:t>A  </a:t>
                </a:r>
                <a:endParaRPr lang="LID4096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7E72B2C-0E18-C9E8-A218-83BD439AC207}"/>
                  </a:ext>
                </a:extLst>
              </p:cNvPr>
              <p:cNvSpPr txBox="1"/>
              <p:nvPr/>
            </p:nvSpPr>
            <p:spPr>
              <a:xfrm>
                <a:off x="5868467" y="5299055"/>
                <a:ext cx="553100" cy="276999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lIns="36000" tIns="0" rIns="36000" bIns="0" rtlCol="0">
                <a:spAutoFit/>
              </a:bodyPr>
              <a:lstStyle/>
              <a:p>
                <a:r>
                  <a:rPr lang="sv-SE"/>
                  <a:t>B  </a:t>
                </a:r>
                <a:endParaRPr lang="LID4096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82A9391-F18E-962D-8633-7958F13B0763}"/>
                  </a:ext>
                </a:extLst>
              </p:cNvPr>
              <p:cNvSpPr txBox="1"/>
              <p:nvPr/>
            </p:nvSpPr>
            <p:spPr>
              <a:xfrm>
                <a:off x="7031629" y="5299053"/>
                <a:ext cx="553100" cy="276999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lIns="36000" tIns="0" rIns="36000" bIns="0" rtlCol="0">
                <a:spAutoFit/>
              </a:bodyPr>
              <a:lstStyle/>
              <a:p>
                <a:r>
                  <a:rPr lang="sv-SE"/>
                  <a:t>B  </a:t>
                </a:r>
                <a:endParaRPr lang="LID4096"/>
              </a:p>
            </p:txBody>
          </p:sp>
        </p:grpSp>
        <p:sp>
          <p:nvSpPr>
            <p:cNvPr id="28" name="Right Brace 27">
              <a:extLst>
                <a:ext uri="{FF2B5EF4-FFF2-40B4-BE49-F238E27FC236}">
                  <a16:creationId xmlns:a16="http://schemas.microsoft.com/office/drawing/2014/main" id="{FD4245C9-F486-C29D-1FC8-CEFE855F7495}"/>
                </a:ext>
              </a:extLst>
            </p:cNvPr>
            <p:cNvSpPr/>
            <p:nvPr/>
          </p:nvSpPr>
          <p:spPr>
            <a:xfrm rot="16200000">
              <a:off x="4350771" y="4877469"/>
              <a:ext cx="129206" cy="553101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AA405F4-1568-A06D-B63D-DD18CD798255}"/>
                </a:ext>
              </a:extLst>
            </p:cNvPr>
            <p:cNvSpPr txBox="1"/>
            <p:nvPr/>
          </p:nvSpPr>
          <p:spPr>
            <a:xfrm>
              <a:off x="4228542" y="4905419"/>
              <a:ext cx="37702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/>
                <a:t>1ms</a:t>
              </a:r>
              <a:endParaRPr lang="LID4096" sz="800"/>
            </a:p>
          </p:txBody>
        </p:sp>
        <p:sp>
          <p:nvSpPr>
            <p:cNvPr id="30" name="Right Brace 29">
              <a:extLst>
                <a:ext uri="{FF2B5EF4-FFF2-40B4-BE49-F238E27FC236}">
                  <a16:creationId xmlns:a16="http://schemas.microsoft.com/office/drawing/2014/main" id="{F9910FED-FEA5-2EB3-FCEB-0872F292B2E5}"/>
                </a:ext>
              </a:extLst>
            </p:cNvPr>
            <p:cNvSpPr/>
            <p:nvPr/>
          </p:nvSpPr>
          <p:spPr>
            <a:xfrm rot="16200000">
              <a:off x="4917412" y="4877469"/>
              <a:ext cx="129206" cy="553101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CAB98E0-DBC2-2AAB-CDE9-6BE420F24545}"/>
                </a:ext>
              </a:extLst>
            </p:cNvPr>
            <p:cNvSpPr txBox="1"/>
            <p:nvPr/>
          </p:nvSpPr>
          <p:spPr>
            <a:xfrm>
              <a:off x="4795183" y="4905419"/>
              <a:ext cx="37702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/>
                <a:t>1ms</a:t>
              </a:r>
              <a:endParaRPr lang="LID4096" sz="800"/>
            </a:p>
          </p:txBody>
        </p:sp>
        <p:sp>
          <p:nvSpPr>
            <p:cNvPr id="32" name="Right Brace 31">
              <a:extLst>
                <a:ext uri="{FF2B5EF4-FFF2-40B4-BE49-F238E27FC236}">
                  <a16:creationId xmlns:a16="http://schemas.microsoft.com/office/drawing/2014/main" id="{8789D626-7E01-224B-BD68-569E2AE4B2E5}"/>
                </a:ext>
              </a:extLst>
            </p:cNvPr>
            <p:cNvSpPr/>
            <p:nvPr/>
          </p:nvSpPr>
          <p:spPr>
            <a:xfrm rot="16200000">
              <a:off x="5505523" y="4877469"/>
              <a:ext cx="129206" cy="553101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3CF0CD6-414C-2072-EC7B-AA38D21BFE37}"/>
                </a:ext>
              </a:extLst>
            </p:cNvPr>
            <p:cNvSpPr txBox="1"/>
            <p:nvPr/>
          </p:nvSpPr>
          <p:spPr>
            <a:xfrm>
              <a:off x="5383294" y="4905419"/>
              <a:ext cx="37702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/>
                <a:t>1ms</a:t>
              </a:r>
              <a:endParaRPr lang="LID4096" sz="800"/>
            </a:p>
          </p:txBody>
        </p:sp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71DD1A9C-0D53-3924-5E32-676B22A2C3E7}"/>
                </a:ext>
              </a:extLst>
            </p:cNvPr>
            <p:cNvSpPr/>
            <p:nvPr/>
          </p:nvSpPr>
          <p:spPr>
            <a:xfrm rot="16200000">
              <a:off x="6082243" y="4877469"/>
              <a:ext cx="129206" cy="553101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E76D0A4-6D5E-EF53-1B34-A85B0B4EA501}"/>
                </a:ext>
              </a:extLst>
            </p:cNvPr>
            <p:cNvSpPr txBox="1"/>
            <p:nvPr/>
          </p:nvSpPr>
          <p:spPr>
            <a:xfrm>
              <a:off x="5960014" y="4905419"/>
              <a:ext cx="37702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/>
                <a:t>1ms</a:t>
              </a:r>
              <a:endParaRPr lang="LID4096" sz="800"/>
            </a:p>
          </p:txBody>
        </p:sp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5D78212C-2457-D375-33F6-5F5E4F6F5FBD}"/>
                </a:ext>
              </a:extLst>
            </p:cNvPr>
            <p:cNvSpPr/>
            <p:nvPr/>
          </p:nvSpPr>
          <p:spPr>
            <a:xfrm rot="16200000">
              <a:off x="6658963" y="4877469"/>
              <a:ext cx="129206" cy="553101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DFF5311-1863-B00B-95D5-3FADEC506E17}"/>
                </a:ext>
              </a:extLst>
            </p:cNvPr>
            <p:cNvSpPr txBox="1"/>
            <p:nvPr/>
          </p:nvSpPr>
          <p:spPr>
            <a:xfrm>
              <a:off x="6536734" y="4905419"/>
              <a:ext cx="37702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/>
                <a:t>1ms</a:t>
              </a:r>
              <a:endParaRPr lang="LID4096" sz="800"/>
            </a:p>
          </p:txBody>
        </p:sp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1B0386FF-7142-E976-96BC-F77D76CC34FB}"/>
                </a:ext>
              </a:extLst>
            </p:cNvPr>
            <p:cNvSpPr/>
            <p:nvPr/>
          </p:nvSpPr>
          <p:spPr>
            <a:xfrm rot="16200000">
              <a:off x="7235683" y="4877469"/>
              <a:ext cx="129206" cy="553101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678C873-E40C-354F-AA2A-2F0010CDECAE}"/>
                </a:ext>
              </a:extLst>
            </p:cNvPr>
            <p:cNvSpPr txBox="1"/>
            <p:nvPr/>
          </p:nvSpPr>
          <p:spPr>
            <a:xfrm>
              <a:off x="7113454" y="4905419"/>
              <a:ext cx="37702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/>
                <a:t>1ms</a:t>
              </a:r>
              <a:endParaRPr lang="LID4096" sz="800"/>
            </a:p>
          </p:txBody>
        </p:sp>
      </p:grpSp>
    </p:spTree>
    <p:extLst>
      <p:ext uri="{BB962C8B-B14F-4D97-AF65-F5344CB8AC3E}">
        <p14:creationId xmlns:p14="http://schemas.microsoft.com/office/powerpoint/2010/main" val="409383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6117D-454A-EC6E-01A5-087FC28FD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223C-0373-45D8-3B1B-E5F975190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Multitasking</a:t>
            </a:r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D375F-7F70-CAE8-594E-40B0D060E358}"/>
              </a:ext>
            </a:extLst>
          </p:cNvPr>
          <p:cNvSpPr txBox="1"/>
          <p:nvPr/>
        </p:nvSpPr>
        <p:spPr>
          <a:xfrm>
            <a:off x="1049330" y="3508834"/>
            <a:ext cx="2376325" cy="24160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.org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0x0</a:t>
            </a: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start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var_a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var_b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b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var_a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05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0x12345678</a:t>
            </a: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var_b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05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0x9abcdef0</a:t>
            </a: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FFCD27-3123-CFE2-2806-2AEB58787BFB}"/>
              </a:ext>
            </a:extLst>
          </p:cNvPr>
          <p:cNvSpPr txBox="1"/>
          <p:nvPr/>
        </p:nvSpPr>
        <p:spPr>
          <a:xfrm>
            <a:off x="4138822" y="3429000"/>
            <a:ext cx="4042039" cy="9797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systick_handler:</a:t>
            </a:r>
          </a:p>
          <a:p>
            <a:pPr>
              <a:lnSpc>
                <a:spcPts val="1425"/>
              </a:lnSpc>
              <a:buNone/>
            </a:pPr>
            <a:r>
              <a:rPr lang="en-US" sz="1050">
                <a:solidFill>
                  <a:srgbClr val="CCCCCC"/>
                </a:solidFill>
                <a:latin typeface="Consolas" panose="020B0609020204030204" pitchFamily="49" charset="0"/>
              </a:rPr>
              <a:t>  Every millisecond: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- Save ALL registers on stack (including PC)</a:t>
            </a:r>
          </a:p>
          <a:p>
            <a:pPr>
              <a:lnSpc>
                <a:spcPts val="1425"/>
              </a:lnSpc>
              <a:buNone/>
            </a:pPr>
            <a:r>
              <a:rPr lang="en-US" sz="1050">
                <a:solidFill>
                  <a:srgbClr val="CCCCCC"/>
                </a:solidFill>
                <a:latin typeface="Consolas" panose="020B0609020204030204" pitchFamily="49" charset="0"/>
              </a:rPr>
              <a:t>  - Swap SP and stored_sp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- Restore ALL registers (including PC)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6BA352-801B-F425-9E85-BB8F6ECBBF1B}"/>
              </a:ext>
            </a:extLst>
          </p:cNvPr>
          <p:cNvSpPr txBox="1"/>
          <p:nvPr/>
        </p:nvSpPr>
        <p:spPr>
          <a:xfrm>
            <a:off x="952075" y="3156229"/>
            <a:ext cx="1201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Program A</a:t>
            </a:r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05A593-794B-E2B3-0F6E-C46D831E93A1}"/>
              </a:ext>
            </a:extLst>
          </p:cNvPr>
          <p:cNvSpPr txBox="1"/>
          <p:nvPr/>
        </p:nvSpPr>
        <p:spPr>
          <a:xfrm>
            <a:off x="8833625" y="3156229"/>
            <a:ext cx="1201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Program A</a:t>
            </a:r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4FF257-5EB1-5E21-3A3E-00E21D0E24A0}"/>
              </a:ext>
            </a:extLst>
          </p:cNvPr>
          <p:cNvSpPr txBox="1"/>
          <p:nvPr/>
        </p:nvSpPr>
        <p:spPr>
          <a:xfrm>
            <a:off x="8917495" y="3508834"/>
            <a:ext cx="2376325" cy="24160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.org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0x0</a:t>
            </a: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start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var_a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var_b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05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b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var_a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05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0x12345678</a:t>
            </a: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050">
                <a:solidFill>
                  <a:srgbClr val="DCDCAA"/>
                </a:solidFill>
                <a:latin typeface="Consolas" panose="020B0609020204030204" pitchFamily="49" charset="0"/>
              </a:rPr>
              <a:t>var_b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05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050">
                <a:solidFill>
                  <a:srgbClr val="B5CEA8"/>
                </a:solidFill>
                <a:latin typeface="Consolas" panose="020B0609020204030204" pitchFamily="49" charset="0"/>
              </a:rPr>
              <a:t>0x9abcdef0</a:t>
            </a:r>
            <a:endParaRPr lang="en-GB" sz="105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133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B221C-BAFA-17CB-2E29-0E8A0E473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0A36D-0FBA-0E91-E4FC-6E63AAD2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Multitasking</a:t>
            </a:r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A5FE2-42FC-677A-BD3E-233C891F5523}"/>
              </a:ext>
            </a:extLst>
          </p:cNvPr>
          <p:cNvSpPr txBox="1"/>
          <p:nvPr/>
        </p:nvSpPr>
        <p:spPr>
          <a:xfrm>
            <a:off x="1049330" y="3508834"/>
            <a:ext cx="2715322" cy="313419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.org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variables_ptr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variables_ptr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.space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This section can lie anywhere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.word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0x12345678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.word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0x9abcdef0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94DEA2-C97B-769E-0EAE-4F26ABC470AB}"/>
              </a:ext>
            </a:extLst>
          </p:cNvPr>
          <p:cNvSpPr txBox="1"/>
          <p:nvPr/>
        </p:nvSpPr>
        <p:spPr>
          <a:xfrm>
            <a:off x="4138822" y="3429000"/>
            <a:ext cx="4042039" cy="9797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systick_handler:</a:t>
            </a:r>
          </a:p>
          <a:p>
            <a:pPr>
              <a:lnSpc>
                <a:spcPts val="1425"/>
              </a:lnSpc>
              <a:buNone/>
            </a:pPr>
            <a:r>
              <a:rPr lang="en-US" sz="1050">
                <a:solidFill>
                  <a:srgbClr val="CCCCCC"/>
                </a:solidFill>
                <a:latin typeface="Consolas" panose="020B0609020204030204" pitchFamily="49" charset="0"/>
              </a:rPr>
              <a:t>  Every millisecond: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- Save ALL registers on stack (including PC)</a:t>
            </a:r>
          </a:p>
          <a:p>
            <a:pPr>
              <a:lnSpc>
                <a:spcPts val="1425"/>
              </a:lnSpc>
              <a:buNone/>
            </a:pPr>
            <a:r>
              <a:rPr lang="en-US" sz="1050">
                <a:solidFill>
                  <a:srgbClr val="CCCCCC"/>
                </a:solidFill>
                <a:latin typeface="Consolas" panose="020B0609020204030204" pitchFamily="49" charset="0"/>
              </a:rPr>
              <a:t>  - Swap SP and stored_sp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- Restore ALL registers (including PC)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2D525B-334A-6192-A066-5B5B9C25810E}"/>
              </a:ext>
            </a:extLst>
          </p:cNvPr>
          <p:cNvSpPr txBox="1"/>
          <p:nvPr/>
        </p:nvSpPr>
        <p:spPr>
          <a:xfrm>
            <a:off x="952075" y="3156229"/>
            <a:ext cx="1201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Program A</a:t>
            </a:r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74EA18-E8BC-0313-C916-60D6B186016F}"/>
              </a:ext>
            </a:extLst>
          </p:cNvPr>
          <p:cNvSpPr txBox="1"/>
          <p:nvPr/>
        </p:nvSpPr>
        <p:spPr>
          <a:xfrm>
            <a:off x="8664126" y="3116085"/>
            <a:ext cx="1201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Program A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3E1F90-007C-B24E-3901-3A7C2AFAB0DF}"/>
              </a:ext>
            </a:extLst>
          </p:cNvPr>
          <p:cNvSpPr txBox="1"/>
          <p:nvPr/>
        </p:nvSpPr>
        <p:spPr>
          <a:xfrm>
            <a:off x="8757795" y="3468689"/>
            <a:ext cx="2715322" cy="313419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.org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variables_ptr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variables_ptr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.space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This section can lie anywhere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.word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0x12345678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.word</a:t>
            </a:r>
            <a:r>
              <a: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0x9abcdef0</a:t>
            </a: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1701B0E-7A7F-707A-29FA-12F6F99CBE62}"/>
              </a:ext>
            </a:extLst>
          </p:cNvPr>
          <p:cNvCxnSpPr>
            <a:cxnSpLocks/>
          </p:cNvCxnSpPr>
          <p:nvPr/>
        </p:nvCxnSpPr>
        <p:spPr>
          <a:xfrm flipV="1">
            <a:off x="6085937" y="3502371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6C71333-AF90-4360-9B96-96ED2C6C9BD7}"/>
              </a:ext>
            </a:extLst>
          </p:cNvPr>
          <p:cNvSpPr txBox="1"/>
          <p:nvPr/>
        </p:nvSpPr>
        <p:spPr>
          <a:xfrm>
            <a:off x="4007222" y="2021235"/>
            <a:ext cx="4157426" cy="107721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/>
              <a:t>P</a:t>
            </a:r>
            <a:r>
              <a:rPr lang="sv-SE" sz="1600"/>
              <a:t>å Amigan (och andra gamla maskiner) </a:t>
            </a:r>
            <a:r>
              <a:rPr lang="en-GB" sz="1600"/>
              <a:t>fick kompilatorn se till att skriva </a:t>
            </a:r>
            <a:r>
              <a:rPr lang="en-GB" sz="1600" i="1"/>
              <a:t>relokerbar</a:t>
            </a:r>
            <a:r>
              <a:rPr lang="en-GB" sz="1600"/>
              <a:t> kod, där alla minnesaccesser görs via en </a:t>
            </a:r>
            <a:r>
              <a:rPr lang="en-GB" sz="1600" b="1"/>
              <a:t>offset</a:t>
            </a:r>
            <a:r>
              <a:rPr lang="en-GB" sz="1600"/>
              <a:t> från en </a:t>
            </a:r>
            <a:r>
              <a:rPr lang="en-GB" sz="1600" b="1"/>
              <a:t>baspekare</a:t>
            </a:r>
            <a:endParaRPr lang="LID4096" sz="16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7B8D8F-14A7-8215-DEFF-2AC618312D3B}"/>
              </a:ext>
            </a:extLst>
          </p:cNvPr>
          <p:cNvGrpSpPr/>
          <p:nvPr/>
        </p:nvGrpSpPr>
        <p:grpSpPr>
          <a:xfrm>
            <a:off x="3811349" y="4930435"/>
            <a:ext cx="4852777" cy="830997"/>
            <a:chOff x="3811349" y="4930435"/>
            <a:chExt cx="4852777" cy="83099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A9FEAEE-8437-EAD2-2B9D-FF1325110EB0}"/>
                </a:ext>
              </a:extLst>
            </p:cNvPr>
            <p:cNvSpPr txBox="1"/>
            <p:nvPr/>
          </p:nvSpPr>
          <p:spPr>
            <a:xfrm>
              <a:off x="4138822" y="4930435"/>
              <a:ext cx="4157426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600"/>
                <a:t>När operativsystemet läst in programmet någonstans i minnet skriver dom sedan över baspekaren</a:t>
              </a:r>
              <a:endParaRPr lang="LID4096" sz="1600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F913B3EB-198F-8104-C51B-07DD935E0840}"/>
                </a:ext>
              </a:extLst>
            </p:cNvPr>
            <p:cNvSpPr/>
            <p:nvPr/>
          </p:nvSpPr>
          <p:spPr>
            <a:xfrm>
              <a:off x="8430322" y="5254455"/>
              <a:ext cx="233804" cy="27655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A5AC7F20-4FA7-8789-30E5-EE1127FDA130}"/>
                </a:ext>
              </a:extLst>
            </p:cNvPr>
            <p:cNvSpPr/>
            <p:nvPr/>
          </p:nvSpPr>
          <p:spPr>
            <a:xfrm rot="10800000">
              <a:off x="3811349" y="5207658"/>
              <a:ext cx="233804" cy="27655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83926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72017-0655-BBFB-4A38-20B6C6F8E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62C881B1-8F78-AC9D-3633-D36DCB881401}"/>
              </a:ext>
            </a:extLst>
          </p:cNvPr>
          <p:cNvGrpSpPr/>
          <p:nvPr/>
        </p:nvGrpSpPr>
        <p:grpSpPr>
          <a:xfrm>
            <a:off x="4467082" y="4294657"/>
            <a:ext cx="7500819" cy="2275514"/>
            <a:chOff x="4452795" y="4121491"/>
            <a:chExt cx="7500819" cy="22755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E852312-991C-B23A-E8EE-9267E887DBEB}"/>
                </a:ext>
              </a:extLst>
            </p:cNvPr>
            <p:cNvGrpSpPr/>
            <p:nvPr/>
          </p:nvGrpSpPr>
          <p:grpSpPr>
            <a:xfrm>
              <a:off x="5832470" y="4121491"/>
              <a:ext cx="6121144" cy="2275514"/>
              <a:chOff x="5832470" y="4121491"/>
              <a:chExt cx="6121144" cy="2275514"/>
            </a:xfrm>
          </p:grpSpPr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F2CC4336-20AD-421F-5548-8F31F8183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59020" y="4121491"/>
                <a:ext cx="5094594" cy="227551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985D7A-033E-75E7-9B86-C5646194ACD1}"/>
                  </a:ext>
                </a:extLst>
              </p:cNvPr>
              <p:cNvSpPr txBox="1"/>
              <p:nvPr/>
            </p:nvSpPr>
            <p:spPr>
              <a:xfrm>
                <a:off x="5832470" y="5592165"/>
                <a:ext cx="801823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800">
                    <a:latin typeface="Consolas" panose="020B0609020204030204" pitchFamily="49" charset="0"/>
                  </a:rPr>
                  <a:t>0x30001234:</a:t>
                </a:r>
                <a:endParaRPr lang="LID4096" sz="80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FF577B1-A580-6266-F224-882FE3BF2ACC}"/>
                </a:ext>
              </a:extLst>
            </p:cNvPr>
            <p:cNvSpPr txBox="1"/>
            <p:nvPr/>
          </p:nvSpPr>
          <p:spPr>
            <a:xfrm>
              <a:off x="4452795" y="4691919"/>
              <a:ext cx="2093406" cy="9002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050"/>
                <a:t>Någon annanstans i minnet ligger ”framebuffern”, alltså bilden som grafikchippet kommer skicka till skärmen var 30de ms. </a:t>
              </a:r>
              <a:endParaRPr lang="LID4096" sz="105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10797F-2BD4-B817-1CC9-A7772CEA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1541D26-17B2-EE4F-D2AE-74D82CE53691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EB9C96-C74C-5899-A98B-B2DE7C649C4E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3A54EBC-C26B-4ECA-1170-839D7F36A9FC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65D5654-6790-24B3-5CDB-5E48E5E928D9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53E5FA-7737-C63F-4F63-77FEB8863E69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91C3E0E-7C0C-A7D1-D894-588A35748C64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2268F32-87A5-293E-EE19-E2174B8517D5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F014C01-4BFB-E4A1-328A-86D39ABE9129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F9CD801-AC31-CC00-4C22-C60BDC410A37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E31F5F-F468-8B5E-75FD-26DEDCA11E66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81BE34-9218-17A3-8C4F-6DDA96995B49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1869B52-42C0-BFF7-6741-3FE04F85F9F4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28F5A63-24B5-66AD-2ECB-C952BF3CF58B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CCA3530-4F9C-1E8C-7F8E-2C8AEBB3E5E9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DC7D75E-B66B-0119-2C17-4F3866DF5E5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B574FB-AC40-5794-1792-A175D6EB7EA6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38B9FA1-9775-D0F5-0228-63A464291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342CF9B-0E9C-FFB8-5A02-AA81F45F93FA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ED2868B-AD36-109B-F293-EB61E04109F5}"/>
              </a:ext>
            </a:extLst>
          </p:cNvPr>
          <p:cNvGrpSpPr/>
          <p:nvPr/>
        </p:nvGrpSpPr>
        <p:grpSpPr>
          <a:xfrm>
            <a:off x="1882076" y="1947430"/>
            <a:ext cx="2270638" cy="2174061"/>
            <a:chOff x="410366" y="1977765"/>
            <a:chExt cx="2270638" cy="2174061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6BC4703-23C9-2FD7-BDB2-E3206C21DA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484" y="3639758"/>
              <a:ext cx="0" cy="5120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5C7A78B-3631-CB85-16B2-16E456351CAA}"/>
                </a:ext>
              </a:extLst>
            </p:cNvPr>
            <p:cNvSpPr txBox="1"/>
            <p:nvPr/>
          </p:nvSpPr>
          <p:spPr>
            <a:xfrm>
              <a:off x="410366" y="1977765"/>
              <a:ext cx="2270638" cy="18004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Commodore Amiga 500 (1987)</a:t>
              </a:r>
            </a:p>
            <a:p>
              <a:r>
                <a:rPr lang="sv-SE" sz="900"/>
                <a:t>CPU: Motorola 68000 – 7 Mhz</a:t>
              </a:r>
            </a:p>
            <a:p>
              <a:r>
                <a:rPr lang="sv-SE" sz="900"/>
                <a:t>Register: 16 st 32-bitars register</a:t>
              </a:r>
            </a:p>
            <a:p>
              <a:r>
                <a:rPr lang="sv-SE" sz="900"/>
                <a:t>Addressrymd: 24 bitar (16 MB)</a:t>
              </a:r>
            </a:p>
            <a:p>
              <a:endParaRPr lang="sv-SE" sz="900" b="1"/>
            </a:p>
            <a:p>
              <a:r>
                <a:rPr lang="sv-SE" sz="900"/>
                <a:t>Interrupts och kommunikation med grafik och ljudchip funkar som ni lärt er, men den introducerar två saker som vi inte gått igenom ännu:</a:t>
              </a:r>
            </a:p>
            <a:p>
              <a:endParaRPr lang="sv-SE" sz="900" b="1"/>
            </a:p>
            <a:p>
              <a:r>
                <a:rPr lang="sv-SE" sz="900"/>
                <a:t>Multitasking</a:t>
              </a:r>
              <a:r>
                <a:rPr lang="sv-SE" sz="900" b="1"/>
                <a:t> </a:t>
              </a:r>
              <a:r>
                <a:rPr lang="sv-SE" sz="900"/>
                <a:t>och</a:t>
              </a:r>
              <a:endParaRPr lang="sv-SE" sz="900" b="1"/>
            </a:p>
            <a:p>
              <a:r>
                <a:rPr lang="sv-SE" sz="900" b="1"/>
                <a:t>DMA</a:t>
              </a:r>
              <a:endParaRPr lang="LID4096" sz="1050"/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950A96-505E-7819-D5E3-A29FD7BB8788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5EA4201B-CB7C-E87E-4C96-E4A8FFBEB7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1730" y="4660322"/>
            <a:ext cx="2410420" cy="176701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2DE9948-729F-E419-1BE6-563079ACD2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4424" y="5502201"/>
            <a:ext cx="374797" cy="741704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CC1D5372-EA59-8458-F2A2-B772D954B1A2}"/>
              </a:ext>
            </a:extLst>
          </p:cNvPr>
          <p:cNvGrpSpPr/>
          <p:nvPr/>
        </p:nvGrpSpPr>
        <p:grpSpPr>
          <a:xfrm>
            <a:off x="4746463" y="1916335"/>
            <a:ext cx="2014918" cy="1765534"/>
            <a:chOff x="4746463" y="1916335"/>
            <a:chExt cx="2014918" cy="1765534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1569B05-24E7-127D-9295-BACA91169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99835" y="2465220"/>
              <a:ext cx="614796" cy="1216649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188964C-E125-B145-51BD-C76AC2064322}"/>
                </a:ext>
              </a:extLst>
            </p:cNvPr>
            <p:cNvSpPr txBox="1"/>
            <p:nvPr/>
          </p:nvSpPr>
          <p:spPr>
            <a:xfrm>
              <a:off x="4746463" y="1916335"/>
              <a:ext cx="1943414" cy="4154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050"/>
                <a:t>Någonstans i minnet ligger alla ”sprites”</a:t>
              </a:r>
              <a:endParaRPr lang="LID4096" sz="105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3593F16-7246-083E-A002-2D04C73044D6}"/>
                </a:ext>
              </a:extLst>
            </p:cNvPr>
            <p:cNvSpPr txBox="1"/>
            <p:nvPr/>
          </p:nvSpPr>
          <p:spPr>
            <a:xfrm>
              <a:off x="5959558" y="2301055"/>
              <a:ext cx="80182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>
                  <a:latin typeface="Consolas" panose="020B0609020204030204" pitchFamily="49" charset="0"/>
                </a:rPr>
                <a:t>0x20001234:</a:t>
              </a:r>
              <a:endParaRPr lang="LID4096" sz="800">
                <a:latin typeface="Consolas" panose="020B0609020204030204" pitchFamily="49" charset="0"/>
              </a:endParaRP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5C7239CC-C8F0-327E-7BCB-69E67A8D1F6C}"/>
              </a:ext>
            </a:extLst>
          </p:cNvPr>
          <p:cNvSpPr txBox="1"/>
          <p:nvPr/>
        </p:nvSpPr>
        <p:spPr>
          <a:xfrm>
            <a:off x="7322975" y="1947430"/>
            <a:ext cx="1943414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Varje frame måste en eller några av spritarna kopieras in över bakgrundsbilden på ett nytt ställe. </a:t>
            </a:r>
            <a:endParaRPr lang="LID4096" sz="105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3A373D-F264-9248-7109-5DAD74C3015F}"/>
              </a:ext>
            </a:extLst>
          </p:cNvPr>
          <p:cNvSpPr txBox="1"/>
          <p:nvPr/>
        </p:nvSpPr>
        <p:spPr>
          <a:xfrm>
            <a:off x="9132725" y="2558464"/>
            <a:ext cx="1943414" cy="577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Om processorn skulle göra detta i en loop hade den inte haft tid för någonting annat</a:t>
            </a:r>
            <a:endParaRPr lang="LID4096" sz="105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F6EE04-A264-2832-55DE-E03909419002}"/>
              </a:ext>
            </a:extLst>
          </p:cNvPr>
          <p:cNvSpPr txBox="1"/>
          <p:nvPr/>
        </p:nvSpPr>
        <p:spPr>
          <a:xfrm>
            <a:off x="8294681" y="3231524"/>
            <a:ext cx="309721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Istället fanns en ”DMA Engine” (kallades ”blitter”): </a:t>
            </a:r>
          </a:p>
          <a:p>
            <a:r>
              <a:rPr lang="sv-SE" sz="1050"/>
              <a:t>Processorn sa åt blittern vilket minne som behövde kopieras vart, och sedan skötte den det utan inblandning av processorn. </a:t>
            </a:r>
            <a:endParaRPr lang="LID4096" sz="1050"/>
          </a:p>
        </p:txBody>
      </p:sp>
    </p:spTree>
    <p:extLst>
      <p:ext uri="{BB962C8B-B14F-4D97-AF65-F5344CB8AC3E}">
        <p14:creationId xmlns:p14="http://schemas.microsoft.com/office/powerpoint/2010/main" val="3146438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C4403-CCFA-D854-263B-FF21C14A2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C922-1F6B-EAE4-4F1D-8C5A59549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1BB4BA-66A0-9F49-7570-56D520F2DF2A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8A822A89-065F-F4C0-3805-DC864D2F2EC4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295AB35-7727-C846-CF1A-84D98ABC6101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6A12E00-CF3B-974A-19C3-0363955ED6D6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8A05A00-2194-F9C7-9671-03A23A7DEAE4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FCBA4E-343C-3533-6648-19D4F5FDAC09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5E4058C-DCB5-5583-05C5-0563D17037D7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C2A0B8B-9617-F532-6EB1-74F5796A45A0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17813C6-8689-59F8-4BFD-ED84D4BC6AF5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9FA1A2-B69B-081A-FD6D-65603B6A8B9A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4479CD9-7D48-A58E-26B0-D864D609A6B8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503E59-FB4B-06D2-9527-F8C3B2D596A6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420065E-12FB-61C8-986E-AB9150EE583D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96EB06A-0BED-B6B1-8FD7-23E5E98F2DB8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7B5749-40A5-BDB6-53D5-8A32AB2AB496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82744D-3928-E6CA-D6B4-225031DC8C6E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12E1952-4B23-C3A9-7CF9-392EF4AAB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A2359D-3528-945F-1582-B9A5982DCA05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64FFC67-AE6E-C07C-15EB-1ED296A6BA21}"/>
              </a:ext>
            </a:extLst>
          </p:cNvPr>
          <p:cNvGrpSpPr/>
          <p:nvPr/>
        </p:nvGrpSpPr>
        <p:grpSpPr>
          <a:xfrm>
            <a:off x="1841931" y="2376310"/>
            <a:ext cx="2270638" cy="1753990"/>
            <a:chOff x="205183" y="2397836"/>
            <a:chExt cx="2270638" cy="175399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606C32-5322-9295-9613-9E185C310C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484" y="3639758"/>
              <a:ext cx="0" cy="5120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4BF242-0E8E-CB3C-30EA-E95AC2988513}"/>
                </a:ext>
              </a:extLst>
            </p:cNvPr>
            <p:cNvSpPr txBox="1"/>
            <p:nvPr/>
          </p:nvSpPr>
          <p:spPr>
            <a:xfrm>
              <a:off x="205183" y="2397836"/>
              <a:ext cx="2270638" cy="12464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IBM 386 (1987ish)</a:t>
              </a:r>
            </a:p>
            <a:p>
              <a:r>
                <a:rPr lang="sv-SE" sz="900"/>
                <a:t>CPU: Intel 80386</a:t>
              </a:r>
            </a:p>
            <a:p>
              <a:r>
                <a:rPr lang="sv-SE" sz="900"/>
                <a:t>Register: 8 generella 32 bitars register </a:t>
              </a:r>
            </a:p>
            <a:p>
              <a:r>
                <a:rPr lang="sv-SE" sz="900"/>
                <a:t>                   </a:t>
              </a:r>
              <a:r>
                <a:rPr lang="sv-SE" sz="600"/>
                <a:t>(ungefär... intelprocessorer är krångliga)</a:t>
              </a:r>
              <a:endParaRPr lang="sv-SE" sz="900"/>
            </a:p>
            <a:p>
              <a:r>
                <a:rPr lang="sv-SE" sz="900"/>
                <a:t>32 bitars addressrymd (4GB!)</a:t>
              </a:r>
            </a:p>
            <a:p>
              <a:r>
                <a:rPr lang="sv-SE" sz="900" b="1"/>
                <a:t>Address translation (Paging MMU)</a:t>
              </a:r>
            </a:p>
            <a:p>
              <a:r>
                <a:rPr lang="sv-SE" sz="900"/>
                <a:t>Minnesskydd</a:t>
              </a:r>
            </a:p>
            <a:p>
              <a:endParaRPr lang="LID4096" sz="900"/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7D6325-CFCD-00DB-A244-808326EBCE5F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249DA578-C253-1604-BD30-0FAB9175E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5A6E9EFB-0E52-E94E-3814-D517D98AB62C}"/>
              </a:ext>
            </a:extLst>
          </p:cNvPr>
          <p:cNvGrpSpPr/>
          <p:nvPr/>
        </p:nvGrpSpPr>
        <p:grpSpPr>
          <a:xfrm>
            <a:off x="2602834" y="4137401"/>
            <a:ext cx="2595582" cy="2601214"/>
            <a:chOff x="2602834" y="4137401"/>
            <a:chExt cx="2595582" cy="2601214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9F2DE58-A80B-0BC5-7611-8626BE053D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9515" y="4137401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69B42E9-5894-3814-98AE-7FC5134580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3496" y="4572223"/>
              <a:ext cx="1047129" cy="252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03F4240-0122-FA9B-CBCC-4B68C899F5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5092" y="4552082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77F50E2C-7E8B-0372-2845-D510EC2D0E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2834" y="4828353"/>
              <a:ext cx="2595582" cy="19102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22F5C6-395D-F0E5-902C-781C597C9E6E}"/>
              </a:ext>
            </a:extLst>
          </p:cNvPr>
          <p:cNvCxnSpPr>
            <a:cxnSpLocks/>
          </p:cNvCxnSpPr>
          <p:nvPr/>
        </p:nvCxnSpPr>
        <p:spPr>
          <a:xfrm flipV="1">
            <a:off x="2749338" y="3673511"/>
            <a:ext cx="0" cy="4479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8147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DF8B2-F9F4-7896-BEA4-8E327F30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50BF8-1055-6A9C-7A80-2624FECA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Multitasking med Address Translation</a:t>
            </a:r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32015FA-5A30-A412-BA46-8C1F338B47AB}"/>
              </a:ext>
            </a:extLst>
          </p:cNvPr>
          <p:cNvGrpSpPr/>
          <p:nvPr/>
        </p:nvGrpSpPr>
        <p:grpSpPr>
          <a:xfrm>
            <a:off x="94825" y="2941296"/>
            <a:ext cx="2812577" cy="3486796"/>
            <a:chOff x="94825" y="2941296"/>
            <a:chExt cx="2812577" cy="34867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928F47-B988-0B58-259E-8B6B69B668BC}"/>
                </a:ext>
              </a:extLst>
            </p:cNvPr>
            <p:cNvSpPr txBox="1"/>
            <p:nvPr/>
          </p:nvSpPr>
          <p:spPr>
            <a:xfrm>
              <a:off x="192080" y="3293901"/>
              <a:ext cx="2715322" cy="313419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.org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0x0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start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lw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, variables_ptr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lw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t1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  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sw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t2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 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...</a:t>
              </a:r>
            </a:p>
            <a:p>
              <a:pPr>
                <a:lnSpc>
                  <a:spcPts val="1425"/>
                </a:lnSpc>
                <a:buNone/>
              </a:pPr>
              <a:b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variables_ptr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sz="105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.space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4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# This section can lie anywhere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.word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0x12345678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.word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0x9abcdef0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00E405-E279-605F-4A66-CA8FFD5F0964}"/>
                </a:ext>
              </a:extLst>
            </p:cNvPr>
            <p:cNvSpPr txBox="1"/>
            <p:nvPr/>
          </p:nvSpPr>
          <p:spPr>
            <a:xfrm>
              <a:off x="94825" y="2941296"/>
              <a:ext cx="12015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Program A</a:t>
              </a:r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A62981D-F437-3EE1-05F7-0AA3CEFA0D92}"/>
              </a:ext>
            </a:extLst>
          </p:cNvPr>
          <p:cNvGrpSpPr/>
          <p:nvPr/>
        </p:nvGrpSpPr>
        <p:grpSpPr>
          <a:xfrm>
            <a:off x="9075031" y="2941297"/>
            <a:ext cx="2808991" cy="3486795"/>
            <a:chOff x="8664126" y="3116085"/>
            <a:chExt cx="2808991" cy="348679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6EB5D27-A67B-0503-9901-511305DD1DEC}"/>
                </a:ext>
              </a:extLst>
            </p:cNvPr>
            <p:cNvSpPr txBox="1"/>
            <p:nvPr/>
          </p:nvSpPr>
          <p:spPr>
            <a:xfrm>
              <a:off x="8664126" y="3116085"/>
              <a:ext cx="12047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Program B</a:t>
              </a:r>
              <a:endParaRPr lang="LID4096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442BBC3-B689-D7A4-0104-AEF23FFAB5D1}"/>
                </a:ext>
              </a:extLst>
            </p:cNvPr>
            <p:cNvSpPr txBox="1"/>
            <p:nvPr/>
          </p:nvSpPr>
          <p:spPr>
            <a:xfrm>
              <a:off x="8757795" y="3468689"/>
              <a:ext cx="2715322" cy="313419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.org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0x0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start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lw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, variables_ptr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lw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t1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  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sw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t2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1050" b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t0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 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...</a:t>
              </a:r>
            </a:p>
            <a:p>
              <a:pPr>
                <a:lnSpc>
                  <a:spcPts val="1425"/>
                </a:lnSpc>
                <a:buNone/>
              </a:pPr>
              <a:b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variables_ptr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sz="105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.space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4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# This section can lie anywhere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.word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0x12345678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sz="105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.word</a:t>
              </a:r>
              <a:r>
                <a:rPr lang="en-US" sz="105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0x9abcdef0</a:t>
              </a: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endParaRPr lang="en-US" sz="105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00452B2-EA69-F5E4-075C-1590E54CFE81}"/>
              </a:ext>
            </a:extLst>
          </p:cNvPr>
          <p:cNvSpPr txBox="1"/>
          <p:nvPr/>
        </p:nvSpPr>
        <p:spPr>
          <a:xfrm>
            <a:off x="4105276" y="1956441"/>
            <a:ext cx="4405312" cy="4154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Båda programmen är kompilerade så att koden väntas börja på 0x0, och stacken växer nedåt från 0xFFFFFFFF.</a:t>
            </a:r>
            <a:endParaRPr lang="LID4096" sz="10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CF7C58-AB46-3285-9CD8-3B3AEB7C150D}"/>
              </a:ext>
            </a:extLst>
          </p:cNvPr>
          <p:cNvSpPr txBox="1"/>
          <p:nvPr/>
        </p:nvSpPr>
        <p:spPr>
          <a:xfrm rot="16200000">
            <a:off x="2165922" y="4699827"/>
            <a:ext cx="30871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/>
              <a:t>TLB 0</a:t>
            </a:r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11BBE8-EC27-84C4-CA46-843C88653563}"/>
              </a:ext>
            </a:extLst>
          </p:cNvPr>
          <p:cNvSpPr txBox="1"/>
          <p:nvPr/>
        </p:nvSpPr>
        <p:spPr>
          <a:xfrm rot="16200000">
            <a:off x="6822983" y="4699827"/>
            <a:ext cx="30871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/>
              <a:t>TLB 1</a:t>
            </a:r>
            <a:endParaRPr lang="LID4096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88C65F-0068-57EB-F361-DE36D553A020}"/>
              </a:ext>
            </a:extLst>
          </p:cNvPr>
          <p:cNvGrpSpPr/>
          <p:nvPr/>
        </p:nvGrpSpPr>
        <p:grpSpPr>
          <a:xfrm>
            <a:off x="2352571" y="3340894"/>
            <a:ext cx="1109662" cy="621506"/>
            <a:chOff x="2352571" y="3340894"/>
            <a:chExt cx="1109662" cy="621506"/>
          </a:xfrm>
        </p:grpSpPr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1DE96AB5-A1B4-800D-D7DF-288276DB93AA}"/>
                </a:ext>
              </a:extLst>
            </p:cNvPr>
            <p:cNvSpPr/>
            <p:nvPr/>
          </p:nvSpPr>
          <p:spPr>
            <a:xfrm>
              <a:off x="2352571" y="3340894"/>
              <a:ext cx="1109662" cy="621506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E72A009-492C-7515-1BB9-21421F071282}"/>
                </a:ext>
              </a:extLst>
            </p:cNvPr>
            <p:cNvSpPr txBox="1"/>
            <p:nvPr/>
          </p:nvSpPr>
          <p:spPr>
            <a:xfrm>
              <a:off x="2452809" y="3524689"/>
              <a:ext cx="8787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/>
                <a:t>Läs från 0x0</a:t>
              </a:r>
              <a:endParaRPr lang="LID4096" sz="105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BB1CE05-1EC7-83EF-2FEB-D075D47045BE}"/>
              </a:ext>
            </a:extLst>
          </p:cNvPr>
          <p:cNvGrpSpPr/>
          <p:nvPr/>
        </p:nvGrpSpPr>
        <p:grpSpPr>
          <a:xfrm>
            <a:off x="3987856" y="3246834"/>
            <a:ext cx="1109662" cy="621506"/>
            <a:chOff x="2352571" y="3340894"/>
            <a:chExt cx="1109662" cy="621506"/>
          </a:xfrm>
        </p:grpSpPr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C26D6B4E-DE13-A93C-1C6D-D591B37F7575}"/>
                </a:ext>
              </a:extLst>
            </p:cNvPr>
            <p:cNvSpPr/>
            <p:nvPr/>
          </p:nvSpPr>
          <p:spPr>
            <a:xfrm>
              <a:off x="2352571" y="3340894"/>
              <a:ext cx="1109662" cy="621506"/>
            </a:xfrm>
            <a:prstGeom prst="rightArrow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D08B7DD-910A-433C-85B1-A550770D1520}"/>
                </a:ext>
              </a:extLst>
            </p:cNvPr>
            <p:cNvSpPr txBox="1"/>
            <p:nvPr/>
          </p:nvSpPr>
          <p:spPr>
            <a:xfrm>
              <a:off x="2352571" y="3452404"/>
              <a:ext cx="87235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/>
                <a:t>Ej allokerat</a:t>
              </a:r>
              <a:br>
                <a:rPr lang="sv-SE" sz="1050"/>
              </a:br>
              <a:r>
                <a:rPr lang="sv-SE" sz="1050"/>
                <a:t>EXCEPTION</a:t>
              </a:r>
              <a:endParaRPr lang="LID4096" sz="105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530C75F-5692-C040-FF3F-F47EAE436A01}"/>
              </a:ext>
            </a:extLst>
          </p:cNvPr>
          <p:cNvSpPr txBox="1"/>
          <p:nvPr/>
        </p:nvSpPr>
        <p:spPr>
          <a:xfrm>
            <a:off x="5273885" y="3223736"/>
            <a:ext cx="134762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Allokera minne någonstans och koppla till TLB0s 0x0 region</a:t>
            </a:r>
            <a:endParaRPr lang="LID4096" sz="105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D5750C-B883-CAE1-0F81-31F41A3C51B6}"/>
              </a:ext>
            </a:extLst>
          </p:cNvPr>
          <p:cNvSpPr txBox="1"/>
          <p:nvPr/>
        </p:nvSpPr>
        <p:spPr>
          <a:xfrm>
            <a:off x="4279826" y="5424486"/>
            <a:ext cx="3087197" cy="12530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/>
              <a:t>Minnet: </a:t>
            </a:r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F393FF-DC2D-8FFA-ED4C-50138C149B28}"/>
              </a:ext>
            </a:extLst>
          </p:cNvPr>
          <p:cNvGrpSpPr/>
          <p:nvPr/>
        </p:nvGrpSpPr>
        <p:grpSpPr>
          <a:xfrm flipH="1">
            <a:off x="8448674" y="3975152"/>
            <a:ext cx="997035" cy="621506"/>
            <a:chOff x="2352571" y="3340894"/>
            <a:chExt cx="1109662" cy="621506"/>
          </a:xfrm>
        </p:grpSpPr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A270DB43-8C2B-9D31-8A1E-DF1B489100CF}"/>
                </a:ext>
              </a:extLst>
            </p:cNvPr>
            <p:cNvSpPr/>
            <p:nvPr/>
          </p:nvSpPr>
          <p:spPr>
            <a:xfrm>
              <a:off x="2352571" y="3340894"/>
              <a:ext cx="1109662" cy="621506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4A1BCC5-16ED-BF52-1333-F022A36BDB16}"/>
                </a:ext>
              </a:extLst>
            </p:cNvPr>
            <p:cNvSpPr txBox="1"/>
            <p:nvPr/>
          </p:nvSpPr>
          <p:spPr>
            <a:xfrm>
              <a:off x="2452809" y="3524689"/>
              <a:ext cx="8787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/>
                <a:t>Läs från 0x0</a:t>
              </a:r>
              <a:endParaRPr lang="LID4096" sz="105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38202F-FC24-95AB-D5D8-FD63D13017BF}"/>
              </a:ext>
            </a:extLst>
          </p:cNvPr>
          <p:cNvGrpSpPr/>
          <p:nvPr/>
        </p:nvGrpSpPr>
        <p:grpSpPr>
          <a:xfrm flipH="1">
            <a:off x="7033457" y="3962400"/>
            <a:ext cx="1197031" cy="621506"/>
            <a:chOff x="2352571" y="3340894"/>
            <a:chExt cx="1109662" cy="621506"/>
          </a:xfrm>
        </p:grpSpPr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FB760731-8CCA-478B-D15D-E990BFC49B05}"/>
                </a:ext>
              </a:extLst>
            </p:cNvPr>
            <p:cNvSpPr/>
            <p:nvPr/>
          </p:nvSpPr>
          <p:spPr>
            <a:xfrm>
              <a:off x="2352571" y="3340894"/>
              <a:ext cx="1109662" cy="621506"/>
            </a:xfrm>
            <a:prstGeom prst="rightArrow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D476F89-F733-F174-B6D1-BB8DF551D3C6}"/>
                </a:ext>
              </a:extLst>
            </p:cNvPr>
            <p:cNvSpPr txBox="1"/>
            <p:nvPr/>
          </p:nvSpPr>
          <p:spPr>
            <a:xfrm>
              <a:off x="2352571" y="3452404"/>
              <a:ext cx="87235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/>
                <a:t>Ej allokerat</a:t>
              </a:r>
              <a:br>
                <a:rPr lang="sv-SE" sz="1050"/>
              </a:br>
              <a:r>
                <a:rPr lang="sv-SE" sz="1050"/>
                <a:t>EXCEPTION</a:t>
              </a:r>
              <a:endParaRPr lang="LID4096" sz="1050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0BC67E48-4E34-2EA6-CD33-9D96F70CCE16}"/>
              </a:ext>
            </a:extLst>
          </p:cNvPr>
          <p:cNvSpPr txBox="1"/>
          <p:nvPr/>
        </p:nvSpPr>
        <p:spPr>
          <a:xfrm>
            <a:off x="5273885" y="4056763"/>
            <a:ext cx="134762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Allokera minne någonstans och koppla till TLB1s 0x0 region</a:t>
            </a:r>
            <a:endParaRPr lang="LID4096" sz="105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5196721-0EA9-1A6E-9F5B-359AA53E8A3A}"/>
              </a:ext>
            </a:extLst>
          </p:cNvPr>
          <p:cNvGrpSpPr/>
          <p:nvPr/>
        </p:nvGrpSpPr>
        <p:grpSpPr>
          <a:xfrm>
            <a:off x="3571709" y="3381375"/>
            <a:ext cx="1609898" cy="2886076"/>
            <a:chOff x="3571709" y="3381375"/>
            <a:chExt cx="1609898" cy="28860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A704CCA-2A28-C576-C338-8AB92B5B7BE8}"/>
                </a:ext>
              </a:extLst>
            </p:cNvPr>
            <p:cNvSpPr/>
            <p:nvPr/>
          </p:nvSpPr>
          <p:spPr>
            <a:xfrm>
              <a:off x="3571709" y="3381375"/>
              <a:ext cx="275621" cy="352425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2B8F10B-2110-7FB9-CE4C-1E77A5846F70}"/>
                </a:ext>
              </a:extLst>
            </p:cNvPr>
            <p:cNvSpPr/>
            <p:nvPr/>
          </p:nvSpPr>
          <p:spPr>
            <a:xfrm rot="5400000">
              <a:off x="4876438" y="5962282"/>
              <a:ext cx="137810" cy="472528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8" name="Arrow: Up-Down 37">
              <a:extLst>
                <a:ext uri="{FF2B5EF4-FFF2-40B4-BE49-F238E27FC236}">
                  <a16:creationId xmlns:a16="http://schemas.microsoft.com/office/drawing/2014/main" id="{56A8B581-7294-5A64-515E-D60300252C4F}"/>
                </a:ext>
              </a:extLst>
            </p:cNvPr>
            <p:cNvSpPr/>
            <p:nvPr/>
          </p:nvSpPr>
          <p:spPr>
            <a:xfrm rot="9262351">
              <a:off x="4268223" y="3661613"/>
              <a:ext cx="120837" cy="2550257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6CB573C-2F92-B716-C9CA-EE8D610C56F2}"/>
              </a:ext>
            </a:extLst>
          </p:cNvPr>
          <p:cNvGrpSpPr/>
          <p:nvPr/>
        </p:nvGrpSpPr>
        <p:grpSpPr>
          <a:xfrm>
            <a:off x="6385248" y="3369575"/>
            <a:ext cx="2125340" cy="2591781"/>
            <a:chOff x="6385248" y="3369575"/>
            <a:chExt cx="2125340" cy="2591781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8DAB68F-C971-256A-17A0-B77318064D3C}"/>
                </a:ext>
              </a:extLst>
            </p:cNvPr>
            <p:cNvSpPr/>
            <p:nvPr/>
          </p:nvSpPr>
          <p:spPr>
            <a:xfrm rot="5400000">
              <a:off x="6552607" y="5600332"/>
              <a:ext cx="137810" cy="47252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204097C-95C9-1C3F-27B9-8BCD3B614224}"/>
                </a:ext>
              </a:extLst>
            </p:cNvPr>
            <p:cNvSpPr/>
            <p:nvPr/>
          </p:nvSpPr>
          <p:spPr>
            <a:xfrm>
              <a:off x="8234967" y="3369575"/>
              <a:ext cx="275621" cy="35242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9" name="Arrow: Up-Down 38">
              <a:extLst>
                <a:ext uri="{FF2B5EF4-FFF2-40B4-BE49-F238E27FC236}">
                  <a16:creationId xmlns:a16="http://schemas.microsoft.com/office/drawing/2014/main" id="{AB8D7E75-A031-B494-DCA0-D98E9565026E}"/>
                </a:ext>
              </a:extLst>
            </p:cNvPr>
            <p:cNvSpPr/>
            <p:nvPr/>
          </p:nvSpPr>
          <p:spPr>
            <a:xfrm rot="12888448">
              <a:off x="7392592" y="3411099"/>
              <a:ext cx="120837" cy="2550257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D61CFF57-2D4F-E8C1-E985-38F500994DED}"/>
              </a:ext>
            </a:extLst>
          </p:cNvPr>
          <p:cNvSpPr txBox="1"/>
          <p:nvPr/>
        </p:nvSpPr>
        <p:spPr>
          <a:xfrm>
            <a:off x="5007857" y="2771722"/>
            <a:ext cx="1879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Operativ System: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7757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8F81A-4993-48B3-6252-447E9CC87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D40E3-AF23-9CD6-C16A-6A6F7AE99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02333FB-19EF-DFD7-B036-7F5C181E2F25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D0B505-1CE8-CF69-1743-7C01EAA15480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A0875A9-C1CD-883D-17AF-4B36F69E71C6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C84168-8582-A956-4916-62078A7949B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AAD01DE-3018-0287-41DD-DB73C34E44FB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1BBC44E-25EE-34D4-34AE-C495A895D6E1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7B6A940-D3E9-3F21-D159-1507C31957C1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7E183C-C624-E2E6-E142-D70617F4CBF1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E2B64D7-678A-35F2-F9AD-CB0F066305B3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6B54B2-2D0F-A12F-18F4-9CD614BF567F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7A92E3-B408-73CF-3EA3-29070CA6D592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969218-94A1-4B6D-AF85-8939C2371D3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0631BD8-E8F6-4F67-7F1D-17AE8CEE7B91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AFD62D0-DD13-A879-81C2-F898BC89666A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B6F7A6-9E68-B560-F589-72D56C6D418D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7C13198-378B-9680-30AF-C6BC802A7252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5BD061-A94D-1BF5-F8DF-05799619C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0EA07EA-622D-1982-31FF-B32754FA3E4E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DB1F25E-0C9E-76CC-C858-F5DA2E8C1261}"/>
              </a:ext>
            </a:extLst>
          </p:cNvPr>
          <p:cNvGrpSpPr/>
          <p:nvPr/>
        </p:nvGrpSpPr>
        <p:grpSpPr>
          <a:xfrm>
            <a:off x="1841931" y="2376310"/>
            <a:ext cx="2270638" cy="1753990"/>
            <a:chOff x="205183" y="2397836"/>
            <a:chExt cx="2270638" cy="175399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2A508F8-B651-995F-E511-675339D230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484" y="3639758"/>
              <a:ext cx="0" cy="5120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10398F-07D2-BDFD-5B16-BFECFC9D4A02}"/>
                </a:ext>
              </a:extLst>
            </p:cNvPr>
            <p:cNvSpPr txBox="1"/>
            <p:nvPr/>
          </p:nvSpPr>
          <p:spPr>
            <a:xfrm>
              <a:off x="205183" y="2397836"/>
              <a:ext cx="2270638" cy="12464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IBM 386 (1987ish)</a:t>
              </a:r>
            </a:p>
            <a:p>
              <a:r>
                <a:rPr lang="sv-SE" sz="900"/>
                <a:t>CPU: Intel 80386</a:t>
              </a:r>
            </a:p>
            <a:p>
              <a:r>
                <a:rPr lang="sv-SE" sz="900"/>
                <a:t>Register: 8 generella 32 bitars register </a:t>
              </a:r>
            </a:p>
            <a:p>
              <a:r>
                <a:rPr lang="sv-SE" sz="900"/>
                <a:t>                   </a:t>
              </a:r>
              <a:r>
                <a:rPr lang="sv-SE" sz="600"/>
                <a:t>(ungefär... intelprocessorer är krångliga)</a:t>
              </a:r>
              <a:endParaRPr lang="sv-SE" sz="900"/>
            </a:p>
            <a:p>
              <a:r>
                <a:rPr lang="sv-SE" sz="900"/>
                <a:t>32 bitars addressrymd (4GB!)</a:t>
              </a:r>
            </a:p>
            <a:p>
              <a:r>
                <a:rPr lang="sv-SE" sz="900"/>
                <a:t>Address translation (Paging MMU)</a:t>
              </a:r>
            </a:p>
            <a:p>
              <a:r>
                <a:rPr lang="sv-SE" sz="900" b="1"/>
                <a:t>Minnesskydd</a:t>
              </a:r>
            </a:p>
            <a:p>
              <a:endParaRPr lang="LID4096" sz="900"/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73F6C30-4593-9E79-5E86-93717BB60A86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3261841-56C6-13AB-C72B-DA1DE265F2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674CF8D8-6A92-9D0D-D54D-7C2D5092F823}"/>
              </a:ext>
            </a:extLst>
          </p:cNvPr>
          <p:cNvGrpSpPr/>
          <p:nvPr/>
        </p:nvGrpSpPr>
        <p:grpSpPr>
          <a:xfrm>
            <a:off x="2602834" y="4137401"/>
            <a:ext cx="2595582" cy="2601214"/>
            <a:chOff x="2602834" y="4137401"/>
            <a:chExt cx="2595582" cy="2601214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62FF3C3-F3AA-E5E9-0227-BBBB1A41A4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9515" y="4137401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A1A3FB5-3B00-3C8D-237B-7F1B95F0A5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3496" y="4572223"/>
              <a:ext cx="1047129" cy="252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52AD553-9F5D-0CCF-8699-B4372D7856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5092" y="4552082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F5CC3F36-EAED-8192-C3B6-FF9EE59D45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2834" y="4828353"/>
              <a:ext cx="2595582" cy="19102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CA04580-7C0F-FA7A-2C01-FAAF17A08185}"/>
              </a:ext>
            </a:extLst>
          </p:cNvPr>
          <p:cNvCxnSpPr>
            <a:cxnSpLocks/>
          </p:cNvCxnSpPr>
          <p:nvPr/>
        </p:nvCxnSpPr>
        <p:spPr>
          <a:xfrm flipV="1">
            <a:off x="2749338" y="3673511"/>
            <a:ext cx="0" cy="4479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764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F0392-01CE-26C3-E635-4B3E55A30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7612C-83EE-A2E0-B1F1-A964E1779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C5A2602-F5C9-A8C9-0101-BF7DFB9E6434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38363615-6F22-AD60-26ED-3AF4F188769E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FEAD98-0809-85CE-ABB7-0218A43156CD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E5A6959-7E0C-17A3-B2BA-31490B6244F8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B892BE-96E6-2E2A-6E4C-5907E3C261B7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0C10A72-3BCF-80F2-17FB-AF3E59BB1E5B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5666C3A-8FEE-2458-C607-994131351D5A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E7DBC9-6339-AEE9-64F9-3B3DE7E07BDE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6BF9888-ABF9-9ECF-C906-E07313F371FC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69ECAC-BD36-5BCE-67E2-F1AF36D82030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DFA91E6-1A32-615D-0ACE-8C1D9A18F4DA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BA87AAC-53D6-DAA7-AC2A-BE03EC2D018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ECD3DA-048A-CE23-8C89-E1EC0D04C996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A1F66A3-D9B3-4E50-89D4-EC2FB2CCA8E5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F02403F-F7F7-94C7-77DC-6B877759AF8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2914962-C1EE-B804-7189-7DA74B888E48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D443DCC-4DD3-A31C-30F8-396E0D438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FF8D4A-B96A-0F55-CEB8-472CD3AAA149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0FC1A5-FCE8-3402-56A7-AD5F10674B3F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EB9845C2-392D-1FD4-E4DE-761578BF3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CA0F6AA2-D7ED-CF99-64DB-7831B151644F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339C84-AA51-8EEB-FEA0-6A82BA5AF4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84379101-1E53-E1F2-DB5F-2315A03ED8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C2AE23-7E00-74A5-A2F6-A868F3B9EF30}"/>
              </a:ext>
            </a:extLst>
          </p:cNvPr>
          <p:cNvGrpSpPr/>
          <p:nvPr/>
        </p:nvGrpSpPr>
        <p:grpSpPr>
          <a:xfrm>
            <a:off x="2567913" y="1799309"/>
            <a:ext cx="1925508" cy="2322182"/>
            <a:chOff x="2567912" y="1799309"/>
            <a:chExt cx="1925508" cy="2322182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F8171E9-811B-9BB6-328E-67FCA6A282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2832410"/>
              <a:ext cx="0" cy="128908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A625143-8B89-A282-4866-DADDD43B219C}"/>
                </a:ext>
              </a:extLst>
            </p:cNvPr>
            <p:cNvSpPr txBox="1"/>
            <p:nvPr/>
          </p:nvSpPr>
          <p:spPr>
            <a:xfrm>
              <a:off x="2567912" y="1799309"/>
              <a:ext cx="1925508" cy="23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900"/>
                <a:t>The memory wall is approaching</a:t>
              </a:r>
              <a:endParaRPr lang="LID4096" sz="90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08F9B7F-FB11-556D-C525-EF5A1D9BAF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67912" y="2036831"/>
              <a:ext cx="1925508" cy="12523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34884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EB44-AD92-F189-EEC2-375AF43FB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46E9-5754-F4AA-76F2-DE22D947A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DF0340-8D94-4044-1A30-3BBF56A6BD61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F55375AC-E4B6-6F49-EA69-968B65435276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8602DC1-6E88-0A5D-E405-52F278B629F2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56BDE05-3DB8-6316-7B6D-2A559FEDFA17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54C2A7-0C0B-6B4C-0473-5156DBAF94D0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C9C506C-DB28-0169-1F1E-0B7E84F62E9C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F73B5BF-E732-4E9B-0061-8D61F70ADD57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B7F81E3-0CB8-A367-C207-ED213B787FEE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120B468-2D1D-0941-7848-9B4A364B9FB1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BAC58B-5DA5-56C3-0720-95747C24216F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6ED2B0F-C4BF-696C-E535-50C5C79F301E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B5E4642-3C50-0299-20FF-3D11887170AD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1349C6-4AD5-0DDB-8DBC-576908DA28DE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F341867-42D0-9781-8CDE-8D71D10C7655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5635D9-FF25-2CCE-9F8B-351B408C26C1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81ECA3-90F6-76CF-AC2A-8E90A1B0AE66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21AF408D-B1A8-B14F-5CBE-11AEB85DA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637F16E-DE53-570A-E624-B25855DA749A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1E7F700-9918-48BA-2DBC-34F2DAD8CC87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22524962-F456-3412-7C5B-A0BD097A7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5ABBA226-505A-46DE-3042-9879C11548E7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740B230-0C88-4CE4-2EB5-3EB2712E90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12E03097-20EA-ACD8-C9A3-C4B3A784A1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3BD0ED5-F843-3BB0-02AB-428B2389879A}"/>
              </a:ext>
            </a:extLst>
          </p:cNvPr>
          <p:cNvGrpSpPr/>
          <p:nvPr/>
        </p:nvGrpSpPr>
        <p:grpSpPr>
          <a:xfrm>
            <a:off x="3255683" y="3630381"/>
            <a:ext cx="549967" cy="491110"/>
            <a:chOff x="3255682" y="3630381"/>
            <a:chExt cx="549967" cy="49111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D4A57FC-7F76-6536-51F7-FDCB80F357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3969834"/>
              <a:ext cx="0" cy="15165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E43882A7-71CF-0049-B269-74888F609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55682" y="3630381"/>
              <a:ext cx="549967" cy="357696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D341EA-2E9F-15A7-50BB-2A2C7DA97241}"/>
              </a:ext>
            </a:extLst>
          </p:cNvPr>
          <p:cNvCxnSpPr>
            <a:cxnSpLocks/>
          </p:cNvCxnSpPr>
          <p:nvPr/>
        </p:nvCxnSpPr>
        <p:spPr>
          <a:xfrm flipV="1">
            <a:off x="3969005" y="2836414"/>
            <a:ext cx="0" cy="12890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C78BEED-1543-65C4-6862-424FD2AC52F8}"/>
              </a:ext>
            </a:extLst>
          </p:cNvPr>
          <p:cNvSpPr txBox="1"/>
          <p:nvPr/>
        </p:nvSpPr>
        <p:spPr>
          <a:xfrm>
            <a:off x="2833686" y="2170111"/>
            <a:ext cx="227063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200" b="1" u="sng"/>
              <a:t>486 PC (early nineties)</a:t>
            </a:r>
          </a:p>
          <a:p>
            <a:r>
              <a:rPr lang="sv-SE" sz="900"/>
              <a:t>CPU: Intel 80486 – 25-66Mhz</a:t>
            </a:r>
          </a:p>
          <a:p>
            <a:r>
              <a:rPr lang="sv-SE" sz="900"/>
              <a:t>Registers: Samma som 386</a:t>
            </a:r>
          </a:p>
          <a:p>
            <a:r>
              <a:rPr lang="sv-SE" sz="900" b="1"/>
              <a:t>L1 Cache </a:t>
            </a:r>
            <a:r>
              <a:rPr lang="sv-SE" sz="900"/>
              <a:t>(för instruktioner och data)</a:t>
            </a:r>
          </a:p>
          <a:p>
            <a:r>
              <a:rPr lang="sv-SE" sz="900"/>
              <a:t>Pipelining </a:t>
            </a:r>
            <a:endParaRPr lang="LID4096" sz="90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10DF563-9D10-626B-64A9-329A0187CA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2707" y="4402977"/>
            <a:ext cx="1713088" cy="1881984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08116F49-7126-3A3F-D8D9-F0F0E3FE0634}"/>
              </a:ext>
            </a:extLst>
          </p:cNvPr>
          <p:cNvGrpSpPr/>
          <p:nvPr/>
        </p:nvGrpSpPr>
        <p:grpSpPr>
          <a:xfrm>
            <a:off x="6300590" y="1837483"/>
            <a:ext cx="4787989" cy="1819265"/>
            <a:chOff x="6300590" y="1837483"/>
            <a:chExt cx="4787989" cy="1819265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D82D493-D7C6-96CD-51B8-27562EE8473B}"/>
                </a:ext>
              </a:extLst>
            </p:cNvPr>
            <p:cNvGrpSpPr/>
            <p:nvPr/>
          </p:nvGrpSpPr>
          <p:grpSpPr>
            <a:xfrm>
              <a:off x="6300590" y="1837483"/>
              <a:ext cx="4787989" cy="1819265"/>
              <a:chOff x="6300590" y="1837483"/>
              <a:chExt cx="4787989" cy="181926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DB183FEC-79D4-5622-D605-327F4A4CA9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0590" y="1837483"/>
                <a:ext cx="955289" cy="862325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E3DA703-1D01-47C7-155D-314C46E9CE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7478341">
                <a:off x="9753931" y="2259994"/>
                <a:ext cx="1666040" cy="1003256"/>
              </a:xfrm>
              <a:prstGeom prst="rect">
                <a:avLst/>
              </a:prstGeom>
            </p:spPr>
          </p:pic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BAA18970-5378-5B20-48B3-CE59DB5EE1E1}"/>
                  </a:ext>
                </a:extLst>
              </p:cNvPr>
              <p:cNvGrpSpPr/>
              <p:nvPr/>
            </p:nvGrpSpPr>
            <p:grpSpPr>
              <a:xfrm>
                <a:off x="7316497" y="2019335"/>
                <a:ext cx="2671517" cy="680473"/>
                <a:chOff x="7316497" y="2019335"/>
                <a:chExt cx="2671517" cy="680473"/>
              </a:xfrm>
            </p:grpSpPr>
            <p:sp>
              <p:nvSpPr>
                <p:cNvPr id="34" name="Arrow: Right 33">
                  <a:extLst>
                    <a:ext uri="{FF2B5EF4-FFF2-40B4-BE49-F238E27FC236}">
                      <a16:creationId xmlns:a16="http://schemas.microsoft.com/office/drawing/2014/main" id="{2F154260-BDC6-74C1-F2FF-042C06BB161A}"/>
                    </a:ext>
                  </a:extLst>
                </p:cNvPr>
                <p:cNvSpPr/>
                <p:nvPr/>
              </p:nvSpPr>
              <p:spPr>
                <a:xfrm>
                  <a:off x="7316497" y="2019335"/>
                  <a:ext cx="2671517" cy="680473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24FEAA4-0300-F31B-1DC1-6B595920DB12}"/>
                    </a:ext>
                  </a:extLst>
                </p:cNvPr>
                <p:cNvSpPr txBox="1"/>
                <p:nvPr/>
              </p:nvSpPr>
              <p:spPr>
                <a:xfrm>
                  <a:off x="7655243" y="2170111"/>
                  <a:ext cx="213231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1000"/>
                    <a:t>Läs instruktionerna från 0x2000000</a:t>
                  </a:r>
                </a:p>
                <a:p>
                  <a:r>
                    <a:rPr lang="sv-SE" sz="1000"/>
                    <a:t>till 0x200000FF</a:t>
                  </a:r>
                  <a:endParaRPr lang="LID4096" sz="1000"/>
                </a:p>
              </p:txBody>
            </p: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539DA05-A551-C71C-0294-BDC91D9C1E07}"/>
                  </a:ext>
                </a:extLst>
              </p:cNvPr>
              <p:cNvSpPr txBox="1"/>
              <p:nvPr/>
            </p:nvSpPr>
            <p:spPr>
              <a:xfrm>
                <a:off x="6968196" y="2666559"/>
                <a:ext cx="13740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00"/>
                  <a:t>...kör en massa kod...</a:t>
                </a:r>
                <a:endParaRPr lang="LID4096" sz="1000"/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BC90DFDD-3BB5-B325-B6CF-5BFA819D8294}"/>
                  </a:ext>
                </a:extLst>
              </p:cNvPr>
              <p:cNvGrpSpPr/>
              <p:nvPr/>
            </p:nvGrpSpPr>
            <p:grpSpPr>
              <a:xfrm>
                <a:off x="7300079" y="2843352"/>
                <a:ext cx="2671517" cy="680473"/>
                <a:chOff x="7316497" y="2019335"/>
                <a:chExt cx="2671517" cy="680473"/>
              </a:xfrm>
            </p:grpSpPr>
            <p:sp>
              <p:nvSpPr>
                <p:cNvPr id="42" name="Arrow: Right 41">
                  <a:extLst>
                    <a:ext uri="{FF2B5EF4-FFF2-40B4-BE49-F238E27FC236}">
                      <a16:creationId xmlns:a16="http://schemas.microsoft.com/office/drawing/2014/main" id="{38715AE5-4EED-CBA2-FB76-9E3ED1F2CCD4}"/>
                    </a:ext>
                  </a:extLst>
                </p:cNvPr>
                <p:cNvSpPr/>
                <p:nvPr/>
              </p:nvSpPr>
              <p:spPr>
                <a:xfrm>
                  <a:off x="7316497" y="2019335"/>
                  <a:ext cx="2671517" cy="680473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65A47BB-D86A-2F19-7478-54CB0C288A14}"/>
                    </a:ext>
                  </a:extLst>
                </p:cNvPr>
                <p:cNvSpPr txBox="1"/>
                <p:nvPr/>
              </p:nvSpPr>
              <p:spPr>
                <a:xfrm>
                  <a:off x="7655243" y="2170111"/>
                  <a:ext cx="213231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1000"/>
                    <a:t>Läs instruktionerna från 0x2000100</a:t>
                  </a:r>
                </a:p>
                <a:p>
                  <a:r>
                    <a:rPr lang="sv-SE" sz="1000"/>
                    <a:t>till 0x200001FF</a:t>
                  </a:r>
                  <a:endParaRPr lang="LID4096" sz="1000"/>
                </a:p>
              </p:txBody>
            </p:sp>
          </p:grp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B927732-6BA6-868E-285D-EB750B5CD277}"/>
                  </a:ext>
                </a:extLst>
              </p:cNvPr>
              <p:cNvSpPr txBox="1"/>
              <p:nvPr/>
            </p:nvSpPr>
            <p:spPr>
              <a:xfrm>
                <a:off x="6968196" y="3410527"/>
                <a:ext cx="13740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00"/>
                  <a:t>...kör en massa kod...</a:t>
                </a:r>
                <a:endParaRPr lang="LID4096" sz="1000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5991C71-D94A-288D-7A2B-78EC59852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8095" y="2603423"/>
              <a:ext cx="381117" cy="2741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80049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9736A-4F6A-5D8A-B859-7EE4AD568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053B8-B711-6A01-EE09-F6183143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EEAE47E-44FE-D753-E3A5-A1A8179AAF8D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DCA44D-5133-D1E7-A659-D24973C3DFB3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BCE3312-A799-AA34-1A13-D23CEE623DAD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EA85A6D-B80C-46B5-66FD-1BA653B98867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DE63282-D2D0-8BDB-846A-9F4CA04FF877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8A943C6-8DC0-3602-AF9E-6FB5378358AD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100921D-4CD1-356D-E76B-33E6E9AF0660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1E51308-94C5-7067-2CBE-6AE4B5567D23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C01AEF-00E1-86DB-3776-A1CA3FD1BC67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5F12A94-EF08-83DB-4980-F215F70F1AB1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5F271F5-3937-2F6D-621C-3B9FC2EB6FB7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04584B-CE70-3EAD-768E-62B4949B95B5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322813-9545-16E2-25AA-251921A4B56E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C12A84F-EDED-6FF4-1513-F8DBBD82880E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F46B090-A5AC-538D-2385-24997056E57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D29D370-B468-075B-3355-A3EB72D3E4E8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2062D19D-B268-A58F-0A73-18853141D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062BEC-6868-090B-73D3-6475CFF4FCAE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DC291D0-C540-D2E3-25F5-342127422520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F4C9405-AC81-DFF4-7387-FC9BDE65D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D1CCE377-A8AE-9D05-EEDC-7D3CC23C77E4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A3C5E10-A476-B0EE-F9C3-9DAE32756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CECA1E7A-4B97-B470-A05D-BC34CBFE30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D69BFDC-D7F8-870F-8F4C-B54C4890A7C9}"/>
              </a:ext>
            </a:extLst>
          </p:cNvPr>
          <p:cNvGrpSpPr/>
          <p:nvPr/>
        </p:nvGrpSpPr>
        <p:grpSpPr>
          <a:xfrm>
            <a:off x="3255683" y="3630381"/>
            <a:ext cx="549967" cy="491110"/>
            <a:chOff x="3255682" y="3630381"/>
            <a:chExt cx="549967" cy="49111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9EAD135-B199-4121-B313-AF885B75AF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3969834"/>
              <a:ext cx="0" cy="15165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8230FE4-70E3-327B-F6FA-645C91344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55682" y="3630381"/>
              <a:ext cx="549967" cy="357696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7E9FB0-D149-93E6-D6E8-56EE565A7E0D}"/>
              </a:ext>
            </a:extLst>
          </p:cNvPr>
          <p:cNvCxnSpPr>
            <a:cxnSpLocks/>
          </p:cNvCxnSpPr>
          <p:nvPr/>
        </p:nvCxnSpPr>
        <p:spPr>
          <a:xfrm flipV="1">
            <a:off x="3969005" y="2836414"/>
            <a:ext cx="0" cy="12890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D518BA8-1F7E-4DF8-E008-D674D7EF26AA}"/>
              </a:ext>
            </a:extLst>
          </p:cNvPr>
          <p:cNvSpPr txBox="1"/>
          <p:nvPr/>
        </p:nvSpPr>
        <p:spPr>
          <a:xfrm>
            <a:off x="2833686" y="2170111"/>
            <a:ext cx="227063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200" b="1" u="sng"/>
              <a:t>486 PC (early nineties)</a:t>
            </a:r>
          </a:p>
          <a:p>
            <a:r>
              <a:rPr lang="sv-SE" sz="900"/>
              <a:t>CPU: Intel 80486 – 25-66Mhz</a:t>
            </a:r>
          </a:p>
          <a:p>
            <a:r>
              <a:rPr lang="sv-SE" sz="900"/>
              <a:t>Registers: Samma som 386</a:t>
            </a:r>
          </a:p>
          <a:p>
            <a:r>
              <a:rPr lang="sv-SE" sz="900" b="1"/>
              <a:t>L1 Cache </a:t>
            </a:r>
            <a:r>
              <a:rPr lang="sv-SE" sz="900"/>
              <a:t>(för instruktioner och data)</a:t>
            </a:r>
          </a:p>
          <a:p>
            <a:r>
              <a:rPr lang="sv-SE" sz="900"/>
              <a:t>Pipelining </a:t>
            </a:r>
            <a:endParaRPr lang="LID4096" sz="90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74B4A11-276A-5971-D82C-4AB581F332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2707" y="4402977"/>
            <a:ext cx="1713088" cy="1881984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C39D9C00-76C9-3143-A3A9-CB6CD9B61E0D}"/>
              </a:ext>
            </a:extLst>
          </p:cNvPr>
          <p:cNvGrpSpPr/>
          <p:nvPr/>
        </p:nvGrpSpPr>
        <p:grpSpPr>
          <a:xfrm>
            <a:off x="6300590" y="1837483"/>
            <a:ext cx="4787989" cy="1819265"/>
            <a:chOff x="6300590" y="1837483"/>
            <a:chExt cx="4787989" cy="1819265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96B65DB-0F6B-E753-4BDA-C0F0F6BEED18}"/>
                </a:ext>
              </a:extLst>
            </p:cNvPr>
            <p:cNvGrpSpPr/>
            <p:nvPr/>
          </p:nvGrpSpPr>
          <p:grpSpPr>
            <a:xfrm>
              <a:off x="6300590" y="1837483"/>
              <a:ext cx="4787989" cy="1819265"/>
              <a:chOff x="6300590" y="1837483"/>
              <a:chExt cx="4787989" cy="181926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58FDC43A-43E8-3134-C357-43364F377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0590" y="1837483"/>
                <a:ext cx="955289" cy="862325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284BE40C-6236-F209-8D09-72685B840D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7478341">
                <a:off x="9753931" y="2259994"/>
                <a:ext cx="1666040" cy="1003256"/>
              </a:xfrm>
              <a:prstGeom prst="rect">
                <a:avLst/>
              </a:prstGeom>
            </p:spPr>
          </p:pic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E4E1341-D66B-7462-B9EF-BA9A4F83E6F9}"/>
                  </a:ext>
                </a:extLst>
              </p:cNvPr>
              <p:cNvGrpSpPr/>
              <p:nvPr/>
            </p:nvGrpSpPr>
            <p:grpSpPr>
              <a:xfrm>
                <a:off x="7316497" y="2019335"/>
                <a:ext cx="2671517" cy="680473"/>
                <a:chOff x="7316497" y="2019335"/>
                <a:chExt cx="2671517" cy="680473"/>
              </a:xfrm>
            </p:grpSpPr>
            <p:sp>
              <p:nvSpPr>
                <p:cNvPr id="34" name="Arrow: Right 33">
                  <a:extLst>
                    <a:ext uri="{FF2B5EF4-FFF2-40B4-BE49-F238E27FC236}">
                      <a16:creationId xmlns:a16="http://schemas.microsoft.com/office/drawing/2014/main" id="{C12C531F-CAF7-48FC-19CA-F7F043845AB9}"/>
                    </a:ext>
                  </a:extLst>
                </p:cNvPr>
                <p:cNvSpPr/>
                <p:nvPr/>
              </p:nvSpPr>
              <p:spPr>
                <a:xfrm>
                  <a:off x="7316497" y="2019335"/>
                  <a:ext cx="2671517" cy="680473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0D58944-A02B-1730-E7F1-626E336866DD}"/>
                    </a:ext>
                  </a:extLst>
                </p:cNvPr>
                <p:cNvSpPr txBox="1"/>
                <p:nvPr/>
              </p:nvSpPr>
              <p:spPr>
                <a:xfrm>
                  <a:off x="7655243" y="2170111"/>
                  <a:ext cx="213231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1000"/>
                    <a:t>Läs instruktionerna från 0x2000000</a:t>
                  </a:r>
                </a:p>
                <a:p>
                  <a:r>
                    <a:rPr lang="sv-SE" sz="1000"/>
                    <a:t>till 0x200000FF</a:t>
                  </a:r>
                  <a:endParaRPr lang="LID4096" sz="1000"/>
                </a:p>
              </p:txBody>
            </p: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BB3EF2-A37D-0337-08D0-2E2ADE58A835}"/>
                  </a:ext>
                </a:extLst>
              </p:cNvPr>
              <p:cNvSpPr txBox="1"/>
              <p:nvPr/>
            </p:nvSpPr>
            <p:spPr>
              <a:xfrm>
                <a:off x="6968196" y="2666559"/>
                <a:ext cx="13740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00"/>
                  <a:t>...kör en massa kod...</a:t>
                </a:r>
                <a:endParaRPr lang="LID4096" sz="1000"/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70FED99-32AA-CC90-CEF0-6696FB14F18B}"/>
                  </a:ext>
                </a:extLst>
              </p:cNvPr>
              <p:cNvGrpSpPr/>
              <p:nvPr/>
            </p:nvGrpSpPr>
            <p:grpSpPr>
              <a:xfrm>
                <a:off x="7300079" y="2843352"/>
                <a:ext cx="2671517" cy="680473"/>
                <a:chOff x="7316497" y="2019335"/>
                <a:chExt cx="2671517" cy="680473"/>
              </a:xfrm>
            </p:grpSpPr>
            <p:sp>
              <p:nvSpPr>
                <p:cNvPr id="42" name="Arrow: Right 41">
                  <a:extLst>
                    <a:ext uri="{FF2B5EF4-FFF2-40B4-BE49-F238E27FC236}">
                      <a16:creationId xmlns:a16="http://schemas.microsoft.com/office/drawing/2014/main" id="{7CC81E5D-892D-9B31-BB6F-92D2EFE1C760}"/>
                    </a:ext>
                  </a:extLst>
                </p:cNvPr>
                <p:cNvSpPr/>
                <p:nvPr/>
              </p:nvSpPr>
              <p:spPr>
                <a:xfrm>
                  <a:off x="7316497" y="2019335"/>
                  <a:ext cx="2671517" cy="680473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BFE5EABF-5DE9-4B99-7214-64CFAC6F22B3}"/>
                    </a:ext>
                  </a:extLst>
                </p:cNvPr>
                <p:cNvSpPr txBox="1"/>
                <p:nvPr/>
              </p:nvSpPr>
              <p:spPr>
                <a:xfrm>
                  <a:off x="7655243" y="2170111"/>
                  <a:ext cx="213231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1000"/>
                    <a:t>Läs instruktionerna från 0x2000100</a:t>
                  </a:r>
                </a:p>
                <a:p>
                  <a:r>
                    <a:rPr lang="sv-SE" sz="1000"/>
                    <a:t>till 0x200001FF</a:t>
                  </a:r>
                  <a:endParaRPr lang="LID4096" sz="1000"/>
                </a:p>
              </p:txBody>
            </p:sp>
          </p:grp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2681177-20A2-F655-A9F5-CD9C46E3CCFB}"/>
                  </a:ext>
                </a:extLst>
              </p:cNvPr>
              <p:cNvSpPr txBox="1"/>
              <p:nvPr/>
            </p:nvSpPr>
            <p:spPr>
              <a:xfrm>
                <a:off x="6968196" y="3410527"/>
                <a:ext cx="13740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00"/>
                  <a:t>...kör en massa kod...</a:t>
                </a:r>
                <a:endParaRPr lang="LID4096" sz="1000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D45EA0F1-7A58-B3E9-691C-9681F9541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8095" y="2603423"/>
              <a:ext cx="381117" cy="274119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FE40A009-9457-96DE-7168-3293E71E33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210" y="4914078"/>
            <a:ext cx="1448002" cy="172426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3F03C2A-B5B4-E11C-0349-28F96BEA86C3}"/>
              </a:ext>
            </a:extLst>
          </p:cNvPr>
          <p:cNvSpPr txBox="1"/>
          <p:nvPr/>
        </p:nvSpPr>
        <p:spPr>
          <a:xfrm>
            <a:off x="7353300" y="4815458"/>
            <a:ext cx="843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Fetch:</a:t>
            </a:r>
            <a:endParaRPr lang="LID4096" b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E9D4E0-23CA-9678-5784-9D3D23C5AB10}"/>
              </a:ext>
            </a:extLst>
          </p:cNvPr>
          <p:cNvSpPr txBox="1"/>
          <p:nvPr/>
        </p:nvSpPr>
        <p:spPr>
          <a:xfrm>
            <a:off x="8108243" y="4815458"/>
            <a:ext cx="1067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Decode:</a:t>
            </a:r>
            <a:endParaRPr lang="LID4096" b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78D676-22B2-FE8B-2B7C-F4EEB52BF0B8}"/>
              </a:ext>
            </a:extLst>
          </p:cNvPr>
          <p:cNvSpPr txBox="1"/>
          <p:nvPr/>
        </p:nvSpPr>
        <p:spPr>
          <a:xfrm>
            <a:off x="9087350" y="4815458"/>
            <a:ext cx="1094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Execute:</a:t>
            </a:r>
            <a:endParaRPr lang="LID4096" b="1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FDEE15-5335-C725-53A9-74A9EEF2E953}"/>
              </a:ext>
            </a:extLst>
          </p:cNvPr>
          <p:cNvSpPr txBox="1"/>
          <p:nvPr/>
        </p:nvSpPr>
        <p:spPr>
          <a:xfrm>
            <a:off x="10093066" y="4815458"/>
            <a:ext cx="1335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Writeback:</a:t>
            </a:r>
            <a:endParaRPr lang="LID4096" b="1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1AA5EB21-FF21-95A7-40FD-DCBE7C5062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76" y="5208412"/>
            <a:ext cx="757581" cy="141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289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0AFE0-FE4F-0F60-C92C-AE73B0006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16A80-4E84-247A-6B9A-550C2B880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F3B9A4B-8E6F-1D3E-9B87-C28F4515FC5B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6C59BA-9757-C844-CC7B-98C57110DA8B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0FDCEC-3228-37E9-FDB2-AA1B06DD511B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75B95F0-AA76-DEF2-DB0D-D487DA7AA699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4FAE37C-C7A5-C136-B2B6-FA139B1BF72B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862B29-DF59-836E-522C-078CAA1AAA8B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750AD96-B814-426E-B5D0-CBDAF9C4D5A1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C26347-2C8A-9FE9-6EA8-EC60110D87B2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3C214D9-F5FB-0471-6793-D919165653CE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7013CE-7E68-5CA0-669C-24F758CFE6A2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84BFC-1DA0-8006-208C-D571B3EEB9F3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F2CE62-56D6-E7F9-289E-18A56AE05088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E237311-4753-ED89-D9EE-E3136BB59C13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30E9A9-9914-4D3B-4310-E94C4AAD1FA8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E89D8BE-C23B-563B-6671-0248D8709896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CD3C327-9C73-06DA-4A94-68ED1BE97FAE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816D103-F26C-F31E-B55C-08ADC3CCC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0F522AF-299B-4251-E53A-9DE0C1C1FFA8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CB870C-31D4-B9D2-DBD5-6865193FDE05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150E3DE-B6D2-B47C-54F5-2A3301468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F179A2E5-EEA6-90C0-9A42-0EE45DEED95D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DDC899A-D708-79C6-99D1-9F9B89B81B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7E7FF5C7-663C-E1C0-84A3-480B0C1001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9EF2D61-917F-1533-AD57-A642B13B84CC}"/>
              </a:ext>
            </a:extLst>
          </p:cNvPr>
          <p:cNvGrpSpPr/>
          <p:nvPr/>
        </p:nvGrpSpPr>
        <p:grpSpPr>
          <a:xfrm>
            <a:off x="3255683" y="3630381"/>
            <a:ext cx="549967" cy="491110"/>
            <a:chOff x="3255682" y="3630381"/>
            <a:chExt cx="549967" cy="49111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017CAEA-9793-25C0-BBEA-8DD939758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3969834"/>
              <a:ext cx="0" cy="15165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C460B78F-1280-73A9-F0B2-C35917CAB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55682" y="3630381"/>
              <a:ext cx="549967" cy="357696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0A1CFB-EC8D-7DFE-63EA-1FE6F11467DF}"/>
              </a:ext>
            </a:extLst>
          </p:cNvPr>
          <p:cNvCxnSpPr>
            <a:cxnSpLocks/>
          </p:cNvCxnSpPr>
          <p:nvPr/>
        </p:nvCxnSpPr>
        <p:spPr>
          <a:xfrm flipV="1">
            <a:off x="3969005" y="2836414"/>
            <a:ext cx="0" cy="12890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1ACEFC-3C44-0EF1-54BE-5EA0483009C6}"/>
              </a:ext>
            </a:extLst>
          </p:cNvPr>
          <p:cNvSpPr txBox="1"/>
          <p:nvPr/>
        </p:nvSpPr>
        <p:spPr>
          <a:xfrm>
            <a:off x="2833686" y="2170111"/>
            <a:ext cx="227063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200" b="1" u="sng"/>
              <a:t>486 PC (early nineties)</a:t>
            </a:r>
          </a:p>
          <a:p>
            <a:r>
              <a:rPr lang="sv-SE" sz="900"/>
              <a:t>CPU: Intel 80486 – 25-66Mhz</a:t>
            </a:r>
          </a:p>
          <a:p>
            <a:r>
              <a:rPr lang="sv-SE" sz="900"/>
              <a:t>Registers: Samma som 386</a:t>
            </a:r>
          </a:p>
          <a:p>
            <a:r>
              <a:rPr lang="sv-SE" sz="900"/>
              <a:t>L1 Cache</a:t>
            </a:r>
            <a:r>
              <a:rPr lang="sv-SE" sz="900" b="1"/>
              <a:t> </a:t>
            </a:r>
            <a:r>
              <a:rPr lang="sv-SE" sz="900"/>
              <a:t>(för instruktioner och data)</a:t>
            </a:r>
          </a:p>
          <a:p>
            <a:r>
              <a:rPr lang="sv-SE" sz="900" b="1"/>
              <a:t>Pipelining </a:t>
            </a:r>
            <a:endParaRPr lang="LID4096" sz="900" b="1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9A69D8F-9A3F-F287-5847-0540B0117A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2707" y="4402977"/>
            <a:ext cx="1713088" cy="1881984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960C4E20-012C-A46A-2EEC-B6A760F9EEEF}"/>
              </a:ext>
            </a:extLst>
          </p:cNvPr>
          <p:cNvGrpSpPr/>
          <p:nvPr/>
        </p:nvGrpSpPr>
        <p:grpSpPr>
          <a:xfrm>
            <a:off x="6300590" y="1837483"/>
            <a:ext cx="4787989" cy="1819265"/>
            <a:chOff x="6300590" y="1837483"/>
            <a:chExt cx="4787989" cy="1819265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3F38EB8-5FB4-A2F1-7ABE-B8AFF753089F}"/>
                </a:ext>
              </a:extLst>
            </p:cNvPr>
            <p:cNvGrpSpPr/>
            <p:nvPr/>
          </p:nvGrpSpPr>
          <p:grpSpPr>
            <a:xfrm>
              <a:off x="6300590" y="1837483"/>
              <a:ext cx="4787989" cy="1819265"/>
              <a:chOff x="6300590" y="1837483"/>
              <a:chExt cx="4787989" cy="181926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670B1C9-98F8-1A18-3890-D9D44959DA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0590" y="1837483"/>
                <a:ext cx="955289" cy="862325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0811E50E-E125-9C08-9658-A45B6C2F9A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7478341">
                <a:off x="9753931" y="2259994"/>
                <a:ext cx="1666040" cy="1003256"/>
              </a:xfrm>
              <a:prstGeom prst="rect">
                <a:avLst/>
              </a:prstGeom>
            </p:spPr>
          </p:pic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E7BB3878-4903-704C-A680-3DBE2674271F}"/>
                  </a:ext>
                </a:extLst>
              </p:cNvPr>
              <p:cNvGrpSpPr/>
              <p:nvPr/>
            </p:nvGrpSpPr>
            <p:grpSpPr>
              <a:xfrm>
                <a:off x="7316497" y="2019335"/>
                <a:ext cx="2671517" cy="680473"/>
                <a:chOff x="7316497" y="2019335"/>
                <a:chExt cx="2671517" cy="680473"/>
              </a:xfrm>
            </p:grpSpPr>
            <p:sp>
              <p:nvSpPr>
                <p:cNvPr id="34" name="Arrow: Right 33">
                  <a:extLst>
                    <a:ext uri="{FF2B5EF4-FFF2-40B4-BE49-F238E27FC236}">
                      <a16:creationId xmlns:a16="http://schemas.microsoft.com/office/drawing/2014/main" id="{10AADB16-B332-2C6B-78E5-2A2F499DCAE4}"/>
                    </a:ext>
                  </a:extLst>
                </p:cNvPr>
                <p:cNvSpPr/>
                <p:nvPr/>
              </p:nvSpPr>
              <p:spPr>
                <a:xfrm>
                  <a:off x="7316497" y="2019335"/>
                  <a:ext cx="2671517" cy="680473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04317EA-2BEA-419B-2F19-A82926829030}"/>
                    </a:ext>
                  </a:extLst>
                </p:cNvPr>
                <p:cNvSpPr txBox="1"/>
                <p:nvPr/>
              </p:nvSpPr>
              <p:spPr>
                <a:xfrm>
                  <a:off x="7655243" y="2170111"/>
                  <a:ext cx="213231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1000"/>
                    <a:t>Läs instruktionerna från 0x2000000</a:t>
                  </a:r>
                </a:p>
                <a:p>
                  <a:r>
                    <a:rPr lang="sv-SE" sz="1000"/>
                    <a:t>till 0x200000FF</a:t>
                  </a:r>
                  <a:endParaRPr lang="LID4096" sz="1000"/>
                </a:p>
              </p:txBody>
            </p: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E7F7566-EDDB-3389-546F-B75D980A9D52}"/>
                  </a:ext>
                </a:extLst>
              </p:cNvPr>
              <p:cNvSpPr txBox="1"/>
              <p:nvPr/>
            </p:nvSpPr>
            <p:spPr>
              <a:xfrm>
                <a:off x="6968196" y="2666559"/>
                <a:ext cx="13740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00"/>
                  <a:t>...kör en massa kod...</a:t>
                </a:r>
                <a:endParaRPr lang="LID4096" sz="1000"/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6133659C-A8FA-BBFA-52EA-CC47A3B81AA4}"/>
                  </a:ext>
                </a:extLst>
              </p:cNvPr>
              <p:cNvGrpSpPr/>
              <p:nvPr/>
            </p:nvGrpSpPr>
            <p:grpSpPr>
              <a:xfrm>
                <a:off x="7300079" y="2843352"/>
                <a:ext cx="2671517" cy="680473"/>
                <a:chOff x="7316497" y="2019335"/>
                <a:chExt cx="2671517" cy="680473"/>
              </a:xfrm>
            </p:grpSpPr>
            <p:sp>
              <p:nvSpPr>
                <p:cNvPr id="42" name="Arrow: Right 41">
                  <a:extLst>
                    <a:ext uri="{FF2B5EF4-FFF2-40B4-BE49-F238E27FC236}">
                      <a16:creationId xmlns:a16="http://schemas.microsoft.com/office/drawing/2014/main" id="{2680B7CD-CCA3-6255-4243-234DEC58740D}"/>
                    </a:ext>
                  </a:extLst>
                </p:cNvPr>
                <p:cNvSpPr/>
                <p:nvPr/>
              </p:nvSpPr>
              <p:spPr>
                <a:xfrm>
                  <a:off x="7316497" y="2019335"/>
                  <a:ext cx="2671517" cy="680473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2BEB7A6C-23DB-7C42-E492-66328E217ADF}"/>
                    </a:ext>
                  </a:extLst>
                </p:cNvPr>
                <p:cNvSpPr txBox="1"/>
                <p:nvPr/>
              </p:nvSpPr>
              <p:spPr>
                <a:xfrm>
                  <a:off x="7655243" y="2170111"/>
                  <a:ext cx="213231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1000"/>
                    <a:t>Läs instruktionerna från 0x2000100</a:t>
                  </a:r>
                </a:p>
                <a:p>
                  <a:r>
                    <a:rPr lang="sv-SE" sz="1000"/>
                    <a:t>till 0x200001FF</a:t>
                  </a:r>
                  <a:endParaRPr lang="LID4096" sz="1000"/>
                </a:p>
              </p:txBody>
            </p:sp>
          </p:grp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B5448E-09D8-35AD-DA21-A87F7162693E}"/>
                  </a:ext>
                </a:extLst>
              </p:cNvPr>
              <p:cNvSpPr txBox="1"/>
              <p:nvPr/>
            </p:nvSpPr>
            <p:spPr>
              <a:xfrm>
                <a:off x="6968196" y="3410527"/>
                <a:ext cx="13740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00"/>
                  <a:t>...kör en massa kod...</a:t>
                </a:r>
                <a:endParaRPr lang="LID4096" sz="1000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18BA461-D232-4450-0D57-62552603E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8095" y="2603423"/>
              <a:ext cx="381117" cy="274119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337FC86-A37E-925F-5B24-66FB4969BF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210" y="4914078"/>
            <a:ext cx="1448002" cy="172426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B9EEC87-7FB2-4979-E261-48D8733613DF}"/>
              </a:ext>
            </a:extLst>
          </p:cNvPr>
          <p:cNvSpPr txBox="1"/>
          <p:nvPr/>
        </p:nvSpPr>
        <p:spPr>
          <a:xfrm>
            <a:off x="7353300" y="4815458"/>
            <a:ext cx="843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Fetch:</a:t>
            </a:r>
            <a:endParaRPr lang="LID4096" b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B2782E-A506-A2B2-B6E0-B394383AF21A}"/>
              </a:ext>
            </a:extLst>
          </p:cNvPr>
          <p:cNvSpPr txBox="1"/>
          <p:nvPr/>
        </p:nvSpPr>
        <p:spPr>
          <a:xfrm>
            <a:off x="8108243" y="4815458"/>
            <a:ext cx="1067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Decode:</a:t>
            </a:r>
            <a:endParaRPr lang="LID4096" b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A27389-1A4D-CA07-F1A1-1004FA13563C}"/>
              </a:ext>
            </a:extLst>
          </p:cNvPr>
          <p:cNvSpPr txBox="1"/>
          <p:nvPr/>
        </p:nvSpPr>
        <p:spPr>
          <a:xfrm>
            <a:off x="9087350" y="4815458"/>
            <a:ext cx="1094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Execute:</a:t>
            </a:r>
            <a:endParaRPr lang="LID4096" b="1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28C0C9-AAA5-1AED-D381-1E71DD1FFBE4}"/>
              </a:ext>
            </a:extLst>
          </p:cNvPr>
          <p:cNvSpPr txBox="1"/>
          <p:nvPr/>
        </p:nvSpPr>
        <p:spPr>
          <a:xfrm>
            <a:off x="10093066" y="4815458"/>
            <a:ext cx="1335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Writeback:</a:t>
            </a:r>
            <a:endParaRPr lang="LID4096" b="1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DBCD965A-458D-9A62-5C52-06614FE5465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76" y="5208412"/>
            <a:ext cx="757581" cy="141186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40A62CEA-531D-B03B-F201-C5A3142C33BB}"/>
              </a:ext>
            </a:extLst>
          </p:cNvPr>
          <p:cNvGrpSpPr/>
          <p:nvPr/>
        </p:nvGrpSpPr>
        <p:grpSpPr>
          <a:xfrm>
            <a:off x="7439476" y="5435910"/>
            <a:ext cx="1575151" cy="151222"/>
            <a:chOff x="7439476" y="5435910"/>
            <a:chExt cx="1575151" cy="151222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6797766-C344-B6E5-1A43-CFAA3F1201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57046" y="5435910"/>
              <a:ext cx="757581" cy="141186"/>
            </a:xfrm>
            <a:prstGeom prst="rect">
              <a:avLst/>
            </a:prstGeom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58A45D1A-D6B0-49C2-FF0E-559234267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9476" y="5435910"/>
              <a:ext cx="741354" cy="151222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9E51A3E-ABC9-E2C3-D9A2-A932C00B18E8}"/>
              </a:ext>
            </a:extLst>
          </p:cNvPr>
          <p:cNvGrpSpPr/>
          <p:nvPr/>
        </p:nvGrpSpPr>
        <p:grpSpPr>
          <a:xfrm>
            <a:off x="7439477" y="5635025"/>
            <a:ext cx="2532119" cy="188984"/>
            <a:chOff x="7439477" y="5635025"/>
            <a:chExt cx="2532119" cy="188984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AF75D99C-71F8-C7CA-EEE3-8E0C6EF7E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4015" y="5635025"/>
              <a:ext cx="757581" cy="141186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C958C6E9-787D-7021-04FF-2ABA819D4C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1526" y="5637061"/>
              <a:ext cx="741354" cy="151222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953257F0-AD47-555F-0174-B0C5618CD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9477" y="5670314"/>
              <a:ext cx="741354" cy="153695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6B3FB30-B4C0-139D-DD78-1216F8F5581B}"/>
              </a:ext>
            </a:extLst>
          </p:cNvPr>
          <p:cNvGrpSpPr/>
          <p:nvPr/>
        </p:nvGrpSpPr>
        <p:grpSpPr>
          <a:xfrm>
            <a:off x="7449539" y="5855339"/>
            <a:ext cx="3516202" cy="161993"/>
            <a:chOff x="7449539" y="5855339"/>
            <a:chExt cx="3516202" cy="161993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19CD4AD-B86D-5B35-7E65-A3F11F8FA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08160" y="5865375"/>
              <a:ext cx="757581" cy="141186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7C1EB74B-0E1B-54C3-B151-C020D56C7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4015" y="5855339"/>
              <a:ext cx="741354" cy="151222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CC6C14-3286-7D51-278E-C741967BB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5159" y="5862744"/>
              <a:ext cx="741354" cy="153695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F0448FF9-3338-DD63-4496-8353288AE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49539" y="5863637"/>
              <a:ext cx="747518" cy="153695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7B245C5-E429-7BB3-DF25-BCBB9FAE18D6}"/>
              </a:ext>
            </a:extLst>
          </p:cNvPr>
          <p:cNvGrpSpPr/>
          <p:nvPr/>
        </p:nvGrpSpPr>
        <p:grpSpPr>
          <a:xfrm>
            <a:off x="7439476" y="6072750"/>
            <a:ext cx="3510038" cy="167018"/>
            <a:chOff x="7439476" y="6072750"/>
            <a:chExt cx="3510038" cy="167018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5E513B4-6A50-A75D-1FCA-8A56BA03A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08160" y="6088546"/>
              <a:ext cx="741354" cy="151222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4604CF33-D2F6-3889-4397-0FBBC30D0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4015" y="6072751"/>
              <a:ext cx="741354" cy="153695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6FE5-A659-4329-48E9-80915F42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57046" y="6072750"/>
              <a:ext cx="747518" cy="153695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87558B2F-6801-6E0A-D99B-D1ACEE8A58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9476" y="6079289"/>
              <a:ext cx="786347" cy="1536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3760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2A6DF-E0BE-957C-34DA-119FB7E86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63C8F-0350-2122-090E-41A0FF3DF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D7AB122-7B7C-3813-2F26-86DA81D670A1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646907-4F0C-B9B9-C7C8-D4CB218E2A3B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43B7C2-62C4-EAA0-CC3D-43BEEA799063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A1916AA-9B74-F992-044D-C9589AD604BB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888A6E-5C8E-8F5F-9C7B-C6378ACD9293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87D774-C23D-0AC9-A221-E79410A3EDF0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EEAB29-BE8A-3CFC-BC61-0C33C97045D3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47C47D6-A944-9A07-F196-798CC7ACACBE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269D281-9DEA-2FB4-B71A-E78AEF0B512B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88CA2C9-80C8-C6C8-5C14-74E6C4935F33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41F9411-438C-28FC-BCD8-7742681B6B7C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1E9768D-3880-3D08-81D2-E489759D66E0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57A164A-6765-9217-1B8F-571898DE8BAB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548ABB-13F7-0E85-C79C-46EC1CB23186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B928F4-A457-560E-BDC3-7C120DDDBA79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5F716C4-B1CB-8EF8-9196-C5F57454967E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0A65BFB-0BD3-1D22-9F5B-6E3FE2684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81770F-1F1F-0A6E-E43F-DFA9ADCE6B1C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61F2E5-2261-3E68-0392-63FCE6AE4E3C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6F38640-ADD4-2808-AD10-216EB70E1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AE599147-76C0-37EB-31F6-B629B83739A9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464F642-AD83-F747-3A45-D8021B4FF6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1F83D69D-5A26-FBF3-B870-0A1F19236E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84D522E-7EE6-AFEB-76E1-AF9D7EFBBF6F}"/>
              </a:ext>
            </a:extLst>
          </p:cNvPr>
          <p:cNvGrpSpPr/>
          <p:nvPr/>
        </p:nvGrpSpPr>
        <p:grpSpPr>
          <a:xfrm>
            <a:off x="3255683" y="3630381"/>
            <a:ext cx="549967" cy="491110"/>
            <a:chOff x="3255682" y="3630381"/>
            <a:chExt cx="549967" cy="49111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0B57BF0-0409-0708-EFDF-03BB35D92B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3969834"/>
              <a:ext cx="0" cy="15165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3CA6589-61A3-56F3-52A9-AA0F852E9D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55682" y="3630381"/>
              <a:ext cx="549967" cy="357696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B64250-7F07-5D44-6ABF-8502E01FB048}"/>
              </a:ext>
            </a:extLst>
          </p:cNvPr>
          <p:cNvCxnSpPr>
            <a:cxnSpLocks/>
          </p:cNvCxnSpPr>
          <p:nvPr/>
        </p:nvCxnSpPr>
        <p:spPr>
          <a:xfrm flipV="1">
            <a:off x="3969005" y="4121491"/>
            <a:ext cx="0" cy="2305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63629CCF-6E2E-F781-0437-6B14C8583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8969" y="4462274"/>
            <a:ext cx="705278" cy="774812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4767182C-BEA9-FB34-68D0-39BBC87CDFC7}"/>
              </a:ext>
            </a:extLst>
          </p:cNvPr>
          <p:cNvGrpSpPr/>
          <p:nvPr/>
        </p:nvGrpSpPr>
        <p:grpSpPr>
          <a:xfrm>
            <a:off x="6096000" y="2459476"/>
            <a:ext cx="2270638" cy="1682087"/>
            <a:chOff x="6096000" y="2459476"/>
            <a:chExt cx="2270638" cy="168208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F4D4FF1-D023-7B03-0EBC-CD74E56E6D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00096" y="2852482"/>
              <a:ext cx="0" cy="128908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0F0A59A-F28A-704C-C506-A49B889DE3F7}"/>
                </a:ext>
              </a:extLst>
            </p:cNvPr>
            <p:cNvSpPr txBox="1"/>
            <p:nvPr/>
          </p:nvSpPr>
          <p:spPr>
            <a:xfrm>
              <a:off x="6096000" y="2459476"/>
              <a:ext cx="2270638" cy="4154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Pentium 4 (mid-2000s)</a:t>
              </a:r>
            </a:p>
            <a:p>
              <a:r>
                <a:rPr lang="sv-SE" sz="900"/>
                <a:t>CPU: 3.8GHz!!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57BFDAE-F1A5-9D2E-1434-02A93DA63AD7}"/>
              </a:ext>
            </a:extLst>
          </p:cNvPr>
          <p:cNvGrpSpPr/>
          <p:nvPr/>
        </p:nvGrpSpPr>
        <p:grpSpPr>
          <a:xfrm>
            <a:off x="5893859" y="4155678"/>
            <a:ext cx="1925508" cy="2049158"/>
            <a:chOff x="2567912" y="1240016"/>
            <a:chExt cx="1925508" cy="204915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1BD10E3-3947-7F54-47E9-1CEC498F5B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7140" y="1240016"/>
              <a:ext cx="0" cy="128908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B2D7E51-AB46-6396-DDDF-526BC706B349}"/>
                </a:ext>
              </a:extLst>
            </p:cNvPr>
            <p:cNvSpPr txBox="1"/>
            <p:nvPr/>
          </p:nvSpPr>
          <p:spPr>
            <a:xfrm>
              <a:off x="2567912" y="1799309"/>
              <a:ext cx="1925508" cy="23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900"/>
                <a:t>The frequency wall is approaching</a:t>
              </a:r>
              <a:endParaRPr lang="LID4096" sz="900"/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357B1B3-363D-6DA6-EEA0-AFCBCA160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67912" y="2036831"/>
              <a:ext cx="1925508" cy="12523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0409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2896-7B6C-3210-C57B-FF38ABAEE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5B4AF-F766-B1B4-D842-DDC53670B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2963E8-E686-8C6A-EFDF-8B72A8B2D9DB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3437677-1303-0E4F-2C8D-84FDDC27B53D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4A43AA-CCDF-1F4C-EEA4-6F461D2F1AEE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D2ABE05-FACA-61CD-B3F6-74F8CAA91EB1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0389281-D2C0-3B1F-9EAF-E1D152CAD4DC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9FFC97E-E87D-7DCE-3965-FA89405BF910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12C5E2A-77BA-3C70-7FD8-EEC206D6C16C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05D9EEF-A64E-3728-7DBF-B44C206F3045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3007AB-DEC8-AD5F-D9BA-00EF8B798F31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60DA648-8126-16D7-5D79-D5D1B93E0B0E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B7255E3-23E8-9A2A-978F-1D133EA1965E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3872EAA-F871-FE00-07E2-0552F8B2B003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96FD43-EB44-0954-1F26-CE877528EAAF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A864151-741D-F21B-7626-9C98B776652A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C8C6490-5812-5B7F-3BE5-4ADA9EE9160F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733597E-84B9-BB8C-CE2A-D74218091310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7615285-7AA3-63E7-5054-302522537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209BC17-E96D-56E3-5C16-B58E3EE8F58A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7D23414-EB51-85A9-0AE3-49C057588A62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560CAF51-A199-74A7-6737-BD7715969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A78B146B-262E-3EE0-2643-2A0AAA8F874D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58CE037-B518-047D-102D-106DAC4E19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C56B3D4B-589A-B577-59F6-566F2E0DF0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9211D2F-CC7F-C9BE-2A20-AC478E4B3E55}"/>
              </a:ext>
            </a:extLst>
          </p:cNvPr>
          <p:cNvGrpSpPr/>
          <p:nvPr/>
        </p:nvGrpSpPr>
        <p:grpSpPr>
          <a:xfrm>
            <a:off x="3255683" y="3630381"/>
            <a:ext cx="549967" cy="491110"/>
            <a:chOff x="3255682" y="3630381"/>
            <a:chExt cx="549967" cy="49111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F69E51A-BB7A-A721-F496-73BCCA7E94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3969834"/>
              <a:ext cx="0" cy="15165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8D7DF7D-B2DC-0EB8-B753-2AEF8F6E6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55682" y="3630381"/>
              <a:ext cx="549967" cy="357696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A66A2CD-8DF7-3E07-2F18-BCED78AFE6BB}"/>
              </a:ext>
            </a:extLst>
          </p:cNvPr>
          <p:cNvCxnSpPr>
            <a:cxnSpLocks/>
          </p:cNvCxnSpPr>
          <p:nvPr/>
        </p:nvCxnSpPr>
        <p:spPr>
          <a:xfrm flipV="1">
            <a:off x="3969005" y="4121491"/>
            <a:ext cx="0" cy="2305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81E793F7-CF65-5BA0-84A9-EEAFD5BFC1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8969" y="4462274"/>
            <a:ext cx="705278" cy="774812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812F84FC-70CA-E3B9-1E5D-D825FAE22516}"/>
              </a:ext>
            </a:extLst>
          </p:cNvPr>
          <p:cNvGrpSpPr/>
          <p:nvPr/>
        </p:nvGrpSpPr>
        <p:grpSpPr>
          <a:xfrm>
            <a:off x="6912269" y="2400289"/>
            <a:ext cx="2270638" cy="1704280"/>
            <a:chOff x="6131684" y="2437283"/>
            <a:chExt cx="2270638" cy="170428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5B318B4-2AB7-AD11-9E53-62761FC0E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00096" y="2852482"/>
              <a:ext cx="0" cy="128908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672095-6039-2948-04BF-67BEC509DEBE}"/>
                </a:ext>
              </a:extLst>
            </p:cNvPr>
            <p:cNvSpPr txBox="1"/>
            <p:nvPr/>
          </p:nvSpPr>
          <p:spPr>
            <a:xfrm>
              <a:off x="6131684" y="2437283"/>
              <a:ext cx="2270638" cy="4154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 b="1" u="sng"/>
                <a:t>Intel Core 2 Quad</a:t>
              </a:r>
            </a:p>
            <a:p>
              <a:r>
                <a:rPr lang="sv-SE" sz="900"/>
                <a:t>CPU: 2.4GHz, </a:t>
              </a:r>
              <a:r>
                <a:rPr lang="sv-SE" sz="900" b="1"/>
                <a:t> 4 cores</a:t>
              </a:r>
              <a:endParaRPr lang="sv-SE" sz="90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32EA4D4-075B-071A-5D2B-43B54EDF157C}"/>
              </a:ext>
            </a:extLst>
          </p:cNvPr>
          <p:cNvGrpSpPr/>
          <p:nvPr/>
        </p:nvGrpSpPr>
        <p:grpSpPr>
          <a:xfrm>
            <a:off x="6603640" y="4121491"/>
            <a:ext cx="705278" cy="689234"/>
            <a:chOff x="3124501" y="1240016"/>
            <a:chExt cx="705278" cy="68923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DDA3E90-CF11-D695-FD35-41B28C44D2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7140" y="1240016"/>
              <a:ext cx="0" cy="23052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3EAD619-D10B-025A-9091-E6796A1EE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24501" y="1470540"/>
              <a:ext cx="705278" cy="45871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732D04-67C0-E8E2-675C-D6592A0B1AAF}"/>
              </a:ext>
            </a:extLst>
          </p:cNvPr>
          <p:cNvGrpSpPr/>
          <p:nvPr/>
        </p:nvGrpSpPr>
        <p:grpSpPr>
          <a:xfrm>
            <a:off x="6255649" y="4121491"/>
            <a:ext cx="1925508" cy="2049158"/>
            <a:chOff x="2567912" y="1240016"/>
            <a:chExt cx="1925508" cy="2049158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26FB9CA-1B62-B1EB-60D3-5537BE8678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7140" y="1240016"/>
              <a:ext cx="0" cy="128908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49C2261-5224-B609-8EBD-9BE5761B6A70}"/>
                </a:ext>
              </a:extLst>
            </p:cNvPr>
            <p:cNvSpPr txBox="1"/>
            <p:nvPr/>
          </p:nvSpPr>
          <p:spPr>
            <a:xfrm>
              <a:off x="2567912" y="1799309"/>
              <a:ext cx="1925508" cy="23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900"/>
                <a:t>The power wall is approaching</a:t>
              </a:r>
              <a:endParaRPr lang="LID4096" sz="900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89283E1-435D-E1A0-1846-86263C5736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67912" y="2036831"/>
              <a:ext cx="1925508" cy="12523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0094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BBA42-9714-6152-F40C-95510356E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4C1AB-AEC3-C067-87D4-578313EA1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kan ni nu? </a:t>
            </a:r>
            <a:endParaRPr lang="LID4096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A6CAD46-9A86-F91A-0145-4BF7761EA804}"/>
              </a:ext>
            </a:extLst>
          </p:cNvPr>
          <p:cNvCxnSpPr>
            <a:cxnSpLocks/>
          </p:cNvCxnSpPr>
          <p:nvPr/>
        </p:nvCxnSpPr>
        <p:spPr>
          <a:xfrm>
            <a:off x="410365" y="4134872"/>
            <a:ext cx="11427770" cy="0"/>
          </a:xfrm>
          <a:prstGeom prst="straightConnector1">
            <a:avLst/>
          </a:prstGeom>
          <a:ln w="127000">
            <a:solidFill>
              <a:schemeClr val="tx1"/>
            </a:solidFill>
            <a:tailEnd type="stealth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3DE34A5-084B-C0D0-E0C4-7A1A926B57DF}"/>
              </a:ext>
            </a:extLst>
          </p:cNvPr>
          <p:cNvGrpSpPr/>
          <p:nvPr/>
        </p:nvGrpSpPr>
        <p:grpSpPr>
          <a:xfrm>
            <a:off x="303313" y="4121491"/>
            <a:ext cx="678391" cy="525449"/>
            <a:chOff x="303313" y="4121491"/>
            <a:chExt cx="678391" cy="52544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60EC20-E119-EA45-D8D2-694F370E236C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1980</a:t>
              </a:r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91AC271-FEE7-5873-0BC9-5BF8BD5BCED5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47AA867-7D7D-EABF-AE3F-6862FB40EAAF}"/>
              </a:ext>
            </a:extLst>
          </p:cNvPr>
          <p:cNvGrpSpPr/>
          <p:nvPr/>
        </p:nvGrpSpPr>
        <p:grpSpPr>
          <a:xfrm>
            <a:off x="2929152" y="4121491"/>
            <a:ext cx="678391" cy="525449"/>
            <a:chOff x="303313" y="4121491"/>
            <a:chExt cx="678391" cy="52544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6C498D8-91E2-57F2-8B9A-CFB620330F14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1990</a:t>
              </a:r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A7A543-CF1F-3233-D710-D472A12CFC97}"/>
                </a:ext>
              </a:extLst>
            </p:cNvPr>
            <p:cNvCxnSpPr>
              <a:stCxn id="12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B3C63C-7595-7D36-AF17-060867F2A9DE}"/>
              </a:ext>
            </a:extLst>
          </p:cNvPr>
          <p:cNvGrpSpPr/>
          <p:nvPr/>
        </p:nvGrpSpPr>
        <p:grpSpPr>
          <a:xfrm>
            <a:off x="5554991" y="4121491"/>
            <a:ext cx="678391" cy="525449"/>
            <a:chOff x="303313" y="4121491"/>
            <a:chExt cx="678391" cy="52544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213CB5D-22B0-370D-1AFD-2C6360566DCA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2000</a:t>
              </a:r>
              <a:endParaRPr lang="LID4096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335742B-45C7-94CA-8B2A-4F1BA4ECCDF3}"/>
                </a:ext>
              </a:extLst>
            </p:cNvPr>
            <p:cNvCxnSpPr>
              <a:stCxn id="15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A9D121-0CC1-450A-D8D0-242A74879495}"/>
              </a:ext>
            </a:extLst>
          </p:cNvPr>
          <p:cNvGrpSpPr/>
          <p:nvPr/>
        </p:nvGrpSpPr>
        <p:grpSpPr>
          <a:xfrm>
            <a:off x="8180830" y="4121491"/>
            <a:ext cx="678391" cy="525449"/>
            <a:chOff x="303313" y="4121491"/>
            <a:chExt cx="678391" cy="52544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0E5B0EC-2C4C-9F79-A0B8-3CD7258C8392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2010</a:t>
              </a:r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414D7F-17A9-2E3D-EEB1-CB836D188B27}"/>
                </a:ext>
              </a:extLst>
            </p:cNvPr>
            <p:cNvCxnSpPr>
              <a:stCxn id="18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C58DCC2-4AA3-0C45-A569-A7DACB5377EE}"/>
              </a:ext>
            </a:extLst>
          </p:cNvPr>
          <p:cNvGrpSpPr/>
          <p:nvPr/>
        </p:nvGrpSpPr>
        <p:grpSpPr>
          <a:xfrm>
            <a:off x="10806669" y="4121491"/>
            <a:ext cx="678391" cy="525449"/>
            <a:chOff x="303313" y="4121491"/>
            <a:chExt cx="678391" cy="52544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6CAEE65-0007-42B3-3E65-ABE2C5B1B9CA}"/>
                </a:ext>
              </a:extLst>
            </p:cNvPr>
            <p:cNvSpPr txBox="1"/>
            <p:nvPr/>
          </p:nvSpPr>
          <p:spPr>
            <a:xfrm>
              <a:off x="303313" y="4277608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/>
                <a:t>2020</a:t>
              </a:r>
              <a:endParaRPr lang="LID4096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85D2B0-F8D7-CF54-AEC3-0F58F618D509}"/>
                </a:ext>
              </a:extLst>
            </p:cNvPr>
            <p:cNvCxnSpPr>
              <a:stCxn id="21" idx="0"/>
            </p:cNvCxnSpPr>
            <p:nvPr/>
          </p:nvCxnSpPr>
          <p:spPr>
            <a:xfrm flipH="1" flipV="1">
              <a:off x="642508" y="4121491"/>
              <a:ext cx="1" cy="1561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D530E68-D0F9-FA20-72EB-008C302D4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08" y="4629987"/>
            <a:ext cx="1008070" cy="55027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4EE112D-151E-C09C-5A0F-ED039D926345}"/>
              </a:ext>
            </a:extLst>
          </p:cNvPr>
          <p:cNvCxnSpPr>
            <a:cxnSpLocks/>
          </p:cNvCxnSpPr>
          <p:nvPr/>
        </p:nvCxnSpPr>
        <p:spPr>
          <a:xfrm flipV="1">
            <a:off x="1221727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B81C6F-6617-44D5-88A2-27CCBEC6C6A7}"/>
              </a:ext>
            </a:extLst>
          </p:cNvPr>
          <p:cNvCxnSpPr>
            <a:cxnSpLocks/>
          </p:cNvCxnSpPr>
          <p:nvPr/>
        </p:nvCxnSpPr>
        <p:spPr>
          <a:xfrm flipV="1">
            <a:off x="2698194" y="4134872"/>
            <a:ext cx="0" cy="51206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C361204-82EE-C025-B07B-BE879765D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408" y="4731690"/>
            <a:ext cx="1056939" cy="77481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55312D00-CD01-590B-C41A-DB457FC0A7A8}"/>
              </a:ext>
            </a:extLst>
          </p:cNvPr>
          <p:cNvGrpSpPr/>
          <p:nvPr/>
        </p:nvGrpSpPr>
        <p:grpSpPr>
          <a:xfrm>
            <a:off x="2220404" y="3032335"/>
            <a:ext cx="934332" cy="1089156"/>
            <a:chOff x="3433459" y="5064149"/>
            <a:chExt cx="934332" cy="1089156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1FFD9F5-BDC7-313A-21B2-A1E419E0C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2393" y="5705325"/>
              <a:ext cx="0" cy="44798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Picture 2" descr="IBM PC 5150">
              <a:extLst>
                <a:ext uri="{FF2B5EF4-FFF2-40B4-BE49-F238E27FC236}">
                  <a16:creationId xmlns:a16="http://schemas.microsoft.com/office/drawing/2014/main" id="{7FFDBDA4-F2C1-4D2B-18FC-EF0B654C69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3459" y="5064149"/>
              <a:ext cx="934332" cy="687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33F78A1-FFF3-746E-C368-13FBBDA8B862}"/>
              </a:ext>
            </a:extLst>
          </p:cNvPr>
          <p:cNvGrpSpPr/>
          <p:nvPr/>
        </p:nvGrpSpPr>
        <p:grpSpPr>
          <a:xfrm>
            <a:off x="3255683" y="3630381"/>
            <a:ext cx="549967" cy="491110"/>
            <a:chOff x="3255682" y="3630381"/>
            <a:chExt cx="549967" cy="491110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056B192-DB65-3D87-C190-86A066D987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666" y="3969834"/>
              <a:ext cx="0" cy="15165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8A74179-8A39-9D4B-C0CB-9D64C24736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55682" y="3630381"/>
              <a:ext cx="549967" cy="357696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3134F48-FF77-5639-9C3C-B4226B010A69}"/>
              </a:ext>
            </a:extLst>
          </p:cNvPr>
          <p:cNvCxnSpPr>
            <a:cxnSpLocks/>
          </p:cNvCxnSpPr>
          <p:nvPr/>
        </p:nvCxnSpPr>
        <p:spPr>
          <a:xfrm flipV="1">
            <a:off x="3969005" y="4121491"/>
            <a:ext cx="0" cy="2305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1BBBD75-B4A6-F6F0-1CEC-22D5BDA45A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8969" y="4462274"/>
            <a:ext cx="705278" cy="774812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56916554-CD63-FD89-FF98-025EA37F5C63}"/>
              </a:ext>
            </a:extLst>
          </p:cNvPr>
          <p:cNvGrpSpPr/>
          <p:nvPr/>
        </p:nvGrpSpPr>
        <p:grpSpPr>
          <a:xfrm>
            <a:off x="6603640" y="4121491"/>
            <a:ext cx="705278" cy="689234"/>
            <a:chOff x="3124501" y="1240016"/>
            <a:chExt cx="705278" cy="68923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B9A7CD0-E762-CD2E-98C0-FB6DD4D4D0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7140" y="1240016"/>
              <a:ext cx="0" cy="23052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DE87D26-9586-CF4E-091E-692B64919C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24501" y="1470540"/>
              <a:ext cx="705278" cy="458710"/>
            </a:xfrm>
            <a:prstGeom prst="rect">
              <a:avLst/>
            </a:prstGeom>
          </p:spPr>
        </p:pic>
      </p:grpSp>
      <p:sp>
        <p:nvSpPr>
          <p:cNvPr id="43" name="Right Brace 42">
            <a:extLst>
              <a:ext uri="{FF2B5EF4-FFF2-40B4-BE49-F238E27FC236}">
                <a16:creationId xmlns:a16="http://schemas.microsoft.com/office/drawing/2014/main" id="{AC5123A6-B97C-3921-6B3F-A60DFF8DF844}"/>
              </a:ext>
            </a:extLst>
          </p:cNvPr>
          <p:cNvSpPr/>
          <p:nvPr/>
        </p:nvSpPr>
        <p:spPr>
          <a:xfrm rot="5400000">
            <a:off x="10059928" y="3223177"/>
            <a:ext cx="211705" cy="322873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F55A6F-3809-D371-9310-87F6B81213BC}"/>
              </a:ext>
            </a:extLst>
          </p:cNvPr>
          <p:cNvSpPr txBox="1"/>
          <p:nvPr/>
        </p:nvSpPr>
        <p:spPr>
          <a:xfrm>
            <a:off x="8611715" y="5036009"/>
            <a:ext cx="3168432" cy="577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050"/>
              <a:t>Om Moores Law hade hållt hade en processor för samma pris idag varit 256x snabbare än en från 2010. Dagens dystra sanning: ~4x snabbare.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F326AAD-EB29-A483-5B96-16B8A1C79204}"/>
              </a:ext>
            </a:extLst>
          </p:cNvPr>
          <p:cNvGrpSpPr/>
          <p:nvPr/>
        </p:nvGrpSpPr>
        <p:grpSpPr>
          <a:xfrm>
            <a:off x="6784044" y="4171099"/>
            <a:ext cx="705278" cy="689234"/>
            <a:chOff x="3124501" y="1240016"/>
            <a:chExt cx="705278" cy="689234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840F2E4-40B1-A1C0-EFA3-FCC3F4100D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7140" y="1240016"/>
              <a:ext cx="0" cy="23052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71020BFD-FD64-295D-FD41-4AF1DC52A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24501" y="1470540"/>
              <a:ext cx="705278" cy="4587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7102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14F14-900F-814A-5726-3548C1829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Prisutdelning!</a:t>
            </a:r>
            <a:endParaRPr lang="LID4096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9C832C-575D-FFF0-AB65-FB33A5F7AB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2638"/>
            <a:ext cx="12192000" cy="48053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ECD975-16B3-FCB7-E358-341143803205}"/>
              </a:ext>
            </a:extLst>
          </p:cNvPr>
          <p:cNvSpPr txBox="1"/>
          <p:nvPr/>
        </p:nvSpPr>
        <p:spPr>
          <a:xfrm>
            <a:off x="6964680" y="2522220"/>
            <a:ext cx="2061975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Oskar Nilsson</a:t>
            </a:r>
          </a:p>
          <a:p>
            <a:r>
              <a:rPr lang="sv-SE">
                <a:solidFill>
                  <a:schemeClr val="bg1"/>
                </a:solidFill>
              </a:rPr>
              <a:t>Viktor Moden</a:t>
            </a:r>
          </a:p>
          <a:p>
            <a:r>
              <a:rPr lang="sv-SE">
                <a:solidFill>
                  <a:schemeClr val="bg1"/>
                </a:solidFill>
              </a:rPr>
              <a:t>Matilda Lysmark</a:t>
            </a:r>
          </a:p>
          <a:p>
            <a:r>
              <a:rPr lang="sv-SE">
                <a:solidFill>
                  <a:schemeClr val="bg1"/>
                </a:solidFill>
              </a:rPr>
              <a:t>Arvid Svenhammar</a:t>
            </a:r>
          </a:p>
          <a:p>
            <a:r>
              <a:rPr lang="sv-SE">
                <a:solidFill>
                  <a:schemeClr val="bg1"/>
                </a:solidFill>
              </a:rPr>
              <a:t>Stefan Karlsson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8EFEAB-461D-B42F-BA99-F940C1E68B13}"/>
              </a:ext>
            </a:extLst>
          </p:cNvPr>
          <p:cNvSpPr txBox="1"/>
          <p:nvPr/>
        </p:nvSpPr>
        <p:spPr>
          <a:xfrm>
            <a:off x="3322320" y="2799219"/>
            <a:ext cx="1679434" cy="92333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Edvin Nyborg</a:t>
            </a:r>
          </a:p>
          <a:p>
            <a:r>
              <a:rPr lang="sv-SE">
                <a:solidFill>
                  <a:schemeClr val="bg1"/>
                </a:solidFill>
              </a:rPr>
              <a:t>Joel Fagersand</a:t>
            </a:r>
          </a:p>
          <a:p>
            <a:r>
              <a:rPr lang="sv-SE">
                <a:solidFill>
                  <a:schemeClr val="bg1"/>
                </a:solidFill>
              </a:rPr>
              <a:t>Gustav Mogren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B8EBE8-169C-9995-23C4-7EBCEFE22A23}"/>
              </a:ext>
            </a:extLst>
          </p:cNvPr>
          <p:cNvSpPr txBox="1"/>
          <p:nvPr/>
        </p:nvSpPr>
        <p:spPr>
          <a:xfrm>
            <a:off x="4867495" y="2383720"/>
            <a:ext cx="2231445" cy="83099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sv-SE" sz="2400">
                <a:solidFill>
                  <a:schemeClr val="bg1"/>
                </a:solidFill>
              </a:rPr>
              <a:t>Gustav Löfqvist</a:t>
            </a:r>
          </a:p>
          <a:p>
            <a:r>
              <a:rPr lang="sv-SE" sz="2400">
                <a:solidFill>
                  <a:schemeClr val="bg1"/>
                </a:solidFill>
              </a:rPr>
              <a:t>Joel Paulsson</a:t>
            </a:r>
            <a:endParaRPr lang="LID4096" sz="2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156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A18A-59C8-5192-66CB-1E9F1D32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Frågor om tentan? 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89637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5658</TotalTime>
  <Words>2720</Words>
  <Application>Microsoft Office PowerPoint</Application>
  <PresentationFormat>Widescreen</PresentationFormat>
  <Paragraphs>518</Paragraphs>
  <Slides>21</Slides>
  <Notes>19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Bradley Hand ITC</vt:lpstr>
      <vt:lpstr>Consolas</vt:lpstr>
      <vt:lpstr>Wingdings</vt:lpstr>
      <vt:lpstr>Office Theme</vt:lpstr>
      <vt:lpstr>Lektion 12</vt:lpstr>
      <vt:lpstr>Vad kan ni nu? </vt:lpstr>
      <vt:lpstr>Vad kan ni nu? </vt:lpstr>
      <vt:lpstr>Vad kan ni nu? </vt:lpstr>
      <vt:lpstr>Vad kan ni nu? </vt:lpstr>
      <vt:lpstr>Multitasking</vt:lpstr>
      <vt:lpstr>Multitasking</vt:lpstr>
      <vt:lpstr>Multitasking</vt:lpstr>
      <vt:lpstr>Vad kan ni nu? </vt:lpstr>
      <vt:lpstr>Vad kan ni nu? </vt:lpstr>
      <vt:lpstr>Multitasking med Address Translation</vt:lpstr>
      <vt:lpstr>Vad kan ni nu? </vt:lpstr>
      <vt:lpstr>Vad kan ni nu? </vt:lpstr>
      <vt:lpstr>Vad kan ni nu? </vt:lpstr>
      <vt:lpstr>Vad kan ni nu? </vt:lpstr>
      <vt:lpstr>Vad kan ni nu? </vt:lpstr>
      <vt:lpstr>Vad kan ni nu? </vt:lpstr>
      <vt:lpstr>Vad kan ni nu? </vt:lpstr>
      <vt:lpstr>Vad kan ni nu? </vt:lpstr>
      <vt:lpstr>Prisutdelning!</vt:lpstr>
      <vt:lpstr>Frågor om tentan?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102</cp:revision>
  <cp:lastPrinted>2026-02-17T11:02:10Z</cp:lastPrinted>
  <dcterms:created xsi:type="dcterms:W3CDTF">2026-01-14T14:09:03Z</dcterms:created>
  <dcterms:modified xsi:type="dcterms:W3CDTF">2026-03-13T10:11:23Z</dcterms:modified>
</cp:coreProperties>
</file>