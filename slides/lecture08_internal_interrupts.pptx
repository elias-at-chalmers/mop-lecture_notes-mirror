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5" r:id="rId9"/>
    <p:sldId id="264" r:id="rId10"/>
    <p:sldId id="268" r:id="rId11"/>
    <p:sldId id="267" r:id="rId12"/>
    <p:sldId id="270" r:id="rId13"/>
    <p:sldId id="269" r:id="rId14"/>
    <p:sldId id="271" r:id="rId15"/>
    <p:sldId id="258" r:id="rId16"/>
    <p:sldId id="273" r:id="rId17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4E61B486-9643-4A02-8A51-D34E00CDE215}">
          <p14:sldIdLst>
            <p14:sldId id="256"/>
            <p14:sldId id="257"/>
            <p14:sldId id="259"/>
            <p14:sldId id="260"/>
            <p14:sldId id="261"/>
            <p14:sldId id="262"/>
            <p14:sldId id="263"/>
            <p14:sldId id="265"/>
            <p14:sldId id="264"/>
            <p14:sldId id="268"/>
            <p14:sldId id="267"/>
            <p14:sldId id="270"/>
            <p14:sldId id="269"/>
            <p14:sldId id="271"/>
            <p14:sldId id="258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73" autoAdjust="0"/>
    <p:restoredTop sz="69391" autoAdjust="0"/>
  </p:normalViewPr>
  <p:slideViewPr>
    <p:cSldViewPr snapToGrid="0">
      <p:cViewPr varScale="1">
        <p:scale>
          <a:sx n="178" d="100"/>
          <a:sy n="178" d="100"/>
        </p:scale>
        <p:origin x="2046" y="16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C9657E-FDB3-4206-AA4E-9AE2AAB0A71C}" type="datetimeFigureOut">
              <a:rPr lang="LID4096" smtClean="0"/>
              <a:t>02/16/2026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B4E41B-EE32-43AA-BF26-21D12108C66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401497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i="0"/>
              <a:t>Kolla om vi har några frivilliga stuentrepresentater? </a:t>
            </a:r>
          </a:p>
          <a:p>
            <a:endParaRPr lang="sv-SE" i="0"/>
          </a:p>
          <a:p>
            <a:r>
              <a:rPr lang="sv-SE" i="0"/>
              <a:t>Idag skall vi börja arbeta med exceptions och interrupts. </a:t>
            </a:r>
          </a:p>
          <a:p>
            <a:r>
              <a:rPr lang="sv-SE" i="0"/>
              <a:t>Kort så handlar detta om att programkoden tillfälligt avbryts för att ta hand om något.</a:t>
            </a:r>
          </a:p>
          <a:p>
            <a:endParaRPr lang="sv-SE" i="0"/>
          </a:p>
          <a:p>
            <a:endParaRPr lang="sv-SE" i="0"/>
          </a:p>
          <a:p>
            <a:endParaRPr lang="LID4096" i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193726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Notera att terminologin skiljer sig ganska mycket beroende på vilken processor man arbetar med. </a:t>
            </a:r>
          </a:p>
          <a:p>
            <a:r>
              <a:rPr lang="sv-SE"/>
              <a:t>Vi håller oss till terminologin i arbetsboken, som i sin tur följer ARMs terminologi. </a:t>
            </a:r>
          </a:p>
          <a:p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471676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ACME betyder peak (den bästa)</a:t>
            </a:r>
          </a:p>
          <a:p>
            <a:r>
              <a:rPr lang="sv-SE"/>
              <a:t>Företag började kalla sig för ACME nånting för att komma högt upp i katalogen. </a:t>
            </a:r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041191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Presentera 7 segment displayen och hur vi kan spela en ton på buzzern. </a:t>
            </a:r>
          </a:p>
          <a:p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427216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Skriv det här programmet live. </a:t>
            </a:r>
          </a:p>
          <a:p>
            <a:r>
              <a:rPr lang="sv-SE"/>
              <a:t>Systick repetition. </a:t>
            </a:r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933833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Get temperature kan vara extern. </a:t>
            </a:r>
          </a:p>
          <a:p>
            <a:endParaRPr lang="sv-SE"/>
          </a:p>
          <a:p>
            <a:r>
              <a:rPr lang="sv-SE"/>
              <a:t>Get7SegCode kan vi egentligen visa dem, men har en färdigbakt lösning när vi visat en siffra. </a:t>
            </a:r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927062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Lösningen: Kör temperaturprogrammet och låt systick avbryta oss varannan millisekund</a:t>
            </a:r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204811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Om ni tittat noggrant p</a:t>
            </a:r>
            <a:r>
              <a:rPr lang="sv-SE"/>
              <a:t>å ”registerlistan” så har ni sett att vi utöver gp registrena har några extra register. </a:t>
            </a:r>
          </a:p>
          <a:p>
            <a:r>
              <a:rPr lang="sv-SE"/>
              <a:t>Finns speciella instruktioner </a:t>
            </a:r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99548654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Visa hur vi hittils tänkt att det funkar (1-4) lägg till interruptkollen. </a:t>
            </a:r>
          </a:p>
          <a:p>
            <a:endParaRPr lang="sv-SE"/>
          </a:p>
          <a:p>
            <a:r>
              <a:rPr lang="sv-SE"/>
              <a:t>För att detta skall funka måste vi alltså ha skrivit addressen till en interrupt handler till registret mtvec</a:t>
            </a:r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9149931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Gå igenom exemplet first_exception. </a:t>
            </a:r>
          </a:p>
          <a:p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8220212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56BBC-A959-7454-C719-354CD471B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58B173-6B5C-356B-B47C-DABBE52805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941E15-CC75-C07D-45B1-5F54364E7B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Lägg till en assemblerfil och skriv in den här koden.</a:t>
            </a:r>
          </a:p>
          <a:p>
            <a:endParaRPr lang="sv-SE"/>
          </a:p>
          <a:p>
            <a:r>
              <a:rPr lang="sv-SE"/>
              <a:t>Stoppa en exception_handler i assembler koden och visa att vi kommer dit om vi gör en unaligned access.</a:t>
            </a:r>
          </a:p>
          <a:p>
            <a:endParaRPr lang="sv-SE"/>
          </a:p>
          <a:p>
            <a:r>
              <a:rPr lang="sv-SE"/>
              <a:t>Visa vad som händer när vi försöker returnera...</a:t>
            </a:r>
          </a:p>
          <a:p>
            <a:endParaRPr lang="sv-SE"/>
          </a:p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3418B1-C898-4471-7ADE-9B5F0E68D2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9739271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994DD-4F43-4DB4-D6CA-91E1806D1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443413-D712-17B1-F90E-C13A3B4102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375C80-0613-5B2D-8DDA-C655D29566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Visa assemblerkoden igen. </a:t>
            </a:r>
          </a:p>
          <a:p>
            <a:r>
              <a:rPr lang="sv-SE"/>
              <a:t>Vissa hur vi kan skriva det i C.</a:t>
            </a:r>
          </a:p>
          <a:p>
            <a:endParaRPr lang="sv-SE"/>
          </a:p>
          <a:p>
            <a:r>
              <a:rPr lang="sv-SE"/>
              <a:t>”r”(systick_handler) säger till kompilatorn att lägga systick handler addressen i ett register först</a:t>
            </a:r>
          </a:p>
          <a:p>
            <a:endParaRPr lang="sv-SE"/>
          </a:p>
          <a:p>
            <a:r>
              <a:rPr lang="sv-SE"/>
              <a:t>VISA write_mtvec som en funktion med parameter istället!</a:t>
            </a:r>
          </a:p>
          <a:p>
            <a:endParaRPr lang="sv-SE"/>
          </a:p>
          <a:p>
            <a:r>
              <a:rPr lang="sv-SE"/>
              <a:t>Visa interrupthanterare som c funktion </a:t>
            </a:r>
          </a:p>
          <a:p>
            <a:r>
              <a:rPr lang="sv-SE"/>
              <a:t>- automatiskt mret och spara rätt register</a:t>
            </a:r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0992B1-ACA8-6549-38F8-A526EFC6D7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8427773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Present the PFIC... the hub that all interrupts go through. </a:t>
            </a:r>
          </a:p>
          <a:p>
            <a:r>
              <a:rPr lang="sv-SE"/>
              <a:t>Describe how all interupts have a number in the vector table and this is hardcoded by the chip manufacturer</a:t>
            </a:r>
          </a:p>
          <a:p>
            <a:r>
              <a:rPr lang="sv-SE"/>
              <a:t>Describe how the PFIC has a bunch of registers that we will look closer at next lecture,</a:t>
            </a:r>
            <a:br>
              <a:rPr lang="sv-SE"/>
            </a:br>
            <a:r>
              <a:rPr lang="sv-SE"/>
              <a:t>but for now we only have to care about the interupt enable register. </a:t>
            </a:r>
          </a:p>
          <a:p>
            <a:r>
              <a:rPr lang="sv-SE"/>
              <a:t>One bit per interrupt. </a:t>
            </a:r>
          </a:p>
          <a:p>
            <a:r>
              <a:rPr lang="sv-SE"/>
              <a:t>SysTick is number 12.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9531347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5AAB0A-F31A-87DE-B397-1F5D1373E6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B601F1-8CDE-D7AE-53C7-B36E2E093D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96413B-2325-0E7F-F75F-07ADC3924D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Skriv det här programmet live. </a:t>
            </a:r>
          </a:p>
          <a:p>
            <a:r>
              <a:rPr lang="sv-SE"/>
              <a:t>Systick repetition. </a:t>
            </a:r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773000-6335-FA3A-FDF9-8F9CDECDC4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612785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7AAEC-3E6C-4451-F486-87E023A511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23331C-A0B6-0FB2-3F60-753189EC5D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DF49D7-5229-A7AD-747E-E6E2A9480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02/16/2026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3705F1-D570-FD0F-514D-706EC4714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82FFF5-DA5D-BE5F-C578-D94F74E27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232673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B61E56A-61B1-4728-4B29-992DB3EED25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D76953-890A-D048-2193-B60830D7D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433386-BED0-D084-18B4-677D6B198F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E72D33-941F-13F9-A7E8-260FC6E52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02/16/2026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59F51-CB1B-DF9A-5CC0-93AFDF675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E42DB4-6401-3763-4016-068E35BF8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884212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7224668-B732-F6E4-82FD-48279E8CE7C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1690688"/>
            <a:ext cx="12192000" cy="5167312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B61E56A-61B1-4728-4B29-992DB3EED25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D76953-890A-D048-2193-B60830D7D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433386-BED0-D084-18B4-677D6B198F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E72D33-941F-13F9-A7E8-260FC6E52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02/16/2026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59F51-CB1B-DF9A-5CC0-93AFDF675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E42DB4-6401-3763-4016-068E35BF8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975086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5AE1C-835E-4237-40BE-548098F751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80726C-642C-40B9-29E4-8CB6438330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D861FB-8DCF-74EB-CB4F-6C8C5FDA2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02/16/2026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B0EE97-CCFB-62D1-AD51-EC2640FFF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24E895-9CC8-B3E0-C23B-C34A3154E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308335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ADA9653-920E-A3FB-A09E-24B10BF25882}"/>
              </a:ext>
            </a:extLst>
          </p:cNvPr>
          <p:cNvSpPr/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912F9C-95D6-9F26-CB8F-4684FA3BC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A225D4-B7C6-E53C-86CB-746972F8BB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4E4528-78B3-D076-447C-021E6D75A5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FD6A9B-7759-36F2-D666-8667C8DE7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02/16/2026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21CEAB-5EF1-8A74-8968-8F0DB2B27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540A9C-A1CD-86C2-36E4-17DFA2A93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81394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AC8CFAD-2C3B-E51D-4FD9-E852766792F8}"/>
              </a:ext>
            </a:extLst>
          </p:cNvPr>
          <p:cNvSpPr/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FA55E2-B180-DE62-C73A-B825DAA5CD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2EA99E-F1A7-2F45-FDF1-5E254A755E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9AB4C4-573F-7FAB-48DA-DAF9781492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7018C2-E8F6-E5E6-79EA-3155C34500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1AF297-CD62-07D0-9158-3B908BD1CA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CD7138E-77A6-33DA-62AD-A97A7ECC8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02/16/2026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097087-613E-94E4-030D-9C72E53CB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53AB01B-9183-BED8-5270-E118181DA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429146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B0351AC-8666-6A69-B402-81D189976CE4}"/>
              </a:ext>
            </a:extLst>
          </p:cNvPr>
          <p:cNvSpPr/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DC8B82-510D-675C-90C7-E85E633B5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AFBD4E8-F59F-752C-FE4A-3B1CDA10D2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02/16/2026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74A05F-55BF-5716-B67E-826F7B5AC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8E29FC-9E20-22D5-23DC-B42B2A2F2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546934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28A2B7A-FCD7-89EB-1A96-B7932F968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02/16/2026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E727F0C-76DF-9396-D50C-E80D75E88C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071C10-AF5A-33B6-0088-2D81FA270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672464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27353D-A96C-86D7-3B51-4AEF89B0E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5426A3-8A7E-2232-C68D-B497DB402E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AEDFD2-8147-E4EA-30DB-B6EE92AFAC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42C160-1681-9853-0D30-D48019EF3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02/16/2026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DBD775-8CC4-1D89-390B-CBE113AFFC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556AE1-23BA-5111-5A0E-06335408D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103254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B0FD3-1A53-ADC5-6F25-17D89C1E9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0D64E3-FFB1-8C2C-B98F-A7A970F3E2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339862-B6A9-674B-99C4-8ABD188F15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A0084A-CEA6-A23A-8D58-A22A15A2D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02/16/2026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F3325F-BB03-5E1E-8BBA-77021E9FAB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FE28DD-BD5D-D807-4F41-CEA2BBBEB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823676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1E742-C2AD-6643-CED1-AFDDE4FC6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EC0158-1729-4A7E-7B94-781E312375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ED27F6-811A-D0A0-06B1-41B03656D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02/16/2026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D2C692-F6C8-CB76-B789-5004D9605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AF7830-571D-5B23-D628-16DCF365B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115101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BFC0549-8A95-0497-7701-706A861F19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EEBB1F-4FAC-A79D-8CEF-065067FC03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43EFF8-EAC7-D303-AE5E-3FC052A59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02/16/2026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840B46-B5A1-A5C4-7709-AF9C579E6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08CE26-1654-5732-2FCC-D9586B0F1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677913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F3BB9D5-722B-FDAA-6867-63BCE26A0024}"/>
              </a:ext>
            </a:extLst>
          </p:cNvPr>
          <p:cNvSpPr txBox="1"/>
          <p:nvPr userDrawn="1"/>
        </p:nvSpPr>
        <p:spPr>
          <a:xfrm>
            <a:off x="4705350" y="-139700"/>
            <a:ext cx="2508250" cy="4489450"/>
          </a:xfrm>
          <a:prstGeom prst="rect">
            <a:avLst/>
          </a:prstGeom>
          <a:noFill/>
          <a:effectLst>
            <a:reflection blurRad="6350" stA="50000" endA="300" endPos="90000" dir="5400000" sy="-100000" algn="bl" rotWithShape="0"/>
          </a:effectLst>
        </p:spPr>
        <p:txBody>
          <a:bodyPr wrap="square" lIns="0" tIns="0" rIns="0" bIns="0" rtlCol="0">
            <a:noAutofit/>
          </a:bodyPr>
          <a:lstStyle/>
          <a:p>
            <a:r>
              <a:rPr lang="sv-SE" sz="38000" b="1"/>
              <a:t>?</a:t>
            </a:r>
            <a:endParaRPr lang="LID4096" sz="38000" b="1"/>
          </a:p>
        </p:txBody>
      </p:sp>
    </p:spTree>
    <p:extLst>
      <p:ext uri="{BB962C8B-B14F-4D97-AF65-F5344CB8AC3E}">
        <p14:creationId xmlns:p14="http://schemas.microsoft.com/office/powerpoint/2010/main" val="7975097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tio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1C8C8-25EF-88DC-16E7-E04ABB8AD8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86200" y="0"/>
            <a:ext cx="7741920" cy="773430"/>
          </a:xfrm>
          <a:prstGeom prst="rect">
            <a:avLst/>
          </a:prstGeom>
        </p:spPr>
        <p:txBody>
          <a:bodyPr anchor="ctr"/>
          <a:lstStyle>
            <a:lvl1pPr algn="r">
              <a:defRPr sz="30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56048A-1475-BECA-0D5C-B57BA73CE8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CE148-BD56-4755-B580-741EAF415DA4}" type="datetime1">
              <a:rPr lang="LID4096" smtClean="0"/>
              <a:t>02/16/2026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E596A6-8AEA-8E00-82FA-0D02CDAEE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Maskinorienterad Programmering</a:t>
            </a:r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51CFA3-5459-CB23-2E6A-37FD40749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909CE-3A1D-43F5-8F4E-45D6477AD820}" type="slidenum">
              <a:rPr lang="LID4096" smtClean="0"/>
              <a:t>‹#›</a:t>
            </a:fld>
            <a:endParaRPr lang="LID4096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2D43F1B-5C31-8357-7C5B-028155F6D01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01688" y="1333500"/>
            <a:ext cx="10552112" cy="47021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5783488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1C8C8-25EF-88DC-16E7-E04ABB8AD8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86200" y="0"/>
            <a:ext cx="7741920" cy="773430"/>
          </a:xfrm>
          <a:prstGeom prst="rect">
            <a:avLst/>
          </a:prstGeom>
        </p:spPr>
        <p:txBody>
          <a:bodyPr anchor="ctr"/>
          <a:lstStyle>
            <a:lvl1pPr algn="r">
              <a:defRPr sz="30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56048A-1475-BECA-0D5C-B57BA73CE8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CE148-BD56-4755-B580-741EAF415DA4}" type="datetime1">
              <a:rPr lang="LID4096" smtClean="0"/>
              <a:t>02/16/2026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E596A6-8AEA-8E00-82FA-0D02CDAEE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Maskinorienterad Programmering</a:t>
            </a:r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51CFA3-5459-CB23-2E6A-37FD40749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909CE-3A1D-43F5-8F4E-45D6477AD820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345235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92C8A0-0DE0-C4FC-A8FB-D00A440D0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4CF994-83D9-1216-3BA3-76E9A3D4D6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B6BF0C-3972-8E81-14A3-E51F000884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6EB631-5B1A-4879-85E7-A8D4C94FBFC5}" type="datetimeFigureOut">
              <a:rPr lang="LID4096" smtClean="0"/>
              <a:t>02/16/2026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6C7A3-C949-61E8-A947-BF7E59CD91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661E2F-B9DE-A2C3-9386-5BE1861F0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054290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1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2" r:id="rId14"/>
    <p:sldLayoutId id="2147483663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4452DF-D5C9-52BE-066B-17C7A4BFAA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sv-SE"/>
              <a:t>Lektion 8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A50E2CB-296B-2D3A-2C5D-AF9D01690A6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sv-SE"/>
              <a:t>Exceptions and Internal Interrupts</a:t>
            </a:r>
          </a:p>
        </p:txBody>
      </p:sp>
    </p:spTree>
    <p:extLst>
      <p:ext uri="{BB962C8B-B14F-4D97-AF65-F5344CB8AC3E}">
        <p14:creationId xmlns:p14="http://schemas.microsoft.com/office/powerpoint/2010/main" val="31743653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5E4BCB-BDF0-7AC2-A155-4520CB547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3200"/>
              <a:t>Terminologi</a:t>
            </a:r>
            <a:endParaRPr lang="LID4096" sz="32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28D66A-6BB5-78D6-C587-788498A17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6593" y="1825624"/>
            <a:ext cx="11575228" cy="4768813"/>
          </a:xfr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pPr marL="0" indent="0" algn="ctr">
              <a:buNone/>
            </a:pPr>
            <a:r>
              <a:rPr lang="sv-SE" sz="1800" b="1"/>
              <a:t>Exceptions</a:t>
            </a:r>
            <a:endParaRPr lang="LID4096" sz="1800" b="1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276548-592F-E3CD-4AC8-F1D43C4920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2114" y="2825554"/>
            <a:ext cx="2187772" cy="245905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CE85276-5356-C316-53F5-B600F9B0BC7A}"/>
              </a:ext>
            </a:extLst>
          </p:cNvPr>
          <p:cNvSpPr txBox="1"/>
          <p:nvPr/>
        </p:nvSpPr>
        <p:spPr>
          <a:xfrm>
            <a:off x="7460247" y="4495108"/>
            <a:ext cx="4293163" cy="1877437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sv-SE" sz="1600" b="1"/>
              <a:t>FAULT</a:t>
            </a:r>
          </a:p>
          <a:p>
            <a:r>
              <a:rPr lang="sv-SE" sz="1600" i="1"/>
              <a:t>Något otillåtet gjordes av programmet</a:t>
            </a:r>
            <a:br>
              <a:rPr lang="sv-SE" sz="1600" i="1"/>
            </a:br>
            <a:r>
              <a:rPr lang="sv-SE" sz="1200"/>
              <a:t>T.ex: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v-SE" sz="1200"/>
              <a:t>Unaligned memory access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v-SE" sz="1200"/>
              <a:t>Skrivning till skyddat minne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v-SE" sz="1200"/>
              <a:t>Icke supportad maskinkod</a:t>
            </a:r>
          </a:p>
          <a:p>
            <a:endParaRPr lang="sv-SE" sz="1200"/>
          </a:p>
          <a:p>
            <a:r>
              <a:rPr lang="sv-SE" sz="1200"/>
              <a:t>Systemprogramvaran måste ta hand om problemet. </a:t>
            </a:r>
            <a:br>
              <a:rPr lang="sv-SE" sz="1200"/>
            </a:br>
            <a:r>
              <a:rPr lang="sv-SE" sz="1200"/>
              <a:t>Förmodligen genom att varna och/eller starta om programmet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E4583A-AF9C-0BA2-1AC4-7F286A1E7BD7}"/>
              </a:ext>
            </a:extLst>
          </p:cNvPr>
          <p:cNvSpPr txBox="1"/>
          <p:nvPr/>
        </p:nvSpPr>
        <p:spPr>
          <a:xfrm>
            <a:off x="7460247" y="2390402"/>
            <a:ext cx="4293163" cy="1969770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sv-SE" b="1"/>
              <a:t>TRAP</a:t>
            </a:r>
          </a:p>
          <a:p>
            <a:r>
              <a:rPr lang="sv-SE" sz="1600" i="1"/>
              <a:t>Programmet har </a:t>
            </a:r>
            <a:r>
              <a:rPr lang="sv-SE" sz="1600" b="1" i="1"/>
              <a:t>bett</a:t>
            </a:r>
            <a:r>
              <a:rPr lang="sv-SE" sz="1600" i="1"/>
              <a:t> om avbrott via </a:t>
            </a:r>
            <a:br>
              <a:rPr lang="sv-SE" sz="1600" i="1"/>
            </a:br>
            <a:r>
              <a:rPr lang="sv-SE" sz="1600" i="1"/>
              <a:t>en SVC instruktion</a:t>
            </a:r>
          </a:p>
          <a:p>
            <a:r>
              <a:rPr lang="sv-SE" sz="1200"/>
              <a:t>T.ex: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sv-SE" sz="1200"/>
              <a:t>Kalla grafikdrivrutinen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sv-SE" sz="1200"/>
              <a:t>Be om information från lässkyddat minne</a:t>
            </a:r>
          </a:p>
          <a:p>
            <a:endParaRPr lang="sv-SE" sz="1200"/>
          </a:p>
          <a:p>
            <a:r>
              <a:rPr lang="sv-SE" sz="1200"/>
              <a:t>Systemprogramvaran utför en </a:t>
            </a:r>
            <a:r>
              <a:rPr lang="sv-SE" sz="1200" i="1"/>
              <a:t>servicerutin</a:t>
            </a:r>
            <a:r>
              <a:rPr lang="sv-SE" sz="1200"/>
              <a:t> om den tycker</a:t>
            </a:r>
            <a:br>
              <a:rPr lang="sv-SE" sz="1200"/>
            </a:br>
            <a:r>
              <a:rPr lang="sv-SE" sz="1200"/>
              <a:t>programmet har rätt att göra vad den ber om.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92C6E7-FB3E-0D3F-EE48-387F72EEE7CD}"/>
              </a:ext>
            </a:extLst>
          </p:cNvPr>
          <p:cNvSpPr txBox="1"/>
          <p:nvPr/>
        </p:nvSpPr>
        <p:spPr>
          <a:xfrm>
            <a:off x="8460889" y="1947689"/>
            <a:ext cx="18784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(synkrona exceptions)</a:t>
            </a:r>
            <a:endParaRPr lang="LID4096" sz="14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F36244-A6BC-946D-D19B-842725E2E28D}"/>
              </a:ext>
            </a:extLst>
          </p:cNvPr>
          <p:cNvSpPr txBox="1"/>
          <p:nvPr/>
        </p:nvSpPr>
        <p:spPr>
          <a:xfrm>
            <a:off x="1475590" y="1947688"/>
            <a:ext cx="19741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(asynkrona exceptions)</a:t>
            </a:r>
            <a:endParaRPr lang="LID4096" sz="14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140864-796D-00C3-0D84-E08A971909D3}"/>
              </a:ext>
            </a:extLst>
          </p:cNvPr>
          <p:cNvSpPr txBox="1"/>
          <p:nvPr/>
        </p:nvSpPr>
        <p:spPr>
          <a:xfrm>
            <a:off x="388865" y="2376795"/>
            <a:ext cx="4342887" cy="2339102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sv-SE" b="1"/>
              <a:t>INTERRUPT</a:t>
            </a:r>
          </a:p>
          <a:p>
            <a:r>
              <a:rPr lang="sv-SE" sz="1600" i="1"/>
              <a:t>En krets utanför processorn har noterat</a:t>
            </a:r>
          </a:p>
          <a:p>
            <a:r>
              <a:rPr lang="sv-SE" sz="1600" i="1"/>
              <a:t>att något har </a:t>
            </a:r>
          </a:p>
          <a:p>
            <a:r>
              <a:rPr lang="sv-SE" sz="1200"/>
              <a:t>T.ex: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v-SE" sz="1200"/>
              <a:t>SysTick har räknat ner till 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v-SE" sz="1200"/>
              <a:t>En DMA minneskopiering är avslutad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v-SE" sz="1200"/>
              <a:t>Någon har tryckt på den stora röda knappen </a:t>
            </a:r>
            <a:br>
              <a:rPr lang="sv-SE" sz="1200"/>
            </a:br>
            <a:r>
              <a:rPr lang="sv-SE" sz="1200"/>
              <a:t>som är kopplad till GPIO porten</a:t>
            </a:r>
          </a:p>
          <a:p>
            <a:endParaRPr lang="sv-SE" sz="1200"/>
          </a:p>
          <a:p>
            <a:r>
              <a:rPr lang="sv-SE" sz="1200"/>
              <a:t>Programmet innehåller </a:t>
            </a:r>
            <a:r>
              <a:rPr lang="sv-SE" sz="1200" i="1"/>
              <a:t>interrupt handlers</a:t>
            </a:r>
            <a:r>
              <a:rPr lang="sv-SE" sz="1200"/>
              <a:t>, alltså funktioner</a:t>
            </a:r>
            <a:br>
              <a:rPr lang="sv-SE" sz="1200"/>
            </a:br>
            <a:r>
              <a:rPr lang="sv-SE" sz="1200"/>
              <a:t>som är menade att ta hand om det som hänt.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D116F44-C916-529C-F004-A7A07AE7950A}"/>
              </a:ext>
            </a:extLst>
          </p:cNvPr>
          <p:cNvSpPr txBox="1"/>
          <p:nvPr/>
        </p:nvSpPr>
        <p:spPr>
          <a:xfrm>
            <a:off x="388866" y="5018328"/>
            <a:ext cx="4342886" cy="1231106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sv-SE" b="1"/>
              <a:t>RESET</a:t>
            </a:r>
          </a:p>
          <a:p>
            <a:r>
              <a:rPr lang="sv-SE" sz="1600" i="1"/>
              <a:t>Någon tryckte på resetknappen, eller så</a:t>
            </a:r>
            <a:br>
              <a:rPr lang="sv-SE" sz="1600" i="1"/>
            </a:br>
            <a:r>
              <a:rPr lang="sv-SE" sz="1600" i="1"/>
              <a:t>fick vi en reset signal via debuggern</a:t>
            </a:r>
          </a:p>
          <a:p>
            <a:r>
              <a:rPr lang="sv-SE" sz="1200"/>
              <a:t>Processorn måste sluta med vad den gör och</a:t>
            </a:r>
            <a:br>
              <a:rPr lang="sv-SE" sz="1200"/>
            </a:br>
            <a:r>
              <a:rPr lang="sv-SE" sz="1200"/>
              <a:t>påbörja RESET sekvensen</a:t>
            </a:r>
          </a:p>
        </p:txBody>
      </p:sp>
    </p:spTree>
    <p:extLst>
      <p:ext uri="{BB962C8B-B14F-4D97-AF65-F5344CB8AC3E}">
        <p14:creationId xmlns:p14="http://schemas.microsoft.com/office/powerpoint/2010/main" val="4289699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 build="allAtOnce" animBg="1"/>
      <p:bldP spid="1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1A04F-31E1-8275-5149-9B4AA98C7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Dagens utmaning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B0EF4C-7658-ED7C-DB64-C648E992EF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6299499" cy="4351338"/>
          </a:xfrm>
        </p:spPr>
        <p:txBody>
          <a:bodyPr/>
          <a:lstStyle/>
          <a:p>
            <a:pPr marL="0" indent="0">
              <a:buNone/>
            </a:pPr>
            <a:r>
              <a:rPr lang="sv-SE"/>
              <a:t>Vi har kontaktats av ACME Fridge</a:t>
            </a:r>
            <a:r>
              <a:rPr lang="en-SE"/>
              <a:t>(™)</a:t>
            </a:r>
            <a:endParaRPr lang="sv-SE"/>
          </a:p>
          <a:p>
            <a:pPr marL="0" indent="0">
              <a:buNone/>
            </a:pPr>
            <a:r>
              <a:rPr lang="sv-SE"/>
              <a:t>Dom vill utveckla ett kylskåp som: </a:t>
            </a:r>
          </a:p>
          <a:p>
            <a:r>
              <a:rPr lang="sv-SE"/>
              <a:t>Alltid visar temperaturen på en 7-segment display. </a:t>
            </a:r>
          </a:p>
          <a:p>
            <a:r>
              <a:rPr lang="sv-SE"/>
              <a:t>Avger ett stadigt irriterande pip när dörren är öppen. </a:t>
            </a:r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8AA8DF1-7D2C-E0B1-AED7-63B764228D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4071" y="1702699"/>
            <a:ext cx="3827929" cy="5155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48844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F98C15-F254-A1EE-E35A-5B60F53BAA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Vår prototyp</a:t>
            </a:r>
            <a:endParaRPr lang="LID4096"/>
          </a:p>
        </p:txBody>
      </p:sp>
      <p:pic>
        <p:nvPicPr>
          <p:cNvPr id="4" name="Picture 3" descr="A group of musical notes&#10;&#10;AI-generated content may be incorrect.">
            <a:extLst>
              <a:ext uri="{FF2B5EF4-FFF2-40B4-BE49-F238E27FC236}">
                <a16:creationId xmlns:a16="http://schemas.microsoft.com/office/drawing/2014/main" id="{80C50C13-3AC2-4542-4BC8-75DDAF9D2F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6843" y="2157683"/>
            <a:ext cx="948486" cy="72894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AA09329-561A-7C3E-E60B-83D80F83CE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710953">
            <a:off x="5733079" y="2145944"/>
            <a:ext cx="4414969" cy="4014032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F5384166-051D-0510-5E8D-DC4915AE3640}"/>
              </a:ext>
            </a:extLst>
          </p:cNvPr>
          <p:cNvGrpSpPr/>
          <p:nvPr/>
        </p:nvGrpSpPr>
        <p:grpSpPr>
          <a:xfrm>
            <a:off x="8063025" y="2304100"/>
            <a:ext cx="150018" cy="1495422"/>
            <a:chOff x="8643938" y="1938340"/>
            <a:chExt cx="150018" cy="1495422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F7FDE2A9-88CA-1284-1E26-7D3FC8169E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38340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Block Arc 7">
              <a:extLst>
                <a:ext uri="{FF2B5EF4-FFF2-40B4-BE49-F238E27FC236}">
                  <a16:creationId xmlns:a16="http://schemas.microsoft.com/office/drawing/2014/main" id="{FEEE09E0-E957-F4CD-B43D-1742F71D12B0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87F3DB1-4827-C474-B87E-F64EEC94F05D}"/>
              </a:ext>
            </a:extLst>
          </p:cNvPr>
          <p:cNvGrpSpPr/>
          <p:nvPr/>
        </p:nvGrpSpPr>
        <p:grpSpPr>
          <a:xfrm>
            <a:off x="8213043" y="2304100"/>
            <a:ext cx="150018" cy="1490660"/>
            <a:chOff x="8643938" y="1943102"/>
            <a:chExt cx="150018" cy="149066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0920AFF-FDB3-E2CC-47F0-9F8058C80A6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Block Arc 10">
              <a:extLst>
                <a:ext uri="{FF2B5EF4-FFF2-40B4-BE49-F238E27FC236}">
                  <a16:creationId xmlns:a16="http://schemas.microsoft.com/office/drawing/2014/main" id="{D2A17046-6554-CAF3-17E4-7BA0C82AA008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97C3490-BD8E-A372-ABCA-C0FD156DCDA1}"/>
              </a:ext>
            </a:extLst>
          </p:cNvPr>
          <p:cNvGrpSpPr/>
          <p:nvPr/>
        </p:nvGrpSpPr>
        <p:grpSpPr>
          <a:xfrm>
            <a:off x="8349368" y="2304100"/>
            <a:ext cx="150018" cy="1490660"/>
            <a:chOff x="8643938" y="1943102"/>
            <a:chExt cx="150018" cy="149066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197973E-4B22-F391-A5E0-88BAB8D4752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Block Arc 13">
              <a:extLst>
                <a:ext uri="{FF2B5EF4-FFF2-40B4-BE49-F238E27FC236}">
                  <a16:creationId xmlns:a16="http://schemas.microsoft.com/office/drawing/2014/main" id="{3B1845FB-5113-A03A-5F11-7847DBB21E78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EE503F0-31B2-C1D4-721A-4402D9631D8E}"/>
              </a:ext>
            </a:extLst>
          </p:cNvPr>
          <p:cNvGrpSpPr/>
          <p:nvPr/>
        </p:nvGrpSpPr>
        <p:grpSpPr>
          <a:xfrm>
            <a:off x="8501768" y="2304100"/>
            <a:ext cx="150018" cy="1490660"/>
            <a:chOff x="8643938" y="1943102"/>
            <a:chExt cx="150018" cy="1490660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7682824-CE1C-475C-C6C2-A732739E362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Block Arc 16">
              <a:extLst>
                <a:ext uri="{FF2B5EF4-FFF2-40B4-BE49-F238E27FC236}">
                  <a16:creationId xmlns:a16="http://schemas.microsoft.com/office/drawing/2014/main" id="{11715CE7-6F62-AB10-5B78-BBBF33E4811E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0EB48E6F-3885-1D86-A8F9-F1B8EDDDC78E}"/>
              </a:ext>
            </a:extLst>
          </p:cNvPr>
          <p:cNvGrpSpPr/>
          <p:nvPr/>
        </p:nvGrpSpPr>
        <p:grpSpPr>
          <a:xfrm>
            <a:off x="8647025" y="2304100"/>
            <a:ext cx="150018" cy="1490660"/>
            <a:chOff x="8643938" y="1943102"/>
            <a:chExt cx="150018" cy="1490660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158E7BB2-E33E-AAFC-3830-7A092C5D569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Block Arc 19">
              <a:extLst>
                <a:ext uri="{FF2B5EF4-FFF2-40B4-BE49-F238E27FC236}">
                  <a16:creationId xmlns:a16="http://schemas.microsoft.com/office/drawing/2014/main" id="{54F3E700-DE81-8F73-5239-E36162A605B4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9FDDD73-F9BA-6A5B-F791-F75DD4C64BE1}"/>
              </a:ext>
            </a:extLst>
          </p:cNvPr>
          <p:cNvGrpSpPr/>
          <p:nvPr/>
        </p:nvGrpSpPr>
        <p:grpSpPr>
          <a:xfrm>
            <a:off x="8785139" y="2304100"/>
            <a:ext cx="150018" cy="1490660"/>
            <a:chOff x="8643938" y="1943102"/>
            <a:chExt cx="150018" cy="1490660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AE68D040-A163-AA02-A2B1-2E746AB9AAE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Block Arc 22">
              <a:extLst>
                <a:ext uri="{FF2B5EF4-FFF2-40B4-BE49-F238E27FC236}">
                  <a16:creationId xmlns:a16="http://schemas.microsoft.com/office/drawing/2014/main" id="{1836A720-7CE6-523C-2B63-9DD647DFA850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E6CFB0D-5EEF-D448-08A5-474FDEB1A900}"/>
              </a:ext>
            </a:extLst>
          </p:cNvPr>
          <p:cNvGrpSpPr/>
          <p:nvPr/>
        </p:nvGrpSpPr>
        <p:grpSpPr>
          <a:xfrm>
            <a:off x="8923253" y="2304100"/>
            <a:ext cx="150018" cy="1490660"/>
            <a:chOff x="8643938" y="1943102"/>
            <a:chExt cx="150018" cy="1490660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18DD371B-F0DA-0970-2504-B42FC52D03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Block Arc 25">
              <a:extLst>
                <a:ext uri="{FF2B5EF4-FFF2-40B4-BE49-F238E27FC236}">
                  <a16:creationId xmlns:a16="http://schemas.microsoft.com/office/drawing/2014/main" id="{1C31A515-BD31-405A-CE33-0EF0B7B790B3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F795582-7B4C-19D2-3F91-69A7E2E278E6}"/>
              </a:ext>
            </a:extLst>
          </p:cNvPr>
          <p:cNvGrpSpPr/>
          <p:nvPr/>
        </p:nvGrpSpPr>
        <p:grpSpPr>
          <a:xfrm>
            <a:off x="9058986" y="2304100"/>
            <a:ext cx="150018" cy="1490660"/>
            <a:chOff x="8643938" y="1943102"/>
            <a:chExt cx="150018" cy="1490660"/>
          </a:xfrm>
        </p:grpSpPr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715A4F12-2413-3A65-CAA3-9A8CBD99EE9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Block Arc 28">
              <a:extLst>
                <a:ext uri="{FF2B5EF4-FFF2-40B4-BE49-F238E27FC236}">
                  <a16:creationId xmlns:a16="http://schemas.microsoft.com/office/drawing/2014/main" id="{A5DF8780-DC28-C9FB-7BD0-359659943DAF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sp>
        <p:nvSpPr>
          <p:cNvPr id="30" name="Arrow: Bent 29">
            <a:extLst>
              <a:ext uri="{FF2B5EF4-FFF2-40B4-BE49-F238E27FC236}">
                <a16:creationId xmlns:a16="http://schemas.microsoft.com/office/drawing/2014/main" id="{3CE7B829-6692-EC92-BE87-F0138F28EC53}"/>
              </a:ext>
            </a:extLst>
          </p:cNvPr>
          <p:cNvSpPr/>
          <p:nvPr/>
        </p:nvSpPr>
        <p:spPr>
          <a:xfrm rot="10800000">
            <a:off x="7973281" y="4075748"/>
            <a:ext cx="673744" cy="228594"/>
          </a:xfrm>
          <a:prstGeom prst="bentArrow">
            <a:avLst>
              <a:gd name="adj1" fmla="val 40626"/>
              <a:gd name="adj2" fmla="val 25000"/>
              <a:gd name="adj3" fmla="val 25000"/>
              <a:gd name="adj4" fmla="val 43750"/>
            </a:avLst>
          </a:prstGeom>
          <a:solidFill>
            <a:srgbClr val="FFC000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2AB1462A-2FBB-D64B-10E3-3F23771E86DB}"/>
              </a:ext>
            </a:extLst>
          </p:cNvPr>
          <p:cNvSpPr/>
          <p:nvPr/>
        </p:nvSpPr>
        <p:spPr>
          <a:xfrm>
            <a:off x="8129700" y="4525804"/>
            <a:ext cx="57150" cy="159544"/>
          </a:xfrm>
          <a:custGeom>
            <a:avLst/>
            <a:gdLst>
              <a:gd name="csX0" fmla="*/ 21431 w 57150"/>
              <a:gd name="csY0" fmla="*/ 159544 h 159544"/>
              <a:gd name="csX1" fmla="*/ 0 w 57150"/>
              <a:gd name="csY1" fmla="*/ 26194 h 159544"/>
              <a:gd name="csX2" fmla="*/ 45243 w 57150"/>
              <a:gd name="csY2" fmla="*/ 0 h 159544"/>
              <a:gd name="csX3" fmla="*/ 57150 w 57150"/>
              <a:gd name="csY3" fmla="*/ 14287 h 159544"/>
              <a:gd name="csX4" fmla="*/ 21431 w 57150"/>
              <a:gd name="csY4" fmla="*/ 159544 h 1595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7150" h="159544">
                <a:moveTo>
                  <a:pt x="21431" y="159544"/>
                </a:moveTo>
                <a:lnTo>
                  <a:pt x="0" y="26194"/>
                </a:lnTo>
                <a:lnTo>
                  <a:pt x="45243" y="0"/>
                </a:lnTo>
                <a:lnTo>
                  <a:pt x="57150" y="14287"/>
                </a:lnTo>
                <a:lnTo>
                  <a:pt x="21431" y="159544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88CD5C4A-43D1-AC23-8C95-3497548BAB91}"/>
              </a:ext>
            </a:extLst>
          </p:cNvPr>
          <p:cNvSpPr/>
          <p:nvPr/>
        </p:nvSpPr>
        <p:spPr>
          <a:xfrm>
            <a:off x="7754866" y="3749686"/>
            <a:ext cx="62890" cy="165086"/>
          </a:xfrm>
          <a:custGeom>
            <a:avLst/>
            <a:gdLst>
              <a:gd name="csX0" fmla="*/ 0 w 247650"/>
              <a:gd name="csY0" fmla="*/ 566738 h 650081"/>
              <a:gd name="csX1" fmla="*/ 26194 w 247650"/>
              <a:gd name="csY1" fmla="*/ 123825 h 650081"/>
              <a:gd name="csX2" fmla="*/ 188119 w 247650"/>
              <a:gd name="csY2" fmla="*/ 0 h 650081"/>
              <a:gd name="csX3" fmla="*/ 247650 w 247650"/>
              <a:gd name="csY3" fmla="*/ 64294 h 650081"/>
              <a:gd name="csX4" fmla="*/ 216694 w 247650"/>
              <a:gd name="csY4" fmla="*/ 566738 h 650081"/>
              <a:gd name="csX5" fmla="*/ 111919 w 247650"/>
              <a:gd name="csY5" fmla="*/ 650081 h 650081"/>
              <a:gd name="csX6" fmla="*/ 0 w 247650"/>
              <a:gd name="csY6" fmla="*/ 566738 h 6500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7650" h="650081">
                <a:moveTo>
                  <a:pt x="0" y="566738"/>
                </a:moveTo>
                <a:lnTo>
                  <a:pt x="26194" y="123825"/>
                </a:lnTo>
                <a:lnTo>
                  <a:pt x="188119" y="0"/>
                </a:lnTo>
                <a:lnTo>
                  <a:pt x="247650" y="64294"/>
                </a:lnTo>
                <a:lnTo>
                  <a:pt x="216694" y="566738"/>
                </a:lnTo>
                <a:lnTo>
                  <a:pt x="111919" y="650081"/>
                </a:lnTo>
                <a:lnTo>
                  <a:pt x="0" y="566738"/>
                </a:ln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AD815DA-5F0A-A9D1-03B0-4EDA28208FA2}"/>
              </a:ext>
            </a:extLst>
          </p:cNvPr>
          <p:cNvSpPr txBox="1"/>
          <p:nvPr/>
        </p:nvSpPr>
        <p:spPr>
          <a:xfrm>
            <a:off x="8005558" y="2024720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D619629-8E76-2F44-08BF-6CA009001B1D}"/>
              </a:ext>
            </a:extLst>
          </p:cNvPr>
          <p:cNvSpPr txBox="1"/>
          <p:nvPr/>
        </p:nvSpPr>
        <p:spPr>
          <a:xfrm>
            <a:off x="8146805" y="2027488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E30356E-1BF0-261C-826B-92860D34B3E2}"/>
              </a:ext>
            </a:extLst>
          </p:cNvPr>
          <p:cNvSpPr txBox="1"/>
          <p:nvPr/>
        </p:nvSpPr>
        <p:spPr>
          <a:xfrm>
            <a:off x="8292654" y="2024720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1</a:t>
            </a:r>
            <a:endParaRPr lang="LID4096" b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56E09A3-849B-335D-7958-E335AE7C3D4F}"/>
              </a:ext>
            </a:extLst>
          </p:cNvPr>
          <p:cNvSpPr txBox="1"/>
          <p:nvPr/>
        </p:nvSpPr>
        <p:spPr>
          <a:xfrm>
            <a:off x="8438503" y="2021952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66456B3-096E-791E-7966-93FA0A3434D9}"/>
              </a:ext>
            </a:extLst>
          </p:cNvPr>
          <p:cNvSpPr txBox="1"/>
          <p:nvPr/>
        </p:nvSpPr>
        <p:spPr>
          <a:xfrm>
            <a:off x="8584352" y="2019184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D865101-9F98-91F7-6507-DDD33C2A4A9C}"/>
              </a:ext>
            </a:extLst>
          </p:cNvPr>
          <p:cNvSpPr txBox="1"/>
          <p:nvPr/>
        </p:nvSpPr>
        <p:spPr>
          <a:xfrm>
            <a:off x="8730201" y="2016416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C9207F4-FEA6-8E0F-8D46-10FDF0A43C43}"/>
              </a:ext>
            </a:extLst>
          </p:cNvPr>
          <p:cNvSpPr txBox="1"/>
          <p:nvPr/>
        </p:nvSpPr>
        <p:spPr>
          <a:xfrm>
            <a:off x="8876050" y="2013648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665B6AA-31BC-631A-AC1D-4854418EF279}"/>
              </a:ext>
            </a:extLst>
          </p:cNvPr>
          <p:cNvSpPr txBox="1"/>
          <p:nvPr/>
        </p:nvSpPr>
        <p:spPr>
          <a:xfrm>
            <a:off x="9021899" y="2010880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FBB0231B-9983-D0F0-B3CC-72907EA9A2F9}"/>
              </a:ext>
            </a:extLst>
          </p:cNvPr>
          <p:cNvGrpSpPr/>
          <p:nvPr/>
        </p:nvGrpSpPr>
        <p:grpSpPr>
          <a:xfrm>
            <a:off x="1591925" y="2912266"/>
            <a:ext cx="3516236" cy="1773082"/>
            <a:chOff x="4729163" y="4518492"/>
            <a:chExt cx="3226290" cy="1626875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8CF22A8D-0C53-0942-3A0B-AB5C2CF736A2}"/>
                </a:ext>
              </a:extLst>
            </p:cNvPr>
            <p:cNvSpPr/>
            <p:nvPr/>
          </p:nvSpPr>
          <p:spPr>
            <a:xfrm>
              <a:off x="4769586" y="4518492"/>
              <a:ext cx="3148591" cy="162687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FACFE193-3ECC-D6C3-6280-209659822100}"/>
                </a:ext>
              </a:extLst>
            </p:cNvPr>
            <p:cNvGrpSpPr/>
            <p:nvPr/>
          </p:nvGrpSpPr>
          <p:grpSpPr>
            <a:xfrm>
              <a:off x="4729163" y="4518492"/>
              <a:ext cx="3226290" cy="1626875"/>
              <a:chOff x="4729163" y="4518492"/>
              <a:chExt cx="3226290" cy="1626875"/>
            </a:xfrm>
          </p:grpSpPr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2DA18398-1725-3ED0-43E8-EA61CA5401C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005388" y="4695825"/>
                <a:ext cx="0" cy="1264876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Arrow Connector 45">
                <a:extLst>
                  <a:ext uri="{FF2B5EF4-FFF2-40B4-BE49-F238E27FC236}">
                    <a16:creationId xmlns:a16="http://schemas.microsoft.com/office/drawing/2014/main" id="{29B4462B-4290-88F9-E552-CE29CFCB481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05375" y="5886450"/>
                <a:ext cx="2786063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4163BA3C-3437-56D6-67FB-10F2F97FFAFD}"/>
                  </a:ext>
                </a:extLst>
              </p:cNvPr>
              <p:cNvSpPr txBox="1"/>
              <p:nvPr/>
            </p:nvSpPr>
            <p:spPr>
              <a:xfrm>
                <a:off x="4769586" y="4518492"/>
                <a:ext cx="398886" cy="169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 dirty="0" err="1"/>
                  <a:t>Voltage</a:t>
                </a:r>
                <a:endParaRPr lang="LID4096" sz="600" dirty="0"/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D41A1918-3F22-52C4-5E0C-9D33F9A1E2E8}"/>
                  </a:ext>
                </a:extLst>
              </p:cNvPr>
              <p:cNvSpPr txBox="1"/>
              <p:nvPr/>
            </p:nvSpPr>
            <p:spPr>
              <a:xfrm>
                <a:off x="7638933" y="5794117"/>
                <a:ext cx="316520" cy="169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 dirty="0" err="1"/>
                  <a:t>Time</a:t>
                </a:r>
                <a:endParaRPr lang="LID4096" sz="600" dirty="0"/>
              </a:p>
            </p:txBody>
          </p:sp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51EE66A5-09AB-6406-B08E-B4A1EE6C8CFB}"/>
                  </a:ext>
                </a:extLst>
              </p:cNvPr>
              <p:cNvGrpSpPr/>
              <p:nvPr/>
            </p:nvGrpSpPr>
            <p:grpSpPr>
              <a:xfrm>
                <a:off x="5005388" y="4972992"/>
                <a:ext cx="2271714" cy="925502"/>
                <a:chOff x="5005388" y="4972992"/>
                <a:chExt cx="2271714" cy="925502"/>
              </a:xfrm>
            </p:grpSpPr>
            <p:cxnSp>
              <p:nvCxnSpPr>
                <p:cNvPr id="52" name="Straight Connector 51">
                  <a:extLst>
                    <a:ext uri="{FF2B5EF4-FFF2-40B4-BE49-F238E27FC236}">
                      <a16:creationId xmlns:a16="http://schemas.microsoft.com/office/drawing/2014/main" id="{C4817C40-EBD3-C23F-02AE-63F7E2965C54}"/>
                    </a:ext>
                  </a:extLst>
                </p:cNvPr>
                <p:cNvCxnSpPr/>
                <p:nvPr/>
              </p:nvCxnSpPr>
              <p:spPr>
                <a:xfrm>
                  <a:off x="5005388" y="4987279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9B2F96AC-D1E4-542A-8194-276A8532EA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91138" y="4987279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Straight Connector 53">
                  <a:extLst>
                    <a:ext uri="{FF2B5EF4-FFF2-40B4-BE49-F238E27FC236}">
                      <a16:creationId xmlns:a16="http://schemas.microsoft.com/office/drawing/2014/main" id="{D5252EB9-D94B-A89B-3707-05A681F080A6}"/>
                    </a:ext>
                  </a:extLst>
                </p:cNvPr>
                <p:cNvCxnSpPr/>
                <p:nvPr/>
              </p:nvCxnSpPr>
              <p:spPr>
                <a:xfrm>
                  <a:off x="5291138" y="5887391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Straight Connector 54">
                  <a:extLst>
                    <a:ext uri="{FF2B5EF4-FFF2-40B4-BE49-F238E27FC236}">
                      <a16:creationId xmlns:a16="http://schemas.microsoft.com/office/drawing/2014/main" id="{0E19FD0E-AA60-3288-A623-FD3DE0FC881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576888" y="4987278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Straight Connector 55">
                  <a:extLst>
                    <a:ext uri="{FF2B5EF4-FFF2-40B4-BE49-F238E27FC236}">
                      <a16:creationId xmlns:a16="http://schemas.microsoft.com/office/drawing/2014/main" id="{A2049562-BB3C-C558-F8B1-7B45A00B5865}"/>
                    </a:ext>
                  </a:extLst>
                </p:cNvPr>
                <p:cNvCxnSpPr/>
                <p:nvPr/>
              </p:nvCxnSpPr>
              <p:spPr>
                <a:xfrm>
                  <a:off x="5572126" y="4982517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9AF3A50B-C6DA-B01F-061E-CFEC893EBFB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857876" y="4982517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CD835A25-0A5A-B403-32ED-D73689599073}"/>
                    </a:ext>
                  </a:extLst>
                </p:cNvPr>
                <p:cNvCxnSpPr/>
                <p:nvPr/>
              </p:nvCxnSpPr>
              <p:spPr>
                <a:xfrm>
                  <a:off x="5857876" y="5882629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CC84EEC5-2831-D0FE-DFCF-BFC1A01F8BA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43626" y="4982516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6FAA2820-57D1-1976-F4B4-7AAFDCE9BF0F}"/>
                    </a:ext>
                  </a:extLst>
                </p:cNvPr>
                <p:cNvCxnSpPr/>
                <p:nvPr/>
              </p:nvCxnSpPr>
              <p:spPr>
                <a:xfrm>
                  <a:off x="6138864" y="4977755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" name="Straight Connector 60">
                  <a:extLst>
                    <a:ext uri="{FF2B5EF4-FFF2-40B4-BE49-F238E27FC236}">
                      <a16:creationId xmlns:a16="http://schemas.microsoft.com/office/drawing/2014/main" id="{60A21DF5-5004-F35A-AA6C-C29EB53F27D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24614" y="4977755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2C0D6DC2-3D12-4716-25D2-79D7CA3F5126}"/>
                    </a:ext>
                  </a:extLst>
                </p:cNvPr>
                <p:cNvCxnSpPr/>
                <p:nvPr/>
              </p:nvCxnSpPr>
              <p:spPr>
                <a:xfrm>
                  <a:off x="6424614" y="5877867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7F52D713-118C-D468-C02E-682DDEDC35B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710364" y="4977754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71D12FBC-31A0-ACC1-5D00-EDCF7EB94D93}"/>
                    </a:ext>
                  </a:extLst>
                </p:cNvPr>
                <p:cNvCxnSpPr/>
                <p:nvPr/>
              </p:nvCxnSpPr>
              <p:spPr>
                <a:xfrm>
                  <a:off x="6705602" y="4972993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" name="Straight Connector 64">
                  <a:extLst>
                    <a:ext uri="{FF2B5EF4-FFF2-40B4-BE49-F238E27FC236}">
                      <a16:creationId xmlns:a16="http://schemas.microsoft.com/office/drawing/2014/main" id="{212D68CE-C41D-B615-0AC9-094F5EE9E2A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91352" y="4972993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17B361D5-F095-91DC-E33E-6ACE4CC26383}"/>
                    </a:ext>
                  </a:extLst>
                </p:cNvPr>
                <p:cNvCxnSpPr/>
                <p:nvPr/>
              </p:nvCxnSpPr>
              <p:spPr>
                <a:xfrm>
                  <a:off x="6991352" y="5873105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785F8D93-AB6D-31A7-B8F1-EA4FB03218D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277102" y="4972992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F7F1FC0F-7EF7-05C2-D782-40E3084B25EF}"/>
                  </a:ext>
                </a:extLst>
              </p:cNvPr>
              <p:cNvSpPr txBox="1"/>
              <p:nvPr/>
            </p:nvSpPr>
            <p:spPr>
              <a:xfrm>
                <a:off x="5105402" y="5960701"/>
                <a:ext cx="352982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/>
                  <a:t>~4ms</a:t>
                </a:r>
                <a:endParaRPr lang="LID4096" sz="600"/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D98F59B-0B14-6C77-562D-B0B3D9D5B43B}"/>
                  </a:ext>
                </a:extLst>
              </p:cNvPr>
              <p:cNvSpPr txBox="1"/>
              <p:nvPr/>
            </p:nvSpPr>
            <p:spPr>
              <a:xfrm>
                <a:off x="4729163" y="4885421"/>
                <a:ext cx="324128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/>
                  <a:t>3.2V</a:t>
                </a:r>
                <a:endParaRPr lang="LID4096" sz="600"/>
              </a:p>
            </p:txBody>
          </p:sp>
        </p:grp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08F4A010-AF6B-A529-8CC8-D9572F67FF31}"/>
                </a:ext>
              </a:extLst>
            </p:cNvPr>
            <p:cNvCxnSpPr/>
            <p:nvPr/>
          </p:nvCxnSpPr>
          <p:spPr>
            <a:xfrm>
              <a:off x="5005388" y="5935313"/>
              <a:ext cx="566738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8" name="Arrow: Curved Down 67">
            <a:extLst>
              <a:ext uri="{FF2B5EF4-FFF2-40B4-BE49-F238E27FC236}">
                <a16:creationId xmlns:a16="http://schemas.microsoft.com/office/drawing/2014/main" id="{4B18E4A0-3D07-8EC7-6A84-27D6395E0E50}"/>
              </a:ext>
            </a:extLst>
          </p:cNvPr>
          <p:cNvSpPr/>
          <p:nvPr/>
        </p:nvSpPr>
        <p:spPr>
          <a:xfrm rot="212501" flipV="1">
            <a:off x="3368817" y="4614191"/>
            <a:ext cx="3767917" cy="668778"/>
          </a:xfrm>
          <a:prstGeom prst="curvedDown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69" name="Block Arc 68">
            <a:extLst>
              <a:ext uri="{FF2B5EF4-FFF2-40B4-BE49-F238E27FC236}">
                <a16:creationId xmlns:a16="http://schemas.microsoft.com/office/drawing/2014/main" id="{04E9DEB5-C5A7-2F7F-97BB-CE7CD13271BA}"/>
              </a:ext>
            </a:extLst>
          </p:cNvPr>
          <p:cNvSpPr/>
          <p:nvPr/>
        </p:nvSpPr>
        <p:spPr>
          <a:xfrm rot="19698217">
            <a:off x="5645692" y="3125288"/>
            <a:ext cx="1143767" cy="776287"/>
          </a:xfrm>
          <a:prstGeom prst="blockArc">
            <a:avLst>
              <a:gd name="adj1" fmla="val 11659683"/>
              <a:gd name="adj2" fmla="val 20793451"/>
              <a:gd name="adj3" fmla="val 6964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70" name="Block Arc 69">
            <a:extLst>
              <a:ext uri="{FF2B5EF4-FFF2-40B4-BE49-F238E27FC236}">
                <a16:creationId xmlns:a16="http://schemas.microsoft.com/office/drawing/2014/main" id="{B44C206C-683E-39B5-9729-B68FF5899950}"/>
              </a:ext>
            </a:extLst>
          </p:cNvPr>
          <p:cNvSpPr/>
          <p:nvPr/>
        </p:nvSpPr>
        <p:spPr>
          <a:xfrm rot="19698217">
            <a:off x="5843195" y="3280251"/>
            <a:ext cx="823769" cy="559101"/>
          </a:xfrm>
          <a:prstGeom prst="blockArc">
            <a:avLst>
              <a:gd name="adj1" fmla="val 11659683"/>
              <a:gd name="adj2" fmla="val 20793451"/>
              <a:gd name="adj3" fmla="val 6964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71" name="Block Arc 70">
            <a:extLst>
              <a:ext uri="{FF2B5EF4-FFF2-40B4-BE49-F238E27FC236}">
                <a16:creationId xmlns:a16="http://schemas.microsoft.com/office/drawing/2014/main" id="{3D6C69B4-FA7B-78CB-45FD-F42D88064729}"/>
              </a:ext>
            </a:extLst>
          </p:cNvPr>
          <p:cNvSpPr/>
          <p:nvPr/>
        </p:nvSpPr>
        <p:spPr>
          <a:xfrm rot="19698217">
            <a:off x="6041880" y="3415298"/>
            <a:ext cx="486238" cy="330015"/>
          </a:xfrm>
          <a:prstGeom prst="blockArc">
            <a:avLst>
              <a:gd name="adj1" fmla="val 11659683"/>
              <a:gd name="adj2" fmla="val 20793451"/>
              <a:gd name="adj3" fmla="val 6964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6E0DD9C-0B27-0020-F884-43A2A56002A3}"/>
              </a:ext>
            </a:extLst>
          </p:cNvPr>
          <p:cNvSpPr txBox="1"/>
          <p:nvPr/>
        </p:nvSpPr>
        <p:spPr>
          <a:xfrm>
            <a:off x="3648947" y="5329318"/>
            <a:ext cx="22284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Agency FB" panose="020B0503020202020204" pitchFamily="34" charset="0"/>
              </a:rPr>
              <a:t>261.1 Hz Square Wave</a:t>
            </a:r>
            <a:endParaRPr lang="LID4096" sz="2400" dirty="0">
              <a:latin typeface="Agency FB" panose="020B0503020202020204" pitchFamily="34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FE70890-E05C-2367-BF79-4554876B5140}"/>
              </a:ext>
            </a:extLst>
          </p:cNvPr>
          <p:cNvSpPr txBox="1"/>
          <p:nvPr/>
        </p:nvSpPr>
        <p:spPr>
          <a:xfrm rot="20097917">
            <a:off x="5249537" y="2356719"/>
            <a:ext cx="8082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Script MT Bold" panose="03040602040607080904" pitchFamily="66" charset="0"/>
              </a:rPr>
              <a:t>middle</a:t>
            </a:r>
          </a:p>
          <a:p>
            <a:pPr algn="ctr"/>
            <a:r>
              <a:rPr lang="en-US" dirty="0">
                <a:latin typeface="Script MT Bold" panose="03040602040607080904" pitchFamily="66" charset="0"/>
              </a:rPr>
              <a:t> C</a:t>
            </a:r>
            <a:endParaRPr lang="LID4096" dirty="0">
              <a:latin typeface="Script MT Bold" panose="030406020406070809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3015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D4AFE-ED06-A49D-7045-191948E8FF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Spela en ton</a:t>
            </a:r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ABFFF4-B8BE-C471-A47E-F2AFF2D122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0863" y="2392446"/>
            <a:ext cx="8468907" cy="335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74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E81B9B-54DC-884B-62F3-EC7A8AAA8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Visa temperatur</a:t>
            </a:r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B3691F-53EC-B406-5123-7EF3C3E8F8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3334" y="2946075"/>
            <a:ext cx="8592749" cy="2514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18309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9B906B-DDFC-C656-4732-8DE8E4A9A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Kombinera programmen? </a:t>
            </a:r>
            <a:endParaRPr lang="LID4096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637A6B1-93B4-9BAD-9A1F-BBC64459C8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567" y="3371391"/>
            <a:ext cx="5151414" cy="203970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9734B21-3DAD-1D5B-EA5C-FF5E8CBF92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9872" y="2073352"/>
            <a:ext cx="6688158" cy="1957510"/>
          </a:xfrm>
          <a:prstGeom prst="rect">
            <a:avLst/>
          </a:prstGeom>
        </p:spPr>
      </p:pic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17ECEAB-780C-6469-D33D-B67732F51DBA}"/>
              </a:ext>
            </a:extLst>
          </p:cNvPr>
          <p:cNvSpPr/>
          <p:nvPr/>
        </p:nvSpPr>
        <p:spPr>
          <a:xfrm>
            <a:off x="5523964" y="3059343"/>
            <a:ext cx="1617604" cy="566728"/>
          </a:xfrm>
          <a:custGeom>
            <a:avLst/>
            <a:gdLst>
              <a:gd name="csX0" fmla="*/ 1379619 w 1651881"/>
              <a:gd name="csY0" fmla="*/ 588397 h 589460"/>
              <a:gd name="csX1" fmla="*/ 1610908 w 1651881"/>
              <a:gd name="csY1" fmla="*/ 287182 h 589460"/>
              <a:gd name="csX2" fmla="*/ 664235 w 1651881"/>
              <a:gd name="csY2" fmla="*/ 2105 h 589460"/>
              <a:gd name="csX3" fmla="*/ 2640 w 1651881"/>
              <a:gd name="csY3" fmla="*/ 168848 h 589460"/>
              <a:gd name="csX4" fmla="*/ 470598 w 1651881"/>
              <a:gd name="csY4" fmla="*/ 378622 h 589460"/>
              <a:gd name="csX5" fmla="*/ 1379619 w 1651881"/>
              <a:gd name="csY5" fmla="*/ 588397 h 589460"/>
              <a:gd name="csX0" fmla="*/ 1379619 w 1651881"/>
              <a:gd name="csY0" fmla="*/ 590011 h 591074"/>
              <a:gd name="csX1" fmla="*/ 1610908 w 1651881"/>
              <a:gd name="csY1" fmla="*/ 288796 h 591074"/>
              <a:gd name="csX2" fmla="*/ 664235 w 1651881"/>
              <a:gd name="csY2" fmla="*/ 3719 h 591074"/>
              <a:gd name="csX3" fmla="*/ 2640 w 1651881"/>
              <a:gd name="csY3" fmla="*/ 170462 h 591074"/>
              <a:gd name="csX4" fmla="*/ 470598 w 1651881"/>
              <a:gd name="csY4" fmla="*/ 380236 h 591074"/>
              <a:gd name="csX5" fmla="*/ 1379619 w 1651881"/>
              <a:gd name="csY5" fmla="*/ 590011 h 591074"/>
              <a:gd name="csX0" fmla="*/ 1377190 w 1649452"/>
              <a:gd name="csY0" fmla="*/ 590011 h 591074"/>
              <a:gd name="csX1" fmla="*/ 1608479 w 1649452"/>
              <a:gd name="csY1" fmla="*/ 288796 h 591074"/>
              <a:gd name="csX2" fmla="*/ 661806 w 1649452"/>
              <a:gd name="csY2" fmla="*/ 3719 h 591074"/>
              <a:gd name="csX3" fmla="*/ 211 w 1649452"/>
              <a:gd name="csY3" fmla="*/ 170462 h 591074"/>
              <a:gd name="csX4" fmla="*/ 468169 w 1649452"/>
              <a:gd name="csY4" fmla="*/ 380236 h 591074"/>
              <a:gd name="csX5" fmla="*/ 1377190 w 1649452"/>
              <a:gd name="csY5" fmla="*/ 590011 h 591074"/>
              <a:gd name="csX0" fmla="*/ 1377190 w 1649452"/>
              <a:gd name="csY0" fmla="*/ 590011 h 600734"/>
              <a:gd name="csX1" fmla="*/ 1608479 w 1649452"/>
              <a:gd name="csY1" fmla="*/ 288796 h 600734"/>
              <a:gd name="csX2" fmla="*/ 661806 w 1649452"/>
              <a:gd name="csY2" fmla="*/ 3719 h 600734"/>
              <a:gd name="csX3" fmla="*/ 211 w 1649452"/>
              <a:gd name="csY3" fmla="*/ 170462 h 600734"/>
              <a:gd name="csX4" fmla="*/ 468169 w 1649452"/>
              <a:gd name="csY4" fmla="*/ 380236 h 600734"/>
              <a:gd name="csX5" fmla="*/ 1377190 w 1649452"/>
              <a:gd name="csY5" fmla="*/ 590011 h 600734"/>
              <a:gd name="csX0" fmla="*/ 1355675 w 1645116"/>
              <a:gd name="csY0" fmla="*/ 471677 h 474208"/>
              <a:gd name="csX1" fmla="*/ 1608479 w 1645116"/>
              <a:gd name="csY1" fmla="*/ 288796 h 474208"/>
              <a:gd name="csX2" fmla="*/ 661806 w 1645116"/>
              <a:gd name="csY2" fmla="*/ 3719 h 474208"/>
              <a:gd name="csX3" fmla="*/ 211 w 1645116"/>
              <a:gd name="csY3" fmla="*/ 170462 h 474208"/>
              <a:gd name="csX4" fmla="*/ 468169 w 1645116"/>
              <a:gd name="csY4" fmla="*/ 380236 h 474208"/>
              <a:gd name="csX5" fmla="*/ 1355675 w 1645116"/>
              <a:gd name="csY5" fmla="*/ 471677 h 474208"/>
              <a:gd name="csX0" fmla="*/ 1355675 w 1645116"/>
              <a:gd name="csY0" fmla="*/ 520086 h 521691"/>
              <a:gd name="csX1" fmla="*/ 1608479 w 1645116"/>
              <a:gd name="csY1" fmla="*/ 288796 h 521691"/>
              <a:gd name="csX2" fmla="*/ 661806 w 1645116"/>
              <a:gd name="csY2" fmla="*/ 3719 h 521691"/>
              <a:gd name="csX3" fmla="*/ 211 w 1645116"/>
              <a:gd name="csY3" fmla="*/ 170462 h 521691"/>
              <a:gd name="csX4" fmla="*/ 468169 w 1645116"/>
              <a:gd name="csY4" fmla="*/ 380236 h 521691"/>
              <a:gd name="csX5" fmla="*/ 1355675 w 1645116"/>
              <a:gd name="csY5" fmla="*/ 520086 h 521691"/>
              <a:gd name="csX0" fmla="*/ 1355675 w 1645116"/>
              <a:gd name="csY0" fmla="*/ 520086 h 551022"/>
              <a:gd name="csX1" fmla="*/ 1608479 w 1645116"/>
              <a:gd name="csY1" fmla="*/ 288796 h 551022"/>
              <a:gd name="csX2" fmla="*/ 661806 w 1645116"/>
              <a:gd name="csY2" fmla="*/ 3719 h 551022"/>
              <a:gd name="csX3" fmla="*/ 211 w 1645116"/>
              <a:gd name="csY3" fmla="*/ 170462 h 551022"/>
              <a:gd name="csX4" fmla="*/ 468169 w 1645116"/>
              <a:gd name="csY4" fmla="*/ 380236 h 551022"/>
              <a:gd name="csX5" fmla="*/ 1355675 w 1645116"/>
              <a:gd name="csY5" fmla="*/ 520086 h 551022"/>
              <a:gd name="csX0" fmla="*/ 1355575 w 1621218"/>
              <a:gd name="csY0" fmla="*/ 494821 h 525757"/>
              <a:gd name="csX1" fmla="*/ 1608379 w 1621218"/>
              <a:gd name="csY1" fmla="*/ 263531 h 525757"/>
              <a:gd name="csX2" fmla="*/ 1038224 w 1621218"/>
              <a:gd name="csY2" fmla="*/ 5348 h 525757"/>
              <a:gd name="csX3" fmla="*/ 111 w 1621218"/>
              <a:gd name="csY3" fmla="*/ 145197 h 525757"/>
              <a:gd name="csX4" fmla="*/ 468069 w 1621218"/>
              <a:gd name="csY4" fmla="*/ 354971 h 525757"/>
              <a:gd name="csX5" fmla="*/ 1355575 w 1621218"/>
              <a:gd name="csY5" fmla="*/ 494821 h 525757"/>
              <a:gd name="csX0" fmla="*/ 1355563 w 1615919"/>
              <a:gd name="csY0" fmla="*/ 466768 h 497704"/>
              <a:gd name="csX1" fmla="*/ 1608367 w 1615919"/>
              <a:gd name="csY1" fmla="*/ 235478 h 497704"/>
              <a:gd name="csX2" fmla="*/ 1135030 w 1615919"/>
              <a:gd name="csY2" fmla="*/ 9568 h 497704"/>
              <a:gd name="csX3" fmla="*/ 99 w 1615919"/>
              <a:gd name="csY3" fmla="*/ 117144 h 497704"/>
              <a:gd name="csX4" fmla="*/ 468057 w 1615919"/>
              <a:gd name="csY4" fmla="*/ 326918 h 497704"/>
              <a:gd name="csX5" fmla="*/ 1355563 w 1615919"/>
              <a:gd name="csY5" fmla="*/ 466768 h 497704"/>
              <a:gd name="csX0" fmla="*/ 1355553 w 1615909"/>
              <a:gd name="csY0" fmla="*/ 535792 h 566728"/>
              <a:gd name="csX1" fmla="*/ 1608357 w 1615909"/>
              <a:gd name="csY1" fmla="*/ 304502 h 566728"/>
              <a:gd name="csX2" fmla="*/ 1135020 w 1615909"/>
              <a:gd name="csY2" fmla="*/ 78592 h 566728"/>
              <a:gd name="csX3" fmla="*/ 89 w 1615909"/>
              <a:gd name="csY3" fmla="*/ 186168 h 566728"/>
              <a:gd name="csX4" fmla="*/ 468047 w 1615909"/>
              <a:gd name="csY4" fmla="*/ 395942 h 566728"/>
              <a:gd name="csX5" fmla="*/ 1355553 w 1615909"/>
              <a:gd name="csY5" fmla="*/ 535792 h 566728"/>
              <a:gd name="csX0" fmla="*/ 1355553 w 1617604"/>
              <a:gd name="csY0" fmla="*/ 535792 h 566728"/>
              <a:gd name="csX1" fmla="*/ 1608357 w 1617604"/>
              <a:gd name="csY1" fmla="*/ 304502 h 566728"/>
              <a:gd name="csX2" fmla="*/ 1135020 w 1617604"/>
              <a:gd name="csY2" fmla="*/ 78592 h 566728"/>
              <a:gd name="csX3" fmla="*/ 89 w 1617604"/>
              <a:gd name="csY3" fmla="*/ 186168 h 566728"/>
              <a:gd name="csX4" fmla="*/ 468047 w 1617604"/>
              <a:gd name="csY4" fmla="*/ 395942 h 566728"/>
              <a:gd name="csX5" fmla="*/ 1355553 w 1617604"/>
              <a:gd name="csY5" fmla="*/ 535792 h 5667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617604" h="566728">
                <a:moveTo>
                  <a:pt x="1355553" y="535792"/>
                </a:moveTo>
                <a:cubicBezTo>
                  <a:pt x="1545605" y="520552"/>
                  <a:pt x="1650491" y="509794"/>
                  <a:pt x="1608357" y="304502"/>
                </a:cubicBezTo>
                <a:cubicBezTo>
                  <a:pt x="1566223" y="99210"/>
                  <a:pt x="1306246" y="254300"/>
                  <a:pt x="1135020" y="78592"/>
                </a:cubicBezTo>
                <a:cubicBezTo>
                  <a:pt x="963794" y="-97116"/>
                  <a:pt x="-10669" y="58869"/>
                  <a:pt x="89" y="186168"/>
                </a:cubicBezTo>
                <a:cubicBezTo>
                  <a:pt x="16226" y="318846"/>
                  <a:pt x="435773" y="144034"/>
                  <a:pt x="468047" y="395942"/>
                </a:cubicBezTo>
                <a:cubicBezTo>
                  <a:pt x="500321" y="647850"/>
                  <a:pt x="1165501" y="551032"/>
                  <a:pt x="1355553" y="535792"/>
                </a:cubicBezTo>
                <a:close/>
              </a:path>
            </a:pathLst>
          </a:cu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9B4584-D6D1-9B23-43F0-6261A697277F}"/>
              </a:ext>
            </a:extLst>
          </p:cNvPr>
          <p:cNvSpPr txBox="1"/>
          <p:nvPr/>
        </p:nvSpPr>
        <p:spPr>
          <a:xfrm>
            <a:off x="7228958" y="2906769"/>
            <a:ext cx="2549744" cy="668941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sv-SE" sz="1200"/>
              <a:t>Vi vet inte hur lång tid dom här anropen tar, och dom kan ta </a:t>
            </a:r>
            <a:r>
              <a:rPr lang="sv-SE" sz="1200" i="1"/>
              <a:t>mer</a:t>
            </a:r>
            <a:r>
              <a:rPr lang="sv-SE" sz="1200"/>
              <a:t> än 2ms!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C2DDE6-3073-58EE-833F-AE07EAAE536F}"/>
              </a:ext>
            </a:extLst>
          </p:cNvPr>
          <p:cNvSpPr txBox="1"/>
          <p:nvPr/>
        </p:nvSpPr>
        <p:spPr>
          <a:xfrm>
            <a:off x="2083217" y="4889351"/>
            <a:ext cx="2549744" cy="461665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sv-SE" sz="1200"/>
              <a:t>Detta måste hända precis varannan ms!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0843FAF-CEB1-3576-85C6-6D2AC9553CEC}"/>
              </a:ext>
            </a:extLst>
          </p:cNvPr>
          <p:cNvSpPr/>
          <p:nvPr/>
        </p:nvSpPr>
        <p:spPr>
          <a:xfrm>
            <a:off x="978945" y="4889351"/>
            <a:ext cx="1065007" cy="134471"/>
          </a:xfrm>
          <a:prstGeom prst="round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810878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5D3C2-5E05-5F86-5B80-B026E5031A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Control and Status Registers</a:t>
            </a:r>
            <a:endParaRPr lang="LID4096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1FDBAB4-8F92-7AC0-AE0C-421322FE5E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944496" cy="4351338"/>
          </a:xfrm>
        </p:spPr>
        <p:txBody>
          <a:bodyPr/>
          <a:lstStyle/>
          <a:p>
            <a:r>
              <a:rPr lang="sv-SE"/>
              <a:t>Krävs inte av RV32I specifikationen</a:t>
            </a:r>
          </a:p>
          <a:p>
            <a:r>
              <a:rPr lang="sv-SE"/>
              <a:t>Men behövs för att interrupts skall fungera. </a:t>
            </a:r>
          </a:p>
          <a:p>
            <a:pPr lvl="1"/>
            <a:r>
              <a:rPr lang="sv-SE"/>
              <a:t>Finns på vår maskin, som implementerar </a:t>
            </a:r>
            <a:r>
              <a:rPr lang="en-US" i="1"/>
              <a:t>Privileged ISA </a:t>
            </a:r>
            <a:r>
              <a:rPr lang="en-US"/>
              <a:t>and the </a:t>
            </a:r>
            <a:r>
              <a:rPr lang="en-US" i="1"/>
              <a:t>Zicsr </a:t>
            </a:r>
            <a:r>
              <a:rPr lang="en-US"/>
              <a:t>extension.</a:t>
            </a:r>
          </a:p>
          <a:p>
            <a:r>
              <a:rPr lang="en-US"/>
              <a:t>Läses och skrivs med speciella assemblerinstruktioner</a:t>
            </a:r>
          </a:p>
          <a:p>
            <a:pPr lvl="1"/>
            <a:r>
              <a:rPr lang="en-US">
                <a:latin typeface="Consolas" panose="020B0609020204030204" pitchFamily="49" charset="0"/>
              </a:rPr>
              <a:t>csrr rd, csr</a:t>
            </a:r>
          </a:p>
          <a:p>
            <a:pPr lvl="1"/>
            <a:r>
              <a:rPr lang="en-US">
                <a:latin typeface="Consolas" panose="020B0609020204030204" pitchFamily="49" charset="0"/>
              </a:rPr>
              <a:t>csrw csr, rs</a:t>
            </a:r>
          </a:p>
          <a:p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0F9CC4-E50C-7BE8-6C30-0791B579B3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5749" y="1690688"/>
            <a:ext cx="5066251" cy="516731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934F4E1-7132-9FD7-5EED-89C16497EE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3419" y="2183802"/>
            <a:ext cx="5255696" cy="286133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920075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BAC834-A945-CD6A-E006-F7B2C310B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Instruktionscykeln</a:t>
            </a:r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9C3D61-6833-2634-CC6D-25FB6F7509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0256" y="2610158"/>
            <a:ext cx="7259063" cy="2810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4971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5E2F4F-3C81-93C9-3C96-72F8869AC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Exempel – V</a:t>
            </a:r>
            <a:r>
              <a:rPr lang="sv-SE"/>
              <a:t>årt första exception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320166-EBD5-CCA9-4DD4-829C3C930D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v-SE"/>
              <a:t>Skapa ett assemblerprogram som: </a:t>
            </a:r>
          </a:p>
          <a:p>
            <a:pPr lvl="1"/>
            <a:r>
              <a:rPr lang="sv-SE"/>
              <a:t>Gör något otillåtet (unaligned access)</a:t>
            </a:r>
          </a:p>
          <a:p>
            <a:pPr lvl="1"/>
            <a:r>
              <a:rPr lang="sv-SE"/>
              <a:t>Tar hand om det i en interrupt handler</a:t>
            </a:r>
          </a:p>
          <a:p>
            <a:pPr lvl="1"/>
            <a:r>
              <a:rPr lang="sv-SE"/>
              <a:t>Fortsätter programmet</a:t>
            </a:r>
          </a:p>
          <a:p>
            <a:pPr lvl="1"/>
            <a:endParaRPr lang="LID4096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AE1D5B4-55DC-9D96-A691-6E173EE96B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8307" y="3881118"/>
            <a:ext cx="8478433" cy="229584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357630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33795-F009-C4D4-06E2-8C6099DDE7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E16D86-796C-08C5-A463-8E69E6A3B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Register Saving i interrupthanterare</a:t>
            </a:r>
            <a:endParaRPr lang="LID4096">
              <a:latin typeface="Consolas" panose="020B0609020204030204" pitchFamily="49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DEB6D32-D416-2AB4-5926-2E3AC1DD8E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3441" y="2514472"/>
            <a:ext cx="8545118" cy="182905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C5B3CAB-AD83-3620-71DB-6A87CE93C5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0630" y="3898871"/>
            <a:ext cx="8383170" cy="2276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12100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B8EFEC-E1B2-65AB-5AF1-3FAC0DA648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4A30F-A942-D6F8-3F90-CC479A3F70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Skriva interrupthandlerns address till </a:t>
            </a:r>
            <a:r>
              <a:rPr lang="sv-SE">
                <a:latin typeface="Consolas" panose="020B0609020204030204" pitchFamily="49" charset="0"/>
              </a:rPr>
              <a:t>mtvec</a:t>
            </a:r>
            <a:endParaRPr lang="LID4096">
              <a:latin typeface="Consolas" panose="020B0609020204030204" pitchFamily="49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56504A-884C-0FF4-B266-B806020C4F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3441" y="2514472"/>
            <a:ext cx="8545118" cy="182905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707C2DE-CD28-4FCF-0268-5D42E4BF77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460" y="4785012"/>
            <a:ext cx="7049484" cy="117173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DD452AE-F184-441A-5521-384F9BE1A5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8822" y="3375537"/>
            <a:ext cx="8459381" cy="1752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97125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0325AB-4335-E946-3700-3DEB71D5C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Interrupt från SysTick - PFIC</a:t>
            </a:r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29E9E2-3626-465C-F81B-6AFE82D337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064" y="2056246"/>
            <a:ext cx="4369985" cy="418992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DB99E3D-1D01-E80A-C8E8-18738C4DCA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0064" y="1811339"/>
            <a:ext cx="3640087" cy="489488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17BDBA6-9B93-50A5-AB78-17A8895C3C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71061" y="4006560"/>
            <a:ext cx="8038177" cy="179411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118353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AA4E2-93A9-324E-ACE8-29757207F5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243BA-C4EC-9866-C21E-62738F11BD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Spela en ton med interrupts</a:t>
            </a:r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5533A2-FFA6-9897-13FC-0FB09B2BAC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0863" y="2392446"/>
            <a:ext cx="8468907" cy="335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24212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2EBEA8-999F-A6A0-2409-80C00CBBC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WFI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62F9EA-CFC9-BAF5-E280-8F4DDE618F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611599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2A71D-5C0D-D7F2-F5AF-81023E235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Hur hanterar vi ett annat exeption nu? 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B868A1-E7A9-1DA7-6C57-8729067B5B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v-SE"/>
              <a:t>Visa hur vi kan läsa mcause för att se vilket interrupt det var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18562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4300</TotalTime>
  <Words>794</Words>
  <Application>Microsoft Office PowerPoint</Application>
  <PresentationFormat>Widescreen</PresentationFormat>
  <Paragraphs>135</Paragraphs>
  <Slides>16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Agency FB</vt:lpstr>
      <vt:lpstr>Aptos</vt:lpstr>
      <vt:lpstr>Aptos Display</vt:lpstr>
      <vt:lpstr>Arial</vt:lpstr>
      <vt:lpstr>Consolas</vt:lpstr>
      <vt:lpstr>Script MT Bold</vt:lpstr>
      <vt:lpstr>Office Theme</vt:lpstr>
      <vt:lpstr>Lektion 8</vt:lpstr>
      <vt:lpstr>Terminologi</vt:lpstr>
      <vt:lpstr>Dagens utmaning</vt:lpstr>
      <vt:lpstr>Vår prototyp</vt:lpstr>
      <vt:lpstr>Spela en ton</vt:lpstr>
      <vt:lpstr>Visa temperatur</vt:lpstr>
      <vt:lpstr>Kombinera programmen? </vt:lpstr>
      <vt:lpstr>Control and Status Registers</vt:lpstr>
      <vt:lpstr>Instruktionscykeln</vt:lpstr>
      <vt:lpstr>Exempel – Vårt första exception</vt:lpstr>
      <vt:lpstr>Register Saving i interrupthanterare</vt:lpstr>
      <vt:lpstr>Skriva interrupthandlerns address till mtvec</vt:lpstr>
      <vt:lpstr>Interrupt från SysTick - PFIC</vt:lpstr>
      <vt:lpstr>Spela en ton med interrupts</vt:lpstr>
      <vt:lpstr>WFI</vt:lpstr>
      <vt:lpstr>Hur hanterar vi ett annat exeption nu?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Erik Sintorn</dc:creator>
  <cp:lastModifiedBy>Erik Sintorn</cp:lastModifiedBy>
  <cp:revision>75</cp:revision>
  <dcterms:created xsi:type="dcterms:W3CDTF">2026-01-14T14:09:03Z</dcterms:created>
  <dcterms:modified xsi:type="dcterms:W3CDTF">2026-02-16T16:00:00Z</dcterms:modified>
</cp:coreProperties>
</file>