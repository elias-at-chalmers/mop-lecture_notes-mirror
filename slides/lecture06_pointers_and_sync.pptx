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1"/>
  </p:notesMasterIdLst>
  <p:sldIdLst>
    <p:sldId id="256" r:id="rId2"/>
    <p:sldId id="257" r:id="rId3"/>
    <p:sldId id="264" r:id="rId4"/>
    <p:sldId id="364" r:id="rId5"/>
    <p:sldId id="365" r:id="rId6"/>
    <p:sldId id="366" r:id="rId7"/>
    <p:sldId id="367" r:id="rId8"/>
    <p:sldId id="372" r:id="rId9"/>
    <p:sldId id="263" r:id="rId10"/>
    <p:sldId id="265" r:id="rId11"/>
    <p:sldId id="371" r:id="rId12"/>
    <p:sldId id="373" r:id="rId13"/>
    <p:sldId id="374" r:id="rId14"/>
    <p:sldId id="375" r:id="rId15"/>
    <p:sldId id="376" r:id="rId16"/>
    <p:sldId id="383" r:id="rId17"/>
    <p:sldId id="266" r:id="rId18"/>
    <p:sldId id="267" r:id="rId19"/>
    <p:sldId id="369" r:id="rId20"/>
    <p:sldId id="381" r:id="rId21"/>
    <p:sldId id="377" r:id="rId22"/>
    <p:sldId id="370" r:id="rId23"/>
    <p:sldId id="378" r:id="rId24"/>
    <p:sldId id="379" r:id="rId25"/>
    <p:sldId id="384" r:id="rId26"/>
    <p:sldId id="380" r:id="rId27"/>
    <p:sldId id="385" r:id="rId28"/>
    <p:sldId id="352" r:id="rId29"/>
    <p:sldId id="353" r:id="rId30"/>
  </p:sldIdLst>
  <p:sldSz cx="12192000" cy="6858000"/>
  <p:notesSz cx="6858000" cy="9144000"/>
  <p:defaultTextStyle>
    <a:defPPr>
      <a:defRPr lang="LID4096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" id="{4E61B486-9643-4A02-8A51-D34E00CDE215}">
          <p14:sldIdLst>
            <p14:sldId id="256"/>
            <p14:sldId id="257"/>
            <p14:sldId id="264"/>
            <p14:sldId id="364"/>
            <p14:sldId id="365"/>
            <p14:sldId id="366"/>
            <p14:sldId id="367"/>
            <p14:sldId id="372"/>
            <p14:sldId id="263"/>
            <p14:sldId id="265"/>
            <p14:sldId id="371"/>
            <p14:sldId id="373"/>
            <p14:sldId id="374"/>
            <p14:sldId id="375"/>
            <p14:sldId id="376"/>
            <p14:sldId id="383"/>
            <p14:sldId id="266"/>
            <p14:sldId id="267"/>
            <p14:sldId id="369"/>
            <p14:sldId id="381"/>
            <p14:sldId id="377"/>
            <p14:sldId id="370"/>
            <p14:sldId id="378"/>
            <p14:sldId id="379"/>
            <p14:sldId id="384"/>
            <p14:sldId id="380"/>
            <p14:sldId id="385"/>
            <p14:sldId id="352"/>
            <p14:sldId id="35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473" autoAdjust="0"/>
    <p:restoredTop sz="69391" autoAdjust="0"/>
  </p:normalViewPr>
  <p:slideViewPr>
    <p:cSldViewPr snapToGrid="0">
      <p:cViewPr varScale="1">
        <p:scale>
          <a:sx n="125" d="100"/>
          <a:sy n="125" d="100"/>
        </p:scale>
        <p:origin x="804" y="102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5C9657E-FDB3-4206-AA4E-9AE2AAB0A71C}" type="datetimeFigureOut">
              <a:rPr lang="LID4096" smtClean="0"/>
              <a:t>02/06/2026</a:t>
            </a:fld>
            <a:endParaRPr lang="LID4096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LID4096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1B4E41B-EE32-43AA-BF26-21D12108C66F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3401497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i="0"/>
              <a:t>Idag skall vi b</a:t>
            </a:r>
            <a:r>
              <a:rPr lang="sv-SE" i="0"/>
              <a:t>örja prata om </a:t>
            </a:r>
            <a:r>
              <a:rPr lang="sv-SE" i="1"/>
              <a:t>pekare</a:t>
            </a:r>
            <a:r>
              <a:rPr lang="sv-SE" i="0"/>
              <a:t> i C. </a:t>
            </a:r>
          </a:p>
          <a:p>
            <a:r>
              <a:rPr lang="sv-SE" i="0"/>
              <a:t>När vi fått bukt på dom kan jag visa hur vi gör GPIO programmering i C istället för assembler. </a:t>
            </a:r>
          </a:p>
          <a:p>
            <a:r>
              <a:rPr lang="sv-SE" i="0"/>
              <a:t>Sedan skall jag introducera ASCII displayen som ni skall använda i lab2, </a:t>
            </a:r>
          </a:p>
          <a:p>
            <a:r>
              <a:rPr lang="sv-SE" i="0"/>
              <a:t>och för att kunna programmera den behöver vi titta lite närmre på timing och synkronisering.</a:t>
            </a:r>
          </a:p>
          <a:p>
            <a:endParaRPr lang="LID4096" i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1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01937262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 dirty="0"/>
              <a:t>Vi börjar med att fundera på var våra variabler i C egentligen ligger i minnet. </a:t>
            </a:r>
          </a:p>
          <a:p>
            <a:r>
              <a:rPr lang="sv-SE" dirty="0"/>
              <a:t>Förklara areorna.</a:t>
            </a:r>
          </a:p>
          <a:p>
            <a:r>
              <a:rPr lang="sv-SE" dirty="0"/>
              <a:t>Fråga i ordning. </a:t>
            </a:r>
          </a:p>
          <a:p>
            <a:r>
              <a:rPr lang="sv-SE" dirty="0"/>
              <a:t>c kanske bara hamnar i register</a:t>
            </a:r>
          </a:p>
          <a:p>
            <a:r>
              <a:rPr lang="sv-SE" dirty="0"/>
              <a:t>Fråga om y.</a:t>
            </a:r>
            <a:endParaRPr lang="LID4096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2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54721210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Detta är problemet vi vill lösa för tillfället.</a:t>
            </a:r>
          </a:p>
          <a:p>
            <a:r>
              <a:rPr lang="sv-SE"/>
              <a:t>Gå igenom koden som repetition. </a:t>
            </a:r>
          </a:p>
          <a:p>
            <a:r>
              <a:rPr lang="sv-SE"/>
              <a:t>Vi måste alltså kunna skriva till speciella minnesaddresser även i C...  </a:t>
            </a:r>
          </a:p>
          <a:p>
            <a:r>
              <a:rPr lang="sv-SE"/>
              <a:t>Hur!?</a:t>
            </a:r>
            <a:endParaRPr lang="LID4096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3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15332003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 dirty="0"/>
              <a:t>För att komma fram till svaret måste vi lära oss hur </a:t>
            </a:r>
            <a:r>
              <a:rPr lang="sv-SE" i="1" dirty="0"/>
              <a:t>pekare</a:t>
            </a:r>
            <a:r>
              <a:rPr lang="sv-SE" i="0" dirty="0"/>
              <a:t> fungerar, i C. </a:t>
            </a:r>
            <a:endParaRPr lang="sv-SE" dirty="0"/>
          </a:p>
          <a:p>
            <a:endParaRPr lang="sv-SE" dirty="0"/>
          </a:p>
          <a:p>
            <a:r>
              <a:rPr lang="sv-SE" dirty="0"/>
              <a:t>Säg att vårat program ser ut så här. </a:t>
            </a:r>
          </a:p>
          <a:p>
            <a:r>
              <a:rPr lang="sv-SE" dirty="0"/>
              <a:t>Vi har en </a:t>
            </a:r>
            <a:r>
              <a:rPr lang="sv-SE" dirty="0" err="1"/>
              <a:t>main</a:t>
            </a:r>
            <a:r>
              <a:rPr lang="sv-SE" dirty="0"/>
              <a:t> funktion med lite kod i. </a:t>
            </a:r>
          </a:p>
          <a:p>
            <a:r>
              <a:rPr lang="sv-SE" dirty="0"/>
              <a:t>Och vi har deklarerat en global </a:t>
            </a:r>
            <a:r>
              <a:rPr lang="sv-SE" dirty="0" err="1"/>
              <a:t>unsigned</a:t>
            </a:r>
            <a:r>
              <a:rPr lang="sv-SE" dirty="0"/>
              <a:t> </a:t>
            </a:r>
            <a:r>
              <a:rPr lang="sv-SE" dirty="0" err="1"/>
              <a:t>int</a:t>
            </a:r>
            <a:r>
              <a:rPr lang="sv-SE" dirty="0"/>
              <a:t> som heter ”b”. </a:t>
            </a:r>
          </a:p>
          <a:p>
            <a:r>
              <a:rPr lang="sv-SE" dirty="0"/>
              <a:t>När vi laddat in programmet i minnet på vår maskin så börjar programkoden på </a:t>
            </a:r>
            <a:r>
              <a:rPr lang="sv-SE" dirty="0" err="1"/>
              <a:t>address</a:t>
            </a:r>
            <a:r>
              <a:rPr lang="sv-SE" dirty="0"/>
              <a:t> 0x20000000.</a:t>
            </a:r>
          </a:p>
          <a:p>
            <a:r>
              <a:rPr lang="sv-SE" b="1" dirty="0"/>
              <a:t>Programkoden tar upp exakt 256 bytes, och efter den kommer våran variabel ”b” att ligga. </a:t>
            </a:r>
            <a:endParaRPr lang="LID4096" b="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76C796-BAB8-4B04-BD32-E3AC4AD1DCA6}" type="slidenum">
              <a:rPr lang="LID4096" smtClean="0"/>
              <a:t>4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71233686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6EB083-9BC0-66EF-571F-5551850310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22BD652-91A2-0413-BB69-77879F00B1C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7E1E8E0-7947-2B4B-EB6D-0C8F46E5ABC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Nu lägger vi till en variabel och kompilerar om programmet. </a:t>
            </a:r>
          </a:p>
          <a:p>
            <a:r>
              <a:rPr lang="sv-SE"/>
              <a:t>Variabeln är en </a:t>
            </a:r>
            <a:r>
              <a:rPr lang="sv-SE" i="1"/>
              <a:t>unsigned int pekare</a:t>
            </a:r>
            <a:r>
              <a:rPr lang="sv-SE"/>
              <a:t>.</a:t>
            </a:r>
          </a:p>
          <a:p>
            <a:r>
              <a:rPr lang="sv-SE"/>
              <a:t>Alltså addressen till en unsigned int. </a:t>
            </a:r>
          </a:p>
          <a:p>
            <a:r>
              <a:rPr lang="sv-SE"/>
              <a:t>Variabeln hamnar på nästa lediga address (direkt efter b, 0x20000104)</a:t>
            </a:r>
          </a:p>
          <a:p>
            <a:r>
              <a:rPr lang="sv-SE"/>
              <a:t>Vi initierar den med </a:t>
            </a:r>
            <a:r>
              <a:rPr lang="sv-SE" i="1"/>
              <a:t>addressen </a:t>
            </a:r>
            <a:r>
              <a:rPr lang="sv-SE" i="0"/>
              <a:t>(&amp; tecknet) till b.</a:t>
            </a:r>
          </a:p>
          <a:p>
            <a:r>
              <a:rPr lang="sv-SE" i="0"/>
              <a:t>Innehållet i variabeln är addressen till b.</a:t>
            </a:r>
          </a:p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28F3FE-A58A-780C-C4D5-5C4CFDDA8E2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76C796-BAB8-4B04-BD32-E3AC4AD1DCA6}" type="slidenum">
              <a:rPr lang="LID4096" smtClean="0"/>
              <a:t>5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80956706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8C96D6-5D9F-008F-2553-318B7555CF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7BBEC9B-6D89-9C96-DA52-32AD114FB8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C62915D-177E-FB7B-7758-171118D3120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 dirty="0"/>
              <a:t>Nu skapar vi en temporär variabel ”a”. Den hamnar på stacken.</a:t>
            </a:r>
          </a:p>
          <a:p>
            <a:r>
              <a:rPr lang="sv-SE" dirty="0"/>
              <a:t>Vi initierar den med ”*</a:t>
            </a:r>
            <a:r>
              <a:rPr lang="sv-SE" dirty="0" err="1"/>
              <a:t>ptr_to_b</a:t>
            </a:r>
            <a:r>
              <a:rPr lang="sv-SE" dirty="0"/>
              <a:t>”.</a:t>
            </a:r>
          </a:p>
          <a:p>
            <a:r>
              <a:rPr lang="sv-SE" i="0" dirty="0"/>
              <a:t>Stjärnan här betyder att vi vill ha variabeln i minnet </a:t>
            </a:r>
            <a:r>
              <a:rPr lang="sv-SE" i="1" dirty="0"/>
              <a:t>som </a:t>
            </a:r>
            <a:r>
              <a:rPr lang="sv-SE" i="1" dirty="0" err="1"/>
              <a:t>ptr_to_b</a:t>
            </a:r>
            <a:r>
              <a:rPr lang="sv-SE" i="1" dirty="0"/>
              <a:t> pekar på</a:t>
            </a:r>
            <a:r>
              <a:rPr lang="sv-SE" i="0" dirty="0"/>
              <a:t>. </a:t>
            </a:r>
          </a:p>
          <a:p>
            <a:r>
              <a:rPr lang="sv-SE" i="0" dirty="0"/>
              <a:t>”a” kommer alltså vara lika med 0xAABBCCDD. </a:t>
            </a:r>
          </a:p>
          <a:p>
            <a:endParaRPr lang="sv-SE" dirty="0"/>
          </a:p>
          <a:p>
            <a:r>
              <a:rPr lang="sv-SE" dirty="0"/>
              <a:t>Det här är allt vi behöver förstå. </a:t>
            </a:r>
          </a:p>
          <a:p>
            <a:r>
              <a:rPr lang="sv-SE" dirty="0"/>
              <a:t>En pekare håller </a:t>
            </a:r>
            <a:r>
              <a:rPr lang="sv-SE" dirty="0" err="1"/>
              <a:t>addressen</a:t>
            </a:r>
            <a:r>
              <a:rPr lang="sv-SE" dirty="0"/>
              <a:t> till en annan variabel. </a:t>
            </a:r>
          </a:p>
          <a:p>
            <a:r>
              <a:rPr lang="sv-SE" dirty="0"/>
              <a:t>Om vi </a:t>
            </a:r>
            <a:r>
              <a:rPr lang="sv-SE" dirty="0" err="1"/>
              <a:t>derefererar</a:t>
            </a:r>
            <a:r>
              <a:rPr lang="sv-SE" dirty="0"/>
              <a:t> den ”menar vi” variabeln som den pekar på. </a:t>
            </a:r>
          </a:p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69580D-DA3E-8569-4E30-BB8AF55F60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76C796-BAB8-4B04-BD32-E3AC4AD1DCA6}" type="slidenum">
              <a:rPr lang="LID4096" smtClean="0"/>
              <a:t>6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71394815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E209D2-F893-8D60-4411-5876A07BDC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250E69-416E-5BE5-CE60-F0B7D78FF4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46BC493-7544-C88B-85EE-E90E4448AA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Gå igenom fram till main. </a:t>
            </a:r>
          </a:p>
          <a:p>
            <a:r>
              <a:rPr lang="sv-SE"/>
              <a:t>Sedan utmaning! (prata med grannen, 2 min)</a:t>
            </a:r>
          </a:p>
          <a:p>
            <a:r>
              <a:rPr lang="sv-SE"/>
              <a:t>Vad innehåller variablerna a, b, och c efter dom här två raderna?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9B3947-3D34-8D6C-DD51-7440930A475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76C796-BAB8-4B04-BD32-E3AC4AD1DCA6}" type="slidenum">
              <a:rPr lang="LID4096" smtClean="0"/>
              <a:t>7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00696956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5E8DD6-9E07-8296-A5BA-86EE87C555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4DEA825-EA7C-C9EA-F347-717D2F28D33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540A713-FE8D-EE75-D4E2-8B22FCF78A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 dirty="0"/>
              <a:t>Ett exempel till som visar pekare till typer med andra storlekar.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F1A394-770B-CD17-9E20-F83791FA970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76C796-BAB8-4B04-BD32-E3AC4AD1DCA6}" type="slidenum">
              <a:rPr lang="LID4096" smtClean="0"/>
              <a:t>8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93456115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05D126-5037-7397-527E-48076A660C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2FC375A-2152-F98D-4FBB-D9D08B12DFA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21B2A9A-9F1E-09DE-8E13-1DC2CF54DC8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Tillbaks till problemet. </a:t>
            </a:r>
          </a:p>
          <a:p>
            <a:r>
              <a:rPr lang="sv-SE"/>
              <a:t>Vi vill alltså skriva värdet 0x00000200 till address 0x40011400</a:t>
            </a:r>
          </a:p>
          <a:p>
            <a:r>
              <a:rPr lang="en-GB"/>
              <a:t>&lt;click&gt;</a:t>
            </a:r>
            <a:endParaRPr lang="sv-SE"/>
          </a:p>
          <a:p>
            <a:r>
              <a:rPr lang="sv-SE"/>
              <a:t>Kan vi helt enkelt skapa en pekare och skriva rätt address till den? </a:t>
            </a:r>
          </a:p>
          <a:p>
            <a:r>
              <a:rPr lang="sv-SE"/>
              <a:t>&lt;click&gt;</a:t>
            </a:r>
          </a:p>
          <a:p>
            <a:r>
              <a:rPr lang="sv-SE"/>
              <a:t>Nähepp. Det blev ett error. </a:t>
            </a:r>
          </a:p>
          <a:p>
            <a:r>
              <a:rPr lang="sv-SE"/>
              <a:t>Vi läser erroret. Den klagar för att ptr är av typen (unsigned int *) och 0x40011400 är bara en int.</a:t>
            </a:r>
          </a:p>
          <a:p>
            <a:r>
              <a:rPr lang="sv-SE"/>
              <a:t>”without a cast”</a:t>
            </a:r>
          </a:p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3665D4-5459-DCAE-734B-1A444DDE7A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10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46832200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BC4E2A-C587-5E27-58F6-33F8B3ECE4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0BB1AAF-F866-2397-F41C-22CE90106A1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69FE0D7-D53D-5C90-CDF6-FFCA90C25A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Då castar vi väl då!</a:t>
            </a:r>
          </a:p>
          <a:p>
            <a:r>
              <a:rPr lang="sv-SE"/>
              <a:t>När vi lägger till detta så säger vi till kompilatorn att den skall ta sifforna vi skrivit och tyda dem som en uint32_t pekare. </a:t>
            </a:r>
          </a:p>
          <a:p>
            <a:r>
              <a:rPr lang="sv-SE"/>
              <a:t>Detta funkar fint!</a:t>
            </a:r>
          </a:p>
          <a:p>
            <a:r>
              <a:rPr lang="sv-SE"/>
              <a:t>Hur gör vi nu för att skriva något till den här addressen? </a:t>
            </a:r>
          </a:p>
          <a:p>
            <a:r>
              <a:rPr lang="en-GB"/>
              <a:t>&lt;click&gt;</a:t>
            </a:r>
          </a:p>
          <a:p>
            <a:r>
              <a:rPr lang="en-GB"/>
              <a:t>Japp, allt vi nu beh</a:t>
            </a:r>
            <a:r>
              <a:rPr lang="sv-SE"/>
              <a:t>över göra är att dereferera ptr.</a:t>
            </a:r>
          </a:p>
          <a:p>
            <a:r>
              <a:rPr lang="en-GB"/>
              <a:t>&lt;click&gt;</a:t>
            </a:r>
          </a:p>
          <a:p>
            <a:r>
              <a:rPr lang="en-GB"/>
              <a:t>*ptr betyder </a:t>
            </a:r>
            <a:r>
              <a:rPr lang="sv-SE" sz="1200">
                <a:solidFill>
                  <a:srgbClr val="FFC000"/>
                </a:solidFill>
              </a:rPr>
              <a:t>”En unsigned int på addressen 0x40011400”, och till den variabeln skriver vi 0x00000200</a:t>
            </a:r>
          </a:p>
          <a:p>
            <a:endParaRPr lang="sv-SE" sz="1200">
              <a:solidFill>
                <a:srgbClr val="FFC000"/>
              </a:solidFill>
            </a:endParaRPr>
          </a:p>
          <a:p>
            <a:r>
              <a:rPr lang="sv-SE" sz="1200">
                <a:solidFill>
                  <a:srgbClr val="FFC000"/>
                </a:solidFill>
              </a:rPr>
              <a:t>Stanna upp här. Detta är allt ni behöver förstå om pekare just nu. </a:t>
            </a:r>
          </a:p>
          <a:p>
            <a:r>
              <a:rPr lang="sv-SE" sz="1200">
                <a:solidFill>
                  <a:srgbClr val="FFC000"/>
                </a:solidFill>
              </a:rPr>
              <a:t>Resten av detta är bara uppsnyggning.</a:t>
            </a:r>
            <a:endParaRPr lang="sv-SE"/>
          </a:p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6D54D3-FA96-2157-AA33-879D8D1AB8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11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52321454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78F0A7-3CC9-143D-D22A-18A58B5EC8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6139495-E0BE-27D8-DD13-23825DF520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59C1154-E4D1-2CB5-5EDC-97D852277F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 dirty="0"/>
              <a:t>Uppsnyggning.</a:t>
            </a:r>
          </a:p>
          <a:p>
            <a:endParaRPr lang="sv-SE" dirty="0"/>
          </a:p>
          <a:p>
            <a:r>
              <a:rPr lang="sv-SE" dirty="0" err="1"/>
              <a:t>One</a:t>
            </a:r>
            <a:r>
              <a:rPr lang="sv-SE" dirty="0"/>
              <a:t>-liner</a:t>
            </a:r>
          </a:p>
          <a:p>
            <a:endParaRPr lang="sv-SE" dirty="0"/>
          </a:p>
          <a:p>
            <a:r>
              <a:rPr lang="sv-SE" dirty="0" err="1"/>
              <a:t>Define</a:t>
            </a:r>
            <a:r>
              <a:rPr lang="sv-SE" dirty="0"/>
              <a:t> för läsbarhet (påminn om preprocessorns </a:t>
            </a:r>
            <a:r>
              <a:rPr lang="sv-SE" dirty="0" err="1"/>
              <a:t>klippåklistrande</a:t>
            </a:r>
            <a:r>
              <a:rPr lang="sv-SE" dirty="0"/>
              <a:t>)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76C68A-B0FB-E276-D9E3-FE147B51D3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12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25384040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0A56FA-AE74-836B-01CA-BA944721D6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6CC5DF3-DA94-D194-E583-79799F9B47E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F42BD6-3C70-FCF7-67CC-CE7E2702C6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Vi tar ett annat exempel. Detta är programmet vi skrev för att vänta på att man trycker på knappen. </a:t>
            </a:r>
          </a:p>
          <a:p>
            <a:r>
              <a:rPr lang="sv-SE"/>
              <a:t>Gå igenom.</a:t>
            </a:r>
          </a:p>
          <a:p>
            <a:endParaRPr lang="sv-SE"/>
          </a:p>
          <a:p>
            <a:r>
              <a:rPr lang="sv-SE"/>
              <a:t>Gå sedan igenom C-koden.</a:t>
            </a:r>
          </a:p>
          <a:p>
            <a:endParaRPr lang="sv-SE"/>
          </a:p>
          <a:p>
            <a:r>
              <a:rPr lang="sv-SE"/>
              <a:t>Här finns en väldigt väl gömd bugg...</a:t>
            </a:r>
          </a:p>
          <a:p>
            <a:r>
              <a:rPr lang="sv-SE"/>
              <a:t>Fråga om någon har läst i förväg? </a:t>
            </a:r>
          </a:p>
          <a:p>
            <a:endParaRPr lang="sv-SE"/>
          </a:p>
          <a:p>
            <a:endParaRPr lang="sv-SE"/>
          </a:p>
          <a:p>
            <a:endParaRPr lang="sv-SE"/>
          </a:p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287039-47BA-C79E-30F7-731BA439E34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13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59726530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D77DD2-D158-E670-E3FE-5C06C76F2F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1B775E0-2252-2068-C0A5-B79D224D99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3AE073F-C547-933F-C027-4103D74BE4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Vi tar ett annat exempel. Detta är programmet vi skrev för att vänta på att man trycker på knappen. </a:t>
            </a:r>
          </a:p>
          <a:p>
            <a:r>
              <a:rPr lang="sv-SE"/>
              <a:t>Gå igenom.</a:t>
            </a:r>
          </a:p>
          <a:p>
            <a:endParaRPr lang="sv-SE"/>
          </a:p>
          <a:p>
            <a:r>
              <a:rPr lang="sv-SE"/>
              <a:t>Gå sedan igenom C-koden.</a:t>
            </a:r>
          </a:p>
          <a:p>
            <a:endParaRPr lang="sv-SE"/>
          </a:p>
          <a:p>
            <a:r>
              <a:rPr lang="sv-SE"/>
              <a:t>Här finns en väldigt väl gömd bugg...</a:t>
            </a:r>
          </a:p>
          <a:p>
            <a:r>
              <a:rPr lang="sv-SE"/>
              <a:t>Fråga om någon har läst i förväg? </a:t>
            </a:r>
          </a:p>
          <a:p>
            <a:endParaRPr lang="sv-SE"/>
          </a:p>
          <a:p>
            <a:endParaRPr lang="sv-SE"/>
          </a:p>
          <a:p>
            <a:endParaRPr lang="sv-SE"/>
          </a:p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E315F3-A8E4-A166-077C-13B841C9A02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14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03505197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34C83E-B6F9-658B-0493-FA4BA12AF2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6509CF3-B1DF-1EE7-4982-B199F24DF9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221AB94-F51C-0A34-7E27-C45F2261DF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Vi tar ett annat exempel. Detta är programmet vi skrev för att vänta på att man trycker på knappen. </a:t>
            </a:r>
          </a:p>
          <a:p>
            <a:r>
              <a:rPr lang="sv-SE"/>
              <a:t>Gå igenom.</a:t>
            </a:r>
          </a:p>
          <a:p>
            <a:endParaRPr lang="sv-SE"/>
          </a:p>
          <a:p>
            <a:r>
              <a:rPr lang="sv-SE"/>
              <a:t>Gå sedan igenom C-koden.</a:t>
            </a:r>
          </a:p>
          <a:p>
            <a:endParaRPr lang="sv-SE"/>
          </a:p>
          <a:p>
            <a:r>
              <a:rPr lang="sv-SE"/>
              <a:t>Här finns en väldigt väl gömd bugg...</a:t>
            </a:r>
          </a:p>
          <a:p>
            <a:r>
              <a:rPr lang="sv-SE"/>
              <a:t>Fråga om någon har läst i förväg? </a:t>
            </a:r>
          </a:p>
          <a:p>
            <a:endParaRPr lang="sv-SE"/>
          </a:p>
          <a:p>
            <a:endParaRPr lang="sv-SE"/>
          </a:p>
          <a:p>
            <a:endParaRPr lang="sv-SE"/>
          </a:p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1B3875-D20D-41B6-99CE-F5E662BEE7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15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42308154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Här gör vi ett exempel där jag blinkar en lampa i C</a:t>
            </a:r>
            <a:endParaRPr lang="LID4096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17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338612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 dirty="0"/>
              <a:t>Nu skall vi börja snacka om den här ASCII displayen som ni skall programmera i Lab 2.</a:t>
            </a:r>
          </a:p>
          <a:p>
            <a:r>
              <a:rPr lang="sv-SE" dirty="0"/>
              <a:t>Det är en väldigt standard display som används lite överallt. </a:t>
            </a:r>
          </a:p>
          <a:p>
            <a:r>
              <a:rPr lang="sv-SE" dirty="0"/>
              <a:t>Vi har installerat den på ett kort tillsammans med en större TFT display, men den ignorerar vi än så länge. </a:t>
            </a:r>
          </a:p>
          <a:p>
            <a:r>
              <a:rPr lang="sv-SE" dirty="0"/>
              <a:t>LCD displayen styrs via 11 signaler, som vi har kopplat in till dom här två portarna. </a:t>
            </a:r>
          </a:p>
          <a:p>
            <a:r>
              <a:rPr lang="sv-SE" dirty="0"/>
              <a:t>Normalt skulle vi koppla dessa till övre och undre byten på </a:t>
            </a:r>
            <a:r>
              <a:rPr lang="sv-SE" dirty="0" err="1"/>
              <a:t>andingen</a:t>
            </a:r>
            <a:r>
              <a:rPr lang="sv-SE" dirty="0"/>
              <a:t> GPIO port D eller E.</a:t>
            </a:r>
          </a:p>
          <a:p>
            <a:endParaRPr lang="sv-SE" dirty="0"/>
          </a:p>
          <a:p>
            <a:r>
              <a:rPr lang="sv-SE" dirty="0"/>
              <a:t>Vi styr maskinen genom att skicka kontroll och data signaler i rätt ordning. </a:t>
            </a:r>
            <a:endParaRPr lang="LID4096" b="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19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25532829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5F609C-16FF-F6F3-3928-94C3533865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DA26820-896C-B139-B85C-5D2D819CBFD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0E2789C-E403-2E2C-0D87-55321C4D2D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b="0" dirty="0"/>
              <a:t>Dessa </a:t>
            </a:r>
            <a:r>
              <a:rPr lang="sv-SE" b="0" dirty="0"/>
              <a:t>är de olika </a:t>
            </a:r>
            <a:r>
              <a:rPr lang="sv-SE" b="0" i="1" dirty="0"/>
              <a:t>kommandon </a:t>
            </a:r>
            <a:r>
              <a:rPr lang="sv-SE" b="0" i="0" dirty="0"/>
              <a:t>vi kan ge displayen.</a:t>
            </a:r>
          </a:p>
          <a:p>
            <a:endParaRPr lang="sv-SE" b="0" i="0" dirty="0"/>
          </a:p>
          <a:p>
            <a:r>
              <a:rPr lang="sv-SE" b="0" i="0" dirty="0"/>
              <a:t>Förklara att det finns en cursor (</a:t>
            </a:r>
            <a:r>
              <a:rPr lang="sv-SE" b="0" i="0" dirty="0" err="1"/>
              <a:t>address</a:t>
            </a:r>
            <a:r>
              <a:rPr lang="sv-SE" b="0" i="0" dirty="0"/>
              <a:t>) som man kan flytta på.</a:t>
            </a:r>
          </a:p>
          <a:p>
            <a:endParaRPr lang="sv-SE" b="0" i="0" dirty="0"/>
          </a:p>
          <a:p>
            <a:r>
              <a:rPr lang="sv-SE" b="0" i="0" dirty="0"/>
              <a:t>Förklara att vi för att ge ett kommando sätter RS = 0 och skriver kommandot på datalinorna. </a:t>
            </a:r>
          </a:p>
          <a:p>
            <a:endParaRPr lang="sv-SE" b="0" i="0" dirty="0"/>
          </a:p>
          <a:p>
            <a:r>
              <a:rPr lang="sv-SE" b="0" i="0" dirty="0"/>
              <a:t>Förklara att om RS är 1 så skriver vi istället en bokstav (data) till displayen.</a:t>
            </a:r>
            <a:endParaRPr lang="LID4096" b="0" i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A9A51D-C801-A4A0-319E-5C00135E5C3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20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63815884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340955-CF6C-F642-97FF-42293503AB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62D9172-AA4C-2D35-1E75-3BD8056EB7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FE02154-8BAA-F672-B343-CCB12F3946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 b="0" dirty="0"/>
              <a:t>Vare sig vi vill skriva ett kommando eller en bokstav så måste vi följa ett speciellt tidsschema som vi hittar i databladet (eller </a:t>
            </a:r>
            <a:r>
              <a:rPr lang="sv-SE" b="0" dirty="0" err="1"/>
              <a:t>quickguiden</a:t>
            </a:r>
            <a:r>
              <a:rPr lang="sv-SE" b="0" dirty="0"/>
              <a:t>)</a:t>
            </a:r>
          </a:p>
          <a:p>
            <a:endParaRPr lang="sv-SE" b="0" dirty="0"/>
          </a:p>
          <a:p>
            <a:r>
              <a:rPr lang="sv-SE" b="0" dirty="0"/>
              <a:t>Schemat säger att vi först måste välja RS (</a:t>
            </a:r>
            <a:r>
              <a:rPr lang="sv-SE" b="0" dirty="0" err="1"/>
              <a:t>command</a:t>
            </a:r>
            <a:r>
              <a:rPr lang="sv-SE" b="0" dirty="0"/>
              <a:t> or 1=</a:t>
            </a:r>
            <a:r>
              <a:rPr lang="sv-SE" b="1" dirty="0"/>
              <a:t>data</a:t>
            </a:r>
            <a:r>
              <a:rPr lang="sv-SE" b="0" dirty="0"/>
              <a:t>) och RW (read or </a:t>
            </a:r>
            <a:r>
              <a:rPr lang="sv-SE" b="1" dirty="0" err="1"/>
              <a:t>write</a:t>
            </a:r>
            <a:r>
              <a:rPr lang="sv-SE" b="0" dirty="0"/>
              <a:t>) signalerna. </a:t>
            </a:r>
          </a:p>
          <a:p>
            <a:r>
              <a:rPr lang="sv-SE" b="0" dirty="0"/>
              <a:t>Vi sätter alltså signalerna RS som 1 och RW som 0.</a:t>
            </a:r>
          </a:p>
          <a:p>
            <a:r>
              <a:rPr lang="sv-SE" b="0" dirty="0"/>
              <a:t>Sedan måste vi </a:t>
            </a:r>
            <a:r>
              <a:rPr lang="sv-SE" b="0" i="1" dirty="0"/>
              <a:t>vänta</a:t>
            </a:r>
            <a:r>
              <a:rPr lang="sv-SE" b="0" i="0" dirty="0"/>
              <a:t> en stund, innan signalerna stabiliserats, och vi kan starta överföringen genom att sätta E hög.</a:t>
            </a:r>
          </a:p>
          <a:p>
            <a:r>
              <a:rPr lang="sv-SE" b="0" i="0" dirty="0"/>
              <a:t>Nu skall vi lägga bokstaven vi vill skriva på datalinorna. </a:t>
            </a:r>
          </a:p>
          <a:p>
            <a:r>
              <a:rPr lang="sv-SE" b="0" i="0" dirty="0"/>
              <a:t>tsu2 visar minsta tiden som dessa måste legat ute innan vi får lov att säga till maskinen att läsa linorna, genom att sätta E låg. </a:t>
            </a:r>
          </a:p>
          <a:p>
            <a:r>
              <a:rPr lang="sv-SE" b="0" i="0" dirty="0"/>
              <a:t>Efter ett h blivit låg måste vi sedan vänta </a:t>
            </a:r>
            <a:r>
              <a:rPr lang="sv-SE" b="0" i="0" dirty="0" err="1"/>
              <a:t>th</a:t>
            </a:r>
            <a:r>
              <a:rPr lang="sv-SE" b="0" i="0" dirty="0"/>
              <a:t>, tills displayen processat klart, innan vi kan ändra någon av signalerna. </a:t>
            </a:r>
          </a:p>
          <a:p>
            <a:r>
              <a:rPr lang="sv-SE" b="0" i="0" dirty="0"/>
              <a:t>Visa dom e hög/låg och cykeltiden också</a:t>
            </a:r>
          </a:p>
          <a:p>
            <a:endParaRPr lang="sv-SE" b="0" i="0" dirty="0"/>
          </a:p>
          <a:p>
            <a:r>
              <a:rPr lang="sv-SE" b="0" i="0" dirty="0"/>
              <a:t>I labbförberedelsen skall ni skriva koden som utför dom här skrivningarna och läsningarna. </a:t>
            </a:r>
          </a:p>
          <a:p>
            <a:endParaRPr lang="sv-SE" b="0" i="0" dirty="0"/>
          </a:p>
          <a:p>
            <a:r>
              <a:rPr lang="sv-SE" b="0" i="0" dirty="0"/>
              <a:t>Då måste ni kunna göra </a:t>
            </a:r>
            <a:r>
              <a:rPr lang="sv-SE" b="0" i="0" dirty="0" err="1"/>
              <a:t>delay</a:t>
            </a:r>
            <a:r>
              <a:rPr lang="sv-SE" b="0" i="0" dirty="0"/>
              <a:t>! Hur gör man det? </a:t>
            </a:r>
          </a:p>
          <a:p>
            <a:endParaRPr lang="sv-SE" b="0" i="0" dirty="0"/>
          </a:p>
          <a:p>
            <a:endParaRPr lang="sv-SE" b="0" i="0" dirty="0"/>
          </a:p>
          <a:p>
            <a:endParaRPr lang="sv-SE" b="0" i="0" dirty="0"/>
          </a:p>
          <a:p>
            <a:endParaRPr lang="sv-SE" b="0" i="0" dirty="0"/>
          </a:p>
          <a:p>
            <a:endParaRPr lang="sv-SE" b="0" i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C03FC2-5DCC-322E-0B10-B9A3BFA017E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21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60006946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Förklara att det funkar som ett tidtagarur.</a:t>
            </a:r>
          </a:p>
          <a:p>
            <a:endParaRPr lang="sv-SE"/>
          </a:p>
          <a:p>
            <a:r>
              <a:rPr lang="sv-SE"/>
              <a:t>Klicka igenom registrena översiktligt</a:t>
            </a:r>
          </a:p>
          <a:p>
            <a:endParaRPr lang="sv-SE"/>
          </a:p>
          <a:p>
            <a:r>
              <a:rPr lang="sv-SE"/>
              <a:t>(förklara att vi också kan få den att ringa och avbryta oss när den är klar, men då behövs interrupts och det är om två veckor)</a:t>
            </a:r>
          </a:p>
          <a:p>
            <a:endParaRPr lang="LID4096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23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01153843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3A6F04-A608-0C03-D1CF-8822A91A99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595F9FA-19CC-654E-0FF9-984DED38465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8A5B70F-C4AB-7B0F-ABCE-367E26AA01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Visar hur vi gör i praktiken med ett exempel.</a:t>
            </a:r>
          </a:p>
          <a:p>
            <a:endParaRPr lang="sv-SE"/>
          </a:p>
          <a:p>
            <a:r>
              <a:rPr lang="en-GB"/>
              <a:t>L</a:t>
            </a:r>
            <a:r>
              <a:rPr lang="sv-SE"/>
              <a:t>ängsta tiden vi kan vänta är 4000år....</a:t>
            </a:r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4A1C88-C036-507D-E0B9-1995EB7BBBB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24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13435078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 dirty="0"/>
              <a:t>Låt dom räkna en liten stund</a:t>
            </a:r>
            <a:endParaRPr lang="LID4096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25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02471912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E15547-27C1-A8F4-E92B-34D7A7547D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8F3F54F-2906-FCD1-1805-171B91FD7E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FE2F6A3-56EF-DC9F-A46C-6D6A9F4AC2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sv-SE" b="0" i="0" dirty="0"/>
          </a:p>
          <a:p>
            <a:endParaRPr lang="sv-SE" b="0" i="0" dirty="0"/>
          </a:p>
          <a:p>
            <a:r>
              <a:rPr lang="sv-SE" b="0" i="0" dirty="0"/>
              <a:t>Er uppgift i labbförberedelsen är att implementera den här skrivcykeln (och en läscykel, och lite annat) </a:t>
            </a:r>
            <a:r>
              <a:rPr lang="sv-SE" b="0" i="0" dirty="0" err="1"/>
              <a:t>m.h.a</a:t>
            </a:r>
            <a:r>
              <a:rPr lang="sv-SE" b="0" i="0" dirty="0"/>
              <a:t>. </a:t>
            </a:r>
            <a:r>
              <a:rPr lang="sv-SE" b="0" i="0" dirty="0" err="1"/>
              <a:t>systick</a:t>
            </a:r>
            <a:r>
              <a:rPr lang="sv-SE" b="0" i="0" dirty="0"/>
              <a:t>. </a:t>
            </a:r>
          </a:p>
          <a:p>
            <a:r>
              <a:rPr lang="sv-SE" b="0" i="0" dirty="0"/>
              <a:t>Jag kommer inte prata mer om det här. </a:t>
            </a:r>
          </a:p>
          <a:p>
            <a:r>
              <a:rPr lang="sv-SE" b="0" i="0" dirty="0"/>
              <a:t>Det finns en ganska detaljerad genomgång i boken, men ni kan klara er med bara </a:t>
            </a:r>
            <a:r>
              <a:rPr lang="sv-SE" b="0" i="0" dirty="0" err="1"/>
              <a:t>quickguiden</a:t>
            </a:r>
            <a:r>
              <a:rPr lang="sv-SE" b="0" i="0" dirty="0"/>
              <a:t> och </a:t>
            </a:r>
            <a:r>
              <a:rPr lang="sv-SE" b="0" i="0" dirty="0" err="1"/>
              <a:t>labförberedelseövningen</a:t>
            </a:r>
            <a:r>
              <a:rPr lang="sv-SE" b="0" i="0" dirty="0"/>
              <a:t>. </a:t>
            </a:r>
          </a:p>
          <a:p>
            <a:endParaRPr lang="sv-SE" b="0" i="0" dirty="0"/>
          </a:p>
          <a:p>
            <a:endParaRPr lang="sv-SE" b="0" i="0" dirty="0"/>
          </a:p>
          <a:p>
            <a:endParaRPr lang="sv-SE" b="0" i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5966A8-6275-8809-B766-2342431D3C1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26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21496747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Vi </a:t>
            </a:r>
            <a:r>
              <a:rPr lang="en-US" dirty="0" err="1"/>
              <a:t>skall</a:t>
            </a:r>
            <a:r>
              <a:rPr lang="en-US" dirty="0"/>
              <a:t> </a:t>
            </a:r>
            <a:r>
              <a:rPr lang="en-US" dirty="0" err="1"/>
              <a:t>titta</a:t>
            </a:r>
            <a:r>
              <a:rPr lang="en-US" dirty="0"/>
              <a:t> lite </a:t>
            </a:r>
            <a:r>
              <a:rPr lang="en-US" dirty="0" err="1"/>
              <a:t>snabbt</a:t>
            </a:r>
            <a:r>
              <a:rPr lang="en-US" dirty="0"/>
              <a:t> p</a:t>
            </a:r>
            <a:r>
              <a:rPr lang="sv-SE" dirty="0"/>
              <a:t>å </a:t>
            </a:r>
            <a:r>
              <a:rPr lang="sv-SE" dirty="0" err="1"/>
              <a:t>arrays</a:t>
            </a:r>
            <a:r>
              <a:rPr lang="sv-SE" dirty="0"/>
              <a:t> i C, men det är ganska likt java. </a:t>
            </a:r>
          </a:p>
          <a:p>
            <a:endParaRPr lang="LID4096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27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90725310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0C3968-A274-A371-8E2C-3CC12E9938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0F84FD3-4E1D-32CD-A7D4-1F1E736162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F4CB5DA-97B4-09A9-836C-F19CB48454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sv-SE" dirty="0"/>
          </a:p>
          <a:p>
            <a:r>
              <a:rPr lang="sv-SE" dirty="0"/>
              <a:t>Arrayens </a:t>
            </a:r>
            <a:r>
              <a:rPr lang="sv-SE" i="1" dirty="0"/>
              <a:t>namn</a:t>
            </a:r>
            <a:r>
              <a:rPr lang="sv-SE" dirty="0"/>
              <a:t> fungerar som en</a:t>
            </a:r>
          </a:p>
          <a:p>
            <a:r>
              <a:rPr lang="sv-SE" dirty="0"/>
              <a:t>(</a:t>
            </a:r>
            <a:r>
              <a:rPr lang="sv-SE" dirty="0" err="1"/>
              <a:t>const</a:t>
            </a:r>
            <a:r>
              <a:rPr lang="sv-SE" dirty="0"/>
              <a:t>) pekare. Vi har alltså pekaren</a:t>
            </a:r>
          </a:p>
          <a:p>
            <a:r>
              <a:rPr lang="sv-SE" dirty="0"/>
              <a:t>(</a:t>
            </a:r>
            <a:r>
              <a:rPr lang="sv-SE" dirty="0" err="1"/>
              <a:t>addressen</a:t>
            </a:r>
            <a:r>
              <a:rPr lang="sv-SE" dirty="0"/>
              <a:t>) till första elementet i </a:t>
            </a:r>
            <a:r>
              <a:rPr lang="sv-SE" dirty="0" err="1"/>
              <a:t>arrayen</a:t>
            </a:r>
            <a:r>
              <a:rPr lang="sv-SE" dirty="0"/>
              <a:t> som: </a:t>
            </a:r>
          </a:p>
          <a:p>
            <a:r>
              <a:rPr lang="sv-SE" dirty="0" err="1">
                <a:latin typeface="Consolas" panose="020B0609020204030204" pitchFamily="49" charset="0"/>
              </a:rPr>
              <a:t>const</a:t>
            </a:r>
            <a:r>
              <a:rPr lang="sv-SE" dirty="0">
                <a:latin typeface="Consolas" panose="020B0609020204030204" pitchFamily="49" charset="0"/>
              </a:rPr>
              <a:t> short *</a:t>
            </a:r>
            <a:r>
              <a:rPr lang="sv-SE" dirty="0" err="1">
                <a:latin typeface="Consolas" panose="020B0609020204030204" pitchFamily="49" charset="0"/>
              </a:rPr>
              <a:t>value_array</a:t>
            </a:r>
            <a:r>
              <a:rPr lang="sv-SE" dirty="0">
                <a:latin typeface="Consolas" panose="020B0609020204030204" pitchFamily="49" charset="0"/>
              </a:rPr>
              <a:t>; </a:t>
            </a:r>
          </a:p>
          <a:p>
            <a:r>
              <a:rPr lang="en-GB" dirty="0">
                <a:latin typeface="Consolas" panose="020B0609020204030204" pitchFamily="49" charset="0"/>
              </a:rPr>
              <a:t>&lt;click&gt;</a:t>
            </a:r>
          </a:p>
          <a:p>
            <a:r>
              <a:rPr lang="sv-SE" dirty="0"/>
              <a:t>När vi indexerar på det här viset översätter </a:t>
            </a:r>
          </a:p>
          <a:p>
            <a:r>
              <a:rPr lang="sv-SE" dirty="0"/>
              <a:t>kompilatorn det till: </a:t>
            </a:r>
          </a:p>
          <a:p>
            <a:r>
              <a:rPr lang="sv-SE" dirty="0">
                <a:latin typeface="Consolas" panose="020B0609020204030204" pitchFamily="49" charset="0"/>
              </a:rPr>
              <a:t>(*(</a:t>
            </a:r>
            <a:r>
              <a:rPr lang="sv-SE" dirty="0" err="1">
                <a:latin typeface="Consolas" panose="020B0609020204030204" pitchFamily="49" charset="0"/>
              </a:rPr>
              <a:t>value_array</a:t>
            </a:r>
            <a:r>
              <a:rPr lang="sv-SE" dirty="0">
                <a:latin typeface="Consolas" panose="020B0609020204030204" pitchFamily="49" charset="0"/>
              </a:rPr>
              <a:t> + i))</a:t>
            </a:r>
          </a:p>
          <a:p>
            <a:endParaRPr lang="sv-SE" dirty="0">
              <a:latin typeface="Consolas" panose="020B0609020204030204" pitchFamily="49" charset="0"/>
            </a:endParaRPr>
          </a:p>
          <a:p>
            <a:r>
              <a:rPr lang="sv-SE" b="1" dirty="0">
                <a:latin typeface="Consolas" panose="020B0609020204030204" pitchFamily="49" charset="0"/>
              </a:rPr>
              <a:t>Men det verkar väl lite fel? Någon som tycker det ser knasigt ut? </a:t>
            </a:r>
          </a:p>
          <a:p>
            <a:endParaRPr lang="sv-SE" dirty="0">
              <a:latin typeface="Consolas" panose="020B0609020204030204" pitchFamily="49" charset="0"/>
            </a:endParaRPr>
          </a:p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C6D00F-CD4D-89DA-9EDF-2D1478B556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76C796-BAB8-4B04-BD32-E3AC4AD1DCA6}" type="slidenum">
              <a:rPr lang="LID4096" smtClean="0"/>
              <a:t>28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52279023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 dirty="0"/>
              <a:t>Det funkar för att plus och minus funkar annorlunda på pekare än på vanliga tal. </a:t>
            </a:r>
          </a:p>
          <a:p>
            <a:r>
              <a:rPr lang="sv-SE" dirty="0"/>
              <a:t>När jag lägger till ett värde i till en pekare ökas </a:t>
            </a:r>
            <a:r>
              <a:rPr lang="sv-SE" dirty="0" err="1"/>
              <a:t>addressen</a:t>
            </a:r>
            <a:r>
              <a:rPr lang="sv-SE" dirty="0"/>
              <a:t> med </a:t>
            </a:r>
            <a:r>
              <a:rPr lang="sv-SE" i="1" dirty="0"/>
              <a:t>i stycken av pekarens typ</a:t>
            </a:r>
            <a:r>
              <a:rPr lang="sv-SE" i="0" dirty="0"/>
              <a:t>.</a:t>
            </a:r>
          </a:p>
          <a:p>
            <a:r>
              <a:rPr lang="sv-SE" i="0" dirty="0"/>
              <a:t>Gå igenom. </a:t>
            </a:r>
          </a:p>
          <a:p>
            <a:r>
              <a:rPr lang="sv-SE" i="0" dirty="0"/>
              <a:t>&lt;</a:t>
            </a:r>
            <a:r>
              <a:rPr lang="sv-SE" i="0" dirty="0" err="1"/>
              <a:t>click</a:t>
            </a:r>
            <a:r>
              <a:rPr lang="sv-SE" i="0" dirty="0"/>
              <a:t>&gt; </a:t>
            </a:r>
          </a:p>
          <a:p>
            <a:r>
              <a:rPr lang="sv-SE" i="0" dirty="0"/>
              <a:t>Det gör bland annat att man kan skriva sådan här kod. </a:t>
            </a:r>
          </a:p>
          <a:p>
            <a:r>
              <a:rPr lang="en-US" i="0" dirty="0"/>
              <a:t>&lt;click&gt;</a:t>
            </a:r>
          </a:p>
          <a:p>
            <a:r>
              <a:rPr lang="en-US" i="0" dirty="0"/>
              <a:t>Och </a:t>
            </a:r>
            <a:r>
              <a:rPr lang="en-US" i="0" dirty="0" err="1"/>
              <a:t>att</a:t>
            </a:r>
            <a:r>
              <a:rPr lang="en-US" i="0" dirty="0"/>
              <a:t> n</a:t>
            </a:r>
            <a:r>
              <a:rPr lang="sv-SE" i="0" dirty="0" err="1"/>
              <a:t>ästan</a:t>
            </a:r>
            <a:r>
              <a:rPr lang="sv-SE" i="0" dirty="0"/>
              <a:t> alla elever förr eller senare gör den här buggen</a:t>
            </a:r>
          </a:p>
          <a:p>
            <a:r>
              <a:rPr lang="sv-SE" i="0" dirty="0"/>
              <a:t>VAD ÄR FEL?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76C796-BAB8-4B04-BD32-E3AC4AD1DCA6}" type="slidenum">
              <a:rPr lang="LID4096" smtClean="0"/>
              <a:t>29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92290418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07AAEC-3E6C-4451-F486-87E023A5119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423331C-A0B6-0FB2-3F60-753189EC5DC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DF49D7-5229-A7AD-747E-E6E2A94807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02/06/2026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3705F1-D570-FD0F-514D-706EC47143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82FFF5-DA5D-BE5F-C578-D94F74E276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1232673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B61E56A-61B1-4728-4B29-992DB3EED25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0"/>
            <a:ext cx="12192000" cy="169068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4D76953-890A-D048-2193-B60830D7DD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433386-BED0-D084-18B4-677D6B198F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E72D33-941F-13F9-A7E8-260FC6E523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02/06/2026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759F51-CB1B-DF9A-5CC0-93AFDF6758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E42DB4-6401-3763-4016-068E35BF83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0884212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C7224668-B732-F6E4-82FD-48279E8CE7C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1690688"/>
            <a:ext cx="12192000" cy="5167312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B61E56A-61B1-4728-4B29-992DB3EED25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0"/>
            <a:ext cx="12192000" cy="169068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4D76953-890A-D048-2193-B60830D7DD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433386-BED0-D084-18B4-677D6B198F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E72D33-941F-13F9-A7E8-260FC6E523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02/06/2026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759F51-CB1B-DF9A-5CC0-93AFDF6758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E42DB4-6401-3763-4016-068E35BF83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9975086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55AE1C-835E-4237-40BE-548098F751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680726C-642C-40B9-29E4-8CB6438330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D861FB-8DCF-74EB-CB4F-6C8C5FDA2D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02/06/2026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B0EE97-CCFB-62D1-AD51-EC2640FFF3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24E895-9CC8-B3E0-C23B-C34A3154E3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8308335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6ADA9653-920E-A3FB-A09E-24B10BF25882}"/>
              </a:ext>
            </a:extLst>
          </p:cNvPr>
          <p:cNvSpPr/>
          <p:nvPr userDrawn="1"/>
        </p:nvSpPr>
        <p:spPr>
          <a:xfrm>
            <a:off x="0" y="0"/>
            <a:ext cx="12192000" cy="169068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D912F9C-95D6-9F26-CB8F-4684FA3BC9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A225D4-B7C6-E53C-86CB-746972F8BB5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34E4528-78B3-D076-447C-021E6D75A5A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1FD6A9B-7759-36F2-D666-8667C8DE7F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02/06/2026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821CEAB-5EF1-8A74-8968-8F0DB2B276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1540A9C-A1CD-86C2-36E4-17DFA2A93F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0181394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DAC8CFAD-2C3B-E51D-4FD9-E852766792F8}"/>
              </a:ext>
            </a:extLst>
          </p:cNvPr>
          <p:cNvSpPr/>
          <p:nvPr userDrawn="1"/>
        </p:nvSpPr>
        <p:spPr>
          <a:xfrm>
            <a:off x="0" y="0"/>
            <a:ext cx="12192000" cy="169068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8FA55E2-B180-DE62-C73A-B825DAA5CD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82EA99E-F1A7-2F45-FDF1-5E254A755E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59AB4C4-573F-7FAB-48DA-DAF97814929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F7018C2-E8F6-E5E6-79EA-3155C34500D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31AF297-CD62-07D0-9158-3B908BD1CAF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CD7138E-77A6-33DA-62AD-A97A7ECC83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02/06/2026</a:t>
            </a:fld>
            <a:endParaRPr lang="LID4096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097087-613E-94E4-030D-9C72E53CB6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53AB01B-9183-BED8-5270-E118181DA1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4429146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1B0351AC-8666-6A69-B402-81D189976CE4}"/>
              </a:ext>
            </a:extLst>
          </p:cNvPr>
          <p:cNvSpPr/>
          <p:nvPr userDrawn="1"/>
        </p:nvSpPr>
        <p:spPr>
          <a:xfrm>
            <a:off x="0" y="0"/>
            <a:ext cx="12192000" cy="169068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7DC8B82-510D-675C-90C7-E85E633B58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AFBD4E8-F59F-752C-FE4A-3B1CDA10D2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02/06/2026</a:t>
            </a:fld>
            <a:endParaRPr lang="LID4096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574A05F-55BF-5716-B67E-826F7B5ACE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18E29FC-9E20-22D5-23DC-B42B2A2F2D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1546934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28A2B7A-FCD7-89EB-1A96-B7932F9689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02/06/2026</a:t>
            </a:fld>
            <a:endParaRPr lang="LID4096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E727F0C-76DF-9396-D50C-E80D75E88C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071C10-AF5A-33B6-0088-2D81FA270B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4672464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27353D-A96C-86D7-3B51-4AEF89B0E5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5426A3-8A7E-2232-C68D-B497DB402E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1AEDFD2-8147-E4EA-30DB-B6EE92AFAC2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42C160-1681-9853-0D30-D48019EF3B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02/06/2026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9DBD775-8CC4-1D89-390B-CBE113AFFC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B556AE1-23BA-5111-5A0E-06335408D0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8103254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DB0FD3-1A53-ADC5-6F25-17D89C1E9B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E0D64E3-FFB1-8C2C-B98F-A7A970F3E24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1339862-B6A9-674B-99C4-8ABD188F158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EA0084A-CEA6-A23A-8D58-A22A15A2D4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02/06/2026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F3325F-BB03-5E1E-8BBA-77021E9FAB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3FE28DD-BD5D-D807-4F41-CEA2BBBEB6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7823676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C1E742-C2AD-6643-CED1-AFDDE4FC60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CEC0158-1729-4A7E-7B94-781E3123752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ED27F6-811A-D0A0-06B1-41B03656D8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02/06/2026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D2C692-F6C8-CB76-B789-5004D9605F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AF7830-571D-5B23-D628-16DCF365B5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71151017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BFC0549-8A95-0497-7701-706A861F197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EEEBB1F-4FAC-A79D-8CEF-065067FC03E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843EFF8-EAC7-D303-AE5E-3FC052A597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02/06/2026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840B46-B5A1-A5C4-7709-AF9C579E63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08CE26-1654-5732-2FCC-D9586B0F14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76779132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FF3BB9D5-722B-FDAA-6867-63BCE26A0024}"/>
              </a:ext>
            </a:extLst>
          </p:cNvPr>
          <p:cNvSpPr txBox="1"/>
          <p:nvPr userDrawn="1"/>
        </p:nvSpPr>
        <p:spPr>
          <a:xfrm>
            <a:off x="4705350" y="-139700"/>
            <a:ext cx="2508250" cy="4489450"/>
          </a:xfrm>
          <a:prstGeom prst="rect">
            <a:avLst/>
          </a:prstGeom>
          <a:noFill/>
          <a:effectLst>
            <a:reflection blurRad="6350" stA="50000" endA="300" endPos="90000" dir="5400000" sy="-100000" algn="bl" rotWithShape="0"/>
          </a:effectLst>
        </p:spPr>
        <p:txBody>
          <a:bodyPr wrap="square" lIns="0" tIns="0" rIns="0" bIns="0" rtlCol="0">
            <a:noAutofit/>
          </a:bodyPr>
          <a:lstStyle/>
          <a:p>
            <a:r>
              <a:rPr lang="sv-SE" sz="38000" b="1"/>
              <a:t>?</a:t>
            </a:r>
            <a:endParaRPr lang="LID4096" sz="38000" b="1"/>
          </a:p>
        </p:txBody>
      </p:sp>
    </p:spTree>
    <p:extLst>
      <p:ext uri="{BB962C8B-B14F-4D97-AF65-F5344CB8AC3E}">
        <p14:creationId xmlns:p14="http://schemas.microsoft.com/office/powerpoint/2010/main" val="7975097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492C8A0-0DE0-C4FC-A8FB-D00A440D09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4CF994-83D9-1216-3BA3-76E9A3D4D6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B6BF0C-3972-8E81-14A3-E51F000884D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16EB631-5B1A-4879-85E7-A8D4C94FBFC5}" type="datetimeFigureOut">
              <a:rPr lang="LID4096" smtClean="0"/>
              <a:t>02/06/2026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46C7A3-C949-61E8-A947-BF7E59CD910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661E2F-B9DE-A2C3-9386-5BE1861F09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2054290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1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4452DF-D5C9-52BE-066B-17C7A4BFAA6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sv-SE"/>
              <a:t>Lektion 6</a:t>
            </a:r>
            <a:endParaRPr lang="LID4096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A50E2CB-296B-2D3A-2C5D-AF9D01690A6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sv-SE"/>
              <a:t>Pekare och </a:t>
            </a:r>
            <a:r>
              <a:rPr lang="en-GB"/>
              <a:t>synkronisering</a:t>
            </a:r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1743653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956708-2EA5-0A89-65CE-DEBB4DEDC5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Var är våra variabler?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07AAFD-3169-BF36-59D2-93FBD2E66C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0562" y="2424261"/>
            <a:ext cx="3253576" cy="3687089"/>
          </a:xfrm>
          <a:solidFill>
            <a:schemeClr val="tx1">
              <a:lumMod val="85000"/>
              <a:lumOff val="15000"/>
            </a:schemeClr>
          </a:solidFill>
        </p:spPr>
        <p:txBody>
          <a:bodyPr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ct val="100000"/>
              </a:lnSpc>
              <a:spcBef>
                <a:spcPts val="0"/>
              </a:spcBef>
              <a:buNone/>
            </a:pPr>
            <a:b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en-US" sz="1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count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14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count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lnSpc>
                <a:spcPct val="100000"/>
              </a:lnSpc>
              <a:spcBef>
                <a:spcPts val="0"/>
              </a:spcBef>
              <a:buNone/>
            </a:pPr>
            <a:b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en-US" sz="1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count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LID4096" sz="14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9E1E477-D303-3BCA-3F7C-C1183D8C68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25918" y="2181539"/>
            <a:ext cx="6516009" cy="417253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A9BE81F-B4F4-3CD3-A1CB-1589D148BE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37648" y="5279171"/>
            <a:ext cx="912061" cy="21996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D69F4DF-F62B-C64D-7DEA-0E0B72DE28C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87603" y="4674035"/>
            <a:ext cx="614779" cy="219967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A75AB7CF-0F9B-27ED-2549-17C8319F1F5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37648" y="3276579"/>
            <a:ext cx="1590892" cy="152421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BB991881-2271-2402-BA7E-A783AB34C82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90048" y="3428979"/>
            <a:ext cx="1590892" cy="152421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F2658367-57A1-57A2-E264-61FD772CB15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42448" y="3581379"/>
            <a:ext cx="1590892" cy="152421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A895B7A8-F686-3C36-0B25-803BA9BD356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94848" y="3733779"/>
            <a:ext cx="1590892" cy="152421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D7F0A598-7C05-0CB9-8F87-3D99A5B1DF7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47248" y="3886179"/>
            <a:ext cx="1590892" cy="1524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65325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115148-036D-1927-38C4-9F162AB016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Hur skriver vi till ett peripheral register i C? </a:t>
            </a:r>
            <a:endParaRPr lang="LID4096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4984AA7-FEE3-BFD8-3BC0-B9477B74E939}"/>
              </a:ext>
            </a:extLst>
          </p:cNvPr>
          <p:cNvSpPr txBox="1"/>
          <p:nvPr/>
        </p:nvSpPr>
        <p:spPr>
          <a:xfrm>
            <a:off x="5688104" y="2559857"/>
            <a:ext cx="6102438" cy="2954655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sz="1200">
                <a:solidFill>
                  <a:srgbClr val="569CD6"/>
                </a:solidFill>
                <a:latin typeface="Consolas" panose="020B0609020204030204" pitchFamily="49" charset="0"/>
              </a:rPr>
              <a:t>.equ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GPIO_D_CFGLR, </a:t>
            </a:r>
            <a:r>
              <a:rPr lang="en-GB" sz="1200">
                <a:solidFill>
                  <a:srgbClr val="B5CEA8"/>
                </a:solidFill>
                <a:latin typeface="Consolas" panose="020B0609020204030204" pitchFamily="49" charset="0"/>
              </a:rPr>
              <a:t>0x40011400</a:t>
            </a: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en-GB" sz="1200">
                <a:solidFill>
                  <a:srgbClr val="569CD6"/>
                </a:solidFill>
                <a:latin typeface="Consolas" panose="020B0609020204030204" pitchFamily="49" charset="0"/>
              </a:rPr>
              <a:t>.equ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GPIO_D_OUTDR, </a:t>
            </a:r>
            <a:r>
              <a:rPr lang="en-GB" sz="1200">
                <a:solidFill>
                  <a:srgbClr val="B5CEA8"/>
                </a:solidFill>
                <a:latin typeface="Consolas" panose="020B0609020204030204" pitchFamily="49" charset="0"/>
              </a:rPr>
              <a:t>0x4001140C</a:t>
            </a: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GB" sz="1200">
                <a:solidFill>
                  <a:srgbClr val="DCDCAA"/>
                </a:solidFill>
                <a:latin typeface="Consolas" panose="020B0609020204030204" pitchFamily="49" charset="0"/>
              </a:rPr>
              <a:t>main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GB" sz="1200">
                <a:solidFill>
                  <a:srgbClr val="6A9955"/>
                </a:solidFill>
                <a:latin typeface="Consolas" panose="020B0609020204030204" pitchFamily="49" charset="0"/>
              </a:rPr>
              <a:t># Configure GPIO D, pin 2 as output, 2Mhz, push-pull </a:t>
            </a: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GB" sz="1200">
                <a:solidFill>
                  <a:srgbClr val="DCDCAA"/>
                </a:solidFill>
                <a:latin typeface="Consolas" panose="020B0609020204030204" pitchFamily="49" charset="0"/>
              </a:rPr>
              <a:t>la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9CDCFE"/>
                </a:solidFill>
                <a:latin typeface="Consolas" panose="020B0609020204030204" pitchFamily="49" charset="0"/>
              </a:rPr>
              <a:t>t0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, GPIO_D_CFGLR</a:t>
            </a:r>
          </a:p>
          <a:p>
            <a:pPr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GB" sz="1200">
                <a:solidFill>
                  <a:srgbClr val="DCDCAA"/>
                </a:solidFill>
                <a:latin typeface="Consolas" panose="020B0609020204030204" pitchFamily="49" charset="0"/>
              </a:rPr>
              <a:t>li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9CDCFE"/>
                </a:solidFill>
                <a:latin typeface="Consolas" panose="020B0609020204030204" pitchFamily="49" charset="0"/>
              </a:rPr>
              <a:t>t1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GB" sz="1200">
                <a:solidFill>
                  <a:srgbClr val="B5CEA8"/>
                </a:solidFill>
                <a:latin typeface="Consolas" panose="020B0609020204030204" pitchFamily="49" charset="0"/>
              </a:rPr>
              <a:t>0x00000200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 </a:t>
            </a:r>
            <a:r>
              <a:rPr lang="en-GB" sz="1200">
                <a:solidFill>
                  <a:srgbClr val="6A9955"/>
                </a:solidFill>
                <a:latin typeface="Consolas" panose="020B0609020204030204" pitchFamily="49" charset="0"/>
              </a:rPr>
              <a:t># Set lower 8 pins as output push-pull</a:t>
            </a: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GB" sz="1200">
                <a:solidFill>
                  <a:srgbClr val="DCDCAA"/>
                </a:solidFill>
                <a:latin typeface="Consolas" panose="020B0609020204030204" pitchFamily="49" charset="0"/>
              </a:rPr>
              <a:t>sw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9CDCFE"/>
                </a:solidFill>
                <a:latin typeface="Consolas" panose="020B0609020204030204" pitchFamily="49" charset="0"/>
              </a:rPr>
              <a:t>t1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GB" sz="1200">
                <a:solidFill>
                  <a:srgbClr val="B5CEA8"/>
                </a:solidFill>
                <a:latin typeface="Consolas" panose="020B0609020204030204" pitchFamily="49" charset="0"/>
              </a:rPr>
              <a:t>0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GB" sz="1200">
                <a:solidFill>
                  <a:srgbClr val="9CDCFE"/>
                </a:solidFill>
                <a:latin typeface="Consolas" panose="020B0609020204030204" pitchFamily="49" charset="0"/>
              </a:rPr>
              <a:t>t0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)</a:t>
            </a:r>
            <a:b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</a:br>
            <a:b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</a:b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GB" sz="1200">
                <a:solidFill>
                  <a:srgbClr val="6A9955"/>
                </a:solidFill>
                <a:latin typeface="Consolas" panose="020B0609020204030204" pitchFamily="49" charset="0"/>
              </a:rPr>
              <a:t># Skriv 1 till pin 2</a:t>
            </a: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GB" sz="1200">
                <a:solidFill>
                  <a:srgbClr val="DCDCAA"/>
                </a:solidFill>
                <a:latin typeface="Consolas" panose="020B0609020204030204" pitchFamily="49" charset="0"/>
              </a:rPr>
              <a:t>la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9CDCFE"/>
                </a:solidFill>
                <a:latin typeface="Consolas" panose="020B0609020204030204" pitchFamily="49" charset="0"/>
              </a:rPr>
              <a:t>t0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, GPIO_D_OUTDR</a:t>
            </a:r>
          </a:p>
          <a:p>
            <a:pPr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GB" sz="1200">
                <a:solidFill>
                  <a:srgbClr val="DCDCAA"/>
                </a:solidFill>
                <a:latin typeface="Consolas" panose="020B0609020204030204" pitchFamily="49" charset="0"/>
              </a:rPr>
              <a:t>lh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9CDCFE"/>
                </a:solidFill>
                <a:latin typeface="Consolas" panose="020B0609020204030204" pitchFamily="49" charset="0"/>
              </a:rPr>
              <a:t>t1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GB" sz="1200">
                <a:solidFill>
                  <a:srgbClr val="B5CEA8"/>
                </a:solidFill>
                <a:latin typeface="Consolas" panose="020B0609020204030204" pitchFamily="49" charset="0"/>
              </a:rPr>
              <a:t>0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GB" sz="1200">
                <a:solidFill>
                  <a:srgbClr val="9CDCFE"/>
                </a:solidFill>
                <a:latin typeface="Consolas" panose="020B0609020204030204" pitchFamily="49" charset="0"/>
              </a:rPr>
              <a:t>t0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) </a:t>
            </a:r>
            <a:r>
              <a:rPr lang="en-GB" sz="1200">
                <a:solidFill>
                  <a:srgbClr val="6A9955"/>
                </a:solidFill>
                <a:latin typeface="Consolas" panose="020B0609020204030204" pitchFamily="49" charset="0"/>
              </a:rPr>
              <a:t># Läs nuvarande värde</a:t>
            </a: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GB" sz="1200">
                <a:solidFill>
                  <a:srgbClr val="DCDCAA"/>
                </a:solidFill>
                <a:latin typeface="Consolas" panose="020B0609020204030204" pitchFamily="49" charset="0"/>
              </a:rPr>
              <a:t>ori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9CDCFE"/>
                </a:solidFill>
                <a:latin typeface="Consolas" panose="020B0609020204030204" pitchFamily="49" charset="0"/>
              </a:rPr>
              <a:t>t1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GB" sz="1200">
                <a:solidFill>
                  <a:srgbClr val="9CDCFE"/>
                </a:solidFill>
                <a:latin typeface="Consolas" panose="020B0609020204030204" pitchFamily="49" charset="0"/>
              </a:rPr>
              <a:t>t1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, 0b100 </a:t>
            </a:r>
            <a:r>
              <a:rPr lang="en-GB" sz="1200">
                <a:solidFill>
                  <a:srgbClr val="6A9955"/>
                </a:solidFill>
                <a:latin typeface="Consolas" panose="020B0609020204030204" pitchFamily="49" charset="0"/>
              </a:rPr>
              <a:t># Sätt bit 2</a:t>
            </a: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GB" sz="1200">
                <a:solidFill>
                  <a:srgbClr val="DCDCAA"/>
                </a:solidFill>
                <a:latin typeface="Consolas" panose="020B0609020204030204" pitchFamily="49" charset="0"/>
              </a:rPr>
              <a:t>sh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9CDCFE"/>
                </a:solidFill>
                <a:latin typeface="Consolas" panose="020B0609020204030204" pitchFamily="49" charset="0"/>
              </a:rPr>
              <a:t>t1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GB" sz="1200">
                <a:solidFill>
                  <a:srgbClr val="B5CEA8"/>
                </a:solidFill>
                <a:latin typeface="Consolas" panose="020B0609020204030204" pitchFamily="49" charset="0"/>
              </a:rPr>
              <a:t>0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GB" sz="1200">
                <a:solidFill>
                  <a:srgbClr val="9CDCFE"/>
                </a:solidFill>
                <a:latin typeface="Consolas" panose="020B0609020204030204" pitchFamily="49" charset="0"/>
              </a:rPr>
              <a:t>t0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) </a:t>
            </a:r>
            <a:r>
              <a:rPr lang="en-GB" sz="1200">
                <a:solidFill>
                  <a:srgbClr val="6A9955"/>
                </a:solidFill>
                <a:latin typeface="Consolas" panose="020B0609020204030204" pitchFamily="49" charset="0"/>
              </a:rPr>
              <a:t># Skriv tillbaka</a:t>
            </a: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40CD7E1-C02F-B749-8AA4-B22FE7826120}"/>
              </a:ext>
            </a:extLst>
          </p:cNvPr>
          <p:cNvSpPr txBox="1"/>
          <p:nvPr/>
        </p:nvSpPr>
        <p:spPr>
          <a:xfrm>
            <a:off x="444256" y="2948369"/>
            <a:ext cx="4977750" cy="1887696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GB" sz="12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200" b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&lt;stdio.h&gt;</a:t>
            </a:r>
            <a:endParaRPr lang="en-GB" sz="12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GB" sz="12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200" b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&lt;stdint.h&gt;</a:t>
            </a:r>
            <a:endParaRPr lang="en-GB" sz="12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b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en-GB" sz="12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2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sz="12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sz="1200" b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Öhm...? </a:t>
            </a:r>
            <a:endParaRPr lang="en-GB" sz="12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lnSpc>
                <a:spcPts val="1425"/>
              </a:lnSpc>
              <a:buNone/>
            </a:pPr>
            <a:b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en-GB" sz="12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3296044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B1394A-FB1A-F463-93DA-990B6C400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Pekare</a:t>
            </a:r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C3CAA80-17D4-95C1-B041-6C88818651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7AC8C6-7D5A-454E-9AA8-5FD8ED471EB1}" type="datetime1">
              <a:rPr lang="LID4096" smtClean="0"/>
              <a:t>02/06/2026</a:t>
            </a:fld>
            <a:endParaRPr lang="LID4096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B93E2A1-95B2-774D-D3A4-71748DEE4C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Maskinorienterad Programmering</a:t>
            </a:r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B1ECDDF-7581-322D-65B5-B36FAF500D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909CE-3A1D-43F5-8F4E-45D6477AD820}" type="slidenum">
              <a:rPr lang="LID4096" smtClean="0"/>
              <a:t>4</a:t>
            </a:fld>
            <a:endParaRPr lang="LID4096"/>
          </a:p>
        </p:txBody>
      </p:sp>
      <p:sp>
        <p:nvSpPr>
          <p:cNvPr id="10" name="Content Placeholder 4">
            <a:extLst>
              <a:ext uri="{FF2B5EF4-FFF2-40B4-BE49-F238E27FC236}">
                <a16:creationId xmlns:a16="http://schemas.microsoft.com/office/drawing/2014/main" id="{880F4BA6-CC38-0E8F-348F-CF0CA5BC75AE}"/>
              </a:ext>
            </a:extLst>
          </p:cNvPr>
          <p:cNvSpPr txBox="1">
            <a:spLocks/>
          </p:cNvSpPr>
          <p:nvPr/>
        </p:nvSpPr>
        <p:spPr>
          <a:xfrm>
            <a:off x="838200" y="1382242"/>
            <a:ext cx="5792859" cy="4744728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sv-SE" sz="4000" dirty="0"/>
          </a:p>
          <a:p>
            <a:pPr marL="0" indent="0">
              <a:buNone/>
            </a:pPr>
            <a:endParaRPr lang="sv-SE" sz="4000" dirty="0"/>
          </a:p>
          <a:p>
            <a:pPr marL="0" indent="0">
              <a:buNone/>
            </a:pPr>
            <a:r>
              <a:rPr lang="sv-SE" sz="1800" dirty="0" err="1">
                <a:latin typeface="Consolas" panose="020B0609020204030204" pitchFamily="49" charset="0"/>
              </a:rPr>
              <a:t>unsigned</a:t>
            </a:r>
            <a:r>
              <a:rPr lang="sv-SE" sz="1800" dirty="0">
                <a:latin typeface="Consolas" panose="020B0609020204030204" pitchFamily="49" charset="0"/>
              </a:rPr>
              <a:t> </a:t>
            </a:r>
            <a:r>
              <a:rPr lang="sv-SE" sz="1800" dirty="0" err="1">
                <a:latin typeface="Consolas" panose="020B0609020204030204" pitchFamily="49" charset="0"/>
              </a:rPr>
              <a:t>int</a:t>
            </a:r>
            <a:r>
              <a:rPr lang="sv-SE" sz="1800" dirty="0">
                <a:latin typeface="Consolas" panose="020B0609020204030204" pitchFamily="49" charset="0"/>
              </a:rPr>
              <a:t> b = 0xAABBCCDD; </a:t>
            </a:r>
          </a:p>
          <a:p>
            <a:pPr marL="0" indent="0">
              <a:buNone/>
            </a:pPr>
            <a:endParaRPr lang="sv-SE" sz="18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sv-SE" sz="18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sv-SE" sz="1800" dirty="0" err="1">
                <a:latin typeface="Consolas" panose="020B0609020204030204" pitchFamily="49" charset="0"/>
              </a:rPr>
              <a:t>void</a:t>
            </a:r>
            <a:r>
              <a:rPr lang="sv-SE" sz="1800" dirty="0">
                <a:latin typeface="Consolas" panose="020B0609020204030204" pitchFamily="49" charset="0"/>
              </a:rPr>
              <a:t> </a:t>
            </a:r>
            <a:r>
              <a:rPr lang="sv-SE" sz="1800" dirty="0" err="1">
                <a:latin typeface="Consolas" panose="020B0609020204030204" pitchFamily="49" charset="0"/>
              </a:rPr>
              <a:t>main</a:t>
            </a:r>
            <a:r>
              <a:rPr lang="sv-SE" sz="1800" dirty="0">
                <a:latin typeface="Consolas" panose="020B0609020204030204" pitchFamily="49" charset="0"/>
              </a:rPr>
              <a:t>() </a:t>
            </a:r>
          </a:p>
          <a:p>
            <a:pPr marL="0" indent="0">
              <a:buNone/>
            </a:pPr>
            <a:r>
              <a:rPr lang="en-GB" sz="1800" dirty="0">
                <a:latin typeface="Consolas" panose="020B0609020204030204" pitchFamily="49" charset="0"/>
              </a:rPr>
              <a:t>{</a:t>
            </a:r>
          </a:p>
          <a:p>
            <a:pPr marL="0" indent="0">
              <a:buNone/>
            </a:pPr>
            <a:r>
              <a:rPr lang="en-GB" sz="1800" dirty="0">
                <a:latin typeface="Consolas" panose="020B0609020204030204" pitchFamily="49" charset="0"/>
              </a:rPr>
              <a:t>   ...</a:t>
            </a:r>
          </a:p>
          <a:p>
            <a:pPr marL="0" indent="0">
              <a:buNone/>
            </a:pPr>
            <a:r>
              <a:rPr lang="en-GB" sz="1800" dirty="0">
                <a:latin typeface="Consolas" panose="020B0609020204030204" pitchFamily="49" charset="0"/>
              </a:rPr>
              <a:t>}</a:t>
            </a:r>
          </a:p>
          <a:p>
            <a:pPr marL="0" indent="0">
              <a:buNone/>
            </a:pPr>
            <a:endParaRPr lang="sv-SE" sz="1600" dirty="0">
              <a:latin typeface="Consolas" panose="020B0609020204030204" pitchFamily="49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06B3BCD-AC9F-78C8-62D4-A411A0B739E3}"/>
              </a:ext>
            </a:extLst>
          </p:cNvPr>
          <p:cNvSpPr/>
          <p:nvPr/>
        </p:nvSpPr>
        <p:spPr>
          <a:xfrm>
            <a:off x="8017605" y="4397380"/>
            <a:ext cx="1669576" cy="1564944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/>
              <a:t>Program Code</a:t>
            </a:r>
            <a:endParaRPr lang="LID4096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2177E41-FCC3-E578-20DF-D53828E16AC3}"/>
              </a:ext>
            </a:extLst>
          </p:cNvPr>
          <p:cNvSpPr txBox="1"/>
          <p:nvPr/>
        </p:nvSpPr>
        <p:spPr>
          <a:xfrm>
            <a:off x="7161057" y="5831519"/>
            <a:ext cx="89479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100"/>
              <a:t>0x20000000</a:t>
            </a:r>
            <a:endParaRPr lang="LID4096" sz="110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3226401-C00E-8B8B-C72F-D815332151F1}"/>
              </a:ext>
            </a:extLst>
          </p:cNvPr>
          <p:cNvSpPr/>
          <p:nvPr/>
        </p:nvSpPr>
        <p:spPr>
          <a:xfrm>
            <a:off x="8017605" y="2879010"/>
            <a:ext cx="1669576" cy="151836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F66D607-0E0E-62EF-1934-C6D1A4C73107}"/>
              </a:ext>
            </a:extLst>
          </p:cNvPr>
          <p:cNvSpPr/>
          <p:nvPr/>
        </p:nvSpPr>
        <p:spPr>
          <a:xfrm>
            <a:off x="8017605" y="2295624"/>
            <a:ext cx="1669576" cy="583385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38FD70D-5005-08D0-B1CF-65DCD60DC40E}"/>
              </a:ext>
            </a:extLst>
          </p:cNvPr>
          <p:cNvSpPr/>
          <p:nvPr/>
        </p:nvSpPr>
        <p:spPr>
          <a:xfrm>
            <a:off x="8017605" y="1782660"/>
            <a:ext cx="1669576" cy="512963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/>
              <a:t>Stack</a:t>
            </a:r>
            <a:endParaRPr lang="LID4096"/>
          </a:p>
        </p:txBody>
      </p:sp>
      <p:sp>
        <p:nvSpPr>
          <p:cNvPr id="16" name="Right Brace 15">
            <a:extLst>
              <a:ext uri="{FF2B5EF4-FFF2-40B4-BE49-F238E27FC236}">
                <a16:creationId xmlns:a16="http://schemas.microsoft.com/office/drawing/2014/main" id="{4FDDA135-C277-E18B-8CCC-94D730696024}"/>
              </a:ext>
            </a:extLst>
          </p:cNvPr>
          <p:cNvSpPr/>
          <p:nvPr/>
        </p:nvSpPr>
        <p:spPr>
          <a:xfrm>
            <a:off x="9753600" y="3346501"/>
            <a:ext cx="95534" cy="1050877"/>
          </a:xfrm>
          <a:prstGeom prst="rightBrac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12D15C0-C2BA-27AC-630F-E3474E0F4C87}"/>
              </a:ext>
            </a:extLst>
          </p:cNvPr>
          <p:cNvSpPr txBox="1"/>
          <p:nvPr/>
        </p:nvSpPr>
        <p:spPr>
          <a:xfrm>
            <a:off x="9849134" y="3699834"/>
            <a:ext cx="2021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/>
              <a:t>Initialized data area</a:t>
            </a:r>
            <a:endParaRPr lang="LID4096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98F8E2E-0F2A-33B5-C5BA-B288F3C2B0BC}"/>
              </a:ext>
            </a:extLst>
          </p:cNvPr>
          <p:cNvSpPr txBox="1"/>
          <p:nvPr/>
        </p:nvSpPr>
        <p:spPr>
          <a:xfrm>
            <a:off x="7184200" y="4332781"/>
            <a:ext cx="87876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100"/>
              <a:t>0x200000FF</a:t>
            </a:r>
            <a:endParaRPr lang="LID4096" sz="1100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624CEDFC-22DA-B240-88E4-1C75AA41BFAB}"/>
              </a:ext>
            </a:extLst>
          </p:cNvPr>
          <p:cNvCxnSpPr/>
          <p:nvPr/>
        </p:nvCxnSpPr>
        <p:spPr>
          <a:xfrm>
            <a:off x="8017604" y="1535901"/>
            <a:ext cx="1669577" cy="0"/>
          </a:xfrm>
          <a:prstGeom prst="straightConnector1">
            <a:avLst/>
          </a:prstGeom>
          <a:ln w="25400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EAEC34AA-F29C-BB30-B339-F82D0C6B4282}"/>
              </a:ext>
            </a:extLst>
          </p:cNvPr>
          <p:cNvSpPr txBox="1"/>
          <p:nvPr/>
        </p:nvSpPr>
        <p:spPr>
          <a:xfrm>
            <a:off x="8488382" y="1049215"/>
            <a:ext cx="72802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sv-SE" sz="1200"/>
              <a:t>32 bits</a:t>
            </a:r>
          </a:p>
          <a:p>
            <a:pPr algn="ctr"/>
            <a:r>
              <a:rPr lang="sv-SE" sz="1200"/>
              <a:t>(4 bytes)</a:t>
            </a:r>
            <a:endParaRPr lang="LID4096" sz="120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BE51169-E97E-106F-A3BE-D5AEE62B4B28}"/>
              </a:ext>
            </a:extLst>
          </p:cNvPr>
          <p:cNvSpPr txBox="1"/>
          <p:nvPr/>
        </p:nvSpPr>
        <p:spPr>
          <a:xfrm>
            <a:off x="6811450" y="4135768"/>
            <a:ext cx="125151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sv-SE" sz="1100" b="1"/>
              <a:t>b: </a:t>
            </a:r>
            <a:r>
              <a:rPr lang="sv-SE" sz="1100"/>
              <a:t>0x20000100</a:t>
            </a:r>
            <a:endParaRPr lang="LID4096" sz="110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9A96C9A-A1C2-ABFE-680A-5CEE51FD3F22}"/>
              </a:ext>
            </a:extLst>
          </p:cNvPr>
          <p:cNvSpPr/>
          <p:nvPr/>
        </p:nvSpPr>
        <p:spPr>
          <a:xfrm>
            <a:off x="8014480" y="4127166"/>
            <a:ext cx="1669576" cy="261610"/>
          </a:xfrm>
          <a:prstGeom prst="rect">
            <a:avLst/>
          </a:prstGeom>
          <a:noFill/>
          <a:ln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08B7EDD-15FC-5944-0E54-453292B15433}"/>
              </a:ext>
            </a:extLst>
          </p:cNvPr>
          <p:cNvSpPr txBox="1"/>
          <p:nvPr/>
        </p:nvSpPr>
        <p:spPr>
          <a:xfrm>
            <a:off x="8403182" y="4135768"/>
            <a:ext cx="95410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50">
                <a:latin typeface="Consolas" panose="020B0609020204030204" pitchFamily="49" charset="0"/>
              </a:rPr>
              <a:t>0xAABBCCDD</a:t>
            </a:r>
            <a:endParaRPr lang="LID4096" sz="105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851082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8AA5D0-CCC3-2FC3-D53C-15A35B16D0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Title 26">
            <a:extLst>
              <a:ext uri="{FF2B5EF4-FFF2-40B4-BE49-F238E27FC236}">
                <a16:creationId xmlns:a16="http://schemas.microsoft.com/office/drawing/2014/main" id="{0A835AAA-69CA-CB0E-E64B-25DF5FB3E3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Pekare</a:t>
            </a:r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635B68D-4DAF-8A60-940D-79A9718BFC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7AC8C6-7D5A-454E-9AA8-5FD8ED471EB1}" type="datetime1">
              <a:rPr lang="LID4096" smtClean="0"/>
              <a:t>02/06/2026</a:t>
            </a:fld>
            <a:endParaRPr lang="LID4096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2CE7199-035D-DE59-C935-45F959FBFD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Maskinorienterad Programmering</a:t>
            </a:r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09D6D1C-D49C-2E5F-281F-CC57F8C633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909CE-3A1D-43F5-8F4E-45D6477AD820}" type="slidenum">
              <a:rPr lang="LID4096" smtClean="0"/>
              <a:t>5</a:t>
            </a:fld>
            <a:endParaRPr lang="LID4096"/>
          </a:p>
        </p:txBody>
      </p:sp>
      <p:sp>
        <p:nvSpPr>
          <p:cNvPr id="10" name="Content Placeholder 4">
            <a:extLst>
              <a:ext uri="{FF2B5EF4-FFF2-40B4-BE49-F238E27FC236}">
                <a16:creationId xmlns:a16="http://schemas.microsoft.com/office/drawing/2014/main" id="{900A7F79-06D5-F7D1-B3D5-16B49F9DDC3F}"/>
              </a:ext>
            </a:extLst>
          </p:cNvPr>
          <p:cNvSpPr txBox="1">
            <a:spLocks/>
          </p:cNvSpPr>
          <p:nvPr/>
        </p:nvSpPr>
        <p:spPr>
          <a:xfrm>
            <a:off x="838200" y="1382242"/>
            <a:ext cx="5792859" cy="4744728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sv-SE" sz="4000"/>
          </a:p>
          <a:p>
            <a:pPr marL="0" indent="0">
              <a:buNone/>
            </a:pPr>
            <a:endParaRPr lang="sv-SE" sz="4000"/>
          </a:p>
          <a:p>
            <a:pPr marL="0" indent="0">
              <a:buNone/>
            </a:pPr>
            <a:r>
              <a:rPr lang="sv-SE" sz="1800">
                <a:latin typeface="Consolas" panose="020B0609020204030204" pitchFamily="49" charset="0"/>
              </a:rPr>
              <a:t>unsigned int b = 0xAABBCCDD; </a:t>
            </a:r>
          </a:p>
          <a:p>
            <a:pPr marL="0" indent="0">
              <a:buNone/>
            </a:pPr>
            <a:r>
              <a:rPr lang="sv-SE" sz="1800">
                <a:latin typeface="Consolas" panose="020B0609020204030204" pitchFamily="49" charset="0"/>
              </a:rPr>
              <a:t>unsigned int </a:t>
            </a:r>
            <a:r>
              <a:rPr lang="sv-SE" sz="1800">
                <a:solidFill>
                  <a:srgbClr val="92D050"/>
                </a:solidFill>
                <a:latin typeface="Consolas" panose="020B0609020204030204" pitchFamily="49" charset="0"/>
              </a:rPr>
              <a:t>*</a:t>
            </a:r>
            <a:r>
              <a:rPr lang="sv-SE" sz="1800">
                <a:latin typeface="Consolas" panose="020B0609020204030204" pitchFamily="49" charset="0"/>
              </a:rPr>
              <a:t>ptr_to_b = </a:t>
            </a:r>
            <a:r>
              <a:rPr lang="sv-SE" sz="1800">
                <a:solidFill>
                  <a:srgbClr val="00B0F0"/>
                </a:solidFill>
                <a:latin typeface="Consolas" panose="020B0609020204030204" pitchFamily="49" charset="0"/>
              </a:rPr>
              <a:t>&amp;</a:t>
            </a:r>
            <a:r>
              <a:rPr lang="sv-SE" sz="1800">
                <a:latin typeface="Consolas" panose="020B0609020204030204" pitchFamily="49" charset="0"/>
              </a:rPr>
              <a:t>b;</a:t>
            </a:r>
          </a:p>
          <a:p>
            <a:pPr marL="0" indent="0">
              <a:buNone/>
            </a:pPr>
            <a:endParaRPr lang="sv-SE" sz="180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sv-SE" sz="1800">
                <a:latin typeface="Consolas" panose="020B0609020204030204" pitchFamily="49" charset="0"/>
              </a:rPr>
              <a:t>void main() </a:t>
            </a:r>
          </a:p>
          <a:p>
            <a:pPr marL="0" indent="0">
              <a:buNone/>
            </a:pPr>
            <a:r>
              <a:rPr lang="en-GB" sz="1800">
                <a:latin typeface="Consolas" panose="020B0609020204030204" pitchFamily="49" charset="0"/>
              </a:rPr>
              <a:t>{</a:t>
            </a:r>
          </a:p>
          <a:p>
            <a:pPr marL="0" indent="0">
              <a:buNone/>
            </a:pPr>
            <a:r>
              <a:rPr lang="en-GB" sz="1800">
                <a:latin typeface="Consolas" panose="020B0609020204030204" pitchFamily="49" charset="0"/>
              </a:rPr>
              <a:t>   ...</a:t>
            </a:r>
          </a:p>
          <a:p>
            <a:pPr marL="0" indent="0">
              <a:buNone/>
            </a:pPr>
            <a:r>
              <a:rPr lang="en-GB" sz="1800">
                <a:latin typeface="Consolas" panose="020B0609020204030204" pitchFamily="49" charset="0"/>
              </a:rPr>
              <a:t>}</a:t>
            </a:r>
          </a:p>
          <a:p>
            <a:pPr marL="0" indent="0">
              <a:buNone/>
            </a:pPr>
            <a:endParaRPr lang="sv-SE" sz="1600">
              <a:latin typeface="Consolas" panose="020B0609020204030204" pitchFamily="49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B561102-C68D-E62A-61F1-559464414107}"/>
              </a:ext>
            </a:extLst>
          </p:cNvPr>
          <p:cNvSpPr/>
          <p:nvPr/>
        </p:nvSpPr>
        <p:spPr>
          <a:xfrm>
            <a:off x="8017605" y="4397380"/>
            <a:ext cx="1669576" cy="1564944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/>
              <a:t>Program Code</a:t>
            </a:r>
            <a:endParaRPr lang="LID4096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57784E8-F662-B017-1FB0-13AC04F568EF}"/>
              </a:ext>
            </a:extLst>
          </p:cNvPr>
          <p:cNvSpPr txBox="1"/>
          <p:nvPr/>
        </p:nvSpPr>
        <p:spPr>
          <a:xfrm>
            <a:off x="7161057" y="5831519"/>
            <a:ext cx="89479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100"/>
              <a:t>0x20000000</a:t>
            </a:r>
            <a:endParaRPr lang="LID4096" sz="110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935CEE3-D4A5-3291-D7CF-692E35ECBF3C}"/>
              </a:ext>
            </a:extLst>
          </p:cNvPr>
          <p:cNvSpPr/>
          <p:nvPr/>
        </p:nvSpPr>
        <p:spPr>
          <a:xfrm>
            <a:off x="8017605" y="2879010"/>
            <a:ext cx="1669576" cy="151836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ABD7CC5-E1ED-3593-409C-0CBD15C40BC1}"/>
              </a:ext>
            </a:extLst>
          </p:cNvPr>
          <p:cNvSpPr/>
          <p:nvPr/>
        </p:nvSpPr>
        <p:spPr>
          <a:xfrm>
            <a:off x="8017605" y="2295624"/>
            <a:ext cx="1669576" cy="583385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FC4B4C3-361C-A1A6-76CC-4839C60A2E95}"/>
              </a:ext>
            </a:extLst>
          </p:cNvPr>
          <p:cNvSpPr/>
          <p:nvPr/>
        </p:nvSpPr>
        <p:spPr>
          <a:xfrm>
            <a:off x="8017605" y="1782660"/>
            <a:ext cx="1669576" cy="512963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/>
              <a:t>Stack</a:t>
            </a:r>
            <a:endParaRPr lang="LID4096"/>
          </a:p>
        </p:txBody>
      </p:sp>
      <p:sp>
        <p:nvSpPr>
          <p:cNvPr id="16" name="Right Brace 15">
            <a:extLst>
              <a:ext uri="{FF2B5EF4-FFF2-40B4-BE49-F238E27FC236}">
                <a16:creationId xmlns:a16="http://schemas.microsoft.com/office/drawing/2014/main" id="{63ED436B-A22C-C3C1-2233-82AB98017F96}"/>
              </a:ext>
            </a:extLst>
          </p:cNvPr>
          <p:cNvSpPr/>
          <p:nvPr/>
        </p:nvSpPr>
        <p:spPr>
          <a:xfrm>
            <a:off x="9753600" y="3346501"/>
            <a:ext cx="95534" cy="1050877"/>
          </a:xfrm>
          <a:prstGeom prst="rightBrac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94D3D37-AED7-8820-87C5-DAE365310621}"/>
              </a:ext>
            </a:extLst>
          </p:cNvPr>
          <p:cNvSpPr txBox="1"/>
          <p:nvPr/>
        </p:nvSpPr>
        <p:spPr>
          <a:xfrm>
            <a:off x="9849134" y="3699834"/>
            <a:ext cx="2021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/>
              <a:t>Initialized data area</a:t>
            </a:r>
            <a:endParaRPr lang="LID4096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3312701-1E5F-3DA9-A6DD-00265DA08663}"/>
              </a:ext>
            </a:extLst>
          </p:cNvPr>
          <p:cNvSpPr txBox="1"/>
          <p:nvPr/>
        </p:nvSpPr>
        <p:spPr>
          <a:xfrm>
            <a:off x="7184200" y="4332781"/>
            <a:ext cx="87876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100"/>
              <a:t>0x200000FF</a:t>
            </a:r>
            <a:endParaRPr lang="LID4096" sz="1100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64768B9B-1C97-FE09-0D7B-C2BFA79F9438}"/>
              </a:ext>
            </a:extLst>
          </p:cNvPr>
          <p:cNvCxnSpPr/>
          <p:nvPr/>
        </p:nvCxnSpPr>
        <p:spPr>
          <a:xfrm>
            <a:off x="8017604" y="1535901"/>
            <a:ext cx="1669577" cy="0"/>
          </a:xfrm>
          <a:prstGeom prst="straightConnector1">
            <a:avLst/>
          </a:prstGeom>
          <a:ln w="25400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4F490AEB-4200-0DA4-16C8-D89782E352BB}"/>
              </a:ext>
            </a:extLst>
          </p:cNvPr>
          <p:cNvSpPr txBox="1"/>
          <p:nvPr/>
        </p:nvSpPr>
        <p:spPr>
          <a:xfrm>
            <a:off x="8488382" y="1049215"/>
            <a:ext cx="72802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sv-SE" sz="1200"/>
              <a:t>32 bits</a:t>
            </a:r>
          </a:p>
          <a:p>
            <a:pPr algn="ctr"/>
            <a:r>
              <a:rPr lang="sv-SE" sz="1200"/>
              <a:t>(4 bytes)</a:t>
            </a:r>
            <a:endParaRPr lang="LID4096" sz="120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F8BF540-C6AB-D95F-E9AF-A0565BEEFBB5}"/>
              </a:ext>
            </a:extLst>
          </p:cNvPr>
          <p:cNvSpPr txBox="1"/>
          <p:nvPr/>
        </p:nvSpPr>
        <p:spPr>
          <a:xfrm>
            <a:off x="6816568" y="4147254"/>
            <a:ext cx="123343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sv-SE" sz="1100" b="1"/>
              <a:t>b: </a:t>
            </a:r>
            <a:r>
              <a:rPr lang="sv-SE" sz="1100"/>
              <a:t>0x20000100</a:t>
            </a:r>
            <a:endParaRPr lang="LID4096" sz="110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A833311D-A8F0-1719-8F7D-B03CB4C99D31}"/>
              </a:ext>
            </a:extLst>
          </p:cNvPr>
          <p:cNvGrpSpPr/>
          <p:nvPr/>
        </p:nvGrpSpPr>
        <p:grpSpPr>
          <a:xfrm>
            <a:off x="8014480" y="4127166"/>
            <a:ext cx="1669576" cy="270212"/>
            <a:chOff x="8014480" y="4127166"/>
            <a:chExt cx="1669576" cy="270212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903CF116-5FED-4D67-AD03-D513FE722A63}"/>
                </a:ext>
              </a:extLst>
            </p:cNvPr>
            <p:cNvSpPr/>
            <p:nvPr/>
          </p:nvSpPr>
          <p:spPr>
            <a:xfrm>
              <a:off x="8014480" y="4127166"/>
              <a:ext cx="1669576" cy="261610"/>
            </a:xfrm>
            <a:prstGeom prst="rect">
              <a:avLst/>
            </a:prstGeom>
            <a:noFill/>
            <a:ln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CDB12134-A571-F0C6-A1E1-AE878F323FBA}"/>
                </a:ext>
              </a:extLst>
            </p:cNvPr>
            <p:cNvSpPr txBox="1"/>
            <p:nvPr/>
          </p:nvSpPr>
          <p:spPr>
            <a:xfrm>
              <a:off x="8403182" y="4135768"/>
              <a:ext cx="954107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50">
                  <a:latin typeface="Consolas" panose="020B0609020204030204" pitchFamily="49" charset="0"/>
                </a:rPr>
                <a:t>0xAABBCCDD</a:t>
              </a:r>
              <a:endParaRPr lang="LID4096" sz="1050">
                <a:latin typeface="Consolas" panose="020B0609020204030204" pitchFamily="49" charset="0"/>
              </a:endParaRP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0101AD0E-1E7C-29F8-F92A-4B48B3DE3689}"/>
              </a:ext>
            </a:extLst>
          </p:cNvPr>
          <p:cNvSpPr txBox="1"/>
          <p:nvPr/>
        </p:nvSpPr>
        <p:spPr>
          <a:xfrm>
            <a:off x="6487236" y="3876958"/>
            <a:ext cx="155964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sv-SE" sz="1100" b="1"/>
              <a:t>ptr_to_b: </a:t>
            </a:r>
            <a:r>
              <a:rPr lang="sv-SE" sz="1100"/>
              <a:t>0x20000104</a:t>
            </a:r>
            <a:endParaRPr lang="LID4096" sz="110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8708B21F-A9CD-7A9A-0DA7-2CD37DE7D8D1}"/>
              </a:ext>
            </a:extLst>
          </p:cNvPr>
          <p:cNvGrpSpPr/>
          <p:nvPr/>
        </p:nvGrpSpPr>
        <p:grpSpPr>
          <a:xfrm>
            <a:off x="8016765" y="3865556"/>
            <a:ext cx="1669576" cy="262518"/>
            <a:chOff x="8014480" y="4127166"/>
            <a:chExt cx="1669576" cy="262518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C06B3B8-5971-73C9-E4AE-3E345AE44221}"/>
                </a:ext>
              </a:extLst>
            </p:cNvPr>
            <p:cNvSpPr/>
            <p:nvPr/>
          </p:nvSpPr>
          <p:spPr>
            <a:xfrm>
              <a:off x="8014480" y="4127166"/>
              <a:ext cx="1669576" cy="261610"/>
            </a:xfrm>
            <a:prstGeom prst="rect">
              <a:avLst/>
            </a:prstGeom>
            <a:noFill/>
            <a:ln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B3204632-7A44-51FF-D4CB-EEB694495213}"/>
                </a:ext>
              </a:extLst>
            </p:cNvPr>
            <p:cNvSpPr txBox="1"/>
            <p:nvPr/>
          </p:nvSpPr>
          <p:spPr>
            <a:xfrm>
              <a:off x="8403182" y="4135768"/>
              <a:ext cx="922047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50">
                  <a:latin typeface="Consolas" panose="020B0609020204030204" pitchFamily="49" charset="0"/>
                </a:rPr>
                <a:t>0x20000100</a:t>
              </a:r>
              <a:endParaRPr lang="LID4096" sz="1050">
                <a:latin typeface="Consolas" panose="020B0609020204030204" pitchFamily="49" charset="0"/>
              </a:endParaRPr>
            </a:p>
          </p:txBody>
        </p:sp>
      </p:grpSp>
      <p:sp>
        <p:nvSpPr>
          <p:cNvPr id="24" name="Oval 23">
            <a:extLst>
              <a:ext uri="{FF2B5EF4-FFF2-40B4-BE49-F238E27FC236}">
                <a16:creationId xmlns:a16="http://schemas.microsoft.com/office/drawing/2014/main" id="{8EF3E55A-C077-2988-A7CA-55AFEB6CDEDC}"/>
              </a:ext>
            </a:extLst>
          </p:cNvPr>
          <p:cNvSpPr/>
          <p:nvPr/>
        </p:nvSpPr>
        <p:spPr>
          <a:xfrm>
            <a:off x="3989696" y="3116239"/>
            <a:ext cx="459474" cy="312761"/>
          </a:xfrm>
          <a:prstGeom prst="ellipse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FB79162D-794B-9CC8-0F72-933FF480CE35}"/>
              </a:ext>
            </a:extLst>
          </p:cNvPr>
          <p:cNvSpPr/>
          <p:nvPr/>
        </p:nvSpPr>
        <p:spPr>
          <a:xfrm>
            <a:off x="8426650" y="3898825"/>
            <a:ext cx="900864" cy="208253"/>
          </a:xfrm>
          <a:prstGeom prst="ellipse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3DB8F238-5F85-B138-0E73-90A65BA14B0F}"/>
              </a:ext>
            </a:extLst>
          </p:cNvPr>
          <p:cNvSpPr/>
          <p:nvPr/>
        </p:nvSpPr>
        <p:spPr>
          <a:xfrm>
            <a:off x="4444621" y="3207651"/>
            <a:ext cx="4367283" cy="686510"/>
          </a:xfrm>
          <a:custGeom>
            <a:avLst/>
            <a:gdLst>
              <a:gd name="connsiteX0" fmla="*/ 4367283 w 4367283"/>
              <a:gd name="connsiteY0" fmla="*/ 686510 h 686510"/>
              <a:gd name="connsiteX1" fmla="*/ 3007057 w 4367283"/>
              <a:gd name="connsiteY1" fmla="*/ 72361 h 686510"/>
              <a:gd name="connsiteX2" fmla="*/ 0 w 4367283"/>
              <a:gd name="connsiteY2" fmla="*/ 35967 h 6865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367283" h="686510">
                <a:moveTo>
                  <a:pt x="4367283" y="686510"/>
                </a:moveTo>
                <a:cubicBezTo>
                  <a:pt x="4051110" y="433647"/>
                  <a:pt x="3734938" y="180785"/>
                  <a:pt x="3007057" y="72361"/>
                </a:cubicBezTo>
                <a:cubicBezTo>
                  <a:pt x="2279176" y="-36063"/>
                  <a:pt x="1139588" y="-48"/>
                  <a:pt x="0" y="35967"/>
                </a:cubicBezTo>
              </a:path>
            </a:pathLst>
          </a:cu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E200EA42-BDF8-7B1A-D2DD-EDB9C1970137}"/>
              </a:ext>
            </a:extLst>
          </p:cNvPr>
          <p:cNvSpPr/>
          <p:nvPr/>
        </p:nvSpPr>
        <p:spPr>
          <a:xfrm>
            <a:off x="838200" y="3116239"/>
            <a:ext cx="1845265" cy="284042"/>
          </a:xfrm>
          <a:prstGeom prst="round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BB93F9F-DB4C-915C-8349-0FAEF3B8281B}"/>
              </a:ext>
            </a:extLst>
          </p:cNvPr>
          <p:cNvSpPr txBox="1"/>
          <p:nvPr/>
        </p:nvSpPr>
        <p:spPr>
          <a:xfrm>
            <a:off x="652691" y="3402787"/>
            <a:ext cx="2145139" cy="261610"/>
          </a:xfrm>
          <a:prstGeom prst="rect">
            <a:avLst/>
          </a:prstGeom>
          <a:solidFill>
            <a:schemeClr val="bg1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rtlCol="0">
            <a:spAutoFit/>
          </a:bodyPr>
          <a:lstStyle/>
          <a:p>
            <a:pPr algn="ctr"/>
            <a:r>
              <a:rPr lang="sv-SE" sz="1100" b="1"/>
              <a:t>Typen</a:t>
            </a:r>
            <a:r>
              <a:rPr lang="sv-SE" sz="1100"/>
              <a:t> är ”pekare till unsigned int”</a:t>
            </a:r>
            <a:endParaRPr lang="LID4096" sz="1100" b="1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E71B371-6BBA-9813-9E0A-117770FDE482}"/>
              </a:ext>
            </a:extLst>
          </p:cNvPr>
          <p:cNvSpPr txBox="1"/>
          <p:nvPr/>
        </p:nvSpPr>
        <p:spPr>
          <a:xfrm>
            <a:off x="4486663" y="2561781"/>
            <a:ext cx="1917513" cy="430887"/>
          </a:xfrm>
          <a:prstGeom prst="rect">
            <a:avLst/>
          </a:prstGeom>
          <a:solidFill>
            <a:schemeClr val="bg1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rtlCol="0">
            <a:spAutoFit/>
          </a:bodyPr>
          <a:lstStyle/>
          <a:p>
            <a:pPr algn="ctr"/>
            <a:r>
              <a:rPr lang="sv-SE" sz="1100" b="1"/>
              <a:t>Operatorn ”&amp;”</a:t>
            </a:r>
            <a:r>
              <a:rPr lang="sv-SE" sz="1100"/>
              <a:t> betyder (här)</a:t>
            </a:r>
            <a:br>
              <a:rPr lang="sv-SE" sz="1100"/>
            </a:br>
            <a:r>
              <a:rPr lang="sv-SE" sz="1100"/>
              <a:t>”tag pekaren till” b.</a:t>
            </a:r>
            <a:endParaRPr lang="LID4096" sz="1100" b="1"/>
          </a:p>
        </p:txBody>
      </p:sp>
    </p:spTree>
    <p:extLst>
      <p:ext uri="{BB962C8B-B14F-4D97-AF65-F5344CB8AC3E}">
        <p14:creationId xmlns:p14="http://schemas.microsoft.com/office/powerpoint/2010/main" val="17306363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animBg="1"/>
      <p:bldP spid="26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2BE1F5-2E03-B9C7-FEF5-7FE67AFFFC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Title 26">
            <a:extLst>
              <a:ext uri="{FF2B5EF4-FFF2-40B4-BE49-F238E27FC236}">
                <a16:creationId xmlns:a16="http://schemas.microsoft.com/office/drawing/2014/main" id="{D63181B6-1F9C-BB6F-E063-DCB06CF53E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Pekare</a:t>
            </a:r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2514AEA-F30B-6801-5430-1DD85178B7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7AC8C6-7D5A-454E-9AA8-5FD8ED471EB1}" type="datetime1">
              <a:rPr lang="LID4096" smtClean="0"/>
              <a:t>02/06/2026</a:t>
            </a:fld>
            <a:endParaRPr lang="LID4096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7F40F5D-C76A-9CA5-3E19-351FC76DA8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Maskinorienterad Programmering</a:t>
            </a:r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B6FEDD5-810D-7739-FBAE-C48A2CC578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909CE-3A1D-43F5-8F4E-45D6477AD820}" type="slidenum">
              <a:rPr lang="LID4096" smtClean="0"/>
              <a:t>6</a:t>
            </a:fld>
            <a:endParaRPr lang="LID4096"/>
          </a:p>
        </p:txBody>
      </p:sp>
      <p:sp>
        <p:nvSpPr>
          <p:cNvPr id="10" name="Content Placeholder 4">
            <a:extLst>
              <a:ext uri="{FF2B5EF4-FFF2-40B4-BE49-F238E27FC236}">
                <a16:creationId xmlns:a16="http://schemas.microsoft.com/office/drawing/2014/main" id="{65E1FE1C-B85D-A66D-A4FB-5770990CE8B2}"/>
              </a:ext>
            </a:extLst>
          </p:cNvPr>
          <p:cNvSpPr txBox="1">
            <a:spLocks/>
          </p:cNvSpPr>
          <p:nvPr/>
        </p:nvSpPr>
        <p:spPr>
          <a:xfrm>
            <a:off x="838200" y="1382242"/>
            <a:ext cx="5792859" cy="4744728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sv-SE" sz="4000"/>
          </a:p>
          <a:p>
            <a:pPr marL="0" indent="0">
              <a:buNone/>
            </a:pPr>
            <a:endParaRPr lang="sv-SE" sz="4000"/>
          </a:p>
          <a:p>
            <a:pPr marL="0" indent="0">
              <a:buNone/>
            </a:pPr>
            <a:r>
              <a:rPr lang="sv-SE" sz="1800">
                <a:latin typeface="Consolas" panose="020B0609020204030204" pitchFamily="49" charset="0"/>
              </a:rPr>
              <a:t>unsigned int b = 0xAABBCCDD; </a:t>
            </a:r>
          </a:p>
          <a:p>
            <a:pPr marL="0" indent="0">
              <a:buNone/>
            </a:pPr>
            <a:r>
              <a:rPr lang="sv-SE" sz="1800">
                <a:latin typeface="Consolas" panose="020B0609020204030204" pitchFamily="49" charset="0"/>
              </a:rPr>
              <a:t>unsigned int *ptr_to_b = &amp;b;</a:t>
            </a:r>
          </a:p>
          <a:p>
            <a:pPr marL="0" indent="0">
              <a:buNone/>
            </a:pPr>
            <a:endParaRPr lang="sv-SE" sz="180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sv-SE" sz="1800">
                <a:latin typeface="Consolas" panose="020B0609020204030204" pitchFamily="49" charset="0"/>
              </a:rPr>
              <a:t>void main() </a:t>
            </a:r>
          </a:p>
          <a:p>
            <a:pPr marL="0" indent="0">
              <a:buNone/>
            </a:pPr>
            <a:r>
              <a:rPr lang="en-GB" sz="1800">
                <a:latin typeface="Consolas" panose="020B0609020204030204" pitchFamily="49" charset="0"/>
              </a:rPr>
              <a:t>{</a:t>
            </a:r>
          </a:p>
          <a:p>
            <a:pPr marL="0" indent="0">
              <a:buNone/>
            </a:pPr>
            <a:r>
              <a:rPr lang="en-GB" sz="1800">
                <a:latin typeface="Consolas" panose="020B0609020204030204" pitchFamily="49" charset="0"/>
              </a:rPr>
              <a:t>   unsigned int a = </a:t>
            </a:r>
            <a:r>
              <a:rPr lang="en-GB" sz="1800">
                <a:solidFill>
                  <a:srgbClr val="FF0000"/>
                </a:solidFill>
                <a:latin typeface="Consolas" panose="020B0609020204030204" pitchFamily="49" charset="0"/>
              </a:rPr>
              <a:t>*</a:t>
            </a:r>
            <a:r>
              <a:rPr lang="en-GB" sz="1800">
                <a:latin typeface="Consolas" panose="020B0609020204030204" pitchFamily="49" charset="0"/>
              </a:rPr>
              <a:t>ptr_to_b; </a:t>
            </a:r>
          </a:p>
          <a:p>
            <a:pPr marL="0" indent="0">
              <a:buNone/>
            </a:pPr>
            <a:r>
              <a:rPr lang="en-GB" sz="1800">
                <a:latin typeface="Consolas" panose="020B0609020204030204" pitchFamily="49" charset="0"/>
              </a:rPr>
              <a:t>}</a:t>
            </a:r>
          </a:p>
          <a:p>
            <a:pPr marL="0" indent="0">
              <a:buNone/>
            </a:pPr>
            <a:endParaRPr lang="sv-SE" sz="1600">
              <a:latin typeface="Consolas" panose="020B0609020204030204" pitchFamily="49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5B803B1-8E27-8C19-E604-CB7ED8527DEC}"/>
              </a:ext>
            </a:extLst>
          </p:cNvPr>
          <p:cNvSpPr/>
          <p:nvPr/>
        </p:nvSpPr>
        <p:spPr>
          <a:xfrm>
            <a:off x="8017605" y="4397380"/>
            <a:ext cx="1669576" cy="1564944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/>
              <a:t>Program Code</a:t>
            </a:r>
            <a:endParaRPr lang="LID4096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47C0AA1-7042-F14C-C5EF-E874F0FDDD6B}"/>
              </a:ext>
            </a:extLst>
          </p:cNvPr>
          <p:cNvSpPr txBox="1"/>
          <p:nvPr/>
        </p:nvSpPr>
        <p:spPr>
          <a:xfrm>
            <a:off x="7161057" y="5831519"/>
            <a:ext cx="89479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100"/>
              <a:t>0x20000000</a:t>
            </a:r>
            <a:endParaRPr lang="LID4096" sz="110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7799A3E-B984-07A1-8F93-F81CCB0FC7DA}"/>
              </a:ext>
            </a:extLst>
          </p:cNvPr>
          <p:cNvSpPr/>
          <p:nvPr/>
        </p:nvSpPr>
        <p:spPr>
          <a:xfrm>
            <a:off x="8017605" y="2879010"/>
            <a:ext cx="1669576" cy="151836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F3B0DCA-92FB-6CB0-B411-7E5EE86CC3DC}"/>
              </a:ext>
            </a:extLst>
          </p:cNvPr>
          <p:cNvSpPr/>
          <p:nvPr/>
        </p:nvSpPr>
        <p:spPr>
          <a:xfrm>
            <a:off x="8017605" y="2295624"/>
            <a:ext cx="1669576" cy="583385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B7CBE4A-3D24-E0A2-9472-6FA6E8138EE7}"/>
              </a:ext>
            </a:extLst>
          </p:cNvPr>
          <p:cNvSpPr/>
          <p:nvPr/>
        </p:nvSpPr>
        <p:spPr>
          <a:xfrm>
            <a:off x="8017605" y="1782660"/>
            <a:ext cx="1669576" cy="512963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/>
              <a:t>Stack</a:t>
            </a:r>
            <a:endParaRPr lang="LID4096"/>
          </a:p>
        </p:txBody>
      </p:sp>
      <p:sp>
        <p:nvSpPr>
          <p:cNvPr id="16" name="Right Brace 15">
            <a:extLst>
              <a:ext uri="{FF2B5EF4-FFF2-40B4-BE49-F238E27FC236}">
                <a16:creationId xmlns:a16="http://schemas.microsoft.com/office/drawing/2014/main" id="{CC4D50BB-B141-45CD-6AD1-BE78CE634EA6}"/>
              </a:ext>
            </a:extLst>
          </p:cNvPr>
          <p:cNvSpPr/>
          <p:nvPr/>
        </p:nvSpPr>
        <p:spPr>
          <a:xfrm>
            <a:off x="9753600" y="3346501"/>
            <a:ext cx="95534" cy="1050877"/>
          </a:xfrm>
          <a:prstGeom prst="rightBrac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EA6578F-2D90-58C2-4638-2FE2F10137BD}"/>
              </a:ext>
            </a:extLst>
          </p:cNvPr>
          <p:cNvSpPr txBox="1"/>
          <p:nvPr/>
        </p:nvSpPr>
        <p:spPr>
          <a:xfrm>
            <a:off x="9849134" y="3699834"/>
            <a:ext cx="2021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/>
              <a:t>Initialized data area</a:t>
            </a:r>
            <a:endParaRPr lang="LID4096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A7D8669-34F1-15E2-2628-9FE3A2191357}"/>
              </a:ext>
            </a:extLst>
          </p:cNvPr>
          <p:cNvSpPr txBox="1"/>
          <p:nvPr/>
        </p:nvSpPr>
        <p:spPr>
          <a:xfrm>
            <a:off x="7184200" y="4332781"/>
            <a:ext cx="87876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100"/>
              <a:t>0x200000FF</a:t>
            </a:r>
            <a:endParaRPr lang="LID4096" sz="1100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406851E7-7864-87AA-E40B-023DB6273D02}"/>
              </a:ext>
            </a:extLst>
          </p:cNvPr>
          <p:cNvCxnSpPr/>
          <p:nvPr/>
        </p:nvCxnSpPr>
        <p:spPr>
          <a:xfrm>
            <a:off x="8017604" y="1535901"/>
            <a:ext cx="1669577" cy="0"/>
          </a:xfrm>
          <a:prstGeom prst="straightConnector1">
            <a:avLst/>
          </a:prstGeom>
          <a:ln w="25400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95847D45-1070-979B-59E4-6924F73E09B3}"/>
              </a:ext>
            </a:extLst>
          </p:cNvPr>
          <p:cNvSpPr txBox="1"/>
          <p:nvPr/>
        </p:nvSpPr>
        <p:spPr>
          <a:xfrm>
            <a:off x="8488382" y="1049215"/>
            <a:ext cx="72802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sv-SE" sz="1200"/>
              <a:t>32 bits</a:t>
            </a:r>
          </a:p>
          <a:p>
            <a:pPr algn="ctr"/>
            <a:r>
              <a:rPr lang="sv-SE" sz="1200"/>
              <a:t>(4 bytes)</a:t>
            </a:r>
            <a:endParaRPr lang="LID4096" sz="120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61D3389-01FE-3AAC-8B76-4EC250112546}"/>
              </a:ext>
            </a:extLst>
          </p:cNvPr>
          <p:cNvSpPr txBox="1"/>
          <p:nvPr/>
        </p:nvSpPr>
        <p:spPr>
          <a:xfrm>
            <a:off x="6926582" y="4147254"/>
            <a:ext cx="112342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sv-SE" sz="1100" b="1"/>
              <a:t>b: </a:t>
            </a:r>
            <a:r>
              <a:rPr lang="sv-SE" sz="1100"/>
              <a:t>0x20000100</a:t>
            </a:r>
            <a:endParaRPr lang="LID4096" sz="110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B29BD657-2B54-0AE9-37F2-4BEFDFBE5D54}"/>
              </a:ext>
            </a:extLst>
          </p:cNvPr>
          <p:cNvGrpSpPr/>
          <p:nvPr/>
        </p:nvGrpSpPr>
        <p:grpSpPr>
          <a:xfrm>
            <a:off x="8014480" y="4127166"/>
            <a:ext cx="1669576" cy="270212"/>
            <a:chOff x="8014480" y="4127166"/>
            <a:chExt cx="1669576" cy="270212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FF94EACD-7FC6-14D0-E74F-C65B299D0118}"/>
                </a:ext>
              </a:extLst>
            </p:cNvPr>
            <p:cNvSpPr/>
            <p:nvPr/>
          </p:nvSpPr>
          <p:spPr>
            <a:xfrm>
              <a:off x="8014480" y="4127166"/>
              <a:ext cx="1669576" cy="261610"/>
            </a:xfrm>
            <a:prstGeom prst="rect">
              <a:avLst/>
            </a:prstGeom>
            <a:noFill/>
            <a:ln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8112FF93-5FB1-F193-5405-2E675F205B97}"/>
                </a:ext>
              </a:extLst>
            </p:cNvPr>
            <p:cNvSpPr txBox="1"/>
            <p:nvPr/>
          </p:nvSpPr>
          <p:spPr>
            <a:xfrm>
              <a:off x="8403182" y="4135768"/>
              <a:ext cx="954107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50">
                  <a:latin typeface="Consolas" panose="020B0609020204030204" pitchFamily="49" charset="0"/>
                </a:rPr>
                <a:t>0xAABBCCDD</a:t>
              </a:r>
              <a:endParaRPr lang="LID4096" sz="1050">
                <a:latin typeface="Consolas" panose="020B0609020204030204" pitchFamily="49" charset="0"/>
              </a:endParaRP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AE98D304-9C7F-9175-31C0-BBEF137BDA4D}"/>
              </a:ext>
            </a:extLst>
          </p:cNvPr>
          <p:cNvSpPr txBox="1"/>
          <p:nvPr/>
        </p:nvSpPr>
        <p:spPr>
          <a:xfrm>
            <a:off x="6487236" y="3876958"/>
            <a:ext cx="155964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sv-SE" sz="1100" b="1"/>
              <a:t>ptr_to_b: </a:t>
            </a:r>
            <a:r>
              <a:rPr lang="sv-SE" sz="1100"/>
              <a:t>0x20000104</a:t>
            </a:r>
            <a:endParaRPr lang="LID4096" sz="110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93AC4007-3C44-774F-CC88-C2CD948058BF}"/>
              </a:ext>
            </a:extLst>
          </p:cNvPr>
          <p:cNvGrpSpPr/>
          <p:nvPr/>
        </p:nvGrpSpPr>
        <p:grpSpPr>
          <a:xfrm>
            <a:off x="8016765" y="3865556"/>
            <a:ext cx="1669576" cy="262518"/>
            <a:chOff x="8014480" y="4127166"/>
            <a:chExt cx="1669576" cy="262518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066CAB09-E857-F2FF-FE75-BBFF3C572B5F}"/>
                </a:ext>
              </a:extLst>
            </p:cNvPr>
            <p:cNvSpPr/>
            <p:nvPr/>
          </p:nvSpPr>
          <p:spPr>
            <a:xfrm>
              <a:off x="8014480" y="4127166"/>
              <a:ext cx="1669576" cy="261610"/>
            </a:xfrm>
            <a:prstGeom prst="rect">
              <a:avLst/>
            </a:prstGeom>
            <a:noFill/>
            <a:ln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E8776AE9-A3F3-2F65-E98F-FECA3BE31E7E}"/>
                </a:ext>
              </a:extLst>
            </p:cNvPr>
            <p:cNvSpPr txBox="1"/>
            <p:nvPr/>
          </p:nvSpPr>
          <p:spPr>
            <a:xfrm>
              <a:off x="8403182" y="4135768"/>
              <a:ext cx="922047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50">
                  <a:latin typeface="Consolas" panose="020B0609020204030204" pitchFamily="49" charset="0"/>
                </a:rPr>
                <a:t>0x20000100</a:t>
              </a:r>
              <a:endParaRPr lang="LID4096" sz="1050">
                <a:latin typeface="Consolas" panose="020B0609020204030204" pitchFamily="49" charset="0"/>
              </a:endParaRPr>
            </a:p>
          </p:txBody>
        </p:sp>
      </p:grpSp>
      <p:sp>
        <p:nvSpPr>
          <p:cNvPr id="24" name="Oval 23">
            <a:extLst>
              <a:ext uri="{FF2B5EF4-FFF2-40B4-BE49-F238E27FC236}">
                <a16:creationId xmlns:a16="http://schemas.microsoft.com/office/drawing/2014/main" id="{E3A4C081-FF4F-D219-8799-9B61FAB04D49}"/>
              </a:ext>
            </a:extLst>
          </p:cNvPr>
          <p:cNvSpPr/>
          <p:nvPr/>
        </p:nvSpPr>
        <p:spPr>
          <a:xfrm>
            <a:off x="3989696" y="3116239"/>
            <a:ext cx="459474" cy="312761"/>
          </a:xfrm>
          <a:prstGeom prst="ellipse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9B50D9C4-EA26-388A-20A1-34A2E25A13C9}"/>
              </a:ext>
            </a:extLst>
          </p:cNvPr>
          <p:cNvSpPr/>
          <p:nvPr/>
        </p:nvSpPr>
        <p:spPr>
          <a:xfrm>
            <a:off x="8426650" y="3898825"/>
            <a:ext cx="900864" cy="208253"/>
          </a:xfrm>
          <a:prstGeom prst="ellipse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C4F34370-433C-E4B4-75B1-1E8CAA7964D8}"/>
              </a:ext>
            </a:extLst>
          </p:cNvPr>
          <p:cNvSpPr/>
          <p:nvPr/>
        </p:nvSpPr>
        <p:spPr>
          <a:xfrm>
            <a:off x="4444621" y="3207651"/>
            <a:ext cx="4367283" cy="686510"/>
          </a:xfrm>
          <a:custGeom>
            <a:avLst/>
            <a:gdLst>
              <a:gd name="connsiteX0" fmla="*/ 4367283 w 4367283"/>
              <a:gd name="connsiteY0" fmla="*/ 686510 h 686510"/>
              <a:gd name="connsiteX1" fmla="*/ 3007057 w 4367283"/>
              <a:gd name="connsiteY1" fmla="*/ 72361 h 686510"/>
              <a:gd name="connsiteX2" fmla="*/ 0 w 4367283"/>
              <a:gd name="connsiteY2" fmla="*/ 35967 h 6865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367283" h="686510">
                <a:moveTo>
                  <a:pt x="4367283" y="686510"/>
                </a:moveTo>
                <a:cubicBezTo>
                  <a:pt x="4051110" y="433647"/>
                  <a:pt x="3734938" y="180785"/>
                  <a:pt x="3007057" y="72361"/>
                </a:cubicBezTo>
                <a:cubicBezTo>
                  <a:pt x="2279176" y="-36063"/>
                  <a:pt x="1139588" y="-48"/>
                  <a:pt x="0" y="35967"/>
                </a:cubicBezTo>
              </a:path>
            </a:pathLst>
          </a:cu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0C0E0B1D-4326-B767-AC7F-2A4591B84DAC}"/>
              </a:ext>
            </a:extLst>
          </p:cNvPr>
          <p:cNvSpPr/>
          <p:nvPr/>
        </p:nvSpPr>
        <p:spPr>
          <a:xfrm>
            <a:off x="3406708" y="4594391"/>
            <a:ext cx="1301769" cy="364296"/>
          </a:xfrm>
          <a:prstGeom prst="ellipse">
            <a:avLst/>
          </a:prstGeom>
          <a:noFill/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F21CDB6-96D0-AFF0-BD0D-437E62EA3945}"/>
              </a:ext>
            </a:extLst>
          </p:cNvPr>
          <p:cNvSpPr txBox="1"/>
          <p:nvPr/>
        </p:nvSpPr>
        <p:spPr>
          <a:xfrm>
            <a:off x="2849576" y="3902809"/>
            <a:ext cx="2558714" cy="600164"/>
          </a:xfrm>
          <a:prstGeom prst="rect">
            <a:avLst/>
          </a:prstGeom>
          <a:solidFill>
            <a:schemeClr val="bg1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rtlCol="0">
            <a:spAutoFit/>
          </a:bodyPr>
          <a:lstStyle/>
          <a:p>
            <a:pPr algn="ctr"/>
            <a:r>
              <a:rPr lang="sv-SE" sz="1100"/>
              <a:t>Operatorn ”*” betyder (här)</a:t>
            </a:r>
          </a:p>
          <a:p>
            <a:pPr algn="ctr"/>
            <a:r>
              <a:rPr lang="sv-SE" sz="1100" b="1" i="1"/>
              <a:t>”dereferera”</a:t>
            </a:r>
            <a:r>
              <a:rPr lang="sv-SE" sz="1100"/>
              <a:t> pekaren</a:t>
            </a:r>
          </a:p>
          <a:p>
            <a:pPr algn="ctr"/>
            <a:r>
              <a:rPr lang="sv-SE" sz="1100"/>
              <a:t>(tag variabeln som ”ptr_to_b” </a:t>
            </a:r>
            <a:r>
              <a:rPr lang="sv-SE" sz="1100" i="1"/>
              <a:t>pekar på)</a:t>
            </a:r>
            <a:endParaRPr lang="LID4096" sz="1100" i="1"/>
          </a:p>
        </p:txBody>
      </p:sp>
      <p:sp>
        <p:nvSpPr>
          <p:cNvPr id="31" name="Freeform: Shape 30">
            <a:extLst>
              <a:ext uri="{FF2B5EF4-FFF2-40B4-BE49-F238E27FC236}">
                <a16:creationId xmlns:a16="http://schemas.microsoft.com/office/drawing/2014/main" id="{72A2CDF2-3CD4-79C3-80B2-C6D2863005C3}"/>
              </a:ext>
            </a:extLst>
          </p:cNvPr>
          <p:cNvSpPr/>
          <p:nvPr/>
        </p:nvSpPr>
        <p:spPr>
          <a:xfrm>
            <a:off x="4599296" y="3989696"/>
            <a:ext cx="3721289" cy="691486"/>
          </a:xfrm>
          <a:custGeom>
            <a:avLst/>
            <a:gdLst>
              <a:gd name="connsiteX0" fmla="*/ 0 w 3721289"/>
              <a:gd name="connsiteY0" fmla="*/ 691486 h 691486"/>
              <a:gd name="connsiteX1" fmla="*/ 1956179 w 3721289"/>
              <a:gd name="connsiteY1" fmla="*/ 222913 h 691486"/>
              <a:gd name="connsiteX2" fmla="*/ 3721289 w 3721289"/>
              <a:gd name="connsiteY2" fmla="*/ 0 h 6914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721289" h="691486">
                <a:moveTo>
                  <a:pt x="0" y="691486"/>
                </a:moveTo>
                <a:cubicBezTo>
                  <a:pt x="667982" y="514823"/>
                  <a:pt x="1335964" y="338161"/>
                  <a:pt x="1956179" y="222913"/>
                </a:cubicBezTo>
                <a:cubicBezTo>
                  <a:pt x="2576394" y="107665"/>
                  <a:pt x="3148841" y="53832"/>
                  <a:pt x="3721289" y="0"/>
                </a:cubicBezTo>
              </a:path>
            </a:pathLst>
          </a:custGeom>
          <a:noFill/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2" name="Freeform: Shape 31">
            <a:extLst>
              <a:ext uri="{FF2B5EF4-FFF2-40B4-BE49-F238E27FC236}">
                <a16:creationId xmlns:a16="http://schemas.microsoft.com/office/drawing/2014/main" id="{3D61343B-871E-4E5F-AA14-4BFB50F44CA4}"/>
              </a:ext>
            </a:extLst>
          </p:cNvPr>
          <p:cNvSpPr/>
          <p:nvPr/>
        </p:nvSpPr>
        <p:spPr>
          <a:xfrm>
            <a:off x="8136490" y="3985146"/>
            <a:ext cx="275080" cy="286603"/>
          </a:xfrm>
          <a:custGeom>
            <a:avLst/>
            <a:gdLst>
              <a:gd name="connsiteX0" fmla="*/ 170447 w 275080"/>
              <a:gd name="connsiteY0" fmla="*/ 0 h 286603"/>
              <a:gd name="connsiteX1" fmla="*/ 2125 w 275080"/>
              <a:gd name="connsiteY1" fmla="*/ 186520 h 286603"/>
              <a:gd name="connsiteX2" fmla="*/ 275080 w 275080"/>
              <a:gd name="connsiteY2" fmla="*/ 286603 h 2866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75080" h="286603">
                <a:moveTo>
                  <a:pt x="170447" y="0"/>
                </a:moveTo>
                <a:cubicBezTo>
                  <a:pt x="77566" y="69376"/>
                  <a:pt x="-15314" y="138753"/>
                  <a:pt x="2125" y="186520"/>
                </a:cubicBezTo>
                <a:cubicBezTo>
                  <a:pt x="19564" y="234287"/>
                  <a:pt x="147322" y="260445"/>
                  <a:pt x="275080" y="286603"/>
                </a:cubicBezTo>
              </a:path>
            </a:pathLst>
          </a:custGeom>
          <a:noFill/>
          <a:ln>
            <a:solidFill>
              <a:schemeClr val="accent6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7C24F840-97BB-6F83-20E9-389F8E36B355}"/>
              </a:ext>
            </a:extLst>
          </p:cNvPr>
          <p:cNvGrpSpPr/>
          <p:nvPr/>
        </p:nvGrpSpPr>
        <p:grpSpPr>
          <a:xfrm>
            <a:off x="8014480" y="2303116"/>
            <a:ext cx="1669576" cy="262518"/>
            <a:chOff x="8014480" y="4127166"/>
            <a:chExt cx="1669576" cy="262518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E2641C4F-3245-0E6B-CE57-55932F5F2EC1}"/>
                </a:ext>
              </a:extLst>
            </p:cNvPr>
            <p:cNvSpPr/>
            <p:nvPr/>
          </p:nvSpPr>
          <p:spPr>
            <a:xfrm>
              <a:off x="8014480" y="4127166"/>
              <a:ext cx="1669576" cy="261610"/>
            </a:xfrm>
            <a:prstGeom prst="rect">
              <a:avLst/>
            </a:prstGeom>
            <a:noFill/>
            <a:ln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68169B16-7AFC-C5F2-CAFD-910177DFBC20}"/>
                </a:ext>
              </a:extLst>
            </p:cNvPr>
            <p:cNvSpPr txBox="1"/>
            <p:nvPr/>
          </p:nvSpPr>
          <p:spPr>
            <a:xfrm>
              <a:off x="8403182" y="4135768"/>
              <a:ext cx="922047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50">
                  <a:latin typeface="Consolas" panose="020B0609020204030204" pitchFamily="49" charset="0"/>
                </a:rPr>
                <a:t>0xAABBCCDD</a:t>
              </a:r>
              <a:endParaRPr lang="LID4096" sz="1050">
                <a:latin typeface="Consolas" panose="020B0609020204030204" pitchFamily="49" charset="0"/>
              </a:endParaRPr>
            </a:p>
          </p:txBody>
        </p: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3FF18E15-EF54-C80B-C6E1-8DDE7EB538F4}"/>
              </a:ext>
            </a:extLst>
          </p:cNvPr>
          <p:cNvSpPr txBox="1"/>
          <p:nvPr/>
        </p:nvSpPr>
        <p:spPr>
          <a:xfrm>
            <a:off x="7024707" y="2317125"/>
            <a:ext cx="103917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sv-SE" sz="1100" b="1"/>
              <a:t>a:</a:t>
            </a:r>
            <a:endParaRPr lang="LID4096" sz="1100"/>
          </a:p>
        </p:txBody>
      </p:sp>
    </p:spTree>
    <p:extLst>
      <p:ext uri="{BB962C8B-B14F-4D97-AF65-F5344CB8AC3E}">
        <p14:creationId xmlns:p14="http://schemas.microsoft.com/office/powerpoint/2010/main" val="642857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 animBg="1"/>
      <p:bldP spid="30" grpId="0" animBg="1"/>
      <p:bldP spid="31" grpId="0" animBg="1"/>
      <p:bldP spid="32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C3152B-4919-0C0C-E8EF-9339B29A24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itle 17">
            <a:extLst>
              <a:ext uri="{FF2B5EF4-FFF2-40B4-BE49-F238E27FC236}">
                <a16:creationId xmlns:a16="http://schemas.microsoft.com/office/drawing/2014/main" id="{4EDF4AD0-CA40-ADD0-E345-B1D204B006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Pekare</a:t>
            </a:r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683BD9D-1590-4167-C361-CB63915AC3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7AC8C6-7D5A-454E-9AA8-5FD8ED471EB1}" type="datetime1">
              <a:rPr lang="LID4096" smtClean="0"/>
              <a:t>02/06/2026</a:t>
            </a:fld>
            <a:endParaRPr lang="LID4096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081F9F9-FBCF-8FE4-71F2-DF0DB652C9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Maskinorienterad Programmering</a:t>
            </a:r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2D81053-A976-8797-4B00-E73977DB7F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909CE-3A1D-43F5-8F4E-45D6477AD820}" type="slidenum">
              <a:rPr lang="LID4096" smtClean="0"/>
              <a:t>7</a:t>
            </a:fld>
            <a:endParaRPr lang="LID4096"/>
          </a:p>
        </p:txBody>
      </p:sp>
      <p:sp>
        <p:nvSpPr>
          <p:cNvPr id="10" name="Content Placeholder 4">
            <a:extLst>
              <a:ext uri="{FF2B5EF4-FFF2-40B4-BE49-F238E27FC236}">
                <a16:creationId xmlns:a16="http://schemas.microsoft.com/office/drawing/2014/main" id="{0873A9E8-3642-D2A9-FCA0-F06B91DFF539}"/>
              </a:ext>
            </a:extLst>
          </p:cNvPr>
          <p:cNvSpPr txBox="1">
            <a:spLocks/>
          </p:cNvSpPr>
          <p:nvPr/>
        </p:nvSpPr>
        <p:spPr>
          <a:xfrm>
            <a:off x="838200" y="1382242"/>
            <a:ext cx="6315267" cy="4744728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sv-SE" sz="4000"/>
          </a:p>
          <a:p>
            <a:pPr marL="0" indent="0">
              <a:buNone/>
            </a:pPr>
            <a:endParaRPr lang="sv-SE" sz="4000"/>
          </a:p>
          <a:p>
            <a:pPr marL="0" indent="0">
              <a:buNone/>
            </a:pPr>
            <a:r>
              <a:rPr lang="sv-SE" sz="1800">
                <a:latin typeface="Consolas" panose="020B0609020204030204" pitchFamily="49" charset="0"/>
              </a:rPr>
              <a:t>unsigned short a = 0xAABB;</a:t>
            </a:r>
          </a:p>
          <a:p>
            <a:pPr marL="0" indent="0">
              <a:buNone/>
            </a:pPr>
            <a:r>
              <a:rPr lang="sv-SE" sz="1800">
                <a:latin typeface="Consolas" panose="020B0609020204030204" pitchFamily="49" charset="0"/>
              </a:rPr>
              <a:t>unsigned char b = 0xCC;</a:t>
            </a:r>
          </a:p>
          <a:p>
            <a:pPr marL="0" indent="0">
              <a:buNone/>
            </a:pPr>
            <a:r>
              <a:rPr lang="sv-SE" sz="1800">
                <a:latin typeface="Consolas" panose="020B0609020204030204" pitchFamily="49" charset="0"/>
              </a:rPr>
              <a:t>unsigned short </a:t>
            </a:r>
            <a:r>
              <a:rPr lang="sv-SE" sz="1800">
                <a:solidFill>
                  <a:srgbClr val="92D050"/>
                </a:solidFill>
                <a:latin typeface="Consolas" panose="020B0609020204030204" pitchFamily="49" charset="0"/>
              </a:rPr>
              <a:t>*</a:t>
            </a:r>
            <a:r>
              <a:rPr lang="sv-SE" sz="1800">
                <a:latin typeface="Consolas" panose="020B0609020204030204" pitchFamily="49" charset="0"/>
              </a:rPr>
              <a:t>ptr_to_a = </a:t>
            </a:r>
            <a:r>
              <a:rPr lang="sv-SE" sz="1800">
                <a:solidFill>
                  <a:srgbClr val="00B0F0"/>
                </a:solidFill>
                <a:latin typeface="Consolas" panose="020B0609020204030204" pitchFamily="49" charset="0"/>
              </a:rPr>
              <a:t>&amp;</a:t>
            </a:r>
            <a:r>
              <a:rPr lang="sv-SE" sz="1800">
                <a:latin typeface="Consolas" panose="020B0609020204030204" pitchFamily="49" charset="0"/>
              </a:rPr>
              <a:t>a;</a:t>
            </a:r>
          </a:p>
          <a:p>
            <a:pPr marL="0" indent="0">
              <a:buNone/>
            </a:pPr>
            <a:r>
              <a:rPr lang="sv-SE" sz="1800">
                <a:latin typeface="Consolas" panose="020B0609020204030204" pitchFamily="49" charset="0"/>
              </a:rPr>
              <a:t>unsigned char </a:t>
            </a:r>
            <a:r>
              <a:rPr lang="sv-SE" sz="1800">
                <a:solidFill>
                  <a:srgbClr val="92D050"/>
                </a:solidFill>
                <a:latin typeface="Consolas" panose="020B0609020204030204" pitchFamily="49" charset="0"/>
              </a:rPr>
              <a:t>*</a:t>
            </a:r>
            <a:r>
              <a:rPr lang="sv-SE" sz="1800">
                <a:latin typeface="Consolas" panose="020B0609020204030204" pitchFamily="49" charset="0"/>
              </a:rPr>
              <a:t>ptr_to_b = </a:t>
            </a:r>
            <a:r>
              <a:rPr lang="sv-SE" sz="1800">
                <a:solidFill>
                  <a:srgbClr val="00B0F0"/>
                </a:solidFill>
                <a:latin typeface="Consolas" panose="020B0609020204030204" pitchFamily="49" charset="0"/>
              </a:rPr>
              <a:t>&amp;</a:t>
            </a:r>
            <a:r>
              <a:rPr lang="sv-SE" sz="1800">
                <a:latin typeface="Consolas" panose="020B0609020204030204" pitchFamily="49" charset="0"/>
              </a:rPr>
              <a:t>b;</a:t>
            </a:r>
          </a:p>
          <a:p>
            <a:pPr marL="0" indent="0">
              <a:buNone/>
            </a:pPr>
            <a:endParaRPr lang="sv-SE" sz="180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sv-SE" sz="1400">
                <a:latin typeface="Consolas" panose="020B0609020204030204" pitchFamily="49" charset="0"/>
              </a:rPr>
              <a:t>void main() </a:t>
            </a:r>
          </a:p>
          <a:p>
            <a:pPr marL="0" indent="0">
              <a:buNone/>
            </a:pPr>
            <a:r>
              <a:rPr lang="en-GB" sz="1400">
                <a:latin typeface="Consolas" panose="020B0609020204030204" pitchFamily="49" charset="0"/>
              </a:rPr>
              <a:t>{</a:t>
            </a:r>
          </a:p>
          <a:p>
            <a:pPr marL="0" indent="0">
              <a:buNone/>
            </a:pPr>
            <a:r>
              <a:rPr lang="en-GB" sz="1400">
                <a:latin typeface="Consolas" panose="020B0609020204030204" pitchFamily="49" charset="0"/>
              </a:rPr>
              <a:t>    unsigned char c = *ptr_to_b;  </a:t>
            </a:r>
          </a:p>
          <a:p>
            <a:pPr marL="0" indent="0">
              <a:buNone/>
            </a:pPr>
            <a:r>
              <a:rPr lang="en-GB" sz="1400">
                <a:latin typeface="Consolas" panose="020B0609020204030204" pitchFamily="49" charset="0"/>
              </a:rPr>
              <a:t>    *ptr_to_a = c; </a:t>
            </a:r>
          </a:p>
          <a:p>
            <a:pPr marL="0" indent="0">
              <a:buNone/>
            </a:pPr>
            <a:r>
              <a:rPr lang="en-GB" sz="1400">
                <a:latin typeface="Consolas" panose="020B0609020204030204" pitchFamily="49" charset="0"/>
              </a:rPr>
              <a:t>}</a:t>
            </a:r>
          </a:p>
          <a:p>
            <a:pPr marL="0" indent="0">
              <a:buNone/>
            </a:pPr>
            <a:endParaRPr lang="sv-SE" sz="1600">
              <a:latin typeface="Consolas" panose="020B0609020204030204" pitchFamily="49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33D60DF-F858-49DB-8550-8FCB591FC062}"/>
              </a:ext>
            </a:extLst>
          </p:cNvPr>
          <p:cNvSpPr/>
          <p:nvPr/>
        </p:nvSpPr>
        <p:spPr>
          <a:xfrm>
            <a:off x="8017605" y="4397380"/>
            <a:ext cx="1669576" cy="1564944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/>
              <a:t>Program Code</a:t>
            </a:r>
            <a:endParaRPr lang="LID4096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33EFFE6-F09B-F726-B996-CD0B4308B8D9}"/>
              </a:ext>
            </a:extLst>
          </p:cNvPr>
          <p:cNvSpPr txBox="1"/>
          <p:nvPr/>
        </p:nvSpPr>
        <p:spPr>
          <a:xfrm>
            <a:off x="7161057" y="5831519"/>
            <a:ext cx="89479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100"/>
              <a:t>0x20000000</a:t>
            </a:r>
            <a:endParaRPr lang="LID4096" sz="110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838A7C8-CDED-F84E-567E-80B2736DD02A}"/>
              </a:ext>
            </a:extLst>
          </p:cNvPr>
          <p:cNvSpPr/>
          <p:nvPr/>
        </p:nvSpPr>
        <p:spPr>
          <a:xfrm>
            <a:off x="8017605" y="2879010"/>
            <a:ext cx="1669576" cy="151836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F39DDB8-BADF-6620-493E-79C6E254DC6E}"/>
              </a:ext>
            </a:extLst>
          </p:cNvPr>
          <p:cNvSpPr/>
          <p:nvPr/>
        </p:nvSpPr>
        <p:spPr>
          <a:xfrm>
            <a:off x="8017605" y="2295624"/>
            <a:ext cx="1669576" cy="583385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CD7215E-3F53-B52D-FB52-2F949E6EC4D4}"/>
              </a:ext>
            </a:extLst>
          </p:cNvPr>
          <p:cNvSpPr/>
          <p:nvPr/>
        </p:nvSpPr>
        <p:spPr>
          <a:xfrm>
            <a:off x="8017605" y="1782660"/>
            <a:ext cx="1669576" cy="512963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/>
              <a:t>Stack</a:t>
            </a:r>
            <a:endParaRPr lang="LID4096"/>
          </a:p>
        </p:txBody>
      </p:sp>
      <p:sp>
        <p:nvSpPr>
          <p:cNvPr id="16" name="Right Brace 15">
            <a:extLst>
              <a:ext uri="{FF2B5EF4-FFF2-40B4-BE49-F238E27FC236}">
                <a16:creationId xmlns:a16="http://schemas.microsoft.com/office/drawing/2014/main" id="{4445787E-B8E6-B310-6357-C0C1A12B5D85}"/>
              </a:ext>
            </a:extLst>
          </p:cNvPr>
          <p:cNvSpPr/>
          <p:nvPr/>
        </p:nvSpPr>
        <p:spPr>
          <a:xfrm>
            <a:off x="9753600" y="3346501"/>
            <a:ext cx="95534" cy="1050877"/>
          </a:xfrm>
          <a:prstGeom prst="rightBrac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D6E48D8-0925-D2ED-85C8-51ABDF7D2F1C}"/>
              </a:ext>
            </a:extLst>
          </p:cNvPr>
          <p:cNvSpPr txBox="1"/>
          <p:nvPr/>
        </p:nvSpPr>
        <p:spPr>
          <a:xfrm>
            <a:off x="9849134" y="3699834"/>
            <a:ext cx="2021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/>
              <a:t>Initialized data area</a:t>
            </a:r>
            <a:endParaRPr lang="LID4096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A785E313-CB00-6D35-6E45-C0B5C99A0021}"/>
              </a:ext>
            </a:extLst>
          </p:cNvPr>
          <p:cNvCxnSpPr/>
          <p:nvPr/>
        </p:nvCxnSpPr>
        <p:spPr>
          <a:xfrm>
            <a:off x="8017604" y="1535901"/>
            <a:ext cx="1669577" cy="0"/>
          </a:xfrm>
          <a:prstGeom prst="straightConnector1">
            <a:avLst/>
          </a:prstGeom>
          <a:ln w="25400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3A44D83B-85D2-462B-3DB1-352CCBB23226}"/>
              </a:ext>
            </a:extLst>
          </p:cNvPr>
          <p:cNvSpPr txBox="1"/>
          <p:nvPr/>
        </p:nvSpPr>
        <p:spPr>
          <a:xfrm>
            <a:off x="8488382" y="1049215"/>
            <a:ext cx="72802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sv-SE" sz="1200"/>
              <a:t>32 bits</a:t>
            </a:r>
          </a:p>
          <a:p>
            <a:pPr algn="ctr"/>
            <a:r>
              <a:rPr lang="sv-SE" sz="1200"/>
              <a:t>(4 bytes)</a:t>
            </a:r>
            <a:endParaRPr lang="LID4096" sz="120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7B6D7B3-8D87-FDE6-0E09-4F98FFD7CDA4}"/>
              </a:ext>
            </a:extLst>
          </p:cNvPr>
          <p:cNvSpPr txBox="1"/>
          <p:nvPr/>
        </p:nvSpPr>
        <p:spPr>
          <a:xfrm>
            <a:off x="6739944" y="4051538"/>
            <a:ext cx="131452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sv-SE" sz="1100" b="1"/>
              <a:t>a: </a:t>
            </a:r>
            <a:r>
              <a:rPr lang="sv-SE" sz="1100"/>
              <a:t>0x20000100</a:t>
            </a:r>
            <a:endParaRPr lang="LID4096" sz="110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660ABB5-A3B3-E1DC-A9D8-587DF6C4679F}"/>
              </a:ext>
            </a:extLst>
          </p:cNvPr>
          <p:cNvSpPr txBox="1"/>
          <p:nvPr/>
        </p:nvSpPr>
        <p:spPr>
          <a:xfrm>
            <a:off x="8476584" y="4136144"/>
            <a:ext cx="479618" cy="25391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sv-SE" sz="1050">
                <a:latin typeface="Consolas" panose="020B0609020204030204" pitchFamily="49" charset="0"/>
              </a:rPr>
              <a:t>0xCC</a:t>
            </a:r>
            <a:endParaRPr lang="LID4096" sz="1050">
              <a:latin typeface="Consolas" panose="020B0609020204030204" pitchFamily="49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28EFD8D-59A5-F592-30BF-D40056242B1B}"/>
              </a:ext>
            </a:extLst>
          </p:cNvPr>
          <p:cNvSpPr txBox="1"/>
          <p:nvPr/>
        </p:nvSpPr>
        <p:spPr>
          <a:xfrm>
            <a:off x="8951909" y="4133003"/>
            <a:ext cx="733287" cy="25391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sv-SE" sz="1050">
                <a:latin typeface="Consolas" panose="020B0609020204030204" pitchFamily="49" charset="0"/>
              </a:rPr>
              <a:t>0xAABB</a:t>
            </a:r>
            <a:endParaRPr lang="LID4096" sz="1050">
              <a:latin typeface="Consolas" panose="020B0609020204030204" pitchFamily="49" charset="0"/>
            </a:endParaRP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D944C25E-3E55-D9F8-E14B-D2D1DB53CF41}"/>
              </a:ext>
            </a:extLst>
          </p:cNvPr>
          <p:cNvGrpSpPr/>
          <p:nvPr/>
        </p:nvGrpSpPr>
        <p:grpSpPr>
          <a:xfrm>
            <a:off x="6487236" y="3865556"/>
            <a:ext cx="3199105" cy="273012"/>
            <a:chOff x="6487236" y="3865556"/>
            <a:chExt cx="3199105" cy="273012"/>
          </a:xfrm>
        </p:grpSpPr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B7E1CFD9-34C6-831E-3B75-B8657A3CC3DE}"/>
                </a:ext>
              </a:extLst>
            </p:cNvPr>
            <p:cNvSpPr txBox="1"/>
            <p:nvPr/>
          </p:nvSpPr>
          <p:spPr>
            <a:xfrm>
              <a:off x="6487236" y="3876958"/>
              <a:ext cx="1559641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sv-SE" sz="1100" b="1"/>
                <a:t>ptr_to_a: </a:t>
              </a:r>
              <a:r>
                <a:rPr lang="sv-SE" sz="1100"/>
                <a:t>0x20000104</a:t>
              </a:r>
              <a:endParaRPr lang="LID4096" sz="1100"/>
            </a:p>
          </p:txBody>
        </p: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6315CE79-01E7-C867-6E98-339B3FB81B74}"/>
                </a:ext>
              </a:extLst>
            </p:cNvPr>
            <p:cNvGrpSpPr/>
            <p:nvPr/>
          </p:nvGrpSpPr>
          <p:grpSpPr>
            <a:xfrm>
              <a:off x="8016765" y="3865556"/>
              <a:ext cx="1669576" cy="262518"/>
              <a:chOff x="8014480" y="4127166"/>
              <a:chExt cx="1669576" cy="262518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1E4BBCC5-0182-E518-64D5-C3C287A245C6}"/>
                  </a:ext>
                </a:extLst>
              </p:cNvPr>
              <p:cNvSpPr/>
              <p:nvPr/>
            </p:nvSpPr>
            <p:spPr>
              <a:xfrm>
                <a:off x="8014480" y="4127166"/>
                <a:ext cx="1669576" cy="261610"/>
              </a:xfrm>
              <a:prstGeom prst="rect">
                <a:avLst/>
              </a:prstGeom>
              <a:noFill/>
              <a:ln>
                <a:prstDash val="solid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6086C6B4-402E-E9DF-218F-9054A41FF775}"/>
                  </a:ext>
                </a:extLst>
              </p:cNvPr>
              <p:cNvSpPr txBox="1"/>
              <p:nvPr/>
            </p:nvSpPr>
            <p:spPr>
              <a:xfrm>
                <a:off x="8403182" y="4135768"/>
                <a:ext cx="922047" cy="25391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sv-SE" sz="1050">
                    <a:latin typeface="Consolas" panose="020B0609020204030204" pitchFamily="49" charset="0"/>
                  </a:rPr>
                  <a:t>0x20000100</a:t>
                </a:r>
                <a:endParaRPr lang="LID4096" sz="1050">
                  <a:latin typeface="Consolas" panose="020B0609020204030204" pitchFamily="49" charset="0"/>
                </a:endParaRPr>
              </a:p>
            </p:txBody>
          </p:sp>
        </p:grpSp>
      </p:grpSp>
      <p:sp>
        <p:nvSpPr>
          <p:cNvPr id="32" name="TextBox 31">
            <a:extLst>
              <a:ext uri="{FF2B5EF4-FFF2-40B4-BE49-F238E27FC236}">
                <a16:creationId xmlns:a16="http://schemas.microsoft.com/office/drawing/2014/main" id="{F9EBB75B-169E-F62A-F99B-F1BB18E674F7}"/>
              </a:ext>
            </a:extLst>
          </p:cNvPr>
          <p:cNvSpPr txBox="1"/>
          <p:nvPr/>
        </p:nvSpPr>
        <p:spPr>
          <a:xfrm>
            <a:off x="6930522" y="4214972"/>
            <a:ext cx="112394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sv-SE" sz="1100" b="1"/>
              <a:t>b: </a:t>
            </a:r>
            <a:r>
              <a:rPr lang="sv-SE" sz="1100"/>
              <a:t>0x20000102</a:t>
            </a:r>
            <a:endParaRPr lang="LID4096" sz="110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4599F4F2-FD24-FC72-B1B6-39BFF543F227}"/>
              </a:ext>
            </a:extLst>
          </p:cNvPr>
          <p:cNvSpPr/>
          <p:nvPr/>
        </p:nvSpPr>
        <p:spPr>
          <a:xfrm>
            <a:off x="8016765" y="4132095"/>
            <a:ext cx="470471" cy="25482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ECABA418-58C2-1D8B-38A1-6639BDC61921}"/>
              </a:ext>
            </a:extLst>
          </p:cNvPr>
          <p:cNvGrpSpPr/>
          <p:nvPr/>
        </p:nvGrpSpPr>
        <p:grpSpPr>
          <a:xfrm>
            <a:off x="6490333" y="3601179"/>
            <a:ext cx="3199105" cy="273012"/>
            <a:chOff x="6490333" y="3601179"/>
            <a:chExt cx="3199105" cy="273012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040F3A68-C8EE-29B1-BD7D-23C2A4ABE7DA}"/>
                </a:ext>
              </a:extLst>
            </p:cNvPr>
            <p:cNvSpPr txBox="1"/>
            <p:nvPr/>
          </p:nvSpPr>
          <p:spPr>
            <a:xfrm>
              <a:off x="6490333" y="3612581"/>
              <a:ext cx="1559641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sv-SE" sz="1100" b="1"/>
                <a:t>ptr_to_b: </a:t>
              </a:r>
              <a:r>
                <a:rPr lang="sv-SE" sz="1100"/>
                <a:t>0x20000108</a:t>
              </a:r>
              <a:endParaRPr lang="LID4096" sz="1100"/>
            </a:p>
          </p:txBody>
        </p:sp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D95B2763-16AB-A124-C198-ED62C805CD64}"/>
                </a:ext>
              </a:extLst>
            </p:cNvPr>
            <p:cNvGrpSpPr/>
            <p:nvPr/>
          </p:nvGrpSpPr>
          <p:grpSpPr>
            <a:xfrm>
              <a:off x="8019862" y="3601179"/>
              <a:ext cx="1669576" cy="262518"/>
              <a:chOff x="8014480" y="4127166"/>
              <a:chExt cx="1669576" cy="262518"/>
            </a:xfrm>
          </p:grpSpPr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724FD7ED-60F3-FBB6-A435-5AC1A2C8DA3F}"/>
                  </a:ext>
                </a:extLst>
              </p:cNvPr>
              <p:cNvSpPr/>
              <p:nvPr/>
            </p:nvSpPr>
            <p:spPr>
              <a:xfrm>
                <a:off x="8014480" y="4127166"/>
                <a:ext cx="1669576" cy="261610"/>
              </a:xfrm>
              <a:prstGeom prst="rect">
                <a:avLst/>
              </a:prstGeom>
              <a:noFill/>
              <a:ln>
                <a:prstDash val="solid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81D3A7DE-2C2E-3DBA-9A1E-EACD22900CD8}"/>
                  </a:ext>
                </a:extLst>
              </p:cNvPr>
              <p:cNvSpPr txBox="1"/>
              <p:nvPr/>
            </p:nvSpPr>
            <p:spPr>
              <a:xfrm>
                <a:off x="8403182" y="4135768"/>
                <a:ext cx="922047" cy="25391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sv-SE" sz="1050">
                    <a:latin typeface="Consolas" panose="020B0609020204030204" pitchFamily="49" charset="0"/>
                  </a:rPr>
                  <a:t>0x20000102</a:t>
                </a:r>
                <a:endParaRPr lang="LID4096" sz="1050">
                  <a:latin typeface="Consolas" panose="020B0609020204030204" pitchFamily="49" charset="0"/>
                </a:endParaRPr>
              </a:p>
            </p:txBody>
          </p:sp>
        </p:grp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AC2073D4-7161-93C8-5C24-58CC72E50675}"/>
              </a:ext>
            </a:extLst>
          </p:cNvPr>
          <p:cNvSpPr txBox="1"/>
          <p:nvPr/>
        </p:nvSpPr>
        <p:spPr>
          <a:xfrm>
            <a:off x="8024374" y="2297482"/>
            <a:ext cx="510026" cy="25391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endParaRPr lang="LID4096" sz="1050">
              <a:latin typeface="Consolas" panose="020B0609020204030204" pitchFamily="49" charset="0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58E640B-421D-8972-3DB9-71CC46EA3E33}"/>
              </a:ext>
            </a:extLst>
          </p:cNvPr>
          <p:cNvSpPr txBox="1"/>
          <p:nvPr/>
        </p:nvSpPr>
        <p:spPr>
          <a:xfrm>
            <a:off x="6739944" y="2246242"/>
            <a:ext cx="131452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sv-SE" sz="1100" b="1"/>
              <a:t>c: </a:t>
            </a:r>
            <a:r>
              <a:rPr lang="sv-SE" sz="1100"/>
              <a:t>0x2001FFFF</a:t>
            </a:r>
            <a:endParaRPr lang="LID4096" sz="110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BFC5632A-3E28-AE34-E798-4627A9E64733}"/>
              </a:ext>
            </a:extLst>
          </p:cNvPr>
          <p:cNvSpPr/>
          <p:nvPr/>
        </p:nvSpPr>
        <p:spPr>
          <a:xfrm>
            <a:off x="8534400" y="2296575"/>
            <a:ext cx="1150796" cy="25482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3298371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5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500"/>
                            </p:stCondLst>
                            <p:childTnLst>
                              <p:par>
                                <p:cTn id="4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0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10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500"/>
                            </p:stCondLst>
                            <p:childTnLst>
                              <p:par>
                                <p:cTn id="6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10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/>
      <p:bldP spid="25" grpId="0" animBg="1"/>
      <p:bldP spid="27" grpId="0" animBg="1"/>
      <p:bldP spid="32" grpId="0"/>
      <p:bldP spid="33" grpId="0" animBg="1"/>
      <p:bldP spid="29" grpId="0" animBg="1"/>
      <p:bldP spid="30" grpId="0"/>
      <p:bldP spid="38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351974-3FA4-6832-5FE8-09D5B2EEB0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itle 17">
            <a:extLst>
              <a:ext uri="{FF2B5EF4-FFF2-40B4-BE49-F238E27FC236}">
                <a16:creationId xmlns:a16="http://schemas.microsoft.com/office/drawing/2014/main" id="{1028A340-4FB7-DCCB-DB16-9E228569DD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Pekare</a:t>
            </a:r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B305891-65E8-80F7-2F64-891D5FA95D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7AC8C6-7D5A-454E-9AA8-5FD8ED471EB1}" type="datetime1">
              <a:rPr lang="LID4096" smtClean="0"/>
              <a:t>02/06/2026</a:t>
            </a:fld>
            <a:endParaRPr lang="LID4096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A75703-F866-0DD1-0A2A-3F4C87979F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Maskinorienterad Programmering</a:t>
            </a:r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7681C11-FC40-AE4F-5E16-75DB4A7787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909CE-3A1D-43F5-8F4E-45D6477AD820}" type="slidenum">
              <a:rPr lang="LID4096" smtClean="0"/>
              <a:t>8</a:t>
            </a:fld>
            <a:endParaRPr lang="LID4096"/>
          </a:p>
        </p:txBody>
      </p:sp>
      <p:sp>
        <p:nvSpPr>
          <p:cNvPr id="10" name="Content Placeholder 4">
            <a:extLst>
              <a:ext uri="{FF2B5EF4-FFF2-40B4-BE49-F238E27FC236}">
                <a16:creationId xmlns:a16="http://schemas.microsoft.com/office/drawing/2014/main" id="{40B5CB4E-B0C2-A438-C13E-AA52733E6063}"/>
              </a:ext>
            </a:extLst>
          </p:cNvPr>
          <p:cNvSpPr txBox="1">
            <a:spLocks/>
          </p:cNvSpPr>
          <p:nvPr/>
        </p:nvSpPr>
        <p:spPr>
          <a:xfrm>
            <a:off x="838200" y="1382242"/>
            <a:ext cx="6315267" cy="4744728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sv-SE" sz="4000"/>
          </a:p>
          <a:p>
            <a:pPr marL="0" indent="0">
              <a:buNone/>
            </a:pPr>
            <a:endParaRPr lang="sv-SE" sz="4000"/>
          </a:p>
          <a:p>
            <a:pPr marL="0" indent="0">
              <a:buNone/>
            </a:pPr>
            <a:r>
              <a:rPr lang="sv-SE" sz="1800">
                <a:latin typeface="Consolas" panose="020B0609020204030204" pitchFamily="49" charset="0"/>
              </a:rPr>
              <a:t>unsigned short a = 0xAABB;</a:t>
            </a:r>
          </a:p>
          <a:p>
            <a:pPr marL="0" indent="0">
              <a:buNone/>
            </a:pPr>
            <a:r>
              <a:rPr lang="sv-SE" sz="1800">
                <a:latin typeface="Consolas" panose="020B0609020204030204" pitchFamily="49" charset="0"/>
              </a:rPr>
              <a:t>unsigned char b = 0xCC;</a:t>
            </a:r>
          </a:p>
          <a:p>
            <a:pPr marL="0" indent="0">
              <a:buNone/>
            </a:pPr>
            <a:r>
              <a:rPr lang="sv-SE" sz="1800">
                <a:latin typeface="Consolas" panose="020B0609020204030204" pitchFamily="49" charset="0"/>
              </a:rPr>
              <a:t>unsigned short </a:t>
            </a:r>
            <a:r>
              <a:rPr lang="sv-SE" sz="1800">
                <a:solidFill>
                  <a:srgbClr val="92D050"/>
                </a:solidFill>
                <a:latin typeface="Consolas" panose="020B0609020204030204" pitchFamily="49" charset="0"/>
              </a:rPr>
              <a:t>*</a:t>
            </a:r>
            <a:r>
              <a:rPr lang="sv-SE" sz="1800">
                <a:latin typeface="Consolas" panose="020B0609020204030204" pitchFamily="49" charset="0"/>
              </a:rPr>
              <a:t>ptr_to_a = </a:t>
            </a:r>
            <a:r>
              <a:rPr lang="sv-SE" sz="1800">
                <a:solidFill>
                  <a:srgbClr val="00B0F0"/>
                </a:solidFill>
                <a:latin typeface="Consolas" panose="020B0609020204030204" pitchFamily="49" charset="0"/>
              </a:rPr>
              <a:t>&amp;</a:t>
            </a:r>
            <a:r>
              <a:rPr lang="sv-SE" sz="1800">
                <a:latin typeface="Consolas" panose="020B0609020204030204" pitchFamily="49" charset="0"/>
              </a:rPr>
              <a:t>a;</a:t>
            </a:r>
          </a:p>
          <a:p>
            <a:pPr marL="0" indent="0">
              <a:buNone/>
            </a:pPr>
            <a:r>
              <a:rPr lang="sv-SE" sz="1800">
                <a:latin typeface="Consolas" panose="020B0609020204030204" pitchFamily="49" charset="0"/>
              </a:rPr>
              <a:t>unsigned char </a:t>
            </a:r>
            <a:r>
              <a:rPr lang="sv-SE" sz="1800">
                <a:solidFill>
                  <a:srgbClr val="92D050"/>
                </a:solidFill>
                <a:latin typeface="Consolas" panose="020B0609020204030204" pitchFamily="49" charset="0"/>
              </a:rPr>
              <a:t>*</a:t>
            </a:r>
            <a:r>
              <a:rPr lang="sv-SE" sz="1800">
                <a:latin typeface="Consolas" panose="020B0609020204030204" pitchFamily="49" charset="0"/>
              </a:rPr>
              <a:t>ptr_to_b = </a:t>
            </a:r>
            <a:r>
              <a:rPr lang="sv-SE" sz="1800">
                <a:solidFill>
                  <a:srgbClr val="00B0F0"/>
                </a:solidFill>
                <a:latin typeface="Consolas" panose="020B0609020204030204" pitchFamily="49" charset="0"/>
              </a:rPr>
              <a:t>&amp;</a:t>
            </a:r>
            <a:r>
              <a:rPr lang="sv-SE" sz="1800">
                <a:latin typeface="Consolas" panose="020B0609020204030204" pitchFamily="49" charset="0"/>
              </a:rPr>
              <a:t>b;</a:t>
            </a:r>
          </a:p>
          <a:p>
            <a:pPr marL="0" indent="0">
              <a:buNone/>
            </a:pPr>
            <a:endParaRPr lang="sv-SE" sz="180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sv-SE" sz="1400">
                <a:latin typeface="Consolas" panose="020B0609020204030204" pitchFamily="49" charset="0"/>
              </a:rPr>
              <a:t>void main() </a:t>
            </a:r>
          </a:p>
          <a:p>
            <a:pPr marL="0" indent="0">
              <a:buNone/>
            </a:pPr>
            <a:r>
              <a:rPr lang="en-GB" sz="1400">
                <a:latin typeface="Consolas" panose="020B0609020204030204" pitchFamily="49" charset="0"/>
              </a:rPr>
              <a:t>{</a:t>
            </a:r>
          </a:p>
          <a:p>
            <a:pPr marL="0" indent="0">
              <a:buNone/>
            </a:pPr>
            <a:r>
              <a:rPr lang="en-GB" sz="1400">
                <a:latin typeface="Consolas" panose="020B0609020204030204" pitchFamily="49" charset="0"/>
              </a:rPr>
              <a:t>    unsigned char c = *ptr_to_b;  </a:t>
            </a:r>
          </a:p>
          <a:p>
            <a:pPr marL="0" indent="0">
              <a:buNone/>
            </a:pPr>
            <a:r>
              <a:rPr lang="en-GB" sz="1400">
                <a:latin typeface="Consolas" panose="020B0609020204030204" pitchFamily="49" charset="0"/>
              </a:rPr>
              <a:t>    *ptr_to_a = c; </a:t>
            </a:r>
          </a:p>
          <a:p>
            <a:pPr marL="0" indent="0">
              <a:buNone/>
            </a:pPr>
            <a:r>
              <a:rPr lang="en-GB" sz="1400">
                <a:latin typeface="Consolas" panose="020B0609020204030204" pitchFamily="49" charset="0"/>
              </a:rPr>
              <a:t>}</a:t>
            </a:r>
          </a:p>
          <a:p>
            <a:pPr marL="0" indent="0">
              <a:buNone/>
            </a:pPr>
            <a:endParaRPr lang="sv-SE" sz="1600">
              <a:latin typeface="Consolas" panose="020B0609020204030204" pitchFamily="49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2653D12-84B4-5A3C-9DCA-69EC753E6820}"/>
              </a:ext>
            </a:extLst>
          </p:cNvPr>
          <p:cNvSpPr/>
          <p:nvPr/>
        </p:nvSpPr>
        <p:spPr>
          <a:xfrm>
            <a:off x="8017605" y="4397380"/>
            <a:ext cx="1669576" cy="1564944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/>
              <a:t>Program Code</a:t>
            </a:r>
            <a:endParaRPr lang="LID4096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70C9EF6-B16C-3895-4D0D-0F41A372958F}"/>
              </a:ext>
            </a:extLst>
          </p:cNvPr>
          <p:cNvSpPr txBox="1"/>
          <p:nvPr/>
        </p:nvSpPr>
        <p:spPr>
          <a:xfrm>
            <a:off x="7161057" y="5831519"/>
            <a:ext cx="89479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100"/>
              <a:t>0x20000000</a:t>
            </a:r>
            <a:endParaRPr lang="LID4096" sz="110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F5977CE-0933-AEF1-E91D-8E8E728C47E9}"/>
              </a:ext>
            </a:extLst>
          </p:cNvPr>
          <p:cNvSpPr/>
          <p:nvPr/>
        </p:nvSpPr>
        <p:spPr>
          <a:xfrm>
            <a:off x="8017605" y="2879010"/>
            <a:ext cx="1669576" cy="151836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4549F74-7461-5384-F7C3-017F4E1621BE}"/>
              </a:ext>
            </a:extLst>
          </p:cNvPr>
          <p:cNvSpPr/>
          <p:nvPr/>
        </p:nvSpPr>
        <p:spPr>
          <a:xfrm>
            <a:off x="8017605" y="2295624"/>
            <a:ext cx="1669576" cy="583385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FA1A477-8585-1A63-8D90-BA33D7AA3C05}"/>
              </a:ext>
            </a:extLst>
          </p:cNvPr>
          <p:cNvSpPr/>
          <p:nvPr/>
        </p:nvSpPr>
        <p:spPr>
          <a:xfrm>
            <a:off x="8017605" y="1782660"/>
            <a:ext cx="1669576" cy="512963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/>
              <a:t>Stack</a:t>
            </a:r>
            <a:endParaRPr lang="LID4096"/>
          </a:p>
        </p:txBody>
      </p:sp>
      <p:sp>
        <p:nvSpPr>
          <p:cNvPr id="16" name="Right Brace 15">
            <a:extLst>
              <a:ext uri="{FF2B5EF4-FFF2-40B4-BE49-F238E27FC236}">
                <a16:creationId xmlns:a16="http://schemas.microsoft.com/office/drawing/2014/main" id="{6DF7C495-1E7F-5708-B108-77B534CA0F9C}"/>
              </a:ext>
            </a:extLst>
          </p:cNvPr>
          <p:cNvSpPr/>
          <p:nvPr/>
        </p:nvSpPr>
        <p:spPr>
          <a:xfrm>
            <a:off x="9753600" y="3346501"/>
            <a:ext cx="95534" cy="1050877"/>
          </a:xfrm>
          <a:prstGeom prst="rightBrac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C5FEB57-42FB-F284-56EA-A7747AE68B2E}"/>
              </a:ext>
            </a:extLst>
          </p:cNvPr>
          <p:cNvSpPr txBox="1"/>
          <p:nvPr/>
        </p:nvSpPr>
        <p:spPr>
          <a:xfrm>
            <a:off x="9849134" y="3699834"/>
            <a:ext cx="2021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/>
              <a:t>Initialized data area</a:t>
            </a:r>
            <a:endParaRPr lang="LID4096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0660A408-ADE2-3998-2E31-73F975D83ECA}"/>
              </a:ext>
            </a:extLst>
          </p:cNvPr>
          <p:cNvCxnSpPr/>
          <p:nvPr/>
        </p:nvCxnSpPr>
        <p:spPr>
          <a:xfrm>
            <a:off x="8017604" y="1535901"/>
            <a:ext cx="1669577" cy="0"/>
          </a:xfrm>
          <a:prstGeom prst="straightConnector1">
            <a:avLst/>
          </a:prstGeom>
          <a:ln w="25400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2272EEFB-BCEC-E4A2-70B5-4C93816DDBCB}"/>
              </a:ext>
            </a:extLst>
          </p:cNvPr>
          <p:cNvSpPr txBox="1"/>
          <p:nvPr/>
        </p:nvSpPr>
        <p:spPr>
          <a:xfrm>
            <a:off x="8488382" y="1049215"/>
            <a:ext cx="72802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sv-SE" sz="1200"/>
              <a:t>32 bits</a:t>
            </a:r>
          </a:p>
          <a:p>
            <a:pPr algn="ctr"/>
            <a:r>
              <a:rPr lang="sv-SE" sz="1200"/>
              <a:t>(4 bytes)</a:t>
            </a:r>
            <a:endParaRPr lang="LID4096" sz="120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B32237A-E93F-066C-DAB2-D8E65FCB1BD2}"/>
              </a:ext>
            </a:extLst>
          </p:cNvPr>
          <p:cNvSpPr txBox="1"/>
          <p:nvPr/>
        </p:nvSpPr>
        <p:spPr>
          <a:xfrm>
            <a:off x="6739944" y="4051538"/>
            <a:ext cx="131452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sv-SE" sz="1100" b="1"/>
              <a:t>a: </a:t>
            </a:r>
            <a:r>
              <a:rPr lang="sv-SE" sz="1100"/>
              <a:t>0x20000100</a:t>
            </a:r>
            <a:endParaRPr lang="LID4096" sz="110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D3F5755-4963-DEBA-7B2C-288E4D1A6A4B}"/>
              </a:ext>
            </a:extLst>
          </p:cNvPr>
          <p:cNvSpPr txBox="1"/>
          <p:nvPr/>
        </p:nvSpPr>
        <p:spPr>
          <a:xfrm>
            <a:off x="8476584" y="4136144"/>
            <a:ext cx="479618" cy="25391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sv-SE" sz="1050">
                <a:latin typeface="Consolas" panose="020B0609020204030204" pitchFamily="49" charset="0"/>
              </a:rPr>
              <a:t>0xCC</a:t>
            </a:r>
            <a:endParaRPr lang="LID4096" sz="1050">
              <a:latin typeface="Consolas" panose="020B0609020204030204" pitchFamily="49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C998DC0-8532-4BEA-C7D0-2FA25AB964C5}"/>
              </a:ext>
            </a:extLst>
          </p:cNvPr>
          <p:cNvSpPr txBox="1"/>
          <p:nvPr/>
        </p:nvSpPr>
        <p:spPr>
          <a:xfrm>
            <a:off x="8951909" y="4133003"/>
            <a:ext cx="733287" cy="25391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sv-SE" sz="1050">
                <a:latin typeface="Consolas" panose="020B0609020204030204" pitchFamily="49" charset="0"/>
              </a:rPr>
              <a:t>0xCC</a:t>
            </a:r>
            <a:endParaRPr lang="LID4096" sz="1050">
              <a:latin typeface="Consolas" panose="020B0609020204030204" pitchFamily="49" charset="0"/>
            </a:endParaRP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2A879802-C7F8-77F7-BE45-FC1B5532C46D}"/>
              </a:ext>
            </a:extLst>
          </p:cNvPr>
          <p:cNvGrpSpPr/>
          <p:nvPr/>
        </p:nvGrpSpPr>
        <p:grpSpPr>
          <a:xfrm>
            <a:off x="6487236" y="3865556"/>
            <a:ext cx="3199105" cy="273012"/>
            <a:chOff x="6487236" y="3865556"/>
            <a:chExt cx="3199105" cy="273012"/>
          </a:xfrm>
        </p:grpSpPr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0A4D963B-9488-9DD8-5169-2C151B694BD0}"/>
                </a:ext>
              </a:extLst>
            </p:cNvPr>
            <p:cNvSpPr txBox="1"/>
            <p:nvPr/>
          </p:nvSpPr>
          <p:spPr>
            <a:xfrm>
              <a:off x="6487236" y="3876958"/>
              <a:ext cx="1559641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sv-SE" sz="1100" b="1"/>
                <a:t>ptr_to_a: </a:t>
              </a:r>
              <a:r>
                <a:rPr lang="sv-SE" sz="1100"/>
                <a:t>0x20000104</a:t>
              </a:r>
              <a:endParaRPr lang="LID4096" sz="1100"/>
            </a:p>
          </p:txBody>
        </p: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9BFB5F9B-4958-2936-9E8B-D048DEF95B89}"/>
                </a:ext>
              </a:extLst>
            </p:cNvPr>
            <p:cNvGrpSpPr/>
            <p:nvPr/>
          </p:nvGrpSpPr>
          <p:grpSpPr>
            <a:xfrm>
              <a:off x="8016765" y="3865556"/>
              <a:ext cx="1669576" cy="262518"/>
              <a:chOff x="8014480" y="4127166"/>
              <a:chExt cx="1669576" cy="262518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40D0D04F-AC90-94DD-4E4A-83F3AD78DEB0}"/>
                  </a:ext>
                </a:extLst>
              </p:cNvPr>
              <p:cNvSpPr/>
              <p:nvPr/>
            </p:nvSpPr>
            <p:spPr>
              <a:xfrm>
                <a:off x="8014480" y="4127166"/>
                <a:ext cx="1669576" cy="261610"/>
              </a:xfrm>
              <a:prstGeom prst="rect">
                <a:avLst/>
              </a:prstGeom>
              <a:noFill/>
              <a:ln>
                <a:prstDash val="solid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7053E5E7-344A-5CF0-F54C-4C34CE1CAF25}"/>
                  </a:ext>
                </a:extLst>
              </p:cNvPr>
              <p:cNvSpPr txBox="1"/>
              <p:nvPr/>
            </p:nvSpPr>
            <p:spPr>
              <a:xfrm>
                <a:off x="8403182" y="4135768"/>
                <a:ext cx="922047" cy="25391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sv-SE" sz="1050">
                    <a:latin typeface="Consolas" panose="020B0609020204030204" pitchFamily="49" charset="0"/>
                  </a:rPr>
                  <a:t>0x20000100</a:t>
                </a:r>
                <a:endParaRPr lang="LID4096" sz="1050">
                  <a:latin typeface="Consolas" panose="020B0609020204030204" pitchFamily="49" charset="0"/>
                </a:endParaRPr>
              </a:p>
            </p:txBody>
          </p:sp>
        </p:grpSp>
      </p:grpSp>
      <p:sp>
        <p:nvSpPr>
          <p:cNvPr id="32" name="TextBox 31">
            <a:extLst>
              <a:ext uri="{FF2B5EF4-FFF2-40B4-BE49-F238E27FC236}">
                <a16:creationId xmlns:a16="http://schemas.microsoft.com/office/drawing/2014/main" id="{BB995C2E-C1C0-5D83-8DA6-5DEF1E94227E}"/>
              </a:ext>
            </a:extLst>
          </p:cNvPr>
          <p:cNvSpPr txBox="1"/>
          <p:nvPr/>
        </p:nvSpPr>
        <p:spPr>
          <a:xfrm>
            <a:off x="6930522" y="4214972"/>
            <a:ext cx="112394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sv-SE" sz="1100" b="1"/>
              <a:t>b: </a:t>
            </a:r>
            <a:r>
              <a:rPr lang="sv-SE" sz="1100"/>
              <a:t>0x20000102</a:t>
            </a:r>
            <a:endParaRPr lang="LID4096" sz="110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9807830F-CDFD-BAD8-0791-F36356EAAE36}"/>
              </a:ext>
            </a:extLst>
          </p:cNvPr>
          <p:cNvSpPr/>
          <p:nvPr/>
        </p:nvSpPr>
        <p:spPr>
          <a:xfrm>
            <a:off x="8016765" y="4132095"/>
            <a:ext cx="470471" cy="25482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9D7BD17B-0D8B-066A-6266-4AFD877DAB93}"/>
              </a:ext>
            </a:extLst>
          </p:cNvPr>
          <p:cNvGrpSpPr/>
          <p:nvPr/>
        </p:nvGrpSpPr>
        <p:grpSpPr>
          <a:xfrm>
            <a:off x="6490333" y="3601179"/>
            <a:ext cx="3199105" cy="273012"/>
            <a:chOff x="6490333" y="3601179"/>
            <a:chExt cx="3199105" cy="273012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5D2FD8C0-6B93-88EF-94C8-E929D926171D}"/>
                </a:ext>
              </a:extLst>
            </p:cNvPr>
            <p:cNvSpPr txBox="1"/>
            <p:nvPr/>
          </p:nvSpPr>
          <p:spPr>
            <a:xfrm>
              <a:off x="6490333" y="3612581"/>
              <a:ext cx="1559641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sv-SE" sz="1100" b="1"/>
                <a:t>ptr_to_b: </a:t>
              </a:r>
              <a:r>
                <a:rPr lang="sv-SE" sz="1100"/>
                <a:t>0x20000108</a:t>
              </a:r>
              <a:endParaRPr lang="LID4096" sz="1100"/>
            </a:p>
          </p:txBody>
        </p:sp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DE3DF233-9A24-967A-F4DB-DAA6C8750756}"/>
                </a:ext>
              </a:extLst>
            </p:cNvPr>
            <p:cNvGrpSpPr/>
            <p:nvPr/>
          </p:nvGrpSpPr>
          <p:grpSpPr>
            <a:xfrm>
              <a:off x="8019862" y="3601179"/>
              <a:ext cx="1669576" cy="262518"/>
              <a:chOff x="8014480" y="4127166"/>
              <a:chExt cx="1669576" cy="262518"/>
            </a:xfrm>
          </p:grpSpPr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34C9ECD8-5818-F772-4847-65DA765BF8AA}"/>
                  </a:ext>
                </a:extLst>
              </p:cNvPr>
              <p:cNvSpPr/>
              <p:nvPr/>
            </p:nvSpPr>
            <p:spPr>
              <a:xfrm>
                <a:off x="8014480" y="4127166"/>
                <a:ext cx="1669576" cy="261610"/>
              </a:xfrm>
              <a:prstGeom prst="rect">
                <a:avLst/>
              </a:prstGeom>
              <a:noFill/>
              <a:ln>
                <a:prstDash val="solid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89616979-8A41-E899-6C0A-572CF0724284}"/>
                  </a:ext>
                </a:extLst>
              </p:cNvPr>
              <p:cNvSpPr txBox="1"/>
              <p:nvPr/>
            </p:nvSpPr>
            <p:spPr>
              <a:xfrm>
                <a:off x="8403182" y="4135768"/>
                <a:ext cx="922047" cy="25391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sv-SE" sz="1050">
                    <a:latin typeface="Consolas" panose="020B0609020204030204" pitchFamily="49" charset="0"/>
                  </a:rPr>
                  <a:t>0x20000102</a:t>
                </a:r>
                <a:endParaRPr lang="LID4096" sz="1050">
                  <a:latin typeface="Consolas" panose="020B0609020204030204" pitchFamily="49" charset="0"/>
                </a:endParaRPr>
              </a:p>
            </p:txBody>
          </p:sp>
        </p:grp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3118E654-E771-A304-05E5-819F0B4F56D2}"/>
              </a:ext>
            </a:extLst>
          </p:cNvPr>
          <p:cNvSpPr txBox="1"/>
          <p:nvPr/>
        </p:nvSpPr>
        <p:spPr>
          <a:xfrm>
            <a:off x="8024374" y="2297482"/>
            <a:ext cx="510026" cy="25391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sv-SE" sz="1050">
                <a:latin typeface="Consolas" panose="020B0609020204030204" pitchFamily="49" charset="0"/>
              </a:rPr>
              <a:t>0xCC</a:t>
            </a:r>
            <a:endParaRPr lang="LID4096" sz="1050">
              <a:latin typeface="Consolas" panose="020B0609020204030204" pitchFamily="49" charset="0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7B380DE-C353-7FCF-9AA6-5A9A0F477131}"/>
              </a:ext>
            </a:extLst>
          </p:cNvPr>
          <p:cNvSpPr txBox="1"/>
          <p:nvPr/>
        </p:nvSpPr>
        <p:spPr>
          <a:xfrm>
            <a:off x="6739944" y="2246242"/>
            <a:ext cx="131452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sv-SE" sz="1100" b="1"/>
              <a:t>c: </a:t>
            </a:r>
            <a:r>
              <a:rPr lang="sv-SE" sz="1100"/>
              <a:t>0x2001FFFF</a:t>
            </a:r>
            <a:endParaRPr lang="LID4096" sz="110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858ECD67-15F5-0FCD-1218-51AA0106332B}"/>
              </a:ext>
            </a:extLst>
          </p:cNvPr>
          <p:cNvSpPr/>
          <p:nvPr/>
        </p:nvSpPr>
        <p:spPr>
          <a:xfrm>
            <a:off x="8534400" y="2296575"/>
            <a:ext cx="1150796" cy="25482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18478855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8417139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2D0A5F-D280-614B-973D-C0C3FB1C97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159663-101C-E2B9-5973-F0BF584781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Hur skriver vi till ett peripheral register i C? </a:t>
            </a:r>
            <a:endParaRPr lang="LID4096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B0DBDB1-A30B-54CF-03E7-4E0D55719D76}"/>
              </a:ext>
            </a:extLst>
          </p:cNvPr>
          <p:cNvSpPr txBox="1"/>
          <p:nvPr/>
        </p:nvSpPr>
        <p:spPr>
          <a:xfrm>
            <a:off x="5932802" y="1951672"/>
            <a:ext cx="6102438" cy="2954655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sz="1200">
                <a:solidFill>
                  <a:srgbClr val="569CD6"/>
                </a:solidFill>
                <a:latin typeface="Consolas" panose="020B0609020204030204" pitchFamily="49" charset="0"/>
              </a:rPr>
              <a:t>.equ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GPIO_D_CFGLR, </a:t>
            </a:r>
            <a:r>
              <a:rPr lang="en-GB" sz="1200">
                <a:solidFill>
                  <a:srgbClr val="B5CEA8"/>
                </a:solidFill>
                <a:latin typeface="Consolas" panose="020B0609020204030204" pitchFamily="49" charset="0"/>
              </a:rPr>
              <a:t>0x40011400</a:t>
            </a: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en-GB" sz="1200">
                <a:solidFill>
                  <a:srgbClr val="569CD6"/>
                </a:solidFill>
                <a:latin typeface="Consolas" panose="020B0609020204030204" pitchFamily="49" charset="0"/>
              </a:rPr>
              <a:t>.equ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GPIO_D_OUTDR, </a:t>
            </a:r>
            <a:r>
              <a:rPr lang="en-GB" sz="1200">
                <a:solidFill>
                  <a:srgbClr val="B5CEA8"/>
                </a:solidFill>
                <a:latin typeface="Consolas" panose="020B0609020204030204" pitchFamily="49" charset="0"/>
              </a:rPr>
              <a:t>0x4001140C</a:t>
            </a: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GB" sz="1200">
                <a:solidFill>
                  <a:srgbClr val="DCDCAA"/>
                </a:solidFill>
                <a:latin typeface="Consolas" panose="020B0609020204030204" pitchFamily="49" charset="0"/>
              </a:rPr>
              <a:t>main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GB" sz="1200">
                <a:solidFill>
                  <a:srgbClr val="6A9955"/>
                </a:solidFill>
                <a:latin typeface="Consolas" panose="020B0609020204030204" pitchFamily="49" charset="0"/>
              </a:rPr>
              <a:t># Configure GPIO D, pin 2 as output, 2Mhz, push-pull </a:t>
            </a: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GB" sz="1200">
                <a:solidFill>
                  <a:srgbClr val="DCDCAA"/>
                </a:solidFill>
                <a:latin typeface="Consolas" panose="020B0609020204030204" pitchFamily="49" charset="0"/>
              </a:rPr>
              <a:t>la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9CDCFE"/>
                </a:solidFill>
                <a:latin typeface="Consolas" panose="020B0609020204030204" pitchFamily="49" charset="0"/>
              </a:rPr>
              <a:t>t0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, GPIO_D_CFGLR</a:t>
            </a:r>
          </a:p>
          <a:p>
            <a:pPr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GB" sz="1200">
                <a:solidFill>
                  <a:srgbClr val="DCDCAA"/>
                </a:solidFill>
                <a:latin typeface="Consolas" panose="020B0609020204030204" pitchFamily="49" charset="0"/>
              </a:rPr>
              <a:t>li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9CDCFE"/>
                </a:solidFill>
                <a:latin typeface="Consolas" panose="020B0609020204030204" pitchFamily="49" charset="0"/>
              </a:rPr>
              <a:t>t1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GB" sz="1200">
                <a:solidFill>
                  <a:srgbClr val="B5CEA8"/>
                </a:solidFill>
                <a:latin typeface="Consolas" panose="020B0609020204030204" pitchFamily="49" charset="0"/>
              </a:rPr>
              <a:t>0x00000200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 </a:t>
            </a:r>
            <a:r>
              <a:rPr lang="en-GB" sz="1200">
                <a:solidFill>
                  <a:srgbClr val="6A9955"/>
                </a:solidFill>
                <a:latin typeface="Consolas" panose="020B0609020204030204" pitchFamily="49" charset="0"/>
              </a:rPr>
              <a:t># Set lower 8 pins as output push-pull</a:t>
            </a: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GB" sz="1200">
                <a:solidFill>
                  <a:srgbClr val="DCDCAA"/>
                </a:solidFill>
                <a:latin typeface="Consolas" panose="020B0609020204030204" pitchFamily="49" charset="0"/>
              </a:rPr>
              <a:t>sw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9CDCFE"/>
                </a:solidFill>
                <a:latin typeface="Consolas" panose="020B0609020204030204" pitchFamily="49" charset="0"/>
              </a:rPr>
              <a:t>t1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GB" sz="1200">
                <a:solidFill>
                  <a:srgbClr val="B5CEA8"/>
                </a:solidFill>
                <a:latin typeface="Consolas" panose="020B0609020204030204" pitchFamily="49" charset="0"/>
              </a:rPr>
              <a:t>0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GB" sz="1200">
                <a:solidFill>
                  <a:srgbClr val="9CDCFE"/>
                </a:solidFill>
                <a:latin typeface="Consolas" panose="020B0609020204030204" pitchFamily="49" charset="0"/>
              </a:rPr>
              <a:t>t0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)</a:t>
            </a:r>
            <a:b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</a:br>
            <a:b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</a:b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GB" sz="1200">
                <a:solidFill>
                  <a:srgbClr val="6A9955"/>
                </a:solidFill>
                <a:latin typeface="Consolas" panose="020B0609020204030204" pitchFamily="49" charset="0"/>
              </a:rPr>
              <a:t># Skriv 1 till pin 2</a:t>
            </a: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GB" sz="1200">
                <a:solidFill>
                  <a:srgbClr val="DCDCAA"/>
                </a:solidFill>
                <a:latin typeface="Consolas" panose="020B0609020204030204" pitchFamily="49" charset="0"/>
              </a:rPr>
              <a:t>la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9CDCFE"/>
                </a:solidFill>
                <a:latin typeface="Consolas" panose="020B0609020204030204" pitchFamily="49" charset="0"/>
              </a:rPr>
              <a:t>t0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, GPIO_D_OUTDR</a:t>
            </a:r>
          </a:p>
          <a:p>
            <a:pPr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GB" sz="1200">
                <a:solidFill>
                  <a:srgbClr val="DCDCAA"/>
                </a:solidFill>
                <a:latin typeface="Consolas" panose="020B0609020204030204" pitchFamily="49" charset="0"/>
              </a:rPr>
              <a:t>lh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9CDCFE"/>
                </a:solidFill>
                <a:latin typeface="Consolas" panose="020B0609020204030204" pitchFamily="49" charset="0"/>
              </a:rPr>
              <a:t>t1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GB" sz="1200">
                <a:solidFill>
                  <a:srgbClr val="B5CEA8"/>
                </a:solidFill>
                <a:latin typeface="Consolas" panose="020B0609020204030204" pitchFamily="49" charset="0"/>
              </a:rPr>
              <a:t>0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GB" sz="1200">
                <a:solidFill>
                  <a:srgbClr val="9CDCFE"/>
                </a:solidFill>
                <a:latin typeface="Consolas" panose="020B0609020204030204" pitchFamily="49" charset="0"/>
              </a:rPr>
              <a:t>t0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) </a:t>
            </a:r>
            <a:r>
              <a:rPr lang="en-GB" sz="1200">
                <a:solidFill>
                  <a:srgbClr val="6A9955"/>
                </a:solidFill>
                <a:latin typeface="Consolas" panose="020B0609020204030204" pitchFamily="49" charset="0"/>
              </a:rPr>
              <a:t># Läs nuvarande värde</a:t>
            </a: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GB" sz="1200">
                <a:solidFill>
                  <a:srgbClr val="DCDCAA"/>
                </a:solidFill>
                <a:latin typeface="Consolas" panose="020B0609020204030204" pitchFamily="49" charset="0"/>
              </a:rPr>
              <a:t>ori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9CDCFE"/>
                </a:solidFill>
                <a:latin typeface="Consolas" panose="020B0609020204030204" pitchFamily="49" charset="0"/>
              </a:rPr>
              <a:t>t1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GB" sz="1200">
                <a:solidFill>
                  <a:srgbClr val="9CDCFE"/>
                </a:solidFill>
                <a:latin typeface="Consolas" panose="020B0609020204030204" pitchFamily="49" charset="0"/>
              </a:rPr>
              <a:t>t1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, 0b100 </a:t>
            </a:r>
            <a:r>
              <a:rPr lang="en-GB" sz="1200">
                <a:solidFill>
                  <a:srgbClr val="6A9955"/>
                </a:solidFill>
                <a:latin typeface="Consolas" panose="020B0609020204030204" pitchFamily="49" charset="0"/>
              </a:rPr>
              <a:t># Sätt bit 2</a:t>
            </a: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GB" sz="1200">
                <a:solidFill>
                  <a:srgbClr val="DCDCAA"/>
                </a:solidFill>
                <a:latin typeface="Consolas" panose="020B0609020204030204" pitchFamily="49" charset="0"/>
              </a:rPr>
              <a:t>sh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9CDCFE"/>
                </a:solidFill>
                <a:latin typeface="Consolas" panose="020B0609020204030204" pitchFamily="49" charset="0"/>
              </a:rPr>
              <a:t>t1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GB" sz="1200">
                <a:solidFill>
                  <a:srgbClr val="B5CEA8"/>
                </a:solidFill>
                <a:latin typeface="Consolas" panose="020B0609020204030204" pitchFamily="49" charset="0"/>
              </a:rPr>
              <a:t>0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GB" sz="1200">
                <a:solidFill>
                  <a:srgbClr val="9CDCFE"/>
                </a:solidFill>
                <a:latin typeface="Consolas" panose="020B0609020204030204" pitchFamily="49" charset="0"/>
              </a:rPr>
              <a:t>t0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) </a:t>
            </a:r>
            <a:r>
              <a:rPr lang="en-GB" sz="1200">
                <a:solidFill>
                  <a:srgbClr val="6A9955"/>
                </a:solidFill>
                <a:latin typeface="Consolas" panose="020B0609020204030204" pitchFamily="49" charset="0"/>
              </a:rPr>
              <a:t># Skriv tillbaka</a:t>
            </a: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40BFD56-0BA6-7C5E-C061-D94AF19C9B73}"/>
              </a:ext>
            </a:extLst>
          </p:cNvPr>
          <p:cNvSpPr txBox="1"/>
          <p:nvPr/>
        </p:nvSpPr>
        <p:spPr>
          <a:xfrm>
            <a:off x="444256" y="2948369"/>
            <a:ext cx="5595936" cy="2067233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GB" sz="12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200" b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&lt;stdio.h&gt;</a:t>
            </a:r>
            <a:endParaRPr lang="en-GB" sz="12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GB" sz="12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200" b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&lt;stdint.h&gt;</a:t>
            </a:r>
            <a:endParaRPr lang="en-GB" sz="12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b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en-GB" sz="12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2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sz="12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lnSpc>
                <a:spcPts val="1425"/>
              </a:lnSpc>
              <a:buNone/>
            </a:pPr>
            <a:r>
              <a:rPr lang="sv-SE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sv-SE" sz="1200" b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Vi vill skriva värdet 0x00000200 till address 0x40011400</a:t>
            </a:r>
            <a:endParaRPr lang="sv-SE" sz="12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sv-SE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sv-SE" sz="12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uint32_t</a:t>
            </a:r>
            <a:r>
              <a:rPr lang="sv-SE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sv-SE" sz="120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sv-SE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sv-SE" sz="12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ptr</a:t>
            </a:r>
            <a:r>
              <a:rPr lang="sv-SE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sv-SE" sz="120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sv-SE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sv-SE" sz="120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0x40011400</a:t>
            </a:r>
            <a:r>
              <a:rPr lang="sv-SE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lnSpc>
                <a:spcPts val="1425"/>
              </a:lnSpc>
              <a:buNone/>
            </a:pPr>
            <a:b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en-GB" sz="12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28C70F2-3B6C-123C-5556-8A8238B1B0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1995" y="4784122"/>
            <a:ext cx="10374173" cy="6382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24667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940668-DAF6-FAAD-DECE-C3AEBB78F3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3AB3BE-F2D6-30E0-6157-0A7929A1DF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Hur skriver vi till ett peripheral register i C? </a:t>
            </a:r>
            <a:endParaRPr lang="LID4096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387CD43-4017-00F4-022A-A80750E4BECB}"/>
              </a:ext>
            </a:extLst>
          </p:cNvPr>
          <p:cNvSpPr txBox="1"/>
          <p:nvPr/>
        </p:nvSpPr>
        <p:spPr>
          <a:xfrm>
            <a:off x="5932802" y="1951672"/>
            <a:ext cx="6102438" cy="2954655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sz="1200">
                <a:solidFill>
                  <a:srgbClr val="569CD6"/>
                </a:solidFill>
                <a:latin typeface="Consolas" panose="020B0609020204030204" pitchFamily="49" charset="0"/>
              </a:rPr>
              <a:t>.equ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GPIO_D_CFGLR, </a:t>
            </a:r>
            <a:r>
              <a:rPr lang="en-GB" sz="1200">
                <a:solidFill>
                  <a:srgbClr val="B5CEA8"/>
                </a:solidFill>
                <a:latin typeface="Consolas" panose="020B0609020204030204" pitchFamily="49" charset="0"/>
              </a:rPr>
              <a:t>0x40011400</a:t>
            </a: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en-GB" sz="1200">
                <a:solidFill>
                  <a:srgbClr val="569CD6"/>
                </a:solidFill>
                <a:latin typeface="Consolas" panose="020B0609020204030204" pitchFamily="49" charset="0"/>
              </a:rPr>
              <a:t>.equ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GPIO_D_OUTDR, </a:t>
            </a:r>
            <a:r>
              <a:rPr lang="en-GB" sz="1200">
                <a:solidFill>
                  <a:srgbClr val="B5CEA8"/>
                </a:solidFill>
                <a:latin typeface="Consolas" panose="020B0609020204030204" pitchFamily="49" charset="0"/>
              </a:rPr>
              <a:t>0x4001140C</a:t>
            </a: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GB" sz="1200">
                <a:solidFill>
                  <a:srgbClr val="DCDCAA"/>
                </a:solidFill>
                <a:latin typeface="Consolas" panose="020B0609020204030204" pitchFamily="49" charset="0"/>
              </a:rPr>
              <a:t>main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GB" sz="1200">
                <a:solidFill>
                  <a:srgbClr val="6A9955"/>
                </a:solidFill>
                <a:latin typeface="Consolas" panose="020B0609020204030204" pitchFamily="49" charset="0"/>
              </a:rPr>
              <a:t># Configure GPIO D, pin 2 as output, 2Mhz, push-pull </a:t>
            </a: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GB" sz="1200">
                <a:solidFill>
                  <a:srgbClr val="DCDCAA"/>
                </a:solidFill>
                <a:latin typeface="Consolas" panose="020B0609020204030204" pitchFamily="49" charset="0"/>
              </a:rPr>
              <a:t>la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9CDCFE"/>
                </a:solidFill>
                <a:latin typeface="Consolas" panose="020B0609020204030204" pitchFamily="49" charset="0"/>
              </a:rPr>
              <a:t>t0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, GPIO_D_CFGLR</a:t>
            </a:r>
          </a:p>
          <a:p>
            <a:pPr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GB" sz="1200">
                <a:solidFill>
                  <a:srgbClr val="DCDCAA"/>
                </a:solidFill>
                <a:latin typeface="Consolas" panose="020B0609020204030204" pitchFamily="49" charset="0"/>
              </a:rPr>
              <a:t>li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9CDCFE"/>
                </a:solidFill>
                <a:latin typeface="Consolas" panose="020B0609020204030204" pitchFamily="49" charset="0"/>
              </a:rPr>
              <a:t>t1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GB" sz="1200">
                <a:solidFill>
                  <a:srgbClr val="B5CEA8"/>
                </a:solidFill>
                <a:latin typeface="Consolas" panose="020B0609020204030204" pitchFamily="49" charset="0"/>
              </a:rPr>
              <a:t>0x00000200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 </a:t>
            </a:r>
            <a:r>
              <a:rPr lang="en-GB" sz="1200">
                <a:solidFill>
                  <a:srgbClr val="6A9955"/>
                </a:solidFill>
                <a:latin typeface="Consolas" panose="020B0609020204030204" pitchFamily="49" charset="0"/>
              </a:rPr>
              <a:t># Set lower 8 pins as output push-pull</a:t>
            </a: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GB" sz="1200">
                <a:solidFill>
                  <a:srgbClr val="DCDCAA"/>
                </a:solidFill>
                <a:latin typeface="Consolas" panose="020B0609020204030204" pitchFamily="49" charset="0"/>
              </a:rPr>
              <a:t>sw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9CDCFE"/>
                </a:solidFill>
                <a:latin typeface="Consolas" panose="020B0609020204030204" pitchFamily="49" charset="0"/>
              </a:rPr>
              <a:t>t1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GB" sz="1200">
                <a:solidFill>
                  <a:srgbClr val="B5CEA8"/>
                </a:solidFill>
                <a:latin typeface="Consolas" panose="020B0609020204030204" pitchFamily="49" charset="0"/>
              </a:rPr>
              <a:t>0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GB" sz="1200">
                <a:solidFill>
                  <a:srgbClr val="9CDCFE"/>
                </a:solidFill>
                <a:latin typeface="Consolas" panose="020B0609020204030204" pitchFamily="49" charset="0"/>
              </a:rPr>
              <a:t>t0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)</a:t>
            </a:r>
            <a:b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</a:br>
            <a:b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</a:b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GB" sz="1200">
                <a:solidFill>
                  <a:srgbClr val="6A9955"/>
                </a:solidFill>
                <a:latin typeface="Consolas" panose="020B0609020204030204" pitchFamily="49" charset="0"/>
              </a:rPr>
              <a:t># Skriv 1 till pin 2</a:t>
            </a: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GB" sz="1200">
                <a:solidFill>
                  <a:srgbClr val="DCDCAA"/>
                </a:solidFill>
                <a:latin typeface="Consolas" panose="020B0609020204030204" pitchFamily="49" charset="0"/>
              </a:rPr>
              <a:t>la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9CDCFE"/>
                </a:solidFill>
                <a:latin typeface="Consolas" panose="020B0609020204030204" pitchFamily="49" charset="0"/>
              </a:rPr>
              <a:t>t0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, GPIO_D_OUTDR</a:t>
            </a:r>
          </a:p>
          <a:p>
            <a:pPr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GB" sz="1200">
                <a:solidFill>
                  <a:srgbClr val="DCDCAA"/>
                </a:solidFill>
                <a:latin typeface="Consolas" panose="020B0609020204030204" pitchFamily="49" charset="0"/>
              </a:rPr>
              <a:t>lh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9CDCFE"/>
                </a:solidFill>
                <a:latin typeface="Consolas" panose="020B0609020204030204" pitchFamily="49" charset="0"/>
              </a:rPr>
              <a:t>t1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GB" sz="1200">
                <a:solidFill>
                  <a:srgbClr val="B5CEA8"/>
                </a:solidFill>
                <a:latin typeface="Consolas" panose="020B0609020204030204" pitchFamily="49" charset="0"/>
              </a:rPr>
              <a:t>0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GB" sz="1200">
                <a:solidFill>
                  <a:srgbClr val="9CDCFE"/>
                </a:solidFill>
                <a:latin typeface="Consolas" panose="020B0609020204030204" pitchFamily="49" charset="0"/>
              </a:rPr>
              <a:t>t0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) </a:t>
            </a:r>
            <a:r>
              <a:rPr lang="en-GB" sz="1200">
                <a:solidFill>
                  <a:srgbClr val="6A9955"/>
                </a:solidFill>
                <a:latin typeface="Consolas" panose="020B0609020204030204" pitchFamily="49" charset="0"/>
              </a:rPr>
              <a:t># Läs nuvarande värde</a:t>
            </a: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GB" sz="1200">
                <a:solidFill>
                  <a:srgbClr val="DCDCAA"/>
                </a:solidFill>
                <a:latin typeface="Consolas" panose="020B0609020204030204" pitchFamily="49" charset="0"/>
              </a:rPr>
              <a:t>ori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9CDCFE"/>
                </a:solidFill>
                <a:latin typeface="Consolas" panose="020B0609020204030204" pitchFamily="49" charset="0"/>
              </a:rPr>
              <a:t>t1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GB" sz="1200">
                <a:solidFill>
                  <a:srgbClr val="9CDCFE"/>
                </a:solidFill>
                <a:latin typeface="Consolas" panose="020B0609020204030204" pitchFamily="49" charset="0"/>
              </a:rPr>
              <a:t>t1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, 0b100 </a:t>
            </a:r>
            <a:r>
              <a:rPr lang="en-GB" sz="1200">
                <a:solidFill>
                  <a:srgbClr val="6A9955"/>
                </a:solidFill>
                <a:latin typeface="Consolas" panose="020B0609020204030204" pitchFamily="49" charset="0"/>
              </a:rPr>
              <a:t># Sätt bit 2</a:t>
            </a: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GB" sz="1200">
                <a:solidFill>
                  <a:srgbClr val="DCDCAA"/>
                </a:solidFill>
                <a:latin typeface="Consolas" panose="020B0609020204030204" pitchFamily="49" charset="0"/>
              </a:rPr>
              <a:t>sh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9CDCFE"/>
                </a:solidFill>
                <a:latin typeface="Consolas" panose="020B0609020204030204" pitchFamily="49" charset="0"/>
              </a:rPr>
              <a:t>t1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GB" sz="1200">
                <a:solidFill>
                  <a:srgbClr val="B5CEA8"/>
                </a:solidFill>
                <a:latin typeface="Consolas" panose="020B0609020204030204" pitchFamily="49" charset="0"/>
              </a:rPr>
              <a:t>0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GB" sz="1200">
                <a:solidFill>
                  <a:srgbClr val="9CDCFE"/>
                </a:solidFill>
                <a:latin typeface="Consolas" panose="020B0609020204030204" pitchFamily="49" charset="0"/>
              </a:rPr>
              <a:t>t0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) </a:t>
            </a:r>
            <a:r>
              <a:rPr lang="en-GB" sz="1200">
                <a:solidFill>
                  <a:srgbClr val="6A9955"/>
                </a:solidFill>
                <a:latin typeface="Consolas" panose="020B0609020204030204" pitchFamily="49" charset="0"/>
              </a:rPr>
              <a:t># Skriv tillbaka</a:t>
            </a: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3ED61F0-71E2-785D-2870-AD4611E1B84E}"/>
              </a:ext>
            </a:extLst>
          </p:cNvPr>
          <p:cNvSpPr txBox="1"/>
          <p:nvPr/>
        </p:nvSpPr>
        <p:spPr>
          <a:xfrm>
            <a:off x="444256" y="2948369"/>
            <a:ext cx="5595936" cy="2246769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GB" sz="1200">
                <a:solidFill>
                  <a:srgbClr val="C586C0"/>
                </a:solidFill>
                <a:latin typeface="Consolas" panose="020B0609020204030204" pitchFamily="49" charset="0"/>
              </a:rPr>
              <a:t>#include</a:t>
            </a:r>
            <a:r>
              <a:rPr lang="en-GB" sz="1200">
                <a:solidFill>
                  <a:srgbClr val="569CD6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CE9178"/>
                </a:solidFill>
                <a:latin typeface="Consolas" panose="020B0609020204030204" pitchFamily="49" charset="0"/>
              </a:rPr>
              <a:t>&lt;stdio.h&gt;</a:t>
            </a: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>
                <a:solidFill>
                  <a:srgbClr val="C586C0"/>
                </a:solidFill>
                <a:latin typeface="Consolas" panose="020B0609020204030204" pitchFamily="49" charset="0"/>
              </a:rPr>
              <a:t>#include</a:t>
            </a:r>
            <a:r>
              <a:rPr lang="en-GB" sz="1200">
                <a:solidFill>
                  <a:srgbClr val="569CD6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CE9178"/>
                </a:solidFill>
                <a:latin typeface="Consolas" panose="020B0609020204030204" pitchFamily="49" charset="0"/>
              </a:rPr>
              <a:t>&lt;stdint.h&gt;</a:t>
            </a: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b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</a:b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>
                <a:solidFill>
                  <a:srgbClr val="569CD6"/>
                </a:solidFill>
                <a:latin typeface="Consolas" panose="020B0609020204030204" pitchFamily="49" charset="0"/>
              </a:rPr>
              <a:t>int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DCDCAA"/>
                </a:solidFill>
                <a:latin typeface="Consolas" panose="020B0609020204030204" pitchFamily="49" charset="0"/>
              </a:rPr>
              <a:t>main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GB" sz="1200">
                <a:solidFill>
                  <a:srgbClr val="569CD6"/>
                </a:solidFill>
                <a:latin typeface="Consolas" panose="020B0609020204030204" pitchFamily="49" charset="0"/>
              </a:rPr>
              <a:t>void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{</a:t>
            </a:r>
          </a:p>
          <a:p>
            <a:pPr>
              <a:lnSpc>
                <a:spcPts val="1425"/>
              </a:lnSpc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GB" sz="1200">
                <a:solidFill>
                  <a:srgbClr val="6A9955"/>
                </a:solidFill>
                <a:latin typeface="Consolas" panose="020B0609020204030204" pitchFamily="49" charset="0"/>
              </a:rPr>
              <a:t>// Vi vill skriva värdet 0x00000200 till address 0x40011400</a:t>
            </a: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GB" sz="1200">
                <a:solidFill>
                  <a:srgbClr val="4EC9B0"/>
                </a:solidFill>
                <a:latin typeface="Consolas" panose="020B0609020204030204" pitchFamily="49" charset="0"/>
              </a:rPr>
              <a:t>uint32_t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D4D4D4"/>
                </a:solidFill>
                <a:latin typeface="Consolas" panose="020B0609020204030204" pitchFamily="49" charset="0"/>
              </a:rPr>
              <a:t>*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9CDCFE"/>
                </a:solidFill>
                <a:latin typeface="Consolas" panose="020B0609020204030204" pitchFamily="49" charset="0"/>
              </a:rPr>
              <a:t>ptr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(</a:t>
            </a:r>
            <a:r>
              <a:rPr lang="en-GB" sz="1200">
                <a:solidFill>
                  <a:srgbClr val="4EC9B0"/>
                </a:solidFill>
                <a:latin typeface="Consolas" panose="020B0609020204030204" pitchFamily="49" charset="0"/>
              </a:rPr>
              <a:t>uint32_t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D4D4D4"/>
                </a:solidFill>
                <a:latin typeface="Consolas" panose="020B0609020204030204" pitchFamily="49" charset="0"/>
              </a:rPr>
              <a:t>*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)</a:t>
            </a:r>
            <a:r>
              <a:rPr lang="en-GB" sz="1200">
                <a:solidFill>
                  <a:srgbClr val="B5CEA8"/>
                </a:solidFill>
                <a:latin typeface="Consolas" panose="020B0609020204030204" pitchFamily="49" charset="0"/>
              </a:rPr>
              <a:t>0x40011400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GB" sz="1200">
                <a:solidFill>
                  <a:srgbClr val="D4D4D4"/>
                </a:solidFill>
                <a:latin typeface="Consolas" panose="020B0609020204030204" pitchFamily="49" charset="0"/>
              </a:rPr>
              <a:t>*</a:t>
            </a:r>
            <a:r>
              <a:rPr lang="en-GB" sz="1200">
                <a:solidFill>
                  <a:srgbClr val="9CDCFE"/>
                </a:solidFill>
                <a:latin typeface="Consolas" panose="020B0609020204030204" pitchFamily="49" charset="0"/>
              </a:rPr>
              <a:t>ptr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B5CEA8"/>
                </a:solidFill>
                <a:latin typeface="Consolas" panose="020B0609020204030204" pitchFamily="49" charset="0"/>
              </a:rPr>
              <a:t>0x00000200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}</a:t>
            </a:r>
          </a:p>
          <a:p>
            <a:pPr>
              <a:lnSpc>
                <a:spcPts val="1425"/>
              </a:lnSpc>
              <a:buNone/>
            </a:pPr>
            <a:b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</a:b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79CB60B7-03D3-2680-0CD0-28FAF0533C6C}"/>
              </a:ext>
            </a:extLst>
          </p:cNvPr>
          <p:cNvGrpSpPr/>
          <p:nvPr/>
        </p:nvGrpSpPr>
        <p:grpSpPr>
          <a:xfrm>
            <a:off x="606380" y="4417454"/>
            <a:ext cx="2130711" cy="504127"/>
            <a:chOff x="606380" y="4417454"/>
            <a:chExt cx="2130711" cy="504127"/>
          </a:xfrm>
        </p:grpSpPr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91D7DA73-F9CF-1300-544E-F97E30C83282}"/>
                </a:ext>
              </a:extLst>
            </p:cNvPr>
            <p:cNvSpPr/>
            <p:nvPr/>
          </p:nvSpPr>
          <p:spPr>
            <a:xfrm>
              <a:off x="838200" y="4417454"/>
              <a:ext cx="441101" cy="197476"/>
            </a:xfrm>
            <a:prstGeom prst="roundRect">
              <a:avLst/>
            </a:prstGeom>
            <a:noFill/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C3CE6C4D-6EB2-F2EF-ACB0-3F37E5D78845}"/>
                </a:ext>
              </a:extLst>
            </p:cNvPr>
            <p:cNvSpPr txBox="1"/>
            <p:nvPr/>
          </p:nvSpPr>
          <p:spPr>
            <a:xfrm>
              <a:off x="606380" y="4583027"/>
              <a:ext cx="2130711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800">
                  <a:solidFill>
                    <a:srgbClr val="FFC000"/>
                  </a:solidFill>
                </a:rPr>
                <a:t>Detta betyder nu:</a:t>
              </a:r>
              <a:br>
                <a:rPr lang="sv-SE" sz="800">
                  <a:solidFill>
                    <a:srgbClr val="FFC000"/>
                  </a:solidFill>
                </a:rPr>
              </a:br>
              <a:r>
                <a:rPr lang="sv-SE" sz="800">
                  <a:solidFill>
                    <a:srgbClr val="FFC000"/>
                  </a:solidFill>
                </a:rPr>
                <a:t>”En unsigned int på addressen 0x40011400”</a:t>
              </a:r>
              <a:endParaRPr lang="LID4096" sz="800">
                <a:solidFill>
                  <a:srgbClr val="FFC00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256687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DC2B0E-5D62-3167-615B-2EE25A1A5D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AB5C16-CCAF-B57B-E38A-A095F3EED9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Hur skriver vi till ett peripheral register i C? </a:t>
            </a:r>
            <a:endParaRPr lang="LID4096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FEBA062-CEF9-BF4B-19D7-8E81808854AB}"/>
              </a:ext>
            </a:extLst>
          </p:cNvPr>
          <p:cNvSpPr txBox="1"/>
          <p:nvPr/>
        </p:nvSpPr>
        <p:spPr>
          <a:xfrm>
            <a:off x="5932802" y="1951672"/>
            <a:ext cx="6102438" cy="2954655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sz="1200">
                <a:solidFill>
                  <a:srgbClr val="569CD6"/>
                </a:solidFill>
                <a:latin typeface="Consolas" panose="020B0609020204030204" pitchFamily="49" charset="0"/>
              </a:rPr>
              <a:t>.equ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GPIO_D_CFGLR, </a:t>
            </a:r>
            <a:r>
              <a:rPr lang="en-GB" sz="1200">
                <a:solidFill>
                  <a:srgbClr val="B5CEA8"/>
                </a:solidFill>
                <a:latin typeface="Consolas" panose="020B0609020204030204" pitchFamily="49" charset="0"/>
              </a:rPr>
              <a:t>0x40011400</a:t>
            </a: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en-GB" sz="1200">
                <a:solidFill>
                  <a:srgbClr val="569CD6"/>
                </a:solidFill>
                <a:latin typeface="Consolas" panose="020B0609020204030204" pitchFamily="49" charset="0"/>
              </a:rPr>
              <a:t>.equ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GPIO_D_OUTDR, </a:t>
            </a:r>
            <a:r>
              <a:rPr lang="en-GB" sz="1200">
                <a:solidFill>
                  <a:srgbClr val="B5CEA8"/>
                </a:solidFill>
                <a:latin typeface="Consolas" panose="020B0609020204030204" pitchFamily="49" charset="0"/>
              </a:rPr>
              <a:t>0x4001140C</a:t>
            </a: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GB" sz="1200">
                <a:solidFill>
                  <a:srgbClr val="DCDCAA"/>
                </a:solidFill>
                <a:latin typeface="Consolas" panose="020B0609020204030204" pitchFamily="49" charset="0"/>
              </a:rPr>
              <a:t>main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GB" sz="1200">
                <a:solidFill>
                  <a:srgbClr val="6A9955"/>
                </a:solidFill>
                <a:latin typeface="Consolas" panose="020B0609020204030204" pitchFamily="49" charset="0"/>
              </a:rPr>
              <a:t># Configure GPIO D, pin 2 as output, 2Mhz, push-pull </a:t>
            </a: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GB" sz="1200">
                <a:solidFill>
                  <a:srgbClr val="DCDCAA"/>
                </a:solidFill>
                <a:latin typeface="Consolas" panose="020B0609020204030204" pitchFamily="49" charset="0"/>
              </a:rPr>
              <a:t>la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9CDCFE"/>
                </a:solidFill>
                <a:latin typeface="Consolas" panose="020B0609020204030204" pitchFamily="49" charset="0"/>
              </a:rPr>
              <a:t>t0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, GPIO_D_CFGLR</a:t>
            </a:r>
          </a:p>
          <a:p>
            <a:pPr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GB" sz="1200">
                <a:solidFill>
                  <a:srgbClr val="DCDCAA"/>
                </a:solidFill>
                <a:latin typeface="Consolas" panose="020B0609020204030204" pitchFamily="49" charset="0"/>
              </a:rPr>
              <a:t>li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9CDCFE"/>
                </a:solidFill>
                <a:latin typeface="Consolas" panose="020B0609020204030204" pitchFamily="49" charset="0"/>
              </a:rPr>
              <a:t>t1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GB" sz="1200">
                <a:solidFill>
                  <a:srgbClr val="B5CEA8"/>
                </a:solidFill>
                <a:latin typeface="Consolas" panose="020B0609020204030204" pitchFamily="49" charset="0"/>
              </a:rPr>
              <a:t>0x00000200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 </a:t>
            </a:r>
            <a:r>
              <a:rPr lang="en-GB" sz="1200">
                <a:solidFill>
                  <a:srgbClr val="6A9955"/>
                </a:solidFill>
                <a:latin typeface="Consolas" panose="020B0609020204030204" pitchFamily="49" charset="0"/>
              </a:rPr>
              <a:t># Set lower 8 pins as output push-pull</a:t>
            </a: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GB" sz="1200">
                <a:solidFill>
                  <a:srgbClr val="DCDCAA"/>
                </a:solidFill>
                <a:latin typeface="Consolas" panose="020B0609020204030204" pitchFamily="49" charset="0"/>
              </a:rPr>
              <a:t>sw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9CDCFE"/>
                </a:solidFill>
                <a:latin typeface="Consolas" panose="020B0609020204030204" pitchFamily="49" charset="0"/>
              </a:rPr>
              <a:t>t1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GB" sz="1200">
                <a:solidFill>
                  <a:srgbClr val="B5CEA8"/>
                </a:solidFill>
                <a:latin typeface="Consolas" panose="020B0609020204030204" pitchFamily="49" charset="0"/>
              </a:rPr>
              <a:t>0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GB" sz="1200">
                <a:solidFill>
                  <a:srgbClr val="9CDCFE"/>
                </a:solidFill>
                <a:latin typeface="Consolas" panose="020B0609020204030204" pitchFamily="49" charset="0"/>
              </a:rPr>
              <a:t>t0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)</a:t>
            </a:r>
            <a:b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</a:br>
            <a:b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</a:b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GB" sz="1200">
                <a:solidFill>
                  <a:srgbClr val="6A9955"/>
                </a:solidFill>
                <a:latin typeface="Consolas" panose="020B0609020204030204" pitchFamily="49" charset="0"/>
              </a:rPr>
              <a:t># Skriv 1 till pin 2</a:t>
            </a: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GB" sz="1200">
                <a:solidFill>
                  <a:srgbClr val="DCDCAA"/>
                </a:solidFill>
                <a:latin typeface="Consolas" panose="020B0609020204030204" pitchFamily="49" charset="0"/>
              </a:rPr>
              <a:t>la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9CDCFE"/>
                </a:solidFill>
                <a:latin typeface="Consolas" panose="020B0609020204030204" pitchFamily="49" charset="0"/>
              </a:rPr>
              <a:t>t0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, GPIO_D_OUTDR</a:t>
            </a:r>
          </a:p>
          <a:p>
            <a:pPr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GB" sz="1200">
                <a:solidFill>
                  <a:srgbClr val="DCDCAA"/>
                </a:solidFill>
                <a:latin typeface="Consolas" panose="020B0609020204030204" pitchFamily="49" charset="0"/>
              </a:rPr>
              <a:t>lh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9CDCFE"/>
                </a:solidFill>
                <a:latin typeface="Consolas" panose="020B0609020204030204" pitchFamily="49" charset="0"/>
              </a:rPr>
              <a:t>t1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GB" sz="1200">
                <a:solidFill>
                  <a:srgbClr val="B5CEA8"/>
                </a:solidFill>
                <a:latin typeface="Consolas" panose="020B0609020204030204" pitchFamily="49" charset="0"/>
              </a:rPr>
              <a:t>0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GB" sz="1200">
                <a:solidFill>
                  <a:srgbClr val="9CDCFE"/>
                </a:solidFill>
                <a:latin typeface="Consolas" panose="020B0609020204030204" pitchFamily="49" charset="0"/>
              </a:rPr>
              <a:t>t0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) </a:t>
            </a:r>
            <a:r>
              <a:rPr lang="en-GB" sz="1200">
                <a:solidFill>
                  <a:srgbClr val="6A9955"/>
                </a:solidFill>
                <a:latin typeface="Consolas" panose="020B0609020204030204" pitchFamily="49" charset="0"/>
              </a:rPr>
              <a:t># Läs nuvarande värde</a:t>
            </a: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GB" sz="1200">
                <a:solidFill>
                  <a:srgbClr val="DCDCAA"/>
                </a:solidFill>
                <a:latin typeface="Consolas" panose="020B0609020204030204" pitchFamily="49" charset="0"/>
              </a:rPr>
              <a:t>ori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9CDCFE"/>
                </a:solidFill>
                <a:latin typeface="Consolas" panose="020B0609020204030204" pitchFamily="49" charset="0"/>
              </a:rPr>
              <a:t>t1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GB" sz="1200">
                <a:solidFill>
                  <a:srgbClr val="9CDCFE"/>
                </a:solidFill>
                <a:latin typeface="Consolas" panose="020B0609020204030204" pitchFamily="49" charset="0"/>
              </a:rPr>
              <a:t>t1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, 0b100 </a:t>
            </a:r>
            <a:r>
              <a:rPr lang="en-GB" sz="1200">
                <a:solidFill>
                  <a:srgbClr val="6A9955"/>
                </a:solidFill>
                <a:latin typeface="Consolas" panose="020B0609020204030204" pitchFamily="49" charset="0"/>
              </a:rPr>
              <a:t># Sätt bit 2</a:t>
            </a: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GB" sz="1200">
                <a:solidFill>
                  <a:srgbClr val="DCDCAA"/>
                </a:solidFill>
                <a:latin typeface="Consolas" panose="020B0609020204030204" pitchFamily="49" charset="0"/>
              </a:rPr>
              <a:t>sh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9CDCFE"/>
                </a:solidFill>
                <a:latin typeface="Consolas" panose="020B0609020204030204" pitchFamily="49" charset="0"/>
              </a:rPr>
              <a:t>t1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GB" sz="1200">
                <a:solidFill>
                  <a:srgbClr val="B5CEA8"/>
                </a:solidFill>
                <a:latin typeface="Consolas" panose="020B0609020204030204" pitchFamily="49" charset="0"/>
              </a:rPr>
              <a:t>0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GB" sz="1200">
                <a:solidFill>
                  <a:srgbClr val="9CDCFE"/>
                </a:solidFill>
                <a:latin typeface="Consolas" panose="020B0609020204030204" pitchFamily="49" charset="0"/>
              </a:rPr>
              <a:t>t0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) </a:t>
            </a:r>
            <a:r>
              <a:rPr lang="en-GB" sz="1200">
                <a:solidFill>
                  <a:srgbClr val="6A9955"/>
                </a:solidFill>
                <a:latin typeface="Consolas" panose="020B0609020204030204" pitchFamily="49" charset="0"/>
              </a:rPr>
              <a:t># Skriv tillbaka</a:t>
            </a: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FCA1A7B-9F9E-FCDA-0A47-EDE71B6176AD}"/>
              </a:ext>
            </a:extLst>
          </p:cNvPr>
          <p:cNvSpPr txBox="1"/>
          <p:nvPr/>
        </p:nvSpPr>
        <p:spPr>
          <a:xfrm>
            <a:off x="238194" y="2450386"/>
            <a:ext cx="5595936" cy="3503523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GB" sz="1200">
                <a:solidFill>
                  <a:srgbClr val="C586C0"/>
                </a:solidFill>
                <a:latin typeface="Consolas" panose="020B0609020204030204" pitchFamily="49" charset="0"/>
              </a:rPr>
              <a:t>#define</a:t>
            </a:r>
            <a:r>
              <a:rPr lang="en-GB" sz="1200">
                <a:solidFill>
                  <a:srgbClr val="569CD6"/>
                </a:solidFill>
                <a:latin typeface="Consolas" panose="020B0609020204030204" pitchFamily="49" charset="0"/>
              </a:rPr>
              <a:t> GPIOD_CFGLR ((</a:t>
            </a:r>
            <a:r>
              <a:rPr lang="en-GB" sz="1200">
                <a:solidFill>
                  <a:srgbClr val="4EC9B0"/>
                </a:solidFill>
                <a:latin typeface="Consolas" panose="020B0609020204030204" pitchFamily="49" charset="0"/>
              </a:rPr>
              <a:t>uint32_t</a:t>
            </a:r>
            <a:r>
              <a:rPr lang="en-GB" sz="1200">
                <a:solidFill>
                  <a:srgbClr val="569CD6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D4D4D4"/>
                </a:solidFill>
                <a:latin typeface="Consolas" panose="020B0609020204030204" pitchFamily="49" charset="0"/>
              </a:rPr>
              <a:t>*</a:t>
            </a:r>
            <a:r>
              <a:rPr lang="en-GB" sz="1200">
                <a:solidFill>
                  <a:srgbClr val="569CD6"/>
                </a:solidFill>
                <a:latin typeface="Consolas" panose="020B0609020204030204" pitchFamily="49" charset="0"/>
              </a:rPr>
              <a:t>)</a:t>
            </a:r>
            <a:r>
              <a:rPr lang="en-GB" sz="1200">
                <a:solidFill>
                  <a:srgbClr val="B5CEA8"/>
                </a:solidFill>
                <a:latin typeface="Consolas" panose="020B0609020204030204" pitchFamily="49" charset="0"/>
              </a:rPr>
              <a:t>0x40011400</a:t>
            </a:r>
            <a:r>
              <a:rPr lang="en-GB" sz="1200">
                <a:solidFill>
                  <a:srgbClr val="569CD6"/>
                </a:solidFill>
                <a:latin typeface="Consolas" panose="020B0609020204030204" pitchFamily="49" charset="0"/>
              </a:rPr>
              <a:t>)</a:t>
            </a: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b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</a:b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>
                <a:solidFill>
                  <a:srgbClr val="569CD6"/>
                </a:solidFill>
                <a:latin typeface="Consolas" panose="020B0609020204030204" pitchFamily="49" charset="0"/>
              </a:rPr>
              <a:t>int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DCDCAA"/>
                </a:solidFill>
                <a:latin typeface="Consolas" panose="020B0609020204030204" pitchFamily="49" charset="0"/>
              </a:rPr>
              <a:t>main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GB" sz="1200">
                <a:solidFill>
                  <a:srgbClr val="569CD6"/>
                </a:solidFill>
                <a:latin typeface="Consolas" panose="020B0609020204030204" pitchFamily="49" charset="0"/>
              </a:rPr>
              <a:t>void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{</a:t>
            </a:r>
          </a:p>
          <a:p>
            <a:pPr>
              <a:lnSpc>
                <a:spcPts val="1425"/>
              </a:lnSpc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GB" sz="1200">
                <a:solidFill>
                  <a:srgbClr val="6A9955"/>
                </a:solidFill>
                <a:latin typeface="Consolas" panose="020B0609020204030204" pitchFamily="49" charset="0"/>
              </a:rPr>
              <a:t>// Vi vill skriva värdet 0x00000200 till address 0x40011400</a:t>
            </a: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GB" sz="1200">
                <a:solidFill>
                  <a:srgbClr val="4EC9B0"/>
                </a:solidFill>
                <a:latin typeface="Consolas" panose="020B0609020204030204" pitchFamily="49" charset="0"/>
              </a:rPr>
              <a:t>uint32_t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D4D4D4"/>
                </a:solidFill>
                <a:latin typeface="Consolas" panose="020B0609020204030204" pitchFamily="49" charset="0"/>
              </a:rPr>
              <a:t>*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9CDCFE"/>
                </a:solidFill>
                <a:latin typeface="Consolas" panose="020B0609020204030204" pitchFamily="49" charset="0"/>
              </a:rPr>
              <a:t>ptr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(</a:t>
            </a:r>
            <a:r>
              <a:rPr lang="en-GB" sz="1200">
                <a:solidFill>
                  <a:srgbClr val="4EC9B0"/>
                </a:solidFill>
                <a:latin typeface="Consolas" panose="020B0609020204030204" pitchFamily="49" charset="0"/>
              </a:rPr>
              <a:t>uint32_t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D4D4D4"/>
                </a:solidFill>
                <a:latin typeface="Consolas" panose="020B0609020204030204" pitchFamily="49" charset="0"/>
              </a:rPr>
              <a:t>*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)</a:t>
            </a:r>
            <a:r>
              <a:rPr lang="en-GB" sz="1200">
                <a:solidFill>
                  <a:srgbClr val="B5CEA8"/>
                </a:solidFill>
                <a:latin typeface="Consolas" panose="020B0609020204030204" pitchFamily="49" charset="0"/>
              </a:rPr>
              <a:t>0x40011400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GB" sz="1200">
                <a:solidFill>
                  <a:srgbClr val="D4D4D4"/>
                </a:solidFill>
                <a:latin typeface="Consolas" panose="020B0609020204030204" pitchFamily="49" charset="0"/>
              </a:rPr>
              <a:t>*</a:t>
            </a:r>
            <a:r>
              <a:rPr lang="en-GB" sz="1200">
                <a:solidFill>
                  <a:srgbClr val="9CDCFE"/>
                </a:solidFill>
                <a:latin typeface="Consolas" panose="020B0609020204030204" pitchFamily="49" charset="0"/>
              </a:rPr>
              <a:t>ptr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B5CEA8"/>
                </a:solidFill>
                <a:latin typeface="Consolas" panose="020B0609020204030204" pitchFamily="49" charset="0"/>
              </a:rPr>
              <a:t>0x00000200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b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</a:b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GB" sz="1200">
                <a:solidFill>
                  <a:srgbClr val="6A9955"/>
                </a:solidFill>
                <a:latin typeface="Consolas" panose="020B0609020204030204" pitchFamily="49" charset="0"/>
              </a:rPr>
              <a:t>// Vi kan göra detta utan att döpa pekaren: </a:t>
            </a: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GB" sz="1200">
                <a:solidFill>
                  <a:srgbClr val="D4D4D4"/>
                </a:solidFill>
                <a:latin typeface="Consolas" panose="020B0609020204030204" pitchFamily="49" charset="0"/>
              </a:rPr>
              <a:t>*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((</a:t>
            </a:r>
            <a:r>
              <a:rPr lang="en-GB" sz="1200">
                <a:solidFill>
                  <a:srgbClr val="4EC9B0"/>
                </a:solidFill>
                <a:latin typeface="Consolas" panose="020B0609020204030204" pitchFamily="49" charset="0"/>
              </a:rPr>
              <a:t>uint32_t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D4D4D4"/>
                </a:solidFill>
                <a:latin typeface="Consolas" panose="020B0609020204030204" pitchFamily="49" charset="0"/>
              </a:rPr>
              <a:t>*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)</a:t>
            </a:r>
            <a:r>
              <a:rPr lang="en-GB" sz="1200">
                <a:solidFill>
                  <a:srgbClr val="B5CEA8"/>
                </a:solidFill>
                <a:latin typeface="Consolas" panose="020B0609020204030204" pitchFamily="49" charset="0"/>
              </a:rPr>
              <a:t>0x40011400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) </a:t>
            </a:r>
            <a:r>
              <a:rPr lang="en-GB" sz="120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B5CEA8"/>
                </a:solidFill>
                <a:latin typeface="Consolas" panose="020B0609020204030204" pitchFamily="49" charset="0"/>
              </a:rPr>
              <a:t>0x00000200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b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</a:b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GB" sz="1200">
                <a:solidFill>
                  <a:srgbClr val="6A9955"/>
                </a:solidFill>
                <a:latin typeface="Consolas" panose="020B0609020204030204" pitchFamily="49" charset="0"/>
              </a:rPr>
              <a:t>// Och vi kan göre en define, som gör det enklare att läsa</a:t>
            </a: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GB" sz="1200">
                <a:solidFill>
                  <a:srgbClr val="D4D4D4"/>
                </a:solidFill>
                <a:latin typeface="Consolas" panose="020B0609020204030204" pitchFamily="49" charset="0"/>
              </a:rPr>
              <a:t>*</a:t>
            </a:r>
            <a:r>
              <a:rPr lang="en-GB" sz="1200">
                <a:solidFill>
                  <a:srgbClr val="569CD6"/>
                </a:solidFill>
                <a:latin typeface="Consolas" panose="020B0609020204030204" pitchFamily="49" charset="0"/>
              </a:rPr>
              <a:t>GPIOD_CFGLR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B5CEA8"/>
                </a:solidFill>
                <a:latin typeface="Consolas" panose="020B0609020204030204" pitchFamily="49" charset="0"/>
              </a:rPr>
              <a:t>0x00000200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}</a:t>
            </a:r>
          </a:p>
          <a:p>
            <a:pPr>
              <a:lnSpc>
                <a:spcPts val="1425"/>
              </a:lnSpc>
              <a:buNone/>
            </a:pPr>
            <a:b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</a:b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393545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B7B665-7DB8-D077-AD74-D5DBDC939C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1F804F-6EBB-9E78-8D05-FB0161B1E9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Hur läser vi? </a:t>
            </a:r>
            <a:endParaRPr lang="LID4096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EB67169-C8F2-3458-2855-8A7AF1797A12}"/>
              </a:ext>
            </a:extLst>
          </p:cNvPr>
          <p:cNvSpPr txBox="1"/>
          <p:nvPr/>
        </p:nvSpPr>
        <p:spPr>
          <a:xfrm>
            <a:off x="5932802" y="1951672"/>
            <a:ext cx="6102438" cy="4760278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.equ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GPIO_D_CFGLR, </a:t>
            </a:r>
            <a:r>
              <a:rPr lang="en-GB" sz="120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0x40011400</a:t>
            </a:r>
            <a:endParaRPr lang="en-GB" sz="12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.equ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GPIO_D_INDR,  </a:t>
            </a:r>
            <a:r>
              <a:rPr lang="en-GB" sz="120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0x40011408</a:t>
            </a:r>
            <a:endParaRPr lang="en-GB" sz="12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.equ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GPIO_D_OUTDR, </a:t>
            </a:r>
            <a:r>
              <a:rPr lang="en-GB" sz="120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0x4001140C</a:t>
            </a:r>
            <a:endParaRPr lang="en-GB" sz="12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b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en-GB" sz="12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la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2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t0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GPIO_D_CFGLR      </a:t>
            </a:r>
            <a:r>
              <a:rPr lang="en-GB" sz="1200" b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Configure pin 6 as input with pull up/down active</a:t>
            </a:r>
            <a:endParaRPr lang="en-GB" sz="12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li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2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t1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sz="120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0x08000000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       </a:t>
            </a:r>
            <a:r>
              <a:rPr lang="en-GB" sz="1200" b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Binary: ... 0000 1000 0000 0000</a:t>
            </a:r>
            <a:endParaRPr lang="en-GB" sz="12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             </a:t>
            </a:r>
            <a:r>
              <a:rPr lang="en-GB" sz="1200" b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Pin:    ...   3    2    1    0</a:t>
            </a:r>
            <a:endParaRPr lang="en-GB" sz="12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sw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2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t1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sz="120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sz="12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t0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la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2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t0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GPIO_D_OUTDR      </a:t>
            </a:r>
            <a:r>
              <a:rPr lang="en-GB" sz="1200" b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Make it pull UP</a:t>
            </a:r>
            <a:endParaRPr lang="en-GB" sz="12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li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2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t1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sz="120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0x40</a:t>
            </a:r>
            <a:endParaRPr lang="en-GB" sz="12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sh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2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t1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sz="120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sz="12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t0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b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en-GB" sz="12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await_button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GB" sz="12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la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2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t0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GPIO_D_INDR</a:t>
            </a: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GB" sz="12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lh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2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t1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sz="120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sz="12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t0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GB" sz="12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andi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2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t1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sz="12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t1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sz="120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0x40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       </a:t>
            </a:r>
            <a:r>
              <a:rPr lang="en-GB" sz="1200" b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Mask for pin 6</a:t>
            </a:r>
            <a:endParaRPr lang="en-GB" sz="12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GB" sz="12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bnez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2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t1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await_button</a:t>
            </a:r>
          </a:p>
          <a:p>
            <a:pPr>
              <a:lnSpc>
                <a:spcPts val="1425"/>
              </a:lnSpc>
              <a:buNone/>
            </a:pPr>
            <a:b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en-GB" sz="12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continue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 </a:t>
            </a: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sz="12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nop</a:t>
            </a:r>
            <a:endParaRPr lang="en-GB" sz="12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sz="12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j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continue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0E568BF-38DA-43B6-DD5B-592211644B9F}"/>
              </a:ext>
            </a:extLst>
          </p:cNvPr>
          <p:cNvSpPr txBox="1"/>
          <p:nvPr/>
        </p:nvSpPr>
        <p:spPr>
          <a:xfrm>
            <a:off x="238194" y="2450386"/>
            <a:ext cx="5595936" cy="3862596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GB" sz="1200">
                <a:solidFill>
                  <a:srgbClr val="C586C0"/>
                </a:solidFill>
                <a:latin typeface="Consolas" panose="020B0609020204030204" pitchFamily="49" charset="0"/>
              </a:rPr>
              <a:t>#define</a:t>
            </a:r>
            <a:r>
              <a:rPr lang="en-GB" sz="1200">
                <a:solidFill>
                  <a:srgbClr val="569CD6"/>
                </a:solidFill>
                <a:latin typeface="Consolas" panose="020B0609020204030204" pitchFamily="49" charset="0"/>
              </a:rPr>
              <a:t> GPIOD_CFGLR ((</a:t>
            </a:r>
            <a:r>
              <a:rPr lang="en-GB" sz="1200">
                <a:solidFill>
                  <a:srgbClr val="4EC9B0"/>
                </a:solidFill>
                <a:latin typeface="Consolas" panose="020B0609020204030204" pitchFamily="49" charset="0"/>
              </a:rPr>
              <a:t>uint32_t</a:t>
            </a:r>
            <a:r>
              <a:rPr lang="en-GB" sz="1200">
                <a:solidFill>
                  <a:srgbClr val="569CD6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D4D4D4"/>
                </a:solidFill>
                <a:latin typeface="Consolas" panose="020B0609020204030204" pitchFamily="49" charset="0"/>
              </a:rPr>
              <a:t>*</a:t>
            </a:r>
            <a:r>
              <a:rPr lang="en-GB" sz="1200">
                <a:solidFill>
                  <a:srgbClr val="569CD6"/>
                </a:solidFill>
                <a:latin typeface="Consolas" panose="020B0609020204030204" pitchFamily="49" charset="0"/>
              </a:rPr>
              <a:t>)</a:t>
            </a:r>
            <a:r>
              <a:rPr lang="en-GB" sz="1200">
                <a:solidFill>
                  <a:srgbClr val="B5CEA8"/>
                </a:solidFill>
                <a:latin typeface="Consolas" panose="020B0609020204030204" pitchFamily="49" charset="0"/>
              </a:rPr>
              <a:t>0x40011400</a:t>
            </a:r>
            <a:r>
              <a:rPr lang="en-GB" sz="1200">
                <a:solidFill>
                  <a:srgbClr val="569CD6"/>
                </a:solidFill>
                <a:latin typeface="Consolas" panose="020B0609020204030204" pitchFamily="49" charset="0"/>
              </a:rPr>
              <a:t>)</a:t>
            </a: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>
                <a:solidFill>
                  <a:srgbClr val="C586C0"/>
                </a:solidFill>
                <a:latin typeface="Consolas" panose="020B0609020204030204" pitchFamily="49" charset="0"/>
              </a:rPr>
              <a:t>#define</a:t>
            </a:r>
            <a:r>
              <a:rPr lang="en-GB" sz="1200">
                <a:solidFill>
                  <a:srgbClr val="569CD6"/>
                </a:solidFill>
                <a:latin typeface="Consolas" panose="020B0609020204030204" pitchFamily="49" charset="0"/>
              </a:rPr>
              <a:t> GPIOD_INDR ((</a:t>
            </a:r>
            <a:r>
              <a:rPr lang="en-GB" sz="1200">
                <a:solidFill>
                  <a:srgbClr val="4EC9B0"/>
                </a:solidFill>
                <a:latin typeface="Consolas" panose="020B0609020204030204" pitchFamily="49" charset="0"/>
              </a:rPr>
              <a:t>uint32_t</a:t>
            </a:r>
            <a:r>
              <a:rPr lang="en-GB" sz="1200">
                <a:solidFill>
                  <a:srgbClr val="569CD6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D4D4D4"/>
                </a:solidFill>
                <a:latin typeface="Consolas" panose="020B0609020204030204" pitchFamily="49" charset="0"/>
              </a:rPr>
              <a:t>*</a:t>
            </a:r>
            <a:r>
              <a:rPr lang="en-GB" sz="1200">
                <a:solidFill>
                  <a:srgbClr val="569CD6"/>
                </a:solidFill>
                <a:latin typeface="Consolas" panose="020B0609020204030204" pitchFamily="49" charset="0"/>
              </a:rPr>
              <a:t>)</a:t>
            </a:r>
            <a:r>
              <a:rPr lang="en-GB" sz="1200">
                <a:solidFill>
                  <a:srgbClr val="B5CEA8"/>
                </a:solidFill>
                <a:latin typeface="Consolas" panose="020B0609020204030204" pitchFamily="49" charset="0"/>
              </a:rPr>
              <a:t>0x40011408</a:t>
            </a:r>
            <a:r>
              <a:rPr lang="en-GB" sz="1200">
                <a:solidFill>
                  <a:srgbClr val="569CD6"/>
                </a:solidFill>
                <a:latin typeface="Consolas" panose="020B0609020204030204" pitchFamily="49" charset="0"/>
              </a:rPr>
              <a:t>)</a:t>
            </a: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>
                <a:solidFill>
                  <a:srgbClr val="C586C0"/>
                </a:solidFill>
                <a:latin typeface="Consolas" panose="020B0609020204030204" pitchFamily="49" charset="0"/>
              </a:rPr>
              <a:t>#define</a:t>
            </a:r>
            <a:r>
              <a:rPr lang="en-GB" sz="1200">
                <a:solidFill>
                  <a:srgbClr val="569CD6"/>
                </a:solidFill>
                <a:latin typeface="Consolas" panose="020B0609020204030204" pitchFamily="49" charset="0"/>
              </a:rPr>
              <a:t> GPIOD_OUTDR ((</a:t>
            </a:r>
            <a:r>
              <a:rPr lang="en-GB" sz="1200">
                <a:solidFill>
                  <a:srgbClr val="4EC9B0"/>
                </a:solidFill>
                <a:latin typeface="Consolas" panose="020B0609020204030204" pitchFamily="49" charset="0"/>
              </a:rPr>
              <a:t>uint32_t</a:t>
            </a:r>
            <a:r>
              <a:rPr lang="en-GB" sz="1200">
                <a:solidFill>
                  <a:srgbClr val="569CD6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D4D4D4"/>
                </a:solidFill>
                <a:latin typeface="Consolas" panose="020B0609020204030204" pitchFamily="49" charset="0"/>
              </a:rPr>
              <a:t>*</a:t>
            </a:r>
            <a:r>
              <a:rPr lang="en-GB" sz="1200">
                <a:solidFill>
                  <a:srgbClr val="569CD6"/>
                </a:solidFill>
                <a:latin typeface="Consolas" panose="020B0609020204030204" pitchFamily="49" charset="0"/>
              </a:rPr>
              <a:t>)</a:t>
            </a:r>
            <a:r>
              <a:rPr lang="en-GB" sz="1200">
                <a:solidFill>
                  <a:srgbClr val="B5CEA8"/>
                </a:solidFill>
                <a:latin typeface="Consolas" panose="020B0609020204030204" pitchFamily="49" charset="0"/>
              </a:rPr>
              <a:t>0x4001140C</a:t>
            </a:r>
            <a:r>
              <a:rPr lang="en-GB" sz="1200">
                <a:solidFill>
                  <a:srgbClr val="569CD6"/>
                </a:solidFill>
                <a:latin typeface="Consolas" panose="020B0609020204030204" pitchFamily="49" charset="0"/>
              </a:rPr>
              <a:t>)</a:t>
            </a: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b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</a:b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>
                <a:solidFill>
                  <a:srgbClr val="569CD6"/>
                </a:solidFill>
                <a:latin typeface="Consolas" panose="020B0609020204030204" pitchFamily="49" charset="0"/>
              </a:rPr>
              <a:t>int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DCDCAA"/>
                </a:solidFill>
                <a:latin typeface="Consolas" panose="020B0609020204030204" pitchFamily="49" charset="0"/>
              </a:rPr>
              <a:t>main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()</a:t>
            </a:r>
          </a:p>
          <a:p>
            <a:pPr>
              <a:lnSpc>
                <a:spcPts val="1425"/>
              </a:lnSpc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{</a:t>
            </a:r>
          </a:p>
          <a:p>
            <a:pPr>
              <a:lnSpc>
                <a:spcPts val="1425"/>
              </a:lnSpc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GB" sz="1200">
                <a:solidFill>
                  <a:srgbClr val="6A9955"/>
                </a:solidFill>
                <a:latin typeface="Consolas" panose="020B0609020204030204" pitchFamily="49" charset="0"/>
              </a:rPr>
              <a:t>// Konfigurera pin 6 som ingång</a:t>
            </a: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GB" sz="1200">
                <a:solidFill>
                  <a:srgbClr val="D4D4D4"/>
                </a:solidFill>
                <a:latin typeface="Consolas" panose="020B0609020204030204" pitchFamily="49" charset="0"/>
              </a:rPr>
              <a:t>*</a:t>
            </a:r>
            <a:r>
              <a:rPr lang="en-GB" sz="1200">
                <a:solidFill>
                  <a:srgbClr val="569CD6"/>
                </a:solidFill>
                <a:latin typeface="Consolas" panose="020B0609020204030204" pitchFamily="49" charset="0"/>
              </a:rPr>
              <a:t>GPIOD_CFGLR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B5CEA8"/>
                </a:solidFill>
                <a:latin typeface="Consolas" panose="020B0609020204030204" pitchFamily="49" charset="0"/>
              </a:rPr>
              <a:t>0x08000000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GB" sz="1200">
                <a:solidFill>
                  <a:srgbClr val="6A9955"/>
                </a:solidFill>
                <a:latin typeface="Consolas" panose="020B0609020204030204" pitchFamily="49" charset="0"/>
              </a:rPr>
              <a:t>// Sätt pin 6 i OUTDR för pull up</a:t>
            </a: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GB" sz="1200">
                <a:solidFill>
                  <a:srgbClr val="D4D4D4"/>
                </a:solidFill>
                <a:latin typeface="Consolas" panose="020B0609020204030204" pitchFamily="49" charset="0"/>
              </a:rPr>
              <a:t>*</a:t>
            </a:r>
            <a:r>
              <a:rPr lang="en-GB" sz="1200">
                <a:solidFill>
                  <a:srgbClr val="569CD6"/>
                </a:solidFill>
                <a:latin typeface="Consolas" panose="020B0609020204030204" pitchFamily="49" charset="0"/>
              </a:rPr>
              <a:t>GPIOD_OUTDR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B5CEA8"/>
                </a:solidFill>
                <a:latin typeface="Consolas" panose="020B0609020204030204" pitchFamily="49" charset="0"/>
              </a:rPr>
              <a:t>0b01000000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GB" sz="1200">
                <a:solidFill>
                  <a:srgbClr val="C586C0"/>
                </a:solidFill>
                <a:latin typeface="Consolas" panose="020B0609020204030204" pitchFamily="49" charset="0"/>
              </a:rPr>
              <a:t>while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GB" sz="1200">
                <a:solidFill>
                  <a:srgbClr val="B5CEA8"/>
                </a:solidFill>
                <a:latin typeface="Consolas" panose="020B0609020204030204" pitchFamily="49" charset="0"/>
              </a:rPr>
              <a:t>1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{</a:t>
            </a:r>
          </a:p>
          <a:p>
            <a:pPr>
              <a:lnSpc>
                <a:spcPts val="1425"/>
              </a:lnSpc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GB" sz="1200">
                <a:solidFill>
                  <a:srgbClr val="6A9955"/>
                </a:solidFill>
                <a:latin typeface="Consolas" panose="020B0609020204030204" pitchFamily="49" charset="0"/>
              </a:rPr>
              <a:t>// Vänta tills vi tryckt på knappen</a:t>
            </a: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GB" sz="1200">
                <a:solidFill>
                  <a:srgbClr val="4EC9B0"/>
                </a:solidFill>
                <a:latin typeface="Consolas" panose="020B0609020204030204" pitchFamily="49" charset="0"/>
              </a:rPr>
              <a:t>uint32_t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9CDCFE"/>
                </a:solidFill>
                <a:latin typeface="Consolas" panose="020B0609020204030204" pitchFamily="49" charset="0"/>
              </a:rPr>
              <a:t>input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D4D4D4"/>
                </a:solidFill>
                <a:latin typeface="Consolas" panose="020B0609020204030204" pitchFamily="49" charset="0"/>
              </a:rPr>
              <a:t>*</a:t>
            </a:r>
            <a:r>
              <a:rPr lang="en-GB" sz="1200">
                <a:solidFill>
                  <a:srgbClr val="569CD6"/>
                </a:solidFill>
                <a:latin typeface="Consolas" panose="020B0609020204030204" pitchFamily="49" charset="0"/>
              </a:rPr>
              <a:t>GPIOD_INDR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GB" sz="1200">
                <a:solidFill>
                  <a:srgbClr val="C586C0"/>
                </a:solidFill>
                <a:latin typeface="Consolas" panose="020B0609020204030204" pitchFamily="49" charset="0"/>
              </a:rPr>
              <a:t>if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GB" sz="1200">
                <a:solidFill>
                  <a:srgbClr val="9CDCFE"/>
                </a:solidFill>
                <a:latin typeface="Consolas" panose="020B0609020204030204" pitchFamily="49" charset="0"/>
              </a:rPr>
              <a:t>input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D4D4D4"/>
                </a:solidFill>
                <a:latin typeface="Consolas" panose="020B0609020204030204" pitchFamily="49" charset="0"/>
              </a:rPr>
              <a:t>&amp;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B5CEA8"/>
                </a:solidFill>
                <a:latin typeface="Consolas" panose="020B0609020204030204" pitchFamily="49" charset="0"/>
              </a:rPr>
              <a:t>0b01000000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) </a:t>
            </a:r>
            <a:r>
              <a:rPr lang="en-GB" sz="1200">
                <a:solidFill>
                  <a:srgbClr val="C586C0"/>
                </a:solidFill>
                <a:latin typeface="Consolas" panose="020B0609020204030204" pitchFamily="49" charset="0"/>
              </a:rPr>
              <a:t>break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}</a:t>
            </a:r>
          </a:p>
          <a:p>
            <a:pPr>
              <a:lnSpc>
                <a:spcPts val="1425"/>
              </a:lnSpc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GB" sz="1200">
                <a:solidFill>
                  <a:srgbClr val="C586C0"/>
                </a:solidFill>
                <a:latin typeface="Consolas" panose="020B0609020204030204" pitchFamily="49" charset="0"/>
              </a:rPr>
              <a:t>return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B5CEA8"/>
                </a:solidFill>
                <a:latin typeface="Consolas" panose="020B0609020204030204" pitchFamily="49" charset="0"/>
              </a:rPr>
              <a:t>0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}</a:t>
            </a:r>
          </a:p>
          <a:p>
            <a:pPr>
              <a:lnSpc>
                <a:spcPts val="1425"/>
              </a:lnSpc>
              <a:buNone/>
            </a:pPr>
            <a:b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</a:b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B0F997C3-CAFF-2FA0-7555-ED160CED89AF}"/>
              </a:ext>
            </a:extLst>
          </p:cNvPr>
          <p:cNvGrpSpPr/>
          <p:nvPr/>
        </p:nvGrpSpPr>
        <p:grpSpPr>
          <a:xfrm>
            <a:off x="919846" y="3817694"/>
            <a:ext cx="8064175" cy="1477328"/>
            <a:chOff x="919846" y="3817694"/>
            <a:chExt cx="8064175" cy="1477328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0E608585-FAD2-AEA7-05D6-44A9D55B961D}"/>
                </a:ext>
              </a:extLst>
            </p:cNvPr>
            <p:cNvSpPr txBox="1"/>
            <p:nvPr/>
          </p:nvSpPr>
          <p:spPr>
            <a:xfrm>
              <a:off x="5132774" y="3817694"/>
              <a:ext cx="3851247" cy="147732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wrap="none" rtlCol="0">
              <a:spAutoFit/>
            </a:bodyPr>
            <a:lstStyle/>
            <a:p>
              <a:r>
                <a:rPr lang="sv-SE"/>
                <a:t>Optimeraren tänker: </a:t>
              </a:r>
            </a:p>
            <a:p>
              <a:r>
                <a:rPr lang="sv-SE" i="1"/>
                <a:t>”Aha! Här läser dom en variabel från</a:t>
              </a:r>
            </a:p>
            <a:p>
              <a:r>
                <a:rPr lang="sv-SE" i="1"/>
                <a:t>minnet varje iteration, men den ändras</a:t>
              </a:r>
            </a:p>
            <a:p>
              <a:r>
                <a:rPr lang="sv-SE" i="1"/>
                <a:t>aldrig! Den kan jag flytta på och göra </a:t>
              </a:r>
            </a:p>
            <a:p>
              <a:r>
                <a:rPr lang="sv-SE" i="1"/>
                <a:t>programmet mycket snabbare!”</a:t>
              </a:r>
              <a:endParaRPr lang="LID4096" i="1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BFAD5925-CDFC-E525-65B9-AA618CA0A483}"/>
                </a:ext>
              </a:extLst>
            </p:cNvPr>
            <p:cNvSpPr/>
            <p:nvPr/>
          </p:nvSpPr>
          <p:spPr>
            <a:xfrm>
              <a:off x="919846" y="4988417"/>
              <a:ext cx="2583208" cy="190107"/>
            </a:xfrm>
            <a:prstGeom prst="rect">
              <a:avLst/>
            </a:prstGeom>
            <a:noFill/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4C692B6D-DE0C-3090-2038-B91F75E66801}"/>
                </a:ext>
              </a:extLst>
            </p:cNvPr>
            <p:cNvCxnSpPr>
              <a:cxnSpLocks/>
              <a:stCxn id="7" idx="3"/>
              <a:endCxn id="6" idx="1"/>
            </p:cNvCxnSpPr>
            <p:nvPr/>
          </p:nvCxnSpPr>
          <p:spPr>
            <a:xfrm flipV="1">
              <a:off x="3503054" y="4556358"/>
              <a:ext cx="1629720" cy="527113"/>
            </a:xfrm>
            <a:prstGeom prst="line">
              <a:avLst/>
            </a:prstGeom>
            <a:ln w="2540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0435881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1AFA6B-DE97-AF0B-C9FD-EE2DC76041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26AE69-6205-AC60-10A1-56C36D6699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Hur läser vi? </a:t>
            </a:r>
            <a:endParaRPr lang="LID4096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01C697C-D773-E787-FCF5-309BEDD3E939}"/>
              </a:ext>
            </a:extLst>
          </p:cNvPr>
          <p:cNvSpPr txBox="1"/>
          <p:nvPr/>
        </p:nvSpPr>
        <p:spPr>
          <a:xfrm>
            <a:off x="5932802" y="1951672"/>
            <a:ext cx="6102438" cy="4760278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.equ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GPIO_D_CFGLR, </a:t>
            </a:r>
            <a:r>
              <a:rPr lang="en-GB" sz="120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0x40011400</a:t>
            </a:r>
            <a:endParaRPr lang="en-GB" sz="12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.equ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GPIO_D_INDR,  </a:t>
            </a:r>
            <a:r>
              <a:rPr lang="en-GB" sz="120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0x40011408</a:t>
            </a:r>
            <a:endParaRPr lang="en-GB" sz="12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.equ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GPIO_D_OUTDR, </a:t>
            </a:r>
            <a:r>
              <a:rPr lang="en-GB" sz="120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0x4001140C</a:t>
            </a:r>
            <a:endParaRPr lang="en-GB" sz="12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b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en-GB" sz="12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la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2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t0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GPIO_D_CFGLR      </a:t>
            </a:r>
            <a:r>
              <a:rPr lang="en-GB" sz="1200" b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Configure pin 6 as input with pull up/down active</a:t>
            </a:r>
            <a:endParaRPr lang="en-GB" sz="12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li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2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t1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sz="120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0x08000000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       </a:t>
            </a:r>
            <a:r>
              <a:rPr lang="en-GB" sz="1200" b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Binary: ... 0000 1000 0000 0000</a:t>
            </a:r>
            <a:endParaRPr lang="en-GB" sz="12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             </a:t>
            </a:r>
            <a:r>
              <a:rPr lang="en-GB" sz="1200" b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Pin:    ...   3    2    1    0</a:t>
            </a:r>
            <a:endParaRPr lang="en-GB" sz="12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sw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2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t1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sz="120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sz="12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t0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la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2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t0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GPIO_D_OUTDR      </a:t>
            </a:r>
            <a:r>
              <a:rPr lang="en-GB" sz="1200" b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Make it pull UP</a:t>
            </a:r>
            <a:endParaRPr lang="en-GB" sz="12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li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2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t1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sz="120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0x40</a:t>
            </a:r>
            <a:endParaRPr lang="en-GB" sz="12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sh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2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t1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sz="120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sz="12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t0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b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en-GB" sz="12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await_button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GB" sz="12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la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2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t0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GPIO_D_INDR</a:t>
            </a: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GB" sz="12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lh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2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t1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sz="120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sz="12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t0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GB" sz="12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andi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2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t1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sz="12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t1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sz="120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0x40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       </a:t>
            </a:r>
            <a:r>
              <a:rPr lang="en-GB" sz="1200" b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Mask for pin 6</a:t>
            </a:r>
            <a:endParaRPr lang="en-GB" sz="12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GB" sz="12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bnez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2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t1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await_button</a:t>
            </a:r>
          </a:p>
          <a:p>
            <a:pPr>
              <a:lnSpc>
                <a:spcPts val="1425"/>
              </a:lnSpc>
              <a:buNone/>
            </a:pPr>
            <a:b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en-GB" sz="12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continue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 </a:t>
            </a: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sz="12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nop</a:t>
            </a:r>
            <a:endParaRPr lang="en-GB" sz="12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sz="12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j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continue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3636425-CDC2-70E1-3372-60754C0D2650}"/>
              </a:ext>
            </a:extLst>
          </p:cNvPr>
          <p:cNvSpPr txBox="1"/>
          <p:nvPr/>
        </p:nvSpPr>
        <p:spPr>
          <a:xfrm>
            <a:off x="238194" y="2450386"/>
            <a:ext cx="5595936" cy="3683060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#define</a:t>
            </a:r>
            <a:r>
              <a:rPr lang="en-GB" sz="12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 GPIOD_CFGLR ((</a:t>
            </a:r>
            <a:r>
              <a:rPr lang="en-GB" sz="12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uint32_t</a:t>
            </a:r>
            <a:r>
              <a:rPr lang="en-GB" sz="12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20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GB" sz="12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GB" sz="120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0x40011400</a:t>
            </a:r>
            <a:r>
              <a:rPr lang="en-GB" sz="12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)</a:t>
            </a:r>
            <a:endParaRPr lang="en-GB" sz="12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#define</a:t>
            </a:r>
            <a:r>
              <a:rPr lang="en-GB" sz="12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 GPIOD_INDR ((</a:t>
            </a:r>
            <a:r>
              <a:rPr lang="en-GB" sz="12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uint32_t</a:t>
            </a:r>
            <a:r>
              <a:rPr lang="en-GB" sz="12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20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GB" sz="12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GB" sz="120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0x40011408</a:t>
            </a:r>
            <a:r>
              <a:rPr lang="en-GB" sz="12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)</a:t>
            </a:r>
            <a:endParaRPr lang="en-GB" sz="12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#define</a:t>
            </a:r>
            <a:r>
              <a:rPr lang="en-GB" sz="12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 GPIOD_OUTDR ((</a:t>
            </a:r>
            <a:r>
              <a:rPr lang="en-GB" sz="12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uint32_t</a:t>
            </a:r>
            <a:r>
              <a:rPr lang="en-GB" sz="12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20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GB" sz="12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GB" sz="120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0x4001140C</a:t>
            </a:r>
            <a:r>
              <a:rPr lang="en-GB" sz="12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)</a:t>
            </a:r>
            <a:endParaRPr lang="en-GB" sz="12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b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en-GB" sz="12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2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sz="1200" b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Konfigurera pin 6 som ingång</a:t>
            </a:r>
            <a:endParaRPr lang="en-GB" sz="12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sz="120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GB" sz="12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GPIOD_CFGLR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20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20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0x08000000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sz="1200" b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Sätt pin 6 i OUTDR för pull up</a:t>
            </a:r>
            <a:endParaRPr lang="en-GB" sz="12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sz="120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GB" sz="12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GPIOD_OUTDR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20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20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0b01000000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sz="12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uint32_t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2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input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20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20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GB" sz="12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GPIOD_INDR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sz="1200" b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sz="120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{</a:t>
            </a: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GB" sz="1200" b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Vänta tills vi tryckt på knappen</a:t>
            </a:r>
            <a:endParaRPr lang="en-GB" sz="12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GB" sz="1200" b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sz="12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input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20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20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0b01000000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GB" sz="1200" b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break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sz="1200" b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20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lnSpc>
                <a:spcPts val="1425"/>
              </a:lnSpc>
              <a:buNone/>
            </a:pP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49ED006D-753A-91E1-CD0D-17475E65CC22}"/>
              </a:ext>
            </a:extLst>
          </p:cNvPr>
          <p:cNvGrpSpPr/>
          <p:nvPr/>
        </p:nvGrpSpPr>
        <p:grpSpPr>
          <a:xfrm>
            <a:off x="593581" y="3817694"/>
            <a:ext cx="7827401" cy="820838"/>
            <a:chOff x="593581" y="3817694"/>
            <a:chExt cx="7827401" cy="820838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A56DAFC3-81F2-B1E2-5730-8E447FE1D54A}"/>
                </a:ext>
              </a:extLst>
            </p:cNvPr>
            <p:cNvSpPr txBox="1"/>
            <p:nvPr/>
          </p:nvSpPr>
          <p:spPr>
            <a:xfrm>
              <a:off x="5132774" y="3817694"/>
              <a:ext cx="3288208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wrap="none" rtlCol="0">
              <a:spAutoFit/>
            </a:bodyPr>
            <a:lstStyle/>
            <a:p>
              <a:r>
                <a:rPr lang="sv-SE"/>
                <a:t>Optimeraren tänker: </a:t>
              </a:r>
            </a:p>
            <a:p>
              <a:r>
                <a:rPr lang="sv-SE"/>
                <a:t>”Såja! Nu blir alla imponerade.”</a:t>
              </a:r>
              <a:endParaRPr lang="LID4096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13CE51B7-24CB-C426-A0BE-7612EE133CBA}"/>
                </a:ext>
              </a:extLst>
            </p:cNvPr>
            <p:cNvSpPr/>
            <p:nvPr/>
          </p:nvSpPr>
          <p:spPr>
            <a:xfrm>
              <a:off x="593581" y="4448425"/>
              <a:ext cx="2583208" cy="190107"/>
            </a:xfrm>
            <a:prstGeom prst="rect">
              <a:avLst/>
            </a:prstGeom>
            <a:noFill/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53DD49C1-E209-0587-1C1B-8620678EA1ED}"/>
                </a:ext>
              </a:extLst>
            </p:cNvPr>
            <p:cNvCxnSpPr>
              <a:cxnSpLocks/>
              <a:stCxn id="7" idx="3"/>
              <a:endCxn id="6" idx="1"/>
            </p:cNvCxnSpPr>
            <p:nvPr/>
          </p:nvCxnSpPr>
          <p:spPr>
            <a:xfrm flipV="1">
              <a:off x="3176789" y="4140860"/>
              <a:ext cx="1955985" cy="402619"/>
            </a:xfrm>
            <a:prstGeom prst="line">
              <a:avLst/>
            </a:prstGeom>
            <a:ln w="2540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5300659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48E715-191F-C1FA-9310-4D755DBA7F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FA8B38-F699-DBB2-FA3C-53C112BE26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Volatile</a:t>
            </a:r>
            <a:endParaRPr lang="LID4096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084BA53-ADAB-3BEF-3B25-81C9C78C7179}"/>
              </a:ext>
            </a:extLst>
          </p:cNvPr>
          <p:cNvSpPr txBox="1"/>
          <p:nvPr/>
        </p:nvSpPr>
        <p:spPr>
          <a:xfrm>
            <a:off x="5932802" y="1951672"/>
            <a:ext cx="6102438" cy="4760278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.equ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GPIO_D_CFGLR, </a:t>
            </a:r>
            <a:r>
              <a:rPr lang="en-GB" sz="120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0x40011400</a:t>
            </a:r>
            <a:endParaRPr lang="en-GB" sz="12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.equ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GPIO_D_INDR,  </a:t>
            </a:r>
            <a:r>
              <a:rPr lang="en-GB" sz="120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0x40011408</a:t>
            </a:r>
            <a:endParaRPr lang="en-GB" sz="12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.equ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GPIO_D_OUTDR, </a:t>
            </a:r>
            <a:r>
              <a:rPr lang="en-GB" sz="120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0x4001140C</a:t>
            </a:r>
            <a:endParaRPr lang="en-GB" sz="12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b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en-GB" sz="12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la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2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t0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GPIO_D_CFGLR      </a:t>
            </a:r>
            <a:r>
              <a:rPr lang="en-GB" sz="1200" b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Configure pin 6 as input with pull up/down active</a:t>
            </a:r>
            <a:endParaRPr lang="en-GB" sz="12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li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2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t1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sz="120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0x08000000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       </a:t>
            </a:r>
            <a:r>
              <a:rPr lang="en-GB" sz="1200" b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Binary: ... 0000 1000 0000 0000</a:t>
            </a:r>
            <a:endParaRPr lang="en-GB" sz="12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             </a:t>
            </a:r>
            <a:r>
              <a:rPr lang="en-GB" sz="1200" b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Pin:    ...   3    2    1    0</a:t>
            </a:r>
            <a:endParaRPr lang="en-GB" sz="12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sw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2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t1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sz="120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sz="12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t0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la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2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t0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GPIO_D_OUTDR      </a:t>
            </a:r>
            <a:r>
              <a:rPr lang="en-GB" sz="1200" b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Make it pull UP</a:t>
            </a:r>
            <a:endParaRPr lang="en-GB" sz="12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li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2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t1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sz="120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0x40</a:t>
            </a:r>
            <a:endParaRPr lang="en-GB" sz="12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sh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2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t1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sz="120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sz="12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t0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b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en-GB" sz="12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await_button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GB" sz="12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la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2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t0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GPIO_D_INDR</a:t>
            </a: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GB" sz="12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lh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2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t1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sz="120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sz="12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t0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GB" sz="12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andi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2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t1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sz="12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t1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sz="120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0x40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       </a:t>
            </a:r>
            <a:r>
              <a:rPr lang="en-GB" sz="1200" b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Mask for pin 6</a:t>
            </a:r>
            <a:endParaRPr lang="en-GB" sz="12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GB" sz="12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bnez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2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t1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await_button</a:t>
            </a:r>
          </a:p>
          <a:p>
            <a:pPr>
              <a:lnSpc>
                <a:spcPts val="1425"/>
              </a:lnSpc>
              <a:buNone/>
            </a:pPr>
            <a:b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en-GB" sz="12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continue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 </a:t>
            </a: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sz="12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nop</a:t>
            </a:r>
            <a:endParaRPr lang="en-GB" sz="12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sz="12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j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continue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E7FCF22-B614-972D-CA9F-470467FC8ACB}"/>
              </a:ext>
            </a:extLst>
          </p:cNvPr>
          <p:cNvSpPr txBox="1"/>
          <p:nvPr/>
        </p:nvSpPr>
        <p:spPr>
          <a:xfrm>
            <a:off x="238194" y="2450386"/>
            <a:ext cx="5595936" cy="3862596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GB" sz="1200">
                <a:solidFill>
                  <a:srgbClr val="C586C0"/>
                </a:solidFill>
                <a:latin typeface="Consolas" panose="020B0609020204030204" pitchFamily="49" charset="0"/>
              </a:rPr>
              <a:t>#define</a:t>
            </a:r>
            <a:r>
              <a:rPr lang="en-GB" sz="1200">
                <a:solidFill>
                  <a:srgbClr val="569CD6"/>
                </a:solidFill>
                <a:latin typeface="Consolas" panose="020B0609020204030204" pitchFamily="49" charset="0"/>
              </a:rPr>
              <a:t> GPIOD_CFGLR ((</a:t>
            </a:r>
            <a:r>
              <a:rPr lang="en-GB" sz="1200">
                <a:solidFill>
                  <a:srgbClr val="FFC000"/>
                </a:solidFill>
                <a:latin typeface="Consolas" panose="020B0609020204030204" pitchFamily="49" charset="0"/>
              </a:rPr>
              <a:t>volatile</a:t>
            </a:r>
            <a:r>
              <a:rPr lang="en-GB" sz="1200">
                <a:solidFill>
                  <a:srgbClr val="569CD6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4EC9B0"/>
                </a:solidFill>
                <a:latin typeface="Consolas" panose="020B0609020204030204" pitchFamily="49" charset="0"/>
              </a:rPr>
              <a:t>uint32_t</a:t>
            </a:r>
            <a:r>
              <a:rPr lang="en-GB" sz="1200">
                <a:solidFill>
                  <a:srgbClr val="569CD6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D4D4D4"/>
                </a:solidFill>
                <a:latin typeface="Consolas" panose="020B0609020204030204" pitchFamily="49" charset="0"/>
              </a:rPr>
              <a:t>*</a:t>
            </a:r>
            <a:r>
              <a:rPr lang="en-GB" sz="1200">
                <a:solidFill>
                  <a:srgbClr val="569CD6"/>
                </a:solidFill>
                <a:latin typeface="Consolas" panose="020B0609020204030204" pitchFamily="49" charset="0"/>
              </a:rPr>
              <a:t>)</a:t>
            </a:r>
            <a:r>
              <a:rPr lang="en-GB" sz="1200">
                <a:solidFill>
                  <a:srgbClr val="B5CEA8"/>
                </a:solidFill>
                <a:latin typeface="Consolas" panose="020B0609020204030204" pitchFamily="49" charset="0"/>
              </a:rPr>
              <a:t>0x40011400</a:t>
            </a:r>
            <a:r>
              <a:rPr lang="en-GB" sz="1200">
                <a:solidFill>
                  <a:srgbClr val="569CD6"/>
                </a:solidFill>
                <a:latin typeface="Consolas" panose="020B0609020204030204" pitchFamily="49" charset="0"/>
              </a:rPr>
              <a:t>)</a:t>
            </a: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>
                <a:solidFill>
                  <a:srgbClr val="C586C0"/>
                </a:solidFill>
                <a:latin typeface="Consolas" panose="020B0609020204030204" pitchFamily="49" charset="0"/>
              </a:rPr>
              <a:t>#define</a:t>
            </a:r>
            <a:r>
              <a:rPr lang="en-GB" sz="1200">
                <a:solidFill>
                  <a:srgbClr val="569CD6"/>
                </a:solidFill>
                <a:latin typeface="Consolas" panose="020B0609020204030204" pitchFamily="49" charset="0"/>
              </a:rPr>
              <a:t> GPIOD_INDR ((</a:t>
            </a:r>
            <a:r>
              <a:rPr lang="en-GB" sz="1200">
                <a:solidFill>
                  <a:srgbClr val="FFC000"/>
                </a:solidFill>
                <a:latin typeface="Consolas" panose="020B0609020204030204" pitchFamily="49" charset="0"/>
              </a:rPr>
              <a:t>volatile</a:t>
            </a:r>
            <a:r>
              <a:rPr lang="en-GB" sz="1200">
                <a:solidFill>
                  <a:srgbClr val="569CD6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4EC9B0"/>
                </a:solidFill>
                <a:latin typeface="Consolas" panose="020B0609020204030204" pitchFamily="49" charset="0"/>
              </a:rPr>
              <a:t>uint32_t</a:t>
            </a:r>
            <a:r>
              <a:rPr lang="en-GB" sz="1200">
                <a:solidFill>
                  <a:srgbClr val="569CD6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D4D4D4"/>
                </a:solidFill>
                <a:latin typeface="Consolas" panose="020B0609020204030204" pitchFamily="49" charset="0"/>
              </a:rPr>
              <a:t>*</a:t>
            </a:r>
            <a:r>
              <a:rPr lang="en-GB" sz="1200">
                <a:solidFill>
                  <a:srgbClr val="569CD6"/>
                </a:solidFill>
                <a:latin typeface="Consolas" panose="020B0609020204030204" pitchFamily="49" charset="0"/>
              </a:rPr>
              <a:t>)</a:t>
            </a:r>
            <a:r>
              <a:rPr lang="en-GB" sz="1200">
                <a:solidFill>
                  <a:srgbClr val="B5CEA8"/>
                </a:solidFill>
                <a:latin typeface="Consolas" panose="020B0609020204030204" pitchFamily="49" charset="0"/>
              </a:rPr>
              <a:t>0x40011408</a:t>
            </a:r>
            <a:r>
              <a:rPr lang="en-GB" sz="1200">
                <a:solidFill>
                  <a:srgbClr val="569CD6"/>
                </a:solidFill>
                <a:latin typeface="Consolas" panose="020B0609020204030204" pitchFamily="49" charset="0"/>
              </a:rPr>
              <a:t>)</a:t>
            </a: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>
                <a:solidFill>
                  <a:srgbClr val="C586C0"/>
                </a:solidFill>
                <a:latin typeface="Consolas" panose="020B0609020204030204" pitchFamily="49" charset="0"/>
              </a:rPr>
              <a:t>#define</a:t>
            </a:r>
            <a:r>
              <a:rPr lang="en-GB" sz="1200">
                <a:solidFill>
                  <a:srgbClr val="569CD6"/>
                </a:solidFill>
                <a:latin typeface="Consolas" panose="020B0609020204030204" pitchFamily="49" charset="0"/>
              </a:rPr>
              <a:t> GPIOD_OUTDR ((</a:t>
            </a:r>
            <a:r>
              <a:rPr lang="en-GB" sz="1200">
                <a:solidFill>
                  <a:srgbClr val="FFC000"/>
                </a:solidFill>
                <a:latin typeface="Consolas" panose="020B0609020204030204" pitchFamily="49" charset="0"/>
              </a:rPr>
              <a:t>volatile</a:t>
            </a:r>
            <a:r>
              <a:rPr lang="en-GB" sz="1200">
                <a:solidFill>
                  <a:srgbClr val="569CD6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4EC9B0"/>
                </a:solidFill>
                <a:latin typeface="Consolas" panose="020B0609020204030204" pitchFamily="49" charset="0"/>
              </a:rPr>
              <a:t>uint32_t</a:t>
            </a:r>
            <a:r>
              <a:rPr lang="en-GB" sz="1200">
                <a:solidFill>
                  <a:srgbClr val="569CD6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D4D4D4"/>
                </a:solidFill>
                <a:latin typeface="Consolas" panose="020B0609020204030204" pitchFamily="49" charset="0"/>
              </a:rPr>
              <a:t>*</a:t>
            </a:r>
            <a:r>
              <a:rPr lang="en-GB" sz="1200">
                <a:solidFill>
                  <a:srgbClr val="569CD6"/>
                </a:solidFill>
                <a:latin typeface="Consolas" panose="020B0609020204030204" pitchFamily="49" charset="0"/>
              </a:rPr>
              <a:t>)</a:t>
            </a:r>
            <a:r>
              <a:rPr lang="en-GB" sz="1200">
                <a:solidFill>
                  <a:srgbClr val="B5CEA8"/>
                </a:solidFill>
                <a:latin typeface="Consolas" panose="020B0609020204030204" pitchFamily="49" charset="0"/>
              </a:rPr>
              <a:t>0x4001140C</a:t>
            </a:r>
            <a:r>
              <a:rPr lang="en-GB" sz="1200">
                <a:solidFill>
                  <a:srgbClr val="569CD6"/>
                </a:solidFill>
                <a:latin typeface="Consolas" panose="020B0609020204030204" pitchFamily="49" charset="0"/>
              </a:rPr>
              <a:t>)</a:t>
            </a: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b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</a:b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>
                <a:solidFill>
                  <a:srgbClr val="569CD6"/>
                </a:solidFill>
                <a:latin typeface="Consolas" panose="020B0609020204030204" pitchFamily="49" charset="0"/>
              </a:rPr>
              <a:t>int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DCDCAA"/>
                </a:solidFill>
                <a:latin typeface="Consolas" panose="020B0609020204030204" pitchFamily="49" charset="0"/>
              </a:rPr>
              <a:t>main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()</a:t>
            </a:r>
          </a:p>
          <a:p>
            <a:pPr>
              <a:lnSpc>
                <a:spcPts val="1425"/>
              </a:lnSpc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{</a:t>
            </a:r>
          </a:p>
          <a:p>
            <a:pPr>
              <a:lnSpc>
                <a:spcPts val="1425"/>
              </a:lnSpc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GB" sz="1200">
                <a:solidFill>
                  <a:srgbClr val="6A9955"/>
                </a:solidFill>
                <a:latin typeface="Consolas" panose="020B0609020204030204" pitchFamily="49" charset="0"/>
              </a:rPr>
              <a:t>// Konfigurera pin 6 som ingång</a:t>
            </a: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GB" sz="1200">
                <a:solidFill>
                  <a:srgbClr val="D4D4D4"/>
                </a:solidFill>
                <a:latin typeface="Consolas" panose="020B0609020204030204" pitchFamily="49" charset="0"/>
              </a:rPr>
              <a:t>*</a:t>
            </a:r>
            <a:r>
              <a:rPr lang="en-GB" sz="1200">
                <a:solidFill>
                  <a:srgbClr val="569CD6"/>
                </a:solidFill>
                <a:latin typeface="Consolas" panose="020B0609020204030204" pitchFamily="49" charset="0"/>
              </a:rPr>
              <a:t>GPIOD_CFGLR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B5CEA8"/>
                </a:solidFill>
                <a:latin typeface="Consolas" panose="020B0609020204030204" pitchFamily="49" charset="0"/>
              </a:rPr>
              <a:t>0x08000000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GB" sz="1200">
                <a:solidFill>
                  <a:srgbClr val="6A9955"/>
                </a:solidFill>
                <a:latin typeface="Consolas" panose="020B0609020204030204" pitchFamily="49" charset="0"/>
              </a:rPr>
              <a:t>// Sätt pin 6 i OUTDR för pull up</a:t>
            </a: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GB" sz="1200">
                <a:solidFill>
                  <a:srgbClr val="D4D4D4"/>
                </a:solidFill>
                <a:latin typeface="Consolas" panose="020B0609020204030204" pitchFamily="49" charset="0"/>
              </a:rPr>
              <a:t>*</a:t>
            </a:r>
            <a:r>
              <a:rPr lang="en-GB" sz="1200">
                <a:solidFill>
                  <a:srgbClr val="569CD6"/>
                </a:solidFill>
                <a:latin typeface="Consolas" panose="020B0609020204030204" pitchFamily="49" charset="0"/>
              </a:rPr>
              <a:t>GPIOD_OUTDR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B5CEA8"/>
                </a:solidFill>
                <a:latin typeface="Consolas" panose="020B0609020204030204" pitchFamily="49" charset="0"/>
              </a:rPr>
              <a:t>0b01000000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GB" sz="1200">
                <a:solidFill>
                  <a:srgbClr val="C586C0"/>
                </a:solidFill>
                <a:latin typeface="Consolas" panose="020B0609020204030204" pitchFamily="49" charset="0"/>
              </a:rPr>
              <a:t>while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GB" sz="1200">
                <a:solidFill>
                  <a:srgbClr val="B5CEA8"/>
                </a:solidFill>
                <a:latin typeface="Consolas" panose="020B0609020204030204" pitchFamily="49" charset="0"/>
              </a:rPr>
              <a:t>1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{</a:t>
            </a:r>
          </a:p>
          <a:p>
            <a:pPr>
              <a:lnSpc>
                <a:spcPts val="1425"/>
              </a:lnSpc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GB" sz="1200">
                <a:solidFill>
                  <a:srgbClr val="6A9955"/>
                </a:solidFill>
                <a:latin typeface="Consolas" panose="020B0609020204030204" pitchFamily="49" charset="0"/>
              </a:rPr>
              <a:t>// Vänta tills vi tryckt på knappen</a:t>
            </a: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GB" sz="1200">
                <a:solidFill>
                  <a:srgbClr val="4EC9B0"/>
                </a:solidFill>
                <a:latin typeface="Consolas" panose="020B0609020204030204" pitchFamily="49" charset="0"/>
              </a:rPr>
              <a:t>uint32_t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9CDCFE"/>
                </a:solidFill>
                <a:latin typeface="Consolas" panose="020B0609020204030204" pitchFamily="49" charset="0"/>
              </a:rPr>
              <a:t>input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D4D4D4"/>
                </a:solidFill>
                <a:latin typeface="Consolas" panose="020B0609020204030204" pitchFamily="49" charset="0"/>
              </a:rPr>
              <a:t>*</a:t>
            </a:r>
            <a:r>
              <a:rPr lang="en-GB" sz="1200">
                <a:solidFill>
                  <a:srgbClr val="569CD6"/>
                </a:solidFill>
                <a:latin typeface="Consolas" panose="020B0609020204030204" pitchFamily="49" charset="0"/>
              </a:rPr>
              <a:t>GPIOD_INDR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GB" sz="1200">
                <a:solidFill>
                  <a:srgbClr val="C586C0"/>
                </a:solidFill>
                <a:latin typeface="Consolas" panose="020B0609020204030204" pitchFamily="49" charset="0"/>
              </a:rPr>
              <a:t>if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GB" sz="1200">
                <a:solidFill>
                  <a:srgbClr val="9CDCFE"/>
                </a:solidFill>
                <a:latin typeface="Consolas" panose="020B0609020204030204" pitchFamily="49" charset="0"/>
              </a:rPr>
              <a:t>input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D4D4D4"/>
                </a:solidFill>
                <a:latin typeface="Consolas" panose="020B0609020204030204" pitchFamily="49" charset="0"/>
              </a:rPr>
              <a:t>&amp;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B5CEA8"/>
                </a:solidFill>
                <a:latin typeface="Consolas" panose="020B0609020204030204" pitchFamily="49" charset="0"/>
              </a:rPr>
              <a:t>0b01000000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) </a:t>
            </a:r>
            <a:r>
              <a:rPr lang="en-GB" sz="1200">
                <a:solidFill>
                  <a:srgbClr val="C586C0"/>
                </a:solidFill>
                <a:latin typeface="Consolas" panose="020B0609020204030204" pitchFamily="49" charset="0"/>
              </a:rPr>
              <a:t>break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}</a:t>
            </a:r>
          </a:p>
          <a:p>
            <a:pPr>
              <a:lnSpc>
                <a:spcPts val="1425"/>
              </a:lnSpc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GB" sz="1200">
                <a:solidFill>
                  <a:srgbClr val="C586C0"/>
                </a:solidFill>
                <a:latin typeface="Consolas" panose="020B0609020204030204" pitchFamily="49" charset="0"/>
              </a:rPr>
              <a:t>return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B5CEA8"/>
                </a:solidFill>
                <a:latin typeface="Consolas" panose="020B0609020204030204" pitchFamily="49" charset="0"/>
              </a:rPr>
              <a:t>0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}</a:t>
            </a:r>
          </a:p>
          <a:p>
            <a:pPr>
              <a:lnSpc>
                <a:spcPts val="1425"/>
              </a:lnSpc>
              <a:buNone/>
            </a:pPr>
            <a:b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</a:b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2C6E80A4-2E25-E55D-AFB9-1975FA028DBF}"/>
              </a:ext>
            </a:extLst>
          </p:cNvPr>
          <p:cNvGrpSpPr/>
          <p:nvPr/>
        </p:nvGrpSpPr>
        <p:grpSpPr>
          <a:xfrm>
            <a:off x="292108" y="2032440"/>
            <a:ext cx="9882743" cy="1200329"/>
            <a:chOff x="284488" y="2032440"/>
            <a:chExt cx="9882743" cy="1200329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6B2452BA-2110-EEE4-DC72-93EC05EB0854}"/>
                </a:ext>
              </a:extLst>
            </p:cNvPr>
            <p:cNvSpPr txBox="1"/>
            <p:nvPr/>
          </p:nvSpPr>
          <p:spPr>
            <a:xfrm>
              <a:off x="5398938" y="2032440"/>
              <a:ext cx="4768293" cy="120032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wrap="none" rtlCol="0">
              <a:spAutoFit/>
            </a:bodyPr>
            <a:lstStyle/>
            <a:p>
              <a:r>
                <a:rPr lang="sv-SE" dirty="0"/>
                <a:t>Vi måste berätta för kompilatorn att den här</a:t>
              </a:r>
            </a:p>
            <a:p>
              <a:r>
                <a:rPr lang="sv-SE" dirty="0"/>
                <a:t>variabeln </a:t>
              </a:r>
              <a:r>
                <a:rPr lang="sv-SE" i="1" dirty="0"/>
                <a:t>kan</a:t>
              </a:r>
              <a:r>
                <a:rPr lang="sv-SE" dirty="0"/>
                <a:t> ändras utifrån (andra processer </a:t>
              </a:r>
            </a:p>
            <a:p>
              <a:r>
                <a:rPr lang="sv-SE" dirty="0"/>
                <a:t>eller extern hårdvara) och att den måste tänka </a:t>
              </a:r>
            </a:p>
            <a:p>
              <a:r>
                <a:rPr lang="sv-SE" dirty="0"/>
                <a:t>på det när den optimerar. </a:t>
              </a:r>
              <a:endParaRPr lang="LID4096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8B97E214-3CEC-7737-5502-BBA636101191}"/>
                </a:ext>
              </a:extLst>
            </p:cNvPr>
            <p:cNvSpPr/>
            <p:nvPr/>
          </p:nvSpPr>
          <p:spPr>
            <a:xfrm>
              <a:off x="284488" y="2507087"/>
              <a:ext cx="4519331" cy="528034"/>
            </a:xfrm>
            <a:prstGeom prst="rect">
              <a:avLst/>
            </a:prstGeom>
            <a:noFill/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E9C41858-EB15-7D20-F6C2-37A771019914}"/>
                </a:ext>
              </a:extLst>
            </p:cNvPr>
            <p:cNvCxnSpPr>
              <a:cxnSpLocks/>
              <a:stCxn id="7" idx="3"/>
              <a:endCxn id="6" idx="1"/>
            </p:cNvCxnSpPr>
            <p:nvPr/>
          </p:nvCxnSpPr>
          <p:spPr>
            <a:xfrm flipV="1">
              <a:off x="4803819" y="2632605"/>
              <a:ext cx="595119" cy="138499"/>
            </a:xfrm>
            <a:prstGeom prst="line">
              <a:avLst/>
            </a:prstGeom>
            <a:ln w="2540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9153759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7B1466-7C16-8FB2-B60D-1E784D8252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7313068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61C6FA-4E45-8742-A3B1-9FE762EB51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Exempel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A79D5D-15E8-575F-F6BF-1482B16947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96410340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D9D09F-CA92-36F8-74ED-13FED3BCC5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5312978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8C9CAA-77FD-3FA3-C0E7-61C93939BE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ASCII Displayen</a:t>
            </a:r>
            <a:endParaRPr lang="LID4096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2A90F18-49F7-59E4-D603-D308A00BCE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6200000">
            <a:off x="6518278" y="2383891"/>
            <a:ext cx="3964994" cy="329933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B3B8336A-75D0-5618-A4FB-291CF4E2783E}"/>
              </a:ext>
            </a:extLst>
          </p:cNvPr>
          <p:cNvSpPr txBox="1"/>
          <p:nvPr/>
        </p:nvSpPr>
        <p:spPr>
          <a:xfrm>
            <a:off x="7735911" y="2695977"/>
            <a:ext cx="15311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>
                <a:solidFill>
                  <a:schemeClr val="accent3">
                    <a:lumMod val="20000"/>
                    <a:lumOff val="80000"/>
                  </a:schemeClr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Mop Rules!</a:t>
            </a:r>
            <a:endParaRPr lang="LID4096">
              <a:solidFill>
                <a:schemeClr val="accent3">
                  <a:lumMod val="20000"/>
                  <a:lumOff val="80000"/>
                </a:schemeClr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B017EF6-5CE9-5728-587F-1B3CE8287439}"/>
              </a:ext>
            </a:extLst>
          </p:cNvPr>
          <p:cNvSpPr txBox="1"/>
          <p:nvPr/>
        </p:nvSpPr>
        <p:spPr>
          <a:xfrm>
            <a:off x="5040608" y="5834202"/>
            <a:ext cx="914400" cy="276999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spAutoFit/>
          </a:bodyPr>
          <a:lstStyle/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400"/>
              </a:spcAft>
            </a:pPr>
            <a:r>
              <a:rPr lang="en-GB" sz="2000">
                <a:latin typeface="Arial" panose="020B0604020202020204" pitchFamily="34" charset="0"/>
                <a:cs typeface="Arial" panose="020B0604020202020204" pitchFamily="34" charset="0"/>
              </a:rPr>
              <a:t>Data</a:t>
            </a:r>
            <a:endParaRPr lang="en-GB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949F567B-1533-4717-9655-7BBAF5B49B2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4477" y="2009963"/>
            <a:ext cx="5291288" cy="3166921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A0A3A210-3CB9-852A-5103-3CCE6DFB219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31303" y="6206346"/>
            <a:ext cx="3236025" cy="340167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3DEEEB38-66C1-99BC-B2DB-3E54ED48663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44118" y="6244022"/>
            <a:ext cx="3295228" cy="264817"/>
          </a:xfrm>
          <a:prstGeom prst="rect">
            <a:avLst/>
          </a:prstGeom>
        </p:spPr>
      </p:pic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B7069AAD-6C5D-A6B2-422E-1F09BDEBF742}"/>
              </a:ext>
            </a:extLst>
          </p:cNvPr>
          <p:cNvSpPr/>
          <p:nvPr/>
        </p:nvSpPr>
        <p:spPr>
          <a:xfrm>
            <a:off x="8470433" y="5212854"/>
            <a:ext cx="595268" cy="369332"/>
          </a:xfrm>
          <a:custGeom>
            <a:avLst/>
            <a:gdLst>
              <a:gd name="csX0" fmla="*/ 408509 w 762626"/>
              <a:gd name="csY0" fmla="*/ 67479 h 469838"/>
              <a:gd name="csX1" fmla="*/ 72333 w 762626"/>
              <a:gd name="csY1" fmla="*/ 67479 h 469838"/>
              <a:gd name="csX2" fmla="*/ 11821 w 762626"/>
              <a:gd name="csY2" fmla="*/ 302803 h 469838"/>
              <a:gd name="csX3" fmla="*/ 240421 w 762626"/>
              <a:gd name="csY3" fmla="*/ 443997 h 469838"/>
              <a:gd name="csX4" fmla="*/ 657280 w 762626"/>
              <a:gd name="csY4" fmla="*/ 457444 h 469838"/>
              <a:gd name="csX5" fmla="*/ 751409 w 762626"/>
              <a:gd name="csY5" fmla="*/ 309526 h 469838"/>
              <a:gd name="csX6" fmla="*/ 711068 w 762626"/>
              <a:gd name="csY6" fmla="*/ 80926 h 469838"/>
              <a:gd name="csX7" fmla="*/ 307656 w 762626"/>
              <a:gd name="csY7" fmla="*/ 244 h 469838"/>
              <a:gd name="csX8" fmla="*/ 146291 w 762626"/>
              <a:gd name="csY8" fmla="*/ 60755 h 4698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762626" h="469838">
                <a:moveTo>
                  <a:pt x="408509" y="67479"/>
                </a:moveTo>
                <a:cubicBezTo>
                  <a:pt x="273478" y="47868"/>
                  <a:pt x="138448" y="28258"/>
                  <a:pt x="72333" y="67479"/>
                </a:cubicBezTo>
                <a:cubicBezTo>
                  <a:pt x="6218" y="106700"/>
                  <a:pt x="-16194" y="240050"/>
                  <a:pt x="11821" y="302803"/>
                </a:cubicBezTo>
                <a:cubicBezTo>
                  <a:pt x="39836" y="365556"/>
                  <a:pt x="132844" y="418223"/>
                  <a:pt x="240421" y="443997"/>
                </a:cubicBezTo>
                <a:cubicBezTo>
                  <a:pt x="347998" y="469771"/>
                  <a:pt x="572115" y="479856"/>
                  <a:pt x="657280" y="457444"/>
                </a:cubicBezTo>
                <a:cubicBezTo>
                  <a:pt x="742445" y="435032"/>
                  <a:pt x="742444" y="372279"/>
                  <a:pt x="751409" y="309526"/>
                </a:cubicBezTo>
                <a:cubicBezTo>
                  <a:pt x="760374" y="246773"/>
                  <a:pt x="785027" y="132473"/>
                  <a:pt x="711068" y="80926"/>
                </a:cubicBezTo>
                <a:cubicBezTo>
                  <a:pt x="637109" y="29379"/>
                  <a:pt x="401785" y="3606"/>
                  <a:pt x="307656" y="244"/>
                </a:cubicBezTo>
                <a:cubicBezTo>
                  <a:pt x="213527" y="-3118"/>
                  <a:pt x="179909" y="28818"/>
                  <a:pt x="146291" y="60755"/>
                </a:cubicBezTo>
              </a:path>
            </a:pathLst>
          </a:custGeom>
          <a:noFill/>
          <a:ln w="381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3F79C8A-6473-829D-A4BD-88A08CCD915B}"/>
              </a:ext>
            </a:extLst>
          </p:cNvPr>
          <p:cNvSpPr txBox="1"/>
          <p:nvPr/>
        </p:nvSpPr>
        <p:spPr>
          <a:xfrm>
            <a:off x="11096222" y="5929347"/>
            <a:ext cx="914400" cy="276999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spAutoFit/>
          </a:bodyPr>
          <a:lstStyle/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400"/>
              </a:spcAft>
            </a:pPr>
            <a:r>
              <a:rPr lang="en-GB" sz="2000">
                <a:latin typeface="Arial" panose="020B0604020202020204" pitchFamily="34" charset="0"/>
                <a:cs typeface="Arial" panose="020B0604020202020204" pitchFamily="34" charset="0"/>
              </a:rPr>
              <a:t>Control</a:t>
            </a:r>
            <a:endParaRPr lang="en-GB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3E921A2D-EC17-B334-7267-2C66623F58E6}"/>
              </a:ext>
            </a:extLst>
          </p:cNvPr>
          <p:cNvSpPr/>
          <p:nvPr/>
        </p:nvSpPr>
        <p:spPr>
          <a:xfrm rot="10117872">
            <a:off x="9150866" y="5212854"/>
            <a:ext cx="595268" cy="369332"/>
          </a:xfrm>
          <a:custGeom>
            <a:avLst/>
            <a:gdLst>
              <a:gd name="csX0" fmla="*/ 408509 w 762626"/>
              <a:gd name="csY0" fmla="*/ 67479 h 469838"/>
              <a:gd name="csX1" fmla="*/ 72333 w 762626"/>
              <a:gd name="csY1" fmla="*/ 67479 h 469838"/>
              <a:gd name="csX2" fmla="*/ 11821 w 762626"/>
              <a:gd name="csY2" fmla="*/ 302803 h 469838"/>
              <a:gd name="csX3" fmla="*/ 240421 w 762626"/>
              <a:gd name="csY3" fmla="*/ 443997 h 469838"/>
              <a:gd name="csX4" fmla="*/ 657280 w 762626"/>
              <a:gd name="csY4" fmla="*/ 457444 h 469838"/>
              <a:gd name="csX5" fmla="*/ 751409 w 762626"/>
              <a:gd name="csY5" fmla="*/ 309526 h 469838"/>
              <a:gd name="csX6" fmla="*/ 711068 w 762626"/>
              <a:gd name="csY6" fmla="*/ 80926 h 469838"/>
              <a:gd name="csX7" fmla="*/ 307656 w 762626"/>
              <a:gd name="csY7" fmla="*/ 244 h 469838"/>
              <a:gd name="csX8" fmla="*/ 146291 w 762626"/>
              <a:gd name="csY8" fmla="*/ 60755 h 4698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762626" h="469838">
                <a:moveTo>
                  <a:pt x="408509" y="67479"/>
                </a:moveTo>
                <a:cubicBezTo>
                  <a:pt x="273478" y="47868"/>
                  <a:pt x="138448" y="28258"/>
                  <a:pt x="72333" y="67479"/>
                </a:cubicBezTo>
                <a:cubicBezTo>
                  <a:pt x="6218" y="106700"/>
                  <a:pt x="-16194" y="240050"/>
                  <a:pt x="11821" y="302803"/>
                </a:cubicBezTo>
                <a:cubicBezTo>
                  <a:pt x="39836" y="365556"/>
                  <a:pt x="132844" y="418223"/>
                  <a:pt x="240421" y="443997"/>
                </a:cubicBezTo>
                <a:cubicBezTo>
                  <a:pt x="347998" y="469771"/>
                  <a:pt x="572115" y="479856"/>
                  <a:pt x="657280" y="457444"/>
                </a:cubicBezTo>
                <a:cubicBezTo>
                  <a:pt x="742445" y="435032"/>
                  <a:pt x="742444" y="372279"/>
                  <a:pt x="751409" y="309526"/>
                </a:cubicBezTo>
                <a:cubicBezTo>
                  <a:pt x="760374" y="246773"/>
                  <a:pt x="785027" y="132473"/>
                  <a:pt x="711068" y="80926"/>
                </a:cubicBezTo>
                <a:cubicBezTo>
                  <a:pt x="637109" y="29379"/>
                  <a:pt x="401785" y="3606"/>
                  <a:pt x="307656" y="244"/>
                </a:cubicBezTo>
                <a:cubicBezTo>
                  <a:pt x="213527" y="-3118"/>
                  <a:pt x="179909" y="28818"/>
                  <a:pt x="146291" y="60755"/>
                </a:cubicBezTo>
              </a:path>
            </a:pathLst>
          </a:cu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3D419373-877E-07E1-8028-9ED8127B90A2}"/>
              </a:ext>
            </a:extLst>
          </p:cNvPr>
          <p:cNvSpPr/>
          <p:nvPr/>
        </p:nvSpPr>
        <p:spPr>
          <a:xfrm>
            <a:off x="5344732" y="5277318"/>
            <a:ext cx="3133860" cy="518175"/>
          </a:xfrm>
          <a:custGeom>
            <a:avLst/>
            <a:gdLst>
              <a:gd name="csX0" fmla="*/ 3133860 w 3133860"/>
              <a:gd name="csY0" fmla="*/ 0 h 399245"/>
              <a:gd name="csX1" fmla="*/ 0 w 3133860"/>
              <a:gd name="csY1" fmla="*/ 399245 h 399245"/>
              <a:gd name="csX0" fmla="*/ 3133860 w 3133860"/>
              <a:gd name="csY0" fmla="*/ 0 h 399245"/>
              <a:gd name="csX1" fmla="*/ 0 w 3133860"/>
              <a:gd name="csY1" fmla="*/ 399245 h 399245"/>
              <a:gd name="csX0" fmla="*/ 3133860 w 3133860"/>
              <a:gd name="csY0" fmla="*/ 118930 h 518175"/>
              <a:gd name="csX1" fmla="*/ 0 w 3133860"/>
              <a:gd name="csY1" fmla="*/ 518175 h 518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133860" h="518175">
                <a:moveTo>
                  <a:pt x="3133860" y="118930"/>
                </a:moveTo>
                <a:cubicBezTo>
                  <a:pt x="1119032" y="-185870"/>
                  <a:pt x="465071" y="148981"/>
                  <a:pt x="0" y="518175"/>
                </a:cubicBezTo>
              </a:path>
            </a:pathLst>
          </a:custGeom>
          <a:noFill/>
          <a:ln w="381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813468EF-6B3C-A4F2-8A46-3FD451C07A85}"/>
              </a:ext>
            </a:extLst>
          </p:cNvPr>
          <p:cNvSpPr/>
          <p:nvPr/>
        </p:nvSpPr>
        <p:spPr>
          <a:xfrm>
            <a:off x="9745014" y="5287306"/>
            <a:ext cx="1768699" cy="692784"/>
          </a:xfrm>
          <a:custGeom>
            <a:avLst/>
            <a:gdLst>
              <a:gd name="csX0" fmla="*/ 0 w 1768699"/>
              <a:gd name="csY0" fmla="*/ 0 h 635358"/>
              <a:gd name="csX1" fmla="*/ 1768699 w 1768699"/>
              <a:gd name="csY1" fmla="*/ 635358 h 635358"/>
              <a:gd name="csX0" fmla="*/ 0 w 1768699"/>
              <a:gd name="csY0" fmla="*/ 0 h 635358"/>
              <a:gd name="csX1" fmla="*/ 1768699 w 1768699"/>
              <a:gd name="csY1" fmla="*/ 635358 h 635358"/>
              <a:gd name="csX0" fmla="*/ 0 w 1768699"/>
              <a:gd name="csY0" fmla="*/ 57426 h 692784"/>
              <a:gd name="csX1" fmla="*/ 1768699 w 1768699"/>
              <a:gd name="csY1" fmla="*/ 692784 h 692784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768699" h="692784">
                <a:moveTo>
                  <a:pt x="0" y="57426"/>
                </a:moveTo>
                <a:cubicBezTo>
                  <a:pt x="842851" y="-31295"/>
                  <a:pt x="1548327" y="-128602"/>
                  <a:pt x="1768699" y="692784"/>
                </a:cubicBezTo>
              </a:path>
            </a:pathLst>
          </a:cu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8743188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641E92-EAF6-C825-6073-3078B9F07B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C784B7-1512-CF95-923A-E5C7826BF8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ASCII Displayen - Kommandon</a:t>
            </a:r>
            <a:endParaRPr lang="LID4096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3749A86-9653-3F84-568D-2FC349852A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6200000">
            <a:off x="6518278" y="2383891"/>
            <a:ext cx="3964994" cy="329933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4152BD01-B086-D552-0B79-388AB3D6C59D}"/>
              </a:ext>
            </a:extLst>
          </p:cNvPr>
          <p:cNvSpPr txBox="1"/>
          <p:nvPr/>
        </p:nvSpPr>
        <p:spPr>
          <a:xfrm>
            <a:off x="7735911" y="2695977"/>
            <a:ext cx="15311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>
                <a:solidFill>
                  <a:schemeClr val="accent3">
                    <a:lumMod val="20000"/>
                    <a:lumOff val="80000"/>
                  </a:schemeClr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Mop Rules!</a:t>
            </a:r>
            <a:endParaRPr lang="LID4096">
              <a:solidFill>
                <a:schemeClr val="accent3">
                  <a:lumMod val="20000"/>
                  <a:lumOff val="80000"/>
                </a:schemeClr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B239A00-66FB-839F-8542-DDD1AB78BCA2}"/>
              </a:ext>
            </a:extLst>
          </p:cNvPr>
          <p:cNvSpPr txBox="1"/>
          <p:nvPr/>
        </p:nvSpPr>
        <p:spPr>
          <a:xfrm>
            <a:off x="5040608" y="5834202"/>
            <a:ext cx="914400" cy="276999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spAutoFit/>
          </a:bodyPr>
          <a:lstStyle/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400"/>
              </a:spcAft>
            </a:pPr>
            <a:r>
              <a:rPr lang="en-GB" sz="2000">
                <a:latin typeface="Arial" panose="020B0604020202020204" pitchFamily="34" charset="0"/>
                <a:cs typeface="Arial" panose="020B0604020202020204" pitchFamily="34" charset="0"/>
              </a:rPr>
              <a:t>Data</a:t>
            </a:r>
            <a:endParaRPr lang="en-GB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4F7B1D0F-367C-4810-3F27-D506488DA2A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31303" y="6206346"/>
            <a:ext cx="3236025" cy="340167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61615A78-6F96-9EA9-2E60-F24D831BFB2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44118" y="6244022"/>
            <a:ext cx="3295228" cy="264817"/>
          </a:xfrm>
          <a:prstGeom prst="rect">
            <a:avLst/>
          </a:prstGeom>
        </p:spPr>
      </p:pic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BB2778F6-B987-516F-D141-8B9A70F5E26F}"/>
              </a:ext>
            </a:extLst>
          </p:cNvPr>
          <p:cNvSpPr/>
          <p:nvPr/>
        </p:nvSpPr>
        <p:spPr>
          <a:xfrm>
            <a:off x="8470433" y="5212854"/>
            <a:ext cx="595268" cy="369332"/>
          </a:xfrm>
          <a:custGeom>
            <a:avLst/>
            <a:gdLst>
              <a:gd name="csX0" fmla="*/ 408509 w 762626"/>
              <a:gd name="csY0" fmla="*/ 67479 h 469838"/>
              <a:gd name="csX1" fmla="*/ 72333 w 762626"/>
              <a:gd name="csY1" fmla="*/ 67479 h 469838"/>
              <a:gd name="csX2" fmla="*/ 11821 w 762626"/>
              <a:gd name="csY2" fmla="*/ 302803 h 469838"/>
              <a:gd name="csX3" fmla="*/ 240421 w 762626"/>
              <a:gd name="csY3" fmla="*/ 443997 h 469838"/>
              <a:gd name="csX4" fmla="*/ 657280 w 762626"/>
              <a:gd name="csY4" fmla="*/ 457444 h 469838"/>
              <a:gd name="csX5" fmla="*/ 751409 w 762626"/>
              <a:gd name="csY5" fmla="*/ 309526 h 469838"/>
              <a:gd name="csX6" fmla="*/ 711068 w 762626"/>
              <a:gd name="csY6" fmla="*/ 80926 h 469838"/>
              <a:gd name="csX7" fmla="*/ 307656 w 762626"/>
              <a:gd name="csY7" fmla="*/ 244 h 469838"/>
              <a:gd name="csX8" fmla="*/ 146291 w 762626"/>
              <a:gd name="csY8" fmla="*/ 60755 h 4698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762626" h="469838">
                <a:moveTo>
                  <a:pt x="408509" y="67479"/>
                </a:moveTo>
                <a:cubicBezTo>
                  <a:pt x="273478" y="47868"/>
                  <a:pt x="138448" y="28258"/>
                  <a:pt x="72333" y="67479"/>
                </a:cubicBezTo>
                <a:cubicBezTo>
                  <a:pt x="6218" y="106700"/>
                  <a:pt x="-16194" y="240050"/>
                  <a:pt x="11821" y="302803"/>
                </a:cubicBezTo>
                <a:cubicBezTo>
                  <a:pt x="39836" y="365556"/>
                  <a:pt x="132844" y="418223"/>
                  <a:pt x="240421" y="443997"/>
                </a:cubicBezTo>
                <a:cubicBezTo>
                  <a:pt x="347998" y="469771"/>
                  <a:pt x="572115" y="479856"/>
                  <a:pt x="657280" y="457444"/>
                </a:cubicBezTo>
                <a:cubicBezTo>
                  <a:pt x="742445" y="435032"/>
                  <a:pt x="742444" y="372279"/>
                  <a:pt x="751409" y="309526"/>
                </a:cubicBezTo>
                <a:cubicBezTo>
                  <a:pt x="760374" y="246773"/>
                  <a:pt x="785027" y="132473"/>
                  <a:pt x="711068" y="80926"/>
                </a:cubicBezTo>
                <a:cubicBezTo>
                  <a:pt x="637109" y="29379"/>
                  <a:pt x="401785" y="3606"/>
                  <a:pt x="307656" y="244"/>
                </a:cubicBezTo>
                <a:cubicBezTo>
                  <a:pt x="213527" y="-3118"/>
                  <a:pt x="179909" y="28818"/>
                  <a:pt x="146291" y="60755"/>
                </a:cubicBezTo>
              </a:path>
            </a:pathLst>
          </a:custGeom>
          <a:noFill/>
          <a:ln w="381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C83F2C9-034F-2BF8-C7C8-6754D1483EC0}"/>
              </a:ext>
            </a:extLst>
          </p:cNvPr>
          <p:cNvSpPr txBox="1"/>
          <p:nvPr/>
        </p:nvSpPr>
        <p:spPr>
          <a:xfrm>
            <a:off x="11096222" y="5929347"/>
            <a:ext cx="914400" cy="276999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spAutoFit/>
          </a:bodyPr>
          <a:lstStyle/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400"/>
              </a:spcAft>
            </a:pPr>
            <a:r>
              <a:rPr lang="en-GB" sz="2000">
                <a:latin typeface="Arial" panose="020B0604020202020204" pitchFamily="34" charset="0"/>
                <a:cs typeface="Arial" panose="020B0604020202020204" pitchFamily="34" charset="0"/>
              </a:rPr>
              <a:t>Control</a:t>
            </a:r>
            <a:endParaRPr lang="en-GB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87C8CFE8-27A5-D2AD-83C3-2E29B745864E}"/>
              </a:ext>
            </a:extLst>
          </p:cNvPr>
          <p:cNvSpPr/>
          <p:nvPr/>
        </p:nvSpPr>
        <p:spPr>
          <a:xfrm rot="10117872">
            <a:off x="9150866" y="5212854"/>
            <a:ext cx="595268" cy="369332"/>
          </a:xfrm>
          <a:custGeom>
            <a:avLst/>
            <a:gdLst>
              <a:gd name="csX0" fmla="*/ 408509 w 762626"/>
              <a:gd name="csY0" fmla="*/ 67479 h 469838"/>
              <a:gd name="csX1" fmla="*/ 72333 w 762626"/>
              <a:gd name="csY1" fmla="*/ 67479 h 469838"/>
              <a:gd name="csX2" fmla="*/ 11821 w 762626"/>
              <a:gd name="csY2" fmla="*/ 302803 h 469838"/>
              <a:gd name="csX3" fmla="*/ 240421 w 762626"/>
              <a:gd name="csY3" fmla="*/ 443997 h 469838"/>
              <a:gd name="csX4" fmla="*/ 657280 w 762626"/>
              <a:gd name="csY4" fmla="*/ 457444 h 469838"/>
              <a:gd name="csX5" fmla="*/ 751409 w 762626"/>
              <a:gd name="csY5" fmla="*/ 309526 h 469838"/>
              <a:gd name="csX6" fmla="*/ 711068 w 762626"/>
              <a:gd name="csY6" fmla="*/ 80926 h 469838"/>
              <a:gd name="csX7" fmla="*/ 307656 w 762626"/>
              <a:gd name="csY7" fmla="*/ 244 h 469838"/>
              <a:gd name="csX8" fmla="*/ 146291 w 762626"/>
              <a:gd name="csY8" fmla="*/ 60755 h 4698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762626" h="469838">
                <a:moveTo>
                  <a:pt x="408509" y="67479"/>
                </a:moveTo>
                <a:cubicBezTo>
                  <a:pt x="273478" y="47868"/>
                  <a:pt x="138448" y="28258"/>
                  <a:pt x="72333" y="67479"/>
                </a:cubicBezTo>
                <a:cubicBezTo>
                  <a:pt x="6218" y="106700"/>
                  <a:pt x="-16194" y="240050"/>
                  <a:pt x="11821" y="302803"/>
                </a:cubicBezTo>
                <a:cubicBezTo>
                  <a:pt x="39836" y="365556"/>
                  <a:pt x="132844" y="418223"/>
                  <a:pt x="240421" y="443997"/>
                </a:cubicBezTo>
                <a:cubicBezTo>
                  <a:pt x="347998" y="469771"/>
                  <a:pt x="572115" y="479856"/>
                  <a:pt x="657280" y="457444"/>
                </a:cubicBezTo>
                <a:cubicBezTo>
                  <a:pt x="742445" y="435032"/>
                  <a:pt x="742444" y="372279"/>
                  <a:pt x="751409" y="309526"/>
                </a:cubicBezTo>
                <a:cubicBezTo>
                  <a:pt x="760374" y="246773"/>
                  <a:pt x="785027" y="132473"/>
                  <a:pt x="711068" y="80926"/>
                </a:cubicBezTo>
                <a:cubicBezTo>
                  <a:pt x="637109" y="29379"/>
                  <a:pt x="401785" y="3606"/>
                  <a:pt x="307656" y="244"/>
                </a:cubicBezTo>
                <a:cubicBezTo>
                  <a:pt x="213527" y="-3118"/>
                  <a:pt x="179909" y="28818"/>
                  <a:pt x="146291" y="60755"/>
                </a:cubicBezTo>
              </a:path>
            </a:pathLst>
          </a:cu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A579D97E-7B27-D0E8-CC15-A15A4344184F}"/>
              </a:ext>
            </a:extLst>
          </p:cNvPr>
          <p:cNvSpPr/>
          <p:nvPr/>
        </p:nvSpPr>
        <p:spPr>
          <a:xfrm>
            <a:off x="5344732" y="5277318"/>
            <a:ext cx="3133860" cy="518175"/>
          </a:xfrm>
          <a:custGeom>
            <a:avLst/>
            <a:gdLst>
              <a:gd name="csX0" fmla="*/ 3133860 w 3133860"/>
              <a:gd name="csY0" fmla="*/ 0 h 399245"/>
              <a:gd name="csX1" fmla="*/ 0 w 3133860"/>
              <a:gd name="csY1" fmla="*/ 399245 h 399245"/>
              <a:gd name="csX0" fmla="*/ 3133860 w 3133860"/>
              <a:gd name="csY0" fmla="*/ 0 h 399245"/>
              <a:gd name="csX1" fmla="*/ 0 w 3133860"/>
              <a:gd name="csY1" fmla="*/ 399245 h 399245"/>
              <a:gd name="csX0" fmla="*/ 3133860 w 3133860"/>
              <a:gd name="csY0" fmla="*/ 118930 h 518175"/>
              <a:gd name="csX1" fmla="*/ 0 w 3133860"/>
              <a:gd name="csY1" fmla="*/ 518175 h 518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133860" h="518175">
                <a:moveTo>
                  <a:pt x="3133860" y="118930"/>
                </a:moveTo>
                <a:cubicBezTo>
                  <a:pt x="1119032" y="-185870"/>
                  <a:pt x="465071" y="148981"/>
                  <a:pt x="0" y="518175"/>
                </a:cubicBezTo>
              </a:path>
            </a:pathLst>
          </a:custGeom>
          <a:noFill/>
          <a:ln w="381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93090E05-633F-C7E2-A607-02839982F4BF}"/>
              </a:ext>
            </a:extLst>
          </p:cNvPr>
          <p:cNvSpPr/>
          <p:nvPr/>
        </p:nvSpPr>
        <p:spPr>
          <a:xfrm>
            <a:off x="9745014" y="5287306"/>
            <a:ext cx="1768699" cy="692784"/>
          </a:xfrm>
          <a:custGeom>
            <a:avLst/>
            <a:gdLst>
              <a:gd name="csX0" fmla="*/ 0 w 1768699"/>
              <a:gd name="csY0" fmla="*/ 0 h 635358"/>
              <a:gd name="csX1" fmla="*/ 1768699 w 1768699"/>
              <a:gd name="csY1" fmla="*/ 635358 h 635358"/>
              <a:gd name="csX0" fmla="*/ 0 w 1768699"/>
              <a:gd name="csY0" fmla="*/ 0 h 635358"/>
              <a:gd name="csX1" fmla="*/ 1768699 w 1768699"/>
              <a:gd name="csY1" fmla="*/ 635358 h 635358"/>
              <a:gd name="csX0" fmla="*/ 0 w 1768699"/>
              <a:gd name="csY0" fmla="*/ 57426 h 692784"/>
              <a:gd name="csX1" fmla="*/ 1768699 w 1768699"/>
              <a:gd name="csY1" fmla="*/ 692784 h 692784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768699" h="692784">
                <a:moveTo>
                  <a:pt x="0" y="57426"/>
                </a:moveTo>
                <a:cubicBezTo>
                  <a:pt x="842851" y="-31295"/>
                  <a:pt x="1548327" y="-128602"/>
                  <a:pt x="1768699" y="692784"/>
                </a:cubicBezTo>
              </a:path>
            </a:pathLst>
          </a:cu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791759D-634F-0157-A61A-09E9737F60E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7863" y="2056986"/>
            <a:ext cx="5520508" cy="3100820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36710571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BD2A04-DAA1-A5CF-64C0-4358CC2B4A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60F8AC-9D7C-C060-26A1-9688A98F9A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ASCII Displayen - Skrivcykel</a:t>
            </a:r>
            <a:endParaRPr lang="LID4096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9798244-E88B-7EE1-6ADD-8B12D7F41B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6200000">
            <a:off x="6518278" y="2383891"/>
            <a:ext cx="3964994" cy="329933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78CE9F5-EE6C-C062-9810-32C230F8467B}"/>
              </a:ext>
            </a:extLst>
          </p:cNvPr>
          <p:cNvSpPr txBox="1"/>
          <p:nvPr/>
        </p:nvSpPr>
        <p:spPr>
          <a:xfrm>
            <a:off x="7735911" y="2695977"/>
            <a:ext cx="15311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>
                <a:solidFill>
                  <a:schemeClr val="accent3">
                    <a:lumMod val="20000"/>
                    <a:lumOff val="80000"/>
                  </a:schemeClr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Mop Rules!</a:t>
            </a:r>
            <a:endParaRPr lang="LID4096">
              <a:solidFill>
                <a:schemeClr val="accent3">
                  <a:lumMod val="20000"/>
                  <a:lumOff val="80000"/>
                </a:schemeClr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9F997AB-24A3-5C2D-13CF-6163A7CDE30F}"/>
              </a:ext>
            </a:extLst>
          </p:cNvPr>
          <p:cNvSpPr txBox="1"/>
          <p:nvPr/>
        </p:nvSpPr>
        <p:spPr>
          <a:xfrm>
            <a:off x="5040608" y="5834202"/>
            <a:ext cx="914400" cy="276999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spAutoFit/>
          </a:bodyPr>
          <a:lstStyle/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400"/>
              </a:spcAft>
            </a:pPr>
            <a:r>
              <a:rPr lang="en-GB" sz="2000">
                <a:latin typeface="Arial" panose="020B0604020202020204" pitchFamily="34" charset="0"/>
                <a:cs typeface="Arial" panose="020B0604020202020204" pitchFamily="34" charset="0"/>
              </a:rPr>
              <a:t>Data</a:t>
            </a:r>
            <a:endParaRPr lang="en-GB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3AE7E921-79A1-2B19-3A80-E91B6CC4B79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31303" y="6206346"/>
            <a:ext cx="3236025" cy="340167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A8E90458-657E-E231-ADDA-4951065F042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44118" y="6244022"/>
            <a:ext cx="3295228" cy="264817"/>
          </a:xfrm>
          <a:prstGeom prst="rect">
            <a:avLst/>
          </a:prstGeom>
        </p:spPr>
      </p:pic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8BF96372-E9FD-5656-5F93-FC01D51A4069}"/>
              </a:ext>
            </a:extLst>
          </p:cNvPr>
          <p:cNvSpPr/>
          <p:nvPr/>
        </p:nvSpPr>
        <p:spPr>
          <a:xfrm>
            <a:off x="8470433" y="5212854"/>
            <a:ext cx="595268" cy="369332"/>
          </a:xfrm>
          <a:custGeom>
            <a:avLst/>
            <a:gdLst>
              <a:gd name="csX0" fmla="*/ 408509 w 762626"/>
              <a:gd name="csY0" fmla="*/ 67479 h 469838"/>
              <a:gd name="csX1" fmla="*/ 72333 w 762626"/>
              <a:gd name="csY1" fmla="*/ 67479 h 469838"/>
              <a:gd name="csX2" fmla="*/ 11821 w 762626"/>
              <a:gd name="csY2" fmla="*/ 302803 h 469838"/>
              <a:gd name="csX3" fmla="*/ 240421 w 762626"/>
              <a:gd name="csY3" fmla="*/ 443997 h 469838"/>
              <a:gd name="csX4" fmla="*/ 657280 w 762626"/>
              <a:gd name="csY4" fmla="*/ 457444 h 469838"/>
              <a:gd name="csX5" fmla="*/ 751409 w 762626"/>
              <a:gd name="csY5" fmla="*/ 309526 h 469838"/>
              <a:gd name="csX6" fmla="*/ 711068 w 762626"/>
              <a:gd name="csY6" fmla="*/ 80926 h 469838"/>
              <a:gd name="csX7" fmla="*/ 307656 w 762626"/>
              <a:gd name="csY7" fmla="*/ 244 h 469838"/>
              <a:gd name="csX8" fmla="*/ 146291 w 762626"/>
              <a:gd name="csY8" fmla="*/ 60755 h 4698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762626" h="469838">
                <a:moveTo>
                  <a:pt x="408509" y="67479"/>
                </a:moveTo>
                <a:cubicBezTo>
                  <a:pt x="273478" y="47868"/>
                  <a:pt x="138448" y="28258"/>
                  <a:pt x="72333" y="67479"/>
                </a:cubicBezTo>
                <a:cubicBezTo>
                  <a:pt x="6218" y="106700"/>
                  <a:pt x="-16194" y="240050"/>
                  <a:pt x="11821" y="302803"/>
                </a:cubicBezTo>
                <a:cubicBezTo>
                  <a:pt x="39836" y="365556"/>
                  <a:pt x="132844" y="418223"/>
                  <a:pt x="240421" y="443997"/>
                </a:cubicBezTo>
                <a:cubicBezTo>
                  <a:pt x="347998" y="469771"/>
                  <a:pt x="572115" y="479856"/>
                  <a:pt x="657280" y="457444"/>
                </a:cubicBezTo>
                <a:cubicBezTo>
                  <a:pt x="742445" y="435032"/>
                  <a:pt x="742444" y="372279"/>
                  <a:pt x="751409" y="309526"/>
                </a:cubicBezTo>
                <a:cubicBezTo>
                  <a:pt x="760374" y="246773"/>
                  <a:pt x="785027" y="132473"/>
                  <a:pt x="711068" y="80926"/>
                </a:cubicBezTo>
                <a:cubicBezTo>
                  <a:pt x="637109" y="29379"/>
                  <a:pt x="401785" y="3606"/>
                  <a:pt x="307656" y="244"/>
                </a:cubicBezTo>
                <a:cubicBezTo>
                  <a:pt x="213527" y="-3118"/>
                  <a:pt x="179909" y="28818"/>
                  <a:pt x="146291" y="60755"/>
                </a:cubicBezTo>
              </a:path>
            </a:pathLst>
          </a:custGeom>
          <a:noFill/>
          <a:ln w="381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46E2A40-3411-B929-47EE-6CC16199504A}"/>
              </a:ext>
            </a:extLst>
          </p:cNvPr>
          <p:cNvSpPr txBox="1"/>
          <p:nvPr/>
        </p:nvSpPr>
        <p:spPr>
          <a:xfrm>
            <a:off x="11096222" y="5929347"/>
            <a:ext cx="914400" cy="276999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spAutoFit/>
          </a:bodyPr>
          <a:lstStyle/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400"/>
              </a:spcAft>
            </a:pPr>
            <a:r>
              <a:rPr lang="en-GB" sz="2000">
                <a:latin typeface="Arial" panose="020B0604020202020204" pitchFamily="34" charset="0"/>
                <a:cs typeface="Arial" panose="020B0604020202020204" pitchFamily="34" charset="0"/>
              </a:rPr>
              <a:t>Control</a:t>
            </a:r>
            <a:endParaRPr lang="en-GB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B6E74DC7-0761-E600-C9F8-8BB8DA67978F}"/>
              </a:ext>
            </a:extLst>
          </p:cNvPr>
          <p:cNvSpPr/>
          <p:nvPr/>
        </p:nvSpPr>
        <p:spPr>
          <a:xfrm rot="10117872">
            <a:off x="9150866" y="5212854"/>
            <a:ext cx="595268" cy="369332"/>
          </a:xfrm>
          <a:custGeom>
            <a:avLst/>
            <a:gdLst>
              <a:gd name="csX0" fmla="*/ 408509 w 762626"/>
              <a:gd name="csY0" fmla="*/ 67479 h 469838"/>
              <a:gd name="csX1" fmla="*/ 72333 w 762626"/>
              <a:gd name="csY1" fmla="*/ 67479 h 469838"/>
              <a:gd name="csX2" fmla="*/ 11821 w 762626"/>
              <a:gd name="csY2" fmla="*/ 302803 h 469838"/>
              <a:gd name="csX3" fmla="*/ 240421 w 762626"/>
              <a:gd name="csY3" fmla="*/ 443997 h 469838"/>
              <a:gd name="csX4" fmla="*/ 657280 w 762626"/>
              <a:gd name="csY4" fmla="*/ 457444 h 469838"/>
              <a:gd name="csX5" fmla="*/ 751409 w 762626"/>
              <a:gd name="csY5" fmla="*/ 309526 h 469838"/>
              <a:gd name="csX6" fmla="*/ 711068 w 762626"/>
              <a:gd name="csY6" fmla="*/ 80926 h 469838"/>
              <a:gd name="csX7" fmla="*/ 307656 w 762626"/>
              <a:gd name="csY7" fmla="*/ 244 h 469838"/>
              <a:gd name="csX8" fmla="*/ 146291 w 762626"/>
              <a:gd name="csY8" fmla="*/ 60755 h 4698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762626" h="469838">
                <a:moveTo>
                  <a:pt x="408509" y="67479"/>
                </a:moveTo>
                <a:cubicBezTo>
                  <a:pt x="273478" y="47868"/>
                  <a:pt x="138448" y="28258"/>
                  <a:pt x="72333" y="67479"/>
                </a:cubicBezTo>
                <a:cubicBezTo>
                  <a:pt x="6218" y="106700"/>
                  <a:pt x="-16194" y="240050"/>
                  <a:pt x="11821" y="302803"/>
                </a:cubicBezTo>
                <a:cubicBezTo>
                  <a:pt x="39836" y="365556"/>
                  <a:pt x="132844" y="418223"/>
                  <a:pt x="240421" y="443997"/>
                </a:cubicBezTo>
                <a:cubicBezTo>
                  <a:pt x="347998" y="469771"/>
                  <a:pt x="572115" y="479856"/>
                  <a:pt x="657280" y="457444"/>
                </a:cubicBezTo>
                <a:cubicBezTo>
                  <a:pt x="742445" y="435032"/>
                  <a:pt x="742444" y="372279"/>
                  <a:pt x="751409" y="309526"/>
                </a:cubicBezTo>
                <a:cubicBezTo>
                  <a:pt x="760374" y="246773"/>
                  <a:pt x="785027" y="132473"/>
                  <a:pt x="711068" y="80926"/>
                </a:cubicBezTo>
                <a:cubicBezTo>
                  <a:pt x="637109" y="29379"/>
                  <a:pt x="401785" y="3606"/>
                  <a:pt x="307656" y="244"/>
                </a:cubicBezTo>
                <a:cubicBezTo>
                  <a:pt x="213527" y="-3118"/>
                  <a:pt x="179909" y="28818"/>
                  <a:pt x="146291" y="60755"/>
                </a:cubicBezTo>
              </a:path>
            </a:pathLst>
          </a:cu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3B37E24F-33E1-6098-C8BD-B7C73B86DF04}"/>
              </a:ext>
            </a:extLst>
          </p:cNvPr>
          <p:cNvSpPr/>
          <p:nvPr/>
        </p:nvSpPr>
        <p:spPr>
          <a:xfrm>
            <a:off x="5344732" y="5277318"/>
            <a:ext cx="3133860" cy="518175"/>
          </a:xfrm>
          <a:custGeom>
            <a:avLst/>
            <a:gdLst>
              <a:gd name="csX0" fmla="*/ 3133860 w 3133860"/>
              <a:gd name="csY0" fmla="*/ 0 h 399245"/>
              <a:gd name="csX1" fmla="*/ 0 w 3133860"/>
              <a:gd name="csY1" fmla="*/ 399245 h 399245"/>
              <a:gd name="csX0" fmla="*/ 3133860 w 3133860"/>
              <a:gd name="csY0" fmla="*/ 0 h 399245"/>
              <a:gd name="csX1" fmla="*/ 0 w 3133860"/>
              <a:gd name="csY1" fmla="*/ 399245 h 399245"/>
              <a:gd name="csX0" fmla="*/ 3133860 w 3133860"/>
              <a:gd name="csY0" fmla="*/ 118930 h 518175"/>
              <a:gd name="csX1" fmla="*/ 0 w 3133860"/>
              <a:gd name="csY1" fmla="*/ 518175 h 518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133860" h="518175">
                <a:moveTo>
                  <a:pt x="3133860" y="118930"/>
                </a:moveTo>
                <a:cubicBezTo>
                  <a:pt x="1119032" y="-185870"/>
                  <a:pt x="465071" y="148981"/>
                  <a:pt x="0" y="518175"/>
                </a:cubicBezTo>
              </a:path>
            </a:pathLst>
          </a:custGeom>
          <a:noFill/>
          <a:ln w="381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77238239-3A40-0F4D-E3D4-74DB59AFFAE6}"/>
              </a:ext>
            </a:extLst>
          </p:cNvPr>
          <p:cNvSpPr/>
          <p:nvPr/>
        </p:nvSpPr>
        <p:spPr>
          <a:xfrm>
            <a:off x="9745014" y="5287306"/>
            <a:ext cx="1768699" cy="692784"/>
          </a:xfrm>
          <a:custGeom>
            <a:avLst/>
            <a:gdLst>
              <a:gd name="csX0" fmla="*/ 0 w 1768699"/>
              <a:gd name="csY0" fmla="*/ 0 h 635358"/>
              <a:gd name="csX1" fmla="*/ 1768699 w 1768699"/>
              <a:gd name="csY1" fmla="*/ 635358 h 635358"/>
              <a:gd name="csX0" fmla="*/ 0 w 1768699"/>
              <a:gd name="csY0" fmla="*/ 0 h 635358"/>
              <a:gd name="csX1" fmla="*/ 1768699 w 1768699"/>
              <a:gd name="csY1" fmla="*/ 635358 h 635358"/>
              <a:gd name="csX0" fmla="*/ 0 w 1768699"/>
              <a:gd name="csY0" fmla="*/ 57426 h 692784"/>
              <a:gd name="csX1" fmla="*/ 1768699 w 1768699"/>
              <a:gd name="csY1" fmla="*/ 692784 h 692784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768699" h="692784">
                <a:moveTo>
                  <a:pt x="0" y="57426"/>
                </a:moveTo>
                <a:cubicBezTo>
                  <a:pt x="842851" y="-31295"/>
                  <a:pt x="1548327" y="-128602"/>
                  <a:pt x="1768699" y="692784"/>
                </a:cubicBezTo>
              </a:path>
            </a:pathLst>
          </a:cu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12FD193-59D9-84C0-6092-61734F9339C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2506" y="1803996"/>
            <a:ext cx="5195466" cy="3870325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83172664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3634F7-7C99-2B6C-228A-96955D972F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SysTick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F35855-BA76-DC20-8BA9-81A6839A9B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sv-SE" sz="4000" b="0" i="1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Hur gör vi för att vänta i nästan exakt, 10us?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sv-SE" sz="2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Vi vet klockfrekvensen... Kan vi göra en liten loop?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sv-SE" sz="2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Jo... det kan vi, kanske, på den här processorn, men: </a:t>
            </a:r>
          </a:p>
          <a:p>
            <a:pPr marL="171450" marR="0" lvl="0" indent="-17145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sv-SE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Måste skriva den extremt noggrant i assembler...</a:t>
            </a:r>
          </a:p>
          <a:p>
            <a:pPr marL="171450" marR="0" lvl="0" indent="-17145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sv-SE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Omöjligt på arkitekturer som throttlar klockfrekvens.</a:t>
            </a:r>
          </a:p>
          <a:p>
            <a:pPr marL="171450" marR="0" lvl="0" indent="-17145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sv-SE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Då kan vi ju inte göra någonting annat medans vi väntar!</a:t>
            </a:r>
          </a:p>
          <a:p>
            <a:pPr marL="171450" marR="0" lvl="0" indent="-17145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sv-SE" sz="14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sv-SE" sz="14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indent="0">
              <a:buNone/>
            </a:pPr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5363764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0830CCEC-2EBD-5CA6-FC30-F6BD24CC8846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23000"/>
          </a:blip>
          <a:stretch>
            <a:fillRect/>
          </a:stretch>
        </p:blipFill>
        <p:spPr>
          <a:xfrm>
            <a:off x="0" y="3266941"/>
            <a:ext cx="2501149" cy="3591059"/>
          </a:xfrm>
          <a:prstGeom prst="rect">
            <a:avLst/>
          </a:prstGeom>
          <a:effectLst/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4BCC624-2869-9178-4DC6-5181814144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SysTick</a:t>
            </a:r>
            <a:endParaRPr lang="LID4096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A3D16C5-238E-E0B3-5855-590BD63E96D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27962" y="0"/>
            <a:ext cx="5664038" cy="68580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8710D20-C646-93B2-E9A7-B9431DF5184D}"/>
              </a:ext>
            </a:extLst>
          </p:cNvPr>
          <p:cNvSpPr txBox="1"/>
          <p:nvPr/>
        </p:nvSpPr>
        <p:spPr>
          <a:xfrm>
            <a:off x="346589" y="2219459"/>
            <a:ext cx="5094793" cy="184665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2400"/>
              <a:t>SysTick är en timer i microcontrollern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sv-SE"/>
              <a:t>Vi ställer in hur länge vi vill vänta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sv-SE"/>
              <a:t>Startar timern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sv-SE"/>
              <a:t>SysTick räknar på, vad processorn än </a:t>
            </a:r>
            <a:br>
              <a:rPr lang="sv-SE"/>
            </a:br>
            <a:r>
              <a:rPr lang="sv-SE"/>
              <a:t>har för sig.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sv-SE"/>
              <a:t>Då och då kollar vi om den räknat klart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A9A2D940-2E51-78CB-99EA-C5F7EA30F2F3}"/>
              </a:ext>
            </a:extLst>
          </p:cNvPr>
          <p:cNvGrpSpPr/>
          <p:nvPr/>
        </p:nvGrpSpPr>
        <p:grpSpPr>
          <a:xfrm>
            <a:off x="4464676" y="2223752"/>
            <a:ext cx="7598534" cy="549499"/>
            <a:chOff x="4464676" y="2223752"/>
            <a:chExt cx="7598534" cy="549499"/>
          </a:xfrm>
        </p:grpSpPr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2D5B0FD9-854C-F564-C760-C11048458AFB}"/>
                </a:ext>
              </a:extLst>
            </p:cNvPr>
            <p:cNvSpPr/>
            <p:nvPr/>
          </p:nvSpPr>
          <p:spPr>
            <a:xfrm>
              <a:off x="6606861" y="2223752"/>
              <a:ext cx="5456349" cy="403538"/>
            </a:xfrm>
            <a:prstGeom prst="roundRect">
              <a:avLst>
                <a:gd name="adj" fmla="val 6157"/>
              </a:avLst>
            </a:prstGeom>
            <a:noFill/>
            <a:ln w="38100"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C586BEF1-18BC-C77A-51DB-3934F94D13FF}"/>
                </a:ext>
              </a:extLst>
            </p:cNvPr>
            <p:cNvSpPr/>
            <p:nvPr/>
          </p:nvSpPr>
          <p:spPr>
            <a:xfrm>
              <a:off x="4464676" y="2412642"/>
              <a:ext cx="2137893" cy="360609"/>
            </a:xfrm>
            <a:custGeom>
              <a:avLst/>
              <a:gdLst>
                <a:gd name="csX0" fmla="*/ 0 w 2137893"/>
                <a:gd name="csY0" fmla="*/ 360609 h 360609"/>
                <a:gd name="csX1" fmla="*/ 2137893 w 2137893"/>
                <a:gd name="csY1" fmla="*/ 0 h 360609"/>
                <a:gd name="csX0" fmla="*/ 0 w 2137893"/>
                <a:gd name="csY0" fmla="*/ 360609 h 360609"/>
                <a:gd name="csX1" fmla="*/ 2137893 w 2137893"/>
                <a:gd name="csY1" fmla="*/ 0 h 360609"/>
                <a:gd name="csX0" fmla="*/ 0 w 2137893"/>
                <a:gd name="csY0" fmla="*/ 360609 h 360609"/>
                <a:gd name="csX1" fmla="*/ 2137893 w 2137893"/>
                <a:gd name="csY1" fmla="*/ 0 h 3606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37893" h="360609">
                  <a:moveTo>
                    <a:pt x="0" y="360609"/>
                  </a:moveTo>
                  <a:cubicBezTo>
                    <a:pt x="691166" y="343437"/>
                    <a:pt x="1330817" y="21465"/>
                    <a:pt x="2137893" y="0"/>
                  </a:cubicBezTo>
                </a:path>
              </a:pathLst>
            </a:custGeom>
            <a:noFill/>
            <a:ln w="25400"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16BAD49A-7BBD-D215-7F85-350283A92619}"/>
              </a:ext>
            </a:extLst>
          </p:cNvPr>
          <p:cNvGrpSpPr/>
          <p:nvPr/>
        </p:nvGrpSpPr>
        <p:grpSpPr>
          <a:xfrm>
            <a:off x="2826914" y="1476040"/>
            <a:ext cx="9232004" cy="1610588"/>
            <a:chOff x="2826914" y="1476040"/>
            <a:chExt cx="9232004" cy="1610588"/>
          </a:xfrm>
        </p:grpSpPr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8BA88243-7BEB-0B65-CAA3-212210BBF448}"/>
                </a:ext>
              </a:extLst>
            </p:cNvPr>
            <p:cNvSpPr/>
            <p:nvPr/>
          </p:nvSpPr>
          <p:spPr>
            <a:xfrm>
              <a:off x="6602569" y="1476040"/>
              <a:ext cx="5456349" cy="181042"/>
            </a:xfrm>
            <a:prstGeom prst="roundRect">
              <a:avLst>
                <a:gd name="adj" fmla="val 6157"/>
              </a:avLst>
            </a:prstGeom>
            <a:noFill/>
            <a:ln w="38100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C608F083-9EAF-ED7E-623A-E81037BAAD87}"/>
                </a:ext>
              </a:extLst>
            </p:cNvPr>
            <p:cNvSpPr/>
            <p:nvPr/>
          </p:nvSpPr>
          <p:spPr>
            <a:xfrm>
              <a:off x="2826914" y="1575506"/>
              <a:ext cx="3764924" cy="1511122"/>
            </a:xfrm>
            <a:custGeom>
              <a:avLst/>
              <a:gdLst>
                <a:gd name="csX0" fmla="*/ 0 w 2137893"/>
                <a:gd name="csY0" fmla="*/ 360609 h 360609"/>
                <a:gd name="csX1" fmla="*/ 2137893 w 2137893"/>
                <a:gd name="csY1" fmla="*/ 0 h 360609"/>
                <a:gd name="csX0" fmla="*/ 0 w 2137893"/>
                <a:gd name="csY0" fmla="*/ 360609 h 360609"/>
                <a:gd name="csX1" fmla="*/ 2137893 w 2137893"/>
                <a:gd name="csY1" fmla="*/ 0 h 360609"/>
                <a:gd name="csX0" fmla="*/ 0 w 2137893"/>
                <a:gd name="csY0" fmla="*/ 360609 h 360609"/>
                <a:gd name="csX1" fmla="*/ 2137893 w 2137893"/>
                <a:gd name="csY1" fmla="*/ 0 h 360609"/>
                <a:gd name="csX0" fmla="*/ 0 w 3764924"/>
                <a:gd name="csY0" fmla="*/ 1511122 h 1511122"/>
                <a:gd name="csX1" fmla="*/ 3764924 w 3764924"/>
                <a:gd name="csY1" fmla="*/ 0 h 1511122"/>
                <a:gd name="csX0" fmla="*/ 0 w 3764924"/>
                <a:gd name="csY0" fmla="*/ 1511122 h 1511122"/>
                <a:gd name="csX1" fmla="*/ 3764924 w 3764924"/>
                <a:gd name="csY1" fmla="*/ 0 h 1511122"/>
                <a:gd name="csX0" fmla="*/ 0 w 3764924"/>
                <a:gd name="csY0" fmla="*/ 1511122 h 1511122"/>
                <a:gd name="csX1" fmla="*/ 3764924 w 3764924"/>
                <a:gd name="csY1" fmla="*/ 0 h 151112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764924" h="1511122">
                  <a:moveTo>
                    <a:pt x="0" y="1511122"/>
                  </a:moveTo>
                  <a:cubicBezTo>
                    <a:pt x="1562637" y="1476778"/>
                    <a:pt x="2000519" y="94446"/>
                    <a:pt x="3764924" y="0"/>
                  </a:cubicBezTo>
                </a:path>
              </a:pathLst>
            </a:custGeom>
            <a:noFill/>
            <a:ln w="25400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AB622C6D-9A1B-D25A-558E-17D6E3EBEA1D}"/>
              </a:ext>
            </a:extLst>
          </p:cNvPr>
          <p:cNvGrpSpPr/>
          <p:nvPr/>
        </p:nvGrpSpPr>
        <p:grpSpPr>
          <a:xfrm>
            <a:off x="4902558" y="1864551"/>
            <a:ext cx="7156359" cy="1483956"/>
            <a:chOff x="4902558" y="1864551"/>
            <a:chExt cx="7156359" cy="1483956"/>
          </a:xfrm>
        </p:grpSpPr>
        <p:sp>
          <p:nvSpPr>
            <p:cNvPr id="13" name="Rectangle: Rounded Corners 12">
              <a:extLst>
                <a:ext uri="{FF2B5EF4-FFF2-40B4-BE49-F238E27FC236}">
                  <a16:creationId xmlns:a16="http://schemas.microsoft.com/office/drawing/2014/main" id="{85D2F67C-9BF8-53E8-8D6E-C7202BC5A175}"/>
                </a:ext>
              </a:extLst>
            </p:cNvPr>
            <p:cNvSpPr/>
            <p:nvPr/>
          </p:nvSpPr>
          <p:spPr>
            <a:xfrm>
              <a:off x="6602568" y="1864551"/>
              <a:ext cx="5456349" cy="354907"/>
            </a:xfrm>
            <a:prstGeom prst="roundRect">
              <a:avLst>
                <a:gd name="adj" fmla="val 6157"/>
              </a:avLst>
            </a:prstGeom>
            <a:noFill/>
            <a:ln w="38100">
              <a:solidFill>
                <a:schemeClr val="tx2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910A0C1E-A7D5-2221-2A9D-F3BC20402FF7}"/>
                </a:ext>
              </a:extLst>
            </p:cNvPr>
            <p:cNvSpPr/>
            <p:nvPr/>
          </p:nvSpPr>
          <p:spPr>
            <a:xfrm>
              <a:off x="4902558" y="2055813"/>
              <a:ext cx="1689279" cy="1292694"/>
            </a:xfrm>
            <a:custGeom>
              <a:avLst/>
              <a:gdLst>
                <a:gd name="csX0" fmla="*/ 0 w 2137893"/>
                <a:gd name="csY0" fmla="*/ 360609 h 360609"/>
                <a:gd name="csX1" fmla="*/ 2137893 w 2137893"/>
                <a:gd name="csY1" fmla="*/ 0 h 360609"/>
                <a:gd name="csX0" fmla="*/ 0 w 2137893"/>
                <a:gd name="csY0" fmla="*/ 360609 h 360609"/>
                <a:gd name="csX1" fmla="*/ 2137893 w 2137893"/>
                <a:gd name="csY1" fmla="*/ 0 h 360609"/>
                <a:gd name="csX0" fmla="*/ 0 w 2137893"/>
                <a:gd name="csY0" fmla="*/ 360609 h 360609"/>
                <a:gd name="csX1" fmla="*/ 2137893 w 2137893"/>
                <a:gd name="csY1" fmla="*/ 0 h 360609"/>
                <a:gd name="csX0" fmla="*/ 0 w 3764924"/>
                <a:gd name="csY0" fmla="*/ 1511122 h 1511122"/>
                <a:gd name="csX1" fmla="*/ 3764924 w 3764924"/>
                <a:gd name="csY1" fmla="*/ 0 h 1511122"/>
                <a:gd name="csX0" fmla="*/ 0 w 3764924"/>
                <a:gd name="csY0" fmla="*/ 1511122 h 1511122"/>
                <a:gd name="csX1" fmla="*/ 3764924 w 3764924"/>
                <a:gd name="csY1" fmla="*/ 0 h 1511122"/>
                <a:gd name="csX0" fmla="*/ 0 w 3764924"/>
                <a:gd name="csY0" fmla="*/ 1511122 h 1511122"/>
                <a:gd name="csX1" fmla="*/ 3764924 w 3764924"/>
                <a:gd name="csY1" fmla="*/ 0 h 151112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764924" h="1511122">
                  <a:moveTo>
                    <a:pt x="0" y="1511122"/>
                  </a:moveTo>
                  <a:cubicBezTo>
                    <a:pt x="1562637" y="1476778"/>
                    <a:pt x="2000519" y="94446"/>
                    <a:pt x="3764924" y="0"/>
                  </a:cubicBezTo>
                </a:path>
              </a:pathLst>
            </a:custGeom>
            <a:noFill/>
            <a:ln w="25400">
              <a:solidFill>
                <a:schemeClr val="tx2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081AC16B-AB4F-D47B-63B6-7A35D4AE09C7}"/>
              </a:ext>
            </a:extLst>
          </p:cNvPr>
          <p:cNvGrpSpPr/>
          <p:nvPr/>
        </p:nvGrpSpPr>
        <p:grpSpPr>
          <a:xfrm>
            <a:off x="5061342" y="1690688"/>
            <a:ext cx="7001868" cy="2161346"/>
            <a:chOff x="5061342" y="1690688"/>
            <a:chExt cx="7001868" cy="2161346"/>
          </a:xfrm>
        </p:grpSpPr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B1B05710-E5DC-22B6-6399-B23B81646015}"/>
                </a:ext>
              </a:extLst>
            </p:cNvPr>
            <p:cNvSpPr/>
            <p:nvPr/>
          </p:nvSpPr>
          <p:spPr>
            <a:xfrm>
              <a:off x="6606861" y="1690688"/>
              <a:ext cx="5456349" cy="146698"/>
            </a:xfrm>
            <a:prstGeom prst="roundRect">
              <a:avLst>
                <a:gd name="adj" fmla="val 6157"/>
              </a:avLst>
            </a:prstGeom>
            <a:noFill/>
            <a:ln w="38100"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4E1FB1B6-4985-B3C0-DEA5-9A445B7865F0}"/>
                </a:ext>
              </a:extLst>
            </p:cNvPr>
            <p:cNvSpPr/>
            <p:nvPr/>
          </p:nvSpPr>
          <p:spPr>
            <a:xfrm>
              <a:off x="5061342" y="1760113"/>
              <a:ext cx="1530496" cy="2091921"/>
            </a:xfrm>
            <a:custGeom>
              <a:avLst/>
              <a:gdLst>
                <a:gd name="csX0" fmla="*/ 0 w 2137893"/>
                <a:gd name="csY0" fmla="*/ 360609 h 360609"/>
                <a:gd name="csX1" fmla="*/ 2137893 w 2137893"/>
                <a:gd name="csY1" fmla="*/ 0 h 360609"/>
                <a:gd name="csX0" fmla="*/ 0 w 2137893"/>
                <a:gd name="csY0" fmla="*/ 360609 h 360609"/>
                <a:gd name="csX1" fmla="*/ 2137893 w 2137893"/>
                <a:gd name="csY1" fmla="*/ 0 h 360609"/>
                <a:gd name="csX0" fmla="*/ 0 w 2137893"/>
                <a:gd name="csY0" fmla="*/ 360609 h 360609"/>
                <a:gd name="csX1" fmla="*/ 2137893 w 2137893"/>
                <a:gd name="csY1" fmla="*/ 0 h 360609"/>
                <a:gd name="csX0" fmla="*/ 0 w 3764924"/>
                <a:gd name="csY0" fmla="*/ 1511122 h 1511122"/>
                <a:gd name="csX1" fmla="*/ 3764924 w 3764924"/>
                <a:gd name="csY1" fmla="*/ 0 h 1511122"/>
                <a:gd name="csX0" fmla="*/ 0 w 3764924"/>
                <a:gd name="csY0" fmla="*/ 1511122 h 1511122"/>
                <a:gd name="csX1" fmla="*/ 3764924 w 3764924"/>
                <a:gd name="csY1" fmla="*/ 0 h 1511122"/>
                <a:gd name="csX0" fmla="*/ 0 w 3764924"/>
                <a:gd name="csY0" fmla="*/ 1511122 h 1511122"/>
                <a:gd name="csX1" fmla="*/ 3764924 w 3764924"/>
                <a:gd name="csY1" fmla="*/ 0 h 151112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764924" h="1511122">
                  <a:moveTo>
                    <a:pt x="0" y="1511122"/>
                  </a:moveTo>
                  <a:cubicBezTo>
                    <a:pt x="1562637" y="1476778"/>
                    <a:pt x="2000519" y="94446"/>
                    <a:pt x="3764924" y="0"/>
                  </a:cubicBezTo>
                </a:path>
              </a:pathLst>
            </a:custGeom>
            <a:noFill/>
            <a:ln w="25400"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</p:spTree>
    <p:extLst>
      <p:ext uri="{BB962C8B-B14F-4D97-AF65-F5344CB8AC3E}">
        <p14:creationId xmlns:p14="http://schemas.microsoft.com/office/powerpoint/2010/main" val="8592475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CE6AFE-D614-CC0E-E4B7-B4D53C68BD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8FF9A4AB-C8EA-76EF-49D7-A9060B9A4795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23000"/>
          </a:blip>
          <a:stretch>
            <a:fillRect/>
          </a:stretch>
        </p:blipFill>
        <p:spPr>
          <a:xfrm>
            <a:off x="0" y="3266941"/>
            <a:ext cx="2501149" cy="3591059"/>
          </a:xfrm>
          <a:prstGeom prst="rect">
            <a:avLst/>
          </a:prstGeom>
          <a:effectLst/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64AF0FB-52A3-6275-112F-ACF43D04A4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SysTick</a:t>
            </a:r>
            <a:endParaRPr lang="LID4096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B7AD4DA-9458-B9A7-C7A7-606B5A74930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27962" y="0"/>
            <a:ext cx="5664038" cy="68580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88520D7-43EF-BB57-050A-5EDE1BD23FA3}"/>
              </a:ext>
            </a:extLst>
          </p:cNvPr>
          <p:cNvSpPr txBox="1"/>
          <p:nvPr/>
        </p:nvSpPr>
        <p:spPr>
          <a:xfrm>
            <a:off x="165213" y="1772098"/>
            <a:ext cx="6132555" cy="4401205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GB" sz="1200" dirty="0">
                <a:solidFill>
                  <a:srgbClr val="C586C0"/>
                </a:solidFill>
                <a:latin typeface="Consolas" panose="020B0609020204030204" pitchFamily="49" charset="0"/>
              </a:rPr>
              <a:t>#define</a:t>
            </a:r>
            <a:r>
              <a:rPr lang="en-GB" sz="1200" dirty="0">
                <a:solidFill>
                  <a:srgbClr val="569CD6"/>
                </a:solidFill>
                <a:latin typeface="Consolas" panose="020B0609020204030204" pitchFamily="49" charset="0"/>
              </a:rPr>
              <a:t> STK_CTRL  ((volatile </a:t>
            </a:r>
            <a:r>
              <a:rPr lang="en-GB" sz="1200" dirty="0">
                <a:solidFill>
                  <a:srgbClr val="4EC9B0"/>
                </a:solidFill>
                <a:latin typeface="Consolas" panose="020B0609020204030204" pitchFamily="49" charset="0"/>
              </a:rPr>
              <a:t>uint32_t</a:t>
            </a:r>
            <a:r>
              <a:rPr lang="en-GB" sz="1200" dirty="0">
                <a:solidFill>
                  <a:srgbClr val="569CD6"/>
                </a:solidFill>
                <a:latin typeface="Consolas" panose="020B0609020204030204" pitchFamily="49" charset="0"/>
              </a:rPr>
              <a:t> </a:t>
            </a:r>
            <a:r>
              <a:rPr lang="en-GB" sz="1200" dirty="0">
                <a:solidFill>
                  <a:srgbClr val="D4D4D4"/>
                </a:solidFill>
                <a:latin typeface="Consolas" panose="020B0609020204030204" pitchFamily="49" charset="0"/>
              </a:rPr>
              <a:t>*</a:t>
            </a:r>
            <a:r>
              <a:rPr lang="en-GB" sz="1200" dirty="0">
                <a:solidFill>
                  <a:srgbClr val="569CD6"/>
                </a:solidFill>
                <a:latin typeface="Consolas" panose="020B0609020204030204" pitchFamily="49" charset="0"/>
              </a:rPr>
              <a:t>)</a:t>
            </a:r>
            <a:r>
              <a:rPr lang="en-GB" sz="1200" dirty="0">
                <a:solidFill>
                  <a:srgbClr val="B5CEA8"/>
                </a:solidFill>
                <a:latin typeface="Consolas" panose="020B0609020204030204" pitchFamily="49" charset="0"/>
              </a:rPr>
              <a:t>0xE000F000</a:t>
            </a:r>
            <a:r>
              <a:rPr lang="en-GB" sz="1200" dirty="0">
                <a:solidFill>
                  <a:srgbClr val="569CD6"/>
                </a:solidFill>
                <a:latin typeface="Consolas" panose="020B0609020204030204" pitchFamily="49" charset="0"/>
              </a:rPr>
              <a:t>)</a:t>
            </a:r>
            <a:endParaRPr lang="en-GB" sz="12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 dirty="0">
                <a:solidFill>
                  <a:srgbClr val="C586C0"/>
                </a:solidFill>
                <a:latin typeface="Consolas" panose="020B0609020204030204" pitchFamily="49" charset="0"/>
              </a:rPr>
              <a:t>#define</a:t>
            </a:r>
            <a:r>
              <a:rPr lang="en-GB" sz="1200" dirty="0">
                <a:solidFill>
                  <a:srgbClr val="569CD6"/>
                </a:solidFill>
                <a:latin typeface="Consolas" panose="020B0609020204030204" pitchFamily="49" charset="0"/>
              </a:rPr>
              <a:t> STK_SR    ((volatile </a:t>
            </a:r>
            <a:r>
              <a:rPr lang="en-GB" sz="1200" dirty="0">
                <a:solidFill>
                  <a:srgbClr val="4EC9B0"/>
                </a:solidFill>
                <a:latin typeface="Consolas" panose="020B0609020204030204" pitchFamily="49" charset="0"/>
              </a:rPr>
              <a:t>uint32_t</a:t>
            </a:r>
            <a:r>
              <a:rPr lang="en-GB" sz="1200" dirty="0">
                <a:solidFill>
                  <a:srgbClr val="569CD6"/>
                </a:solidFill>
                <a:latin typeface="Consolas" panose="020B0609020204030204" pitchFamily="49" charset="0"/>
              </a:rPr>
              <a:t> </a:t>
            </a:r>
            <a:r>
              <a:rPr lang="en-GB" sz="1200" dirty="0">
                <a:solidFill>
                  <a:srgbClr val="D4D4D4"/>
                </a:solidFill>
                <a:latin typeface="Consolas" panose="020B0609020204030204" pitchFamily="49" charset="0"/>
              </a:rPr>
              <a:t>*</a:t>
            </a:r>
            <a:r>
              <a:rPr lang="en-GB" sz="1200" dirty="0">
                <a:solidFill>
                  <a:srgbClr val="569CD6"/>
                </a:solidFill>
                <a:latin typeface="Consolas" panose="020B0609020204030204" pitchFamily="49" charset="0"/>
              </a:rPr>
              <a:t>)</a:t>
            </a:r>
            <a:r>
              <a:rPr lang="en-GB" sz="1200" dirty="0">
                <a:solidFill>
                  <a:srgbClr val="B5CEA8"/>
                </a:solidFill>
                <a:latin typeface="Consolas" panose="020B0609020204030204" pitchFamily="49" charset="0"/>
              </a:rPr>
              <a:t>0xE000F004</a:t>
            </a:r>
            <a:r>
              <a:rPr lang="en-GB" sz="1200" dirty="0">
                <a:solidFill>
                  <a:srgbClr val="569CD6"/>
                </a:solidFill>
                <a:latin typeface="Consolas" panose="020B0609020204030204" pitchFamily="49" charset="0"/>
              </a:rPr>
              <a:t>)  </a:t>
            </a:r>
            <a:endParaRPr lang="en-GB" sz="12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 dirty="0">
                <a:solidFill>
                  <a:srgbClr val="C586C0"/>
                </a:solidFill>
                <a:latin typeface="Consolas" panose="020B0609020204030204" pitchFamily="49" charset="0"/>
              </a:rPr>
              <a:t>#define</a:t>
            </a:r>
            <a:r>
              <a:rPr lang="en-GB" sz="1200" dirty="0">
                <a:solidFill>
                  <a:srgbClr val="569CD6"/>
                </a:solidFill>
                <a:latin typeface="Consolas" panose="020B0609020204030204" pitchFamily="49" charset="0"/>
              </a:rPr>
              <a:t> STK_CMPLR ((volatile </a:t>
            </a:r>
            <a:r>
              <a:rPr lang="en-GB" sz="1200" dirty="0">
                <a:solidFill>
                  <a:srgbClr val="4EC9B0"/>
                </a:solidFill>
                <a:latin typeface="Consolas" panose="020B0609020204030204" pitchFamily="49" charset="0"/>
              </a:rPr>
              <a:t>uint32_t</a:t>
            </a:r>
            <a:r>
              <a:rPr lang="en-GB" sz="1200" dirty="0">
                <a:solidFill>
                  <a:srgbClr val="569CD6"/>
                </a:solidFill>
                <a:latin typeface="Consolas" panose="020B0609020204030204" pitchFamily="49" charset="0"/>
              </a:rPr>
              <a:t> </a:t>
            </a:r>
            <a:r>
              <a:rPr lang="en-GB" sz="1200" dirty="0">
                <a:solidFill>
                  <a:srgbClr val="D4D4D4"/>
                </a:solidFill>
                <a:latin typeface="Consolas" panose="020B0609020204030204" pitchFamily="49" charset="0"/>
              </a:rPr>
              <a:t>*</a:t>
            </a:r>
            <a:r>
              <a:rPr lang="en-GB" sz="1200" dirty="0">
                <a:solidFill>
                  <a:srgbClr val="569CD6"/>
                </a:solidFill>
                <a:latin typeface="Consolas" panose="020B0609020204030204" pitchFamily="49" charset="0"/>
              </a:rPr>
              <a:t>)</a:t>
            </a:r>
            <a:r>
              <a:rPr lang="en-GB" sz="1200" dirty="0">
                <a:solidFill>
                  <a:srgbClr val="B5CEA8"/>
                </a:solidFill>
                <a:latin typeface="Consolas" panose="020B0609020204030204" pitchFamily="49" charset="0"/>
              </a:rPr>
              <a:t>0xE000F010</a:t>
            </a:r>
            <a:r>
              <a:rPr lang="en-GB" sz="1200" dirty="0">
                <a:solidFill>
                  <a:srgbClr val="569CD6"/>
                </a:solidFill>
                <a:latin typeface="Consolas" panose="020B0609020204030204" pitchFamily="49" charset="0"/>
              </a:rPr>
              <a:t>)</a:t>
            </a:r>
            <a:endParaRPr lang="en-GB" sz="12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 dirty="0">
                <a:solidFill>
                  <a:srgbClr val="C586C0"/>
                </a:solidFill>
                <a:latin typeface="Consolas" panose="020B0609020204030204" pitchFamily="49" charset="0"/>
              </a:rPr>
              <a:t>#define</a:t>
            </a:r>
            <a:r>
              <a:rPr lang="en-GB" sz="1200" dirty="0">
                <a:solidFill>
                  <a:srgbClr val="569CD6"/>
                </a:solidFill>
                <a:latin typeface="Consolas" panose="020B0609020204030204" pitchFamily="49" charset="0"/>
              </a:rPr>
              <a:t> STK_CMPHR ((volatile </a:t>
            </a:r>
            <a:r>
              <a:rPr lang="en-GB" sz="1200" dirty="0">
                <a:solidFill>
                  <a:srgbClr val="4EC9B0"/>
                </a:solidFill>
                <a:latin typeface="Consolas" panose="020B0609020204030204" pitchFamily="49" charset="0"/>
              </a:rPr>
              <a:t>uint32_t</a:t>
            </a:r>
            <a:r>
              <a:rPr lang="en-GB" sz="1200" dirty="0">
                <a:solidFill>
                  <a:srgbClr val="569CD6"/>
                </a:solidFill>
                <a:latin typeface="Consolas" panose="020B0609020204030204" pitchFamily="49" charset="0"/>
              </a:rPr>
              <a:t> </a:t>
            </a:r>
            <a:r>
              <a:rPr lang="en-GB" sz="1200" dirty="0">
                <a:solidFill>
                  <a:srgbClr val="D4D4D4"/>
                </a:solidFill>
                <a:latin typeface="Consolas" panose="020B0609020204030204" pitchFamily="49" charset="0"/>
              </a:rPr>
              <a:t>*</a:t>
            </a:r>
            <a:r>
              <a:rPr lang="en-GB" sz="1200" dirty="0">
                <a:solidFill>
                  <a:srgbClr val="569CD6"/>
                </a:solidFill>
                <a:latin typeface="Consolas" panose="020B0609020204030204" pitchFamily="49" charset="0"/>
              </a:rPr>
              <a:t>)</a:t>
            </a:r>
            <a:r>
              <a:rPr lang="en-GB" sz="1200" dirty="0">
                <a:solidFill>
                  <a:srgbClr val="B5CEA8"/>
                </a:solidFill>
                <a:latin typeface="Consolas" panose="020B0609020204030204" pitchFamily="49" charset="0"/>
              </a:rPr>
              <a:t>0xE000F014</a:t>
            </a:r>
            <a:r>
              <a:rPr lang="en-GB" sz="1200" dirty="0">
                <a:solidFill>
                  <a:srgbClr val="569CD6"/>
                </a:solidFill>
                <a:latin typeface="Consolas" panose="020B0609020204030204" pitchFamily="49" charset="0"/>
              </a:rPr>
              <a:t>)</a:t>
            </a:r>
            <a:endParaRPr lang="en-GB" sz="12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endParaRPr lang="en-GB" sz="12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 dirty="0">
                <a:solidFill>
                  <a:srgbClr val="569CD6"/>
                </a:solidFill>
                <a:latin typeface="Consolas" panose="020B0609020204030204" pitchFamily="49" charset="0"/>
              </a:rPr>
              <a:t>int</a:t>
            </a:r>
            <a:r>
              <a:rPr lang="en-GB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 dirty="0">
                <a:solidFill>
                  <a:srgbClr val="DCDCAA"/>
                </a:solidFill>
                <a:latin typeface="Consolas" panose="020B0609020204030204" pitchFamily="49" charset="0"/>
              </a:rPr>
              <a:t>main</a:t>
            </a:r>
            <a:r>
              <a:rPr lang="en-GB" sz="1200" dirty="0">
                <a:solidFill>
                  <a:srgbClr val="CCCCCC"/>
                </a:solidFill>
                <a:latin typeface="Consolas" panose="020B0609020204030204" pitchFamily="49" charset="0"/>
              </a:rPr>
              <a:t>()</a:t>
            </a:r>
          </a:p>
          <a:p>
            <a:pPr>
              <a:lnSpc>
                <a:spcPts val="1425"/>
              </a:lnSpc>
              <a:buNone/>
            </a:pPr>
            <a:r>
              <a:rPr lang="en-GB" sz="1200" dirty="0">
                <a:solidFill>
                  <a:srgbClr val="CCCCCC"/>
                </a:solidFill>
                <a:latin typeface="Consolas" panose="020B0609020204030204" pitchFamily="49" charset="0"/>
              </a:rPr>
              <a:t>{</a:t>
            </a:r>
          </a:p>
          <a:p>
            <a:pPr>
              <a:lnSpc>
                <a:spcPts val="1425"/>
              </a:lnSpc>
              <a:buNone/>
            </a:pPr>
            <a:r>
              <a:rPr lang="en-GB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GB" sz="1200" dirty="0">
                <a:solidFill>
                  <a:srgbClr val="6A9955"/>
                </a:solidFill>
                <a:latin typeface="Consolas" panose="020B0609020204030204" pitchFamily="49" charset="0"/>
              </a:rPr>
              <a:t>// Hur </a:t>
            </a:r>
            <a:r>
              <a:rPr lang="en-GB" sz="1200" dirty="0" err="1">
                <a:solidFill>
                  <a:srgbClr val="6A9955"/>
                </a:solidFill>
                <a:latin typeface="Consolas" panose="020B0609020204030204" pitchFamily="49" charset="0"/>
              </a:rPr>
              <a:t>många</a:t>
            </a:r>
            <a:r>
              <a:rPr lang="en-GB" sz="1200" dirty="0">
                <a:solidFill>
                  <a:srgbClr val="6A9955"/>
                </a:solidFill>
                <a:latin typeface="Consolas" panose="020B0609020204030204" pitchFamily="49" charset="0"/>
              </a:rPr>
              <a:t> </a:t>
            </a:r>
            <a:r>
              <a:rPr lang="en-GB" sz="1200" dirty="0" err="1">
                <a:solidFill>
                  <a:srgbClr val="6A9955"/>
                </a:solidFill>
                <a:latin typeface="Consolas" panose="020B0609020204030204" pitchFamily="49" charset="0"/>
              </a:rPr>
              <a:t>klockcykler</a:t>
            </a:r>
            <a:r>
              <a:rPr lang="en-GB" sz="1200" dirty="0">
                <a:solidFill>
                  <a:srgbClr val="6A9955"/>
                </a:solidFill>
                <a:latin typeface="Consolas" panose="020B0609020204030204" pitchFamily="49" charset="0"/>
              </a:rPr>
              <a:t> </a:t>
            </a:r>
            <a:r>
              <a:rPr lang="en-GB" sz="1200" dirty="0" err="1">
                <a:solidFill>
                  <a:srgbClr val="6A9955"/>
                </a:solidFill>
                <a:latin typeface="Consolas" panose="020B0609020204030204" pitchFamily="49" charset="0"/>
              </a:rPr>
              <a:t>är</a:t>
            </a:r>
            <a:r>
              <a:rPr lang="en-GB" sz="1200" dirty="0">
                <a:solidFill>
                  <a:srgbClr val="6A9955"/>
                </a:solidFill>
                <a:latin typeface="Consolas" panose="020B0609020204030204" pitchFamily="49" charset="0"/>
              </a:rPr>
              <a:t> det </a:t>
            </a:r>
            <a:r>
              <a:rPr lang="en-GB" sz="1200" dirty="0" err="1">
                <a:solidFill>
                  <a:srgbClr val="6A9955"/>
                </a:solidFill>
                <a:latin typeface="Consolas" panose="020B0609020204030204" pitchFamily="49" charset="0"/>
              </a:rPr>
              <a:t>på</a:t>
            </a:r>
            <a:r>
              <a:rPr lang="en-GB" sz="1200" dirty="0">
                <a:solidFill>
                  <a:srgbClr val="6A9955"/>
                </a:solidFill>
                <a:latin typeface="Consolas" panose="020B0609020204030204" pitchFamily="49" charset="0"/>
              </a:rPr>
              <a:t> 5 </a:t>
            </a:r>
            <a:r>
              <a:rPr lang="en-GB" sz="1200" dirty="0" err="1">
                <a:solidFill>
                  <a:srgbClr val="6A9955"/>
                </a:solidFill>
                <a:latin typeface="Consolas" panose="020B0609020204030204" pitchFamily="49" charset="0"/>
              </a:rPr>
              <a:t>sekunder</a:t>
            </a:r>
            <a:r>
              <a:rPr lang="en-GB" sz="1200" dirty="0">
                <a:solidFill>
                  <a:srgbClr val="6A9955"/>
                </a:solidFill>
                <a:latin typeface="Consolas" panose="020B0609020204030204" pitchFamily="49" charset="0"/>
              </a:rPr>
              <a:t>? </a:t>
            </a:r>
            <a:endParaRPr lang="en-GB" sz="12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GB" sz="1200" dirty="0">
                <a:solidFill>
                  <a:srgbClr val="6A9955"/>
                </a:solidFill>
                <a:latin typeface="Consolas" panose="020B0609020204030204" pitchFamily="49" charset="0"/>
              </a:rPr>
              <a:t>// </a:t>
            </a:r>
            <a:r>
              <a:rPr lang="en-GB" sz="1200" dirty="0" err="1">
                <a:solidFill>
                  <a:srgbClr val="6A9955"/>
                </a:solidFill>
                <a:latin typeface="Consolas" panose="020B0609020204030204" pitchFamily="49" charset="0"/>
              </a:rPr>
              <a:t>Klockfrekvensen</a:t>
            </a:r>
            <a:r>
              <a:rPr lang="en-GB" sz="1200" dirty="0">
                <a:solidFill>
                  <a:srgbClr val="6A9955"/>
                </a:solidFill>
                <a:latin typeface="Consolas" panose="020B0609020204030204" pitchFamily="49" charset="0"/>
              </a:rPr>
              <a:t> </a:t>
            </a:r>
            <a:r>
              <a:rPr lang="en-GB" sz="1200" dirty="0" err="1">
                <a:solidFill>
                  <a:srgbClr val="6A9955"/>
                </a:solidFill>
                <a:latin typeface="Consolas" panose="020B0609020204030204" pitchFamily="49" charset="0"/>
              </a:rPr>
              <a:t>är</a:t>
            </a:r>
            <a:r>
              <a:rPr lang="en-GB" sz="1200" dirty="0">
                <a:solidFill>
                  <a:srgbClr val="6A9955"/>
                </a:solidFill>
                <a:latin typeface="Consolas" panose="020B0609020204030204" pitchFamily="49" charset="0"/>
              </a:rPr>
              <a:t> 144MHz, </a:t>
            </a:r>
            <a:r>
              <a:rPr lang="en-GB" sz="1200" dirty="0" err="1">
                <a:solidFill>
                  <a:srgbClr val="6A9955"/>
                </a:solidFill>
                <a:latin typeface="Consolas" panose="020B0609020204030204" pitchFamily="49" charset="0"/>
              </a:rPr>
              <a:t>så</a:t>
            </a:r>
            <a:r>
              <a:rPr lang="en-GB" sz="1200" dirty="0">
                <a:solidFill>
                  <a:srgbClr val="6A9955"/>
                </a:solidFill>
                <a:latin typeface="Consolas" panose="020B0609020204030204" pitchFamily="49" charset="0"/>
              </a:rPr>
              <a:t> 144 </a:t>
            </a:r>
            <a:r>
              <a:rPr lang="en-GB" sz="1200" dirty="0" err="1">
                <a:solidFill>
                  <a:srgbClr val="6A9955"/>
                </a:solidFill>
                <a:latin typeface="Consolas" panose="020B0609020204030204" pitchFamily="49" charset="0"/>
              </a:rPr>
              <a:t>miljoner</a:t>
            </a:r>
            <a:r>
              <a:rPr lang="en-GB" sz="1200" dirty="0">
                <a:solidFill>
                  <a:srgbClr val="6A9955"/>
                </a:solidFill>
                <a:latin typeface="Consolas" panose="020B0609020204030204" pitchFamily="49" charset="0"/>
              </a:rPr>
              <a:t> </a:t>
            </a:r>
            <a:r>
              <a:rPr lang="en-GB" sz="1200" dirty="0" err="1">
                <a:solidFill>
                  <a:srgbClr val="6A9955"/>
                </a:solidFill>
                <a:latin typeface="Consolas" panose="020B0609020204030204" pitchFamily="49" charset="0"/>
              </a:rPr>
              <a:t>cykler</a:t>
            </a:r>
            <a:r>
              <a:rPr lang="en-GB" sz="1200" dirty="0">
                <a:solidFill>
                  <a:srgbClr val="6A9955"/>
                </a:solidFill>
                <a:latin typeface="Consolas" panose="020B0609020204030204" pitchFamily="49" charset="0"/>
              </a:rPr>
              <a:t> per </a:t>
            </a:r>
            <a:r>
              <a:rPr lang="en-GB" sz="1200" dirty="0" err="1">
                <a:solidFill>
                  <a:srgbClr val="6A9955"/>
                </a:solidFill>
                <a:latin typeface="Consolas" panose="020B0609020204030204" pitchFamily="49" charset="0"/>
              </a:rPr>
              <a:t>sekund</a:t>
            </a:r>
            <a:r>
              <a:rPr lang="en-GB" sz="1200" dirty="0">
                <a:solidFill>
                  <a:srgbClr val="6A9955"/>
                </a:solidFill>
                <a:latin typeface="Consolas" panose="020B0609020204030204" pitchFamily="49" charset="0"/>
              </a:rPr>
              <a:t>. </a:t>
            </a:r>
            <a:endParaRPr lang="en-GB" sz="12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GB" sz="1200" dirty="0">
                <a:solidFill>
                  <a:srgbClr val="6A9955"/>
                </a:solidFill>
                <a:latin typeface="Consolas" panose="020B0609020204030204" pitchFamily="49" charset="0"/>
              </a:rPr>
              <a:t>// 144 </a:t>
            </a:r>
            <a:r>
              <a:rPr lang="en-GB" sz="1200" dirty="0" err="1">
                <a:solidFill>
                  <a:srgbClr val="6A9955"/>
                </a:solidFill>
                <a:latin typeface="Consolas" panose="020B0609020204030204" pitchFamily="49" charset="0"/>
              </a:rPr>
              <a:t>miljoner</a:t>
            </a:r>
            <a:r>
              <a:rPr lang="en-GB" sz="1200" dirty="0">
                <a:solidFill>
                  <a:srgbClr val="6A9955"/>
                </a:solidFill>
                <a:latin typeface="Consolas" panose="020B0609020204030204" pitchFamily="49" charset="0"/>
              </a:rPr>
              <a:t> * 5 </a:t>
            </a:r>
            <a:r>
              <a:rPr lang="en-GB" sz="1200" dirty="0" err="1">
                <a:solidFill>
                  <a:srgbClr val="6A9955"/>
                </a:solidFill>
                <a:latin typeface="Consolas" panose="020B0609020204030204" pitchFamily="49" charset="0"/>
              </a:rPr>
              <a:t>sekunder</a:t>
            </a:r>
            <a:r>
              <a:rPr lang="en-GB" sz="1200" dirty="0">
                <a:solidFill>
                  <a:srgbClr val="6A9955"/>
                </a:solidFill>
                <a:latin typeface="Consolas" panose="020B0609020204030204" pitchFamily="49" charset="0"/>
              </a:rPr>
              <a:t> = 720 </a:t>
            </a:r>
            <a:r>
              <a:rPr lang="en-GB" sz="1200" dirty="0" err="1">
                <a:solidFill>
                  <a:srgbClr val="6A9955"/>
                </a:solidFill>
                <a:latin typeface="Consolas" panose="020B0609020204030204" pitchFamily="49" charset="0"/>
              </a:rPr>
              <a:t>miljoner</a:t>
            </a:r>
            <a:r>
              <a:rPr lang="en-GB" sz="1200" dirty="0">
                <a:solidFill>
                  <a:srgbClr val="6A9955"/>
                </a:solidFill>
                <a:latin typeface="Consolas" panose="020B0609020204030204" pitchFamily="49" charset="0"/>
              </a:rPr>
              <a:t> </a:t>
            </a:r>
            <a:r>
              <a:rPr lang="en-GB" sz="1200" dirty="0" err="1">
                <a:solidFill>
                  <a:srgbClr val="6A9955"/>
                </a:solidFill>
                <a:latin typeface="Consolas" panose="020B0609020204030204" pitchFamily="49" charset="0"/>
              </a:rPr>
              <a:t>cykler</a:t>
            </a:r>
            <a:r>
              <a:rPr lang="en-GB" sz="1200" dirty="0">
                <a:solidFill>
                  <a:srgbClr val="6A9955"/>
                </a:solidFill>
                <a:latin typeface="Consolas" panose="020B0609020204030204" pitchFamily="49" charset="0"/>
              </a:rPr>
              <a:t>.</a:t>
            </a:r>
            <a:endParaRPr lang="en-GB" sz="12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GB" sz="1200" dirty="0">
                <a:solidFill>
                  <a:srgbClr val="6A9955"/>
                </a:solidFill>
                <a:latin typeface="Consolas" panose="020B0609020204030204" pitchFamily="49" charset="0"/>
              </a:rPr>
              <a:t>// </a:t>
            </a:r>
            <a:r>
              <a:rPr lang="en-GB" sz="1200" dirty="0" err="1">
                <a:solidFill>
                  <a:srgbClr val="6A9955"/>
                </a:solidFill>
                <a:latin typeface="Consolas" panose="020B0609020204030204" pitchFamily="49" charset="0"/>
              </a:rPr>
              <a:t>Ställ</a:t>
            </a:r>
            <a:r>
              <a:rPr lang="en-GB" sz="1200" dirty="0">
                <a:solidFill>
                  <a:srgbClr val="6A9955"/>
                </a:solidFill>
                <a:latin typeface="Consolas" panose="020B0609020204030204" pitchFamily="49" charset="0"/>
              </a:rPr>
              <a:t> in </a:t>
            </a:r>
            <a:r>
              <a:rPr lang="en-GB" sz="1200" dirty="0" err="1">
                <a:solidFill>
                  <a:srgbClr val="6A9955"/>
                </a:solidFill>
                <a:latin typeface="Consolas" panose="020B0609020204030204" pitchFamily="49" charset="0"/>
              </a:rPr>
              <a:t>SysTick</a:t>
            </a:r>
            <a:r>
              <a:rPr lang="en-GB" sz="1200" dirty="0">
                <a:solidFill>
                  <a:srgbClr val="6A9955"/>
                </a:solidFill>
                <a:latin typeface="Consolas" panose="020B0609020204030204" pitchFamily="49" charset="0"/>
              </a:rPr>
              <a:t> </a:t>
            </a:r>
            <a:r>
              <a:rPr lang="en-GB" sz="1200" dirty="0" err="1">
                <a:solidFill>
                  <a:srgbClr val="6A9955"/>
                </a:solidFill>
                <a:latin typeface="Consolas" panose="020B0609020204030204" pitchFamily="49" charset="0"/>
              </a:rPr>
              <a:t>på</a:t>
            </a:r>
            <a:r>
              <a:rPr lang="en-GB" sz="1200" dirty="0">
                <a:solidFill>
                  <a:srgbClr val="6A9955"/>
                </a:solidFill>
                <a:latin typeface="Consolas" panose="020B0609020204030204" pitchFamily="49" charset="0"/>
              </a:rPr>
              <a:t> </a:t>
            </a:r>
            <a:r>
              <a:rPr lang="en-GB" sz="1200" dirty="0" err="1">
                <a:solidFill>
                  <a:srgbClr val="6A9955"/>
                </a:solidFill>
                <a:latin typeface="Consolas" panose="020B0609020204030204" pitchFamily="49" charset="0"/>
              </a:rPr>
              <a:t>att</a:t>
            </a:r>
            <a:r>
              <a:rPr lang="en-GB" sz="1200" dirty="0">
                <a:solidFill>
                  <a:srgbClr val="6A9955"/>
                </a:solidFill>
                <a:latin typeface="Consolas" panose="020B0609020204030204" pitchFamily="49" charset="0"/>
              </a:rPr>
              <a:t> </a:t>
            </a:r>
            <a:r>
              <a:rPr lang="en-GB" sz="1200" dirty="0" err="1">
                <a:solidFill>
                  <a:srgbClr val="6A9955"/>
                </a:solidFill>
                <a:latin typeface="Consolas" panose="020B0609020204030204" pitchFamily="49" charset="0"/>
              </a:rPr>
              <a:t>räkna</a:t>
            </a:r>
            <a:r>
              <a:rPr lang="en-GB" sz="1200" dirty="0">
                <a:solidFill>
                  <a:srgbClr val="6A9955"/>
                </a:solidFill>
                <a:latin typeface="Consolas" panose="020B0609020204030204" pitchFamily="49" charset="0"/>
              </a:rPr>
              <a:t> </a:t>
            </a:r>
            <a:r>
              <a:rPr lang="en-GB" sz="1200" dirty="0" err="1">
                <a:solidFill>
                  <a:srgbClr val="6A9955"/>
                </a:solidFill>
                <a:latin typeface="Consolas" panose="020B0609020204030204" pitchFamily="49" charset="0"/>
              </a:rPr>
              <a:t>ner</a:t>
            </a:r>
            <a:r>
              <a:rPr lang="en-GB" sz="1200" dirty="0">
                <a:solidFill>
                  <a:srgbClr val="6A9955"/>
                </a:solidFill>
                <a:latin typeface="Consolas" panose="020B0609020204030204" pitchFamily="49" charset="0"/>
              </a:rPr>
              <a:t> </a:t>
            </a:r>
            <a:r>
              <a:rPr lang="en-GB" sz="1200" dirty="0" err="1">
                <a:solidFill>
                  <a:srgbClr val="6A9955"/>
                </a:solidFill>
                <a:latin typeface="Consolas" panose="020B0609020204030204" pitchFamily="49" charset="0"/>
              </a:rPr>
              <a:t>från</a:t>
            </a:r>
            <a:r>
              <a:rPr lang="en-GB" sz="1200" dirty="0">
                <a:solidFill>
                  <a:srgbClr val="6A9955"/>
                </a:solidFill>
                <a:latin typeface="Consolas" panose="020B0609020204030204" pitchFamily="49" charset="0"/>
              </a:rPr>
              <a:t> 720 </a:t>
            </a:r>
            <a:r>
              <a:rPr lang="en-GB" sz="1200" dirty="0" err="1">
                <a:solidFill>
                  <a:srgbClr val="6A9955"/>
                </a:solidFill>
                <a:latin typeface="Consolas" panose="020B0609020204030204" pitchFamily="49" charset="0"/>
              </a:rPr>
              <a:t>miljoner</a:t>
            </a:r>
            <a:endParaRPr lang="en-GB" sz="12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GB" sz="1200" dirty="0">
                <a:solidFill>
                  <a:srgbClr val="D4D4D4"/>
                </a:solidFill>
                <a:latin typeface="Consolas" panose="020B0609020204030204" pitchFamily="49" charset="0"/>
              </a:rPr>
              <a:t>*</a:t>
            </a:r>
            <a:r>
              <a:rPr lang="en-GB" sz="1200" dirty="0">
                <a:solidFill>
                  <a:srgbClr val="569CD6"/>
                </a:solidFill>
                <a:latin typeface="Consolas" panose="020B0609020204030204" pitchFamily="49" charset="0"/>
              </a:rPr>
              <a:t>STK_CMPLR</a:t>
            </a:r>
            <a:r>
              <a:rPr lang="en-GB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GB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 dirty="0">
                <a:solidFill>
                  <a:srgbClr val="B5CEA8"/>
                </a:solidFill>
                <a:latin typeface="Consolas" panose="020B0609020204030204" pitchFamily="49" charset="0"/>
              </a:rPr>
              <a:t>720000000</a:t>
            </a:r>
            <a:r>
              <a:rPr lang="en-GB" sz="1200" dirty="0">
                <a:solidFill>
                  <a:srgbClr val="CCCCCC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GB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GB" sz="1200" dirty="0">
                <a:solidFill>
                  <a:srgbClr val="D4D4D4"/>
                </a:solidFill>
                <a:latin typeface="Consolas" panose="020B0609020204030204" pitchFamily="49" charset="0"/>
              </a:rPr>
              <a:t>*</a:t>
            </a:r>
            <a:r>
              <a:rPr lang="en-GB" sz="1200" dirty="0">
                <a:solidFill>
                  <a:srgbClr val="569CD6"/>
                </a:solidFill>
                <a:latin typeface="Consolas" panose="020B0609020204030204" pitchFamily="49" charset="0"/>
              </a:rPr>
              <a:t>STK_CMPHR</a:t>
            </a:r>
            <a:r>
              <a:rPr lang="en-GB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GB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 dirty="0">
                <a:solidFill>
                  <a:srgbClr val="B5CEA8"/>
                </a:solidFill>
                <a:latin typeface="Consolas" panose="020B0609020204030204" pitchFamily="49" charset="0"/>
              </a:rPr>
              <a:t>0</a:t>
            </a:r>
            <a:r>
              <a:rPr lang="en-GB" sz="1200" dirty="0">
                <a:solidFill>
                  <a:srgbClr val="CCCCCC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GB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GB" sz="1200" dirty="0">
                <a:solidFill>
                  <a:srgbClr val="6A9955"/>
                </a:solidFill>
                <a:latin typeface="Consolas" panose="020B0609020204030204" pitchFamily="49" charset="0"/>
              </a:rPr>
              <a:t>// Vi </a:t>
            </a:r>
            <a:r>
              <a:rPr lang="en-GB" sz="1200" dirty="0" err="1">
                <a:solidFill>
                  <a:srgbClr val="6A9955"/>
                </a:solidFill>
                <a:latin typeface="Consolas" panose="020B0609020204030204" pitchFamily="49" charset="0"/>
              </a:rPr>
              <a:t>vill</a:t>
            </a:r>
            <a:r>
              <a:rPr lang="en-GB" sz="1200" dirty="0">
                <a:solidFill>
                  <a:srgbClr val="6A9955"/>
                </a:solidFill>
                <a:latin typeface="Consolas" panose="020B0609020204030204" pitchFamily="49" charset="0"/>
              </a:rPr>
              <a:t> </a:t>
            </a:r>
            <a:r>
              <a:rPr lang="en-GB" sz="1200" dirty="0" err="1">
                <a:solidFill>
                  <a:srgbClr val="6A9955"/>
                </a:solidFill>
                <a:latin typeface="Consolas" panose="020B0609020204030204" pitchFamily="49" charset="0"/>
              </a:rPr>
              <a:t>att</a:t>
            </a:r>
            <a:r>
              <a:rPr lang="en-GB" sz="1200" dirty="0">
                <a:solidFill>
                  <a:srgbClr val="6A9955"/>
                </a:solidFill>
                <a:latin typeface="Consolas" panose="020B0609020204030204" pitchFamily="49" charset="0"/>
              </a:rPr>
              <a:t> den </a:t>
            </a:r>
            <a:r>
              <a:rPr lang="en-GB" sz="1200" dirty="0" err="1">
                <a:solidFill>
                  <a:srgbClr val="6A9955"/>
                </a:solidFill>
                <a:latin typeface="Consolas" panose="020B0609020204030204" pitchFamily="49" charset="0"/>
              </a:rPr>
              <a:t>skall</a:t>
            </a:r>
            <a:r>
              <a:rPr lang="en-GB" sz="1200" dirty="0">
                <a:solidFill>
                  <a:srgbClr val="6A9955"/>
                </a:solidFill>
                <a:latin typeface="Consolas" panose="020B0609020204030204" pitchFamily="49" charset="0"/>
              </a:rPr>
              <a:t> </a:t>
            </a:r>
            <a:r>
              <a:rPr lang="en-GB" sz="1200" dirty="0" err="1">
                <a:solidFill>
                  <a:srgbClr val="6A9955"/>
                </a:solidFill>
                <a:latin typeface="Consolas" panose="020B0609020204030204" pitchFamily="49" charset="0"/>
              </a:rPr>
              <a:t>starta</a:t>
            </a:r>
            <a:r>
              <a:rPr lang="en-GB" sz="1200" dirty="0">
                <a:solidFill>
                  <a:srgbClr val="6A9955"/>
                </a:solidFill>
                <a:latin typeface="Consolas" panose="020B0609020204030204" pitchFamily="49" charset="0"/>
              </a:rPr>
              <a:t> </a:t>
            </a:r>
            <a:r>
              <a:rPr lang="en-GB" sz="1200" dirty="0" err="1">
                <a:solidFill>
                  <a:srgbClr val="6A9955"/>
                </a:solidFill>
                <a:latin typeface="Consolas" panose="020B0609020204030204" pitchFamily="49" charset="0"/>
              </a:rPr>
              <a:t>från</a:t>
            </a:r>
            <a:r>
              <a:rPr lang="en-GB" sz="1200" dirty="0">
                <a:solidFill>
                  <a:srgbClr val="6A9955"/>
                </a:solidFill>
                <a:latin typeface="Consolas" panose="020B0609020204030204" pitchFamily="49" charset="0"/>
              </a:rPr>
              <a:t> compare </a:t>
            </a:r>
            <a:r>
              <a:rPr lang="en-GB" sz="1200" dirty="0" err="1">
                <a:solidFill>
                  <a:srgbClr val="6A9955"/>
                </a:solidFill>
                <a:latin typeface="Consolas" panose="020B0609020204030204" pitchFamily="49" charset="0"/>
              </a:rPr>
              <a:t>värdet</a:t>
            </a:r>
            <a:r>
              <a:rPr lang="en-GB" sz="1200" dirty="0">
                <a:solidFill>
                  <a:srgbClr val="6A9955"/>
                </a:solidFill>
                <a:latin typeface="Consolas" panose="020B0609020204030204" pitchFamily="49" charset="0"/>
              </a:rPr>
              <a:t> (INIT = 1)</a:t>
            </a:r>
            <a:endParaRPr lang="en-GB" sz="12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GB" sz="1200" dirty="0">
                <a:solidFill>
                  <a:srgbClr val="6A9955"/>
                </a:solidFill>
                <a:latin typeface="Consolas" panose="020B0609020204030204" pitchFamily="49" charset="0"/>
              </a:rPr>
              <a:t>// Vi </a:t>
            </a:r>
            <a:r>
              <a:rPr lang="en-GB" sz="1200" dirty="0" err="1">
                <a:solidFill>
                  <a:srgbClr val="6A9955"/>
                </a:solidFill>
                <a:latin typeface="Consolas" panose="020B0609020204030204" pitchFamily="49" charset="0"/>
              </a:rPr>
              <a:t>vill</a:t>
            </a:r>
            <a:r>
              <a:rPr lang="en-GB" sz="1200" dirty="0">
                <a:solidFill>
                  <a:srgbClr val="6A9955"/>
                </a:solidFill>
                <a:latin typeface="Consolas" panose="020B0609020204030204" pitchFamily="49" charset="0"/>
              </a:rPr>
              <a:t> </a:t>
            </a:r>
            <a:r>
              <a:rPr lang="en-GB" sz="1200" dirty="0" err="1">
                <a:solidFill>
                  <a:srgbClr val="6A9955"/>
                </a:solidFill>
                <a:latin typeface="Consolas" panose="020B0609020204030204" pitchFamily="49" charset="0"/>
              </a:rPr>
              <a:t>att</a:t>
            </a:r>
            <a:r>
              <a:rPr lang="en-GB" sz="1200" dirty="0">
                <a:solidFill>
                  <a:srgbClr val="6A9955"/>
                </a:solidFill>
                <a:latin typeface="Consolas" panose="020B0609020204030204" pitchFamily="49" charset="0"/>
              </a:rPr>
              <a:t> den </a:t>
            </a:r>
            <a:r>
              <a:rPr lang="en-GB" sz="1200" dirty="0" err="1">
                <a:solidFill>
                  <a:srgbClr val="6A9955"/>
                </a:solidFill>
                <a:latin typeface="Consolas" panose="020B0609020204030204" pitchFamily="49" charset="0"/>
              </a:rPr>
              <a:t>skall</a:t>
            </a:r>
            <a:r>
              <a:rPr lang="en-GB" sz="1200" dirty="0">
                <a:solidFill>
                  <a:srgbClr val="6A9955"/>
                </a:solidFill>
                <a:latin typeface="Consolas" panose="020B0609020204030204" pitchFamily="49" charset="0"/>
              </a:rPr>
              <a:t> </a:t>
            </a:r>
            <a:r>
              <a:rPr lang="en-GB" sz="1200" dirty="0" err="1">
                <a:solidFill>
                  <a:srgbClr val="6A9955"/>
                </a:solidFill>
                <a:latin typeface="Consolas" panose="020B0609020204030204" pitchFamily="49" charset="0"/>
              </a:rPr>
              <a:t>räkna</a:t>
            </a:r>
            <a:r>
              <a:rPr lang="en-GB" sz="1200" dirty="0">
                <a:solidFill>
                  <a:srgbClr val="6A9955"/>
                </a:solidFill>
                <a:latin typeface="Consolas" panose="020B0609020204030204" pitchFamily="49" charset="0"/>
              </a:rPr>
              <a:t> </a:t>
            </a:r>
            <a:r>
              <a:rPr lang="en-GB" sz="1200" dirty="0" err="1">
                <a:solidFill>
                  <a:srgbClr val="6A9955"/>
                </a:solidFill>
                <a:latin typeface="Consolas" panose="020B0609020204030204" pitchFamily="49" charset="0"/>
              </a:rPr>
              <a:t>varje</a:t>
            </a:r>
            <a:r>
              <a:rPr lang="en-GB" sz="1200" dirty="0">
                <a:solidFill>
                  <a:srgbClr val="6A9955"/>
                </a:solidFill>
                <a:latin typeface="Consolas" panose="020B0609020204030204" pitchFamily="49" charset="0"/>
              </a:rPr>
              <a:t> </a:t>
            </a:r>
            <a:r>
              <a:rPr lang="en-GB" sz="1200" dirty="0" err="1">
                <a:solidFill>
                  <a:srgbClr val="6A9955"/>
                </a:solidFill>
                <a:latin typeface="Consolas" panose="020B0609020204030204" pitchFamily="49" charset="0"/>
              </a:rPr>
              <a:t>klockcykel</a:t>
            </a:r>
            <a:r>
              <a:rPr lang="en-GB" sz="1200" dirty="0">
                <a:solidFill>
                  <a:srgbClr val="6A9955"/>
                </a:solidFill>
                <a:latin typeface="Consolas" panose="020B0609020204030204" pitchFamily="49" charset="0"/>
              </a:rPr>
              <a:t> (STCLK = 1)</a:t>
            </a:r>
            <a:endParaRPr lang="en-GB" sz="12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GB" sz="1200" dirty="0">
                <a:solidFill>
                  <a:srgbClr val="6A9955"/>
                </a:solidFill>
                <a:latin typeface="Consolas" panose="020B0609020204030204" pitchFamily="49" charset="0"/>
              </a:rPr>
              <a:t>// Och vi </a:t>
            </a:r>
            <a:r>
              <a:rPr lang="en-GB" sz="1200" dirty="0" err="1">
                <a:solidFill>
                  <a:srgbClr val="6A9955"/>
                </a:solidFill>
                <a:latin typeface="Consolas" panose="020B0609020204030204" pitchFamily="49" charset="0"/>
              </a:rPr>
              <a:t>vill</a:t>
            </a:r>
            <a:r>
              <a:rPr lang="en-GB" sz="1200" dirty="0">
                <a:solidFill>
                  <a:srgbClr val="6A9955"/>
                </a:solidFill>
                <a:latin typeface="Consolas" panose="020B0609020204030204" pitchFamily="49" charset="0"/>
              </a:rPr>
              <a:t> </a:t>
            </a:r>
            <a:r>
              <a:rPr lang="en-GB" sz="1200" dirty="0" err="1">
                <a:solidFill>
                  <a:srgbClr val="6A9955"/>
                </a:solidFill>
                <a:latin typeface="Consolas" panose="020B0609020204030204" pitchFamily="49" charset="0"/>
              </a:rPr>
              <a:t>starta</a:t>
            </a:r>
            <a:r>
              <a:rPr lang="en-GB" sz="1200" dirty="0">
                <a:solidFill>
                  <a:srgbClr val="6A9955"/>
                </a:solidFill>
                <a:latin typeface="Consolas" panose="020B0609020204030204" pitchFamily="49" charset="0"/>
              </a:rPr>
              <a:t> </a:t>
            </a:r>
            <a:r>
              <a:rPr lang="en-GB" sz="1200" dirty="0" err="1">
                <a:solidFill>
                  <a:srgbClr val="6A9955"/>
                </a:solidFill>
                <a:latin typeface="Consolas" panose="020B0609020204030204" pitchFamily="49" charset="0"/>
              </a:rPr>
              <a:t>klockan</a:t>
            </a:r>
            <a:r>
              <a:rPr lang="en-GB" sz="1200" dirty="0">
                <a:solidFill>
                  <a:srgbClr val="6A9955"/>
                </a:solidFill>
                <a:latin typeface="Consolas" panose="020B0609020204030204" pitchFamily="49" charset="0"/>
              </a:rPr>
              <a:t> (STE = 1)    </a:t>
            </a:r>
            <a:endParaRPr lang="en-GB" sz="12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GB" sz="1200" dirty="0">
                <a:solidFill>
                  <a:srgbClr val="D4D4D4"/>
                </a:solidFill>
                <a:latin typeface="Consolas" panose="020B0609020204030204" pitchFamily="49" charset="0"/>
              </a:rPr>
              <a:t>*</a:t>
            </a:r>
            <a:r>
              <a:rPr lang="en-GB" sz="1200" dirty="0">
                <a:solidFill>
                  <a:srgbClr val="569CD6"/>
                </a:solidFill>
                <a:latin typeface="Consolas" panose="020B0609020204030204" pitchFamily="49" charset="0"/>
              </a:rPr>
              <a:t>STK_CTRL</a:t>
            </a:r>
            <a:r>
              <a:rPr lang="en-GB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GB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 dirty="0">
                <a:solidFill>
                  <a:srgbClr val="B5CEA8"/>
                </a:solidFill>
                <a:latin typeface="Consolas" panose="020B0609020204030204" pitchFamily="49" charset="0"/>
              </a:rPr>
              <a:t>0b100101</a:t>
            </a:r>
            <a:r>
              <a:rPr lang="en-GB" sz="1200" dirty="0">
                <a:solidFill>
                  <a:srgbClr val="CCCCCC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GB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GB" sz="1200" dirty="0">
                <a:solidFill>
                  <a:srgbClr val="6A9955"/>
                </a:solidFill>
                <a:latin typeface="Consolas" panose="020B0609020204030204" pitchFamily="49" charset="0"/>
              </a:rPr>
              <a:t>// </a:t>
            </a:r>
            <a:r>
              <a:rPr lang="en-GB" sz="1200" dirty="0" err="1">
                <a:solidFill>
                  <a:srgbClr val="6A9955"/>
                </a:solidFill>
                <a:latin typeface="Consolas" panose="020B0609020204030204" pitchFamily="49" charset="0"/>
              </a:rPr>
              <a:t>Vänta</a:t>
            </a:r>
            <a:r>
              <a:rPr lang="en-GB" sz="1200" dirty="0">
                <a:solidFill>
                  <a:srgbClr val="6A9955"/>
                </a:solidFill>
                <a:latin typeface="Consolas" panose="020B0609020204030204" pitchFamily="49" charset="0"/>
              </a:rPr>
              <a:t> tills </a:t>
            </a:r>
            <a:r>
              <a:rPr lang="en-GB" sz="1200" dirty="0" err="1">
                <a:solidFill>
                  <a:srgbClr val="6A9955"/>
                </a:solidFill>
                <a:latin typeface="Consolas" panose="020B0609020204030204" pitchFamily="49" charset="0"/>
              </a:rPr>
              <a:t>SysTick</a:t>
            </a:r>
            <a:r>
              <a:rPr lang="en-GB" sz="1200" dirty="0">
                <a:solidFill>
                  <a:srgbClr val="6A9955"/>
                </a:solidFill>
                <a:latin typeface="Consolas" panose="020B0609020204030204" pitchFamily="49" charset="0"/>
              </a:rPr>
              <a:t> </a:t>
            </a:r>
            <a:r>
              <a:rPr lang="en-GB" sz="1200" dirty="0" err="1">
                <a:solidFill>
                  <a:srgbClr val="6A9955"/>
                </a:solidFill>
                <a:latin typeface="Consolas" panose="020B0609020204030204" pitchFamily="49" charset="0"/>
              </a:rPr>
              <a:t>har</a:t>
            </a:r>
            <a:r>
              <a:rPr lang="en-GB" sz="1200" dirty="0">
                <a:solidFill>
                  <a:srgbClr val="6A9955"/>
                </a:solidFill>
                <a:latin typeface="Consolas" panose="020B0609020204030204" pitchFamily="49" charset="0"/>
              </a:rPr>
              <a:t> </a:t>
            </a:r>
            <a:r>
              <a:rPr lang="en-GB" sz="1200" dirty="0" err="1">
                <a:solidFill>
                  <a:srgbClr val="6A9955"/>
                </a:solidFill>
                <a:latin typeface="Consolas" panose="020B0609020204030204" pitchFamily="49" charset="0"/>
              </a:rPr>
              <a:t>räknat</a:t>
            </a:r>
            <a:r>
              <a:rPr lang="en-GB" sz="1200" dirty="0">
                <a:solidFill>
                  <a:srgbClr val="6A9955"/>
                </a:solidFill>
                <a:latin typeface="Consolas" panose="020B0609020204030204" pitchFamily="49" charset="0"/>
              </a:rPr>
              <a:t> </a:t>
            </a:r>
            <a:r>
              <a:rPr lang="en-GB" sz="1200" dirty="0" err="1">
                <a:solidFill>
                  <a:srgbClr val="6A9955"/>
                </a:solidFill>
                <a:latin typeface="Consolas" panose="020B0609020204030204" pitchFamily="49" charset="0"/>
              </a:rPr>
              <a:t>ner</a:t>
            </a:r>
            <a:r>
              <a:rPr lang="en-GB" sz="1200" dirty="0">
                <a:solidFill>
                  <a:srgbClr val="6A9955"/>
                </a:solidFill>
                <a:latin typeface="Consolas" panose="020B0609020204030204" pitchFamily="49" charset="0"/>
              </a:rPr>
              <a:t> till 0</a:t>
            </a:r>
            <a:endParaRPr lang="en-GB" sz="12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GB" sz="1200" dirty="0">
                <a:solidFill>
                  <a:srgbClr val="C586C0"/>
                </a:solidFill>
                <a:latin typeface="Consolas" panose="020B0609020204030204" pitchFamily="49" charset="0"/>
              </a:rPr>
              <a:t>while</a:t>
            </a:r>
            <a:r>
              <a:rPr lang="en-GB" sz="12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GB" sz="1200" dirty="0">
                <a:solidFill>
                  <a:srgbClr val="D4D4D4"/>
                </a:solidFill>
                <a:latin typeface="Consolas" panose="020B0609020204030204" pitchFamily="49" charset="0"/>
              </a:rPr>
              <a:t>!</a:t>
            </a:r>
            <a:r>
              <a:rPr lang="en-GB" sz="12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GB" sz="1200" dirty="0">
                <a:solidFill>
                  <a:srgbClr val="D4D4D4"/>
                </a:solidFill>
                <a:latin typeface="Consolas" panose="020B0609020204030204" pitchFamily="49" charset="0"/>
              </a:rPr>
              <a:t>*</a:t>
            </a:r>
            <a:r>
              <a:rPr lang="en-GB" sz="1200" dirty="0">
                <a:solidFill>
                  <a:srgbClr val="569CD6"/>
                </a:solidFill>
                <a:latin typeface="Consolas" panose="020B0609020204030204" pitchFamily="49" charset="0"/>
              </a:rPr>
              <a:t>STK_SR</a:t>
            </a:r>
            <a:r>
              <a:rPr lang="en-GB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 dirty="0">
                <a:solidFill>
                  <a:srgbClr val="D4D4D4"/>
                </a:solidFill>
                <a:latin typeface="Consolas" panose="020B0609020204030204" pitchFamily="49" charset="0"/>
              </a:rPr>
              <a:t>&amp;</a:t>
            </a:r>
            <a:r>
              <a:rPr lang="en-GB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 dirty="0">
                <a:solidFill>
                  <a:srgbClr val="B5CEA8"/>
                </a:solidFill>
                <a:latin typeface="Consolas" panose="020B0609020204030204" pitchFamily="49" charset="0"/>
              </a:rPr>
              <a:t>1</a:t>
            </a:r>
            <a:r>
              <a:rPr lang="en-GB" sz="1200" dirty="0">
                <a:solidFill>
                  <a:srgbClr val="CCCCCC"/>
                </a:solidFill>
                <a:latin typeface="Consolas" panose="020B0609020204030204" pitchFamily="49" charset="0"/>
              </a:rPr>
              <a:t>)) {</a:t>
            </a:r>
          </a:p>
          <a:p>
            <a:pPr>
              <a:lnSpc>
                <a:spcPts val="1425"/>
              </a:lnSpc>
              <a:buNone/>
            </a:pPr>
            <a:r>
              <a:rPr lang="en-GB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GB" sz="1200" dirty="0">
                <a:solidFill>
                  <a:srgbClr val="6A9955"/>
                </a:solidFill>
                <a:latin typeface="Consolas" panose="020B0609020204030204" pitchFamily="49" charset="0"/>
              </a:rPr>
              <a:t>// </a:t>
            </a:r>
            <a:r>
              <a:rPr lang="en-GB" sz="1200" dirty="0" err="1">
                <a:solidFill>
                  <a:srgbClr val="6A9955"/>
                </a:solidFill>
                <a:latin typeface="Consolas" panose="020B0609020204030204" pitchFamily="49" charset="0"/>
              </a:rPr>
              <a:t>Vänta</a:t>
            </a:r>
            <a:r>
              <a:rPr lang="en-GB" sz="1200" dirty="0">
                <a:solidFill>
                  <a:srgbClr val="6A9955"/>
                </a:solidFill>
                <a:latin typeface="Consolas" panose="020B0609020204030204" pitchFamily="49" charset="0"/>
              </a:rPr>
              <a:t>... </a:t>
            </a:r>
            <a:endParaRPr lang="en-GB" sz="12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}</a:t>
            </a:r>
          </a:p>
          <a:p>
            <a:pPr>
              <a:lnSpc>
                <a:spcPts val="1425"/>
              </a:lnSpc>
              <a:buNone/>
            </a:pPr>
            <a:r>
              <a:rPr lang="en-GB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GB" sz="1200" dirty="0">
                <a:solidFill>
                  <a:srgbClr val="6A9955"/>
                </a:solidFill>
                <a:latin typeface="Consolas" panose="020B0609020204030204" pitchFamily="49" charset="0"/>
              </a:rPr>
              <a:t>// 5 </a:t>
            </a:r>
            <a:r>
              <a:rPr lang="en-GB" sz="1200" dirty="0" err="1">
                <a:solidFill>
                  <a:srgbClr val="6A9955"/>
                </a:solidFill>
                <a:latin typeface="Consolas" panose="020B0609020204030204" pitchFamily="49" charset="0"/>
              </a:rPr>
              <a:t>sekunder</a:t>
            </a:r>
            <a:r>
              <a:rPr lang="en-GB" sz="1200" dirty="0">
                <a:solidFill>
                  <a:srgbClr val="6A9955"/>
                </a:solidFill>
                <a:latin typeface="Consolas" panose="020B0609020204030204" pitchFamily="49" charset="0"/>
              </a:rPr>
              <a:t> </a:t>
            </a:r>
            <a:r>
              <a:rPr lang="en-GB" sz="1200" dirty="0" err="1">
                <a:solidFill>
                  <a:srgbClr val="6A9955"/>
                </a:solidFill>
                <a:latin typeface="Consolas" panose="020B0609020204030204" pitchFamily="49" charset="0"/>
              </a:rPr>
              <a:t>har</a:t>
            </a:r>
            <a:r>
              <a:rPr lang="en-GB" sz="1200" dirty="0">
                <a:solidFill>
                  <a:srgbClr val="6A9955"/>
                </a:solidFill>
                <a:latin typeface="Consolas" panose="020B0609020204030204" pitchFamily="49" charset="0"/>
              </a:rPr>
              <a:t> </a:t>
            </a:r>
            <a:r>
              <a:rPr lang="en-GB" sz="1200" dirty="0" err="1">
                <a:solidFill>
                  <a:srgbClr val="6A9955"/>
                </a:solidFill>
                <a:latin typeface="Consolas" panose="020B0609020204030204" pitchFamily="49" charset="0"/>
              </a:rPr>
              <a:t>gått</a:t>
            </a:r>
            <a:r>
              <a:rPr lang="en-GB" sz="1200" dirty="0">
                <a:solidFill>
                  <a:srgbClr val="6A9955"/>
                </a:solidFill>
                <a:latin typeface="Consolas" panose="020B0609020204030204" pitchFamily="49" charset="0"/>
              </a:rPr>
              <a:t>!</a:t>
            </a:r>
            <a:endParaRPr lang="en-GB" sz="12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GB" sz="1200" dirty="0">
                <a:solidFill>
                  <a:srgbClr val="C586C0"/>
                </a:solidFill>
                <a:latin typeface="Consolas" panose="020B0609020204030204" pitchFamily="49" charset="0"/>
              </a:rPr>
              <a:t>return</a:t>
            </a:r>
            <a:r>
              <a:rPr lang="en-GB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 dirty="0">
                <a:solidFill>
                  <a:srgbClr val="B5CEA8"/>
                </a:solidFill>
                <a:latin typeface="Consolas" panose="020B0609020204030204" pitchFamily="49" charset="0"/>
              </a:rPr>
              <a:t>0</a:t>
            </a:r>
            <a:r>
              <a:rPr lang="en-GB" sz="1200" dirty="0">
                <a:solidFill>
                  <a:srgbClr val="CCCCCC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GB" sz="1200" dirty="0">
                <a:solidFill>
                  <a:srgbClr val="CCCCCC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CCF970C-BDA2-6558-181A-A9C1D865C620}"/>
              </a:ext>
            </a:extLst>
          </p:cNvPr>
          <p:cNvSpPr/>
          <p:nvPr/>
        </p:nvSpPr>
        <p:spPr>
          <a:xfrm>
            <a:off x="6606862" y="1279301"/>
            <a:ext cx="5456349" cy="1347989"/>
          </a:xfrm>
          <a:prstGeom prst="roundRect">
            <a:avLst>
              <a:gd name="adj" fmla="val 6157"/>
            </a:avLst>
          </a:prstGeom>
          <a:noFill/>
          <a:ln w="381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3BC5970F-7278-851B-68EA-8CD0521F951D}"/>
              </a:ext>
            </a:extLst>
          </p:cNvPr>
          <p:cNvSpPr/>
          <p:nvPr/>
        </p:nvSpPr>
        <p:spPr>
          <a:xfrm>
            <a:off x="6606861" y="2223752"/>
            <a:ext cx="5456349" cy="403538"/>
          </a:xfrm>
          <a:prstGeom prst="roundRect">
            <a:avLst>
              <a:gd name="adj" fmla="val 6157"/>
            </a:avLst>
          </a:prstGeom>
          <a:noFill/>
          <a:ln w="381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89F6002B-8FFC-A076-47AF-723B1E32416C}"/>
              </a:ext>
            </a:extLst>
          </p:cNvPr>
          <p:cNvSpPr/>
          <p:nvPr/>
        </p:nvSpPr>
        <p:spPr>
          <a:xfrm>
            <a:off x="6606860" y="1472485"/>
            <a:ext cx="5456349" cy="184597"/>
          </a:xfrm>
          <a:prstGeom prst="roundRect">
            <a:avLst>
              <a:gd name="adj" fmla="val 6157"/>
            </a:avLst>
          </a:prstGeom>
          <a:noFill/>
          <a:ln w="381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B4BA6779-5E9D-CBFB-EB8F-A19A611023D9}"/>
              </a:ext>
            </a:extLst>
          </p:cNvPr>
          <p:cNvSpPr/>
          <p:nvPr/>
        </p:nvSpPr>
        <p:spPr>
          <a:xfrm>
            <a:off x="6572518" y="3022243"/>
            <a:ext cx="5529329" cy="2856964"/>
          </a:xfrm>
          <a:prstGeom prst="roundRect">
            <a:avLst>
              <a:gd name="adj" fmla="val 2551"/>
            </a:avLst>
          </a:prstGeom>
          <a:noFill/>
          <a:ln w="381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272070AC-2F90-125E-0C60-87D5A93CC32A}"/>
              </a:ext>
            </a:extLst>
          </p:cNvPr>
          <p:cNvSpPr/>
          <p:nvPr/>
        </p:nvSpPr>
        <p:spPr>
          <a:xfrm>
            <a:off x="6606859" y="1657082"/>
            <a:ext cx="5456349" cy="184597"/>
          </a:xfrm>
          <a:prstGeom prst="roundRect">
            <a:avLst>
              <a:gd name="adj" fmla="val 6157"/>
            </a:avLst>
          </a:prstGeom>
          <a:noFill/>
          <a:ln w="381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1408537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indefinite"/>
                      </p:stCondLst>
                      <p:childTnLst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0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00"/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500"/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500"/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500"/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5" fill="hold">
                      <p:stCondLst>
                        <p:cond delay="indefinite"/>
                      </p:stCondLst>
                      <p:childTnLst>
                        <p:par>
                          <p:cTn id="106" fill="hold">
                            <p:stCondLst>
                              <p:cond delay="0"/>
                            </p:stCondLst>
                            <p:childTnLst>
                              <p:par>
                                <p:cTn id="10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3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4" grpId="1" animBg="1"/>
      <p:bldP spid="7" grpId="0" animBg="1"/>
      <p:bldP spid="7" grpId="1" animBg="1"/>
      <p:bldP spid="9" grpId="0" animBg="1"/>
      <p:bldP spid="9" grpId="1" animBg="1"/>
      <p:bldP spid="10" grpId="0" animBg="1"/>
      <p:bldP spid="10" grpId="1" animBg="1"/>
      <p:bldP spid="12" grpId="0" animBg="1"/>
      <p:bldP spid="12" grpId="1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7DE6C4-8EB6-965E-AFA2-CC8EDFB269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dirty="0" err="1"/>
              <a:t>SysTick</a:t>
            </a:r>
            <a:endParaRPr lang="LID4096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078BA6D-38D6-54B4-714F-1C646991282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sv-SE" dirty="0"/>
                  <a:t>Vi vill skriva en funktion som väntar 500ns</a:t>
                </a:r>
              </a:p>
              <a:p>
                <a:r>
                  <a:rPr lang="sv-SE" dirty="0"/>
                  <a:t>Hur många klockcykler? (144MHz)</a:t>
                </a:r>
              </a:p>
              <a:p>
                <a:pPr lvl="1"/>
                <a:r>
                  <a:rPr lang="sv-SE" dirty="0"/>
                  <a:t>klockfrekvens = klockcykler / sekund</a:t>
                </a:r>
              </a:p>
              <a:p>
                <a:pPr lvl="1"/>
                <a:r>
                  <a:rPr lang="sv-SE" dirty="0"/>
                  <a:t>144000000 = klockcykler / 0.000000500s</a:t>
                </a:r>
              </a:p>
              <a:p>
                <a:pPr lvl="1"/>
                <a:r>
                  <a:rPr lang="sv-SE" dirty="0"/>
                  <a:t>144000000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sv-SE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sv-SE" i="1">
                            <a:latin typeface="Cambria Math" panose="02040503050406030204" pitchFamily="18" charset="0"/>
                          </a:rPr>
                          <m:t>𝑘𝑙𝑜𝑐𝑘𝑐𝑦𝑘𝑙𝑒𝑟</m:t>
                        </m:r>
                      </m:num>
                      <m:den>
                        <m:f>
                          <m:fPr>
                            <m:ctrlPr>
                              <a:rPr lang="sv-SE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sv-SE" b="0" i="1" smtClean="0">
                                <a:latin typeface="Cambria Math" panose="02040503050406030204" pitchFamily="18" charset="0"/>
                              </a:rPr>
                              <m:t>500</m:t>
                            </m:r>
                          </m:num>
                          <m:den>
                            <m:r>
                              <a:rPr lang="sv-SE" b="0" i="1" smtClean="0">
                                <a:latin typeface="Cambria Math" panose="02040503050406030204" pitchFamily="18" charset="0"/>
                              </a:rPr>
                              <m:t>1000000000</m:t>
                            </m:r>
                          </m:den>
                        </m:f>
                      </m:den>
                    </m:f>
                  </m:oMath>
                </a14:m>
                <a:endParaRPr lang="sv-SE" dirty="0"/>
              </a:p>
              <a:p>
                <a:pPr lvl="1"/>
                <a14:m>
                  <m:oMath xmlns:m="http://schemas.openxmlformats.org/officeDocument/2006/math">
                    <m:f>
                      <m:fPr>
                        <m:ctrlPr>
                          <a:rPr lang="sv-SE" b="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sv-SE" i="1" dirty="0">
                            <a:latin typeface="Cambria Math" panose="02040503050406030204" pitchFamily="18" charset="0"/>
                          </a:rPr>
                          <m:t>144000000 ∗500</m:t>
                        </m:r>
                        <m:r>
                          <m:rPr>
                            <m:nor/>
                          </m:rPr>
                          <a:rPr lang="sv-SE" dirty="0"/>
                          <m:t> </m:t>
                        </m:r>
                      </m:num>
                      <m:den>
                        <m:r>
                          <a:rPr lang="sv-SE" b="0" i="1" dirty="0" smtClean="0">
                            <a:latin typeface="Cambria Math" panose="02040503050406030204" pitchFamily="18" charset="0"/>
                          </a:rPr>
                          <m:t>1000000000</m:t>
                        </m:r>
                      </m:den>
                    </m:f>
                    <m:r>
                      <a:rPr lang="sv-SE" b="0" i="1" dirty="0" smtClean="0">
                        <a:latin typeface="Cambria Math" panose="02040503050406030204" pitchFamily="18" charset="0"/>
                      </a:rPr>
                      <m:t>= </m:t>
                    </m:r>
                  </m:oMath>
                </a14:m>
                <a:r>
                  <a:rPr lang="sv-SE" dirty="0"/>
                  <a:t>klockcykler = 72</a:t>
                </a:r>
              </a:p>
              <a:p>
                <a:pPr lvl="1"/>
                <a:endParaRPr lang="sv-SE" dirty="0"/>
              </a:p>
              <a:p>
                <a:pPr lvl="1"/>
                <a:endParaRPr lang="sv-SE" dirty="0"/>
              </a:p>
              <a:p>
                <a:pPr lvl="1"/>
                <a:r>
                  <a:rPr lang="sv-SE" dirty="0" err="1"/>
                  <a:t>Dubbelkoll</a:t>
                </a:r>
                <a:r>
                  <a:rPr lang="sv-SE" dirty="0"/>
                  <a:t>, en klockcykel är </a:t>
                </a:r>
                <a:r>
                  <a:rPr lang="sv-SE" i="1" dirty="0"/>
                  <a:t>ungefär 6.9444ns, 72*7 = 504</a:t>
                </a:r>
                <a:endParaRPr lang="sv-SE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078BA6D-38D6-54B4-714F-1C646991282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910591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4D2946-4593-3B43-E127-47E398DC3F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0FF359-E97E-039F-A84D-02BF531D1F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ASCII Displayen - Skrivcykel</a:t>
            </a:r>
            <a:endParaRPr lang="LID4096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A34AAD6-FCC3-30AB-1904-7ADF98F89C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6200000">
            <a:off x="6518278" y="2383891"/>
            <a:ext cx="3964994" cy="329933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49F34223-8AB6-AB6F-5F98-C28AB934C82C}"/>
              </a:ext>
            </a:extLst>
          </p:cNvPr>
          <p:cNvSpPr txBox="1"/>
          <p:nvPr/>
        </p:nvSpPr>
        <p:spPr>
          <a:xfrm>
            <a:off x="7735911" y="2695977"/>
            <a:ext cx="15311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>
                <a:solidFill>
                  <a:schemeClr val="accent3">
                    <a:lumMod val="20000"/>
                    <a:lumOff val="80000"/>
                  </a:schemeClr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Mop Rules!</a:t>
            </a:r>
            <a:endParaRPr lang="LID4096">
              <a:solidFill>
                <a:schemeClr val="accent3">
                  <a:lumMod val="20000"/>
                  <a:lumOff val="80000"/>
                </a:schemeClr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8C80B01-9B87-363A-A55A-B0EFF1BD124D}"/>
              </a:ext>
            </a:extLst>
          </p:cNvPr>
          <p:cNvSpPr txBox="1"/>
          <p:nvPr/>
        </p:nvSpPr>
        <p:spPr>
          <a:xfrm>
            <a:off x="5040608" y="5834202"/>
            <a:ext cx="914400" cy="276999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spAutoFit/>
          </a:bodyPr>
          <a:lstStyle/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400"/>
              </a:spcAft>
            </a:pPr>
            <a:r>
              <a:rPr lang="en-GB" sz="2000">
                <a:latin typeface="Arial" panose="020B0604020202020204" pitchFamily="34" charset="0"/>
                <a:cs typeface="Arial" panose="020B0604020202020204" pitchFamily="34" charset="0"/>
              </a:rPr>
              <a:t>Data</a:t>
            </a:r>
            <a:endParaRPr lang="en-GB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BF736834-77E2-FB30-0F28-18372AEC930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31303" y="6206346"/>
            <a:ext cx="3236025" cy="340167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CDCA98C5-AF27-24CA-A490-7B56C4FEB1A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44118" y="6244022"/>
            <a:ext cx="3295228" cy="264817"/>
          </a:xfrm>
          <a:prstGeom prst="rect">
            <a:avLst/>
          </a:prstGeom>
        </p:spPr>
      </p:pic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28FB781D-424F-8529-358B-54B8CE7BB931}"/>
              </a:ext>
            </a:extLst>
          </p:cNvPr>
          <p:cNvSpPr/>
          <p:nvPr/>
        </p:nvSpPr>
        <p:spPr>
          <a:xfrm>
            <a:off x="8470433" y="5212854"/>
            <a:ext cx="595268" cy="369332"/>
          </a:xfrm>
          <a:custGeom>
            <a:avLst/>
            <a:gdLst>
              <a:gd name="csX0" fmla="*/ 408509 w 762626"/>
              <a:gd name="csY0" fmla="*/ 67479 h 469838"/>
              <a:gd name="csX1" fmla="*/ 72333 w 762626"/>
              <a:gd name="csY1" fmla="*/ 67479 h 469838"/>
              <a:gd name="csX2" fmla="*/ 11821 w 762626"/>
              <a:gd name="csY2" fmla="*/ 302803 h 469838"/>
              <a:gd name="csX3" fmla="*/ 240421 w 762626"/>
              <a:gd name="csY3" fmla="*/ 443997 h 469838"/>
              <a:gd name="csX4" fmla="*/ 657280 w 762626"/>
              <a:gd name="csY4" fmla="*/ 457444 h 469838"/>
              <a:gd name="csX5" fmla="*/ 751409 w 762626"/>
              <a:gd name="csY5" fmla="*/ 309526 h 469838"/>
              <a:gd name="csX6" fmla="*/ 711068 w 762626"/>
              <a:gd name="csY6" fmla="*/ 80926 h 469838"/>
              <a:gd name="csX7" fmla="*/ 307656 w 762626"/>
              <a:gd name="csY7" fmla="*/ 244 h 469838"/>
              <a:gd name="csX8" fmla="*/ 146291 w 762626"/>
              <a:gd name="csY8" fmla="*/ 60755 h 4698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762626" h="469838">
                <a:moveTo>
                  <a:pt x="408509" y="67479"/>
                </a:moveTo>
                <a:cubicBezTo>
                  <a:pt x="273478" y="47868"/>
                  <a:pt x="138448" y="28258"/>
                  <a:pt x="72333" y="67479"/>
                </a:cubicBezTo>
                <a:cubicBezTo>
                  <a:pt x="6218" y="106700"/>
                  <a:pt x="-16194" y="240050"/>
                  <a:pt x="11821" y="302803"/>
                </a:cubicBezTo>
                <a:cubicBezTo>
                  <a:pt x="39836" y="365556"/>
                  <a:pt x="132844" y="418223"/>
                  <a:pt x="240421" y="443997"/>
                </a:cubicBezTo>
                <a:cubicBezTo>
                  <a:pt x="347998" y="469771"/>
                  <a:pt x="572115" y="479856"/>
                  <a:pt x="657280" y="457444"/>
                </a:cubicBezTo>
                <a:cubicBezTo>
                  <a:pt x="742445" y="435032"/>
                  <a:pt x="742444" y="372279"/>
                  <a:pt x="751409" y="309526"/>
                </a:cubicBezTo>
                <a:cubicBezTo>
                  <a:pt x="760374" y="246773"/>
                  <a:pt x="785027" y="132473"/>
                  <a:pt x="711068" y="80926"/>
                </a:cubicBezTo>
                <a:cubicBezTo>
                  <a:pt x="637109" y="29379"/>
                  <a:pt x="401785" y="3606"/>
                  <a:pt x="307656" y="244"/>
                </a:cubicBezTo>
                <a:cubicBezTo>
                  <a:pt x="213527" y="-3118"/>
                  <a:pt x="179909" y="28818"/>
                  <a:pt x="146291" y="60755"/>
                </a:cubicBezTo>
              </a:path>
            </a:pathLst>
          </a:custGeom>
          <a:noFill/>
          <a:ln w="381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01FAEF7-7621-95C3-3BEA-3B0F8DE5BA95}"/>
              </a:ext>
            </a:extLst>
          </p:cNvPr>
          <p:cNvSpPr txBox="1"/>
          <p:nvPr/>
        </p:nvSpPr>
        <p:spPr>
          <a:xfrm>
            <a:off x="11096222" y="5929347"/>
            <a:ext cx="914400" cy="276999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spAutoFit/>
          </a:bodyPr>
          <a:lstStyle/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400"/>
              </a:spcAft>
            </a:pPr>
            <a:r>
              <a:rPr lang="en-GB" sz="2000">
                <a:latin typeface="Arial" panose="020B0604020202020204" pitchFamily="34" charset="0"/>
                <a:cs typeface="Arial" panose="020B0604020202020204" pitchFamily="34" charset="0"/>
              </a:rPr>
              <a:t>Control</a:t>
            </a:r>
            <a:endParaRPr lang="en-GB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ABE022A7-7155-5BFF-8862-B349DA9A0829}"/>
              </a:ext>
            </a:extLst>
          </p:cNvPr>
          <p:cNvSpPr/>
          <p:nvPr/>
        </p:nvSpPr>
        <p:spPr>
          <a:xfrm rot="10117872">
            <a:off x="9150866" y="5212854"/>
            <a:ext cx="595268" cy="369332"/>
          </a:xfrm>
          <a:custGeom>
            <a:avLst/>
            <a:gdLst>
              <a:gd name="csX0" fmla="*/ 408509 w 762626"/>
              <a:gd name="csY0" fmla="*/ 67479 h 469838"/>
              <a:gd name="csX1" fmla="*/ 72333 w 762626"/>
              <a:gd name="csY1" fmla="*/ 67479 h 469838"/>
              <a:gd name="csX2" fmla="*/ 11821 w 762626"/>
              <a:gd name="csY2" fmla="*/ 302803 h 469838"/>
              <a:gd name="csX3" fmla="*/ 240421 w 762626"/>
              <a:gd name="csY3" fmla="*/ 443997 h 469838"/>
              <a:gd name="csX4" fmla="*/ 657280 w 762626"/>
              <a:gd name="csY4" fmla="*/ 457444 h 469838"/>
              <a:gd name="csX5" fmla="*/ 751409 w 762626"/>
              <a:gd name="csY5" fmla="*/ 309526 h 469838"/>
              <a:gd name="csX6" fmla="*/ 711068 w 762626"/>
              <a:gd name="csY6" fmla="*/ 80926 h 469838"/>
              <a:gd name="csX7" fmla="*/ 307656 w 762626"/>
              <a:gd name="csY7" fmla="*/ 244 h 469838"/>
              <a:gd name="csX8" fmla="*/ 146291 w 762626"/>
              <a:gd name="csY8" fmla="*/ 60755 h 4698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762626" h="469838">
                <a:moveTo>
                  <a:pt x="408509" y="67479"/>
                </a:moveTo>
                <a:cubicBezTo>
                  <a:pt x="273478" y="47868"/>
                  <a:pt x="138448" y="28258"/>
                  <a:pt x="72333" y="67479"/>
                </a:cubicBezTo>
                <a:cubicBezTo>
                  <a:pt x="6218" y="106700"/>
                  <a:pt x="-16194" y="240050"/>
                  <a:pt x="11821" y="302803"/>
                </a:cubicBezTo>
                <a:cubicBezTo>
                  <a:pt x="39836" y="365556"/>
                  <a:pt x="132844" y="418223"/>
                  <a:pt x="240421" y="443997"/>
                </a:cubicBezTo>
                <a:cubicBezTo>
                  <a:pt x="347998" y="469771"/>
                  <a:pt x="572115" y="479856"/>
                  <a:pt x="657280" y="457444"/>
                </a:cubicBezTo>
                <a:cubicBezTo>
                  <a:pt x="742445" y="435032"/>
                  <a:pt x="742444" y="372279"/>
                  <a:pt x="751409" y="309526"/>
                </a:cubicBezTo>
                <a:cubicBezTo>
                  <a:pt x="760374" y="246773"/>
                  <a:pt x="785027" y="132473"/>
                  <a:pt x="711068" y="80926"/>
                </a:cubicBezTo>
                <a:cubicBezTo>
                  <a:pt x="637109" y="29379"/>
                  <a:pt x="401785" y="3606"/>
                  <a:pt x="307656" y="244"/>
                </a:cubicBezTo>
                <a:cubicBezTo>
                  <a:pt x="213527" y="-3118"/>
                  <a:pt x="179909" y="28818"/>
                  <a:pt x="146291" y="60755"/>
                </a:cubicBezTo>
              </a:path>
            </a:pathLst>
          </a:cu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8EB7AA5C-10DC-B4D7-1C27-83CA3F0FDF58}"/>
              </a:ext>
            </a:extLst>
          </p:cNvPr>
          <p:cNvSpPr/>
          <p:nvPr/>
        </p:nvSpPr>
        <p:spPr>
          <a:xfrm>
            <a:off x="5344732" y="5277318"/>
            <a:ext cx="3133860" cy="518175"/>
          </a:xfrm>
          <a:custGeom>
            <a:avLst/>
            <a:gdLst>
              <a:gd name="csX0" fmla="*/ 3133860 w 3133860"/>
              <a:gd name="csY0" fmla="*/ 0 h 399245"/>
              <a:gd name="csX1" fmla="*/ 0 w 3133860"/>
              <a:gd name="csY1" fmla="*/ 399245 h 399245"/>
              <a:gd name="csX0" fmla="*/ 3133860 w 3133860"/>
              <a:gd name="csY0" fmla="*/ 0 h 399245"/>
              <a:gd name="csX1" fmla="*/ 0 w 3133860"/>
              <a:gd name="csY1" fmla="*/ 399245 h 399245"/>
              <a:gd name="csX0" fmla="*/ 3133860 w 3133860"/>
              <a:gd name="csY0" fmla="*/ 118930 h 518175"/>
              <a:gd name="csX1" fmla="*/ 0 w 3133860"/>
              <a:gd name="csY1" fmla="*/ 518175 h 518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133860" h="518175">
                <a:moveTo>
                  <a:pt x="3133860" y="118930"/>
                </a:moveTo>
                <a:cubicBezTo>
                  <a:pt x="1119032" y="-185870"/>
                  <a:pt x="465071" y="148981"/>
                  <a:pt x="0" y="518175"/>
                </a:cubicBezTo>
              </a:path>
            </a:pathLst>
          </a:custGeom>
          <a:noFill/>
          <a:ln w="381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3C1AB4A7-DBCA-624D-63CD-CC40E8AF3448}"/>
              </a:ext>
            </a:extLst>
          </p:cNvPr>
          <p:cNvSpPr/>
          <p:nvPr/>
        </p:nvSpPr>
        <p:spPr>
          <a:xfrm>
            <a:off x="9745014" y="5287306"/>
            <a:ext cx="1768699" cy="692784"/>
          </a:xfrm>
          <a:custGeom>
            <a:avLst/>
            <a:gdLst>
              <a:gd name="csX0" fmla="*/ 0 w 1768699"/>
              <a:gd name="csY0" fmla="*/ 0 h 635358"/>
              <a:gd name="csX1" fmla="*/ 1768699 w 1768699"/>
              <a:gd name="csY1" fmla="*/ 635358 h 635358"/>
              <a:gd name="csX0" fmla="*/ 0 w 1768699"/>
              <a:gd name="csY0" fmla="*/ 0 h 635358"/>
              <a:gd name="csX1" fmla="*/ 1768699 w 1768699"/>
              <a:gd name="csY1" fmla="*/ 635358 h 635358"/>
              <a:gd name="csX0" fmla="*/ 0 w 1768699"/>
              <a:gd name="csY0" fmla="*/ 57426 h 692784"/>
              <a:gd name="csX1" fmla="*/ 1768699 w 1768699"/>
              <a:gd name="csY1" fmla="*/ 692784 h 692784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768699" h="692784">
                <a:moveTo>
                  <a:pt x="0" y="57426"/>
                </a:moveTo>
                <a:cubicBezTo>
                  <a:pt x="842851" y="-31295"/>
                  <a:pt x="1548327" y="-128602"/>
                  <a:pt x="1768699" y="692784"/>
                </a:cubicBezTo>
              </a:path>
            </a:pathLst>
          </a:cu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1653DFA-1EE4-6AA4-1826-9DA4F64F5EC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2506" y="1803996"/>
            <a:ext cx="5195466" cy="3870325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FDC9DED-D128-F605-A806-FA6F28C90FE1}"/>
              </a:ext>
            </a:extLst>
          </p:cNvPr>
          <p:cNvSpPr txBox="1"/>
          <p:nvPr/>
        </p:nvSpPr>
        <p:spPr>
          <a:xfrm>
            <a:off x="1780958" y="3164033"/>
            <a:ext cx="7176132" cy="147732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rtlCol="0">
            <a:spAutoFit/>
          </a:bodyPr>
          <a:lstStyle/>
          <a:p>
            <a:r>
              <a:rPr lang="sv-SE" dirty="0">
                <a:latin typeface="+mj-lt"/>
              </a:rPr>
              <a:t>Förberedelse för lab2 (på canvas inom kort):</a:t>
            </a:r>
          </a:p>
          <a:p>
            <a:endParaRPr lang="sv-SE" dirty="0">
              <a:latin typeface="+mj-lt"/>
            </a:endParaRPr>
          </a:p>
          <a:p>
            <a:r>
              <a:rPr lang="sv-SE" b="1" dirty="0" err="1">
                <a:latin typeface="+mj-lt"/>
              </a:rPr>
              <a:t>Keypad</a:t>
            </a:r>
            <a:r>
              <a:rPr lang="sv-SE" b="1" dirty="0">
                <a:latin typeface="+mj-lt"/>
              </a:rPr>
              <a:t>:</a:t>
            </a:r>
            <a:r>
              <a:rPr lang="sv-SE" dirty="0">
                <a:latin typeface="+mj-lt"/>
              </a:rPr>
              <a:t> </a:t>
            </a:r>
            <a:r>
              <a:rPr lang="sv-SE" dirty="0">
                <a:latin typeface="Consolas" panose="020B0609020204030204" pitchFamily="49" charset="0"/>
              </a:rPr>
              <a:t>Lecture05/Exercise01</a:t>
            </a:r>
            <a:r>
              <a:rPr lang="sv-SE" dirty="0">
                <a:latin typeface="+mj-lt"/>
              </a:rPr>
              <a:t> </a:t>
            </a:r>
            <a:r>
              <a:rPr lang="sv-SE" i="1" dirty="0">
                <a:latin typeface="+mj-lt"/>
              </a:rPr>
              <a:t>eller</a:t>
            </a:r>
            <a:r>
              <a:rPr lang="sv-SE" dirty="0">
                <a:latin typeface="+mj-lt"/>
              </a:rPr>
              <a:t> Arbetsboken Uppgifter 2.2-2.6</a:t>
            </a:r>
          </a:p>
          <a:p>
            <a:r>
              <a:rPr lang="sv-SE" b="1" dirty="0" err="1">
                <a:latin typeface="+mj-lt"/>
              </a:rPr>
              <a:t>SysTick</a:t>
            </a:r>
            <a:r>
              <a:rPr lang="sv-SE" b="1" dirty="0">
                <a:latin typeface="+mj-lt"/>
              </a:rPr>
              <a:t>:</a:t>
            </a:r>
            <a:r>
              <a:rPr lang="sv-SE" dirty="0">
                <a:latin typeface="+mj-lt"/>
              </a:rPr>
              <a:t> </a:t>
            </a:r>
            <a:r>
              <a:rPr lang="sv-SE" dirty="0">
                <a:latin typeface="Consolas" panose="020B0609020204030204" pitchFamily="49" charset="0"/>
              </a:rPr>
              <a:t>Lecture06/Exercise02 </a:t>
            </a:r>
            <a:r>
              <a:rPr lang="sv-SE" i="1" dirty="0">
                <a:latin typeface="+mj-lt"/>
              </a:rPr>
              <a:t>eller </a:t>
            </a:r>
            <a:r>
              <a:rPr lang="sv-SE" dirty="0">
                <a:latin typeface="+mj-lt"/>
              </a:rPr>
              <a:t>Arbetsboken Kapitel 3.2</a:t>
            </a:r>
          </a:p>
          <a:p>
            <a:r>
              <a:rPr lang="sv-SE" b="1" dirty="0">
                <a:latin typeface="+mj-lt"/>
              </a:rPr>
              <a:t>ASCII Display:</a:t>
            </a:r>
            <a:r>
              <a:rPr lang="sv-SE" dirty="0">
                <a:latin typeface="+mj-lt"/>
              </a:rPr>
              <a:t> </a:t>
            </a:r>
            <a:r>
              <a:rPr lang="sv-SE" dirty="0">
                <a:latin typeface="Consolas" panose="020B0609020204030204" pitchFamily="49" charset="0"/>
              </a:rPr>
              <a:t>Lab Preparations/Lab 2</a:t>
            </a:r>
            <a:r>
              <a:rPr lang="sv-SE" dirty="0">
                <a:latin typeface="+mj-lt"/>
              </a:rPr>
              <a:t> </a:t>
            </a:r>
            <a:r>
              <a:rPr lang="sv-SE" i="1" dirty="0">
                <a:latin typeface="+mj-lt"/>
              </a:rPr>
              <a:t>eller </a:t>
            </a:r>
            <a:r>
              <a:rPr lang="sv-SE" dirty="0">
                <a:latin typeface="+mj-lt"/>
              </a:rPr>
              <a:t>Arbetsboken Kapitel 3.3 </a:t>
            </a:r>
          </a:p>
        </p:txBody>
      </p:sp>
    </p:spTree>
    <p:extLst>
      <p:ext uri="{BB962C8B-B14F-4D97-AF65-F5344CB8AC3E}">
        <p14:creationId xmlns:p14="http://schemas.microsoft.com/office/powerpoint/2010/main" val="22968160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76738E9-0591-86B3-6279-12DE81AF66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Arrays</a:t>
            </a:r>
            <a:endParaRPr lang="LID4096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E6B258D-B03E-D58B-806D-C86445B150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4820" y="2427605"/>
            <a:ext cx="6903720" cy="3020695"/>
          </a:xfrm>
          <a:solidFill>
            <a:schemeClr val="tx1">
              <a:lumMod val="85000"/>
              <a:lumOff val="15000"/>
            </a:schemeClr>
          </a:solidFill>
        </p:spPr>
        <p:txBody>
          <a:bodyPr>
            <a:norm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6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short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value_array</a:t>
            </a:r>
            <a:r>
              <a:rPr lang="en-US" sz="16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[]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  <a:r>
              <a:rPr lang="en-US" sz="16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6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7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8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9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>
              <a:lnSpc>
                <a:spcPct val="100000"/>
              </a:lnSpc>
              <a:buNone/>
            </a:pPr>
            <a:r>
              <a:rPr lang="en-US" sz="16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lnSpc>
                <a:spcPct val="100000"/>
              </a:lnSpc>
              <a:buNone/>
            </a:pP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lnSpc>
                <a:spcPct val="100000"/>
              </a:lnSpc>
              <a:buNone/>
            </a:pP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square_array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16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];</a:t>
            </a:r>
          </a:p>
          <a:p>
            <a:pPr>
              <a:lnSpc>
                <a:spcPct val="100000"/>
              </a:lnSpc>
              <a:buNone/>
            </a:pP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6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16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16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++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lnSpc>
                <a:spcPct val="100000"/>
              </a:lnSpc>
              <a:buNone/>
            </a:pP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square_array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16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en-US" sz="1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value_array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16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en-US" sz="1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value_array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16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];</a:t>
            </a:r>
          </a:p>
          <a:p>
            <a:pPr>
              <a:lnSpc>
                <a:spcPct val="100000"/>
              </a:lnSpc>
              <a:buNone/>
            </a:pP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lnSpc>
                <a:spcPct val="100000"/>
              </a:lnSpc>
              <a:buNone/>
            </a:pP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 marL="0" indent="0">
              <a:buNone/>
            </a:pPr>
            <a:endParaRPr lang="LID4096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2ED163DA-E47C-45A8-DEFC-C25E494F259E}"/>
              </a:ext>
            </a:extLst>
          </p:cNvPr>
          <p:cNvGrpSpPr/>
          <p:nvPr/>
        </p:nvGrpSpPr>
        <p:grpSpPr>
          <a:xfrm>
            <a:off x="507028" y="845366"/>
            <a:ext cx="11177943" cy="2031325"/>
            <a:chOff x="973539" y="1096826"/>
            <a:chExt cx="11177943" cy="2031325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281F9933-EF5F-6017-049F-CB0193565CA4}"/>
                </a:ext>
              </a:extLst>
            </p:cNvPr>
            <p:cNvSpPr txBox="1"/>
            <p:nvPr/>
          </p:nvSpPr>
          <p:spPr>
            <a:xfrm>
              <a:off x="8153400" y="1096826"/>
              <a:ext cx="3998082" cy="203132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wrap="none" rtlCol="0">
              <a:spAutoFit/>
            </a:bodyPr>
            <a:lstStyle/>
            <a:p>
              <a:r>
                <a:rPr lang="en-GB" dirty="0"/>
                <a:t>H</a:t>
              </a:r>
              <a:r>
                <a:rPr lang="sv-SE" dirty="0"/>
                <a:t>är </a:t>
              </a:r>
              <a:r>
                <a:rPr lang="sv-SE" dirty="0" err="1"/>
                <a:t>definerar</a:t>
              </a:r>
              <a:r>
                <a:rPr lang="sv-SE" dirty="0"/>
                <a:t> vi en </a:t>
              </a:r>
              <a:r>
                <a:rPr lang="sv-SE" i="1" dirty="0"/>
                <a:t>global</a:t>
              </a:r>
              <a:r>
                <a:rPr lang="sv-SE" dirty="0"/>
                <a:t> </a:t>
              </a:r>
              <a:r>
                <a:rPr lang="sv-SE" dirty="0" err="1"/>
                <a:t>array</a:t>
              </a:r>
              <a:r>
                <a:rPr lang="sv-SE" dirty="0"/>
                <a:t>. </a:t>
              </a:r>
            </a:p>
            <a:p>
              <a:r>
                <a:rPr lang="sv-SE" dirty="0"/>
                <a:t>Den kompileras in i </a:t>
              </a:r>
              <a:r>
                <a:rPr lang="sv-SE" dirty="0" err="1"/>
                <a:t>executablen</a:t>
              </a:r>
              <a:r>
                <a:rPr lang="sv-SE" dirty="0"/>
                <a:t> och</a:t>
              </a:r>
            </a:p>
            <a:p>
              <a:r>
                <a:rPr lang="sv-SE" dirty="0"/>
                <a:t>kopieras tillsammans med koden in i </a:t>
              </a:r>
            </a:p>
            <a:p>
              <a:r>
                <a:rPr lang="sv-SE" dirty="0"/>
                <a:t>minnet när vi kör programmet. </a:t>
              </a:r>
            </a:p>
            <a:p>
              <a:endParaRPr lang="sv-SE" dirty="0"/>
            </a:p>
            <a:p>
              <a:r>
                <a:rPr lang="sv-SE" dirty="0"/>
                <a:t>Vi behöver inte ange storleken, eftersom</a:t>
              </a:r>
            </a:p>
            <a:p>
              <a:r>
                <a:rPr lang="sv-SE" dirty="0"/>
                <a:t>vi anger vad den innehåller. 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32B86974-91AC-B2A3-2E7A-7A17C01B6C05}"/>
                </a:ext>
              </a:extLst>
            </p:cNvPr>
            <p:cNvSpPr/>
            <p:nvPr/>
          </p:nvSpPr>
          <p:spPr>
            <a:xfrm>
              <a:off x="973539" y="2723322"/>
              <a:ext cx="6273421" cy="286603"/>
            </a:xfrm>
            <a:prstGeom prst="rect">
              <a:avLst/>
            </a:prstGeom>
            <a:noFill/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38148E9A-EE3E-7A1C-C1AF-01EFDF0113AD}"/>
                </a:ext>
              </a:extLst>
            </p:cNvPr>
            <p:cNvCxnSpPr>
              <a:cxnSpLocks/>
              <a:endCxn id="6" idx="1"/>
            </p:cNvCxnSpPr>
            <p:nvPr/>
          </p:nvCxnSpPr>
          <p:spPr>
            <a:xfrm flipV="1">
              <a:off x="7246960" y="2112489"/>
              <a:ext cx="906440" cy="785061"/>
            </a:xfrm>
            <a:prstGeom prst="line">
              <a:avLst/>
            </a:prstGeom>
            <a:ln w="2540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B7C76E4D-76F1-650F-CF50-5479D7AEE3A2}"/>
              </a:ext>
            </a:extLst>
          </p:cNvPr>
          <p:cNvGrpSpPr/>
          <p:nvPr/>
        </p:nvGrpSpPr>
        <p:grpSpPr>
          <a:xfrm>
            <a:off x="916591" y="3556600"/>
            <a:ext cx="10437209" cy="1200329"/>
            <a:chOff x="1265261" y="2209396"/>
            <a:chExt cx="10437209" cy="1200329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01567B6E-23A5-E3E8-3EFB-F740063FCB7A}"/>
                </a:ext>
              </a:extLst>
            </p:cNvPr>
            <p:cNvSpPr txBox="1"/>
            <p:nvPr/>
          </p:nvSpPr>
          <p:spPr>
            <a:xfrm>
              <a:off x="7991902" y="2209396"/>
              <a:ext cx="3710568" cy="120032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wrap="none" rtlCol="0">
              <a:spAutoFit/>
            </a:bodyPr>
            <a:lstStyle/>
            <a:p>
              <a:r>
                <a:rPr lang="en-GB" dirty="0"/>
                <a:t>H</a:t>
              </a:r>
              <a:r>
                <a:rPr lang="sv-SE" dirty="0"/>
                <a:t>är </a:t>
              </a:r>
              <a:r>
                <a:rPr lang="sv-SE" dirty="0" err="1"/>
                <a:t>definerar</a:t>
              </a:r>
              <a:r>
                <a:rPr lang="sv-SE" dirty="0"/>
                <a:t> vi en </a:t>
              </a:r>
              <a:r>
                <a:rPr lang="sv-SE" i="1" dirty="0"/>
                <a:t>temporär </a:t>
              </a:r>
              <a:r>
                <a:rPr lang="sv-SE" dirty="0" err="1"/>
                <a:t>array</a:t>
              </a:r>
              <a:r>
                <a:rPr lang="sv-SE" dirty="0"/>
                <a:t>. </a:t>
              </a:r>
            </a:p>
            <a:p>
              <a:r>
                <a:rPr lang="sv-SE" dirty="0"/>
                <a:t>Plats för den allokeras på stacken. </a:t>
              </a:r>
            </a:p>
            <a:p>
              <a:r>
                <a:rPr lang="sv-SE" dirty="0"/>
                <a:t>Vi anger att den skall vara 10 element</a:t>
              </a:r>
            </a:p>
            <a:p>
              <a:r>
                <a:rPr lang="sv-SE" dirty="0"/>
                <a:t>lång. </a:t>
              </a: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04EECDAF-4623-08EF-1ACF-160A3BBCAE0D}"/>
                </a:ext>
              </a:extLst>
            </p:cNvPr>
            <p:cNvSpPr/>
            <p:nvPr/>
          </p:nvSpPr>
          <p:spPr>
            <a:xfrm>
              <a:off x="1265261" y="2239453"/>
              <a:ext cx="2611841" cy="286603"/>
            </a:xfrm>
            <a:prstGeom prst="rect">
              <a:avLst/>
            </a:prstGeom>
            <a:noFill/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9C3C988E-E5F8-3E1D-9064-19842DD68051}"/>
                </a:ext>
              </a:extLst>
            </p:cNvPr>
            <p:cNvCxnSpPr>
              <a:cxnSpLocks/>
              <a:stCxn id="11" idx="3"/>
              <a:endCxn id="10" idx="1"/>
            </p:cNvCxnSpPr>
            <p:nvPr/>
          </p:nvCxnSpPr>
          <p:spPr>
            <a:xfrm>
              <a:off x="3877102" y="2382755"/>
              <a:ext cx="4114800" cy="426806"/>
            </a:xfrm>
            <a:prstGeom prst="line">
              <a:avLst/>
            </a:prstGeom>
            <a:ln w="2540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FD65C3AF-CD93-9999-8678-F83844E2679D}"/>
              </a:ext>
            </a:extLst>
          </p:cNvPr>
          <p:cNvGrpSpPr/>
          <p:nvPr/>
        </p:nvGrpSpPr>
        <p:grpSpPr>
          <a:xfrm>
            <a:off x="1386841" y="4300067"/>
            <a:ext cx="7083688" cy="1809834"/>
            <a:chOff x="2086031" y="1037236"/>
            <a:chExt cx="7083688" cy="1809834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1D4C1F33-01D4-F6F9-5727-02D0B9284EC0}"/>
                </a:ext>
              </a:extLst>
            </p:cNvPr>
            <p:cNvSpPr txBox="1"/>
            <p:nvPr/>
          </p:nvSpPr>
          <p:spPr>
            <a:xfrm>
              <a:off x="4319289" y="2200739"/>
              <a:ext cx="4850430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wrap="none" rtlCol="0">
              <a:spAutoFit/>
            </a:bodyPr>
            <a:lstStyle/>
            <a:p>
              <a:r>
                <a:rPr lang="sv-SE"/>
                <a:t>Vi läser eller skriver till det i:te elementet</a:t>
              </a:r>
              <a:br>
                <a:rPr lang="sv-SE"/>
              </a:br>
              <a:r>
                <a:rPr lang="sv-SE"/>
                <a:t>i arrayen genom att ange ”i” inom hakparanteser.</a:t>
              </a: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56E4DCC1-AAC5-53F6-0F3F-9A1A941E11C3}"/>
                </a:ext>
              </a:extLst>
            </p:cNvPr>
            <p:cNvSpPr/>
            <p:nvPr/>
          </p:nvSpPr>
          <p:spPr>
            <a:xfrm>
              <a:off x="2086031" y="1055761"/>
              <a:ext cx="1723256" cy="286603"/>
            </a:xfrm>
            <a:prstGeom prst="rect">
              <a:avLst/>
            </a:prstGeom>
            <a:noFill/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 dirty="0"/>
            </a:p>
          </p:txBody>
        </p: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88BD6722-7476-978F-02B7-F0CEE40D01AB}"/>
                </a:ext>
              </a:extLst>
            </p:cNvPr>
            <p:cNvCxnSpPr>
              <a:cxnSpLocks/>
              <a:stCxn id="15" idx="2"/>
              <a:endCxn id="14" idx="1"/>
            </p:cNvCxnSpPr>
            <p:nvPr/>
          </p:nvCxnSpPr>
          <p:spPr>
            <a:xfrm>
              <a:off x="2947659" y="1342364"/>
              <a:ext cx="1371630" cy="1181541"/>
            </a:xfrm>
            <a:prstGeom prst="line">
              <a:avLst/>
            </a:prstGeom>
            <a:ln w="2540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E1CCD6D9-D08A-69C9-2659-ABF49EC2BC14}"/>
                </a:ext>
              </a:extLst>
            </p:cNvPr>
            <p:cNvSpPr/>
            <p:nvPr/>
          </p:nvSpPr>
          <p:spPr>
            <a:xfrm>
              <a:off x="4105107" y="1039541"/>
              <a:ext cx="1664909" cy="286603"/>
            </a:xfrm>
            <a:prstGeom prst="rect">
              <a:avLst/>
            </a:prstGeom>
            <a:noFill/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8E225477-8F73-B45E-B7E0-9E23C812FDA6}"/>
                </a:ext>
              </a:extLst>
            </p:cNvPr>
            <p:cNvSpPr/>
            <p:nvPr/>
          </p:nvSpPr>
          <p:spPr>
            <a:xfrm>
              <a:off x="5972230" y="1037236"/>
              <a:ext cx="1758517" cy="286603"/>
            </a:xfrm>
            <a:prstGeom prst="rect">
              <a:avLst/>
            </a:prstGeom>
            <a:noFill/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805C935F-D12C-46CA-8C64-04F59FC99D1E}"/>
                </a:ext>
              </a:extLst>
            </p:cNvPr>
            <p:cNvCxnSpPr>
              <a:cxnSpLocks/>
            </p:cNvCxnSpPr>
            <p:nvPr/>
          </p:nvCxnSpPr>
          <p:spPr>
            <a:xfrm>
              <a:off x="4982828" y="1323839"/>
              <a:ext cx="0" cy="875466"/>
            </a:xfrm>
            <a:prstGeom prst="line">
              <a:avLst/>
            </a:prstGeom>
            <a:ln w="2540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5EA0F194-8B28-3A56-E1B2-3B61FEEC69E2}"/>
                </a:ext>
              </a:extLst>
            </p:cNvPr>
            <p:cNvCxnSpPr>
              <a:cxnSpLocks/>
              <a:stCxn id="18" idx="2"/>
            </p:cNvCxnSpPr>
            <p:nvPr/>
          </p:nvCxnSpPr>
          <p:spPr>
            <a:xfrm flipH="1">
              <a:off x="5897395" y="1323839"/>
              <a:ext cx="954094" cy="875466"/>
            </a:xfrm>
            <a:prstGeom prst="line">
              <a:avLst/>
            </a:prstGeom>
            <a:ln w="2540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5331712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CEEEB0-9A68-3A9F-4803-39F2A7C036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Content Placeholder 3">
            <a:extLst>
              <a:ext uri="{FF2B5EF4-FFF2-40B4-BE49-F238E27FC236}">
                <a16:creationId xmlns:a16="http://schemas.microsoft.com/office/drawing/2014/main" id="{0E2565B7-A12B-C1D2-7D40-F3D423BEFC50}"/>
              </a:ext>
            </a:extLst>
          </p:cNvPr>
          <p:cNvSpPr txBox="1">
            <a:spLocks/>
          </p:cNvSpPr>
          <p:nvPr/>
        </p:nvSpPr>
        <p:spPr>
          <a:xfrm>
            <a:off x="464820" y="2427605"/>
            <a:ext cx="6903720" cy="3020695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en-US" sz="1600" dirty="0">
                <a:solidFill>
                  <a:srgbClr val="569CD6"/>
                </a:solidFill>
                <a:latin typeface="Consolas" panose="020B0609020204030204" pitchFamily="49" charset="0"/>
              </a:rPr>
              <a:t>short</a:t>
            </a:r>
            <a:r>
              <a:rPr lang="en-US" sz="16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9CDCFE"/>
                </a:solidFill>
                <a:latin typeface="Consolas" panose="020B0609020204030204" pitchFamily="49" charset="0"/>
              </a:rPr>
              <a:t>value_array</a:t>
            </a:r>
            <a:r>
              <a:rPr lang="en-US" sz="1600" dirty="0">
                <a:solidFill>
                  <a:srgbClr val="569CD6"/>
                </a:solidFill>
                <a:latin typeface="Consolas" panose="020B0609020204030204" pitchFamily="49" charset="0"/>
              </a:rPr>
              <a:t>[]</a:t>
            </a:r>
            <a:r>
              <a:rPr lang="en-US" sz="16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US" sz="1600" dirty="0">
                <a:solidFill>
                  <a:srgbClr val="CCCCCC"/>
                </a:solidFill>
                <a:latin typeface="Consolas" panose="020B0609020204030204" pitchFamily="49" charset="0"/>
              </a:rPr>
              <a:t> {</a:t>
            </a:r>
            <a:r>
              <a:rPr lang="en-US" sz="1600" dirty="0">
                <a:solidFill>
                  <a:srgbClr val="B5CEA8"/>
                </a:solidFill>
                <a:latin typeface="Consolas" panose="020B0609020204030204" pitchFamily="49" charset="0"/>
              </a:rPr>
              <a:t>0</a:t>
            </a:r>
            <a:r>
              <a:rPr lang="en-US" sz="16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US" sz="1600" dirty="0">
                <a:solidFill>
                  <a:srgbClr val="B5CEA8"/>
                </a:solidFill>
                <a:latin typeface="Consolas" panose="020B0609020204030204" pitchFamily="49" charset="0"/>
              </a:rPr>
              <a:t>1</a:t>
            </a:r>
            <a:r>
              <a:rPr lang="en-US" sz="16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US" sz="1600" dirty="0">
                <a:solidFill>
                  <a:srgbClr val="B5CEA8"/>
                </a:solidFill>
                <a:latin typeface="Consolas" panose="020B0609020204030204" pitchFamily="49" charset="0"/>
              </a:rPr>
              <a:t>2</a:t>
            </a:r>
            <a:r>
              <a:rPr lang="en-US" sz="16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US" sz="1600" dirty="0">
                <a:solidFill>
                  <a:srgbClr val="B5CEA8"/>
                </a:solidFill>
                <a:latin typeface="Consolas" panose="020B0609020204030204" pitchFamily="49" charset="0"/>
              </a:rPr>
              <a:t>3</a:t>
            </a:r>
            <a:r>
              <a:rPr lang="en-US" sz="16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US" sz="1600" dirty="0">
                <a:solidFill>
                  <a:srgbClr val="B5CEA8"/>
                </a:solidFill>
                <a:latin typeface="Consolas" panose="020B0609020204030204" pitchFamily="49" charset="0"/>
              </a:rPr>
              <a:t>4</a:t>
            </a:r>
            <a:r>
              <a:rPr lang="en-US" sz="16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US" sz="1600" dirty="0">
                <a:solidFill>
                  <a:srgbClr val="B5CEA8"/>
                </a:solidFill>
                <a:latin typeface="Consolas" panose="020B0609020204030204" pitchFamily="49" charset="0"/>
              </a:rPr>
              <a:t>5</a:t>
            </a:r>
            <a:r>
              <a:rPr lang="en-US" sz="16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US" sz="1600" dirty="0">
                <a:solidFill>
                  <a:srgbClr val="B5CEA8"/>
                </a:solidFill>
                <a:latin typeface="Consolas" panose="020B0609020204030204" pitchFamily="49" charset="0"/>
              </a:rPr>
              <a:t>6</a:t>
            </a:r>
            <a:r>
              <a:rPr lang="en-US" sz="16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US" sz="1600" dirty="0">
                <a:solidFill>
                  <a:srgbClr val="B5CEA8"/>
                </a:solidFill>
                <a:latin typeface="Consolas" panose="020B0609020204030204" pitchFamily="49" charset="0"/>
              </a:rPr>
              <a:t>7</a:t>
            </a:r>
            <a:r>
              <a:rPr lang="en-US" sz="16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US" sz="1600" dirty="0">
                <a:solidFill>
                  <a:srgbClr val="B5CEA8"/>
                </a:solidFill>
                <a:latin typeface="Consolas" panose="020B0609020204030204" pitchFamily="49" charset="0"/>
              </a:rPr>
              <a:t>8</a:t>
            </a:r>
            <a:r>
              <a:rPr lang="en-US" sz="16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US" sz="1600" dirty="0">
                <a:solidFill>
                  <a:srgbClr val="B5CEA8"/>
                </a:solidFill>
                <a:latin typeface="Consolas" panose="020B0609020204030204" pitchFamily="49" charset="0"/>
              </a:rPr>
              <a:t>9</a:t>
            </a:r>
            <a:r>
              <a:rPr lang="en-US" sz="1600" dirty="0">
                <a:solidFill>
                  <a:srgbClr val="CCCCCC"/>
                </a:solidFill>
                <a:latin typeface="Consolas" panose="020B0609020204030204" pitchFamily="49" charset="0"/>
              </a:rPr>
              <a:t>};</a:t>
            </a:r>
          </a:p>
          <a:p>
            <a:pPr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en-US" sz="1600" dirty="0">
                <a:solidFill>
                  <a:srgbClr val="569CD6"/>
                </a:solidFill>
                <a:latin typeface="Consolas" panose="020B0609020204030204" pitchFamily="49" charset="0"/>
              </a:rPr>
              <a:t>int</a:t>
            </a:r>
            <a:r>
              <a:rPr lang="en-US" sz="16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DCDCAA"/>
                </a:solidFill>
                <a:latin typeface="Consolas" panose="020B0609020204030204" pitchFamily="49" charset="0"/>
              </a:rPr>
              <a:t>main</a:t>
            </a:r>
            <a:r>
              <a:rPr lang="en-US" sz="1600" dirty="0">
                <a:solidFill>
                  <a:srgbClr val="CCCCCC"/>
                </a:solidFill>
                <a:latin typeface="Consolas" panose="020B0609020204030204" pitchFamily="49" charset="0"/>
              </a:rPr>
              <a:t>()</a:t>
            </a:r>
          </a:p>
          <a:p>
            <a:pPr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en-US" sz="1600" dirty="0">
                <a:solidFill>
                  <a:srgbClr val="CCCCCC"/>
                </a:solidFill>
                <a:latin typeface="Consolas" panose="020B0609020204030204" pitchFamily="49" charset="0"/>
              </a:rPr>
              <a:t>{</a:t>
            </a:r>
          </a:p>
          <a:p>
            <a:pPr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en-US" sz="16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US" sz="1600" dirty="0">
                <a:solidFill>
                  <a:srgbClr val="569CD6"/>
                </a:solidFill>
                <a:latin typeface="Consolas" panose="020B0609020204030204" pitchFamily="49" charset="0"/>
              </a:rPr>
              <a:t>int</a:t>
            </a:r>
            <a:r>
              <a:rPr lang="en-US" sz="16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9CDCFE"/>
                </a:solidFill>
                <a:latin typeface="Consolas" panose="020B0609020204030204" pitchFamily="49" charset="0"/>
              </a:rPr>
              <a:t>square_array</a:t>
            </a:r>
            <a:r>
              <a:rPr lang="en-US" sz="1600" dirty="0">
                <a:solidFill>
                  <a:srgbClr val="CCCCCC"/>
                </a:solidFill>
                <a:latin typeface="Consolas" panose="020B0609020204030204" pitchFamily="49" charset="0"/>
              </a:rPr>
              <a:t>[</a:t>
            </a:r>
            <a:r>
              <a:rPr lang="en-US" sz="1600" dirty="0">
                <a:solidFill>
                  <a:srgbClr val="B5CEA8"/>
                </a:solidFill>
                <a:latin typeface="Consolas" panose="020B0609020204030204" pitchFamily="49" charset="0"/>
              </a:rPr>
              <a:t>10</a:t>
            </a:r>
            <a:r>
              <a:rPr lang="en-US" sz="1600" dirty="0">
                <a:solidFill>
                  <a:srgbClr val="CCCCCC"/>
                </a:solidFill>
                <a:latin typeface="Consolas" panose="020B0609020204030204" pitchFamily="49" charset="0"/>
              </a:rPr>
              <a:t>];</a:t>
            </a:r>
          </a:p>
          <a:p>
            <a:pPr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en-US" sz="16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US" sz="1600" dirty="0">
                <a:solidFill>
                  <a:srgbClr val="C586C0"/>
                </a:solidFill>
                <a:latin typeface="Consolas" panose="020B0609020204030204" pitchFamily="49" charset="0"/>
              </a:rPr>
              <a:t>for</a:t>
            </a:r>
            <a:r>
              <a:rPr lang="en-US" sz="16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sz="1600" dirty="0">
                <a:solidFill>
                  <a:srgbClr val="569CD6"/>
                </a:solidFill>
                <a:latin typeface="Consolas" panose="020B0609020204030204" pitchFamily="49" charset="0"/>
              </a:rPr>
              <a:t>int</a:t>
            </a:r>
            <a:r>
              <a:rPr lang="en-US" sz="16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9CDCFE"/>
                </a:solidFill>
                <a:latin typeface="Consolas" panose="020B0609020204030204" pitchFamily="49" charset="0"/>
              </a:rPr>
              <a:t>i</a:t>
            </a:r>
            <a:r>
              <a:rPr lang="en-US" sz="16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US" sz="1600" dirty="0">
                <a:solidFill>
                  <a:srgbClr val="B5CEA8"/>
                </a:solidFill>
                <a:latin typeface="Consolas" panose="020B0609020204030204" pitchFamily="49" charset="0"/>
              </a:rPr>
              <a:t>0</a:t>
            </a:r>
            <a:r>
              <a:rPr lang="en-US" sz="1600" dirty="0">
                <a:solidFill>
                  <a:srgbClr val="CCCCCC"/>
                </a:solidFill>
                <a:latin typeface="Consolas" panose="020B0609020204030204" pitchFamily="49" charset="0"/>
              </a:rPr>
              <a:t>; </a:t>
            </a:r>
            <a:r>
              <a:rPr lang="en-US" sz="1600" dirty="0" err="1">
                <a:solidFill>
                  <a:srgbClr val="9CDCFE"/>
                </a:solidFill>
                <a:latin typeface="Consolas" panose="020B0609020204030204" pitchFamily="49" charset="0"/>
              </a:rPr>
              <a:t>i</a:t>
            </a:r>
            <a:r>
              <a:rPr lang="en-US" sz="1600" dirty="0">
                <a:solidFill>
                  <a:srgbClr val="D4D4D4"/>
                </a:solidFill>
                <a:latin typeface="Consolas" panose="020B0609020204030204" pitchFamily="49" charset="0"/>
              </a:rPr>
              <a:t>&lt;</a:t>
            </a:r>
            <a:r>
              <a:rPr lang="en-US" sz="1600" dirty="0">
                <a:solidFill>
                  <a:srgbClr val="B5CEA8"/>
                </a:solidFill>
                <a:latin typeface="Consolas" panose="020B0609020204030204" pitchFamily="49" charset="0"/>
              </a:rPr>
              <a:t>10</a:t>
            </a:r>
            <a:r>
              <a:rPr lang="en-US" sz="1600" dirty="0">
                <a:solidFill>
                  <a:srgbClr val="CCCCCC"/>
                </a:solidFill>
                <a:latin typeface="Consolas" panose="020B0609020204030204" pitchFamily="49" charset="0"/>
              </a:rPr>
              <a:t>; </a:t>
            </a:r>
            <a:r>
              <a:rPr lang="en-US" sz="1600" dirty="0" err="1">
                <a:solidFill>
                  <a:srgbClr val="9CDCFE"/>
                </a:solidFill>
                <a:latin typeface="Consolas" panose="020B0609020204030204" pitchFamily="49" charset="0"/>
              </a:rPr>
              <a:t>i</a:t>
            </a:r>
            <a:r>
              <a:rPr lang="en-US" sz="1600" dirty="0">
                <a:solidFill>
                  <a:srgbClr val="D4D4D4"/>
                </a:solidFill>
                <a:latin typeface="Consolas" panose="020B0609020204030204" pitchFamily="49" charset="0"/>
              </a:rPr>
              <a:t>++</a:t>
            </a:r>
            <a:r>
              <a:rPr lang="en-US" sz="1600" dirty="0">
                <a:solidFill>
                  <a:srgbClr val="CCCCCC"/>
                </a:solidFill>
                <a:latin typeface="Consolas" panose="020B0609020204030204" pitchFamily="49" charset="0"/>
              </a:rPr>
              <a:t>) {</a:t>
            </a:r>
          </a:p>
          <a:p>
            <a:pPr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en-US" sz="16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sz="1600" dirty="0" err="1">
                <a:solidFill>
                  <a:srgbClr val="9CDCFE"/>
                </a:solidFill>
                <a:latin typeface="Consolas" panose="020B0609020204030204" pitchFamily="49" charset="0"/>
              </a:rPr>
              <a:t>square_array</a:t>
            </a:r>
            <a:r>
              <a:rPr lang="en-US" sz="1600" dirty="0">
                <a:solidFill>
                  <a:srgbClr val="CCCCCC"/>
                </a:solidFill>
                <a:latin typeface="Consolas" panose="020B0609020204030204" pitchFamily="49" charset="0"/>
              </a:rPr>
              <a:t>[</a:t>
            </a:r>
            <a:r>
              <a:rPr lang="en-US" sz="1600" dirty="0" err="1">
                <a:solidFill>
                  <a:srgbClr val="9CDCFE"/>
                </a:solidFill>
                <a:latin typeface="Consolas" panose="020B0609020204030204" pitchFamily="49" charset="0"/>
              </a:rPr>
              <a:t>i</a:t>
            </a:r>
            <a:r>
              <a:rPr lang="en-US" sz="1600" dirty="0">
                <a:solidFill>
                  <a:srgbClr val="CCCCCC"/>
                </a:solidFill>
                <a:latin typeface="Consolas" panose="020B0609020204030204" pitchFamily="49" charset="0"/>
              </a:rPr>
              <a:t>] </a:t>
            </a:r>
            <a:r>
              <a:rPr lang="en-US" sz="16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US" sz="16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9CDCFE"/>
                </a:solidFill>
                <a:latin typeface="Consolas" panose="020B0609020204030204" pitchFamily="49" charset="0"/>
              </a:rPr>
              <a:t>value_array</a:t>
            </a:r>
            <a:r>
              <a:rPr lang="en-US" sz="1600" dirty="0">
                <a:solidFill>
                  <a:srgbClr val="CCCCCC"/>
                </a:solidFill>
                <a:latin typeface="Consolas" panose="020B0609020204030204" pitchFamily="49" charset="0"/>
              </a:rPr>
              <a:t>[</a:t>
            </a:r>
            <a:r>
              <a:rPr lang="en-US" sz="1600" dirty="0" err="1">
                <a:solidFill>
                  <a:srgbClr val="9CDCFE"/>
                </a:solidFill>
                <a:latin typeface="Consolas" panose="020B0609020204030204" pitchFamily="49" charset="0"/>
              </a:rPr>
              <a:t>i</a:t>
            </a:r>
            <a:r>
              <a:rPr lang="en-US" sz="1600" dirty="0">
                <a:solidFill>
                  <a:srgbClr val="CCCCCC"/>
                </a:solidFill>
                <a:latin typeface="Consolas" panose="020B0609020204030204" pitchFamily="49" charset="0"/>
              </a:rPr>
              <a:t>] </a:t>
            </a:r>
            <a:r>
              <a:rPr lang="en-US" sz="1600" dirty="0">
                <a:solidFill>
                  <a:srgbClr val="D4D4D4"/>
                </a:solidFill>
                <a:latin typeface="Consolas" panose="020B0609020204030204" pitchFamily="49" charset="0"/>
              </a:rPr>
              <a:t>*</a:t>
            </a:r>
            <a:r>
              <a:rPr lang="en-US" sz="16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9CDCFE"/>
                </a:solidFill>
                <a:latin typeface="Consolas" panose="020B0609020204030204" pitchFamily="49" charset="0"/>
              </a:rPr>
              <a:t>value_array</a:t>
            </a:r>
            <a:r>
              <a:rPr lang="en-US" sz="1600" dirty="0">
                <a:solidFill>
                  <a:srgbClr val="CCCCCC"/>
                </a:solidFill>
                <a:latin typeface="Consolas" panose="020B0609020204030204" pitchFamily="49" charset="0"/>
              </a:rPr>
              <a:t>[</a:t>
            </a:r>
            <a:r>
              <a:rPr lang="en-US" sz="1600" dirty="0" err="1">
                <a:solidFill>
                  <a:srgbClr val="9CDCFE"/>
                </a:solidFill>
                <a:latin typeface="Consolas" panose="020B0609020204030204" pitchFamily="49" charset="0"/>
              </a:rPr>
              <a:t>i</a:t>
            </a:r>
            <a:r>
              <a:rPr lang="en-US" sz="1600" dirty="0">
                <a:solidFill>
                  <a:srgbClr val="CCCCCC"/>
                </a:solidFill>
                <a:latin typeface="Consolas" panose="020B0609020204030204" pitchFamily="49" charset="0"/>
              </a:rPr>
              <a:t>];</a:t>
            </a:r>
          </a:p>
          <a:p>
            <a:pPr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en-US" sz="1600" dirty="0">
                <a:solidFill>
                  <a:srgbClr val="CCCCCC"/>
                </a:solidFill>
                <a:latin typeface="Consolas" panose="020B0609020204030204" pitchFamily="49" charset="0"/>
              </a:rPr>
              <a:t>    }</a:t>
            </a:r>
          </a:p>
          <a:p>
            <a:pPr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en-US" sz="1600" dirty="0">
                <a:solidFill>
                  <a:srgbClr val="CCCCCC"/>
                </a:solidFill>
                <a:latin typeface="Consolas" panose="020B0609020204030204" pitchFamily="49" charset="0"/>
              </a:rPr>
              <a:t>}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LID4096" dirty="0"/>
          </a:p>
        </p:txBody>
      </p:sp>
      <p:sp>
        <p:nvSpPr>
          <p:cNvPr id="34" name="Title 33">
            <a:extLst>
              <a:ext uri="{FF2B5EF4-FFF2-40B4-BE49-F238E27FC236}">
                <a16:creationId xmlns:a16="http://schemas.microsoft.com/office/drawing/2014/main" id="{671C1DF5-64BE-C684-AE47-B33F3B9FCC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dirty="0"/>
              <a:t>Arrays</a:t>
            </a:r>
            <a:endParaRPr lang="LID4096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5ABCBF7-7CA2-F608-07BA-0E0E5BBFB5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7AC8C6-7D5A-454E-9AA8-5FD8ED471EB1}" type="datetime1">
              <a:rPr lang="LID4096" smtClean="0"/>
              <a:t>02/06/2026</a:t>
            </a:fld>
            <a:endParaRPr lang="LID4096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5AEF565-FFDD-68A9-5158-16D80F2DED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Maskinorienterad Programmering</a:t>
            </a:r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8212A7A-2147-5BA1-ACFE-77AE1102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909CE-3A1D-43F5-8F4E-45D6477AD820}" type="slidenum">
              <a:rPr lang="LID4096" smtClean="0"/>
              <a:t>28</a:t>
            </a:fld>
            <a:endParaRPr lang="LID4096"/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2432A079-E994-DA90-5B9A-482CF9600B1E}"/>
              </a:ext>
            </a:extLst>
          </p:cNvPr>
          <p:cNvGrpSpPr/>
          <p:nvPr/>
        </p:nvGrpSpPr>
        <p:grpSpPr>
          <a:xfrm>
            <a:off x="1095174" y="722422"/>
            <a:ext cx="11096826" cy="2040744"/>
            <a:chOff x="973539" y="969181"/>
            <a:chExt cx="11096826" cy="2040744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9B5837CE-E6E9-A003-C3EE-2E6CBF54D557}"/>
                </a:ext>
              </a:extLst>
            </p:cNvPr>
            <p:cNvSpPr txBox="1"/>
            <p:nvPr/>
          </p:nvSpPr>
          <p:spPr>
            <a:xfrm>
              <a:off x="7448266" y="969181"/>
              <a:ext cx="4622099" cy="147732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wrap="none" rtlCol="0">
              <a:spAutoFit/>
            </a:bodyPr>
            <a:lstStyle/>
            <a:p>
              <a:r>
                <a:rPr lang="sv-SE"/>
                <a:t>Arrayens </a:t>
              </a:r>
              <a:r>
                <a:rPr lang="sv-SE" i="1"/>
                <a:t>namn</a:t>
              </a:r>
              <a:r>
                <a:rPr lang="sv-SE"/>
                <a:t> fungerar som en</a:t>
              </a:r>
            </a:p>
            <a:p>
              <a:r>
                <a:rPr lang="sv-SE"/>
                <a:t>(const) pekare. Vi har alltså pekaren</a:t>
              </a:r>
            </a:p>
            <a:p>
              <a:r>
                <a:rPr lang="sv-SE"/>
                <a:t>(addressen) till första elementet i arrayen som: </a:t>
              </a:r>
            </a:p>
            <a:p>
              <a:endParaRPr lang="sv-SE"/>
            </a:p>
            <a:p>
              <a:r>
                <a:rPr lang="sv-SE">
                  <a:latin typeface="Consolas" panose="020B0609020204030204" pitchFamily="49" charset="0"/>
                </a:rPr>
                <a:t>const short *value_array; </a:t>
              </a: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2B85D0D8-22BE-8815-8464-982153A4C804}"/>
                </a:ext>
              </a:extLst>
            </p:cNvPr>
            <p:cNvSpPr/>
            <p:nvPr/>
          </p:nvSpPr>
          <p:spPr>
            <a:xfrm>
              <a:off x="973539" y="2723322"/>
              <a:ext cx="6273421" cy="286603"/>
            </a:xfrm>
            <a:prstGeom prst="rect">
              <a:avLst/>
            </a:prstGeom>
            <a:noFill/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1840CEA4-B3BD-5FC5-4715-281BD23A71E2}"/>
                </a:ext>
              </a:extLst>
            </p:cNvPr>
            <p:cNvCxnSpPr>
              <a:cxnSpLocks/>
              <a:endCxn id="12" idx="1"/>
            </p:cNvCxnSpPr>
            <p:nvPr/>
          </p:nvCxnSpPr>
          <p:spPr>
            <a:xfrm flipV="1">
              <a:off x="6541826" y="1707845"/>
              <a:ext cx="906440" cy="1062060"/>
            </a:xfrm>
            <a:prstGeom prst="line">
              <a:avLst/>
            </a:prstGeom>
            <a:ln w="2540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998857D8-9434-AAEF-0D30-90B8C8E9EDE2}"/>
              </a:ext>
            </a:extLst>
          </p:cNvPr>
          <p:cNvGrpSpPr/>
          <p:nvPr/>
        </p:nvGrpSpPr>
        <p:grpSpPr>
          <a:xfrm>
            <a:off x="3340312" y="4319200"/>
            <a:ext cx="7309467" cy="1711950"/>
            <a:chOff x="3994245" y="4044005"/>
            <a:chExt cx="7309467" cy="1711950"/>
          </a:xfrm>
        </p:grpSpPr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98FC6D76-A923-9557-39F7-23C5BE4D9B0A}"/>
                </a:ext>
              </a:extLst>
            </p:cNvPr>
            <p:cNvSpPr txBox="1"/>
            <p:nvPr/>
          </p:nvSpPr>
          <p:spPr>
            <a:xfrm>
              <a:off x="7063256" y="4555626"/>
              <a:ext cx="4240456" cy="120032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wrap="none" rtlCol="0">
              <a:spAutoFit/>
            </a:bodyPr>
            <a:lstStyle/>
            <a:p>
              <a:r>
                <a:rPr lang="sv-SE" dirty="0"/>
                <a:t>När vi indexerar på det här viset översätter </a:t>
              </a:r>
            </a:p>
            <a:p>
              <a:r>
                <a:rPr lang="sv-SE" dirty="0"/>
                <a:t>kompilatorn det till: </a:t>
              </a:r>
            </a:p>
            <a:p>
              <a:endParaRPr lang="sv-SE" dirty="0"/>
            </a:p>
            <a:p>
              <a:r>
                <a:rPr lang="sv-SE" dirty="0">
                  <a:latin typeface="Consolas" panose="020B0609020204030204" pitchFamily="49" charset="0"/>
                </a:rPr>
                <a:t>(*(</a:t>
              </a:r>
              <a:r>
                <a:rPr lang="sv-SE" dirty="0" err="1">
                  <a:latin typeface="Consolas" panose="020B0609020204030204" pitchFamily="49" charset="0"/>
                </a:rPr>
                <a:t>value_array</a:t>
              </a:r>
              <a:r>
                <a:rPr lang="sv-SE" dirty="0">
                  <a:latin typeface="Consolas" panose="020B0609020204030204" pitchFamily="49" charset="0"/>
                </a:rPr>
                <a:t> + i))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B1F3BFF1-4435-B335-24A5-54549428FAEC}"/>
                </a:ext>
              </a:extLst>
            </p:cNvPr>
            <p:cNvSpPr/>
            <p:nvPr/>
          </p:nvSpPr>
          <p:spPr>
            <a:xfrm>
              <a:off x="3994245" y="4044005"/>
              <a:ext cx="1710520" cy="286603"/>
            </a:xfrm>
            <a:prstGeom prst="rect">
              <a:avLst/>
            </a:prstGeom>
            <a:noFill/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19D8EE6C-7521-7F1F-6B14-6047FE353F93}"/>
                </a:ext>
              </a:extLst>
            </p:cNvPr>
            <p:cNvCxnSpPr>
              <a:cxnSpLocks/>
              <a:stCxn id="6" idx="2"/>
              <a:endCxn id="2" idx="1"/>
            </p:cNvCxnSpPr>
            <p:nvPr/>
          </p:nvCxnSpPr>
          <p:spPr>
            <a:xfrm>
              <a:off x="4849505" y="4330608"/>
              <a:ext cx="2213751" cy="825183"/>
            </a:xfrm>
            <a:prstGeom prst="line">
              <a:avLst/>
            </a:prstGeom>
            <a:ln w="2540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1827736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2A93026B-3E40-5A1E-8584-98403085CE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dirty="0"/>
              <a:t>Pekararitmetik</a:t>
            </a:r>
            <a:endParaRPr lang="LID4096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F873865-0237-0D95-D780-1817065E68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ECE148-BD56-4755-B580-741EAF415DA4}" type="datetime1">
              <a:rPr lang="LID4096" smtClean="0"/>
              <a:t>02/06/2026</a:t>
            </a:fld>
            <a:endParaRPr lang="LID4096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0AAE31B-6219-6B2A-E9AD-B21A768554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Maskinorienterad Programmering</a:t>
            </a:r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61499B5-D54E-87A6-9F25-E229BCBD37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909CE-3A1D-43F5-8F4E-45D6477AD820}" type="slidenum">
              <a:rPr lang="LID4096" smtClean="0"/>
              <a:t>29</a:t>
            </a:fld>
            <a:endParaRPr lang="LID4096"/>
          </a:p>
        </p:txBody>
      </p:sp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9660A52A-9272-7787-03F2-71ED64051FFB}"/>
              </a:ext>
            </a:extLst>
          </p:cNvPr>
          <p:cNvSpPr txBox="1">
            <a:spLocks/>
          </p:cNvSpPr>
          <p:nvPr/>
        </p:nvSpPr>
        <p:spPr>
          <a:xfrm>
            <a:off x="835403" y="1356280"/>
            <a:ext cx="9104716" cy="4744728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sv-SE" sz="1600" dirty="0"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98AFDAE-72EE-CADD-6EC7-46B840B5B608}"/>
              </a:ext>
            </a:extLst>
          </p:cNvPr>
          <p:cNvSpPr txBox="1"/>
          <p:nvPr/>
        </p:nvSpPr>
        <p:spPr>
          <a:xfrm>
            <a:off x="937260" y="2290750"/>
            <a:ext cx="8206740" cy="2308324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char_pointer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0x20000000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short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short_pointer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short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0x2000000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 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int_pointer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0x20000000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 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char_pointer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 // Now points to address 0x20000001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short_pointer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// Now points to address 0x20000002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int_pointer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  // Now points to address 0x20000004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1519B58-CD49-8C9E-94D1-31D962938D48}"/>
              </a:ext>
            </a:extLst>
          </p:cNvPr>
          <p:cNvSpPr txBox="1"/>
          <p:nvPr/>
        </p:nvSpPr>
        <p:spPr>
          <a:xfrm>
            <a:off x="3505200" y="1743485"/>
            <a:ext cx="8206740" cy="3970318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uint32_t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src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[]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6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7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8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9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>
              <a:buNone/>
            </a:pP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uint32_t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dst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[]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6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7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8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9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>
              <a:buNone/>
            </a:pPr>
            <a:b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copyvec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uint32_t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src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uint32_t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dst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uint32_t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length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length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--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dst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++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src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++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;;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b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copyvec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src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dst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B0E7AF2-C7A1-A7DD-F544-799CE094871E}"/>
              </a:ext>
            </a:extLst>
          </p:cNvPr>
          <p:cNvSpPr txBox="1"/>
          <p:nvPr/>
        </p:nvSpPr>
        <p:spPr>
          <a:xfrm>
            <a:off x="1644101" y="4364146"/>
            <a:ext cx="8206740" cy="1477328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#define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 GPIO_D_BASE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0x40011400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#define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 GPIO_D_CFGLR ((volatile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uint32_t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) GPIO_D_BASE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#define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 GPIO_D_CFGHR ((volatile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uint32_t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) GPIO_D_BASE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#define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 GPIO_D_INDR ((volatile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uint32_t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) GPIO_D_BASE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8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#define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 GPIO_D_OUTDR ((volatile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uint32_t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) GPIO_D_BASE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0xC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B5134AA-24AA-709B-6138-10183A365E26}"/>
              </a:ext>
            </a:extLst>
          </p:cNvPr>
          <p:cNvSpPr txBox="1"/>
          <p:nvPr/>
        </p:nvSpPr>
        <p:spPr>
          <a:xfrm>
            <a:off x="1733379" y="4289272"/>
            <a:ext cx="9271720" cy="1477328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#define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 GPIO_D_BASE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0x40011400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#define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 GPIO_D_CFGLR ((volatile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uint32_t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) (GPIO_D_BASE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0)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#define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 GPIO_D_CFGHR ((volatile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uint32_t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) (GPIO_D_BASE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4)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#define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 GPIO_D_INDR ((volatile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uint32_t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) (GPIO_D_BASE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8)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#define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 GPIO_D_OUTDR ((volatile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uint32_t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) (GPIO_D_BASE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0xC)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431088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/>
        </a:solidFill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3572</TotalTime>
  <Words>4609</Words>
  <Application>Microsoft Office PowerPoint</Application>
  <PresentationFormat>Widescreen</PresentationFormat>
  <Paragraphs>714</Paragraphs>
  <Slides>29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7" baseType="lpstr">
      <vt:lpstr>Aptos</vt:lpstr>
      <vt:lpstr>Aptos Display</vt:lpstr>
      <vt:lpstr>Arial</vt:lpstr>
      <vt:lpstr>Calibri</vt:lpstr>
      <vt:lpstr>Cambria Math</vt:lpstr>
      <vt:lpstr>Cascadia Mono</vt:lpstr>
      <vt:lpstr>Consolas</vt:lpstr>
      <vt:lpstr>Office Theme</vt:lpstr>
      <vt:lpstr>Lektion 6</vt:lpstr>
      <vt:lpstr>Var är våra variabler?</vt:lpstr>
      <vt:lpstr>Hur skriver vi till ett peripheral register i C? </vt:lpstr>
      <vt:lpstr>Pekare</vt:lpstr>
      <vt:lpstr>Pekare</vt:lpstr>
      <vt:lpstr>Pekare</vt:lpstr>
      <vt:lpstr>Pekare</vt:lpstr>
      <vt:lpstr>Pekare</vt:lpstr>
      <vt:lpstr>PowerPoint Presentation</vt:lpstr>
      <vt:lpstr>Hur skriver vi till ett peripheral register i C? </vt:lpstr>
      <vt:lpstr>Hur skriver vi till ett peripheral register i C? </vt:lpstr>
      <vt:lpstr>Hur skriver vi till ett peripheral register i C? </vt:lpstr>
      <vt:lpstr>Hur läser vi? </vt:lpstr>
      <vt:lpstr>Hur läser vi? </vt:lpstr>
      <vt:lpstr>Volatile</vt:lpstr>
      <vt:lpstr>PowerPoint Presentation</vt:lpstr>
      <vt:lpstr>Exempel</vt:lpstr>
      <vt:lpstr>PowerPoint Presentation</vt:lpstr>
      <vt:lpstr>ASCII Displayen</vt:lpstr>
      <vt:lpstr>ASCII Displayen - Kommandon</vt:lpstr>
      <vt:lpstr>ASCII Displayen - Skrivcykel</vt:lpstr>
      <vt:lpstr>SysTick</vt:lpstr>
      <vt:lpstr>SysTick</vt:lpstr>
      <vt:lpstr>SysTick</vt:lpstr>
      <vt:lpstr>SysTick</vt:lpstr>
      <vt:lpstr>ASCII Displayen - Skrivcykel</vt:lpstr>
      <vt:lpstr>Arrays</vt:lpstr>
      <vt:lpstr>Arrays</vt:lpstr>
      <vt:lpstr>Pekararitmetik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Erik Sintorn</dc:creator>
  <cp:lastModifiedBy>Erik Sintorn</cp:lastModifiedBy>
  <cp:revision>62</cp:revision>
  <dcterms:created xsi:type="dcterms:W3CDTF">2026-01-14T14:09:03Z</dcterms:created>
  <dcterms:modified xsi:type="dcterms:W3CDTF">2026-02-06T11:49:18Z</dcterms:modified>
</cp:coreProperties>
</file>